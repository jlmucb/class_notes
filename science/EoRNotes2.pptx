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6"/>
  </p:notesMasterIdLst>
  <p:handoutMasterIdLst>
    <p:handoutMasterId r:id="rId107"/>
  </p:handoutMasterIdLst>
  <p:sldIdLst>
    <p:sldId id="256" r:id="rId2"/>
    <p:sldId id="315" r:id="rId3"/>
    <p:sldId id="1015" r:id="rId4"/>
    <p:sldId id="1014" r:id="rId5"/>
    <p:sldId id="782" r:id="rId6"/>
    <p:sldId id="1016" r:id="rId7"/>
    <p:sldId id="314" r:id="rId8"/>
    <p:sldId id="1017" r:id="rId9"/>
    <p:sldId id="800" r:id="rId10"/>
    <p:sldId id="313" r:id="rId11"/>
    <p:sldId id="1018" r:id="rId12"/>
    <p:sldId id="878" r:id="rId13"/>
    <p:sldId id="1046" r:id="rId14"/>
    <p:sldId id="798" r:id="rId15"/>
    <p:sldId id="316" r:id="rId16"/>
    <p:sldId id="1074" r:id="rId17"/>
    <p:sldId id="744" r:id="rId18"/>
    <p:sldId id="784" r:id="rId19"/>
    <p:sldId id="785" r:id="rId20"/>
    <p:sldId id="777" r:id="rId21"/>
    <p:sldId id="257" r:id="rId22"/>
    <p:sldId id="317" r:id="rId23"/>
    <p:sldId id="318" r:id="rId24"/>
    <p:sldId id="319" r:id="rId25"/>
    <p:sldId id="320" r:id="rId26"/>
    <p:sldId id="710" r:id="rId27"/>
    <p:sldId id="970" r:id="rId28"/>
    <p:sldId id="971" r:id="rId29"/>
    <p:sldId id="972" r:id="rId30"/>
    <p:sldId id="739" r:id="rId31"/>
    <p:sldId id="738" r:id="rId32"/>
    <p:sldId id="734" r:id="rId33"/>
    <p:sldId id="876" r:id="rId34"/>
    <p:sldId id="675" r:id="rId35"/>
    <p:sldId id="676" r:id="rId36"/>
    <p:sldId id="677" r:id="rId37"/>
    <p:sldId id="678" r:id="rId38"/>
    <p:sldId id="674" r:id="rId39"/>
    <p:sldId id="679" r:id="rId40"/>
    <p:sldId id="877" r:id="rId41"/>
    <p:sldId id="1052" r:id="rId42"/>
    <p:sldId id="1044" r:id="rId43"/>
    <p:sldId id="1053" r:id="rId44"/>
    <p:sldId id="1045" r:id="rId45"/>
    <p:sldId id="1113" r:id="rId46"/>
    <p:sldId id="1114" r:id="rId47"/>
    <p:sldId id="1086" r:id="rId48"/>
    <p:sldId id="1087" r:id="rId49"/>
    <p:sldId id="1101" r:id="rId50"/>
    <p:sldId id="973" r:id="rId51"/>
    <p:sldId id="1102" r:id="rId52"/>
    <p:sldId id="1103" r:id="rId53"/>
    <p:sldId id="1058" r:id="rId54"/>
    <p:sldId id="1104" r:id="rId55"/>
    <p:sldId id="1105" r:id="rId56"/>
    <p:sldId id="1106" r:id="rId57"/>
    <p:sldId id="1066" r:id="rId58"/>
    <p:sldId id="985" r:id="rId59"/>
    <p:sldId id="1035" r:id="rId60"/>
    <p:sldId id="1055" r:id="rId61"/>
    <p:sldId id="1054" r:id="rId62"/>
    <p:sldId id="1057" r:id="rId63"/>
    <p:sldId id="1071" r:id="rId64"/>
    <p:sldId id="1075" r:id="rId65"/>
    <p:sldId id="1050" r:id="rId66"/>
    <p:sldId id="1051" r:id="rId67"/>
    <p:sldId id="1040" r:id="rId68"/>
    <p:sldId id="1049" r:id="rId69"/>
    <p:sldId id="1092" r:id="rId70"/>
    <p:sldId id="1097" r:id="rId71"/>
    <p:sldId id="1098" r:id="rId72"/>
    <p:sldId id="1099" r:id="rId73"/>
    <p:sldId id="1100" r:id="rId74"/>
    <p:sldId id="997" r:id="rId75"/>
    <p:sldId id="1020" r:id="rId76"/>
    <p:sldId id="1112" r:id="rId77"/>
    <p:sldId id="1022" r:id="rId78"/>
    <p:sldId id="1070" r:id="rId79"/>
    <p:sldId id="1026" r:id="rId80"/>
    <p:sldId id="1019" r:id="rId81"/>
    <p:sldId id="1028" r:id="rId82"/>
    <p:sldId id="1029" r:id="rId83"/>
    <p:sldId id="1025" r:id="rId84"/>
    <p:sldId id="1069" r:id="rId85"/>
    <p:sldId id="1021" r:id="rId86"/>
    <p:sldId id="1027" r:id="rId87"/>
    <p:sldId id="1047" r:id="rId88"/>
    <p:sldId id="1048" r:id="rId89"/>
    <p:sldId id="1115" r:id="rId90"/>
    <p:sldId id="1116" r:id="rId91"/>
    <p:sldId id="1108" r:id="rId92"/>
    <p:sldId id="268" r:id="rId93"/>
    <p:sldId id="1031" r:id="rId94"/>
    <p:sldId id="269" r:id="rId95"/>
    <p:sldId id="974" r:id="rId96"/>
    <p:sldId id="1064" r:id="rId97"/>
    <p:sldId id="1117" r:id="rId98"/>
    <p:sldId id="1118" r:id="rId99"/>
    <p:sldId id="1119" r:id="rId100"/>
    <p:sldId id="1109" r:id="rId101"/>
    <p:sldId id="1110" r:id="rId102"/>
    <p:sldId id="1111" r:id="rId103"/>
    <p:sldId id="1122" r:id="rId104"/>
    <p:sldId id="1120" r:id="rId10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241"/>
    <p:restoredTop sz="94795"/>
  </p:normalViewPr>
  <p:slideViewPr>
    <p:cSldViewPr snapToGrid="0" snapToObjects="1">
      <p:cViewPr varScale="1">
        <p:scale>
          <a:sx n="120" d="100"/>
          <a:sy n="120" d="100"/>
        </p:scale>
        <p:origin x="1328" y="192"/>
      </p:cViewPr>
      <p:guideLst/>
    </p:cSldViewPr>
  </p:slideViewPr>
  <p:outlineViewPr>
    <p:cViewPr>
      <p:scale>
        <a:sx n="33" d="100"/>
        <a:sy n="33" d="100"/>
      </p:scale>
      <p:origin x="0" y="-59848"/>
    </p:cViewPr>
  </p:outlineViewPr>
  <p:notesTextViewPr>
    <p:cViewPr>
      <p:scale>
        <a:sx n="1" d="1"/>
        <a:sy n="1" d="1"/>
      </p:scale>
      <p:origin x="0" y="0"/>
    </p:cViewPr>
  </p:notesTextViewPr>
  <p:sorterViewPr>
    <p:cViewPr>
      <p:scale>
        <a:sx n="1" d="1"/>
        <a:sy n="1" d="1"/>
      </p:scale>
      <p:origin x="0" y="0"/>
    </p:cViewPr>
  </p:sorterViewPr>
  <p:notesViewPr>
    <p:cSldViewPr snapToGrid="0" snapToObjects="1">
      <p:cViewPr>
        <p:scale>
          <a:sx n="99" d="100"/>
          <a:sy n="99" d="100"/>
        </p:scale>
        <p:origin x="3632" y="4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handoutMaster" Target="handoutMasters/handoutMaster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6DAC03-848B-C048-B058-BE44CE315DD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630DF20-C3C7-5B43-9A90-89B8698A4FC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6F46478-05F9-F045-89EA-038EDD9F390D}" type="datetimeFigureOut">
              <a:rPr lang="en-US" smtClean="0"/>
              <a:t>8/26/26</a:t>
            </a:fld>
            <a:endParaRPr lang="en-US"/>
          </a:p>
        </p:txBody>
      </p:sp>
      <p:sp>
        <p:nvSpPr>
          <p:cNvPr id="4" name="Footer Placeholder 3">
            <a:extLst>
              <a:ext uri="{FF2B5EF4-FFF2-40B4-BE49-F238E27FC236}">
                <a16:creationId xmlns:a16="http://schemas.microsoft.com/office/drawing/2014/main" id="{85E84752-9B06-564A-9290-D834D14064B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B1AEECB-04B3-9D4D-81B9-E06B3B85980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FCA940F-E61F-1946-B7F3-342BEA0865EB}" type="slidenum">
              <a:rPr lang="en-US" smtClean="0"/>
              <a:t>‹#›</a:t>
            </a:fld>
            <a:endParaRPr lang="en-US"/>
          </a:p>
        </p:txBody>
      </p:sp>
    </p:spTree>
    <p:extLst>
      <p:ext uri="{BB962C8B-B14F-4D97-AF65-F5344CB8AC3E}">
        <p14:creationId xmlns:p14="http://schemas.microsoft.com/office/powerpoint/2010/main" val="18912573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220ECC-4507-1945-9DD6-ECA7311228A6}" type="datetimeFigureOut">
              <a:rPr lang="en-US" smtClean="0"/>
              <a:t>8/26/26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CC431D-8240-CE4C-A11D-7A9955F8093E}" type="slidenum">
              <a:rPr lang="en-US" smtClean="0"/>
              <a:t>‹#›</a:t>
            </a:fld>
            <a:endParaRPr lang="en-US"/>
          </a:p>
        </p:txBody>
      </p:sp>
    </p:spTree>
    <p:extLst>
      <p:ext uri="{BB962C8B-B14F-4D97-AF65-F5344CB8AC3E}">
        <p14:creationId xmlns:p14="http://schemas.microsoft.com/office/powerpoint/2010/main" val="32452566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FCC431D-8240-CE4C-A11D-7A9955F8093E}" type="slidenum">
              <a:rPr lang="en-US" smtClean="0"/>
              <a:t>1</a:t>
            </a:fld>
            <a:endParaRPr lang="en-US"/>
          </a:p>
        </p:txBody>
      </p:sp>
    </p:spTree>
    <p:extLst>
      <p:ext uri="{BB962C8B-B14F-4D97-AF65-F5344CB8AC3E}">
        <p14:creationId xmlns:p14="http://schemas.microsoft.com/office/powerpoint/2010/main" val="2854573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52307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966580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9131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734576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19081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076420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499393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186868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587201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924006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781438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761397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C431D-8240-CE4C-A11D-7A9955F8093E}" type="slidenum">
              <a:rPr lang="en-US" smtClean="0"/>
              <a:t>16</a:t>
            </a:fld>
            <a:endParaRPr lang="en-US"/>
          </a:p>
        </p:txBody>
      </p:sp>
    </p:spTree>
    <p:extLst>
      <p:ext uri="{BB962C8B-B14F-4D97-AF65-F5344CB8AC3E}">
        <p14:creationId xmlns:p14="http://schemas.microsoft.com/office/powerpoint/2010/main" val="41349078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58300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833770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384371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EAF9C3B-32E7-40C7-8E8E-8F3099D36573}" type="slidenum">
              <a:rPr lang="en-US" smtClean="0"/>
              <a:pPr/>
              <a:t>26</a:t>
            </a:fld>
            <a:endParaRPr lang="en-US"/>
          </a:p>
        </p:txBody>
      </p:sp>
    </p:spTree>
    <p:extLst>
      <p:ext uri="{BB962C8B-B14F-4D97-AF65-F5344CB8AC3E}">
        <p14:creationId xmlns:p14="http://schemas.microsoft.com/office/powerpoint/2010/main" val="30421104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EAF9C3B-32E7-40C7-8E8E-8F3099D36573}" type="slidenum">
              <a:rPr lang="en-US" smtClean="0"/>
              <a:pPr/>
              <a:t>27</a:t>
            </a:fld>
            <a:endParaRPr lang="en-US"/>
          </a:p>
        </p:txBody>
      </p:sp>
    </p:spTree>
    <p:extLst>
      <p:ext uri="{BB962C8B-B14F-4D97-AF65-F5344CB8AC3E}">
        <p14:creationId xmlns:p14="http://schemas.microsoft.com/office/powerpoint/2010/main" val="19318183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EAF9C3B-32E7-40C7-8E8E-8F3099D36573}" type="slidenum">
              <a:rPr lang="en-US" smtClean="0"/>
              <a:pPr/>
              <a:t>28</a:t>
            </a:fld>
            <a:endParaRPr lang="en-US"/>
          </a:p>
        </p:txBody>
      </p:sp>
    </p:spTree>
    <p:extLst>
      <p:ext uri="{BB962C8B-B14F-4D97-AF65-F5344CB8AC3E}">
        <p14:creationId xmlns:p14="http://schemas.microsoft.com/office/powerpoint/2010/main" val="29256224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EAF9C3B-32E7-40C7-8E8E-8F3099D36573}" type="slidenum">
              <a:rPr lang="en-US" smtClean="0"/>
              <a:pPr/>
              <a:t>29</a:t>
            </a:fld>
            <a:endParaRPr lang="en-US"/>
          </a:p>
        </p:txBody>
      </p:sp>
    </p:spTree>
    <p:extLst>
      <p:ext uri="{BB962C8B-B14F-4D97-AF65-F5344CB8AC3E}">
        <p14:creationId xmlns:p14="http://schemas.microsoft.com/office/powerpoint/2010/main" val="34392615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EAF9C3B-32E7-40C7-8E8E-8F3099D36573}" type="slidenum">
              <a:rPr lang="en-US" smtClean="0"/>
              <a:pPr/>
              <a:t>30</a:t>
            </a:fld>
            <a:endParaRPr lang="en-US"/>
          </a:p>
        </p:txBody>
      </p:sp>
    </p:spTree>
    <p:extLst>
      <p:ext uri="{BB962C8B-B14F-4D97-AF65-F5344CB8AC3E}">
        <p14:creationId xmlns:p14="http://schemas.microsoft.com/office/powerpoint/2010/main" val="12340841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EAF9C3B-32E7-40C7-8E8E-8F3099D36573}" type="slidenum">
              <a:rPr lang="en-US" smtClean="0"/>
              <a:pPr/>
              <a:t>31</a:t>
            </a:fld>
            <a:endParaRPr lang="en-US"/>
          </a:p>
        </p:txBody>
      </p:sp>
    </p:spTree>
    <p:extLst>
      <p:ext uri="{BB962C8B-B14F-4D97-AF65-F5344CB8AC3E}">
        <p14:creationId xmlns:p14="http://schemas.microsoft.com/office/powerpoint/2010/main" val="20263672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EAF9C3B-32E7-40C7-8E8E-8F3099D36573}" type="slidenum">
              <a:rPr lang="en-US" smtClean="0"/>
              <a:pPr/>
              <a:t>32</a:t>
            </a:fld>
            <a:endParaRPr lang="en-US"/>
          </a:p>
        </p:txBody>
      </p:sp>
    </p:spTree>
    <p:extLst>
      <p:ext uri="{BB962C8B-B14F-4D97-AF65-F5344CB8AC3E}">
        <p14:creationId xmlns:p14="http://schemas.microsoft.com/office/powerpoint/2010/main" val="36431502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921351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957824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8142622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7769094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9894389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EAF9C3B-32E7-40C7-8E8E-8F3099D36573}" type="slidenum">
              <a:rPr lang="en-US" smtClean="0"/>
              <a:pPr/>
              <a:t>50</a:t>
            </a:fld>
            <a:endParaRPr lang="en-US"/>
          </a:p>
        </p:txBody>
      </p:sp>
    </p:spTree>
    <p:extLst>
      <p:ext uri="{BB962C8B-B14F-4D97-AF65-F5344CB8AC3E}">
        <p14:creationId xmlns:p14="http://schemas.microsoft.com/office/powerpoint/2010/main" val="644092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4892890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244512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C431D-8240-CE4C-A11D-7A9955F8093E}" type="slidenum">
              <a:rPr lang="en-US" smtClean="0"/>
              <a:t>54</a:t>
            </a:fld>
            <a:endParaRPr lang="en-US"/>
          </a:p>
        </p:txBody>
      </p:sp>
    </p:spTree>
    <p:extLst>
      <p:ext uri="{BB962C8B-B14F-4D97-AF65-F5344CB8AC3E}">
        <p14:creationId xmlns:p14="http://schemas.microsoft.com/office/powerpoint/2010/main" val="16205629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31883286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939372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0728568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0197582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C431D-8240-CE4C-A11D-7A9955F8093E}" type="slidenum">
              <a:rPr lang="en-US" smtClean="0"/>
              <a:t>60</a:t>
            </a:fld>
            <a:endParaRPr lang="en-US"/>
          </a:p>
        </p:txBody>
      </p:sp>
    </p:spTree>
    <p:extLst>
      <p:ext uri="{BB962C8B-B14F-4D97-AF65-F5344CB8AC3E}">
        <p14:creationId xmlns:p14="http://schemas.microsoft.com/office/powerpoint/2010/main" val="330635938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87262462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8441659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C431D-8240-CE4C-A11D-7A9955F8093E}" type="slidenum">
              <a:rPr lang="en-US" smtClean="0"/>
              <a:t>65</a:t>
            </a:fld>
            <a:endParaRPr lang="en-US"/>
          </a:p>
        </p:txBody>
      </p:sp>
    </p:spTree>
    <p:extLst>
      <p:ext uri="{BB962C8B-B14F-4D97-AF65-F5344CB8AC3E}">
        <p14:creationId xmlns:p14="http://schemas.microsoft.com/office/powerpoint/2010/main" val="8435457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C431D-8240-CE4C-A11D-7A9955F8093E}" type="slidenum">
              <a:rPr lang="en-US" smtClean="0"/>
              <a:t>66</a:t>
            </a:fld>
            <a:endParaRPr lang="en-US"/>
          </a:p>
        </p:txBody>
      </p:sp>
    </p:spTree>
    <p:extLst>
      <p:ext uri="{BB962C8B-B14F-4D97-AF65-F5344CB8AC3E}">
        <p14:creationId xmlns:p14="http://schemas.microsoft.com/office/powerpoint/2010/main" val="13253458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00611013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C431D-8240-CE4C-A11D-7A9955F8093E}" type="slidenum">
              <a:rPr lang="en-US" smtClean="0"/>
              <a:t>68</a:t>
            </a:fld>
            <a:endParaRPr lang="en-US"/>
          </a:p>
        </p:txBody>
      </p:sp>
    </p:spTree>
    <p:extLst>
      <p:ext uri="{BB962C8B-B14F-4D97-AF65-F5344CB8AC3E}">
        <p14:creationId xmlns:p14="http://schemas.microsoft.com/office/powerpoint/2010/main" val="223729912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90205487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07130735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39608351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C431D-8240-CE4C-A11D-7A9955F8093E}" type="slidenum">
              <a:rPr lang="en-US" smtClean="0"/>
              <a:t>72</a:t>
            </a:fld>
            <a:endParaRPr lang="en-US"/>
          </a:p>
        </p:txBody>
      </p:sp>
    </p:spTree>
    <p:extLst>
      <p:ext uri="{BB962C8B-B14F-4D97-AF65-F5344CB8AC3E}">
        <p14:creationId xmlns:p14="http://schemas.microsoft.com/office/powerpoint/2010/main" val="24093168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C431D-8240-CE4C-A11D-7A9955F8093E}" type="slidenum">
              <a:rPr lang="en-US" smtClean="0"/>
              <a:t>73</a:t>
            </a:fld>
            <a:endParaRPr lang="en-US"/>
          </a:p>
        </p:txBody>
      </p:sp>
    </p:spTree>
    <p:extLst>
      <p:ext uri="{BB962C8B-B14F-4D97-AF65-F5344CB8AC3E}">
        <p14:creationId xmlns:p14="http://schemas.microsoft.com/office/powerpoint/2010/main" val="33520036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4706406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3930641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2630612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324705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63369032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7062212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3685936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5053729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1022462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500672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4448545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6489430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3775820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6195990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0611604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67173901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60873018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387695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41921651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91406365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67716517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79468506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08418186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0925139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556514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8205369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96248396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694203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07976-1DD8-7B43-93E4-007CFF010D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4B499FA-B9F7-E145-B7E9-EFFA32AED2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9840152-452B-8B4D-9934-71962313D8CE}"/>
              </a:ext>
            </a:extLst>
          </p:cNvPr>
          <p:cNvSpPr>
            <a:spLocks noGrp="1"/>
          </p:cNvSpPr>
          <p:nvPr>
            <p:ph type="dt" sz="half" idx="10"/>
          </p:nvPr>
        </p:nvSpPr>
        <p:spPr/>
        <p:txBody>
          <a:bodyPr/>
          <a:lstStyle/>
          <a:p>
            <a:fld id="{85E1F096-AA53-754E-ABC2-8DD828ABDA78}" type="datetime1">
              <a:rPr lang="en-US" smtClean="0"/>
              <a:t>8/26/26</a:t>
            </a:fld>
            <a:endParaRPr lang="en-US"/>
          </a:p>
        </p:txBody>
      </p:sp>
      <p:sp>
        <p:nvSpPr>
          <p:cNvPr id="5" name="Footer Placeholder 4">
            <a:extLst>
              <a:ext uri="{FF2B5EF4-FFF2-40B4-BE49-F238E27FC236}">
                <a16:creationId xmlns:a16="http://schemas.microsoft.com/office/drawing/2014/main" id="{2D2C5C5D-628B-2F44-B0CA-E818B90ACA0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60EF5B4-AD1F-2540-9264-F62EB618730B}"/>
              </a:ext>
            </a:extLst>
          </p:cNvPr>
          <p:cNvSpPr>
            <a:spLocks noGrp="1"/>
          </p:cNvSpPr>
          <p:nvPr>
            <p:ph type="sldNum" sz="quarter" idx="12"/>
          </p:nvPr>
        </p:nvSpPr>
        <p:spPr/>
        <p:txBody>
          <a:bodyPr/>
          <a:lstStyle>
            <a:lvl1pPr>
              <a:defRPr>
                <a:solidFill>
                  <a:schemeClr val="tx1"/>
                </a:solidFill>
              </a:defRPr>
            </a:lvl1pPr>
          </a:lstStyle>
          <a:p>
            <a:fld id="{6B76BA51-8322-1A4D-B259-B74706370693}" type="slidenum">
              <a:rPr lang="en-US" smtClean="0"/>
              <a:pPr/>
              <a:t>‹#›</a:t>
            </a:fld>
            <a:endParaRPr lang="en-US"/>
          </a:p>
        </p:txBody>
      </p:sp>
    </p:spTree>
    <p:extLst>
      <p:ext uri="{BB962C8B-B14F-4D97-AF65-F5344CB8AC3E}">
        <p14:creationId xmlns:p14="http://schemas.microsoft.com/office/powerpoint/2010/main" val="1496289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F52BD-AAF1-C04B-B46C-FE8DE264FE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5C720A-4094-F143-A684-08D62DBD39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CE5891-1F60-3A47-9BAA-943AF31FFCD2}"/>
              </a:ext>
            </a:extLst>
          </p:cNvPr>
          <p:cNvSpPr>
            <a:spLocks noGrp="1"/>
          </p:cNvSpPr>
          <p:nvPr>
            <p:ph type="dt" sz="half" idx="10"/>
          </p:nvPr>
        </p:nvSpPr>
        <p:spPr/>
        <p:txBody>
          <a:bodyPr/>
          <a:lstStyle/>
          <a:p>
            <a:fld id="{467019CA-3348-7C47-BB13-3D24137E36D8}" type="datetime1">
              <a:rPr lang="en-US" smtClean="0"/>
              <a:t>8/26/26</a:t>
            </a:fld>
            <a:endParaRPr lang="en-US"/>
          </a:p>
        </p:txBody>
      </p:sp>
      <p:sp>
        <p:nvSpPr>
          <p:cNvPr id="5" name="Footer Placeholder 4">
            <a:extLst>
              <a:ext uri="{FF2B5EF4-FFF2-40B4-BE49-F238E27FC236}">
                <a16:creationId xmlns:a16="http://schemas.microsoft.com/office/drawing/2014/main" id="{53FF227D-1DE9-1942-939F-B87BF209526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B6AD313-4F1A-A045-A2CC-BAD8B442B504}"/>
              </a:ext>
            </a:extLst>
          </p:cNvPr>
          <p:cNvSpPr>
            <a:spLocks noGrp="1"/>
          </p:cNvSpPr>
          <p:nvPr>
            <p:ph type="sldNum" sz="quarter" idx="12"/>
          </p:nvPr>
        </p:nvSpPr>
        <p:spPr/>
        <p:txBody>
          <a:bodyPr/>
          <a:lstStyle>
            <a:lvl1pPr>
              <a:defRPr>
                <a:solidFill>
                  <a:schemeClr val="tx1"/>
                </a:solidFill>
              </a:defRPr>
            </a:lvl1pPr>
          </a:lstStyle>
          <a:p>
            <a:fld id="{6B76BA51-8322-1A4D-B259-B74706370693}" type="slidenum">
              <a:rPr lang="en-US" smtClean="0"/>
              <a:pPr/>
              <a:t>‹#›</a:t>
            </a:fld>
            <a:endParaRPr lang="en-US"/>
          </a:p>
        </p:txBody>
      </p:sp>
    </p:spTree>
    <p:extLst>
      <p:ext uri="{BB962C8B-B14F-4D97-AF65-F5344CB8AC3E}">
        <p14:creationId xmlns:p14="http://schemas.microsoft.com/office/powerpoint/2010/main" val="2375339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A2FD6-09C2-5649-83B7-CD2DC4F0DF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67E4BDC-2896-2E44-AAEA-56637DEF5B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EB81DF-CAA6-C040-8791-3D20760F7E01}"/>
              </a:ext>
            </a:extLst>
          </p:cNvPr>
          <p:cNvSpPr>
            <a:spLocks noGrp="1"/>
          </p:cNvSpPr>
          <p:nvPr>
            <p:ph type="dt" sz="half" idx="10"/>
          </p:nvPr>
        </p:nvSpPr>
        <p:spPr/>
        <p:txBody>
          <a:bodyPr/>
          <a:lstStyle/>
          <a:p>
            <a:fld id="{13FF7E6E-0646-6F48-8122-CA23906468D5}" type="datetime1">
              <a:rPr lang="en-US" smtClean="0"/>
              <a:t>8/26/26</a:t>
            </a:fld>
            <a:endParaRPr lang="en-US"/>
          </a:p>
        </p:txBody>
      </p:sp>
      <p:sp>
        <p:nvSpPr>
          <p:cNvPr id="5" name="Footer Placeholder 4">
            <a:extLst>
              <a:ext uri="{FF2B5EF4-FFF2-40B4-BE49-F238E27FC236}">
                <a16:creationId xmlns:a16="http://schemas.microsoft.com/office/drawing/2014/main" id="{0FADF040-95FC-4E43-A737-DC123802045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2E1BA2A-54CF-834E-8EA8-BCBAC6A0FAD9}"/>
              </a:ext>
            </a:extLst>
          </p:cNvPr>
          <p:cNvSpPr>
            <a:spLocks noGrp="1"/>
          </p:cNvSpPr>
          <p:nvPr>
            <p:ph type="sldNum" sz="quarter" idx="12"/>
          </p:nvPr>
        </p:nvSpPr>
        <p:spPr/>
        <p:txBody>
          <a:bodyPr/>
          <a:lstStyle/>
          <a:p>
            <a:fld id="{6B76BA51-8322-1A4D-B259-B74706370693}" type="slidenum">
              <a:rPr lang="en-US" smtClean="0"/>
              <a:t>‹#›</a:t>
            </a:fld>
            <a:endParaRPr lang="en-US"/>
          </a:p>
        </p:txBody>
      </p:sp>
    </p:spTree>
    <p:extLst>
      <p:ext uri="{BB962C8B-B14F-4D97-AF65-F5344CB8AC3E}">
        <p14:creationId xmlns:p14="http://schemas.microsoft.com/office/powerpoint/2010/main" val="1846291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34A2E-C50B-7045-8086-BB67868903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D15942-60AC-0543-8233-D55A0E438C3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C622487-455A-5344-999B-96B23C1C24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4A9F9C3-5602-2B49-ADBD-5AD2E8F0DD31}"/>
              </a:ext>
            </a:extLst>
          </p:cNvPr>
          <p:cNvSpPr>
            <a:spLocks noGrp="1"/>
          </p:cNvSpPr>
          <p:nvPr>
            <p:ph type="dt" sz="half" idx="10"/>
          </p:nvPr>
        </p:nvSpPr>
        <p:spPr/>
        <p:txBody>
          <a:bodyPr/>
          <a:lstStyle/>
          <a:p>
            <a:fld id="{9CAD127F-8FDC-2640-BEF5-86CB411F1253}" type="datetime1">
              <a:rPr lang="en-US" smtClean="0"/>
              <a:t>8/26/26</a:t>
            </a:fld>
            <a:endParaRPr lang="en-US"/>
          </a:p>
        </p:txBody>
      </p:sp>
      <p:sp>
        <p:nvSpPr>
          <p:cNvPr id="6" name="Footer Placeholder 5">
            <a:extLst>
              <a:ext uri="{FF2B5EF4-FFF2-40B4-BE49-F238E27FC236}">
                <a16:creationId xmlns:a16="http://schemas.microsoft.com/office/drawing/2014/main" id="{63E77CF5-D657-3E42-BBFE-20C10FCBF69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30C0C0F-3E34-3E4F-BCD8-B00F80CF4482}"/>
              </a:ext>
            </a:extLst>
          </p:cNvPr>
          <p:cNvSpPr>
            <a:spLocks noGrp="1"/>
          </p:cNvSpPr>
          <p:nvPr>
            <p:ph type="sldNum" sz="quarter" idx="12"/>
          </p:nvPr>
        </p:nvSpPr>
        <p:spPr/>
        <p:txBody>
          <a:bodyPr/>
          <a:lstStyle/>
          <a:p>
            <a:fld id="{6B76BA51-8322-1A4D-B259-B74706370693}" type="slidenum">
              <a:rPr lang="en-US" smtClean="0"/>
              <a:t>‹#›</a:t>
            </a:fld>
            <a:endParaRPr lang="en-US"/>
          </a:p>
        </p:txBody>
      </p:sp>
    </p:spTree>
    <p:extLst>
      <p:ext uri="{BB962C8B-B14F-4D97-AF65-F5344CB8AC3E}">
        <p14:creationId xmlns:p14="http://schemas.microsoft.com/office/powerpoint/2010/main" val="499608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11F8F-B30B-9342-900B-700010EF02B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2BC845E-8FB4-374E-ADBE-1E6675F492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B11BD3-6D1B-8A49-B66C-E557F6B9F0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DFD6360-2A16-CA41-91C8-53A7FF3C83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4D9B07-2C64-D444-AB47-985242AE93F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D613373-464E-0B4C-AF2F-5BC061B43641}"/>
              </a:ext>
            </a:extLst>
          </p:cNvPr>
          <p:cNvSpPr>
            <a:spLocks noGrp="1"/>
          </p:cNvSpPr>
          <p:nvPr>
            <p:ph type="dt" sz="half" idx="10"/>
          </p:nvPr>
        </p:nvSpPr>
        <p:spPr/>
        <p:txBody>
          <a:bodyPr/>
          <a:lstStyle/>
          <a:p>
            <a:fld id="{8ABD7A2D-12F3-BC45-9917-F0DF0F4EE9FF}" type="datetime1">
              <a:rPr lang="en-US" smtClean="0"/>
              <a:t>8/26/26</a:t>
            </a:fld>
            <a:endParaRPr lang="en-US"/>
          </a:p>
        </p:txBody>
      </p:sp>
      <p:sp>
        <p:nvSpPr>
          <p:cNvPr id="8" name="Footer Placeholder 7">
            <a:extLst>
              <a:ext uri="{FF2B5EF4-FFF2-40B4-BE49-F238E27FC236}">
                <a16:creationId xmlns:a16="http://schemas.microsoft.com/office/drawing/2014/main" id="{72AD2E67-C5A9-8E45-B693-20D4DCA1BBB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A0470A3A-8015-4340-8B15-D8DC5F0FF3E1}"/>
              </a:ext>
            </a:extLst>
          </p:cNvPr>
          <p:cNvSpPr>
            <a:spLocks noGrp="1"/>
          </p:cNvSpPr>
          <p:nvPr>
            <p:ph type="sldNum" sz="quarter" idx="12"/>
          </p:nvPr>
        </p:nvSpPr>
        <p:spPr/>
        <p:txBody>
          <a:bodyPr/>
          <a:lstStyle/>
          <a:p>
            <a:fld id="{6B76BA51-8322-1A4D-B259-B74706370693}" type="slidenum">
              <a:rPr lang="en-US" smtClean="0"/>
              <a:t>‹#›</a:t>
            </a:fld>
            <a:endParaRPr lang="en-US"/>
          </a:p>
        </p:txBody>
      </p:sp>
    </p:spTree>
    <p:extLst>
      <p:ext uri="{BB962C8B-B14F-4D97-AF65-F5344CB8AC3E}">
        <p14:creationId xmlns:p14="http://schemas.microsoft.com/office/powerpoint/2010/main" val="3481416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42CB2-9894-104A-829B-A10E002E749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F279683-E681-2A4E-952D-CB1EA3E2F099}"/>
              </a:ext>
            </a:extLst>
          </p:cNvPr>
          <p:cNvSpPr>
            <a:spLocks noGrp="1"/>
          </p:cNvSpPr>
          <p:nvPr>
            <p:ph type="dt" sz="half" idx="10"/>
          </p:nvPr>
        </p:nvSpPr>
        <p:spPr/>
        <p:txBody>
          <a:bodyPr/>
          <a:lstStyle/>
          <a:p>
            <a:fld id="{E80D473F-6FCF-7E49-B540-A1844A751B92}" type="datetime1">
              <a:rPr lang="en-US" smtClean="0"/>
              <a:t>8/26/26</a:t>
            </a:fld>
            <a:endParaRPr lang="en-US"/>
          </a:p>
        </p:txBody>
      </p:sp>
      <p:sp>
        <p:nvSpPr>
          <p:cNvPr id="4" name="Footer Placeholder 3">
            <a:extLst>
              <a:ext uri="{FF2B5EF4-FFF2-40B4-BE49-F238E27FC236}">
                <a16:creationId xmlns:a16="http://schemas.microsoft.com/office/drawing/2014/main" id="{1D645855-9A1C-0C43-B050-9B84638FAD4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518C7FF2-2AC8-F44B-9F74-0A006CF347CD}"/>
              </a:ext>
            </a:extLst>
          </p:cNvPr>
          <p:cNvSpPr>
            <a:spLocks noGrp="1"/>
          </p:cNvSpPr>
          <p:nvPr>
            <p:ph type="sldNum" sz="quarter" idx="12"/>
          </p:nvPr>
        </p:nvSpPr>
        <p:spPr/>
        <p:txBody>
          <a:bodyPr/>
          <a:lstStyle/>
          <a:p>
            <a:fld id="{6B76BA51-8322-1A4D-B259-B74706370693}" type="slidenum">
              <a:rPr lang="en-US" smtClean="0"/>
              <a:t>‹#›</a:t>
            </a:fld>
            <a:endParaRPr lang="en-US"/>
          </a:p>
        </p:txBody>
      </p:sp>
    </p:spTree>
    <p:extLst>
      <p:ext uri="{BB962C8B-B14F-4D97-AF65-F5344CB8AC3E}">
        <p14:creationId xmlns:p14="http://schemas.microsoft.com/office/powerpoint/2010/main" val="3156479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5C8544-DA5F-344F-BC94-FE604B331280}"/>
              </a:ext>
            </a:extLst>
          </p:cNvPr>
          <p:cNvSpPr>
            <a:spLocks noGrp="1"/>
          </p:cNvSpPr>
          <p:nvPr>
            <p:ph type="dt" sz="half" idx="10"/>
          </p:nvPr>
        </p:nvSpPr>
        <p:spPr/>
        <p:txBody>
          <a:bodyPr/>
          <a:lstStyle/>
          <a:p>
            <a:fld id="{BBBABAC6-BBEF-FB4C-A8E2-440749CEE9FE}" type="datetime1">
              <a:rPr lang="en-US" smtClean="0"/>
              <a:t>8/26/26</a:t>
            </a:fld>
            <a:endParaRPr lang="en-US"/>
          </a:p>
        </p:txBody>
      </p:sp>
      <p:sp>
        <p:nvSpPr>
          <p:cNvPr id="3" name="Footer Placeholder 2">
            <a:extLst>
              <a:ext uri="{FF2B5EF4-FFF2-40B4-BE49-F238E27FC236}">
                <a16:creationId xmlns:a16="http://schemas.microsoft.com/office/drawing/2014/main" id="{CA6F7124-CF18-2746-B0AB-EDB442B94BB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E1270EDB-A1A7-2F41-89C6-7774D7D18384}"/>
              </a:ext>
            </a:extLst>
          </p:cNvPr>
          <p:cNvSpPr>
            <a:spLocks noGrp="1"/>
          </p:cNvSpPr>
          <p:nvPr>
            <p:ph type="sldNum" sz="quarter" idx="12"/>
          </p:nvPr>
        </p:nvSpPr>
        <p:spPr/>
        <p:txBody>
          <a:bodyPr/>
          <a:lstStyle/>
          <a:p>
            <a:fld id="{6B76BA51-8322-1A4D-B259-B74706370693}" type="slidenum">
              <a:rPr lang="en-US" smtClean="0"/>
              <a:t>‹#›</a:t>
            </a:fld>
            <a:endParaRPr lang="en-US"/>
          </a:p>
        </p:txBody>
      </p:sp>
    </p:spTree>
    <p:extLst>
      <p:ext uri="{BB962C8B-B14F-4D97-AF65-F5344CB8AC3E}">
        <p14:creationId xmlns:p14="http://schemas.microsoft.com/office/powerpoint/2010/main" val="724360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E4901-A85B-064A-AC18-08E30EE60F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4E8632-8AD0-4141-A1E5-9C0091042A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38581E-7CC0-E542-80F0-D981609D05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668BD4-B5D5-1844-B425-0B16C5660C5F}"/>
              </a:ext>
            </a:extLst>
          </p:cNvPr>
          <p:cNvSpPr>
            <a:spLocks noGrp="1"/>
          </p:cNvSpPr>
          <p:nvPr>
            <p:ph type="dt" sz="half" idx="10"/>
          </p:nvPr>
        </p:nvSpPr>
        <p:spPr/>
        <p:txBody>
          <a:bodyPr/>
          <a:lstStyle/>
          <a:p>
            <a:fld id="{1782E719-FEB3-3A47-BB2F-4817A96881AD}" type="datetime1">
              <a:rPr lang="en-US" smtClean="0"/>
              <a:t>8/26/26</a:t>
            </a:fld>
            <a:endParaRPr lang="en-US"/>
          </a:p>
        </p:txBody>
      </p:sp>
      <p:sp>
        <p:nvSpPr>
          <p:cNvPr id="6" name="Footer Placeholder 5">
            <a:extLst>
              <a:ext uri="{FF2B5EF4-FFF2-40B4-BE49-F238E27FC236}">
                <a16:creationId xmlns:a16="http://schemas.microsoft.com/office/drawing/2014/main" id="{B0D3EA7B-1D57-1844-BFD8-2B0D6BA98B9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E3D6DCD-F7AF-6740-B616-F40574CB8367}"/>
              </a:ext>
            </a:extLst>
          </p:cNvPr>
          <p:cNvSpPr>
            <a:spLocks noGrp="1"/>
          </p:cNvSpPr>
          <p:nvPr>
            <p:ph type="sldNum" sz="quarter" idx="12"/>
          </p:nvPr>
        </p:nvSpPr>
        <p:spPr/>
        <p:txBody>
          <a:bodyPr/>
          <a:lstStyle/>
          <a:p>
            <a:fld id="{6B76BA51-8322-1A4D-B259-B74706370693}" type="slidenum">
              <a:rPr lang="en-US" smtClean="0"/>
              <a:t>‹#›</a:t>
            </a:fld>
            <a:endParaRPr lang="en-US"/>
          </a:p>
        </p:txBody>
      </p:sp>
    </p:spTree>
    <p:extLst>
      <p:ext uri="{BB962C8B-B14F-4D97-AF65-F5344CB8AC3E}">
        <p14:creationId xmlns:p14="http://schemas.microsoft.com/office/powerpoint/2010/main" val="1070882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FFA82-25B7-9A46-B897-89627F71C2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1AF288C-1426-9246-9C6E-86DEA293F9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723443-EC3A-0946-84D0-4C05B0865B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EC4C9E-31F7-A640-929A-511221AFBBE1}"/>
              </a:ext>
            </a:extLst>
          </p:cNvPr>
          <p:cNvSpPr>
            <a:spLocks noGrp="1"/>
          </p:cNvSpPr>
          <p:nvPr>
            <p:ph type="dt" sz="half" idx="10"/>
          </p:nvPr>
        </p:nvSpPr>
        <p:spPr/>
        <p:txBody>
          <a:bodyPr/>
          <a:lstStyle/>
          <a:p>
            <a:fld id="{495BA62C-8339-AF40-8C34-1802CB5ABBA3}" type="datetime1">
              <a:rPr lang="en-US" smtClean="0"/>
              <a:t>8/26/26</a:t>
            </a:fld>
            <a:endParaRPr lang="en-US"/>
          </a:p>
        </p:txBody>
      </p:sp>
      <p:sp>
        <p:nvSpPr>
          <p:cNvPr id="6" name="Footer Placeholder 5">
            <a:extLst>
              <a:ext uri="{FF2B5EF4-FFF2-40B4-BE49-F238E27FC236}">
                <a16:creationId xmlns:a16="http://schemas.microsoft.com/office/drawing/2014/main" id="{D10A65A6-2828-4542-B7BE-39DA3838F5A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8264853-B697-E84A-AC7F-F10B53FA6BEB}"/>
              </a:ext>
            </a:extLst>
          </p:cNvPr>
          <p:cNvSpPr>
            <a:spLocks noGrp="1"/>
          </p:cNvSpPr>
          <p:nvPr>
            <p:ph type="sldNum" sz="quarter" idx="12"/>
          </p:nvPr>
        </p:nvSpPr>
        <p:spPr/>
        <p:txBody>
          <a:bodyPr/>
          <a:lstStyle/>
          <a:p>
            <a:fld id="{6B76BA51-8322-1A4D-B259-B74706370693}" type="slidenum">
              <a:rPr lang="en-US" smtClean="0"/>
              <a:t>‹#›</a:t>
            </a:fld>
            <a:endParaRPr lang="en-US"/>
          </a:p>
        </p:txBody>
      </p:sp>
    </p:spTree>
    <p:extLst>
      <p:ext uri="{BB962C8B-B14F-4D97-AF65-F5344CB8AC3E}">
        <p14:creationId xmlns:p14="http://schemas.microsoft.com/office/powerpoint/2010/main" val="2145248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5ADC4-A7A9-D340-BF9E-2FD42B55E9E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1D380C-C36D-C645-9AC2-C6329CD7F8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58B8E9-F8BB-8542-BD94-E6C8B0B793C2}"/>
              </a:ext>
            </a:extLst>
          </p:cNvPr>
          <p:cNvSpPr>
            <a:spLocks noGrp="1"/>
          </p:cNvSpPr>
          <p:nvPr>
            <p:ph type="dt" sz="half" idx="10"/>
          </p:nvPr>
        </p:nvSpPr>
        <p:spPr/>
        <p:txBody>
          <a:bodyPr/>
          <a:lstStyle/>
          <a:p>
            <a:fld id="{07110D5C-6792-4E44-9BAC-1C4CCD4AD282}" type="datetime1">
              <a:rPr lang="en-US" smtClean="0"/>
              <a:t>8/26/26</a:t>
            </a:fld>
            <a:endParaRPr lang="en-US"/>
          </a:p>
        </p:txBody>
      </p:sp>
      <p:sp>
        <p:nvSpPr>
          <p:cNvPr id="5" name="Footer Placeholder 4">
            <a:extLst>
              <a:ext uri="{FF2B5EF4-FFF2-40B4-BE49-F238E27FC236}">
                <a16:creationId xmlns:a16="http://schemas.microsoft.com/office/drawing/2014/main" id="{2290AE8B-D4C6-154D-830B-2BEFD087E1D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21B384F-515F-A947-8AF7-81D9CCB66227}"/>
              </a:ext>
            </a:extLst>
          </p:cNvPr>
          <p:cNvSpPr>
            <a:spLocks noGrp="1"/>
          </p:cNvSpPr>
          <p:nvPr>
            <p:ph type="sldNum" sz="quarter" idx="12"/>
          </p:nvPr>
        </p:nvSpPr>
        <p:spPr/>
        <p:txBody>
          <a:bodyPr/>
          <a:lstStyle/>
          <a:p>
            <a:fld id="{6B76BA51-8322-1A4D-B259-B74706370693}" type="slidenum">
              <a:rPr lang="en-US" smtClean="0"/>
              <a:t>‹#›</a:t>
            </a:fld>
            <a:endParaRPr lang="en-US"/>
          </a:p>
        </p:txBody>
      </p:sp>
    </p:spTree>
    <p:extLst>
      <p:ext uri="{BB962C8B-B14F-4D97-AF65-F5344CB8AC3E}">
        <p14:creationId xmlns:p14="http://schemas.microsoft.com/office/powerpoint/2010/main" val="24695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4C3A03-F36C-AB4D-B2C4-1C9D0EDDC61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BCBB80-0BC6-0145-8EC0-64163000099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7CA1F9-1417-B146-8F2A-3220264AEC68}"/>
              </a:ext>
            </a:extLst>
          </p:cNvPr>
          <p:cNvSpPr>
            <a:spLocks noGrp="1"/>
          </p:cNvSpPr>
          <p:nvPr>
            <p:ph type="dt" sz="half" idx="10"/>
          </p:nvPr>
        </p:nvSpPr>
        <p:spPr/>
        <p:txBody>
          <a:bodyPr/>
          <a:lstStyle/>
          <a:p>
            <a:fld id="{F0EAC2DC-D04C-6740-B356-316AF0911D89}" type="datetime1">
              <a:rPr lang="en-US" smtClean="0"/>
              <a:t>8/26/26</a:t>
            </a:fld>
            <a:endParaRPr lang="en-US"/>
          </a:p>
        </p:txBody>
      </p:sp>
      <p:sp>
        <p:nvSpPr>
          <p:cNvPr id="5" name="Footer Placeholder 4">
            <a:extLst>
              <a:ext uri="{FF2B5EF4-FFF2-40B4-BE49-F238E27FC236}">
                <a16:creationId xmlns:a16="http://schemas.microsoft.com/office/drawing/2014/main" id="{60722F49-AAA6-BD42-9B3F-612E5F91E17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789FBE8-98BF-9B4C-A12C-BF8054DC0BA3}"/>
              </a:ext>
            </a:extLst>
          </p:cNvPr>
          <p:cNvSpPr>
            <a:spLocks noGrp="1"/>
          </p:cNvSpPr>
          <p:nvPr>
            <p:ph type="sldNum" sz="quarter" idx="12"/>
          </p:nvPr>
        </p:nvSpPr>
        <p:spPr/>
        <p:txBody>
          <a:bodyPr/>
          <a:lstStyle/>
          <a:p>
            <a:fld id="{6B76BA51-8322-1A4D-B259-B74706370693}" type="slidenum">
              <a:rPr lang="en-US" smtClean="0"/>
              <a:t>‹#›</a:t>
            </a:fld>
            <a:endParaRPr lang="en-US"/>
          </a:p>
        </p:txBody>
      </p:sp>
    </p:spTree>
    <p:extLst>
      <p:ext uri="{BB962C8B-B14F-4D97-AF65-F5344CB8AC3E}">
        <p14:creationId xmlns:p14="http://schemas.microsoft.com/office/powerpoint/2010/main" val="1029525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2576EF-9A70-E64F-9448-96FB69DFFE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12BCDD9-1DBD-2442-B9E3-4A259D12C9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CB323C-C2F6-4C40-AA99-E769B0C78F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FB2C78-1A2B-604C-8C3D-0FF70F27AFDF}" type="datetime1">
              <a:rPr lang="en-US" smtClean="0"/>
              <a:t>8/26/26</a:t>
            </a:fld>
            <a:endParaRPr lang="en-US"/>
          </a:p>
        </p:txBody>
      </p:sp>
      <p:sp>
        <p:nvSpPr>
          <p:cNvPr id="6" name="Slide Number Placeholder 5">
            <a:extLst>
              <a:ext uri="{FF2B5EF4-FFF2-40B4-BE49-F238E27FC236}">
                <a16:creationId xmlns:a16="http://schemas.microsoft.com/office/drawing/2014/main" id="{76D58749-A8D7-CA4B-B8A0-B828A494E0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76BA51-8322-1A4D-B259-B74706370693}" type="slidenum">
              <a:rPr lang="en-US" smtClean="0"/>
              <a:t>‹#›</a:t>
            </a:fld>
            <a:endParaRPr lang="en-US"/>
          </a:p>
        </p:txBody>
      </p:sp>
    </p:spTree>
    <p:extLst>
      <p:ext uri="{BB962C8B-B14F-4D97-AF65-F5344CB8AC3E}">
        <p14:creationId xmlns:p14="http://schemas.microsoft.com/office/powerpoint/2010/main" val="15656032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30.png"/><Relationship Id="rId4" Type="http://schemas.openxmlformats.org/officeDocument/2006/relationships/image" Target="../media/image600.png"/></Relationships>
</file>

<file path=ppt/slides/_rels/slide6.xml.rels><?xml version="1.0" encoding="UTF-8" standalone="yes"?>
<Relationships xmlns="http://schemas.openxmlformats.org/package/2006/relationships"><Relationship Id="rId8" Type="http://schemas.openxmlformats.org/officeDocument/2006/relationships/image" Target="../media/image132.png"/><Relationship Id="rId3" Type="http://schemas.openxmlformats.org/officeDocument/2006/relationships/image" Target="../media/image5.png"/><Relationship Id="rId7" Type="http://schemas.openxmlformats.org/officeDocument/2006/relationships/image" Target="../media/image13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0.png"/><Relationship Id="rId5" Type="http://schemas.openxmlformats.org/officeDocument/2006/relationships/image" Target="../media/image129.png"/><Relationship Id="rId4" Type="http://schemas.openxmlformats.org/officeDocument/2006/relationships/image" Target="../media/image128.png"/><Relationship Id="rId9" Type="http://schemas.openxmlformats.org/officeDocument/2006/relationships/image" Target="../media/image133.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41.png"/><Relationship Id="rId3" Type="http://schemas.openxmlformats.org/officeDocument/2006/relationships/image" Target="../media/image510.png"/><Relationship Id="rId7" Type="http://schemas.openxmlformats.org/officeDocument/2006/relationships/image" Target="../media/image14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image" Target="../media/image137.png"/></Relationships>
</file>

<file path=ppt/slides/_rels/slide10.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20.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5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141.png"/><Relationship Id="rId3" Type="http://schemas.openxmlformats.org/officeDocument/2006/relationships/image" Target="../media/image80.png"/><Relationship Id="rId7" Type="http://schemas.openxmlformats.org/officeDocument/2006/relationships/image" Target="../media/image14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38.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24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0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9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2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8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1411.png"/><Relationship Id="rId3" Type="http://schemas.openxmlformats.org/officeDocument/2006/relationships/image" Target="../media/image147.png"/><Relationship Id="rId7" Type="http://schemas.openxmlformats.org/officeDocument/2006/relationships/image" Target="../media/image151.png"/><Relationship Id="rId12" Type="http://schemas.openxmlformats.org/officeDocument/2006/relationships/image" Target="../media/image156.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150.png"/><Relationship Id="rId11" Type="http://schemas.openxmlformats.org/officeDocument/2006/relationships/image" Target="../media/image155.png"/><Relationship Id="rId5" Type="http://schemas.openxmlformats.org/officeDocument/2006/relationships/image" Target="../media/image149.png"/><Relationship Id="rId10" Type="http://schemas.openxmlformats.org/officeDocument/2006/relationships/image" Target="../media/image154.png"/><Relationship Id="rId4" Type="http://schemas.openxmlformats.org/officeDocument/2006/relationships/image" Target="../media/image148.png"/><Relationship Id="rId9" Type="http://schemas.openxmlformats.org/officeDocument/2006/relationships/image" Target="../media/image153.png"/></Relationships>
</file>

<file path=ppt/slides/_rels/slide35.xml.rels><?xml version="1.0" encoding="UTF-8" standalone="yes"?>
<Relationships xmlns="http://schemas.openxmlformats.org/package/2006/relationships"><Relationship Id="rId2" Type="http://schemas.openxmlformats.org/officeDocument/2006/relationships/image" Target="../media/image15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170.png"/><Relationship Id="rId1" Type="http://schemas.openxmlformats.org/officeDocument/2006/relationships/slideLayout" Target="../slideLayouts/slideLayout2.xml"/><Relationship Id="rId6" Type="http://schemas.openxmlformats.org/officeDocument/2006/relationships/image" Target="../media/image163.png"/><Relationship Id="rId5" Type="http://schemas.openxmlformats.org/officeDocument/2006/relationships/image" Target="../media/image162.png"/><Relationship Id="rId4" Type="http://schemas.openxmlformats.org/officeDocument/2006/relationships/image" Target="../media/image161.png"/></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50.png"/><Relationship Id="rId18" Type="http://schemas.openxmlformats.org/officeDocument/2006/relationships/image" Target="../media/image55.png"/><Relationship Id="rId3" Type="http://schemas.openxmlformats.org/officeDocument/2006/relationships/image" Target="../media/image28.png"/><Relationship Id="rId7" Type="http://schemas.openxmlformats.org/officeDocument/2006/relationships/image" Target="../media/image34.png"/><Relationship Id="rId12" Type="http://schemas.openxmlformats.org/officeDocument/2006/relationships/image" Target="../media/image49.png"/><Relationship Id="rId17" Type="http://schemas.openxmlformats.org/officeDocument/2006/relationships/image" Target="../media/image54.png"/><Relationship Id="rId2" Type="http://schemas.openxmlformats.org/officeDocument/2006/relationships/notesSlide" Target="../notesSlides/notesSlide27.xml"/><Relationship Id="rId16" Type="http://schemas.openxmlformats.org/officeDocument/2006/relationships/image" Target="../media/image53.png"/><Relationship Id="rId1" Type="http://schemas.openxmlformats.org/officeDocument/2006/relationships/slideLayout" Target="../slideLayouts/slideLayout1.xml"/><Relationship Id="rId6" Type="http://schemas.openxmlformats.org/officeDocument/2006/relationships/image" Target="../media/image33.png"/><Relationship Id="rId11" Type="http://schemas.openxmlformats.org/officeDocument/2006/relationships/image" Target="../media/image48.png"/><Relationship Id="rId5" Type="http://schemas.openxmlformats.org/officeDocument/2006/relationships/image" Target="../media/image32.png"/><Relationship Id="rId15" Type="http://schemas.openxmlformats.org/officeDocument/2006/relationships/image" Target="../media/image5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51.png"/></Relationships>
</file>

<file path=ppt/slides/_rels/slide48.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311.png"/><Relationship Id="rId3" Type="http://schemas.openxmlformats.org/officeDocument/2006/relationships/image" Target="../media/image29.png"/><Relationship Id="rId7" Type="http://schemas.openxmlformats.org/officeDocument/2006/relationships/image" Target="../media/image41.png"/><Relationship Id="rId12" Type="http://schemas.openxmlformats.org/officeDocument/2006/relationships/image" Target="../media/image46.png"/><Relationship Id="rId17" Type="http://schemas.openxmlformats.org/officeDocument/2006/relationships/image" Target="../media/image56.png"/><Relationship Id="rId2" Type="http://schemas.openxmlformats.org/officeDocument/2006/relationships/notesSlide" Target="../notesSlides/notesSlide28.xml"/><Relationship Id="rId16" Type="http://schemas.openxmlformats.org/officeDocument/2006/relationships/image" Target="../media/image390.png"/><Relationship Id="rId1" Type="http://schemas.openxmlformats.org/officeDocument/2006/relationships/slideLayout" Target="../slideLayouts/slideLayout1.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5" Type="http://schemas.openxmlformats.org/officeDocument/2006/relationships/image" Target="../media/image370.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 Id="rId14" Type="http://schemas.openxmlformats.org/officeDocument/2006/relationships/image" Target="../media/image360.png"/></Relationships>
</file>

<file path=ppt/slides/_rels/slide49.xml.rels><?xml version="1.0" encoding="UTF-8" standalone="yes"?>
<Relationships xmlns="http://schemas.openxmlformats.org/package/2006/relationships"><Relationship Id="rId8" Type="http://schemas.openxmlformats.org/officeDocument/2006/relationships/image" Target="../media/image261.png"/><Relationship Id="rId3" Type="http://schemas.openxmlformats.org/officeDocument/2006/relationships/image" Target="../media/image30.png"/><Relationship Id="rId7" Type="http://schemas.openxmlformats.org/officeDocument/2006/relationships/image" Target="../media/image61.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242.png"/><Relationship Id="rId5" Type="http://schemas.openxmlformats.org/officeDocument/2006/relationships/image" Target="../media/image59.png"/><Relationship Id="rId4" Type="http://schemas.openxmlformats.org/officeDocument/2006/relationships/image" Target="../media/image58.png"/></Relationships>
</file>

<file path=ppt/slides/_rels/slide50.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601.png"/><Relationship Id="rId18" Type="http://schemas.openxmlformats.org/officeDocument/2006/relationships/image" Target="../media/image66.png"/><Relationship Id="rId3" Type="http://schemas.openxmlformats.org/officeDocument/2006/relationships/image" Target="../media/image47.png"/><Relationship Id="rId21" Type="http://schemas.openxmlformats.org/officeDocument/2006/relationships/image" Target="../media/image69.png"/><Relationship Id="rId7" Type="http://schemas.openxmlformats.org/officeDocument/2006/relationships/image" Target="../media/image60.png"/><Relationship Id="rId12" Type="http://schemas.openxmlformats.org/officeDocument/2006/relationships/image" Target="../media/image380.png"/><Relationship Id="rId17" Type="http://schemas.openxmlformats.org/officeDocument/2006/relationships/image" Target="../media/image650.png"/><Relationship Id="rId2" Type="http://schemas.openxmlformats.org/officeDocument/2006/relationships/notesSlide" Target="../notesSlides/notesSlide30.xml"/><Relationship Id="rId16" Type="http://schemas.openxmlformats.org/officeDocument/2006/relationships/image" Target="../media/image640.png"/><Relationship Id="rId20"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57.png"/><Relationship Id="rId11" Type="http://schemas.openxmlformats.org/officeDocument/2006/relationships/image" Target="../media/image65.png"/><Relationship Id="rId5" Type="http://schemas.openxmlformats.org/officeDocument/2006/relationships/image" Target="../media/image470.png"/><Relationship Id="rId15" Type="http://schemas.openxmlformats.org/officeDocument/2006/relationships/image" Target="../media/image631.png"/><Relationship Id="rId10" Type="http://schemas.openxmlformats.org/officeDocument/2006/relationships/image" Target="../media/image64.png"/><Relationship Id="rId19" Type="http://schemas.openxmlformats.org/officeDocument/2006/relationships/image" Target="../media/image67.png"/><Relationship Id="rId4" Type="http://schemas.openxmlformats.org/officeDocument/2006/relationships/image" Target="../media/image171.png"/><Relationship Id="rId9" Type="http://schemas.openxmlformats.org/officeDocument/2006/relationships/image" Target="../media/image63.png"/><Relationship Id="rId14" Type="http://schemas.openxmlformats.org/officeDocument/2006/relationships/image" Target="../media/image620.png"/><Relationship Id="rId22" Type="http://schemas.openxmlformats.org/officeDocument/2006/relationships/image" Target="../media/image70.png"/></Relationships>
</file>

<file path=ppt/slides/_rels/slide5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image" Target="../media/image290.png"/><Relationship Id="rId1" Type="http://schemas.openxmlformats.org/officeDocument/2006/relationships/slideLayout" Target="../slideLayouts/slideLayout2.xml"/><Relationship Id="rId5" Type="http://schemas.openxmlformats.org/officeDocument/2006/relationships/image" Target="../media/image381.png"/><Relationship Id="rId4" Type="http://schemas.openxmlformats.org/officeDocument/2006/relationships/image" Target="../media/image350.png"/></Relationships>
</file>

<file path=ppt/slides/_rels/slide54.xml.rels><?xml version="1.0" encoding="UTF-8" standalone="yes"?>
<Relationships xmlns="http://schemas.openxmlformats.org/package/2006/relationships"><Relationship Id="rId3" Type="http://schemas.openxmlformats.org/officeDocument/2006/relationships/image" Target="../media/image570.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image" Target="../media/image710.png"/></Relationships>
</file>

<file path=ppt/slides/_rels/slide55.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731.png"/><Relationship Id="rId7" Type="http://schemas.openxmlformats.org/officeDocument/2006/relationships/image" Target="../media/image96.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 Id="rId9" Type="http://schemas.openxmlformats.org/officeDocument/2006/relationships/image" Target="../media/image98.png"/></Relationships>
</file>

<file path=ppt/slides/_rels/slide5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75.png"/></Relationships>
</file>

<file path=ppt/slides/_rels/slide57.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76.png"/></Relationships>
</file>

<file path=ppt/slides/_rels/slide58.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230.png"/><Relationship Id="rId7" Type="http://schemas.openxmlformats.org/officeDocument/2006/relationships/image" Target="../media/image81.png"/><Relationship Id="rId2" Type="http://schemas.openxmlformats.org/officeDocument/2006/relationships/image" Target="../media/image761.png"/><Relationship Id="rId1" Type="http://schemas.openxmlformats.org/officeDocument/2006/relationships/slideLayout" Target="../slideLayouts/slideLayout2.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23.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43.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2.png"/><Relationship Id="rId3" Type="http://schemas.openxmlformats.org/officeDocument/2006/relationships/image" Target="../media/image83.png"/><Relationship Id="rId7" Type="http://schemas.openxmlformats.org/officeDocument/2006/relationships/image" Target="../media/image86.png"/><Relationship Id="rId12" Type="http://schemas.openxmlformats.org/officeDocument/2006/relationships/image" Target="../media/image91.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85.png"/><Relationship Id="rId11" Type="http://schemas.openxmlformats.org/officeDocument/2006/relationships/image" Target="../media/image90.png"/><Relationship Id="rId5" Type="http://schemas.openxmlformats.org/officeDocument/2006/relationships/image" Target="../media/image84.png"/><Relationship Id="rId10" Type="http://schemas.openxmlformats.org/officeDocument/2006/relationships/image" Target="../media/image89.png"/><Relationship Id="rId4" Type="http://schemas.openxmlformats.org/officeDocument/2006/relationships/image" Target="../media/image831.png"/><Relationship Id="rId9" Type="http://schemas.openxmlformats.org/officeDocument/2006/relationships/image" Target="../media/image88.png"/><Relationship Id="rId14" Type="http://schemas.openxmlformats.org/officeDocument/2006/relationships/image" Target="../media/image99.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8" Type="http://schemas.openxmlformats.org/officeDocument/2006/relationships/image" Target="../media/image105.png"/><Relationship Id="rId13" Type="http://schemas.openxmlformats.org/officeDocument/2006/relationships/image" Target="../media/image110.png"/><Relationship Id="rId3" Type="http://schemas.openxmlformats.org/officeDocument/2006/relationships/image" Target="../media/image100.png"/><Relationship Id="rId7" Type="http://schemas.openxmlformats.org/officeDocument/2006/relationships/image" Target="../media/image104.png"/><Relationship Id="rId12" Type="http://schemas.openxmlformats.org/officeDocument/2006/relationships/image" Target="../media/image109.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103.png"/><Relationship Id="rId11" Type="http://schemas.openxmlformats.org/officeDocument/2006/relationships/image" Target="../media/image108.png"/><Relationship Id="rId5" Type="http://schemas.openxmlformats.org/officeDocument/2006/relationships/image" Target="../media/image102.png"/><Relationship Id="rId10" Type="http://schemas.openxmlformats.org/officeDocument/2006/relationships/image" Target="../media/image107.png"/><Relationship Id="rId4" Type="http://schemas.openxmlformats.org/officeDocument/2006/relationships/image" Target="../media/image101.png"/><Relationship Id="rId9" Type="http://schemas.openxmlformats.org/officeDocument/2006/relationships/image" Target="../media/image106.png"/><Relationship Id="rId14" Type="http://schemas.openxmlformats.org/officeDocument/2006/relationships/image" Target="../media/image111.png"/></Relationships>
</file>

<file path=ppt/slides/_rels/slide70.xml.rels><?xml version="1.0" encoding="UTF-8" standalone="yes"?>
<Relationships xmlns="http://schemas.openxmlformats.org/package/2006/relationships"><Relationship Id="rId3" Type="http://schemas.openxmlformats.org/officeDocument/2006/relationships/image" Target="../media/image811.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821.png"/></Relationships>
</file>

<file path=ppt/slides/_rels/slide71.xml.rels><?xml version="1.0" encoding="UTF-8" standalone="yes"?>
<Relationships xmlns="http://schemas.openxmlformats.org/package/2006/relationships"><Relationship Id="rId8" Type="http://schemas.openxmlformats.org/officeDocument/2006/relationships/image" Target="../media/image801.png"/><Relationship Id="rId13" Type="http://schemas.openxmlformats.org/officeDocument/2006/relationships/image" Target="../media/image850.png"/><Relationship Id="rId18" Type="http://schemas.openxmlformats.org/officeDocument/2006/relationships/image" Target="../media/image900.png"/><Relationship Id="rId3" Type="http://schemas.openxmlformats.org/officeDocument/2006/relationships/image" Target="../media/image751.png"/><Relationship Id="rId7" Type="http://schemas.openxmlformats.org/officeDocument/2006/relationships/image" Target="../media/image791.png"/><Relationship Id="rId12" Type="http://schemas.openxmlformats.org/officeDocument/2006/relationships/image" Target="../media/image840.png"/><Relationship Id="rId17" Type="http://schemas.openxmlformats.org/officeDocument/2006/relationships/image" Target="../media/image890.png"/><Relationship Id="rId2" Type="http://schemas.openxmlformats.org/officeDocument/2006/relationships/notesSlide" Target="../notesSlides/notesSlide47.xml"/><Relationship Id="rId16" Type="http://schemas.openxmlformats.org/officeDocument/2006/relationships/image" Target="../media/image880.png"/><Relationship Id="rId20" Type="http://schemas.openxmlformats.org/officeDocument/2006/relationships/image" Target="../media/image920.png"/><Relationship Id="rId1" Type="http://schemas.openxmlformats.org/officeDocument/2006/relationships/slideLayout" Target="../slideLayouts/slideLayout1.xml"/><Relationship Id="rId6" Type="http://schemas.openxmlformats.org/officeDocument/2006/relationships/image" Target="../media/image781.png"/><Relationship Id="rId11" Type="http://schemas.openxmlformats.org/officeDocument/2006/relationships/image" Target="../media/image830.png"/><Relationship Id="rId5" Type="http://schemas.openxmlformats.org/officeDocument/2006/relationships/image" Target="../media/image770.png"/><Relationship Id="rId15" Type="http://schemas.openxmlformats.org/officeDocument/2006/relationships/image" Target="../media/image870.png"/><Relationship Id="rId10" Type="http://schemas.openxmlformats.org/officeDocument/2006/relationships/image" Target="../media/image820.png"/><Relationship Id="rId19" Type="http://schemas.openxmlformats.org/officeDocument/2006/relationships/image" Target="../media/image910.png"/><Relationship Id="rId4" Type="http://schemas.openxmlformats.org/officeDocument/2006/relationships/image" Target="../media/image760.png"/><Relationship Id="rId9" Type="http://schemas.openxmlformats.org/officeDocument/2006/relationships/image" Target="../media/image810.png"/><Relationship Id="rId14" Type="http://schemas.openxmlformats.org/officeDocument/2006/relationships/image" Target="../media/image860.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79.gif"/><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80.gif"/></Relationships>
</file>

<file path=ppt/slides/_rels/slide78.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8" Type="http://schemas.openxmlformats.org/officeDocument/2006/relationships/image" Target="../media/image1021.png"/><Relationship Id="rId3" Type="http://schemas.openxmlformats.org/officeDocument/2006/relationships/image" Target="../media/image123.png"/><Relationship Id="rId12" Type="http://schemas.openxmlformats.org/officeDocument/2006/relationships/image" Target="../media/image1060.png"/><Relationship Id="rId2" Type="http://schemas.openxmlformats.org/officeDocument/2006/relationships/notesSlide" Target="../notesSlides/notesSlide60.xml"/><Relationship Id="rId1" Type="http://schemas.openxmlformats.org/officeDocument/2006/relationships/slideLayout" Target="../slideLayouts/slideLayout1.xml"/><Relationship Id="rId11" Type="http://schemas.openxmlformats.org/officeDocument/2006/relationships/image" Target="../media/image1050.png"/><Relationship Id="rId10" Type="http://schemas.openxmlformats.org/officeDocument/2006/relationships/image" Target="../media/image1040.png"/><Relationship Id="rId4" Type="http://schemas.openxmlformats.org/officeDocument/2006/relationships/image" Target="../media/image117.jpeg"/><Relationship Id="rId9" Type="http://schemas.openxmlformats.org/officeDocument/2006/relationships/image" Target="../media/image1031.pn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1020.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1030.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68.xml"/><Relationship Id="rId1" Type="http://schemas.openxmlformats.org/officeDocument/2006/relationships/slideLayout" Target="../slideLayouts/slideLayout1.xml"/><Relationship Id="rId6" Type="http://schemas.openxmlformats.org/officeDocument/2006/relationships/image" Target="../media/image121.jpeg"/><Relationship Id="rId5" Type="http://schemas.openxmlformats.org/officeDocument/2006/relationships/image" Target="../media/image120.gif"/><Relationship Id="rId4" Type="http://schemas.openxmlformats.org/officeDocument/2006/relationships/image" Target="../media/image119.png"/></Relationships>
</file>

<file path=ppt/slides/_rels/slide94.xml.rels><?xml version="1.0" encoding="UTF-8" standalone="yes"?>
<Relationships xmlns="http://schemas.openxmlformats.org/package/2006/relationships"><Relationship Id="rId2" Type="http://schemas.openxmlformats.org/officeDocument/2006/relationships/image" Target="../media/image122.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24.jpg"/><Relationship Id="rId2" Type="http://schemas.openxmlformats.org/officeDocument/2006/relationships/image" Target="../media/image123.jp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260.png"/><Relationship Id="rId2" Type="http://schemas.openxmlformats.org/officeDocument/2006/relationships/notesSlide" Target="../notesSlides/notesSlide69.xml"/><Relationship Id="rId1" Type="http://schemas.openxmlformats.org/officeDocument/2006/relationships/slideLayout" Target="../slideLayouts/slideLayout1.xml"/><Relationship Id="rId6" Type="http://schemas.openxmlformats.org/officeDocument/2006/relationships/image" Target="../media/image128.jpeg"/><Relationship Id="rId5" Type="http://schemas.openxmlformats.org/officeDocument/2006/relationships/image" Target="../media/image127.jpeg"/><Relationship Id="rId4" Type="http://schemas.openxmlformats.org/officeDocument/2006/relationships/image" Target="../media/image126.png"/></Relationships>
</file>

<file path=ppt/slides/_rels/slide97.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70.xml"/><Relationship Id="rId1" Type="http://schemas.openxmlformats.org/officeDocument/2006/relationships/slideLayout" Target="../slideLayouts/slideLayout1.xml"/><Relationship Id="rId4" Type="http://schemas.openxmlformats.org/officeDocument/2006/relationships/image" Target="../media/image127.jpeg"/></Relationships>
</file>

<file path=ppt/slides/_rels/slide98.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8" Type="http://schemas.openxmlformats.org/officeDocument/2006/relationships/image" Target="../media/image159.png"/><Relationship Id="rId3" Type="http://schemas.openxmlformats.org/officeDocument/2006/relationships/image" Target="../media/image145.png"/><Relationship Id="rId7" Type="http://schemas.openxmlformats.org/officeDocument/2006/relationships/image" Target="../media/image158.png"/><Relationship Id="rId2" Type="http://schemas.openxmlformats.org/officeDocument/2006/relationships/notesSlide" Target="../notesSlides/notesSlide72.xml"/><Relationship Id="rId1" Type="http://schemas.openxmlformats.org/officeDocument/2006/relationships/slideLayout" Target="../slideLayouts/slideLayout1.xml"/><Relationship Id="rId6" Type="http://schemas.openxmlformats.org/officeDocument/2006/relationships/image" Target="../media/image157.png"/><Relationship Id="rId5" Type="http://schemas.openxmlformats.org/officeDocument/2006/relationships/image" Target="../media/image152.png"/><Relationship Id="rId4" Type="http://schemas.openxmlformats.org/officeDocument/2006/relationships/image" Target="../media/image146.png"/><Relationship Id="rId9" Type="http://schemas.openxmlformats.org/officeDocument/2006/relationships/image" Target="../media/image165.png"/></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A2F47-AC32-3447-B9A5-A02F15A9C4F2}"/>
              </a:ext>
            </a:extLst>
          </p:cNvPr>
          <p:cNvSpPr>
            <a:spLocks noGrp="1"/>
          </p:cNvSpPr>
          <p:nvPr>
            <p:ph type="ctrTitle"/>
          </p:nvPr>
        </p:nvSpPr>
        <p:spPr>
          <a:xfrm>
            <a:off x="548640" y="1397001"/>
            <a:ext cx="11206754" cy="1655762"/>
          </a:xfrm>
        </p:spPr>
        <p:txBody>
          <a:bodyPr>
            <a:normAutofit/>
          </a:bodyPr>
          <a:lstStyle/>
          <a:p>
            <a:r>
              <a:rPr lang="en-US"/>
              <a:t>Electronics of Radio, Part 2</a:t>
            </a:r>
            <a:br>
              <a:rPr lang="en-US" dirty="0"/>
            </a:br>
            <a:r>
              <a:rPr lang="en-US" sz="2800" dirty="0"/>
              <a:t>Notes on David Rutledge’s book</a:t>
            </a:r>
            <a:endParaRPr lang="en-US" dirty="0"/>
          </a:p>
        </p:txBody>
      </p:sp>
      <p:sp>
        <p:nvSpPr>
          <p:cNvPr id="3" name="Subtitle 2">
            <a:extLst>
              <a:ext uri="{FF2B5EF4-FFF2-40B4-BE49-F238E27FC236}">
                <a16:creationId xmlns:a16="http://schemas.microsoft.com/office/drawing/2014/main" id="{081611E0-A9DA-7242-8AF3-6C9814B72F3D}"/>
              </a:ext>
            </a:extLst>
          </p:cNvPr>
          <p:cNvSpPr>
            <a:spLocks noGrp="1"/>
          </p:cNvSpPr>
          <p:nvPr>
            <p:ph type="subTitle" idx="1"/>
          </p:nvPr>
        </p:nvSpPr>
        <p:spPr>
          <a:xfrm>
            <a:off x="436606" y="4059238"/>
            <a:ext cx="11318788" cy="1655762"/>
          </a:xfrm>
        </p:spPr>
        <p:txBody>
          <a:bodyPr>
            <a:noAutofit/>
          </a:bodyPr>
          <a:lstStyle/>
          <a:p>
            <a:endParaRPr lang="en-US" dirty="0"/>
          </a:p>
          <a:p>
            <a:pPr algn="r"/>
            <a:r>
              <a:rPr lang="en-US" sz="2800" dirty="0"/>
              <a:t>John </a:t>
            </a:r>
            <a:r>
              <a:rPr lang="en-US" sz="2800" dirty="0" err="1"/>
              <a:t>Manferdelli</a:t>
            </a:r>
            <a:endParaRPr lang="en-US" sz="2800"/>
          </a:p>
          <a:p>
            <a:pPr algn="r"/>
            <a:r>
              <a:rPr lang="en-US" sz="2800" err="1"/>
              <a:t>johnmanferdelli@hotmail.com</a:t>
            </a:r>
            <a:endParaRPr lang="en-US" sz="2800"/>
          </a:p>
          <a:p>
            <a:pPr algn="r"/>
            <a:endParaRPr lang="en-US"/>
          </a:p>
        </p:txBody>
      </p:sp>
      <p:sp>
        <p:nvSpPr>
          <p:cNvPr id="5" name="Slide Number Placeholder 4">
            <a:extLst>
              <a:ext uri="{FF2B5EF4-FFF2-40B4-BE49-F238E27FC236}">
                <a16:creationId xmlns:a16="http://schemas.microsoft.com/office/drawing/2014/main" id="{A1F8F6FF-2CC8-BE4A-913C-116A24183195}"/>
              </a:ext>
            </a:extLst>
          </p:cNvPr>
          <p:cNvSpPr>
            <a:spLocks noGrp="1"/>
          </p:cNvSpPr>
          <p:nvPr>
            <p:ph type="sldNum" sz="quarter" idx="12"/>
          </p:nvPr>
        </p:nvSpPr>
        <p:spPr/>
        <p:txBody>
          <a:bodyPr/>
          <a:lstStyle/>
          <a:p>
            <a:fld id="{6B76BA51-8322-1A4D-B259-B74706370693}" type="slidenum">
              <a:rPr lang="en-US" smtClean="0"/>
              <a:t>1</a:t>
            </a:fld>
            <a:endParaRPr lang="en-US"/>
          </a:p>
        </p:txBody>
      </p:sp>
      <p:sp>
        <p:nvSpPr>
          <p:cNvPr id="4" name="TextBox 3">
            <a:extLst>
              <a:ext uri="{FF2B5EF4-FFF2-40B4-BE49-F238E27FC236}">
                <a16:creationId xmlns:a16="http://schemas.microsoft.com/office/drawing/2014/main" id="{71B195EE-7A0E-2A41-9874-9E9FF1DD6C96}"/>
              </a:ext>
            </a:extLst>
          </p:cNvPr>
          <p:cNvSpPr txBox="1"/>
          <p:nvPr/>
        </p:nvSpPr>
        <p:spPr>
          <a:xfrm>
            <a:off x="691978" y="5894173"/>
            <a:ext cx="2767914" cy="369332"/>
          </a:xfrm>
          <a:prstGeom prst="rect">
            <a:avLst/>
          </a:prstGeom>
          <a:noFill/>
        </p:spPr>
        <p:txBody>
          <a:bodyPr wrap="square" rtlCol="0">
            <a:spAutoFit/>
          </a:bodyPr>
          <a:lstStyle/>
          <a:p>
            <a:r>
              <a:rPr lang="en-US" dirty="0"/>
              <a:t>11062024 12:12</a:t>
            </a:r>
          </a:p>
        </p:txBody>
      </p:sp>
    </p:spTree>
    <p:extLst>
      <p:ext uri="{BB962C8B-B14F-4D97-AF65-F5344CB8AC3E}">
        <p14:creationId xmlns:p14="http://schemas.microsoft.com/office/powerpoint/2010/main" val="33193060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362004" y="180588"/>
            <a:ext cx="10960925"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Noise</a:t>
            </a:r>
            <a:endParaRPr sz="32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615537" y="1548593"/>
                <a:ext cx="10960925" cy="464290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342900" indent="-342900" hangingPunct="0">
                  <a:spcBef>
                    <a:spcPts val="400"/>
                  </a:spcBef>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𝑛</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𝑟𝑚𝑠</m:t>
                        </m:r>
                        <m:r>
                          <a:rPr lang="en-US" sz="2000" i="1">
                            <a:solidFill>
                              <a:srgbClr val="000000"/>
                            </a:solidFill>
                            <a:latin typeface="Cambria Math" panose="02040503050406030204" pitchFamily="18" charset="0"/>
                          </a:rPr>
                          <m:t>)</m:t>
                        </m:r>
                      </m:sub>
                    </m:sSub>
                    <m:r>
                      <a:rPr lang="en-US" sz="2000" i="1">
                        <a:solidFill>
                          <a:srgbClr val="000000"/>
                        </a:solidFill>
                        <a:latin typeface="Cambria Math" panose="02040503050406030204" pitchFamily="18" charset="0"/>
                      </a:rPr>
                      <m:t>=</m:t>
                    </m:r>
                    <m:rad>
                      <m:radPr>
                        <m:degHide m:val="on"/>
                        <m:ctrlPr>
                          <a:rPr lang="en-US" sz="2000" i="1">
                            <a:solidFill>
                              <a:srgbClr val="000000"/>
                            </a:solidFill>
                            <a:latin typeface="Cambria Math" panose="02040503050406030204" pitchFamily="18" charset="0"/>
                          </a:rPr>
                        </m:ctrlPr>
                      </m:radPr>
                      <m:deg/>
                      <m:e>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ea typeface="Cambria Math" panose="02040503050406030204" pitchFamily="18" charset="0"/>
                              </a:rPr>
                              <m:t>𝜏</m:t>
                            </m:r>
                          </m:den>
                        </m:f>
                        <m:nary>
                          <m:naryPr>
                            <m:ctrlPr>
                              <a:rPr lang="en-US" sz="2000" i="1">
                                <a:solidFill>
                                  <a:srgbClr val="000000"/>
                                </a:solidFill>
                                <a:latin typeface="Cambria Math" panose="02040503050406030204" pitchFamily="18" charset="0"/>
                              </a:rPr>
                            </m:ctrlPr>
                          </m:naryPr>
                          <m:sub>
                            <m:r>
                              <m:rPr>
                                <m:brk m:alnAt="23"/>
                              </m:rPr>
                              <a:rPr lang="en-US" sz="2000" i="1">
                                <a:solidFill>
                                  <a:srgbClr val="000000"/>
                                </a:solidFill>
                                <a:latin typeface="Cambria Math" panose="02040503050406030204" pitchFamily="18" charset="0"/>
                              </a:rPr>
                              <m:t>0</m:t>
                            </m:r>
                          </m:sub>
                          <m:sup>
                            <m:r>
                              <a:rPr lang="en-US" sz="2000" i="1">
                                <a:solidFill>
                                  <a:srgbClr val="000000"/>
                                </a:solidFill>
                                <a:latin typeface="Cambria Math" panose="02040503050406030204" pitchFamily="18" charset="0"/>
                                <a:ea typeface="Cambria Math" panose="02040503050406030204" pitchFamily="18" charset="0"/>
                              </a:rPr>
                              <m:t>𝜏</m:t>
                            </m:r>
                          </m:sup>
                          <m:e>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𝑉</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𝑡</m:t>
                                </m:r>
                                <m:r>
                                  <a:rPr lang="en-US" sz="2000" i="1">
                                    <a:solidFill>
                                      <a:srgbClr val="000000"/>
                                    </a:solidFill>
                                    <a:latin typeface="Cambria Math" panose="02040503050406030204" pitchFamily="18" charset="0"/>
                                  </a:rPr>
                                  <m:t>)</m:t>
                                </m:r>
                              </m:e>
                              <m:sup>
                                <m:r>
                                  <a:rPr lang="en-US" sz="2000" i="1">
                                    <a:solidFill>
                                      <a:srgbClr val="000000"/>
                                    </a:solidFill>
                                    <a:latin typeface="Cambria Math" panose="02040503050406030204" pitchFamily="18" charset="0"/>
                                  </a:rPr>
                                  <m:t>2</m:t>
                                </m:r>
                              </m:sup>
                            </m:sSup>
                          </m:e>
                        </m:nary>
                      </m:e>
                    </m:rad>
                    <m:r>
                      <a:rPr lang="en-US" sz="2000" i="1">
                        <a:solidFill>
                          <a:srgbClr val="000000"/>
                        </a:solidFill>
                        <a:latin typeface="Cambria Math" panose="02040503050406030204" pitchFamily="18" charset="0"/>
                      </a:rPr>
                      <m:t> </m:t>
                    </m:r>
                    <m:r>
                      <a:rPr lang="en-US" sz="2000" i="1">
                        <a:solidFill>
                          <a:srgbClr val="000000"/>
                        </a:solidFill>
                        <a:latin typeface="Cambria Math" panose="02040503050406030204" pitchFamily="18" charset="0"/>
                      </a:rPr>
                      <m:t>𝑑𝑡</m:t>
                    </m:r>
                  </m:oMath>
                </a14:m>
                <a:r>
                  <a:rPr lang="en-US" sz="2000" dirty="0">
                    <a:solidFill>
                      <a:srgbClr val="000000"/>
                    </a:solidFill>
                  </a:rPr>
                  <a:t> so the average noise power is </a:t>
                </a: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𝑃</m:t>
                        </m:r>
                      </m:e>
                      <m:sub>
                        <m:r>
                          <a:rPr lang="en-US" sz="2000" i="1">
                            <a:solidFill>
                              <a:srgbClr val="000000"/>
                            </a:solidFill>
                            <a:latin typeface="Cambria Math" panose="02040503050406030204" pitchFamily="18" charset="0"/>
                          </a:rPr>
                          <m:t>𝑛</m:t>
                        </m:r>
                      </m:sub>
                    </m:sSub>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sSup>
                          <m:sSupPr>
                            <m:ctrlPr>
                              <a:rPr lang="en-US" sz="2000" i="1">
                                <a:solidFill>
                                  <a:srgbClr val="000000"/>
                                </a:solidFill>
                                <a:latin typeface="Cambria Math" panose="02040503050406030204" pitchFamily="18" charset="0"/>
                              </a:rPr>
                            </m:ctrlPr>
                          </m:sSupPr>
                          <m:e>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𝑛</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𝑟𝑚𝑠</m:t>
                                </m:r>
                                <m:r>
                                  <a:rPr lang="en-US" sz="2000" i="1">
                                    <a:solidFill>
                                      <a:srgbClr val="000000"/>
                                    </a:solidFill>
                                    <a:latin typeface="Cambria Math" panose="02040503050406030204" pitchFamily="18" charset="0"/>
                                  </a:rPr>
                                  <m:t>)</m:t>
                                </m:r>
                              </m:sub>
                            </m:sSub>
                          </m:e>
                          <m:sup>
                            <m:r>
                              <a:rPr lang="en-US" sz="2000" i="1">
                                <a:solidFill>
                                  <a:srgbClr val="000000"/>
                                </a:solidFill>
                                <a:latin typeface="Cambria Math" panose="02040503050406030204" pitchFamily="18" charset="0"/>
                              </a:rPr>
                              <m:t>2</m:t>
                            </m:r>
                          </m:sup>
                        </m:sSup>
                      </m:num>
                      <m:den>
                        <m:r>
                          <a:rPr lang="en-US" sz="2000" i="1">
                            <a:solidFill>
                              <a:srgbClr val="000000"/>
                            </a:solidFill>
                            <a:latin typeface="Cambria Math" panose="02040503050406030204" pitchFamily="18" charset="0"/>
                          </a:rPr>
                          <m:t>𝑅</m:t>
                        </m:r>
                      </m:den>
                    </m:f>
                  </m:oMath>
                </a14:m>
                <a:r>
                  <a:rPr lang="en-US" sz="2000" dirty="0">
                    <a:solidFill>
                      <a:srgbClr val="000000"/>
                    </a:solidFill>
                  </a:rPr>
                  <a:t>, where </a:t>
                </a:r>
                <a14:m>
                  <m:oMath xmlns:m="http://schemas.openxmlformats.org/officeDocument/2006/math">
                    <m:r>
                      <a:rPr lang="en-US" sz="2000" i="1">
                        <a:solidFill>
                          <a:srgbClr val="000000"/>
                        </a:solidFill>
                        <a:latin typeface="Cambria Math" panose="02040503050406030204" pitchFamily="18" charset="0"/>
                      </a:rPr>
                      <m:t>𝑅</m:t>
                    </m:r>
                  </m:oMath>
                </a14:m>
                <a:r>
                  <a:rPr lang="en-US" sz="2000" dirty="0">
                    <a:solidFill>
                      <a:srgbClr val="000000"/>
                    </a:solidFill>
                  </a:rPr>
                  <a:t> is the load resistance</a:t>
                </a:r>
              </a:p>
              <a:p>
                <a:pPr marL="285750" indent="-285750" hangingPunct="0">
                  <a:spcBef>
                    <a:spcPts val="400"/>
                  </a:spcBef>
                  <a:buFont typeface="Arial" panose="020B0604020202020204" pitchFamily="34" charset="0"/>
                  <a:buChar char="•"/>
                </a:pPr>
                <a:r>
                  <a:rPr lang="en-US" sz="2000" dirty="0">
                    <a:solidFill>
                      <a:srgbClr val="000000"/>
                    </a:solidFill>
                  </a:rPr>
                  <a:t>Define </a:t>
                </a:r>
                <a14:m>
                  <m:oMath xmlns:m="http://schemas.openxmlformats.org/officeDocument/2006/math">
                    <m:r>
                      <a:rPr lang="en-US" sz="2000" i="1">
                        <a:solidFill>
                          <a:srgbClr val="000000"/>
                        </a:solidFill>
                        <a:latin typeface="Cambria Math" panose="02040503050406030204" pitchFamily="18" charset="0"/>
                      </a:rPr>
                      <m:t>𝑆𝑁𝑅</m:t>
                    </m:r>
                    <m:r>
                      <a:rPr lang="en-US" sz="2000" i="1">
                        <a:solidFill>
                          <a:srgbClr val="000000"/>
                        </a:solidFill>
                        <a:latin typeface="Cambria Math" panose="02040503050406030204" pitchFamily="18" charset="0"/>
                      </a:rPr>
                      <m:t>= </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𝑃</m:t>
                        </m:r>
                      </m:num>
                      <m:den>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𝑃</m:t>
                            </m:r>
                          </m:e>
                          <m:sub>
                            <m:r>
                              <a:rPr lang="en-US" sz="2000" i="1">
                                <a:solidFill>
                                  <a:srgbClr val="000000"/>
                                </a:solidFill>
                                <a:latin typeface="Cambria Math" panose="02040503050406030204" pitchFamily="18" charset="0"/>
                              </a:rPr>
                              <m:t>𝑛</m:t>
                            </m:r>
                          </m:sub>
                        </m:sSub>
                      </m:den>
                    </m:f>
                    <m:r>
                      <a:rPr lang="en-US" sz="2000" b="0" i="0" smtClean="0">
                        <a:solidFill>
                          <a:srgbClr val="000000"/>
                        </a:solidFill>
                        <a:latin typeface="Cambria Math" panose="02040503050406030204" pitchFamily="18" charset="0"/>
                      </a:rPr>
                      <m:t>  </m:t>
                    </m:r>
                  </m:oMath>
                </a14:m>
                <a:r>
                  <a:rPr lang="en-US" sz="2000" dirty="0">
                    <a:solidFill>
                      <a:srgbClr val="000000"/>
                    </a:solidFill>
                  </a:rPr>
                  <a:t>and </a:t>
                </a:r>
                <a14:m>
                  <m:oMath xmlns:m="http://schemas.openxmlformats.org/officeDocument/2006/math">
                    <m:r>
                      <a:rPr lang="en-US" sz="2000" i="1">
                        <a:solidFill>
                          <a:srgbClr val="000000"/>
                        </a:solidFill>
                        <a:latin typeface="Cambria Math" panose="02040503050406030204" pitchFamily="18" charset="0"/>
                      </a:rPr>
                      <m:t>𝑀𝐷𝑆</m:t>
                    </m:r>
                    <m:r>
                      <a:rPr lang="en-US" sz="2000" i="1">
                        <a:solidFill>
                          <a:srgbClr val="000000"/>
                        </a:solidFill>
                        <a:latin typeface="Cambria Math" panose="02040503050406030204" pitchFamily="18" charset="0"/>
                      </a:rPr>
                      <m:t>= </m:t>
                    </m:r>
                    <m:f>
                      <m:fPr>
                        <m:ctrlPr>
                          <a:rPr lang="en-US" sz="2000" i="1">
                            <a:solidFill>
                              <a:srgbClr val="000000"/>
                            </a:solidFill>
                            <a:latin typeface="Cambria Math" panose="02040503050406030204" pitchFamily="18" charset="0"/>
                          </a:rPr>
                        </m:ctrlPr>
                      </m:fPr>
                      <m:num>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𝑃</m:t>
                            </m:r>
                          </m:e>
                          <m:sub>
                            <m:r>
                              <a:rPr lang="en-US" sz="2000" i="1">
                                <a:solidFill>
                                  <a:srgbClr val="000000"/>
                                </a:solidFill>
                                <a:latin typeface="Cambria Math" panose="02040503050406030204" pitchFamily="18" charset="0"/>
                              </a:rPr>
                              <m:t>𝑛</m:t>
                            </m:r>
                          </m:sub>
                        </m:sSub>
                      </m:num>
                      <m:den>
                        <m:r>
                          <a:rPr lang="en-US" sz="2000" i="1">
                            <a:solidFill>
                              <a:srgbClr val="000000"/>
                            </a:solidFill>
                            <a:latin typeface="Cambria Math" panose="02040503050406030204" pitchFamily="18" charset="0"/>
                          </a:rPr>
                          <m:t>𝐺</m:t>
                        </m:r>
                      </m:den>
                    </m:f>
                  </m:oMath>
                </a14:m>
                <a:r>
                  <a:rPr lang="en-US" sz="2000" dirty="0">
                    <a:solidFill>
                      <a:srgbClr val="000000"/>
                    </a:solidFill>
                  </a:rPr>
                  <a:t>.</a:t>
                </a:r>
              </a:p>
              <a:p>
                <a:pPr marL="285750" indent="-285750" hangingPunct="0">
                  <a:spcBef>
                    <a:spcPts val="400"/>
                  </a:spcBef>
                  <a:buFont typeface="Arial" panose="020B0604020202020204" pitchFamily="34" charset="0"/>
                  <a:buChar char="•"/>
                </a:pPr>
                <a14:m>
                  <m:oMath xmlns:m="http://schemas.openxmlformats.org/officeDocument/2006/math">
                    <m:r>
                      <a:rPr lang="en-US" sz="2000" b="0" i="1" smtClean="0">
                        <a:solidFill>
                          <a:srgbClr val="000000"/>
                        </a:solidFill>
                        <a:latin typeface="Cambria Math" panose="02040503050406030204" pitchFamily="18" charset="0"/>
                      </a:rPr>
                      <m:t>𝑁𝐸𝑃</m:t>
                    </m:r>
                    <m:r>
                      <a:rPr lang="en-US" sz="2000" b="0" i="1" smtClean="0">
                        <a:solidFill>
                          <a:srgbClr val="000000"/>
                        </a:solidFill>
                        <a:latin typeface="Cambria Math" panose="02040503050406030204" pitchFamily="18" charset="0"/>
                      </a:rPr>
                      <m:t>=</m:t>
                    </m:r>
                    <m:f>
                      <m:fPr>
                        <m:ctrlPr>
                          <a:rPr lang="en-US" sz="2000" b="0" i="1" smtClean="0">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rPr>
                          <m:t>𝑁</m:t>
                        </m:r>
                      </m:num>
                      <m:den>
                        <m:r>
                          <a:rPr lang="en-US" sz="2000" b="0" i="1" smtClean="0">
                            <a:solidFill>
                              <a:srgbClr val="000000"/>
                            </a:solidFill>
                            <a:latin typeface="Cambria Math" panose="02040503050406030204" pitchFamily="18" charset="0"/>
                          </a:rPr>
                          <m:t>𝐺</m:t>
                        </m:r>
                      </m:den>
                    </m:f>
                  </m:oMath>
                </a14:m>
                <a:r>
                  <a:rPr lang="en-US" sz="2000" dirty="0">
                    <a:solidFill>
                      <a:srgbClr val="000000"/>
                    </a:solidFill>
                    <a:latin typeface="Calibri"/>
                    <a:ea typeface="Calibri"/>
                    <a:cs typeface="Calibri"/>
                    <a:sym typeface="Calibri"/>
                  </a:rPr>
                  <a:t>   (Noise equivalent power)</a:t>
                </a:r>
              </a:p>
              <a:p>
                <a:pPr marL="342900" indent="-342900" hangingPunct="0">
                  <a:buFont typeface="Arial" panose="020B0604020202020204" pitchFamily="34" charset="0"/>
                  <a:buChar char="•"/>
                </a:pPr>
                <a:r>
                  <a:rPr lang="en-US" sz="2000" dirty="0">
                    <a:solidFill>
                      <a:srgbClr val="000000"/>
                    </a:solidFill>
                  </a:rPr>
                  <a:t>Noise phasors</a:t>
                </a:r>
              </a:p>
              <a:p>
                <a:pPr marL="800100" lvl="1" indent="-342900" hangingPunct="0">
                  <a:buFont typeface="Arial" panose="020B0604020202020204" pitchFamily="34" charset="0"/>
                  <a:buChar char="•"/>
                </a:pPr>
                <a14:m>
                  <m:oMath xmlns:m="http://schemas.openxmlformats.org/officeDocument/2006/math">
                    <m:acc>
                      <m:accPr>
                        <m:chr m:val="̅"/>
                        <m:ctrlPr>
                          <a:rPr lang="en-US" sz="2400" i="1">
                            <a:solidFill>
                              <a:srgbClr val="000000"/>
                            </a:solidFill>
                            <a:latin typeface="Cambria Math" panose="02040503050406030204" pitchFamily="18" charset="0"/>
                          </a:rPr>
                        </m:ctrlPr>
                      </m:accPr>
                      <m:e>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𝑉</m:t>
                                </m:r>
                              </m:e>
                              <m:sub>
                                <m:r>
                                  <a:rPr lang="en-US" sz="2400" i="1">
                                    <a:solidFill>
                                      <a:srgbClr val="000000"/>
                                    </a:solidFill>
                                    <a:latin typeface="Cambria Math" panose="02040503050406030204" pitchFamily="18" charset="0"/>
                                  </a:rPr>
                                  <m:t>𝑛</m:t>
                                </m:r>
                              </m:sub>
                            </m:sSub>
                            <m:r>
                              <a:rPr lang="en-US" sz="2400" i="1">
                                <a:solidFill>
                                  <a:srgbClr val="000000"/>
                                </a:solidFill>
                                <a:latin typeface="Cambria Math" panose="02040503050406030204" pitchFamily="18" charset="0"/>
                              </a:rPr>
                              <m:t>|</m:t>
                            </m:r>
                          </m:e>
                          <m:sup>
                            <m:r>
                              <a:rPr lang="en-US" sz="2400" i="1">
                                <a:solidFill>
                                  <a:srgbClr val="000000"/>
                                </a:solidFill>
                                <a:latin typeface="Cambria Math" panose="02040503050406030204" pitchFamily="18" charset="0"/>
                              </a:rPr>
                              <m:t>2</m:t>
                            </m:r>
                          </m:sup>
                        </m:sSup>
                      </m:e>
                    </m:acc>
                    <m:r>
                      <a:rPr lang="en-US" sz="2400" i="1">
                        <a:solidFill>
                          <a:srgbClr val="000000"/>
                        </a:solidFill>
                        <a:latin typeface="Cambria Math" panose="02040503050406030204" pitchFamily="18" charset="0"/>
                      </a:rPr>
                      <m:t>=</m:t>
                    </m:r>
                    <m:nary>
                      <m:naryPr>
                        <m:limLoc m:val="undOvr"/>
                        <m:subHide m:val="on"/>
                        <m:supHide m:val="on"/>
                        <m:ctrlPr>
                          <a:rPr lang="en-US" sz="2400" i="1">
                            <a:solidFill>
                              <a:srgbClr val="000000"/>
                            </a:solidFill>
                            <a:latin typeface="Cambria Math" panose="02040503050406030204" pitchFamily="18" charset="0"/>
                          </a:rPr>
                        </m:ctrlPr>
                      </m:naryPr>
                      <m:sub/>
                      <m:sup/>
                      <m:e>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𝑉</m:t>
                                </m:r>
                              </m:e>
                              <m:sub>
                                <m:r>
                                  <a:rPr lang="en-US" sz="2400" i="1">
                                    <a:solidFill>
                                      <a:srgbClr val="000000"/>
                                    </a:solidFill>
                                    <a:latin typeface="Cambria Math" panose="02040503050406030204" pitchFamily="18" charset="0"/>
                                  </a:rPr>
                                  <m:t>𝑛</m:t>
                                </m:r>
                              </m:sub>
                            </m:sSub>
                            <m:r>
                              <a:rPr lang="en-US" sz="2400" i="1">
                                <a:solidFill>
                                  <a:srgbClr val="000000"/>
                                </a:solidFill>
                                <a:latin typeface="Cambria Math" panose="02040503050406030204" pitchFamily="18" charset="0"/>
                              </a:rPr>
                              <m:t>|</m:t>
                            </m:r>
                          </m:e>
                          <m:sup>
                            <m:r>
                              <a:rPr lang="en-US" sz="2400" i="1">
                                <a:solidFill>
                                  <a:srgbClr val="000000"/>
                                </a:solidFill>
                                <a:latin typeface="Cambria Math" panose="02040503050406030204" pitchFamily="18" charset="0"/>
                              </a:rPr>
                              <m:t>2</m:t>
                            </m:r>
                          </m:sup>
                        </m:sSup>
                        <m:r>
                          <a:rPr lang="en-US" sz="2400" i="1">
                            <a:solidFill>
                              <a:srgbClr val="000000"/>
                            </a:solidFill>
                            <a:latin typeface="Cambria Math" panose="02040503050406030204" pitchFamily="18" charset="0"/>
                          </a:rPr>
                          <m:t>𝑝</m:t>
                        </m:r>
                        <m:r>
                          <a:rPr lang="en-US" sz="2400" i="1">
                            <a:solidFill>
                              <a:srgbClr val="000000"/>
                            </a:solidFill>
                            <a:latin typeface="Cambria Math" panose="02040503050406030204" pitchFamily="18" charset="0"/>
                          </a:rPr>
                          <m:t> </m:t>
                        </m:r>
                        <m:r>
                          <a:rPr lang="en-US" sz="2400" i="1">
                            <a:solidFill>
                              <a:srgbClr val="000000"/>
                            </a:solidFill>
                            <a:latin typeface="Cambria Math" panose="02040503050406030204" pitchFamily="18" charset="0"/>
                          </a:rPr>
                          <m:t>𝑑𝐴</m:t>
                        </m:r>
                      </m:e>
                    </m:nary>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𝐸</m:t>
                    </m:r>
                    <m:r>
                      <a:rPr lang="en-US" sz="2400" b="0" i="1" smtClean="0">
                        <a:solidFill>
                          <a:srgbClr val="000000"/>
                        </a:solidFill>
                        <a:latin typeface="Cambria Math" panose="02040503050406030204" pitchFamily="18" charset="0"/>
                      </a:rPr>
                      <m:t>(</m:t>
                    </m:r>
                    <m:sSup>
                      <m:sSupPr>
                        <m:ctrlPr>
                          <a:rPr lang="en-US" sz="2400" b="0" i="1" smtClean="0">
                            <a:solidFill>
                              <a:srgbClr val="000000"/>
                            </a:solidFill>
                            <a:latin typeface="Cambria Math" panose="02040503050406030204" pitchFamily="18" charset="0"/>
                          </a:rPr>
                        </m:ctrlPr>
                      </m:sSupPr>
                      <m:e>
                        <m:r>
                          <a:rPr lang="en-US" sz="2400" b="0" i="1" smtClean="0">
                            <a:solidFill>
                              <a:srgbClr val="000000"/>
                            </a:solidFill>
                            <a:latin typeface="Cambria Math" panose="02040503050406030204" pitchFamily="18" charset="0"/>
                          </a:rPr>
                          <m:t>|</m:t>
                        </m:r>
                        <m:sSub>
                          <m:sSubPr>
                            <m:ctrlPr>
                              <a:rPr lang="en-US" sz="2400" b="0" i="1" smtClean="0">
                                <a:solidFill>
                                  <a:srgbClr val="000000"/>
                                </a:solidFill>
                                <a:latin typeface="Cambria Math" panose="02040503050406030204" pitchFamily="18" charset="0"/>
                              </a:rPr>
                            </m:ctrlPr>
                          </m:sSubPr>
                          <m:e>
                            <m:r>
                              <a:rPr lang="en-US" sz="2400" b="0" i="1" smtClean="0">
                                <a:solidFill>
                                  <a:srgbClr val="000000"/>
                                </a:solidFill>
                                <a:latin typeface="Cambria Math" panose="02040503050406030204" pitchFamily="18" charset="0"/>
                              </a:rPr>
                              <m:t>𝑉</m:t>
                            </m:r>
                          </m:e>
                          <m:sub>
                            <m:r>
                              <a:rPr lang="en-US" sz="2400" b="0" i="1" smtClean="0">
                                <a:solidFill>
                                  <a:srgbClr val="000000"/>
                                </a:solidFill>
                                <a:latin typeface="Cambria Math" panose="02040503050406030204" pitchFamily="18" charset="0"/>
                              </a:rPr>
                              <m:t>𝑛</m:t>
                            </m:r>
                          </m:sub>
                        </m:sSub>
                        <m:r>
                          <a:rPr lang="en-US" sz="2400" b="0" i="1" smtClean="0">
                            <a:solidFill>
                              <a:srgbClr val="000000"/>
                            </a:solidFill>
                            <a:latin typeface="Cambria Math" panose="02040503050406030204" pitchFamily="18" charset="0"/>
                          </a:rPr>
                          <m:t> |</m:t>
                        </m:r>
                      </m:e>
                      <m:sup>
                        <m:r>
                          <a:rPr lang="en-US" sz="2400" b="0" i="1" smtClean="0">
                            <a:solidFill>
                              <a:srgbClr val="000000"/>
                            </a:solidFill>
                            <a:latin typeface="Cambria Math" panose="02040503050406030204" pitchFamily="18" charset="0"/>
                          </a:rPr>
                          <m:t>2</m:t>
                        </m:r>
                      </m:sup>
                    </m:sSup>
                    <m:r>
                      <a:rPr lang="en-US" sz="2400" b="0" i="1" smtClean="0">
                        <a:solidFill>
                          <a:srgbClr val="000000"/>
                        </a:solidFill>
                        <a:latin typeface="Cambria Math" panose="02040503050406030204" pitchFamily="18" charset="0"/>
                      </a:rPr>
                      <m:t>)</m:t>
                    </m:r>
                  </m:oMath>
                </a14:m>
                <a:endParaRPr lang="en-US" sz="2400" dirty="0">
                  <a:solidFill>
                    <a:srgbClr val="000000"/>
                  </a:solidFill>
                </a:endParaRPr>
              </a:p>
              <a:p>
                <a:pPr marL="800100" lvl="1" indent="-342900" hangingPunct="0">
                  <a:buFont typeface="Arial" panose="020B0604020202020204" pitchFamily="34" charset="0"/>
                  <a:buChar char="•"/>
                </a:pPr>
                <a14:m>
                  <m:oMath xmlns:m="http://schemas.openxmlformats.org/officeDocument/2006/math">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 </m:t>
                    </m:r>
                    <m:f>
                      <m:fPr>
                        <m:ctrlPr>
                          <a:rPr lang="en-US" sz="2400" i="1">
                            <a:solidFill>
                              <a:srgbClr val="000000"/>
                            </a:solidFill>
                            <a:latin typeface="Cambria Math" panose="02040503050406030204" pitchFamily="18" charset="0"/>
                          </a:rPr>
                        </m:ctrlPr>
                      </m:fPr>
                      <m:num>
                        <m:acc>
                          <m:accPr>
                            <m:chr m:val="̅"/>
                            <m:ctrlPr>
                              <a:rPr lang="en-US" sz="2400" i="1">
                                <a:solidFill>
                                  <a:srgbClr val="000000"/>
                                </a:solidFill>
                                <a:latin typeface="Cambria Math" panose="02040503050406030204" pitchFamily="18" charset="0"/>
                              </a:rPr>
                            </m:ctrlPr>
                          </m:accPr>
                          <m:e>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𝑉</m:t>
                                    </m:r>
                                  </m:e>
                                  <m:sub>
                                    <m:r>
                                      <a:rPr lang="en-US" sz="2400" i="1">
                                        <a:solidFill>
                                          <a:srgbClr val="000000"/>
                                        </a:solidFill>
                                        <a:latin typeface="Cambria Math" panose="02040503050406030204" pitchFamily="18" charset="0"/>
                                      </a:rPr>
                                      <m:t>𝑛</m:t>
                                    </m:r>
                                  </m:sub>
                                </m:sSub>
                                <m:r>
                                  <a:rPr lang="en-US" sz="2400" i="1">
                                    <a:solidFill>
                                      <a:srgbClr val="000000"/>
                                    </a:solidFill>
                                    <a:latin typeface="Cambria Math" panose="02040503050406030204" pitchFamily="18" charset="0"/>
                                  </a:rPr>
                                  <m:t>|</m:t>
                                </m:r>
                              </m:e>
                              <m:sup>
                                <m:r>
                                  <a:rPr lang="en-US" sz="2400" i="1">
                                    <a:solidFill>
                                      <a:srgbClr val="000000"/>
                                    </a:solidFill>
                                    <a:latin typeface="Cambria Math" panose="02040503050406030204" pitchFamily="18" charset="0"/>
                                  </a:rPr>
                                  <m:t>2</m:t>
                                </m:r>
                              </m:sup>
                            </m:sSup>
                          </m:e>
                        </m:acc>
                      </m:num>
                      <m:den>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𝑅</m:t>
                        </m:r>
                      </m:den>
                    </m:f>
                    <m:r>
                      <a:rPr lang="en-US" sz="2400" b="0" i="1" smtClean="0">
                        <a:solidFill>
                          <a:srgbClr val="000000"/>
                        </a:solidFill>
                        <a:latin typeface="Cambria Math" panose="02040503050406030204" pitchFamily="18" charset="0"/>
                      </a:rPr>
                      <m:t>= </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𝐸</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𝑉</m:t>
                                </m:r>
                              </m:e>
                              <m:sub>
                                <m:r>
                                  <a:rPr lang="en-US" sz="2400" i="1">
                                    <a:solidFill>
                                      <a:srgbClr val="000000"/>
                                    </a:solidFill>
                                    <a:latin typeface="Cambria Math" panose="02040503050406030204" pitchFamily="18" charset="0"/>
                                  </a:rPr>
                                  <m:t>𝑛</m:t>
                                </m:r>
                              </m:sub>
                            </m:sSub>
                            <m:r>
                              <a:rPr lang="en-US" sz="2400" i="1">
                                <a:solidFill>
                                  <a:srgbClr val="000000"/>
                                </a:solidFill>
                                <a:latin typeface="Cambria Math" panose="02040503050406030204" pitchFamily="18" charset="0"/>
                              </a:rPr>
                              <m:t> |</m:t>
                            </m:r>
                          </m:e>
                          <m:sup>
                            <m:r>
                              <a:rPr lang="en-US" sz="2400" i="1">
                                <a:solidFill>
                                  <a:srgbClr val="000000"/>
                                </a:solidFill>
                                <a:latin typeface="Cambria Math" panose="02040503050406030204" pitchFamily="18" charset="0"/>
                              </a:rPr>
                              <m:t>2</m:t>
                            </m:r>
                          </m:sup>
                        </m:sSup>
                        <m:r>
                          <a:rPr lang="en-US" sz="2400" i="1">
                            <a:solidFill>
                              <a:srgbClr val="000000"/>
                            </a:solidFill>
                            <a:latin typeface="Cambria Math" panose="02040503050406030204" pitchFamily="18" charset="0"/>
                          </a:rPr>
                          <m:t>)</m:t>
                        </m:r>
                        <m:r>
                          <m:rPr>
                            <m:nor/>
                          </m:rPr>
                          <a:rPr lang="en-US" sz="2400" i="0" dirty="0">
                            <a:solidFill>
                              <a:srgbClr val="000000"/>
                            </a:solidFill>
                          </a:rPr>
                          <m:t> </m:t>
                        </m:r>
                      </m:num>
                      <m:den>
                        <m:r>
                          <a:rPr lang="en-US" sz="2400" b="0" i="1" smtClean="0">
                            <a:solidFill>
                              <a:srgbClr val="000000"/>
                            </a:solidFill>
                            <a:latin typeface="Cambria Math" panose="02040503050406030204" pitchFamily="18" charset="0"/>
                          </a:rPr>
                          <m:t>2</m:t>
                        </m:r>
                        <m:r>
                          <a:rPr lang="en-US" sz="2400" b="0" i="1" smtClean="0">
                            <a:solidFill>
                              <a:srgbClr val="000000"/>
                            </a:solidFill>
                            <a:latin typeface="Cambria Math" panose="02040503050406030204" pitchFamily="18" charset="0"/>
                          </a:rPr>
                          <m:t>𝑅</m:t>
                        </m:r>
                      </m:den>
                    </m:f>
                  </m:oMath>
                </a14:m>
                <a:endParaRPr lang="en-US" sz="2000" dirty="0">
                  <a:solidFill>
                    <a:srgbClr val="000000"/>
                  </a:solidFill>
                  <a:latin typeface="Calibri"/>
                  <a:ea typeface="Calibri"/>
                  <a:cs typeface="Calibri"/>
                  <a:sym typeface="Calibri"/>
                </a:endParaRPr>
              </a:p>
              <a:p>
                <a:pPr marL="800100" lvl="1" indent="-342900"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𝑃</m:t>
                        </m:r>
                      </m:e>
                      <m:sub>
                        <m:r>
                          <a:rPr lang="en-US" sz="2000" i="1">
                            <a:solidFill>
                              <a:srgbClr val="000000"/>
                            </a:solidFill>
                            <a:latin typeface="Cambria Math" panose="02040503050406030204" pitchFamily="18" charset="0"/>
                          </a:rPr>
                          <m:t>𝑛</m:t>
                        </m:r>
                      </m:sub>
                    </m:sSub>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𝑁𝐵</m:t>
                    </m:r>
                  </m:oMath>
                </a14:m>
                <a:r>
                  <a:rPr lang="en-US" sz="2000" dirty="0">
                    <a:solidFill>
                      <a:srgbClr val="000000"/>
                    </a:solidFill>
                  </a:rPr>
                  <a:t>, </a:t>
                </a:r>
                <a14:m>
                  <m:oMath xmlns:m="http://schemas.openxmlformats.org/officeDocument/2006/math">
                    <m:r>
                      <a:rPr lang="en-US" sz="2000" i="1">
                        <a:solidFill>
                          <a:srgbClr val="000000"/>
                        </a:solidFill>
                        <a:latin typeface="Cambria Math" panose="02040503050406030204" pitchFamily="18" charset="0"/>
                      </a:rPr>
                      <m:t>𝑁</m:t>
                    </m:r>
                  </m:oMath>
                </a14:m>
                <a:r>
                  <a:rPr lang="en-US" sz="2000" dirty="0">
                    <a:solidFill>
                      <a:srgbClr val="000000"/>
                    </a:solidFill>
                  </a:rPr>
                  <a:t> is noise power density, </a:t>
                </a:r>
                <a14:m>
                  <m:oMath xmlns:m="http://schemas.openxmlformats.org/officeDocument/2006/math">
                    <m:r>
                      <a:rPr lang="en-US" sz="2000" i="1">
                        <a:solidFill>
                          <a:srgbClr val="000000"/>
                        </a:solidFill>
                        <a:latin typeface="Cambria Math" panose="02040503050406030204" pitchFamily="18" charset="0"/>
                      </a:rPr>
                      <m:t>𝐵</m:t>
                    </m:r>
                  </m:oMath>
                </a14:m>
                <a:r>
                  <a:rPr lang="en-US" sz="2000" dirty="0">
                    <a:solidFill>
                      <a:srgbClr val="000000"/>
                    </a:solidFill>
                  </a:rPr>
                  <a:t> is bandwidth.</a:t>
                </a:r>
              </a:p>
              <a:p>
                <a:pPr marL="800100" lvl="1" indent="-342900" hangingPunct="0">
                  <a:buFont typeface="Arial" panose="020B0604020202020204" pitchFamily="34" charset="0"/>
                  <a:buChar char="•"/>
                </a:pPr>
                <a:r>
                  <a:rPr lang="en-US" sz="2000" dirty="0">
                    <a:solidFill>
                      <a:srgbClr val="000000"/>
                    </a:solidFill>
                    <a:latin typeface="Calibri"/>
                    <a:ea typeface="Calibri"/>
                    <a:cs typeface="Calibri"/>
                    <a:sym typeface="Calibri"/>
                  </a:rPr>
                  <a:t>The units for </a:t>
                </a:r>
                <a14:m>
                  <m:oMath xmlns:m="http://schemas.openxmlformats.org/officeDocument/2006/math">
                    <m:r>
                      <a:rPr lang="en-US" sz="2000" i="1" smtClean="0">
                        <a:solidFill>
                          <a:srgbClr val="000000"/>
                        </a:solidFill>
                        <a:latin typeface="Cambria Math" panose="02040503050406030204" pitchFamily="18" charset="0"/>
                        <a:cs typeface="Calibri"/>
                        <a:sym typeface="Calibri"/>
                      </a:rPr>
                      <m:t>𝐵</m:t>
                    </m:r>
                  </m:oMath>
                </a14:m>
                <a:r>
                  <a:rPr lang="en-US" sz="2000" dirty="0">
                    <a:solidFill>
                      <a:srgbClr val="000000"/>
                    </a:solidFill>
                    <a:latin typeface="Calibri"/>
                    <a:ea typeface="Calibri"/>
                    <a:cs typeface="Calibri"/>
                    <a:sym typeface="Calibri"/>
                  </a:rPr>
                  <a:t> are </a:t>
                </a:r>
                <a14:m>
                  <m:oMath xmlns:m="http://schemas.openxmlformats.org/officeDocument/2006/math">
                    <m:f>
                      <m:fPr>
                        <m:type m:val="skw"/>
                        <m:ctrlPr>
                          <a:rPr lang="en-US" sz="2000" b="0" i="1" smtClean="0">
                            <a:solidFill>
                              <a:srgbClr val="000000"/>
                            </a:solidFill>
                            <a:latin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cs typeface="Calibri"/>
                            <a:sym typeface="Calibri"/>
                          </a:rPr>
                          <m:t>𝑣𝑜𝑙𝑡𝑠</m:t>
                        </m:r>
                      </m:num>
                      <m:den>
                        <m:rad>
                          <m:radPr>
                            <m:degHide m:val="on"/>
                            <m:ctrlPr>
                              <a:rPr lang="en-US" sz="2000" i="1" smtClean="0">
                                <a:solidFill>
                                  <a:srgbClr val="000000"/>
                                </a:solidFill>
                                <a:latin typeface="Cambria Math" panose="02040503050406030204" pitchFamily="18" charset="0"/>
                                <a:cs typeface="Calibri"/>
                                <a:sym typeface="Calibri"/>
                              </a:rPr>
                            </m:ctrlPr>
                          </m:radPr>
                          <m:deg/>
                          <m:e>
                            <m:r>
                              <a:rPr lang="en-US" sz="2000" b="0" i="1" smtClean="0">
                                <a:solidFill>
                                  <a:srgbClr val="000000"/>
                                </a:solidFill>
                                <a:latin typeface="Cambria Math" panose="02040503050406030204" pitchFamily="18" charset="0"/>
                                <a:cs typeface="Calibri"/>
                                <a:sym typeface="Calibri"/>
                              </a:rPr>
                              <m:t>𝐻𝑧</m:t>
                            </m:r>
                          </m:e>
                        </m:rad>
                      </m:den>
                    </m:f>
                  </m:oMath>
                </a14:m>
                <a:endParaRPr lang="en-US" sz="2000" dirty="0">
                  <a:solidFill>
                    <a:srgbClr val="000000"/>
                  </a:solidFill>
                  <a:latin typeface="Calibri"/>
                  <a:ea typeface="Calibri"/>
                  <a:cs typeface="Calibri"/>
                  <a:sym typeface="Calibri"/>
                </a:endParaRPr>
              </a:p>
              <a:p>
                <a:pPr marL="800100" lvl="1" indent="-342900" hangingPunct="0">
                  <a:buFont typeface="Arial" panose="020B0604020202020204" pitchFamily="34" charset="0"/>
                  <a:buChar char="•"/>
                </a:pPr>
                <a14:m>
                  <m:oMath xmlns:m="http://schemas.openxmlformats.org/officeDocument/2006/math">
                    <m:r>
                      <a:rPr lang="en-US" sz="2000" b="0" i="1" smtClean="0">
                        <a:solidFill>
                          <a:srgbClr val="000000"/>
                        </a:solidFill>
                        <a:latin typeface="Cambria Math" panose="02040503050406030204" pitchFamily="18" charset="0"/>
                        <a:ea typeface="Calibri"/>
                        <a:cs typeface="Calibri"/>
                        <a:sym typeface="Calibri"/>
                      </a:rPr>
                      <m:t>𝐸</m:t>
                    </m:r>
                    <m:d>
                      <m:dPr>
                        <m:ctrlPr>
                          <a:rPr lang="en-US" sz="2000" b="0" i="1" smtClean="0">
                            <a:solidFill>
                              <a:srgbClr val="000000"/>
                            </a:solidFill>
                            <a:latin typeface="Cambria Math" panose="02040503050406030204" pitchFamily="18" charset="0"/>
                            <a:cs typeface="Calibri"/>
                            <a:sym typeface="Calibri"/>
                          </a:rPr>
                        </m:ctrlPr>
                      </m:dPr>
                      <m:e>
                        <m:sSup>
                          <m:sSupPr>
                            <m:ctrlPr>
                              <a:rPr lang="en-US" sz="2000" b="0" i="1" smtClean="0">
                                <a:solidFill>
                                  <a:srgbClr val="000000"/>
                                </a:solidFill>
                                <a:latin typeface="Cambria Math" panose="02040503050406030204" pitchFamily="18" charset="0"/>
                                <a:cs typeface="Calibri"/>
                                <a:sym typeface="Calibri"/>
                              </a:rPr>
                            </m:ctrlPr>
                          </m:sSupPr>
                          <m:e>
                            <m:r>
                              <a:rPr lang="en-US" sz="2000" b="0" i="1" smtClean="0">
                                <a:solidFill>
                                  <a:srgbClr val="000000"/>
                                </a:solidFill>
                                <a:latin typeface="Cambria Math" panose="02040503050406030204" pitchFamily="18" charset="0"/>
                                <a:cs typeface="Calibri"/>
                                <a:sym typeface="Calibri"/>
                              </a:rPr>
                              <m:t>| </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1</m:t>
                                </m:r>
                              </m:sub>
                            </m:sSub>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2</m:t>
                                </m:r>
                              </m:sub>
                            </m:sSub>
                            <m:r>
                              <a:rPr lang="en-US" sz="2000" b="0" i="1" smtClean="0">
                                <a:solidFill>
                                  <a:srgbClr val="000000"/>
                                </a:solidFill>
                                <a:latin typeface="Cambria Math" panose="02040503050406030204" pitchFamily="18" charset="0"/>
                                <a:cs typeface="Calibri"/>
                                <a:sym typeface="Calibri"/>
                              </a:rPr>
                              <m:t> |</m:t>
                            </m:r>
                          </m:e>
                          <m:sup>
                            <m:r>
                              <a:rPr lang="en-US" sz="2000" b="0" i="1" smtClean="0">
                                <a:solidFill>
                                  <a:srgbClr val="000000"/>
                                </a:solidFill>
                                <a:latin typeface="Cambria Math" panose="02040503050406030204" pitchFamily="18" charset="0"/>
                                <a:cs typeface="Calibri"/>
                                <a:sym typeface="Calibri"/>
                              </a:rPr>
                              <m:t>2</m:t>
                            </m:r>
                          </m:sup>
                        </m:sSup>
                      </m:e>
                    </m:d>
                    <m:r>
                      <a:rPr lang="en-US" sz="2000" b="0" i="1" smtClean="0">
                        <a:solidFill>
                          <a:srgbClr val="000000"/>
                        </a:solidFill>
                        <a:latin typeface="Cambria Math" panose="02040503050406030204" pitchFamily="18" charset="0"/>
                        <a:cs typeface="Calibri"/>
                        <a:sym typeface="Calibri"/>
                      </a:rPr>
                      <m:t>=</m:t>
                    </m:r>
                    <m:r>
                      <a:rPr lang="en-US" sz="2000" i="1">
                        <a:solidFill>
                          <a:srgbClr val="000000"/>
                        </a:solidFill>
                        <a:latin typeface="Cambria Math" panose="02040503050406030204" pitchFamily="18" charset="0"/>
                      </a:rPr>
                      <m:t>𝐸</m:t>
                    </m:r>
                    <m:d>
                      <m:dPr>
                        <m:ctrlPr>
                          <a:rPr lang="en-US" sz="2000" i="1">
                            <a:solidFill>
                              <a:srgbClr val="000000"/>
                            </a:solidFill>
                            <a:latin typeface="Cambria Math" panose="02040503050406030204" pitchFamily="18" charset="0"/>
                          </a:rPr>
                        </m:ctrlPr>
                      </m:dPr>
                      <m:e>
                        <m:sSup>
                          <m:sSupPr>
                            <m:ctrlPr>
                              <a:rPr lang="en-US" sz="2000" i="1">
                                <a:solidFill>
                                  <a:srgbClr val="000000"/>
                                </a:solidFill>
                                <a:latin typeface="Cambria Math" panose="02040503050406030204" pitchFamily="18" charset="0"/>
                              </a:rPr>
                            </m:ctrlPr>
                          </m:sSupPr>
                          <m:e>
                            <m:d>
                              <m:dPr>
                                <m:begChr m:val="|"/>
                                <m:endChr m:val="|"/>
                                <m:ctrlPr>
                                  <a:rPr lang="en-US" sz="2000" i="1">
                                    <a:solidFill>
                                      <a:srgbClr val="000000"/>
                                    </a:solidFill>
                                    <a:latin typeface="Cambria Math" panose="02040503050406030204" pitchFamily="18" charset="0"/>
                                  </a:rPr>
                                </m:ctrlPr>
                              </m:dPr>
                              <m:e>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b="0" i="1" smtClean="0">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 </m:t>
                                </m:r>
                              </m:e>
                            </m:d>
                          </m:e>
                          <m:sup>
                            <m:r>
                              <a:rPr lang="en-US" sz="2000" i="1">
                                <a:solidFill>
                                  <a:srgbClr val="000000"/>
                                </a:solidFill>
                                <a:latin typeface="Cambria Math" panose="02040503050406030204" pitchFamily="18" charset="0"/>
                              </a:rPr>
                              <m:t>2</m:t>
                            </m:r>
                          </m:sup>
                        </m:sSup>
                      </m:e>
                    </m:d>
                    <m:r>
                      <a:rPr lang="en-US" sz="2000" b="0" i="1" smtClean="0">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𝐸</m:t>
                    </m:r>
                    <m:d>
                      <m:dPr>
                        <m:ctrlPr>
                          <a:rPr lang="en-US" sz="2000" i="1">
                            <a:solidFill>
                              <a:srgbClr val="000000"/>
                            </a:solidFill>
                            <a:latin typeface="Cambria Math" panose="02040503050406030204" pitchFamily="18" charset="0"/>
                          </a:rPr>
                        </m:ctrlPr>
                      </m:dPr>
                      <m:e>
                        <m:sSup>
                          <m:sSupPr>
                            <m:ctrlPr>
                              <a:rPr lang="en-US" sz="2000" i="1">
                                <a:solidFill>
                                  <a:srgbClr val="000000"/>
                                </a:solidFill>
                                <a:latin typeface="Cambria Math" panose="02040503050406030204" pitchFamily="18" charset="0"/>
                              </a:rPr>
                            </m:ctrlPr>
                          </m:sSupPr>
                          <m:e>
                            <m:d>
                              <m:dPr>
                                <m:begChr m:val="|"/>
                                <m:endChr m:val="|"/>
                                <m:ctrlPr>
                                  <a:rPr lang="en-US" sz="2000" i="1">
                                    <a:solidFill>
                                      <a:srgbClr val="000000"/>
                                    </a:solidFill>
                                    <a:latin typeface="Cambria Math" panose="02040503050406030204" pitchFamily="18" charset="0"/>
                                  </a:rPr>
                                </m:ctrlPr>
                              </m:dPr>
                              <m:e>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 </m:t>
                                </m:r>
                              </m:e>
                            </m:d>
                          </m:e>
                          <m:sup>
                            <m:r>
                              <a:rPr lang="en-US" sz="2000" i="1">
                                <a:solidFill>
                                  <a:srgbClr val="000000"/>
                                </a:solidFill>
                                <a:latin typeface="Cambria Math" panose="02040503050406030204" pitchFamily="18" charset="0"/>
                              </a:rPr>
                              <m:t>2</m:t>
                            </m:r>
                          </m:sup>
                        </m:sSup>
                      </m:e>
                    </m:d>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𝐸</m:t>
                    </m:r>
                    <m:d>
                      <m:dPr>
                        <m:ctrlPr>
                          <a:rPr lang="en-US" sz="2000" b="0" i="1" smtClean="0">
                            <a:solidFill>
                              <a:srgbClr val="000000"/>
                            </a:solidFill>
                            <a:latin typeface="Cambria Math" panose="02040503050406030204" pitchFamily="18" charset="0"/>
                          </a:rPr>
                        </m:ctrlPr>
                      </m:dPr>
                      <m:e>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𝑉</m:t>
                            </m:r>
                          </m:e>
                          <m:sub>
                            <m:r>
                              <a:rPr lang="en-US" sz="2000" b="0" i="1" smtClean="0">
                                <a:solidFill>
                                  <a:srgbClr val="000000"/>
                                </a:solidFill>
                                <a:latin typeface="Cambria Math" panose="02040503050406030204" pitchFamily="18" charset="0"/>
                              </a:rPr>
                              <m:t>1</m:t>
                            </m:r>
                          </m:sub>
                        </m:sSub>
                        <m:acc>
                          <m:accPr>
                            <m:chr m:val="̅"/>
                            <m:ctrlPr>
                              <a:rPr lang="en-US" sz="2000" b="0" i="1" smtClean="0">
                                <a:solidFill>
                                  <a:srgbClr val="000000"/>
                                </a:solidFill>
                                <a:latin typeface="Cambria Math" panose="02040503050406030204" pitchFamily="18" charset="0"/>
                                <a:cs typeface="Calibri"/>
                                <a:sym typeface="Calibri"/>
                              </a:rPr>
                            </m:ctrlPr>
                          </m:accPr>
                          <m:e>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2</m:t>
                                </m:r>
                              </m:sub>
                            </m:sSub>
                          </m:e>
                        </m:acc>
                      </m:e>
                    </m:d>
                    <m:r>
                      <a:rPr lang="en-US" sz="2000" b="0" i="1" smtClean="0">
                        <a:solidFill>
                          <a:srgbClr val="000000"/>
                        </a:solidFill>
                        <a:latin typeface="Cambria Math" panose="02040503050406030204" pitchFamily="18" charset="0"/>
                        <a:cs typeface="Calibri"/>
                        <a:sym typeface="Calibri"/>
                      </a:rPr>
                      <m:t>+</m:t>
                    </m:r>
                    <m:r>
                      <a:rPr lang="en-US" sz="2000" i="1">
                        <a:solidFill>
                          <a:srgbClr val="000000"/>
                        </a:solidFill>
                        <a:latin typeface="Cambria Math" panose="02040503050406030204" pitchFamily="18" charset="0"/>
                      </a:rPr>
                      <m:t>𝐸</m:t>
                    </m:r>
                    <m:d>
                      <m:dPr>
                        <m:ctrlPr>
                          <a:rPr lang="en-US" sz="2000" i="1">
                            <a:solidFill>
                              <a:srgbClr val="000000"/>
                            </a:solidFill>
                            <a:latin typeface="Cambria Math" panose="02040503050406030204" pitchFamily="18" charset="0"/>
                          </a:rPr>
                        </m:ctrlPr>
                      </m:dPr>
                      <m:e>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b="0" i="1" smtClean="0">
                                <a:solidFill>
                                  <a:srgbClr val="000000"/>
                                </a:solidFill>
                                <a:latin typeface="Cambria Math" panose="02040503050406030204" pitchFamily="18" charset="0"/>
                              </a:rPr>
                              <m:t>2</m:t>
                            </m:r>
                          </m:sub>
                        </m:sSub>
                        <m:acc>
                          <m:accPr>
                            <m:chr m:val="̅"/>
                            <m:ctrlPr>
                              <a:rPr lang="en-US" sz="2000" i="1">
                                <a:solidFill>
                                  <a:srgbClr val="000000"/>
                                </a:solidFill>
                                <a:latin typeface="Cambria Math" panose="02040503050406030204" pitchFamily="18" charset="0"/>
                                <a:cs typeface="Calibri"/>
                                <a:sym typeface="Calibri"/>
                              </a:rPr>
                            </m:ctrlPr>
                          </m:accPr>
                          <m:e>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1</m:t>
                                </m:r>
                              </m:sub>
                            </m:sSub>
                          </m:e>
                        </m:acc>
                      </m:e>
                    </m:d>
                  </m:oMath>
                </a14:m>
                <a:endParaRPr lang="en-US" sz="2000" dirty="0">
                  <a:solidFill>
                    <a:srgbClr val="000000"/>
                  </a:solidFill>
                </a:endParaRPr>
              </a:p>
              <a:p>
                <a:pPr marL="800100" lvl="1" indent="-342900" hangingPunct="0">
                  <a:buFont typeface="Arial" panose="020B0604020202020204" pitchFamily="34" charset="0"/>
                  <a:buChar char="•"/>
                </a:pPr>
                <a14:m>
                  <m:oMath xmlns:m="http://schemas.openxmlformats.org/officeDocument/2006/math">
                    <m:r>
                      <a:rPr lang="en-US" sz="2000" i="1">
                        <a:solidFill>
                          <a:srgbClr val="000000"/>
                        </a:solidFill>
                        <a:latin typeface="Cambria Math" panose="02040503050406030204" pitchFamily="18" charset="0"/>
                      </a:rPr>
                      <m:t>𝐸</m:t>
                    </m:r>
                    <m:d>
                      <m:dPr>
                        <m:ctrlPr>
                          <a:rPr lang="en-US" sz="2000" i="1">
                            <a:solidFill>
                              <a:srgbClr val="000000"/>
                            </a:solidFill>
                            <a:latin typeface="Cambria Math" panose="02040503050406030204" pitchFamily="18" charset="0"/>
                          </a:rPr>
                        </m:ctrlPr>
                      </m:dPr>
                      <m:e>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1</m:t>
                            </m:r>
                          </m:sub>
                        </m:sSub>
                        <m:acc>
                          <m:accPr>
                            <m:chr m:val="̅"/>
                            <m:ctrlPr>
                              <a:rPr lang="en-US" sz="2000" i="1">
                                <a:solidFill>
                                  <a:srgbClr val="000000"/>
                                </a:solidFill>
                                <a:latin typeface="Cambria Math" panose="02040503050406030204" pitchFamily="18" charset="0"/>
                                <a:cs typeface="Calibri"/>
                                <a:sym typeface="Calibri"/>
                              </a:rPr>
                            </m:ctrlPr>
                          </m:accPr>
                          <m:e>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𝑉</m:t>
                                </m:r>
                              </m:e>
                              <m:sub>
                                <m:r>
                                  <a:rPr lang="en-US" sz="2000" i="1">
                                    <a:solidFill>
                                      <a:srgbClr val="000000"/>
                                    </a:solidFill>
                                    <a:latin typeface="Cambria Math" panose="02040503050406030204" pitchFamily="18" charset="0"/>
                                    <a:cs typeface="Calibri"/>
                                    <a:sym typeface="Calibri"/>
                                  </a:rPr>
                                  <m:t>2</m:t>
                                </m:r>
                              </m:sub>
                            </m:sSub>
                          </m:e>
                        </m:acc>
                      </m:e>
                    </m:d>
                    <m:r>
                      <a:rPr lang="en-US" sz="2000" b="0" i="1" smtClean="0">
                        <a:solidFill>
                          <a:srgbClr val="000000"/>
                        </a:solidFill>
                        <a:latin typeface="Cambria Math" panose="02040503050406030204" pitchFamily="18" charset="0"/>
                        <a:cs typeface="Calibri"/>
                        <a:sym typeface="Calibri"/>
                      </a:rPr>
                      <m:t>=0</m:t>
                    </m:r>
                  </m:oMath>
                </a14:m>
                <a:r>
                  <a:rPr lang="en-US" sz="2000" dirty="0">
                    <a:solidFill>
                      <a:srgbClr val="000000"/>
                    </a:solidFill>
                  </a:rPr>
                  <a:t>, if they are uncorrelated.  Then, </a:t>
                </a:r>
                <a14:m>
                  <m:oMath xmlns:m="http://schemas.openxmlformats.org/officeDocument/2006/math">
                    <m:r>
                      <a:rPr lang="en-US" sz="2000" b="0" i="1" smtClean="0">
                        <a:solidFill>
                          <a:srgbClr val="000000"/>
                        </a:solidFill>
                        <a:latin typeface="Cambria Math" panose="02040503050406030204" pitchFamily="18" charset="0"/>
                      </a:rPr>
                      <m:t>𝑁</m:t>
                    </m:r>
                    <m:r>
                      <a:rPr lang="en-US" sz="2000" b="0" i="1" smtClean="0">
                        <a:solidFill>
                          <a:srgbClr val="000000"/>
                        </a:solidFill>
                        <a:latin typeface="Cambria Math" panose="02040503050406030204" pitchFamily="18" charset="0"/>
                      </a:rPr>
                      <m:t>=</m:t>
                    </m:r>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𝑁</m:t>
                        </m:r>
                      </m:e>
                      <m:sub>
                        <m:r>
                          <a:rPr lang="en-US" sz="2000" b="0" i="1" smtClean="0">
                            <a:solidFill>
                              <a:srgbClr val="000000"/>
                            </a:solidFill>
                            <a:latin typeface="Cambria Math" panose="02040503050406030204" pitchFamily="18" charset="0"/>
                          </a:rPr>
                          <m:t>1</m:t>
                        </m:r>
                      </m:sub>
                    </m:sSub>
                    <m:r>
                      <a:rPr lang="en-US" sz="2000" b="0" i="1" smtClean="0">
                        <a:solidFill>
                          <a:srgbClr val="000000"/>
                        </a:solidFill>
                        <a:latin typeface="Cambria Math" panose="02040503050406030204" pitchFamily="18" charset="0"/>
                      </a:rPr>
                      <m:t>+</m:t>
                    </m:r>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𝑁</m:t>
                        </m:r>
                      </m:e>
                      <m:sub>
                        <m:r>
                          <a:rPr lang="en-US" sz="2000" b="0" i="1" smtClean="0">
                            <a:solidFill>
                              <a:srgbClr val="000000"/>
                            </a:solidFill>
                            <a:latin typeface="Cambria Math" panose="02040503050406030204" pitchFamily="18" charset="0"/>
                          </a:rPr>
                          <m:t>2</m:t>
                        </m:r>
                      </m:sub>
                    </m:sSub>
                  </m:oMath>
                </a14:m>
                <a:r>
                  <a:rPr lang="en-US" sz="2000" dirty="0">
                    <a:solidFill>
                      <a:srgbClr val="000000"/>
                    </a:solidFill>
                  </a:rPr>
                  <a:t>.</a:t>
                </a:r>
              </a:p>
              <a:p>
                <a:pPr lvl="1" hangingPunct="0"/>
                <a:endParaRPr lang="en-US" dirty="0">
                  <a:solidFill>
                    <a:srgbClr val="000000"/>
                  </a:solidFill>
                  <a:latin typeface="Calibri"/>
                  <a:ea typeface="Calibri"/>
                  <a:cs typeface="Calibri"/>
                  <a:sym typeface="Calibri"/>
                </a:endParaRPr>
              </a:p>
              <a:p>
                <a:pPr algn="l" rtl="0" latinLnBrk="1" hangingPunct="0"/>
                <a:endParaRPr lang="en-US" dirty="0">
                  <a:solidFill>
                    <a:srgbClr val="000000"/>
                  </a:solidFill>
                  <a:latin typeface="Calibri"/>
                  <a:ea typeface="Calibri"/>
                  <a:cs typeface="Calibri"/>
                  <a:sym typeface="Calibri"/>
                </a:endParaRP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615537" y="1548593"/>
                <a:ext cx="10960925" cy="4642909"/>
              </a:xfrm>
              <a:prstGeom prst="rect">
                <a:avLst/>
              </a:prstGeom>
              <a:blipFill>
                <a:blip r:embed="rId3"/>
                <a:stretch>
                  <a:fillRect l="-926" t="-8447" r="-116" b="-2180"/>
                </a:stretch>
              </a:blipFill>
              <a:ln w="12700" cap="flat">
                <a:noFill/>
                <a:miter lim="400000"/>
              </a:ln>
              <a:effectLst/>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F3EED66A-56F2-494C-BB12-2E8BBB011DE2}"/>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2</a:t>
            </a:fld>
            <a:endParaRPr lang="en-US" dirty="0">
              <a:solidFill>
                <a:schemeClr val="tx1"/>
              </a:solidFill>
            </a:endParaRPr>
          </a:p>
        </p:txBody>
      </p:sp>
    </p:spTree>
    <p:extLst>
      <p:ext uri="{BB962C8B-B14F-4D97-AF65-F5344CB8AC3E}">
        <p14:creationId xmlns:p14="http://schemas.microsoft.com/office/powerpoint/2010/main" val="3159777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260107" y="288037"/>
            <a:ext cx="10960925"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Nyquist</a:t>
            </a:r>
            <a:endParaRPr sz="3200" dirty="0">
              <a:latin typeface="Calibri" panose="020F0502020204030204" pitchFamily="34" charset="0"/>
              <a:cs typeface="Calibri" panose="020F0502020204030204" pitchFamily="34" charset="0"/>
            </a:endParaRPr>
          </a:p>
        </p:txBody>
      </p:sp>
      <p:sp>
        <p:nvSpPr>
          <p:cNvPr id="3" name="Slide Number Placeholder 2">
            <a:extLst>
              <a:ext uri="{FF2B5EF4-FFF2-40B4-BE49-F238E27FC236}">
                <a16:creationId xmlns:a16="http://schemas.microsoft.com/office/drawing/2014/main" id="{F3EED66A-56F2-494C-BB12-2E8BBB011DE2}"/>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3</a:t>
            </a:fld>
            <a:endParaRPr lang="en-US" dirty="0">
              <a:solidFill>
                <a:schemeClr val="tx1"/>
              </a:solidFill>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FB650AC-0838-164B-8308-2F83F84D0C03}"/>
                  </a:ext>
                </a:extLst>
              </p:cNvPr>
              <p:cNvSpPr txBox="1"/>
              <p:nvPr/>
            </p:nvSpPr>
            <p:spPr>
              <a:xfrm>
                <a:off x="592876" y="1706693"/>
                <a:ext cx="7763025" cy="44094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342900" indent="-342900" latinLnBrk="1"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𝐶</m:t>
                        </m:r>
                      </m:sub>
                    </m:sSub>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rPr>
                          <m:t>𝑗</m:t>
                        </m:r>
                        <m:r>
                          <a:rPr lang="en-US" sz="2000" i="1">
                            <a:solidFill>
                              <a:srgbClr val="000000"/>
                            </a:solidFill>
                            <a:latin typeface="Cambria Math" panose="02040503050406030204" pitchFamily="18" charset="0"/>
                            <a:ea typeface="Cambria Math" panose="02040503050406030204" pitchFamily="18" charset="0"/>
                          </a:rPr>
                          <m:t>𝜔</m:t>
                        </m:r>
                        <m:r>
                          <a:rPr lang="en-US" sz="2000" i="1">
                            <a:solidFill>
                              <a:srgbClr val="000000"/>
                            </a:solidFill>
                            <a:latin typeface="Cambria Math" panose="02040503050406030204" pitchFamily="18" charset="0"/>
                            <a:ea typeface="Cambria Math" panose="02040503050406030204" pitchFamily="18" charset="0"/>
                          </a:rPr>
                          <m:t>𝐶</m:t>
                        </m:r>
                      </m:den>
                    </m:f>
                    <m:f>
                      <m:fPr>
                        <m:ctrlPr>
                          <a:rPr lang="en-US" sz="2000" i="1">
                            <a:solidFill>
                              <a:srgbClr val="000000"/>
                            </a:solidFill>
                            <a:latin typeface="Cambria Math" panose="02040503050406030204" pitchFamily="18" charset="0"/>
                          </a:rPr>
                        </m:ctrlPr>
                      </m:fPr>
                      <m:num>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𝑛</m:t>
                            </m:r>
                          </m:sub>
                        </m:sSub>
                      </m:num>
                      <m:den>
                        <m:r>
                          <a:rPr lang="en-US" sz="2000" i="1">
                            <a:solidFill>
                              <a:srgbClr val="000000"/>
                            </a:solidFill>
                            <a:latin typeface="Cambria Math" panose="02040503050406030204" pitchFamily="18" charset="0"/>
                          </a:rPr>
                          <m:t>𝑅</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𝑗</m:t>
                        </m:r>
                        <m:r>
                          <a:rPr lang="en-US" sz="2000" i="1">
                            <a:solidFill>
                              <a:srgbClr val="000000"/>
                            </a:solidFill>
                            <a:latin typeface="Cambria Math" panose="02040503050406030204" pitchFamily="18" charset="0"/>
                            <a:ea typeface="Cambria Math" panose="02040503050406030204" pitchFamily="18" charset="0"/>
                          </a:rPr>
                          <m:t>𝜔</m:t>
                        </m:r>
                        <m:r>
                          <a:rPr lang="en-US" sz="2000" i="1">
                            <a:solidFill>
                              <a:srgbClr val="000000"/>
                            </a:solidFill>
                            <a:latin typeface="Cambria Math" panose="02040503050406030204" pitchFamily="18" charset="0"/>
                            <a:ea typeface="Cambria Math" panose="02040503050406030204" pitchFamily="18" charset="0"/>
                          </a:rPr>
                          <m:t>𝐿</m:t>
                        </m:r>
                        <m:r>
                          <a:rPr lang="en-US" sz="2000" i="1">
                            <a:solidFill>
                              <a:srgbClr val="000000"/>
                            </a:solidFill>
                            <a:latin typeface="Cambria Math" panose="02040503050406030204" pitchFamily="18" charset="0"/>
                            <a:ea typeface="Cambria Math" panose="02040503050406030204" pitchFamily="18" charset="0"/>
                          </a:rPr>
                          <m:t>+</m:t>
                        </m:r>
                        <m:f>
                          <m:fPr>
                            <m:ctrlPr>
                              <a:rPr lang="en-US" sz="2000" i="1">
                                <a:solidFill>
                                  <a:srgbClr val="000000"/>
                                </a:solidFill>
                                <a:latin typeface="Cambria Math" panose="02040503050406030204" pitchFamily="18" charset="0"/>
                                <a:ea typeface="Cambria Math" panose="02040503050406030204" pitchFamily="18" charset="0"/>
                              </a:rPr>
                            </m:ctrlPr>
                          </m:fPr>
                          <m:num>
                            <m:r>
                              <a:rPr lang="en-US" sz="2000" i="1">
                                <a:solidFill>
                                  <a:srgbClr val="000000"/>
                                </a:solidFill>
                                <a:latin typeface="Cambria Math" panose="02040503050406030204" pitchFamily="18" charset="0"/>
                                <a:ea typeface="Cambria Math" panose="02040503050406030204" pitchFamily="18" charset="0"/>
                              </a:rPr>
                              <m:t>1</m:t>
                            </m:r>
                          </m:num>
                          <m:den>
                            <m:r>
                              <a:rPr lang="en-US" sz="2000" i="1">
                                <a:solidFill>
                                  <a:srgbClr val="000000"/>
                                </a:solidFill>
                                <a:latin typeface="Cambria Math" panose="02040503050406030204" pitchFamily="18" charset="0"/>
                                <a:ea typeface="Cambria Math" panose="02040503050406030204" pitchFamily="18" charset="0"/>
                              </a:rPr>
                              <m:t>𝑗</m:t>
                            </m:r>
                            <m:r>
                              <a:rPr lang="en-US" sz="2000" i="1">
                                <a:solidFill>
                                  <a:srgbClr val="000000"/>
                                </a:solidFill>
                                <a:latin typeface="Cambria Math" panose="02040503050406030204" pitchFamily="18" charset="0"/>
                                <a:ea typeface="Cambria Math" panose="02040503050406030204" pitchFamily="18" charset="0"/>
                              </a:rPr>
                              <m:t>𝜔</m:t>
                            </m:r>
                            <m:r>
                              <a:rPr lang="en-US" sz="2000" i="1">
                                <a:solidFill>
                                  <a:srgbClr val="000000"/>
                                </a:solidFill>
                                <a:latin typeface="Cambria Math" panose="02040503050406030204" pitchFamily="18" charset="0"/>
                                <a:ea typeface="Cambria Math" panose="02040503050406030204" pitchFamily="18" charset="0"/>
                              </a:rPr>
                              <m:t>𝐶</m:t>
                            </m:r>
                          </m:den>
                        </m:f>
                      </m:den>
                    </m:f>
                  </m:oMath>
                </a14:m>
                <a:endParaRPr lang="en-US" sz="2000" dirty="0">
                  <a:solidFill>
                    <a:srgbClr val="000000"/>
                  </a:solidFill>
                </a:endParaRPr>
              </a:p>
              <a:p>
                <a:pPr marL="285750" indent="-285750" latinLnBrk="1" hangingPunct="0">
                  <a:buFont typeface="Arial" panose="020B0604020202020204" pitchFamily="34" charset="0"/>
                  <a:buChar char="•"/>
                </a:pPr>
                <a14:m>
                  <m:oMath xmlns:m="http://schemas.openxmlformats.org/officeDocument/2006/math">
                    <m:acc>
                      <m:accPr>
                        <m:chr m:val="̅"/>
                        <m:ctrlPr>
                          <a:rPr lang="en-US" sz="2000" i="1">
                            <a:solidFill>
                              <a:srgbClr val="000000"/>
                            </a:solidFill>
                            <a:latin typeface="Cambria Math" panose="02040503050406030204" pitchFamily="18" charset="0"/>
                          </a:rPr>
                        </m:ctrlPr>
                      </m:accPr>
                      <m:e>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𝑐</m:t>
                                </m:r>
                              </m:sub>
                            </m:sSub>
                            <m:r>
                              <a:rPr lang="en-US" sz="2000" i="1">
                                <a:solidFill>
                                  <a:srgbClr val="000000"/>
                                </a:solidFill>
                                <a:latin typeface="Cambria Math" panose="02040503050406030204" pitchFamily="18" charset="0"/>
                              </a:rPr>
                              <m:t>|</m:t>
                            </m:r>
                          </m:e>
                          <m:sup>
                            <m:r>
                              <a:rPr lang="en-US" sz="2000" i="1">
                                <a:solidFill>
                                  <a:srgbClr val="000000"/>
                                </a:solidFill>
                                <a:latin typeface="Cambria Math" panose="02040503050406030204" pitchFamily="18" charset="0"/>
                              </a:rPr>
                              <m:t>2</m:t>
                            </m:r>
                          </m:sup>
                        </m:sSup>
                      </m:e>
                    </m:acc>
                    <m:r>
                      <a:rPr lang="en-US" sz="2000" i="1">
                        <a:solidFill>
                          <a:srgbClr val="000000"/>
                        </a:solidFill>
                        <a:latin typeface="Cambria Math" panose="02040503050406030204" pitchFamily="18" charset="0"/>
                      </a:rPr>
                      <m:t>= </m:t>
                    </m:r>
                    <m:f>
                      <m:fPr>
                        <m:ctrlPr>
                          <a:rPr lang="en-US" sz="2000" i="1">
                            <a:solidFill>
                              <a:srgbClr val="000000"/>
                            </a:solidFill>
                            <a:latin typeface="Cambria Math" panose="02040503050406030204" pitchFamily="18" charset="0"/>
                          </a:rPr>
                        </m:ctrlPr>
                      </m:fPr>
                      <m:num>
                        <m:acc>
                          <m:accPr>
                            <m:chr m:val="̅"/>
                            <m:ctrlPr>
                              <a:rPr lang="en-US" sz="2000" i="1">
                                <a:solidFill>
                                  <a:srgbClr val="000000"/>
                                </a:solidFill>
                                <a:latin typeface="Cambria Math" panose="02040503050406030204" pitchFamily="18" charset="0"/>
                              </a:rPr>
                            </m:ctrlPr>
                          </m:accPr>
                          <m:e>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𝑛</m:t>
                                    </m:r>
                                  </m:sub>
                                </m:sSub>
                                <m:r>
                                  <a:rPr lang="en-US" sz="2000" i="1">
                                    <a:solidFill>
                                      <a:srgbClr val="000000"/>
                                    </a:solidFill>
                                    <a:latin typeface="Cambria Math" panose="02040503050406030204" pitchFamily="18" charset="0"/>
                                  </a:rPr>
                                  <m:t>|</m:t>
                                </m:r>
                              </m:e>
                              <m:sup>
                                <m:r>
                                  <a:rPr lang="en-US" sz="2000" i="1">
                                    <a:solidFill>
                                      <a:srgbClr val="000000"/>
                                    </a:solidFill>
                                    <a:latin typeface="Cambria Math" panose="02040503050406030204" pitchFamily="18" charset="0"/>
                                  </a:rPr>
                                  <m:t>2</m:t>
                                </m:r>
                              </m:sup>
                            </m:sSup>
                          </m:e>
                        </m:acc>
                      </m:num>
                      <m:den>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|1−</m:t>
                            </m:r>
                            <m:sSup>
                              <m:sSupPr>
                                <m:ctrlPr>
                                  <a:rPr lang="en-US" sz="2000" i="1">
                                    <a:solidFill>
                                      <a:srgbClr val="000000"/>
                                    </a:solidFill>
                                    <a:latin typeface="Cambria Math" panose="02040503050406030204" pitchFamily="18" charset="0"/>
                                    <a:ea typeface="Cambria Math" panose="02040503050406030204" pitchFamily="18" charset="0"/>
                                  </a:rPr>
                                </m:ctrlPr>
                              </m:sSupPr>
                              <m:e>
                                <m:r>
                                  <a:rPr lang="en-US" sz="2000" i="1">
                                    <a:solidFill>
                                      <a:srgbClr val="000000"/>
                                    </a:solidFill>
                                    <a:latin typeface="Cambria Math" panose="02040503050406030204" pitchFamily="18" charset="0"/>
                                    <a:ea typeface="Cambria Math" panose="02040503050406030204" pitchFamily="18" charset="0"/>
                                  </a:rPr>
                                  <m:t>𝜔</m:t>
                                </m:r>
                              </m:e>
                              <m:sup>
                                <m:r>
                                  <a:rPr lang="en-US" sz="2000" i="1">
                                    <a:solidFill>
                                      <a:srgbClr val="000000"/>
                                    </a:solidFill>
                                    <a:latin typeface="Cambria Math" panose="02040503050406030204" pitchFamily="18" charset="0"/>
                                  </a:rPr>
                                  <m:t>2</m:t>
                                </m:r>
                              </m:sup>
                            </m:sSup>
                            <m:r>
                              <a:rPr lang="en-US" sz="2000" i="1">
                                <a:solidFill>
                                  <a:srgbClr val="000000"/>
                                </a:solidFill>
                                <a:latin typeface="Cambria Math" panose="02040503050406030204" pitchFamily="18" charset="0"/>
                              </a:rPr>
                              <m:t>𝐿𝐶</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𝑗</m:t>
                            </m:r>
                            <m:r>
                              <a:rPr lang="en-US" sz="2000" i="1">
                                <a:solidFill>
                                  <a:srgbClr val="000000"/>
                                </a:solidFill>
                                <a:latin typeface="Cambria Math" panose="02040503050406030204" pitchFamily="18" charset="0"/>
                                <a:ea typeface="Cambria Math" panose="02040503050406030204" pitchFamily="18" charset="0"/>
                              </a:rPr>
                              <m:t>𝜔</m:t>
                            </m:r>
                            <m:r>
                              <a:rPr lang="en-US" sz="2000" i="1">
                                <a:solidFill>
                                  <a:srgbClr val="000000"/>
                                </a:solidFill>
                                <a:latin typeface="Cambria Math" panose="02040503050406030204" pitchFamily="18" charset="0"/>
                              </a:rPr>
                              <m:t>𝑅𝐶</m:t>
                            </m:r>
                            <m:r>
                              <a:rPr lang="en-US" sz="2000" i="1">
                                <a:solidFill>
                                  <a:srgbClr val="000000"/>
                                </a:solidFill>
                                <a:latin typeface="Cambria Math" panose="02040503050406030204" pitchFamily="18" charset="0"/>
                              </a:rPr>
                              <m:t>|</m:t>
                            </m:r>
                          </m:e>
                          <m:sup>
                            <m:r>
                              <a:rPr lang="en-US" sz="2000" i="1">
                                <a:solidFill>
                                  <a:srgbClr val="000000"/>
                                </a:solidFill>
                                <a:latin typeface="Cambria Math" panose="02040503050406030204" pitchFamily="18" charset="0"/>
                              </a:rPr>
                              <m:t>2</m:t>
                            </m:r>
                          </m:sup>
                        </m:sSup>
                      </m:den>
                    </m:f>
                  </m:oMath>
                </a14:m>
                <a:endParaRPr lang="en-US" sz="2000" dirty="0">
                  <a:solidFill>
                    <a:srgbClr val="000000"/>
                  </a:solidFill>
                </a:endParaRPr>
              </a:p>
              <a:p>
                <a:pPr marL="285750" indent="-285750" hangingPunct="0">
                  <a:buFont typeface="Arial" panose="020B0604020202020204" pitchFamily="34" charset="0"/>
                  <a:buChar char="•"/>
                </a:pPr>
                <a:r>
                  <a:rPr lang="en-US" sz="2000" dirty="0">
                    <a:solidFill>
                      <a:srgbClr val="000000"/>
                    </a:solidFill>
                  </a:rPr>
                  <a:t>Expected energy stored in C, at resonance, is </a:t>
                </a:r>
                <a14:m>
                  <m:oMath xmlns:m="http://schemas.openxmlformats.org/officeDocument/2006/math">
                    <m:r>
                      <a:rPr lang="en-US" sz="2000" i="1">
                        <a:solidFill>
                          <a:srgbClr val="000000"/>
                        </a:solidFill>
                        <a:latin typeface="Cambria Math" panose="02040503050406030204" pitchFamily="18" charset="0"/>
                      </a:rPr>
                      <m:t>𝑘𝑇</m:t>
                    </m:r>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𝐶</m:t>
                        </m:r>
                      </m:num>
                      <m:den>
                        <m:r>
                          <a:rPr lang="en-US" sz="2000" i="1">
                            <a:solidFill>
                              <a:srgbClr val="000000"/>
                            </a:solidFill>
                            <a:latin typeface="Cambria Math" panose="02040503050406030204" pitchFamily="18" charset="0"/>
                          </a:rPr>
                          <m:t>2</m:t>
                        </m:r>
                      </m:den>
                    </m:f>
                    <m:nary>
                      <m:naryPr>
                        <m:ctrlPr>
                          <a:rPr lang="en-US" sz="2000" i="1">
                            <a:solidFill>
                              <a:srgbClr val="000000"/>
                            </a:solidFill>
                            <a:latin typeface="Cambria Math" panose="02040503050406030204" pitchFamily="18" charset="0"/>
                          </a:rPr>
                        </m:ctrlPr>
                      </m:naryPr>
                      <m:sub>
                        <m:r>
                          <m:rPr>
                            <m:brk m:alnAt="23"/>
                          </m:rPr>
                          <a:rPr lang="en-US" sz="2000" i="1">
                            <a:solidFill>
                              <a:srgbClr val="000000"/>
                            </a:solidFill>
                            <a:latin typeface="Cambria Math" panose="02040503050406030204" pitchFamily="18" charset="0"/>
                          </a:rPr>
                          <m:t>0</m:t>
                        </m:r>
                      </m:sub>
                      <m:sup>
                        <m:r>
                          <a:rPr lang="en-US" sz="2000" i="1">
                            <a:solidFill>
                              <a:srgbClr val="000000"/>
                            </a:solidFill>
                            <a:latin typeface="Cambria Math" panose="02040503050406030204" pitchFamily="18" charset="0"/>
                            <a:ea typeface="Cambria Math" panose="02040503050406030204" pitchFamily="18" charset="0"/>
                          </a:rPr>
                          <m:t>∞</m:t>
                        </m:r>
                      </m:sup>
                      <m:e>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𝑐</m:t>
                                </m:r>
                              </m:sub>
                            </m:sSub>
                            <m:r>
                              <a:rPr lang="en-US" sz="2000" i="1">
                                <a:solidFill>
                                  <a:srgbClr val="000000"/>
                                </a:solidFill>
                                <a:latin typeface="Cambria Math" panose="02040503050406030204" pitchFamily="18" charset="0"/>
                              </a:rPr>
                              <m:t>|</m:t>
                            </m:r>
                          </m:e>
                          <m:sup>
                            <m:r>
                              <a:rPr lang="en-US" sz="2000" i="1">
                                <a:solidFill>
                                  <a:srgbClr val="000000"/>
                                </a:solidFill>
                                <a:latin typeface="Cambria Math" panose="02040503050406030204" pitchFamily="18" charset="0"/>
                              </a:rPr>
                              <m:t>2</m:t>
                            </m:r>
                          </m:sup>
                        </m:sSup>
                        <m:r>
                          <a:rPr lang="en-US" sz="2000" i="1">
                            <a:solidFill>
                              <a:srgbClr val="000000"/>
                            </a:solidFill>
                            <a:latin typeface="Cambria Math" panose="02040503050406030204" pitchFamily="18" charset="0"/>
                          </a:rPr>
                          <m:t>𝑑𝑓</m:t>
                        </m:r>
                      </m:e>
                    </m:nary>
                  </m:oMath>
                </a14:m>
                <a:r>
                  <a:rPr lang="en-US" sz="2000" dirty="0">
                    <a:solidFill>
                      <a:srgbClr val="000000"/>
                    </a:solidFill>
                  </a:rPr>
                  <a:t>, by equipartition theorem</a:t>
                </a:r>
              </a:p>
              <a:p>
                <a:pPr marL="285750" indent="-285750" latinLnBrk="1" hangingPunct="0">
                  <a:buFont typeface="Arial" panose="020B0604020202020204" pitchFamily="34" charset="0"/>
                  <a:buChar char="•"/>
                </a:pPr>
                <a14:m>
                  <m:oMath xmlns:m="http://schemas.openxmlformats.org/officeDocument/2006/math">
                    <m:nary>
                      <m:naryPr>
                        <m:ctrlPr>
                          <a:rPr lang="en-US" sz="2000" i="1">
                            <a:solidFill>
                              <a:srgbClr val="000000"/>
                            </a:solidFill>
                            <a:latin typeface="Cambria Math" panose="02040503050406030204" pitchFamily="18" charset="0"/>
                          </a:rPr>
                        </m:ctrlPr>
                      </m:naryPr>
                      <m:sub>
                        <m:r>
                          <m:rPr>
                            <m:brk m:alnAt="23"/>
                          </m:rPr>
                          <a:rPr lang="en-US" sz="2000" i="1">
                            <a:solidFill>
                              <a:srgbClr val="000000"/>
                            </a:solidFill>
                            <a:latin typeface="Cambria Math" panose="02040503050406030204" pitchFamily="18" charset="0"/>
                          </a:rPr>
                          <m:t>0</m:t>
                        </m:r>
                      </m:sub>
                      <m:sup>
                        <m:r>
                          <a:rPr lang="en-US" sz="2000" i="1">
                            <a:solidFill>
                              <a:srgbClr val="000000"/>
                            </a:solidFill>
                            <a:latin typeface="Cambria Math" panose="02040503050406030204" pitchFamily="18" charset="0"/>
                            <a:ea typeface="Cambria Math" panose="02040503050406030204" pitchFamily="18" charset="0"/>
                          </a:rPr>
                          <m:t>∞</m:t>
                        </m:r>
                      </m:sup>
                      <m:e>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|1−</m:t>
                                </m:r>
                                <m:sSup>
                                  <m:sSupPr>
                                    <m:ctrlPr>
                                      <a:rPr lang="en-US" sz="2000" i="1">
                                        <a:solidFill>
                                          <a:srgbClr val="000000"/>
                                        </a:solidFill>
                                        <a:latin typeface="Cambria Math" panose="02040503050406030204" pitchFamily="18" charset="0"/>
                                        <a:ea typeface="Cambria Math" panose="02040503050406030204" pitchFamily="18" charset="0"/>
                                      </a:rPr>
                                    </m:ctrlPr>
                                  </m:sSupPr>
                                  <m:e>
                                    <m:r>
                                      <a:rPr lang="en-US" sz="2000" i="1">
                                        <a:solidFill>
                                          <a:srgbClr val="000000"/>
                                        </a:solidFill>
                                        <a:latin typeface="Cambria Math" panose="02040503050406030204" pitchFamily="18" charset="0"/>
                                        <a:ea typeface="Cambria Math" panose="02040503050406030204" pitchFamily="18" charset="0"/>
                                      </a:rPr>
                                      <m:t>𝜔</m:t>
                                    </m:r>
                                  </m:e>
                                  <m:sup>
                                    <m:r>
                                      <a:rPr lang="en-US" sz="2000" i="1">
                                        <a:solidFill>
                                          <a:srgbClr val="000000"/>
                                        </a:solidFill>
                                        <a:latin typeface="Cambria Math" panose="02040503050406030204" pitchFamily="18" charset="0"/>
                                      </a:rPr>
                                      <m:t>2</m:t>
                                    </m:r>
                                  </m:sup>
                                </m:sSup>
                                <m:r>
                                  <a:rPr lang="en-US" sz="2000" i="1">
                                    <a:solidFill>
                                      <a:srgbClr val="000000"/>
                                    </a:solidFill>
                                    <a:latin typeface="Cambria Math" panose="02040503050406030204" pitchFamily="18" charset="0"/>
                                  </a:rPr>
                                  <m:t>𝐿𝐶</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𝑗</m:t>
                                </m:r>
                                <m:r>
                                  <a:rPr lang="en-US" sz="2000" i="1">
                                    <a:solidFill>
                                      <a:srgbClr val="000000"/>
                                    </a:solidFill>
                                    <a:latin typeface="Cambria Math" panose="02040503050406030204" pitchFamily="18" charset="0"/>
                                    <a:ea typeface="Cambria Math" panose="02040503050406030204" pitchFamily="18" charset="0"/>
                                  </a:rPr>
                                  <m:t>𝜔</m:t>
                                </m:r>
                                <m:r>
                                  <a:rPr lang="en-US" sz="2000" i="1">
                                    <a:solidFill>
                                      <a:srgbClr val="000000"/>
                                    </a:solidFill>
                                    <a:latin typeface="Cambria Math" panose="02040503050406030204" pitchFamily="18" charset="0"/>
                                  </a:rPr>
                                  <m:t>𝑅𝐶</m:t>
                                </m:r>
                                <m:r>
                                  <a:rPr lang="en-US" sz="2000" i="1">
                                    <a:solidFill>
                                      <a:srgbClr val="000000"/>
                                    </a:solidFill>
                                    <a:latin typeface="Cambria Math" panose="02040503050406030204" pitchFamily="18" charset="0"/>
                                  </a:rPr>
                                  <m:t>|</m:t>
                                </m:r>
                              </m:e>
                              <m:sup>
                                <m:r>
                                  <a:rPr lang="en-US" sz="2000" i="1">
                                    <a:solidFill>
                                      <a:srgbClr val="000000"/>
                                    </a:solidFill>
                                    <a:latin typeface="Cambria Math" panose="02040503050406030204" pitchFamily="18" charset="0"/>
                                  </a:rPr>
                                  <m:t>2</m:t>
                                </m:r>
                              </m:sup>
                            </m:sSup>
                          </m:den>
                        </m:f>
                        <m:r>
                          <a:rPr lang="en-US" sz="2000" i="1">
                            <a:solidFill>
                              <a:srgbClr val="000000"/>
                            </a:solidFill>
                            <a:latin typeface="Cambria Math" panose="02040503050406030204" pitchFamily="18" charset="0"/>
                          </a:rPr>
                          <m:t>𝑑</m:t>
                        </m:r>
                        <m:r>
                          <a:rPr lang="en-US" sz="2000" i="1" smtClean="0">
                            <a:solidFill>
                              <a:srgbClr val="000000"/>
                            </a:solidFill>
                            <a:latin typeface="Cambria Math" panose="02040503050406030204" pitchFamily="18" charset="0"/>
                            <a:ea typeface="Cambria Math" panose="02040503050406030204" pitchFamily="18" charset="0"/>
                          </a:rPr>
                          <m:t>𝜔</m:t>
                        </m:r>
                      </m:e>
                    </m:nary>
                    <m:r>
                      <a:rPr lang="en-US" sz="2000" i="1">
                        <a:solidFill>
                          <a:srgbClr val="000000"/>
                        </a:solidFill>
                        <a:latin typeface="Cambria Math" panose="02040503050406030204" pitchFamily="18" charset="0"/>
                      </a:rPr>
                      <m:t>= </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rPr>
                          <m:t>4</m:t>
                        </m:r>
                        <m:r>
                          <a:rPr lang="en-US" sz="2000" i="1">
                            <a:solidFill>
                              <a:srgbClr val="000000"/>
                            </a:solidFill>
                            <a:latin typeface="Cambria Math" panose="02040503050406030204" pitchFamily="18" charset="0"/>
                          </a:rPr>
                          <m:t>𝑅𝐶</m:t>
                        </m:r>
                      </m:den>
                    </m:f>
                  </m:oMath>
                </a14:m>
                <a:endParaRPr lang="en-US" sz="2000" dirty="0">
                  <a:solidFill>
                    <a:srgbClr val="000000"/>
                  </a:solidFill>
                </a:endParaRPr>
              </a:p>
              <a:p>
                <a:pPr marL="285750" indent="-285750" latinLnBrk="1" hangingPunct="0">
                  <a:buFont typeface="Arial" panose="020B0604020202020204" pitchFamily="34" charset="0"/>
                  <a:buChar char="•"/>
                </a:pPr>
                <a:r>
                  <a:rPr lang="en-US" sz="2000" dirty="0">
                    <a:solidFill>
                      <a:srgbClr val="000000"/>
                    </a:solidFill>
                  </a:rPr>
                  <a:t>So, </a:t>
                </a:r>
                <a14:m>
                  <m:oMath xmlns:m="http://schemas.openxmlformats.org/officeDocument/2006/math">
                    <m:acc>
                      <m:accPr>
                        <m:chr m:val="̅"/>
                        <m:ctrlPr>
                          <a:rPr lang="en-US" sz="2000" i="1">
                            <a:solidFill>
                              <a:srgbClr val="000000"/>
                            </a:solidFill>
                            <a:latin typeface="Cambria Math" panose="02040503050406030204" pitchFamily="18" charset="0"/>
                          </a:rPr>
                        </m:ctrlPr>
                      </m:accPr>
                      <m:e>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b="0" i="1" smtClean="0">
                                    <a:solidFill>
                                      <a:srgbClr val="000000"/>
                                    </a:solidFill>
                                    <a:latin typeface="Cambria Math" panose="02040503050406030204" pitchFamily="18" charset="0"/>
                                  </a:rPr>
                                  <m:t>𝑛</m:t>
                                </m:r>
                              </m:sub>
                            </m:sSub>
                            <m:r>
                              <a:rPr lang="en-US" sz="2000" i="1">
                                <a:solidFill>
                                  <a:srgbClr val="000000"/>
                                </a:solidFill>
                                <a:latin typeface="Cambria Math" panose="02040503050406030204" pitchFamily="18" charset="0"/>
                              </a:rPr>
                              <m:t>|</m:t>
                            </m:r>
                          </m:e>
                          <m:sup>
                            <m:r>
                              <a:rPr lang="en-US" sz="2000" i="1">
                                <a:solidFill>
                                  <a:srgbClr val="000000"/>
                                </a:solidFill>
                                <a:latin typeface="Cambria Math" panose="02040503050406030204" pitchFamily="18" charset="0"/>
                              </a:rPr>
                              <m:t>2</m:t>
                            </m:r>
                          </m:sup>
                        </m:sSup>
                      </m:e>
                    </m:acc>
                    <m:r>
                      <a:rPr lang="en-US" sz="2000">
                        <a:solidFill>
                          <a:srgbClr val="000000"/>
                        </a:solidFill>
                        <a:latin typeface="Cambria Math" panose="02040503050406030204" pitchFamily="18" charset="0"/>
                      </a:rPr>
                      <m:t>=8</m:t>
                    </m:r>
                    <m:r>
                      <m:rPr>
                        <m:sty m:val="p"/>
                      </m:rPr>
                      <a:rPr lang="en-US" sz="2000">
                        <a:solidFill>
                          <a:srgbClr val="000000"/>
                        </a:solidFill>
                        <a:latin typeface="Cambria Math" panose="02040503050406030204" pitchFamily="18" charset="0"/>
                      </a:rPr>
                      <m:t>kTR</m:t>
                    </m:r>
                  </m:oMath>
                </a14:m>
                <a:r>
                  <a:rPr lang="en-US" sz="2000" dirty="0">
                    <a:solidFill>
                      <a:srgbClr val="000000"/>
                    </a:solidFill>
                  </a:rPr>
                  <a:t>, </a:t>
                </a: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b="0" i="1" smtClean="0">
                            <a:solidFill>
                              <a:srgbClr val="000000"/>
                            </a:solidFill>
                            <a:latin typeface="Cambria Math" panose="02040503050406030204" pitchFamily="18" charset="0"/>
                          </a:rPr>
                          <m:t>𝑛</m:t>
                        </m:r>
                        <m:r>
                          <a:rPr lang="en-US" sz="2000" b="0" i="1" smtClean="0">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𝑟𝑚𝑠</m:t>
                        </m:r>
                        <m:r>
                          <a:rPr lang="en-US" sz="2000" b="0" i="1" smtClean="0">
                            <a:solidFill>
                              <a:srgbClr val="000000"/>
                            </a:solidFill>
                            <a:latin typeface="Cambria Math" panose="02040503050406030204" pitchFamily="18" charset="0"/>
                          </a:rPr>
                          <m:t>)</m:t>
                        </m:r>
                      </m:sub>
                    </m:sSub>
                    <m:r>
                      <a:rPr lang="en-US" sz="2000" i="1">
                        <a:solidFill>
                          <a:srgbClr val="000000"/>
                        </a:solidFill>
                        <a:latin typeface="Cambria Math" panose="02040503050406030204" pitchFamily="18" charset="0"/>
                      </a:rPr>
                      <m:t>=</m:t>
                    </m:r>
                    <m:rad>
                      <m:radPr>
                        <m:degHide m:val="on"/>
                        <m:ctrlPr>
                          <a:rPr lang="en-US" sz="2000" i="1">
                            <a:solidFill>
                              <a:srgbClr val="000000"/>
                            </a:solidFill>
                            <a:latin typeface="Cambria Math" panose="02040503050406030204" pitchFamily="18" charset="0"/>
                          </a:rPr>
                        </m:ctrlPr>
                      </m:radPr>
                      <m:deg/>
                      <m:e>
                        <m:r>
                          <a:rPr lang="en-US" sz="2000" i="1">
                            <a:solidFill>
                              <a:srgbClr val="000000"/>
                            </a:solidFill>
                            <a:latin typeface="Cambria Math" panose="02040503050406030204" pitchFamily="18" charset="0"/>
                          </a:rPr>
                          <m:t>4</m:t>
                        </m:r>
                        <m:r>
                          <a:rPr lang="en-US" sz="2000" i="1">
                            <a:solidFill>
                              <a:srgbClr val="000000"/>
                            </a:solidFill>
                            <a:latin typeface="Cambria Math" panose="02040503050406030204" pitchFamily="18" charset="0"/>
                          </a:rPr>
                          <m:t>𝑘𝑇𝑅</m:t>
                        </m:r>
                      </m:e>
                    </m:rad>
                  </m:oMath>
                </a14:m>
                <a:endParaRPr lang="en-US" sz="2000" dirty="0">
                  <a:solidFill>
                    <a:srgbClr val="000000"/>
                  </a:solidFill>
                </a:endParaRPr>
              </a:p>
              <a:p>
                <a:pPr marL="285750" indent="-285750" latinLnBrk="1" hangingPunct="0">
                  <a:spcBef>
                    <a:spcPts val="400"/>
                  </a:spcBef>
                  <a:buFont typeface="Arial" panose="020B0604020202020204" pitchFamily="34" charset="0"/>
                  <a:buChar char="•"/>
                </a:pPr>
                <a14:m>
                  <m:oMath xmlns:m="http://schemas.openxmlformats.org/officeDocument/2006/math">
                    <m:r>
                      <a:rPr lang="en-US" sz="2000" i="1">
                        <a:solidFill>
                          <a:srgbClr val="000000"/>
                        </a:solidFill>
                        <a:latin typeface="Cambria Math" panose="02040503050406030204" pitchFamily="18" charset="0"/>
                      </a:rPr>
                      <m:t>𝑁</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𝑘𝑇</m:t>
                    </m:r>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m:t>
                            </m:r>
                            <m:f>
                              <m:fPr>
                                <m:ctrlPr>
                                  <a:rPr lang="en-US" sz="2000" i="1" smtClean="0">
                                    <a:solidFill>
                                      <a:srgbClr val="000000"/>
                                    </a:solidFill>
                                    <a:latin typeface="Cambria Math" panose="02040503050406030204" pitchFamily="18" charset="0"/>
                                  </a:rPr>
                                </m:ctrlPr>
                              </m:fPr>
                              <m:num>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𝑉</m:t>
                                    </m:r>
                                  </m:e>
                                  <m:sub>
                                    <m:r>
                                      <a:rPr lang="en-US" sz="2000" b="0" i="1" smtClean="0">
                                        <a:solidFill>
                                          <a:srgbClr val="000000"/>
                                        </a:solidFill>
                                        <a:latin typeface="Cambria Math" panose="02040503050406030204" pitchFamily="18" charset="0"/>
                                      </a:rPr>
                                      <m:t>𝑛</m:t>
                                    </m:r>
                                  </m:sub>
                                </m:sSub>
                              </m:num>
                              <m:den>
                                <m:r>
                                  <a:rPr lang="en-US" sz="2000" b="0" i="1" smtClean="0">
                                    <a:solidFill>
                                      <a:srgbClr val="000000"/>
                                    </a:solidFill>
                                    <a:latin typeface="Cambria Math" panose="02040503050406030204" pitchFamily="18" charset="0"/>
                                  </a:rPr>
                                  <m:t>2</m:t>
                                </m:r>
                              </m:den>
                            </m:f>
                            <m:r>
                              <a:rPr lang="en-US" sz="2000" i="1">
                                <a:solidFill>
                                  <a:srgbClr val="000000"/>
                                </a:solidFill>
                                <a:latin typeface="Cambria Math" panose="02040503050406030204" pitchFamily="18" charset="0"/>
                              </a:rPr>
                              <m:t>|</m:t>
                            </m:r>
                          </m:e>
                          <m:sup>
                            <m:r>
                              <a:rPr lang="en-US" sz="2000" i="1">
                                <a:solidFill>
                                  <a:srgbClr val="000000"/>
                                </a:solidFill>
                                <a:latin typeface="Cambria Math" panose="02040503050406030204" pitchFamily="18" charset="0"/>
                              </a:rPr>
                              <m:t>2</m:t>
                            </m:r>
                          </m:sup>
                        </m:sSup>
                      </m:num>
                      <m:den>
                        <m:r>
                          <a:rPr lang="en-US" sz="2000" i="1">
                            <a:solidFill>
                              <a:srgbClr val="000000"/>
                            </a:solidFill>
                            <a:latin typeface="Cambria Math" panose="02040503050406030204" pitchFamily="18" charset="0"/>
                          </a:rPr>
                          <m:t>2</m:t>
                        </m:r>
                        <m:r>
                          <a:rPr lang="en-US" sz="2000" i="1">
                            <a:solidFill>
                              <a:srgbClr val="000000"/>
                            </a:solidFill>
                            <a:latin typeface="Cambria Math" panose="02040503050406030204" pitchFamily="18" charset="0"/>
                          </a:rPr>
                          <m:t>𝑅</m:t>
                        </m:r>
                      </m:den>
                    </m:f>
                    <m:r>
                      <a:rPr lang="en-US" sz="2000" b="0" i="1" smtClean="0">
                        <a:solidFill>
                          <a:srgbClr val="000000"/>
                        </a:solidFill>
                        <a:latin typeface="Cambria Math" panose="02040503050406030204" pitchFamily="18" charset="0"/>
                      </a:rPr>
                      <m:t>= </m:t>
                    </m:r>
                    <m:f>
                      <m:fPr>
                        <m:ctrlPr>
                          <a:rPr lang="en-US" sz="2000" b="0" i="1" smtClean="0">
                            <a:solidFill>
                              <a:srgbClr val="000000"/>
                            </a:solidFill>
                            <a:latin typeface="Cambria Math" panose="02040503050406030204" pitchFamily="18" charset="0"/>
                          </a:rPr>
                        </m:ctrlPr>
                      </m:fPr>
                      <m:num>
                        <m:acc>
                          <m:accPr>
                            <m:chr m:val="̅"/>
                            <m:ctrlPr>
                              <a:rPr lang="en-US" sz="2000" i="1">
                                <a:solidFill>
                                  <a:srgbClr val="000000"/>
                                </a:solidFill>
                                <a:latin typeface="Cambria Math" panose="02040503050406030204" pitchFamily="18" charset="0"/>
                              </a:rPr>
                            </m:ctrlPr>
                          </m:accPr>
                          <m:e>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 </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𝑛</m:t>
                                    </m:r>
                                  </m:sub>
                                </m:sSub>
                                <m:r>
                                  <a:rPr lang="en-US" sz="2000" i="1">
                                    <a:solidFill>
                                      <a:srgbClr val="000000"/>
                                    </a:solidFill>
                                    <a:latin typeface="Cambria Math" panose="02040503050406030204" pitchFamily="18" charset="0"/>
                                  </a:rPr>
                                  <m:t>|</m:t>
                                </m:r>
                              </m:e>
                              <m:sup>
                                <m:r>
                                  <a:rPr lang="en-US" sz="2000" i="1">
                                    <a:solidFill>
                                      <a:srgbClr val="000000"/>
                                    </a:solidFill>
                                    <a:latin typeface="Cambria Math" panose="02040503050406030204" pitchFamily="18" charset="0"/>
                                  </a:rPr>
                                  <m:t>2</m:t>
                                </m:r>
                              </m:sup>
                            </m:sSup>
                          </m:e>
                        </m:acc>
                      </m:num>
                      <m:den>
                        <m:r>
                          <a:rPr lang="en-US" sz="2000" b="0" i="1" smtClean="0">
                            <a:solidFill>
                              <a:srgbClr val="000000"/>
                            </a:solidFill>
                            <a:latin typeface="Cambria Math" panose="02040503050406030204" pitchFamily="18" charset="0"/>
                          </a:rPr>
                          <m:t>8</m:t>
                        </m:r>
                        <m:r>
                          <a:rPr lang="en-US" sz="2000" b="0" i="1" smtClean="0">
                            <a:solidFill>
                              <a:srgbClr val="000000"/>
                            </a:solidFill>
                            <a:latin typeface="Cambria Math" panose="02040503050406030204" pitchFamily="18" charset="0"/>
                          </a:rPr>
                          <m:t>𝑅</m:t>
                        </m:r>
                      </m:den>
                    </m:f>
                  </m:oMath>
                </a14:m>
                <a:r>
                  <a:rPr lang="en-US" sz="2000" dirty="0">
                    <a:solidFill>
                      <a:srgbClr val="000000"/>
                    </a:solidFill>
                  </a:rPr>
                  <a:t>  (Noise density)</a:t>
                </a:r>
              </a:p>
              <a:p>
                <a:pPr marL="285750" indent="-285750" latinLnBrk="1" hangingPunct="0">
                  <a:spcBef>
                    <a:spcPts val="400"/>
                  </a:spcBef>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𝑇</m:t>
                        </m:r>
                      </m:e>
                      <m:sub>
                        <m:r>
                          <a:rPr lang="en-US" sz="2000" b="0" i="1" smtClean="0">
                            <a:solidFill>
                              <a:srgbClr val="000000"/>
                            </a:solidFill>
                            <a:latin typeface="Cambria Math" panose="02040503050406030204" pitchFamily="18" charset="0"/>
                          </a:rPr>
                          <m:t>𝑒</m:t>
                        </m:r>
                      </m:sub>
                    </m:sSub>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𝑁</m:t>
                        </m:r>
                      </m:num>
                      <m:den>
                        <m:r>
                          <a:rPr lang="en-US" sz="2000" i="1">
                            <a:solidFill>
                              <a:srgbClr val="000000"/>
                            </a:solidFill>
                            <a:latin typeface="Cambria Math" panose="02040503050406030204" pitchFamily="18" charset="0"/>
                          </a:rPr>
                          <m:t>𝑘</m:t>
                        </m:r>
                      </m:den>
                    </m:f>
                  </m:oMath>
                </a14:m>
                <a:endParaRPr lang="en-US" sz="2000" i="1" dirty="0">
                  <a:solidFill>
                    <a:srgbClr val="000000"/>
                  </a:solidFill>
                  <a:latin typeface="Cambria Math" panose="02040503050406030204" pitchFamily="18" charset="0"/>
                </a:endParaRPr>
              </a:p>
              <a:p>
                <a:pPr marL="285750" indent="-285750" latinLnBrk="1" hangingPunct="0">
                  <a:spcBef>
                    <a:spcPts val="400"/>
                  </a:spcBef>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𝑇</m:t>
                        </m:r>
                      </m:e>
                      <m:sub>
                        <m:r>
                          <a:rPr lang="en-US" sz="2000" i="1">
                            <a:solidFill>
                              <a:srgbClr val="000000"/>
                            </a:solidFill>
                            <a:latin typeface="Cambria Math" panose="02040503050406030204" pitchFamily="18" charset="0"/>
                          </a:rPr>
                          <m:t>𝑛</m:t>
                        </m:r>
                      </m:sub>
                    </m:sSub>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𝑁𝐸𝑃</m:t>
                        </m:r>
                      </m:num>
                      <m:den>
                        <m:r>
                          <a:rPr lang="en-US" sz="2000" i="1">
                            <a:solidFill>
                              <a:srgbClr val="000000"/>
                            </a:solidFill>
                            <a:latin typeface="Cambria Math" panose="02040503050406030204" pitchFamily="18" charset="0"/>
                          </a:rPr>
                          <m:t>𝑘</m:t>
                        </m:r>
                      </m:den>
                    </m:f>
                  </m:oMath>
                </a14:m>
                <a:endParaRPr lang="en-US" sz="2000" dirty="0">
                  <a:solidFill>
                    <a:srgbClr val="000000"/>
                  </a:solidFill>
                </a:endParaRPr>
              </a:p>
            </p:txBody>
          </p:sp>
        </mc:Choice>
        <mc:Fallback xmlns="">
          <p:sp>
            <p:nvSpPr>
              <p:cNvPr id="7" name="TextBox 6">
                <a:extLst>
                  <a:ext uri="{FF2B5EF4-FFF2-40B4-BE49-F238E27FC236}">
                    <a16:creationId xmlns:a16="http://schemas.microsoft.com/office/drawing/2014/main" id="{3FB650AC-0838-164B-8308-2F83F84D0C03}"/>
                  </a:ext>
                </a:extLst>
              </p:cNvPr>
              <p:cNvSpPr txBox="1">
                <a:spLocks noRot="1" noChangeAspect="1" noMove="1" noResize="1" noEditPoints="1" noAdjustHandles="1" noChangeArrowheads="1" noChangeShapeType="1" noTextEdit="1"/>
              </p:cNvSpPr>
              <p:nvPr/>
            </p:nvSpPr>
            <p:spPr>
              <a:xfrm>
                <a:off x="592876" y="1706693"/>
                <a:ext cx="7763025" cy="4409475"/>
              </a:xfrm>
              <a:prstGeom prst="rect">
                <a:avLst/>
              </a:prstGeom>
              <a:blipFill>
                <a:blip r:embed="rId3"/>
                <a:stretch>
                  <a:fillRect l="-2936"/>
                </a:stretch>
              </a:blipFill>
              <a:ln w="12700" cap="flat">
                <a:noFill/>
                <a:miter lim="400000"/>
              </a:ln>
              <a:effectLst/>
            </p:spPr>
            <p:txBody>
              <a:bodyPr/>
              <a:lstStyle/>
              <a:p>
                <a:r>
                  <a:rPr lang="en-US">
                    <a:noFill/>
                  </a:rPr>
                  <a:t> </a:t>
                </a:r>
              </a:p>
            </p:txBody>
          </p:sp>
        </mc:Fallback>
      </mc:AlternateContent>
      <p:grpSp>
        <p:nvGrpSpPr>
          <p:cNvPr id="45" name="Group 44">
            <a:extLst>
              <a:ext uri="{FF2B5EF4-FFF2-40B4-BE49-F238E27FC236}">
                <a16:creationId xmlns:a16="http://schemas.microsoft.com/office/drawing/2014/main" id="{8AC5FEF7-6C14-7848-86DA-0545BB9DAA9E}"/>
              </a:ext>
            </a:extLst>
          </p:cNvPr>
          <p:cNvGrpSpPr/>
          <p:nvPr/>
        </p:nvGrpSpPr>
        <p:grpSpPr>
          <a:xfrm>
            <a:off x="9399500" y="4014754"/>
            <a:ext cx="2189250" cy="2124274"/>
            <a:chOff x="8765058" y="3379495"/>
            <a:chExt cx="2189250" cy="2124274"/>
          </a:xfrm>
        </p:grpSpPr>
        <p:grpSp>
          <p:nvGrpSpPr>
            <p:cNvPr id="46" name="Group 45">
              <a:extLst>
                <a:ext uri="{FF2B5EF4-FFF2-40B4-BE49-F238E27FC236}">
                  <a16:creationId xmlns:a16="http://schemas.microsoft.com/office/drawing/2014/main" id="{6AA35EE2-8D26-9244-8770-FDEFE692959D}"/>
                </a:ext>
              </a:extLst>
            </p:cNvPr>
            <p:cNvGrpSpPr/>
            <p:nvPr/>
          </p:nvGrpSpPr>
          <p:grpSpPr>
            <a:xfrm>
              <a:off x="9112626" y="4141495"/>
              <a:ext cx="543906" cy="523218"/>
              <a:chOff x="7097485" y="3674605"/>
              <a:chExt cx="548640" cy="548640"/>
            </a:xfrm>
          </p:grpSpPr>
          <p:sp>
            <p:nvSpPr>
              <p:cNvPr id="58" name="Freeform 57">
                <a:extLst>
                  <a:ext uri="{FF2B5EF4-FFF2-40B4-BE49-F238E27FC236}">
                    <a16:creationId xmlns:a16="http://schemas.microsoft.com/office/drawing/2014/main" id="{44A41F92-3009-FB41-8AB2-EC564F6FFCB8}"/>
                  </a:ext>
                </a:extLst>
              </p:cNvPr>
              <p:cNvSpPr/>
              <p:nvPr/>
            </p:nvSpPr>
            <p:spPr>
              <a:xfrm>
                <a:off x="7196744" y="3814776"/>
                <a:ext cx="294626" cy="299873"/>
              </a:xfrm>
              <a:custGeom>
                <a:avLst/>
                <a:gdLst>
                  <a:gd name="connsiteX0" fmla="*/ 0 w 586788"/>
                  <a:gd name="connsiteY0" fmla="*/ 227323 h 399320"/>
                  <a:gd name="connsiteX1" fmla="*/ 255182 w 586788"/>
                  <a:gd name="connsiteY1" fmla="*/ 4039 h 399320"/>
                  <a:gd name="connsiteX2" fmla="*/ 361507 w 586788"/>
                  <a:gd name="connsiteY2" fmla="*/ 397443 h 399320"/>
                  <a:gd name="connsiteX3" fmla="*/ 574158 w 586788"/>
                  <a:gd name="connsiteY3" fmla="*/ 152895 h 399320"/>
                  <a:gd name="connsiteX4" fmla="*/ 563526 w 586788"/>
                  <a:gd name="connsiteY4" fmla="*/ 152895 h 399320"/>
                  <a:gd name="connsiteX5" fmla="*/ 563526 w 586788"/>
                  <a:gd name="connsiteY5" fmla="*/ 152895 h 399320"/>
                  <a:gd name="connsiteX6" fmla="*/ 574158 w 586788"/>
                  <a:gd name="connsiteY6" fmla="*/ 152895 h 399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6788" h="399320">
                    <a:moveTo>
                      <a:pt x="0" y="227323"/>
                    </a:moveTo>
                    <a:cubicBezTo>
                      <a:pt x="97465" y="101504"/>
                      <a:pt x="194931" y="-24314"/>
                      <a:pt x="255182" y="4039"/>
                    </a:cubicBezTo>
                    <a:cubicBezTo>
                      <a:pt x="315433" y="32392"/>
                      <a:pt x="308344" y="372634"/>
                      <a:pt x="361507" y="397443"/>
                    </a:cubicBezTo>
                    <a:cubicBezTo>
                      <a:pt x="414670" y="422252"/>
                      <a:pt x="540488" y="193653"/>
                      <a:pt x="574158" y="152895"/>
                    </a:cubicBezTo>
                    <a:cubicBezTo>
                      <a:pt x="607828" y="112137"/>
                      <a:pt x="563526" y="152895"/>
                      <a:pt x="563526" y="152895"/>
                    </a:cubicBezTo>
                    <a:lnTo>
                      <a:pt x="563526" y="152895"/>
                    </a:lnTo>
                    <a:lnTo>
                      <a:pt x="574158" y="152895"/>
                    </a:lnTo>
                  </a:path>
                </a:pathLst>
              </a:custGeom>
              <a:no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tlCol="0" anchor="ctr"/>
              <a:lstStyle/>
              <a:p>
                <a:pPr algn="ctr"/>
                <a:endParaRPr lang="en-US"/>
              </a:p>
            </p:txBody>
          </p:sp>
          <p:sp>
            <p:nvSpPr>
              <p:cNvPr id="59" name="Oval 58">
                <a:extLst>
                  <a:ext uri="{FF2B5EF4-FFF2-40B4-BE49-F238E27FC236}">
                    <a16:creationId xmlns:a16="http://schemas.microsoft.com/office/drawing/2014/main" id="{8EB12560-3AE3-3F42-AF3E-191852D70DF5}"/>
                  </a:ext>
                </a:extLst>
              </p:cNvPr>
              <p:cNvSpPr/>
              <p:nvPr/>
            </p:nvSpPr>
            <p:spPr>
              <a:xfrm>
                <a:off x="7097485" y="3674605"/>
                <a:ext cx="548640" cy="548640"/>
              </a:xfrm>
              <a:prstGeom prst="ellipse">
                <a:avLst/>
              </a:prstGeom>
              <a:no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a:solidFill>
                    <a:srgbClr val="000000"/>
                  </a:solidFill>
                  <a:latin typeface="Calibri"/>
                  <a:ea typeface="Calibri"/>
                  <a:cs typeface="Calibri"/>
                  <a:sym typeface="Calibri"/>
                </a:endParaRPr>
              </a:p>
            </p:txBody>
          </p:sp>
        </p:grpSp>
        <p:sp>
          <p:nvSpPr>
            <p:cNvPr id="47" name="Freeform 46">
              <a:extLst>
                <a:ext uri="{FF2B5EF4-FFF2-40B4-BE49-F238E27FC236}">
                  <a16:creationId xmlns:a16="http://schemas.microsoft.com/office/drawing/2014/main" id="{40435E5C-7233-C941-90D5-710C8510C0EF}"/>
                </a:ext>
              </a:extLst>
            </p:cNvPr>
            <p:cNvSpPr>
              <a:spLocks noChangeAspect="1"/>
            </p:cNvSpPr>
            <p:nvPr/>
          </p:nvSpPr>
          <p:spPr bwMode="auto">
            <a:xfrm>
              <a:off x="9314979" y="3379495"/>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TextBox 47">
              <a:extLst>
                <a:ext uri="{FF2B5EF4-FFF2-40B4-BE49-F238E27FC236}">
                  <a16:creationId xmlns:a16="http://schemas.microsoft.com/office/drawing/2014/main" id="{606199A9-2ED4-364A-8B25-A9A3248BDD90}"/>
                </a:ext>
              </a:extLst>
            </p:cNvPr>
            <p:cNvSpPr txBox="1"/>
            <p:nvPr/>
          </p:nvSpPr>
          <p:spPr>
            <a:xfrm>
              <a:off x="9520923" y="3613474"/>
              <a:ext cx="304797"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R</a:t>
              </a:r>
              <a:endParaRPr lang="en-US" sz="1600" dirty="0">
                <a:solidFill>
                  <a:srgbClr val="000000"/>
                </a:solidFill>
                <a:latin typeface="Calibri"/>
                <a:ea typeface="Calibri"/>
                <a:cs typeface="Calibri"/>
                <a:sym typeface="Calibri"/>
              </a:endParaRPr>
            </a:p>
          </p:txBody>
        </p:sp>
        <p:cxnSp>
          <p:nvCxnSpPr>
            <p:cNvPr id="49" name="Straight Connector 48">
              <a:extLst>
                <a:ext uri="{FF2B5EF4-FFF2-40B4-BE49-F238E27FC236}">
                  <a16:creationId xmlns:a16="http://schemas.microsoft.com/office/drawing/2014/main" id="{CDCAB71F-2898-734C-82AD-95A64F467802}"/>
                </a:ext>
              </a:extLst>
            </p:cNvPr>
            <p:cNvCxnSpPr>
              <a:cxnSpLocks/>
            </p:cNvCxnSpPr>
            <p:nvPr/>
          </p:nvCxnSpPr>
          <p:spPr>
            <a:xfrm flipH="1">
              <a:off x="9391179" y="4673559"/>
              <a:ext cx="1504" cy="349748"/>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51" name="Straight Connector 50">
              <a:extLst>
                <a:ext uri="{FF2B5EF4-FFF2-40B4-BE49-F238E27FC236}">
                  <a16:creationId xmlns:a16="http://schemas.microsoft.com/office/drawing/2014/main" id="{3B3E9B44-9F75-6B41-9226-A7EE3103458F}"/>
                </a:ext>
              </a:extLst>
            </p:cNvPr>
            <p:cNvCxnSpPr>
              <a:cxnSpLocks/>
            </p:cNvCxnSpPr>
            <p:nvPr/>
          </p:nvCxnSpPr>
          <p:spPr>
            <a:xfrm flipH="1" flipV="1">
              <a:off x="9391179" y="5003998"/>
              <a:ext cx="1050278" cy="8844"/>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52" name="TextBox 51">
              <a:extLst>
                <a:ext uri="{FF2B5EF4-FFF2-40B4-BE49-F238E27FC236}">
                  <a16:creationId xmlns:a16="http://schemas.microsoft.com/office/drawing/2014/main" id="{C1AFDA91-67BB-B848-B7D7-246C40067648}"/>
                </a:ext>
              </a:extLst>
            </p:cNvPr>
            <p:cNvSpPr txBox="1"/>
            <p:nvPr/>
          </p:nvSpPr>
          <p:spPr>
            <a:xfrm>
              <a:off x="8765058" y="4179257"/>
              <a:ext cx="395690"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err="1">
                  <a:solidFill>
                    <a:srgbClr val="000000"/>
                  </a:solidFill>
                  <a:latin typeface="Calibri"/>
                  <a:ea typeface="Calibri"/>
                  <a:cs typeface="Calibri"/>
                  <a:sym typeface="Calibri"/>
                </a:rPr>
                <a:t>V</a:t>
              </a:r>
              <a:r>
                <a:rPr lang="en-US" sz="1600" baseline="-25000" dirty="0" err="1">
                  <a:solidFill>
                    <a:srgbClr val="000000"/>
                  </a:solidFill>
                  <a:latin typeface="Calibri"/>
                  <a:ea typeface="Calibri"/>
                  <a:cs typeface="Calibri"/>
                  <a:sym typeface="Calibri"/>
                </a:rPr>
                <a:t>n</a:t>
              </a:r>
              <a:endParaRPr lang="en-US" sz="1600" baseline="-25000" dirty="0">
                <a:solidFill>
                  <a:srgbClr val="000000"/>
                </a:solidFill>
                <a:latin typeface="Calibri"/>
                <a:ea typeface="Calibri"/>
                <a:cs typeface="Calibri"/>
                <a:sym typeface="Calibri"/>
              </a:endParaRPr>
            </a:p>
          </p:txBody>
        </p:sp>
        <p:sp>
          <p:nvSpPr>
            <p:cNvPr id="53" name="Freeform 52">
              <a:extLst>
                <a:ext uri="{FF2B5EF4-FFF2-40B4-BE49-F238E27FC236}">
                  <a16:creationId xmlns:a16="http://schemas.microsoft.com/office/drawing/2014/main" id="{D6054CFC-7CB1-A149-8ECD-13045939E2C3}"/>
                </a:ext>
              </a:extLst>
            </p:cNvPr>
            <p:cNvSpPr>
              <a:spLocks noChangeAspect="1"/>
            </p:cNvSpPr>
            <p:nvPr/>
          </p:nvSpPr>
          <p:spPr bwMode="auto">
            <a:xfrm>
              <a:off x="10369420" y="3383611"/>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54" name="Straight Connector 53">
              <a:extLst>
                <a:ext uri="{FF2B5EF4-FFF2-40B4-BE49-F238E27FC236}">
                  <a16:creationId xmlns:a16="http://schemas.microsoft.com/office/drawing/2014/main" id="{6D78CFB9-FDFF-7A49-8B57-EFB26319595D}"/>
                </a:ext>
              </a:extLst>
            </p:cNvPr>
            <p:cNvCxnSpPr>
              <a:cxnSpLocks/>
            </p:cNvCxnSpPr>
            <p:nvPr/>
          </p:nvCxnSpPr>
          <p:spPr>
            <a:xfrm flipH="1" flipV="1">
              <a:off x="9384579" y="3394779"/>
              <a:ext cx="1050278" cy="8844"/>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55" name="TextBox 54">
              <a:extLst>
                <a:ext uri="{FF2B5EF4-FFF2-40B4-BE49-F238E27FC236}">
                  <a16:creationId xmlns:a16="http://schemas.microsoft.com/office/drawing/2014/main" id="{2FECF1B0-CBEF-B848-A1B6-AC01034EBA8F}"/>
                </a:ext>
              </a:extLst>
            </p:cNvPr>
            <p:cNvSpPr txBox="1"/>
            <p:nvPr/>
          </p:nvSpPr>
          <p:spPr>
            <a:xfrm>
              <a:off x="10649511" y="3568164"/>
              <a:ext cx="304797"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R</a:t>
              </a:r>
              <a:endParaRPr lang="en-US" sz="1600" dirty="0">
                <a:solidFill>
                  <a:srgbClr val="000000"/>
                </a:solidFill>
                <a:latin typeface="Calibri"/>
                <a:ea typeface="Calibri"/>
                <a:cs typeface="Calibri"/>
                <a:sym typeface="Calibri"/>
              </a:endParaRPr>
            </a:p>
          </p:txBody>
        </p:sp>
        <p:cxnSp>
          <p:nvCxnSpPr>
            <p:cNvPr id="56" name="Straight Connector 55">
              <a:extLst>
                <a:ext uri="{FF2B5EF4-FFF2-40B4-BE49-F238E27FC236}">
                  <a16:creationId xmlns:a16="http://schemas.microsoft.com/office/drawing/2014/main" id="{04697880-9242-2542-BE76-BF193D4010C3}"/>
                </a:ext>
              </a:extLst>
            </p:cNvPr>
            <p:cNvCxnSpPr>
              <a:cxnSpLocks/>
            </p:cNvCxnSpPr>
            <p:nvPr/>
          </p:nvCxnSpPr>
          <p:spPr>
            <a:xfrm>
              <a:off x="10447130" y="4084546"/>
              <a:ext cx="0" cy="946993"/>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57" name="TextBox 56">
              <a:extLst>
                <a:ext uri="{FF2B5EF4-FFF2-40B4-BE49-F238E27FC236}">
                  <a16:creationId xmlns:a16="http://schemas.microsoft.com/office/drawing/2014/main" id="{05A9627E-F6DE-8740-978E-447D687F1B3D}"/>
                </a:ext>
              </a:extLst>
            </p:cNvPr>
            <p:cNvSpPr txBox="1"/>
            <p:nvPr/>
          </p:nvSpPr>
          <p:spPr>
            <a:xfrm>
              <a:off x="9312921" y="5165215"/>
              <a:ext cx="1610537" cy="338554"/>
            </a:xfrm>
            <a:prstGeom prst="rect">
              <a:avLst/>
            </a:prstGeom>
            <a:noFill/>
          </p:spPr>
          <p:txBody>
            <a:bodyPr wrap="square" rtlCol="0">
              <a:spAutoFit/>
            </a:bodyPr>
            <a:lstStyle/>
            <a:p>
              <a:r>
                <a:rPr lang="en-US" sz="1600" dirty="0"/>
                <a:t>Matched load</a:t>
              </a:r>
            </a:p>
          </p:txBody>
        </p:sp>
      </p:grpSp>
      <p:grpSp>
        <p:nvGrpSpPr>
          <p:cNvPr id="60" name="Group 59">
            <a:extLst>
              <a:ext uri="{FF2B5EF4-FFF2-40B4-BE49-F238E27FC236}">
                <a16:creationId xmlns:a16="http://schemas.microsoft.com/office/drawing/2014/main" id="{A42CA2FB-4E85-354F-8351-5DD89901588E}"/>
              </a:ext>
            </a:extLst>
          </p:cNvPr>
          <p:cNvGrpSpPr/>
          <p:nvPr/>
        </p:nvGrpSpPr>
        <p:grpSpPr>
          <a:xfrm>
            <a:off x="8821085" y="921475"/>
            <a:ext cx="3071128" cy="2573135"/>
            <a:chOff x="8686800" y="673393"/>
            <a:chExt cx="3071128" cy="2350629"/>
          </a:xfrm>
        </p:grpSpPr>
        <p:grpSp>
          <p:nvGrpSpPr>
            <p:cNvPr id="61" name="Group 60">
              <a:extLst>
                <a:ext uri="{FF2B5EF4-FFF2-40B4-BE49-F238E27FC236}">
                  <a16:creationId xmlns:a16="http://schemas.microsoft.com/office/drawing/2014/main" id="{62C66BF3-C1EA-C649-8580-E6A9483EBC1F}"/>
                </a:ext>
              </a:extLst>
            </p:cNvPr>
            <p:cNvGrpSpPr/>
            <p:nvPr/>
          </p:nvGrpSpPr>
          <p:grpSpPr>
            <a:xfrm>
              <a:off x="9034368" y="1453429"/>
              <a:ext cx="543906" cy="523218"/>
              <a:chOff x="7097485" y="3684915"/>
              <a:chExt cx="548640" cy="548640"/>
            </a:xfrm>
          </p:grpSpPr>
          <p:sp>
            <p:nvSpPr>
              <p:cNvPr id="93" name="Freeform 92">
                <a:extLst>
                  <a:ext uri="{FF2B5EF4-FFF2-40B4-BE49-F238E27FC236}">
                    <a16:creationId xmlns:a16="http://schemas.microsoft.com/office/drawing/2014/main" id="{CE852FCB-C71E-6941-97AD-3F12F9BC103F}"/>
                  </a:ext>
                </a:extLst>
              </p:cNvPr>
              <p:cNvSpPr/>
              <p:nvPr/>
            </p:nvSpPr>
            <p:spPr>
              <a:xfrm>
                <a:off x="7196744" y="3814776"/>
                <a:ext cx="294626" cy="299873"/>
              </a:xfrm>
              <a:custGeom>
                <a:avLst/>
                <a:gdLst>
                  <a:gd name="connsiteX0" fmla="*/ 0 w 586788"/>
                  <a:gd name="connsiteY0" fmla="*/ 227323 h 399320"/>
                  <a:gd name="connsiteX1" fmla="*/ 255182 w 586788"/>
                  <a:gd name="connsiteY1" fmla="*/ 4039 h 399320"/>
                  <a:gd name="connsiteX2" fmla="*/ 361507 w 586788"/>
                  <a:gd name="connsiteY2" fmla="*/ 397443 h 399320"/>
                  <a:gd name="connsiteX3" fmla="*/ 574158 w 586788"/>
                  <a:gd name="connsiteY3" fmla="*/ 152895 h 399320"/>
                  <a:gd name="connsiteX4" fmla="*/ 563526 w 586788"/>
                  <a:gd name="connsiteY4" fmla="*/ 152895 h 399320"/>
                  <a:gd name="connsiteX5" fmla="*/ 563526 w 586788"/>
                  <a:gd name="connsiteY5" fmla="*/ 152895 h 399320"/>
                  <a:gd name="connsiteX6" fmla="*/ 574158 w 586788"/>
                  <a:gd name="connsiteY6" fmla="*/ 152895 h 399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6788" h="399320">
                    <a:moveTo>
                      <a:pt x="0" y="227323"/>
                    </a:moveTo>
                    <a:cubicBezTo>
                      <a:pt x="97465" y="101504"/>
                      <a:pt x="194931" y="-24314"/>
                      <a:pt x="255182" y="4039"/>
                    </a:cubicBezTo>
                    <a:cubicBezTo>
                      <a:pt x="315433" y="32392"/>
                      <a:pt x="308344" y="372634"/>
                      <a:pt x="361507" y="397443"/>
                    </a:cubicBezTo>
                    <a:cubicBezTo>
                      <a:pt x="414670" y="422252"/>
                      <a:pt x="540488" y="193653"/>
                      <a:pt x="574158" y="152895"/>
                    </a:cubicBezTo>
                    <a:cubicBezTo>
                      <a:pt x="607828" y="112137"/>
                      <a:pt x="563526" y="152895"/>
                      <a:pt x="563526" y="152895"/>
                    </a:cubicBezTo>
                    <a:lnTo>
                      <a:pt x="563526" y="152895"/>
                    </a:lnTo>
                    <a:lnTo>
                      <a:pt x="574158" y="152895"/>
                    </a:lnTo>
                  </a:path>
                </a:pathLst>
              </a:custGeom>
              <a:no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tlCol="0" anchor="ctr"/>
              <a:lstStyle/>
              <a:p>
                <a:pPr algn="ctr"/>
                <a:endParaRPr lang="en-US"/>
              </a:p>
            </p:txBody>
          </p:sp>
          <p:sp>
            <p:nvSpPr>
              <p:cNvPr id="94" name="Oval 93">
                <a:extLst>
                  <a:ext uri="{FF2B5EF4-FFF2-40B4-BE49-F238E27FC236}">
                    <a16:creationId xmlns:a16="http://schemas.microsoft.com/office/drawing/2014/main" id="{C3CB1B2E-0205-2947-9EBB-4D91B8E70691}"/>
                  </a:ext>
                </a:extLst>
              </p:cNvPr>
              <p:cNvSpPr/>
              <p:nvPr/>
            </p:nvSpPr>
            <p:spPr>
              <a:xfrm>
                <a:off x="7097485" y="3684915"/>
                <a:ext cx="548640" cy="548640"/>
              </a:xfrm>
              <a:prstGeom prst="ellipse">
                <a:avLst/>
              </a:prstGeom>
              <a:no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a:solidFill>
                    <a:srgbClr val="000000"/>
                  </a:solidFill>
                  <a:latin typeface="Calibri"/>
                  <a:ea typeface="Calibri"/>
                  <a:cs typeface="Calibri"/>
                  <a:sym typeface="Calibri"/>
                </a:endParaRPr>
              </a:p>
            </p:txBody>
          </p:sp>
        </p:grpSp>
        <p:sp>
          <p:nvSpPr>
            <p:cNvPr id="62" name="Freeform 61">
              <a:extLst>
                <a:ext uri="{FF2B5EF4-FFF2-40B4-BE49-F238E27FC236}">
                  <a16:creationId xmlns:a16="http://schemas.microsoft.com/office/drawing/2014/main" id="{D6CE00C5-9F93-1642-8FDF-0F70267B996C}"/>
                </a:ext>
              </a:extLst>
            </p:cNvPr>
            <p:cNvSpPr>
              <a:spLocks noChangeAspect="1"/>
            </p:cNvSpPr>
            <p:nvPr/>
          </p:nvSpPr>
          <p:spPr bwMode="auto">
            <a:xfrm>
              <a:off x="9236721" y="681597"/>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63" name="Group 210">
              <a:extLst>
                <a:ext uri="{FF2B5EF4-FFF2-40B4-BE49-F238E27FC236}">
                  <a16:creationId xmlns:a16="http://schemas.microsoft.com/office/drawing/2014/main" id="{364391BB-3969-4B46-A0BA-1402707DCCE4}"/>
                </a:ext>
              </a:extLst>
            </p:cNvPr>
            <p:cNvGrpSpPr>
              <a:grpSpLocks/>
            </p:cNvGrpSpPr>
            <p:nvPr/>
          </p:nvGrpSpPr>
          <p:grpSpPr bwMode="auto">
            <a:xfrm>
              <a:off x="10987780" y="1381232"/>
              <a:ext cx="304800" cy="762000"/>
              <a:chOff x="3216" y="1728"/>
              <a:chExt cx="192" cy="480"/>
            </a:xfrm>
          </p:grpSpPr>
          <p:sp>
            <p:nvSpPr>
              <p:cNvPr id="89" name="Line 8">
                <a:extLst>
                  <a:ext uri="{FF2B5EF4-FFF2-40B4-BE49-F238E27FC236}">
                    <a16:creationId xmlns:a16="http://schemas.microsoft.com/office/drawing/2014/main" id="{462ADA07-9548-9249-B347-5FEE243457E6}"/>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 name="Line 9">
                <a:extLst>
                  <a:ext uri="{FF2B5EF4-FFF2-40B4-BE49-F238E27FC236}">
                    <a16:creationId xmlns:a16="http://schemas.microsoft.com/office/drawing/2014/main" id="{F205C11C-B5A3-D34F-A111-8A8F8E8B0C1B}"/>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 name="Line 10">
                <a:extLst>
                  <a:ext uri="{FF2B5EF4-FFF2-40B4-BE49-F238E27FC236}">
                    <a16:creationId xmlns:a16="http://schemas.microsoft.com/office/drawing/2014/main" id="{77AC6B93-C360-6144-A63E-43F37E26977A}"/>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 name="Line 11">
                <a:extLst>
                  <a:ext uri="{FF2B5EF4-FFF2-40B4-BE49-F238E27FC236}">
                    <a16:creationId xmlns:a16="http://schemas.microsoft.com/office/drawing/2014/main" id="{6DD73DAB-803A-9F41-B8C9-E4C7F0A13E88}"/>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4" name="TextBox 63">
              <a:extLst>
                <a:ext uri="{FF2B5EF4-FFF2-40B4-BE49-F238E27FC236}">
                  <a16:creationId xmlns:a16="http://schemas.microsoft.com/office/drawing/2014/main" id="{00B4EE1C-65F2-FC48-8EAC-286D3722853E}"/>
                </a:ext>
              </a:extLst>
            </p:cNvPr>
            <p:cNvSpPr txBox="1"/>
            <p:nvPr/>
          </p:nvSpPr>
          <p:spPr>
            <a:xfrm>
              <a:off x="10737935" y="1599146"/>
              <a:ext cx="304797"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latin typeface="Calibri"/>
                  <a:ea typeface="Calibri"/>
                  <a:cs typeface="Calibri"/>
                  <a:sym typeface="Calibri"/>
                </a:rPr>
                <a:t>C</a:t>
              </a:r>
            </a:p>
          </p:txBody>
        </p:sp>
        <p:sp>
          <p:nvSpPr>
            <p:cNvPr id="65" name="TextBox 64">
              <a:extLst>
                <a:ext uri="{FF2B5EF4-FFF2-40B4-BE49-F238E27FC236}">
                  <a16:creationId xmlns:a16="http://schemas.microsoft.com/office/drawing/2014/main" id="{43BEE2E7-E539-4642-9037-29E79587E0C0}"/>
                </a:ext>
              </a:extLst>
            </p:cNvPr>
            <p:cNvSpPr txBox="1"/>
            <p:nvPr/>
          </p:nvSpPr>
          <p:spPr>
            <a:xfrm>
              <a:off x="9442665" y="915576"/>
              <a:ext cx="304797"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R</a:t>
              </a:r>
              <a:endParaRPr lang="en-US" sz="1600" dirty="0">
                <a:solidFill>
                  <a:srgbClr val="000000"/>
                </a:solidFill>
                <a:latin typeface="Calibri"/>
                <a:ea typeface="Calibri"/>
                <a:cs typeface="Calibri"/>
                <a:sym typeface="Calibri"/>
              </a:endParaRPr>
            </a:p>
          </p:txBody>
        </p:sp>
        <p:cxnSp>
          <p:nvCxnSpPr>
            <p:cNvPr id="66" name="Straight Connector 65">
              <a:extLst>
                <a:ext uri="{FF2B5EF4-FFF2-40B4-BE49-F238E27FC236}">
                  <a16:creationId xmlns:a16="http://schemas.microsoft.com/office/drawing/2014/main" id="{CE914EDE-C56E-FC4C-AE7A-966A9B367B99}"/>
                </a:ext>
              </a:extLst>
            </p:cNvPr>
            <p:cNvCxnSpPr>
              <a:cxnSpLocks/>
            </p:cNvCxnSpPr>
            <p:nvPr/>
          </p:nvCxnSpPr>
          <p:spPr>
            <a:xfrm flipH="1">
              <a:off x="9314423" y="1975661"/>
              <a:ext cx="1" cy="507286"/>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67" name="Straight Connector 66">
              <a:extLst>
                <a:ext uri="{FF2B5EF4-FFF2-40B4-BE49-F238E27FC236}">
                  <a16:creationId xmlns:a16="http://schemas.microsoft.com/office/drawing/2014/main" id="{A9F33983-3991-2D47-9FCC-25639859EED8}"/>
                </a:ext>
              </a:extLst>
            </p:cNvPr>
            <p:cNvCxnSpPr>
              <a:cxnSpLocks/>
            </p:cNvCxnSpPr>
            <p:nvPr/>
          </p:nvCxnSpPr>
          <p:spPr>
            <a:xfrm flipH="1" flipV="1">
              <a:off x="9312922" y="2482948"/>
              <a:ext cx="1825141" cy="14735"/>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68" name="Straight Connector 67">
              <a:extLst>
                <a:ext uri="{FF2B5EF4-FFF2-40B4-BE49-F238E27FC236}">
                  <a16:creationId xmlns:a16="http://schemas.microsoft.com/office/drawing/2014/main" id="{330D29DE-AC0B-4043-8C26-BFA7BCB22A67}"/>
                </a:ext>
              </a:extLst>
            </p:cNvPr>
            <p:cNvCxnSpPr>
              <a:cxnSpLocks/>
            </p:cNvCxnSpPr>
            <p:nvPr/>
          </p:nvCxnSpPr>
          <p:spPr>
            <a:xfrm flipH="1" flipV="1">
              <a:off x="9306321" y="673393"/>
              <a:ext cx="1825141" cy="14735"/>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69" name="Group 209">
              <a:extLst>
                <a:ext uri="{FF2B5EF4-FFF2-40B4-BE49-F238E27FC236}">
                  <a16:creationId xmlns:a16="http://schemas.microsoft.com/office/drawing/2014/main" id="{673F33EC-4154-9446-B4BD-7588EE1E89B9}"/>
                </a:ext>
              </a:extLst>
            </p:cNvPr>
            <p:cNvGrpSpPr>
              <a:grpSpLocks/>
            </p:cNvGrpSpPr>
            <p:nvPr/>
          </p:nvGrpSpPr>
          <p:grpSpPr bwMode="auto">
            <a:xfrm>
              <a:off x="11061863" y="676625"/>
              <a:ext cx="152400" cy="762000"/>
              <a:chOff x="3935" y="1728"/>
              <a:chExt cx="96" cy="480"/>
            </a:xfrm>
          </p:grpSpPr>
          <p:sp>
            <p:nvSpPr>
              <p:cNvPr id="76" name="Arc 59">
                <a:extLst>
                  <a:ext uri="{FF2B5EF4-FFF2-40B4-BE49-F238E27FC236}">
                    <a16:creationId xmlns:a16="http://schemas.microsoft.com/office/drawing/2014/main" id="{2FF422EF-E1D0-284B-B3CD-64206AC64D63}"/>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7" name="Arc 60">
                <a:extLst>
                  <a:ext uri="{FF2B5EF4-FFF2-40B4-BE49-F238E27FC236}">
                    <a16:creationId xmlns:a16="http://schemas.microsoft.com/office/drawing/2014/main" id="{D0FB3849-8D23-CA44-89B3-C8CDEC1AEC35}"/>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8" name="Arc 61">
                <a:extLst>
                  <a:ext uri="{FF2B5EF4-FFF2-40B4-BE49-F238E27FC236}">
                    <a16:creationId xmlns:a16="http://schemas.microsoft.com/office/drawing/2014/main" id="{02C76EF2-BE20-0B40-BB97-891013E2DD31}"/>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9" name="Arc 62">
                <a:extLst>
                  <a:ext uri="{FF2B5EF4-FFF2-40B4-BE49-F238E27FC236}">
                    <a16:creationId xmlns:a16="http://schemas.microsoft.com/office/drawing/2014/main" id="{2690D9F6-955A-1641-A544-AFDCAD18D9F9}"/>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0" name="Line 63">
                <a:extLst>
                  <a:ext uri="{FF2B5EF4-FFF2-40B4-BE49-F238E27FC236}">
                    <a16:creationId xmlns:a16="http://schemas.microsoft.com/office/drawing/2014/main" id="{85FA0C01-6BE6-FA4C-B654-25696042EF60}"/>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 name="Line 64">
                <a:extLst>
                  <a:ext uri="{FF2B5EF4-FFF2-40B4-BE49-F238E27FC236}">
                    <a16:creationId xmlns:a16="http://schemas.microsoft.com/office/drawing/2014/main" id="{F5A7C17F-5320-914E-9836-3AC268AD39F1}"/>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 name="Arc 65">
                <a:extLst>
                  <a:ext uri="{FF2B5EF4-FFF2-40B4-BE49-F238E27FC236}">
                    <a16:creationId xmlns:a16="http://schemas.microsoft.com/office/drawing/2014/main" id="{6A7E181A-F346-0F4F-884C-D37B31BA85F5}"/>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3" name="Arc 66">
                <a:extLst>
                  <a:ext uri="{FF2B5EF4-FFF2-40B4-BE49-F238E27FC236}">
                    <a16:creationId xmlns:a16="http://schemas.microsoft.com/office/drawing/2014/main" id="{2CFB708A-3A2D-2041-A5C7-A8C6E186D7D7}"/>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4" name="Arc 67">
                <a:extLst>
                  <a:ext uri="{FF2B5EF4-FFF2-40B4-BE49-F238E27FC236}">
                    <a16:creationId xmlns:a16="http://schemas.microsoft.com/office/drawing/2014/main" id="{99179428-D2DB-D644-BA0D-FB39A04319A4}"/>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5" name="Arc 68">
                <a:extLst>
                  <a:ext uri="{FF2B5EF4-FFF2-40B4-BE49-F238E27FC236}">
                    <a16:creationId xmlns:a16="http://schemas.microsoft.com/office/drawing/2014/main" id="{C3F96FF0-8AF6-F94C-A6A1-68586C39C1A2}"/>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6" name="Arc 69">
                <a:extLst>
                  <a:ext uri="{FF2B5EF4-FFF2-40B4-BE49-F238E27FC236}">
                    <a16:creationId xmlns:a16="http://schemas.microsoft.com/office/drawing/2014/main" id="{E64AEF41-32C4-734C-8DC9-59C9FDC946E9}"/>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7" name="Arc 70">
                <a:extLst>
                  <a:ext uri="{FF2B5EF4-FFF2-40B4-BE49-F238E27FC236}">
                    <a16:creationId xmlns:a16="http://schemas.microsoft.com/office/drawing/2014/main" id="{D2149ABB-0640-A94B-8E28-782391C70FCE}"/>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8" name="Arc 71">
                <a:extLst>
                  <a:ext uri="{FF2B5EF4-FFF2-40B4-BE49-F238E27FC236}">
                    <a16:creationId xmlns:a16="http://schemas.microsoft.com/office/drawing/2014/main" id="{E7583F5A-F234-E049-881F-D5EDC0226353}"/>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cxnSp>
          <p:nvCxnSpPr>
            <p:cNvPr id="70" name="Straight Connector 69">
              <a:extLst>
                <a:ext uri="{FF2B5EF4-FFF2-40B4-BE49-F238E27FC236}">
                  <a16:creationId xmlns:a16="http://schemas.microsoft.com/office/drawing/2014/main" id="{66DBB91D-9C63-B045-AB85-37EE461C2CA1}"/>
                </a:ext>
              </a:extLst>
            </p:cNvPr>
            <p:cNvCxnSpPr>
              <a:cxnSpLocks/>
            </p:cNvCxnSpPr>
            <p:nvPr/>
          </p:nvCxnSpPr>
          <p:spPr>
            <a:xfrm flipV="1">
              <a:off x="11137278" y="2110408"/>
              <a:ext cx="1" cy="390482"/>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71" name="TextBox 70">
              <a:extLst>
                <a:ext uri="{FF2B5EF4-FFF2-40B4-BE49-F238E27FC236}">
                  <a16:creationId xmlns:a16="http://schemas.microsoft.com/office/drawing/2014/main" id="{39CC439C-DE47-514E-AF96-1B9E87544587}"/>
                </a:ext>
              </a:extLst>
            </p:cNvPr>
            <p:cNvSpPr txBox="1"/>
            <p:nvPr/>
          </p:nvSpPr>
          <p:spPr>
            <a:xfrm>
              <a:off x="10762647" y="863371"/>
              <a:ext cx="304797"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latin typeface="Calibri"/>
                  <a:ea typeface="Calibri"/>
                  <a:cs typeface="Calibri"/>
                  <a:sym typeface="Calibri"/>
                </a:rPr>
                <a:t>L</a:t>
              </a:r>
            </a:p>
          </p:txBody>
        </p:sp>
        <p:sp>
          <p:nvSpPr>
            <p:cNvPr id="72" name="TextBox 71">
              <a:extLst>
                <a:ext uri="{FF2B5EF4-FFF2-40B4-BE49-F238E27FC236}">
                  <a16:creationId xmlns:a16="http://schemas.microsoft.com/office/drawing/2014/main" id="{F23F8D74-F692-E84E-843D-FFA55F88A626}"/>
                </a:ext>
              </a:extLst>
            </p:cNvPr>
            <p:cNvSpPr txBox="1"/>
            <p:nvPr/>
          </p:nvSpPr>
          <p:spPr>
            <a:xfrm>
              <a:off x="11390028" y="1598397"/>
              <a:ext cx="367900"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latin typeface="Calibri"/>
                  <a:ea typeface="Calibri"/>
                  <a:cs typeface="Calibri"/>
                  <a:sym typeface="Calibri"/>
                </a:rPr>
                <a:t>V</a:t>
              </a:r>
              <a:r>
                <a:rPr lang="en-US" sz="1600" baseline="-25000" dirty="0">
                  <a:solidFill>
                    <a:srgbClr val="000000"/>
                  </a:solidFill>
                  <a:latin typeface="Calibri"/>
                  <a:ea typeface="Calibri"/>
                  <a:cs typeface="Calibri"/>
                  <a:sym typeface="Calibri"/>
                </a:rPr>
                <a:t>C</a:t>
              </a:r>
            </a:p>
          </p:txBody>
        </p:sp>
        <p:sp>
          <p:nvSpPr>
            <p:cNvPr id="73" name="TextBox 72">
              <a:extLst>
                <a:ext uri="{FF2B5EF4-FFF2-40B4-BE49-F238E27FC236}">
                  <a16:creationId xmlns:a16="http://schemas.microsoft.com/office/drawing/2014/main" id="{DC6C8AC2-C758-9D41-A11A-19F8C55F7610}"/>
                </a:ext>
              </a:extLst>
            </p:cNvPr>
            <p:cNvSpPr txBox="1"/>
            <p:nvPr/>
          </p:nvSpPr>
          <p:spPr>
            <a:xfrm>
              <a:off x="8686800" y="1481359"/>
              <a:ext cx="395690"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err="1">
                  <a:solidFill>
                    <a:srgbClr val="000000"/>
                  </a:solidFill>
                  <a:latin typeface="Calibri"/>
                  <a:ea typeface="Calibri"/>
                  <a:cs typeface="Calibri"/>
                  <a:sym typeface="Calibri"/>
                </a:rPr>
                <a:t>V</a:t>
              </a:r>
              <a:r>
                <a:rPr lang="en-US" sz="1600" baseline="-25000" dirty="0" err="1">
                  <a:solidFill>
                    <a:srgbClr val="000000"/>
                  </a:solidFill>
                  <a:latin typeface="Calibri"/>
                  <a:ea typeface="Calibri"/>
                  <a:cs typeface="Calibri"/>
                  <a:sym typeface="Calibri"/>
                </a:rPr>
                <a:t>n</a:t>
              </a:r>
              <a:endParaRPr lang="en-US" sz="1600" baseline="-25000" dirty="0">
                <a:solidFill>
                  <a:srgbClr val="000000"/>
                </a:solidFill>
                <a:latin typeface="Calibri"/>
                <a:ea typeface="Calibri"/>
                <a:cs typeface="Calibri"/>
                <a:sym typeface="Calibri"/>
              </a:endParaRPr>
            </a:p>
          </p:txBody>
        </p:sp>
        <p:sp>
          <p:nvSpPr>
            <p:cNvPr id="74" name="Oval 73">
              <a:extLst>
                <a:ext uri="{FF2B5EF4-FFF2-40B4-BE49-F238E27FC236}">
                  <a16:creationId xmlns:a16="http://schemas.microsoft.com/office/drawing/2014/main" id="{C687DB53-B4A9-F64F-9C39-CDD140963F48}"/>
                </a:ext>
              </a:extLst>
            </p:cNvPr>
            <p:cNvSpPr/>
            <p:nvPr/>
          </p:nvSpPr>
          <p:spPr>
            <a:xfrm>
              <a:off x="11093138" y="1441574"/>
              <a:ext cx="8542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5" name="TextBox 74">
              <a:extLst>
                <a:ext uri="{FF2B5EF4-FFF2-40B4-BE49-F238E27FC236}">
                  <a16:creationId xmlns:a16="http://schemas.microsoft.com/office/drawing/2014/main" id="{ABCFFFFC-FDB9-E34B-8904-2B91AA6DE077}"/>
                </a:ext>
              </a:extLst>
            </p:cNvPr>
            <p:cNvSpPr txBox="1"/>
            <p:nvPr/>
          </p:nvSpPr>
          <p:spPr>
            <a:xfrm>
              <a:off x="8845561" y="2714744"/>
              <a:ext cx="2446696" cy="309278"/>
            </a:xfrm>
            <a:prstGeom prst="rect">
              <a:avLst/>
            </a:prstGeom>
            <a:noFill/>
          </p:spPr>
          <p:txBody>
            <a:bodyPr wrap="square" rtlCol="0">
              <a:spAutoFit/>
            </a:bodyPr>
            <a:lstStyle/>
            <a:p>
              <a:r>
                <a:rPr lang="en-US" sz="1600" dirty="0"/>
                <a:t>Noise model for Nyquist</a:t>
              </a:r>
            </a:p>
          </p:txBody>
        </p:sp>
      </p:grpSp>
      <p:sp>
        <p:nvSpPr>
          <p:cNvPr id="2" name="Slide Number Placeholder 2">
            <a:extLst>
              <a:ext uri="{FF2B5EF4-FFF2-40B4-BE49-F238E27FC236}">
                <a16:creationId xmlns:a16="http://schemas.microsoft.com/office/drawing/2014/main" id="{67BFC7FE-359F-AA90-ADEF-624415BAA05F}"/>
              </a:ext>
            </a:extLst>
          </p:cNvPr>
          <p:cNvSpPr txBox="1">
            <a:spLocks/>
          </p:cNvSpPr>
          <p:nvPr/>
        </p:nvSpPr>
        <p:spPr>
          <a:xfrm>
            <a:off x="9685831" y="6481378"/>
            <a:ext cx="2133600" cy="276999"/>
          </a:xfrm>
          <a:prstGeom prst="rect">
            <a:avLst/>
          </a:prstGeom>
          <a:ln w="12700">
            <a:miter lim="400000"/>
          </a:ln>
        </p:spPr>
        <p:txBody>
          <a:bodyPr lIns="45719" rIns="45719" anchor="ctr">
            <a:spAutoFit/>
          </a:bodyPr>
          <a:lstStyle>
            <a:defPPr>
              <a:defRPr lang="en-US"/>
            </a:defPPr>
            <a:lvl1pPr marL="0" algn="r" defTabSz="457200" rtl="0" eaLnBrk="1" latinLnBrk="0" hangingPunct="1">
              <a:defRPr sz="1200" kern="1200">
                <a:solidFill>
                  <a:srgbClr val="888888"/>
                </a:solidFill>
                <a:latin typeface="Calibri"/>
                <a:ea typeface="Calibri"/>
                <a:cs typeface="Calibri"/>
                <a:sym typeface="Calibri"/>
              </a:defRPr>
            </a:lvl1pPr>
            <a:lvl2pPr marL="457200" indent="457200" algn="l" defTabSz="457200" rtl="0" eaLnBrk="1" latinLnBrk="0" hangingPunct="1">
              <a:defRPr sz="1800" kern="1200">
                <a:solidFill>
                  <a:schemeClr val="tx1"/>
                </a:solidFill>
                <a:latin typeface="Calibri"/>
                <a:ea typeface="Calibri"/>
                <a:cs typeface="Calibri"/>
                <a:sym typeface="Calibri"/>
              </a:defRPr>
            </a:lvl2pPr>
            <a:lvl3pPr marL="914400" indent="914400" algn="l" defTabSz="457200" rtl="0" eaLnBrk="1" latinLnBrk="0" hangingPunct="1">
              <a:defRPr sz="1800" kern="1200">
                <a:solidFill>
                  <a:schemeClr val="tx1"/>
                </a:solidFill>
                <a:latin typeface="Calibri"/>
                <a:ea typeface="Calibri"/>
                <a:cs typeface="Calibri"/>
                <a:sym typeface="Calibri"/>
              </a:defRPr>
            </a:lvl3pPr>
            <a:lvl4pPr marL="1371600" indent="1371600" algn="l" defTabSz="457200" rtl="0" eaLnBrk="1" latinLnBrk="0" hangingPunct="1">
              <a:defRPr sz="1800" kern="1200">
                <a:solidFill>
                  <a:schemeClr val="tx1"/>
                </a:solidFill>
                <a:latin typeface="Calibri"/>
                <a:ea typeface="Calibri"/>
                <a:cs typeface="Calibri"/>
                <a:sym typeface="Calibri"/>
              </a:defRPr>
            </a:lvl4pPr>
            <a:lvl5pPr marL="1828800" indent="1828800" algn="l" defTabSz="457200" rtl="0" eaLnBrk="1" latinLnBrk="0" hangingPunct="1">
              <a:defRPr sz="1800" kern="1200">
                <a:solidFill>
                  <a:schemeClr val="tx1"/>
                </a:solidFill>
                <a:latin typeface="Calibri"/>
                <a:ea typeface="Calibri"/>
                <a:cs typeface="Calibri"/>
                <a:sym typeface="Calibri"/>
              </a:defRPr>
            </a:lvl5pPr>
            <a:lvl6pPr marL="2286000" indent="2286000" algn="l" defTabSz="457200" rtl="0" eaLnBrk="1" latinLnBrk="0" hangingPunct="1">
              <a:defRPr sz="1800" kern="1200">
                <a:solidFill>
                  <a:schemeClr val="tx1"/>
                </a:solidFill>
                <a:latin typeface="Calibri"/>
                <a:ea typeface="Calibri"/>
                <a:cs typeface="Calibri"/>
                <a:sym typeface="Calibri"/>
              </a:defRPr>
            </a:lvl6pPr>
            <a:lvl7pPr marL="2743200" indent="2743200" algn="l" defTabSz="457200" rtl="0" eaLnBrk="1" latinLnBrk="0" hangingPunct="1">
              <a:defRPr sz="1800" kern="1200">
                <a:solidFill>
                  <a:schemeClr val="tx1"/>
                </a:solidFill>
                <a:latin typeface="Calibri"/>
                <a:ea typeface="Calibri"/>
                <a:cs typeface="Calibri"/>
                <a:sym typeface="Calibri"/>
              </a:defRPr>
            </a:lvl7pPr>
            <a:lvl8pPr marL="3200400" indent="3200400" algn="l" defTabSz="457200" rtl="0" eaLnBrk="1" latinLnBrk="0" hangingPunct="1">
              <a:defRPr sz="1800" kern="1200">
                <a:solidFill>
                  <a:schemeClr val="tx1"/>
                </a:solidFill>
                <a:latin typeface="Calibri"/>
                <a:ea typeface="Calibri"/>
                <a:cs typeface="Calibri"/>
                <a:sym typeface="Calibri"/>
              </a:defRPr>
            </a:lvl8pPr>
            <a:lvl9pPr marL="3657600" indent="3657600" algn="l" defTabSz="457200" rtl="0" eaLnBrk="1" latinLnBrk="0" hangingPunct="1">
              <a:defRPr sz="1800" kern="1200">
                <a:solidFill>
                  <a:schemeClr val="tx1"/>
                </a:solidFill>
                <a:latin typeface="Calibri"/>
                <a:ea typeface="Calibri"/>
                <a:cs typeface="Calibri"/>
                <a:sym typeface="Calibri"/>
              </a:defRPr>
            </a:lvl9pPr>
          </a:lstStyle>
          <a:p>
            <a:fld id="{86CB4B4D-7CA3-9044-876B-883B54F8677D}" type="slidenum">
              <a:rPr lang="en-US" smtClean="0">
                <a:solidFill>
                  <a:schemeClr val="tx1"/>
                </a:solidFill>
              </a:rPr>
              <a:pPr/>
              <a:t>3</a:t>
            </a:fld>
            <a:endParaRPr lang="en-US" dirty="0">
              <a:solidFill>
                <a:schemeClr val="tx1"/>
              </a:solidFill>
            </a:endParaRPr>
          </a:p>
        </p:txBody>
      </p:sp>
    </p:spTree>
    <p:extLst>
      <p:ext uri="{BB962C8B-B14F-4D97-AF65-F5344CB8AC3E}">
        <p14:creationId xmlns:p14="http://schemas.microsoft.com/office/powerpoint/2010/main" val="1003072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271153" y="241267"/>
            <a:ext cx="11649694"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System noise</a:t>
            </a:r>
            <a:endParaRPr sz="44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571085" y="1478602"/>
                <a:ext cx="10564635" cy="454554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285750" indent="-285750" hangingPunct="0">
                  <a:buFont typeface="Arial" panose="020B0604020202020204" pitchFamily="34" charset="0"/>
                  <a:buChar char="•"/>
                </a:pPr>
                <a:r>
                  <a:rPr lang="en-US" sz="2000" b="0" dirty="0">
                    <a:solidFill>
                      <a:srgbClr val="000000"/>
                    </a:solidFill>
                    <a:ea typeface="Calibri"/>
                    <a:cs typeface="Calibri"/>
                    <a:sym typeface="Calibri"/>
                  </a:rPr>
                  <a:t>Attenuator (and filter) noise</a:t>
                </a:r>
              </a:p>
              <a:p>
                <a:pPr marL="742950" lvl="1" indent="-285750"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𝑁</m:t>
                        </m:r>
                      </m:e>
                      <m:sub>
                        <m:r>
                          <a:rPr lang="en-US" sz="2000" b="0" i="1" smtClean="0">
                            <a:solidFill>
                              <a:srgbClr val="000000"/>
                            </a:solidFill>
                            <a:latin typeface="Cambria Math" panose="02040503050406030204" pitchFamily="18" charset="0"/>
                            <a:cs typeface="Calibri"/>
                            <a:sym typeface="Calibri"/>
                          </a:rPr>
                          <m:t>𝑎</m:t>
                        </m:r>
                      </m:sub>
                    </m:sSub>
                    <m:r>
                      <a:rPr lang="en-US" sz="2000" b="0" i="1" smtClean="0">
                        <a:solidFill>
                          <a:srgbClr val="000000"/>
                        </a:solidFill>
                        <a:latin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cs typeface="Calibri"/>
                        <a:sym typeface="Calibri"/>
                      </a:rPr>
                      <m:t>𝑘𝑇</m:t>
                    </m:r>
                    <m:d>
                      <m:dPr>
                        <m:ctrlPr>
                          <a:rPr lang="en-US" sz="2000" b="0" i="1" smtClean="0">
                            <a:solidFill>
                              <a:srgbClr val="000000"/>
                            </a:solidFill>
                            <a:latin typeface="Cambria Math" panose="02040503050406030204" pitchFamily="18" charset="0"/>
                            <a:cs typeface="Calibri"/>
                            <a:sym typeface="Calibri"/>
                          </a:rPr>
                        </m:ctrlPr>
                      </m:dPr>
                      <m:e>
                        <m:r>
                          <a:rPr lang="en-US" sz="2000" b="0" i="1" smtClean="0">
                            <a:solidFill>
                              <a:srgbClr val="000000"/>
                            </a:solidFill>
                            <a:latin typeface="Cambria Math" panose="02040503050406030204" pitchFamily="18" charset="0"/>
                            <a:cs typeface="Calibri"/>
                            <a:sym typeface="Calibri"/>
                          </a:rPr>
                          <m:t>1−</m:t>
                        </m:r>
                        <m:f>
                          <m:fPr>
                            <m:ctrlPr>
                              <a:rPr lang="en-US" sz="2000" b="0" i="1" smtClean="0">
                                <a:solidFill>
                                  <a:srgbClr val="000000"/>
                                </a:solidFill>
                                <a:latin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cs typeface="Calibri"/>
                                <a:sym typeface="Calibri"/>
                              </a:rPr>
                              <m:t>1</m:t>
                            </m:r>
                          </m:num>
                          <m:den>
                            <m:r>
                              <a:rPr lang="en-US" sz="2000" b="0" i="1" smtClean="0">
                                <a:solidFill>
                                  <a:srgbClr val="000000"/>
                                </a:solidFill>
                                <a:latin typeface="Cambria Math" panose="02040503050406030204" pitchFamily="18" charset="0"/>
                                <a:cs typeface="Calibri"/>
                                <a:sym typeface="Calibri"/>
                              </a:rPr>
                              <m:t>𝐿</m:t>
                            </m:r>
                          </m:den>
                        </m:f>
                      </m:e>
                    </m:d>
                    <m:r>
                      <a:rPr lang="en-US" sz="2000" b="0" i="1" smtClean="0">
                        <a:solidFill>
                          <a:srgbClr val="000000"/>
                        </a:solidFill>
                        <a:latin typeface="Cambria Math" panose="02040503050406030204" pitchFamily="18" charset="0"/>
                        <a:cs typeface="Calibri"/>
                        <a:sym typeface="Calibri"/>
                      </a:rPr>
                      <m:t>, </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𝑇</m:t>
                        </m:r>
                      </m:e>
                      <m:sub>
                        <m:r>
                          <a:rPr lang="en-US" sz="2000" b="0" i="1" smtClean="0">
                            <a:solidFill>
                              <a:srgbClr val="000000"/>
                            </a:solidFill>
                            <a:latin typeface="Cambria Math" panose="02040503050406030204" pitchFamily="18" charset="0"/>
                            <a:cs typeface="Calibri"/>
                            <a:sym typeface="Calibri"/>
                          </a:rPr>
                          <m:t>𝑎</m:t>
                        </m:r>
                      </m:sub>
                    </m:sSub>
                    <m:r>
                      <a:rPr lang="en-US" sz="2000" b="0" i="1" smtClean="0">
                        <a:solidFill>
                          <a:srgbClr val="000000"/>
                        </a:solidFill>
                        <a:latin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cs typeface="Calibri"/>
                        <a:sym typeface="Calibri"/>
                      </a:rPr>
                      <m:t>𝑇</m:t>
                    </m:r>
                    <m:r>
                      <a:rPr lang="en-US" sz="2000" b="0" i="1" smtClean="0">
                        <a:solidFill>
                          <a:srgbClr val="000000"/>
                        </a:solidFill>
                        <a:latin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cs typeface="Calibri"/>
                        <a:sym typeface="Calibri"/>
                      </a:rPr>
                      <m:t>𝐿</m:t>
                    </m:r>
                    <m:r>
                      <a:rPr lang="en-US" sz="2000" b="0" i="1" smtClean="0">
                        <a:solidFill>
                          <a:srgbClr val="000000"/>
                        </a:solidFill>
                        <a:latin typeface="Cambria Math" panose="02040503050406030204" pitchFamily="18" charset="0"/>
                        <a:cs typeface="Calibri"/>
                        <a:sym typeface="Calibri"/>
                      </a:rPr>
                      <m:t>−1)</m:t>
                    </m:r>
                  </m:oMath>
                </a14:m>
                <a:endParaRPr lang="en-US" sz="2000" b="0" dirty="0">
                  <a:solidFill>
                    <a:srgbClr val="000000"/>
                  </a:solidFill>
                  <a:ea typeface="Calibri"/>
                  <a:cs typeface="Calibri"/>
                  <a:sym typeface="Calibri"/>
                </a:endParaRPr>
              </a:p>
              <a:p>
                <a:pPr hangingPunct="0"/>
                <a:endParaRPr lang="en-US" sz="2000" b="0" i="1" dirty="0">
                  <a:solidFill>
                    <a:srgbClr val="000000"/>
                  </a:solidFill>
                  <a:latin typeface="Cambria Math" panose="02040503050406030204" pitchFamily="18" charset="0"/>
                  <a:ea typeface="Calibri"/>
                  <a:cs typeface="Calibri"/>
                  <a:sym typeface="Calibri"/>
                </a:endParaRPr>
              </a:p>
              <a:p>
                <a:pPr marL="285750" indent="-285750" hangingPunct="0">
                  <a:buFont typeface="Arial" panose="020B0604020202020204" pitchFamily="34" charset="0"/>
                  <a:buChar char="•"/>
                </a:pPr>
                <a14:m>
                  <m:oMath xmlns:m="http://schemas.openxmlformats.org/officeDocument/2006/math">
                    <m:r>
                      <a:rPr lang="en-US" sz="2000" b="0" i="1" smtClean="0">
                        <a:solidFill>
                          <a:srgbClr val="000000"/>
                        </a:solidFill>
                        <a:latin typeface="Cambria Math" panose="02040503050406030204" pitchFamily="18" charset="0"/>
                        <a:ea typeface="Calibri"/>
                        <a:cs typeface="Calibri"/>
                        <a:sym typeface="Calibri"/>
                      </a:rPr>
                      <m:t>𝑁</m:t>
                    </m:r>
                    <m:r>
                      <a:rPr lang="en-US" sz="2000" b="0" i="1" smtClean="0">
                        <a:solidFill>
                          <a:srgbClr val="000000"/>
                        </a:solidFill>
                        <a:latin typeface="Cambria Math" panose="02040503050406030204" pitchFamily="18" charset="0"/>
                        <a:ea typeface="Calibri"/>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𝐺</m:t>
                        </m:r>
                      </m:e>
                      <m:sub>
                        <m:r>
                          <a:rPr lang="en-US" sz="2000" b="0" i="1" smtClean="0">
                            <a:solidFill>
                              <a:srgbClr val="000000"/>
                            </a:solidFill>
                            <a:latin typeface="Cambria Math" panose="02040503050406030204" pitchFamily="18" charset="0"/>
                            <a:cs typeface="Calibri"/>
                            <a:sym typeface="Calibri"/>
                          </a:rPr>
                          <m:t>3</m:t>
                        </m:r>
                      </m:sub>
                    </m:sSub>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𝐺</m:t>
                        </m:r>
                      </m:e>
                      <m:sub>
                        <m:r>
                          <a:rPr lang="en-US" sz="2000" b="0" i="1" smtClean="0">
                            <a:solidFill>
                              <a:srgbClr val="000000"/>
                            </a:solidFill>
                            <a:latin typeface="Cambria Math" panose="02040503050406030204" pitchFamily="18" charset="0"/>
                            <a:cs typeface="Calibri"/>
                            <a:sym typeface="Calibri"/>
                          </a:rPr>
                          <m:t>2</m:t>
                        </m:r>
                      </m:sub>
                    </m:sSub>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𝐺</m:t>
                        </m:r>
                      </m:e>
                      <m:sub>
                        <m:r>
                          <a:rPr lang="en-US" sz="2000" b="0" i="1" smtClean="0">
                            <a:solidFill>
                              <a:srgbClr val="000000"/>
                            </a:solidFill>
                            <a:latin typeface="Cambria Math" panose="02040503050406030204" pitchFamily="18" charset="0"/>
                            <a:cs typeface="Calibri"/>
                            <a:sym typeface="Calibri"/>
                          </a:rPr>
                          <m:t>1</m:t>
                        </m:r>
                      </m:sub>
                    </m:sSub>
                    <m:r>
                      <a:rPr lang="en-US" sz="2000" b="0" i="1" smtClean="0">
                        <a:solidFill>
                          <a:srgbClr val="000000"/>
                        </a:solidFill>
                        <a:latin typeface="Cambria Math" panose="02040503050406030204" pitchFamily="18" charset="0"/>
                        <a:cs typeface="Calibri"/>
                        <a:sym typeface="Calibri"/>
                      </a:rPr>
                      <m:t>𝑘</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𝑇</m:t>
                        </m:r>
                      </m:e>
                      <m:sub>
                        <m:r>
                          <a:rPr lang="en-US" sz="2000" b="0" i="1" smtClean="0">
                            <a:solidFill>
                              <a:srgbClr val="000000"/>
                            </a:solidFill>
                            <a:latin typeface="Cambria Math" panose="02040503050406030204" pitchFamily="18" charset="0"/>
                            <a:cs typeface="Calibri"/>
                            <a:sym typeface="Calibri"/>
                          </a:rPr>
                          <m:t>𝑎</m:t>
                        </m:r>
                      </m:sub>
                    </m:sSub>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𝐺</m:t>
                        </m:r>
                      </m:e>
                      <m:sub>
                        <m:r>
                          <a:rPr lang="en-US" sz="2000" b="0" i="1" smtClean="0">
                            <a:solidFill>
                              <a:srgbClr val="000000"/>
                            </a:solidFill>
                            <a:latin typeface="Cambria Math" panose="02040503050406030204" pitchFamily="18" charset="0"/>
                            <a:cs typeface="Calibri"/>
                            <a:sym typeface="Calibri"/>
                          </a:rPr>
                          <m:t>2</m:t>
                        </m:r>
                      </m:sub>
                    </m:sSub>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𝐺</m:t>
                        </m:r>
                      </m:e>
                      <m:sub>
                        <m:r>
                          <a:rPr lang="en-US" sz="2000" b="0" i="1" smtClean="0">
                            <a:solidFill>
                              <a:srgbClr val="000000"/>
                            </a:solidFill>
                            <a:latin typeface="Cambria Math" panose="02040503050406030204" pitchFamily="18" charset="0"/>
                            <a:cs typeface="Calibri"/>
                            <a:sym typeface="Calibri"/>
                          </a:rPr>
                          <m:t>3</m:t>
                        </m:r>
                      </m:sub>
                    </m:sSub>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𝑁</m:t>
                        </m:r>
                      </m:e>
                      <m:sub>
                        <m:r>
                          <a:rPr lang="en-US" sz="2000" b="0" i="1" smtClean="0">
                            <a:solidFill>
                              <a:srgbClr val="000000"/>
                            </a:solidFill>
                            <a:latin typeface="Cambria Math" panose="02040503050406030204" pitchFamily="18" charset="0"/>
                            <a:cs typeface="Calibri"/>
                            <a:sym typeface="Calibri"/>
                          </a:rPr>
                          <m:t>1</m:t>
                        </m:r>
                      </m:sub>
                    </m:sSub>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𝐺</m:t>
                        </m:r>
                      </m:e>
                      <m:sub>
                        <m:r>
                          <a:rPr lang="en-US" sz="2000" b="0" i="1" smtClean="0">
                            <a:solidFill>
                              <a:srgbClr val="000000"/>
                            </a:solidFill>
                            <a:latin typeface="Cambria Math" panose="02040503050406030204" pitchFamily="18" charset="0"/>
                            <a:cs typeface="Calibri"/>
                            <a:sym typeface="Calibri"/>
                          </a:rPr>
                          <m:t>3</m:t>
                        </m:r>
                      </m:sub>
                    </m:sSub>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𝑁</m:t>
                        </m:r>
                      </m:e>
                      <m:sub>
                        <m:r>
                          <a:rPr lang="en-US" sz="2000" b="0" i="1" smtClean="0">
                            <a:solidFill>
                              <a:srgbClr val="000000"/>
                            </a:solidFill>
                            <a:latin typeface="Cambria Math" panose="02040503050406030204" pitchFamily="18" charset="0"/>
                            <a:cs typeface="Calibri"/>
                            <a:sym typeface="Calibri"/>
                          </a:rPr>
                          <m:t>2</m:t>
                        </m:r>
                      </m:sub>
                    </m:sSub>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𝑁</m:t>
                        </m:r>
                      </m:e>
                      <m:sub>
                        <m:r>
                          <a:rPr lang="en-US" sz="2000" b="0" i="1" smtClean="0">
                            <a:solidFill>
                              <a:srgbClr val="000000"/>
                            </a:solidFill>
                            <a:latin typeface="Cambria Math" panose="02040503050406030204" pitchFamily="18" charset="0"/>
                            <a:cs typeface="Calibri"/>
                            <a:sym typeface="Calibri"/>
                          </a:rPr>
                          <m:t>3</m:t>
                        </m:r>
                      </m:sub>
                    </m:sSub>
                  </m:oMath>
                </a14:m>
                <a:endParaRPr lang="en-US" sz="2000" dirty="0">
                  <a:solidFill>
                    <a:srgbClr val="000000"/>
                  </a:solidFill>
                  <a:latin typeface="Calibri"/>
                  <a:ea typeface="Calibri"/>
                  <a:cs typeface="Calibri"/>
                  <a:sym typeface="Calibri"/>
                </a:endParaRPr>
              </a:p>
              <a:p>
                <a:pPr marL="285750" indent="-285750" algn="l" rtl="0" latinLnBrk="1"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𝑇</m:t>
                        </m:r>
                      </m:e>
                      <m:sub>
                        <m:r>
                          <a:rPr lang="en-US" sz="2000" b="0" i="1" smtClean="0">
                            <a:solidFill>
                              <a:srgbClr val="000000"/>
                            </a:solidFill>
                            <a:latin typeface="Cambria Math" panose="02040503050406030204" pitchFamily="18" charset="0"/>
                            <a:cs typeface="Calibri"/>
                            <a:sym typeface="Calibri"/>
                          </a:rPr>
                          <m:t>𝑟</m:t>
                        </m:r>
                      </m:sub>
                    </m:sSub>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𝑇</m:t>
                        </m:r>
                      </m:e>
                      <m:sub>
                        <m:r>
                          <a:rPr lang="en-US" sz="2000" b="0" i="1" smtClean="0">
                            <a:solidFill>
                              <a:srgbClr val="000000"/>
                            </a:solidFill>
                            <a:latin typeface="Cambria Math" panose="02040503050406030204" pitchFamily="18" charset="0"/>
                            <a:cs typeface="Calibri"/>
                            <a:sym typeface="Calibri"/>
                          </a:rPr>
                          <m:t>𝑎</m:t>
                        </m:r>
                      </m:sub>
                    </m:sSub>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𝑇</m:t>
                        </m:r>
                      </m:e>
                      <m:sub>
                        <m:r>
                          <a:rPr lang="en-US" sz="2000" b="0" i="1" smtClean="0">
                            <a:solidFill>
                              <a:srgbClr val="000000"/>
                            </a:solidFill>
                            <a:latin typeface="Cambria Math" panose="02040503050406030204" pitchFamily="18" charset="0"/>
                            <a:cs typeface="Calibri"/>
                            <a:sym typeface="Calibri"/>
                          </a:rPr>
                          <m:t>1</m:t>
                        </m:r>
                      </m:sub>
                    </m:sSub>
                    <m:r>
                      <a:rPr lang="en-US" sz="2000" b="0" i="1" smtClean="0">
                        <a:solidFill>
                          <a:srgbClr val="000000"/>
                        </a:solidFill>
                        <a:latin typeface="Cambria Math" panose="02040503050406030204" pitchFamily="18" charset="0"/>
                        <a:cs typeface="Calibri"/>
                        <a:sym typeface="Calibri"/>
                      </a:rPr>
                      <m:t>+</m:t>
                    </m:r>
                    <m:f>
                      <m:fPr>
                        <m:ctrlPr>
                          <a:rPr lang="en-US" sz="2000" b="0" i="1" smtClean="0">
                            <a:solidFill>
                              <a:srgbClr val="000000"/>
                            </a:solidFill>
                            <a:latin typeface="Cambria Math" panose="02040503050406030204" pitchFamily="18" charset="0"/>
                            <a:cs typeface="Calibri"/>
                            <a:sym typeface="Calibri"/>
                          </a:rPr>
                        </m:ctrlPr>
                      </m:fPr>
                      <m:num>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𝑇</m:t>
                            </m:r>
                          </m:e>
                          <m:sub>
                            <m:r>
                              <a:rPr lang="en-US" sz="2000" b="0" i="1" smtClean="0">
                                <a:solidFill>
                                  <a:srgbClr val="000000"/>
                                </a:solidFill>
                                <a:latin typeface="Cambria Math" panose="02040503050406030204" pitchFamily="18" charset="0"/>
                                <a:cs typeface="Calibri"/>
                                <a:sym typeface="Calibri"/>
                              </a:rPr>
                              <m:t>2</m:t>
                            </m:r>
                          </m:sub>
                        </m:sSub>
                      </m:num>
                      <m:den>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𝐺</m:t>
                            </m:r>
                          </m:e>
                          <m:sub>
                            <m:r>
                              <a:rPr lang="en-US" sz="2000" b="0" i="1" smtClean="0">
                                <a:solidFill>
                                  <a:srgbClr val="000000"/>
                                </a:solidFill>
                                <a:latin typeface="Cambria Math" panose="02040503050406030204" pitchFamily="18" charset="0"/>
                                <a:cs typeface="Calibri"/>
                                <a:sym typeface="Calibri"/>
                              </a:rPr>
                              <m:t>1</m:t>
                            </m:r>
                          </m:sub>
                        </m:sSub>
                      </m:den>
                    </m:f>
                    <m:r>
                      <a:rPr lang="en-US" sz="2000" b="0" i="1" smtClean="0">
                        <a:solidFill>
                          <a:srgbClr val="000000"/>
                        </a:solidFill>
                        <a:latin typeface="Cambria Math" panose="02040503050406030204" pitchFamily="18" charset="0"/>
                        <a:cs typeface="Calibri"/>
                        <a:sym typeface="Calibri"/>
                      </a:rPr>
                      <m:t>+</m:t>
                    </m:r>
                    <m:f>
                      <m:fPr>
                        <m:ctrlPr>
                          <a:rPr lang="en-US" sz="2000" b="0" i="1" smtClean="0">
                            <a:solidFill>
                              <a:srgbClr val="000000"/>
                            </a:solidFill>
                            <a:latin typeface="Cambria Math" panose="02040503050406030204" pitchFamily="18" charset="0"/>
                            <a:cs typeface="Calibri"/>
                            <a:sym typeface="Calibri"/>
                          </a:rPr>
                        </m:ctrlPr>
                      </m:fPr>
                      <m:num>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𝑇</m:t>
                            </m:r>
                          </m:e>
                          <m:sub>
                            <m:r>
                              <a:rPr lang="en-US" sz="2000" b="0" i="1" smtClean="0">
                                <a:solidFill>
                                  <a:srgbClr val="000000"/>
                                </a:solidFill>
                                <a:latin typeface="Cambria Math" panose="02040503050406030204" pitchFamily="18" charset="0"/>
                                <a:cs typeface="Calibri"/>
                                <a:sym typeface="Calibri"/>
                              </a:rPr>
                              <m:t>3</m:t>
                            </m:r>
                          </m:sub>
                        </m:sSub>
                      </m:num>
                      <m:den>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𝐺</m:t>
                            </m:r>
                          </m:e>
                          <m:sub>
                            <m:r>
                              <a:rPr lang="en-US" sz="2000" b="0" i="1" smtClean="0">
                                <a:solidFill>
                                  <a:srgbClr val="000000"/>
                                </a:solidFill>
                                <a:latin typeface="Cambria Math" panose="02040503050406030204" pitchFamily="18" charset="0"/>
                                <a:cs typeface="Calibri"/>
                                <a:sym typeface="Calibri"/>
                              </a:rPr>
                              <m:t>1</m:t>
                            </m:r>
                          </m:sub>
                        </m:sSub>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𝐺</m:t>
                            </m:r>
                          </m:e>
                          <m:sub>
                            <m:r>
                              <a:rPr lang="en-US" sz="2000" b="0" i="1" smtClean="0">
                                <a:solidFill>
                                  <a:srgbClr val="000000"/>
                                </a:solidFill>
                                <a:latin typeface="Cambria Math" panose="02040503050406030204" pitchFamily="18" charset="0"/>
                                <a:cs typeface="Calibri"/>
                                <a:sym typeface="Calibri"/>
                              </a:rPr>
                              <m:t>2</m:t>
                            </m:r>
                          </m:sub>
                        </m:sSub>
                      </m:den>
                    </m:f>
                  </m:oMath>
                </a14:m>
                <a:endParaRPr lang="en-US" sz="2000" dirty="0">
                  <a:solidFill>
                    <a:srgbClr val="000000"/>
                  </a:solidFill>
                  <a:latin typeface="Calibri"/>
                  <a:ea typeface="Calibri"/>
                  <a:cs typeface="Calibri"/>
                  <a:sym typeface="Calibri"/>
                </a:endParaRPr>
              </a:p>
              <a:p>
                <a:pPr marL="285750" indent="-285750" algn="l" rtl="0" latinLnBrk="1" hangingPunct="0">
                  <a:buFont typeface="Arial" panose="020B0604020202020204" pitchFamily="34" charset="0"/>
                  <a:buChar char="•"/>
                </a:pPr>
                <a14:m>
                  <m:oMath xmlns:m="http://schemas.openxmlformats.org/officeDocument/2006/math">
                    <m:f>
                      <m:fPr>
                        <m:ctrlPr>
                          <a:rPr lang="en-US" sz="2000" i="1" smtClean="0">
                            <a:solidFill>
                              <a:srgbClr val="000000"/>
                            </a:solidFill>
                            <a:latin typeface="Cambria Math" panose="02040503050406030204" pitchFamily="18" charset="0"/>
                            <a:cs typeface="Calibri"/>
                            <a:sym typeface="Calibri"/>
                          </a:rPr>
                        </m:ctrlPr>
                      </m:fPr>
                      <m:num>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𝑇</m:t>
                            </m:r>
                          </m:e>
                          <m:sub>
                            <m:r>
                              <a:rPr lang="en-US" sz="2000" b="0" i="1" smtClean="0">
                                <a:solidFill>
                                  <a:srgbClr val="000000"/>
                                </a:solidFill>
                                <a:latin typeface="Cambria Math" panose="02040503050406030204" pitchFamily="18" charset="0"/>
                                <a:cs typeface="Calibri"/>
                                <a:sym typeface="Calibri"/>
                              </a:rPr>
                              <m:t>𝑛</m:t>
                            </m:r>
                          </m:sub>
                        </m:sSub>
                      </m:num>
                      <m:den>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𝑇</m:t>
                            </m:r>
                          </m:e>
                          <m:sub>
                            <m:r>
                              <a:rPr lang="en-US" sz="2000" b="0" i="1" smtClean="0">
                                <a:solidFill>
                                  <a:srgbClr val="000000"/>
                                </a:solidFill>
                                <a:latin typeface="Cambria Math" panose="02040503050406030204" pitchFamily="18" charset="0"/>
                                <a:cs typeface="Calibri"/>
                                <a:sym typeface="Calibri"/>
                              </a:rPr>
                              <m:t>0</m:t>
                            </m:r>
                          </m:sub>
                        </m:sSub>
                      </m:den>
                    </m:f>
                    <m:r>
                      <a:rPr lang="en-US" sz="2000" b="0" i="1" smtClean="0">
                        <a:solidFill>
                          <a:srgbClr val="000000"/>
                        </a:solidFill>
                        <a:latin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cs typeface="Calibri"/>
                        <a:sym typeface="Calibri"/>
                      </a:rPr>
                      <m:t>𝐹</m:t>
                    </m:r>
                    <m:r>
                      <a:rPr lang="en-US" sz="2000" b="0" i="1" smtClean="0">
                        <a:solidFill>
                          <a:srgbClr val="000000"/>
                        </a:solidFill>
                        <a:latin typeface="Cambria Math" panose="02040503050406030204" pitchFamily="18" charset="0"/>
                        <a:cs typeface="Calibri"/>
                        <a:sym typeface="Calibri"/>
                      </a:rPr>
                      <m:t>−1</m:t>
                    </m:r>
                  </m:oMath>
                </a14:m>
                <a:r>
                  <a:rPr lang="en-US" sz="2000" dirty="0">
                    <a:solidFill>
                      <a:srgbClr val="000000"/>
                    </a:solidFill>
                    <a:latin typeface="Calibri"/>
                    <a:ea typeface="Calibri"/>
                    <a:cs typeface="Calibri"/>
                    <a:sym typeface="Calibri"/>
                  </a:rPr>
                  <a:t>,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𝑇</m:t>
                        </m:r>
                      </m:e>
                      <m:sub>
                        <m:r>
                          <a:rPr lang="en-US" sz="2000" b="0" i="1" smtClean="0">
                            <a:solidFill>
                              <a:srgbClr val="000000"/>
                            </a:solidFill>
                            <a:latin typeface="Cambria Math" panose="02040503050406030204" pitchFamily="18" charset="0"/>
                            <a:cs typeface="Calibri"/>
                            <a:sym typeface="Calibri"/>
                          </a:rPr>
                          <m:t>0</m:t>
                        </m:r>
                      </m:sub>
                    </m:sSub>
                    <m:r>
                      <a:rPr lang="en-US" sz="2000" b="0" i="1" smtClean="0">
                        <a:solidFill>
                          <a:srgbClr val="000000"/>
                        </a:solidFill>
                        <a:latin typeface="Cambria Math" panose="02040503050406030204" pitchFamily="18" charset="0"/>
                        <a:cs typeface="Calibri"/>
                        <a:sym typeface="Calibri"/>
                      </a:rPr>
                      <m:t>=290 </m:t>
                    </m:r>
                    <m:r>
                      <a:rPr lang="en-US" sz="2000" b="0" i="1" smtClean="0">
                        <a:solidFill>
                          <a:srgbClr val="000000"/>
                        </a:solidFill>
                        <a:latin typeface="Cambria Math" panose="02040503050406030204" pitchFamily="18" charset="0"/>
                        <a:cs typeface="Calibri"/>
                        <a:sym typeface="Calibri"/>
                      </a:rPr>
                      <m:t>𝐾</m:t>
                    </m:r>
                  </m:oMath>
                </a14:m>
                <a:endParaRPr lang="en-US" sz="2000" dirty="0">
                  <a:solidFill>
                    <a:srgbClr val="000000"/>
                  </a:solidFill>
                  <a:latin typeface="Calibri"/>
                  <a:ea typeface="Calibri"/>
                  <a:cs typeface="Calibri"/>
                  <a:sym typeface="Calibri"/>
                </a:endParaRPr>
              </a:p>
              <a:p>
                <a:pPr marL="285750" indent="-285750" algn="l" rtl="0" latinLnBrk="1" hangingPunct="0">
                  <a:buFont typeface="Arial" panose="020B0604020202020204" pitchFamily="34" charset="0"/>
                  <a:buChar char="•"/>
                </a:pPr>
                <a:r>
                  <a:rPr lang="en-US" sz="2000" dirty="0">
                    <a:solidFill>
                      <a:srgbClr val="000000"/>
                    </a:solidFill>
                    <a:latin typeface="Calibri"/>
                    <a:ea typeface="Calibri"/>
                    <a:cs typeface="Calibri"/>
                    <a:sym typeface="Calibri"/>
                  </a:rPr>
                  <a:t>For NorCal, </a:t>
                </a:r>
                <a14:m>
                  <m:oMath xmlns:m="http://schemas.openxmlformats.org/officeDocument/2006/math">
                    <m:r>
                      <a:rPr lang="en-US" sz="2000" b="0" i="1" smtClean="0">
                        <a:solidFill>
                          <a:srgbClr val="000000"/>
                        </a:solidFill>
                        <a:latin typeface="Cambria Math" panose="02040503050406030204" pitchFamily="18" charset="0"/>
                        <a:ea typeface="Calibri"/>
                        <a:cs typeface="Calibri"/>
                        <a:sym typeface="Calibri"/>
                      </a:rPr>
                      <m:t>𝐿</m:t>
                    </m:r>
                    <m:r>
                      <a:rPr lang="en-US" sz="2000" b="0" i="1" smtClean="0">
                        <a:solidFill>
                          <a:srgbClr val="000000"/>
                        </a:solidFill>
                        <a:latin typeface="Cambria Math" panose="02040503050406030204" pitchFamily="18" charset="0"/>
                        <a:ea typeface="Calibri"/>
                        <a:cs typeface="Calibri"/>
                        <a:sym typeface="Calibri"/>
                      </a:rPr>
                      <m:t>=3.2</m:t>
                    </m:r>
                  </m:oMath>
                </a14:m>
                <a:r>
                  <a:rPr lang="en-US" sz="2000" dirty="0">
                    <a:solidFill>
                      <a:srgbClr val="000000"/>
                    </a:solidFill>
                    <a:latin typeface="Calibri"/>
                    <a:ea typeface="Calibri"/>
                    <a:cs typeface="Calibri"/>
                    <a:sym typeface="Calibri"/>
                  </a:rPr>
                  <a:t>, each filter has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𝑇</m:t>
                        </m:r>
                      </m:e>
                      <m:sub>
                        <m:r>
                          <a:rPr lang="en-US" sz="2000" b="0" i="1" smtClean="0">
                            <a:solidFill>
                              <a:srgbClr val="000000"/>
                            </a:solidFill>
                            <a:latin typeface="Cambria Math" panose="02040503050406030204" pitchFamily="18" charset="0"/>
                            <a:cs typeface="Calibri"/>
                            <a:sym typeface="Calibri"/>
                          </a:rPr>
                          <m:t>𝑓</m:t>
                        </m:r>
                      </m:sub>
                    </m:sSub>
                    <m:r>
                      <a:rPr lang="en-US" sz="2000" b="0" i="1" smtClean="0">
                        <a:solidFill>
                          <a:srgbClr val="000000"/>
                        </a:solidFill>
                        <a:latin typeface="Cambria Math" panose="02040503050406030204" pitchFamily="18" charset="0"/>
                        <a:cs typeface="Calibri"/>
                        <a:sym typeface="Calibri"/>
                      </a:rPr>
                      <m:t>=290</m:t>
                    </m:r>
                    <m:d>
                      <m:dPr>
                        <m:ctrlPr>
                          <a:rPr lang="en-US" sz="2000" b="0" i="1" smtClean="0">
                            <a:solidFill>
                              <a:srgbClr val="000000"/>
                            </a:solidFill>
                            <a:latin typeface="Cambria Math" panose="02040503050406030204" pitchFamily="18" charset="0"/>
                            <a:cs typeface="Calibri"/>
                            <a:sym typeface="Calibri"/>
                          </a:rPr>
                        </m:ctrlPr>
                      </m:dPr>
                      <m:e>
                        <m:r>
                          <a:rPr lang="en-US" sz="2000" b="0" i="1" smtClean="0">
                            <a:solidFill>
                              <a:srgbClr val="000000"/>
                            </a:solidFill>
                            <a:latin typeface="Cambria Math" panose="02040503050406030204" pitchFamily="18" charset="0"/>
                            <a:cs typeface="Calibri"/>
                            <a:sym typeface="Calibri"/>
                          </a:rPr>
                          <m:t>𝐿</m:t>
                        </m:r>
                        <m:r>
                          <a:rPr lang="en-US" sz="2000" b="0" i="1" smtClean="0">
                            <a:solidFill>
                              <a:srgbClr val="000000"/>
                            </a:solidFill>
                            <a:latin typeface="Cambria Math" panose="02040503050406030204" pitchFamily="18" charset="0"/>
                            <a:cs typeface="Calibri"/>
                            <a:sym typeface="Calibri"/>
                          </a:rPr>
                          <m:t>−1</m:t>
                        </m:r>
                      </m:e>
                    </m:d>
                    <m:r>
                      <a:rPr lang="en-US" sz="2000" b="0" i="1" smtClean="0">
                        <a:solidFill>
                          <a:srgbClr val="000000"/>
                        </a:solidFill>
                        <a:latin typeface="Cambria Math" panose="02040503050406030204" pitchFamily="18" charset="0"/>
                        <a:cs typeface="Calibri"/>
                        <a:sym typeface="Calibri"/>
                      </a:rPr>
                      <m:t>=630</m:t>
                    </m:r>
                    <m:r>
                      <a:rPr lang="en-US" sz="2000" b="0" i="1" smtClean="0">
                        <a:solidFill>
                          <a:srgbClr val="000000"/>
                        </a:solidFill>
                        <a:latin typeface="Cambria Math" panose="02040503050406030204" pitchFamily="18" charset="0"/>
                        <a:cs typeface="Calibri"/>
                        <a:sym typeface="Calibri"/>
                      </a:rPr>
                      <m:t>𝐾</m:t>
                    </m:r>
                  </m:oMath>
                </a14:m>
                <a:endParaRPr lang="en-US" sz="2000" b="0" dirty="0">
                  <a:solidFill>
                    <a:srgbClr val="000000"/>
                  </a:solidFill>
                  <a:latin typeface="Calibri"/>
                  <a:cs typeface="Calibri"/>
                  <a:sym typeface="Calibri"/>
                </a:endParaRPr>
              </a:p>
              <a:p>
                <a:pPr marL="285750" indent="-285750" algn="l" rtl="0" latinLnBrk="1"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𝑇</m:t>
                        </m:r>
                      </m:e>
                      <m:sub>
                        <m:r>
                          <a:rPr lang="en-US" sz="2000" b="0" i="1" smtClean="0">
                            <a:solidFill>
                              <a:srgbClr val="000000"/>
                            </a:solidFill>
                            <a:latin typeface="Cambria Math" panose="02040503050406030204" pitchFamily="18" charset="0"/>
                            <a:cs typeface="Calibri"/>
                            <a:sym typeface="Calibri"/>
                          </a:rPr>
                          <m:t>𝑟</m:t>
                        </m:r>
                      </m:sub>
                    </m:sSub>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𝑇</m:t>
                        </m:r>
                      </m:e>
                      <m:sub>
                        <m:r>
                          <a:rPr lang="en-US" sz="2000" b="0" i="1" smtClean="0">
                            <a:solidFill>
                              <a:srgbClr val="000000"/>
                            </a:solidFill>
                            <a:latin typeface="Cambria Math" panose="02040503050406030204" pitchFamily="18" charset="0"/>
                            <a:cs typeface="Calibri"/>
                            <a:sym typeface="Calibri"/>
                          </a:rPr>
                          <m:t>𝑓</m:t>
                        </m:r>
                      </m:sub>
                    </m:sSub>
                    <m:r>
                      <a:rPr lang="en-US" sz="2000" b="0" i="1" smtClean="0">
                        <a:solidFill>
                          <a:srgbClr val="000000"/>
                        </a:solidFill>
                        <a:latin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cs typeface="Calibri"/>
                        <a:sym typeface="Calibri"/>
                      </a:rPr>
                      <m:t>𝐿</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𝑇</m:t>
                        </m:r>
                      </m:e>
                      <m:sub>
                        <m:r>
                          <a:rPr lang="en-US" sz="2000" b="0" i="1" smtClean="0">
                            <a:solidFill>
                              <a:srgbClr val="000000"/>
                            </a:solidFill>
                            <a:latin typeface="Cambria Math" panose="02040503050406030204" pitchFamily="18" charset="0"/>
                            <a:cs typeface="Calibri"/>
                            <a:sym typeface="Calibri"/>
                          </a:rPr>
                          <m:t>𝑚</m:t>
                        </m:r>
                      </m:sub>
                    </m:sSub>
                    <m:r>
                      <a:rPr lang="en-US" sz="2000" b="0" i="1" smtClean="0">
                        <a:solidFill>
                          <a:srgbClr val="000000"/>
                        </a:solidFill>
                        <a:latin typeface="Cambria Math" panose="02040503050406030204" pitchFamily="18" charset="0"/>
                        <a:cs typeface="Calibri"/>
                        <a:sym typeface="Calibri"/>
                      </a:rPr>
                      <m:t>+</m:t>
                    </m:r>
                    <m:f>
                      <m:fPr>
                        <m:ctrlPr>
                          <a:rPr lang="en-US" sz="2000" b="0" i="1" smtClean="0">
                            <a:solidFill>
                              <a:srgbClr val="000000"/>
                            </a:solidFill>
                            <a:latin typeface="Cambria Math" panose="02040503050406030204" pitchFamily="18" charset="0"/>
                            <a:cs typeface="Calibri"/>
                            <a:sym typeface="Calibri"/>
                          </a:rPr>
                        </m:ctrlPr>
                      </m:fPr>
                      <m:num>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𝑇</m:t>
                            </m:r>
                          </m:e>
                          <m:sub>
                            <m:r>
                              <a:rPr lang="en-US" sz="2000" b="0" i="1" smtClean="0">
                                <a:solidFill>
                                  <a:srgbClr val="000000"/>
                                </a:solidFill>
                                <a:latin typeface="Cambria Math" panose="02040503050406030204" pitchFamily="18" charset="0"/>
                                <a:cs typeface="Calibri"/>
                                <a:sym typeface="Calibri"/>
                              </a:rPr>
                              <m:t>𝑓</m:t>
                            </m:r>
                          </m:sub>
                        </m:sSub>
                        <m:r>
                          <a:rPr lang="en-US" sz="2000" b="0" i="1" smtClean="0">
                            <a:solidFill>
                              <a:srgbClr val="000000"/>
                            </a:solidFill>
                            <a:latin typeface="Cambria Math" panose="02040503050406030204" pitchFamily="18" charset="0"/>
                            <a:cs typeface="Calibri"/>
                            <a:sym typeface="Calibri"/>
                          </a:rPr>
                          <m:t>𝐿</m:t>
                        </m:r>
                      </m:num>
                      <m:den>
                        <m:r>
                          <a:rPr lang="en-US" sz="2000" b="0" i="1" smtClean="0">
                            <a:solidFill>
                              <a:srgbClr val="000000"/>
                            </a:solidFill>
                            <a:latin typeface="Cambria Math" panose="02040503050406030204" pitchFamily="18" charset="0"/>
                            <a:cs typeface="Calibri"/>
                            <a:sym typeface="Calibri"/>
                          </a:rPr>
                          <m:t>𝐺</m:t>
                        </m:r>
                      </m:den>
                    </m:f>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𝑇</m:t>
                        </m:r>
                      </m:e>
                      <m:sub>
                        <m:r>
                          <a:rPr lang="en-US" sz="2000" b="0" i="1" smtClean="0">
                            <a:solidFill>
                              <a:srgbClr val="000000"/>
                            </a:solidFill>
                            <a:latin typeface="Cambria Math" panose="02040503050406030204" pitchFamily="18" charset="0"/>
                            <a:cs typeface="Calibri"/>
                            <a:sym typeface="Calibri"/>
                          </a:rPr>
                          <m:t>𝑚</m:t>
                        </m:r>
                      </m:sub>
                    </m:sSub>
                    <m:f>
                      <m:fPr>
                        <m:ctrlPr>
                          <a:rPr lang="en-US" sz="2000" b="0" i="1" smtClean="0">
                            <a:solidFill>
                              <a:srgbClr val="000000"/>
                            </a:solidFill>
                            <a:latin typeface="Cambria Math" panose="02040503050406030204" pitchFamily="18" charset="0"/>
                            <a:cs typeface="Calibri"/>
                            <a:sym typeface="Calibri"/>
                          </a:rPr>
                        </m:ctrlPr>
                      </m:fPr>
                      <m:num>
                        <m:sSup>
                          <m:sSupPr>
                            <m:ctrlPr>
                              <a:rPr lang="en-US" sz="2000" b="0" i="1" smtClean="0">
                                <a:solidFill>
                                  <a:srgbClr val="000000"/>
                                </a:solidFill>
                                <a:latin typeface="Cambria Math" panose="02040503050406030204" pitchFamily="18" charset="0"/>
                                <a:cs typeface="Calibri"/>
                                <a:sym typeface="Calibri"/>
                              </a:rPr>
                            </m:ctrlPr>
                          </m:sSupPr>
                          <m:e>
                            <m:r>
                              <a:rPr lang="en-US" sz="2000" b="0" i="1" smtClean="0">
                                <a:solidFill>
                                  <a:srgbClr val="000000"/>
                                </a:solidFill>
                                <a:latin typeface="Cambria Math" panose="02040503050406030204" pitchFamily="18" charset="0"/>
                                <a:cs typeface="Calibri"/>
                                <a:sym typeface="Calibri"/>
                              </a:rPr>
                              <m:t>𝐿</m:t>
                            </m:r>
                          </m:e>
                          <m:sup>
                            <m:r>
                              <a:rPr lang="en-US" sz="2000" b="0" i="1" smtClean="0">
                                <a:solidFill>
                                  <a:srgbClr val="000000"/>
                                </a:solidFill>
                                <a:latin typeface="Cambria Math" panose="02040503050406030204" pitchFamily="18" charset="0"/>
                                <a:cs typeface="Calibri"/>
                                <a:sym typeface="Calibri"/>
                              </a:rPr>
                              <m:t>2</m:t>
                            </m:r>
                          </m:sup>
                        </m:sSup>
                      </m:num>
                      <m:den>
                        <m:r>
                          <a:rPr lang="en-US" sz="2000" b="0" i="1" smtClean="0">
                            <a:solidFill>
                              <a:srgbClr val="000000"/>
                            </a:solidFill>
                            <a:latin typeface="Cambria Math" panose="02040503050406030204" pitchFamily="18" charset="0"/>
                            <a:cs typeface="Calibri"/>
                            <a:sym typeface="Calibri"/>
                          </a:rPr>
                          <m:t>𝐺</m:t>
                        </m:r>
                      </m:den>
                    </m:f>
                    <m:r>
                      <a:rPr lang="en-US" sz="2000" b="0" i="1" smtClean="0">
                        <a:solidFill>
                          <a:srgbClr val="000000"/>
                        </a:solidFill>
                        <a:latin typeface="Cambria Math" panose="02040503050406030204" pitchFamily="18" charset="0"/>
                        <a:cs typeface="Calibri"/>
                        <a:sym typeface="Calibri"/>
                      </a:rPr>
                      <m:t>=2780</m:t>
                    </m:r>
                    <m:r>
                      <a:rPr lang="en-US" sz="2000" b="0" i="1" smtClean="0">
                        <a:solidFill>
                          <a:srgbClr val="000000"/>
                        </a:solidFill>
                        <a:latin typeface="Cambria Math" panose="02040503050406030204" pitchFamily="18" charset="0"/>
                        <a:cs typeface="Calibri"/>
                        <a:sym typeface="Calibri"/>
                      </a:rPr>
                      <m:t>𝐾</m:t>
                    </m:r>
                  </m:oMath>
                </a14:m>
                <a:endParaRPr lang="en-US" sz="2000" dirty="0">
                  <a:solidFill>
                    <a:srgbClr val="000000"/>
                  </a:solidFill>
                  <a:latin typeface="Calibri"/>
                  <a:ea typeface="Calibri"/>
                  <a:cs typeface="Calibri"/>
                  <a:sym typeface="Calibri"/>
                </a:endParaRPr>
              </a:p>
              <a:p>
                <a:pPr marL="285750" indent="-285750" algn="l" rtl="0" latinLnBrk="1" hangingPunct="0">
                  <a:buFont typeface="Arial" panose="020B0604020202020204" pitchFamily="34" charset="0"/>
                  <a:buChar char="•"/>
                </a:pPr>
                <a:endParaRPr lang="en-US" sz="2000" dirty="0">
                  <a:solidFill>
                    <a:srgbClr val="000000"/>
                  </a:solidFill>
                  <a:latin typeface="Calibri"/>
                  <a:ea typeface="Calibri"/>
                  <a:cs typeface="Calibri"/>
                  <a:sym typeface="Calibri"/>
                </a:endParaRPr>
              </a:p>
              <a:p>
                <a:pPr marL="285750" indent="-285750" algn="l" rtl="0" latinLnBrk="1" hangingPunct="0">
                  <a:buFont typeface="Arial" panose="020B0604020202020204" pitchFamily="34" charset="0"/>
                  <a:buChar char="•"/>
                </a:pPr>
                <a:r>
                  <a:rPr lang="en-US" sz="2000" dirty="0">
                    <a:solidFill>
                      <a:srgbClr val="000000"/>
                    </a:solidFill>
                    <a:latin typeface="Calibri"/>
                    <a:ea typeface="Calibri"/>
                    <a:cs typeface="Calibri"/>
                    <a:sym typeface="Calibri"/>
                  </a:rPr>
                  <a:t>Want receiver noise &lt;&lt; Antenna noise</a:t>
                </a:r>
              </a:p>
              <a:p>
                <a:pPr marL="285750" indent="-285750" algn="l" rtl="0" latinLnBrk="1" hangingPunct="0">
                  <a:buFont typeface="Arial" panose="020B0604020202020204" pitchFamily="34" charset="0"/>
                  <a:buChar char="•"/>
                </a:pPr>
                <a:r>
                  <a:rPr lang="en-US" sz="2000" dirty="0">
                    <a:solidFill>
                      <a:srgbClr val="000000"/>
                    </a:solidFill>
                    <a:latin typeface="Calibri"/>
                    <a:ea typeface="Calibri"/>
                    <a:cs typeface="Calibri"/>
                    <a:sym typeface="Calibri"/>
                  </a:rPr>
                  <a:t>For NorCal, antenna noise is at least 30 dB bigger than receiver noise</a:t>
                </a:r>
              </a:p>
              <a:p>
                <a:pPr marL="285750" indent="-285750" algn="l" rtl="0" latinLnBrk="1" hangingPunct="0">
                  <a:buFont typeface="Arial" panose="020B0604020202020204" pitchFamily="34" charset="0"/>
                  <a:buChar char="•"/>
                </a:pPr>
                <a:r>
                  <a:rPr lang="en-US" sz="2000" dirty="0">
                    <a:solidFill>
                      <a:srgbClr val="000000"/>
                    </a:solidFill>
                    <a:latin typeface="Calibri"/>
                    <a:ea typeface="Calibri"/>
                    <a:cs typeface="Calibri"/>
                    <a:sym typeface="Calibri"/>
                  </a:rPr>
                  <a:t>To measure noise, inject a signal that doubles the Noise power</a:t>
                </a:r>
              </a:p>
              <a:p>
                <a:pPr algn="l" rtl="0" latinLnBrk="1" hangingPunct="0"/>
                <a:endParaRPr lang="en-US" dirty="0">
                  <a:solidFill>
                    <a:srgbClr val="000000"/>
                  </a:solidFill>
                  <a:latin typeface="Calibri"/>
                  <a:ea typeface="Calibri"/>
                  <a:cs typeface="Calibri"/>
                  <a:sym typeface="Calibri"/>
                </a:endParaRP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571085" y="1478602"/>
                <a:ext cx="10564635" cy="4545541"/>
              </a:xfrm>
              <a:prstGeom prst="rect">
                <a:avLst/>
              </a:prstGeom>
              <a:blipFill>
                <a:blip r:embed="rId3"/>
                <a:stretch>
                  <a:fillRect l="-962" t="-836"/>
                </a:stretch>
              </a:blipFill>
              <a:ln w="12700" cap="flat">
                <a:noFill/>
                <a:miter lim="400000"/>
              </a:ln>
              <a:effectLst/>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F3EED66A-56F2-494C-BB12-2E8BBB011DE2}"/>
              </a:ext>
            </a:extLst>
          </p:cNvPr>
          <p:cNvSpPr>
            <a:spLocks noGrp="1"/>
          </p:cNvSpPr>
          <p:nvPr>
            <p:ph type="sldNum" sz="quarter" idx="2"/>
          </p:nvPr>
        </p:nvSpPr>
        <p:spPr>
          <a:xfrm>
            <a:off x="9676287" y="6445870"/>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4</a:t>
            </a:fld>
            <a:endParaRPr lang="en-US" dirty="0">
              <a:solidFill>
                <a:schemeClr val="tx1"/>
              </a:solidFill>
            </a:endParaRPr>
          </a:p>
        </p:txBody>
      </p:sp>
      <p:grpSp>
        <p:nvGrpSpPr>
          <p:cNvPr id="66" name="Group 65">
            <a:extLst>
              <a:ext uri="{FF2B5EF4-FFF2-40B4-BE49-F238E27FC236}">
                <a16:creationId xmlns:a16="http://schemas.microsoft.com/office/drawing/2014/main" id="{2DC26179-A2E5-3545-8B44-C36A6E68EDDA}"/>
              </a:ext>
            </a:extLst>
          </p:cNvPr>
          <p:cNvGrpSpPr/>
          <p:nvPr/>
        </p:nvGrpSpPr>
        <p:grpSpPr>
          <a:xfrm>
            <a:off x="6553200" y="2104696"/>
            <a:ext cx="5523899" cy="2075613"/>
            <a:chOff x="955224" y="3054349"/>
            <a:chExt cx="6588571" cy="2633798"/>
          </a:xfrm>
        </p:grpSpPr>
        <p:grpSp>
          <p:nvGrpSpPr>
            <p:cNvPr id="25" name="Group 864">
              <a:extLst>
                <a:ext uri="{FF2B5EF4-FFF2-40B4-BE49-F238E27FC236}">
                  <a16:creationId xmlns:a16="http://schemas.microsoft.com/office/drawing/2014/main" id="{57929E94-B619-C647-BEC7-68507E734587}"/>
                </a:ext>
              </a:extLst>
            </p:cNvPr>
            <p:cNvGrpSpPr>
              <a:grpSpLocks/>
            </p:cNvGrpSpPr>
            <p:nvPr/>
          </p:nvGrpSpPr>
          <p:grpSpPr bwMode="auto">
            <a:xfrm>
              <a:off x="2380197" y="3955987"/>
              <a:ext cx="914400" cy="733425"/>
              <a:chOff x="1843" y="1698"/>
              <a:chExt cx="576" cy="462"/>
            </a:xfrm>
          </p:grpSpPr>
          <p:grpSp>
            <p:nvGrpSpPr>
              <p:cNvPr id="26" name="Group 60">
                <a:extLst>
                  <a:ext uri="{FF2B5EF4-FFF2-40B4-BE49-F238E27FC236}">
                    <a16:creationId xmlns:a16="http://schemas.microsoft.com/office/drawing/2014/main" id="{44026582-689A-C342-80CC-97D167B86636}"/>
                  </a:ext>
                </a:extLst>
              </p:cNvPr>
              <p:cNvGrpSpPr>
                <a:grpSpLocks/>
              </p:cNvGrpSpPr>
              <p:nvPr/>
            </p:nvGrpSpPr>
            <p:grpSpPr bwMode="auto">
              <a:xfrm>
                <a:off x="1843" y="1698"/>
                <a:ext cx="576" cy="461"/>
                <a:chOff x="3456" y="3427"/>
                <a:chExt cx="576" cy="461"/>
              </a:xfrm>
            </p:grpSpPr>
            <p:sp>
              <p:nvSpPr>
                <p:cNvPr id="28" name="Line 55">
                  <a:extLst>
                    <a:ext uri="{FF2B5EF4-FFF2-40B4-BE49-F238E27FC236}">
                      <a16:creationId xmlns:a16="http://schemas.microsoft.com/office/drawing/2014/main" id="{3E5461F4-8473-DD4E-AD42-84D1DEDBD1FA}"/>
                    </a:ext>
                  </a:extLst>
                </p:cNvPr>
                <p:cNvSpPr>
                  <a:spLocks noChangeShapeType="1"/>
                </p:cNvSpPr>
                <p:nvPr/>
              </p:nvSpPr>
              <p:spPr bwMode="auto">
                <a:xfrm>
                  <a:off x="3456" y="3658"/>
                  <a:ext cx="5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 name="AutoShape 56">
                  <a:extLst>
                    <a:ext uri="{FF2B5EF4-FFF2-40B4-BE49-F238E27FC236}">
                      <a16:creationId xmlns:a16="http://schemas.microsoft.com/office/drawing/2014/main" id="{D1CDBCE2-C705-5D4A-8764-A8BF5F9A12CF}"/>
                    </a:ext>
                  </a:extLst>
                </p:cNvPr>
                <p:cNvSpPr>
                  <a:spLocks noChangeArrowheads="1"/>
                </p:cNvSpPr>
                <p:nvPr/>
              </p:nvSpPr>
              <p:spPr bwMode="auto">
                <a:xfrm rot="5400000">
                  <a:off x="3525" y="3497"/>
                  <a:ext cx="461" cy="322"/>
                </a:xfrm>
                <a:prstGeom prst="triangle">
                  <a:avLst>
                    <a:gd name="adj" fmla="val 50000"/>
                  </a:avLst>
                </a:prstGeom>
                <a:solidFill>
                  <a:schemeClr val="bg1"/>
                </a:solidFill>
                <a:ln w="25400">
                  <a:solidFill>
                    <a:schemeClr val="tx1"/>
                  </a:solidFill>
                  <a:miter lim="800000"/>
                  <a:headEnd/>
                  <a:tailEnd/>
                </a:ln>
              </p:spPr>
              <p:txBody>
                <a:bodyPr rot="10800000" vert="eaVert"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27" name="Freeform 863">
                <a:extLst>
                  <a:ext uri="{FF2B5EF4-FFF2-40B4-BE49-F238E27FC236}">
                    <a16:creationId xmlns:a16="http://schemas.microsoft.com/office/drawing/2014/main" id="{3E1160CB-CF66-B24B-8D3A-F860EBC89C10}"/>
                  </a:ext>
                </a:extLst>
              </p:cNvPr>
              <p:cNvSpPr>
                <a:spLocks/>
              </p:cNvSpPr>
              <p:nvPr/>
            </p:nvSpPr>
            <p:spPr bwMode="auto">
              <a:xfrm>
                <a:off x="1843" y="1699"/>
                <a:ext cx="576" cy="461"/>
              </a:xfrm>
              <a:custGeom>
                <a:avLst/>
                <a:gdLst>
                  <a:gd name="T0" fmla="*/ 0 w 576"/>
                  <a:gd name="T1" fmla="*/ 231 h 461"/>
                  <a:gd name="T2" fmla="*/ 115 w 576"/>
                  <a:gd name="T3" fmla="*/ 461 h 461"/>
                  <a:gd name="T4" fmla="*/ 576 w 576"/>
                  <a:gd name="T5" fmla="*/ 231 h 461"/>
                  <a:gd name="T6" fmla="*/ 115 w 576"/>
                  <a:gd name="T7" fmla="*/ 0 h 461"/>
                  <a:gd name="T8" fmla="*/ 0 w 576"/>
                  <a:gd name="T9" fmla="*/ 231 h 461"/>
                  <a:gd name="T10" fmla="*/ 0 60000 65536"/>
                  <a:gd name="T11" fmla="*/ 0 60000 65536"/>
                  <a:gd name="T12" fmla="*/ 0 60000 65536"/>
                  <a:gd name="T13" fmla="*/ 0 60000 65536"/>
                  <a:gd name="T14" fmla="*/ 0 60000 65536"/>
                  <a:gd name="T15" fmla="*/ 0 w 576"/>
                  <a:gd name="T16" fmla="*/ 0 h 461"/>
                  <a:gd name="T17" fmla="*/ 576 w 576"/>
                  <a:gd name="T18" fmla="*/ 461 h 461"/>
                </a:gdLst>
                <a:ahLst/>
                <a:cxnLst>
                  <a:cxn ang="T10">
                    <a:pos x="T0" y="T1"/>
                  </a:cxn>
                  <a:cxn ang="T11">
                    <a:pos x="T2" y="T3"/>
                  </a:cxn>
                  <a:cxn ang="T12">
                    <a:pos x="T4" y="T5"/>
                  </a:cxn>
                  <a:cxn ang="T13">
                    <a:pos x="T6" y="T7"/>
                  </a:cxn>
                  <a:cxn ang="T14">
                    <a:pos x="T8" y="T9"/>
                  </a:cxn>
                </a:cxnLst>
                <a:rect l="T15" t="T16" r="T17" b="T18"/>
                <a:pathLst>
                  <a:path w="576" h="461">
                    <a:moveTo>
                      <a:pt x="0" y="231"/>
                    </a:moveTo>
                    <a:lnTo>
                      <a:pt x="115" y="461"/>
                    </a:lnTo>
                    <a:lnTo>
                      <a:pt x="576" y="231"/>
                    </a:lnTo>
                    <a:lnTo>
                      <a:pt x="115" y="0"/>
                    </a:lnTo>
                    <a:lnTo>
                      <a:pt x="0" y="231"/>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grpSp>
          <p:nvGrpSpPr>
            <p:cNvPr id="30" name="Group 333">
              <a:extLst>
                <a:ext uri="{FF2B5EF4-FFF2-40B4-BE49-F238E27FC236}">
                  <a16:creationId xmlns:a16="http://schemas.microsoft.com/office/drawing/2014/main" id="{2D7B8124-31A4-9144-91FE-C34F3F50DFAF}"/>
                </a:ext>
              </a:extLst>
            </p:cNvPr>
            <p:cNvGrpSpPr>
              <a:grpSpLocks/>
            </p:cNvGrpSpPr>
            <p:nvPr/>
          </p:nvGrpSpPr>
          <p:grpSpPr bwMode="auto">
            <a:xfrm>
              <a:off x="1448237" y="3054349"/>
              <a:ext cx="628650" cy="555625"/>
              <a:chOff x="3263" y="1176"/>
              <a:chExt cx="396" cy="350"/>
            </a:xfrm>
          </p:grpSpPr>
          <p:grpSp>
            <p:nvGrpSpPr>
              <p:cNvPr id="31" name="Group 237">
                <a:extLst>
                  <a:ext uri="{FF2B5EF4-FFF2-40B4-BE49-F238E27FC236}">
                    <a16:creationId xmlns:a16="http://schemas.microsoft.com/office/drawing/2014/main" id="{91CD589D-3B00-9446-9552-62A03E866187}"/>
                  </a:ext>
                </a:extLst>
              </p:cNvPr>
              <p:cNvGrpSpPr>
                <a:grpSpLocks/>
              </p:cNvGrpSpPr>
              <p:nvPr/>
            </p:nvGrpSpPr>
            <p:grpSpPr bwMode="auto">
              <a:xfrm>
                <a:off x="3341" y="1296"/>
                <a:ext cx="230" cy="230"/>
                <a:chOff x="4608" y="2045"/>
                <a:chExt cx="230" cy="230"/>
              </a:xfrm>
            </p:grpSpPr>
            <p:sp>
              <p:nvSpPr>
                <p:cNvPr id="34" name="Freeform 238">
                  <a:extLst>
                    <a:ext uri="{FF2B5EF4-FFF2-40B4-BE49-F238E27FC236}">
                      <a16:creationId xmlns:a16="http://schemas.microsoft.com/office/drawing/2014/main" id="{E78194B1-E640-AD41-AD1F-8EED3BD1C862}"/>
                    </a:ext>
                  </a:extLst>
                </p:cNvPr>
                <p:cNvSpPr>
                  <a:spLocks/>
                </p:cNvSpPr>
                <p:nvPr/>
              </p:nvSpPr>
              <p:spPr bwMode="auto">
                <a:xfrm>
                  <a:off x="4608" y="2045"/>
                  <a:ext cx="230" cy="115"/>
                </a:xfrm>
                <a:custGeom>
                  <a:avLst/>
                  <a:gdLst>
                    <a:gd name="T0" fmla="*/ 0 w 230"/>
                    <a:gd name="T1" fmla="*/ 0 h 115"/>
                    <a:gd name="T2" fmla="*/ 115 w 230"/>
                    <a:gd name="T3" fmla="*/ 115 h 115"/>
                    <a:gd name="T4" fmla="*/ 230 w 230"/>
                    <a:gd name="T5" fmla="*/ 0 h 115"/>
                    <a:gd name="T6" fmla="*/ 0 w 230"/>
                    <a:gd name="T7" fmla="*/ 0 h 115"/>
                    <a:gd name="T8" fmla="*/ 0 60000 65536"/>
                    <a:gd name="T9" fmla="*/ 0 60000 65536"/>
                    <a:gd name="T10" fmla="*/ 0 60000 65536"/>
                    <a:gd name="T11" fmla="*/ 0 60000 65536"/>
                    <a:gd name="T12" fmla="*/ 0 w 230"/>
                    <a:gd name="T13" fmla="*/ 0 h 115"/>
                    <a:gd name="T14" fmla="*/ 230 w 230"/>
                    <a:gd name="T15" fmla="*/ 115 h 115"/>
                  </a:gdLst>
                  <a:ahLst/>
                  <a:cxnLst>
                    <a:cxn ang="T8">
                      <a:pos x="T0" y="T1"/>
                    </a:cxn>
                    <a:cxn ang="T9">
                      <a:pos x="T2" y="T3"/>
                    </a:cxn>
                    <a:cxn ang="T10">
                      <a:pos x="T4" y="T5"/>
                    </a:cxn>
                    <a:cxn ang="T11">
                      <a:pos x="T6" y="T7"/>
                    </a:cxn>
                  </a:cxnLst>
                  <a:rect l="T12" t="T13" r="T14" b="T15"/>
                  <a:pathLst>
                    <a:path w="230" h="115">
                      <a:moveTo>
                        <a:pt x="0" y="0"/>
                      </a:moveTo>
                      <a:lnTo>
                        <a:pt x="115" y="115"/>
                      </a:lnTo>
                      <a:lnTo>
                        <a:pt x="230" y="0"/>
                      </a:lnTo>
                      <a:lnTo>
                        <a:pt x="0"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5" name="Line 239">
                  <a:extLst>
                    <a:ext uri="{FF2B5EF4-FFF2-40B4-BE49-F238E27FC236}">
                      <a16:creationId xmlns:a16="http://schemas.microsoft.com/office/drawing/2014/main" id="{6E2A3CD5-91F5-014B-99CB-087CBFF0CF8F}"/>
                    </a:ext>
                  </a:extLst>
                </p:cNvPr>
                <p:cNvSpPr>
                  <a:spLocks noChangeShapeType="1"/>
                </p:cNvSpPr>
                <p:nvPr/>
              </p:nvSpPr>
              <p:spPr bwMode="auto">
                <a:xfrm>
                  <a:off x="4723" y="2045"/>
                  <a:ext cx="0" cy="23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3" name="Freeform 332">
                <a:extLst>
                  <a:ext uri="{FF2B5EF4-FFF2-40B4-BE49-F238E27FC236}">
                    <a16:creationId xmlns:a16="http://schemas.microsoft.com/office/drawing/2014/main" id="{1DE79217-644B-0F49-B123-96AE748E6210}"/>
                  </a:ext>
                </a:extLst>
              </p:cNvPr>
              <p:cNvSpPr>
                <a:spLocks/>
              </p:cNvSpPr>
              <p:nvPr/>
            </p:nvSpPr>
            <p:spPr bwMode="auto">
              <a:xfrm>
                <a:off x="3263" y="1176"/>
                <a:ext cx="396" cy="350"/>
              </a:xfrm>
              <a:custGeom>
                <a:avLst/>
                <a:gdLst>
                  <a:gd name="T0" fmla="*/ 0 w 230"/>
                  <a:gd name="T1" fmla="*/ 0 h 230"/>
                  <a:gd name="T2" fmla="*/ 115 w 230"/>
                  <a:gd name="T3" fmla="*/ 230 h 230"/>
                  <a:gd name="T4" fmla="*/ 230 w 230"/>
                  <a:gd name="T5" fmla="*/ 0 h 230"/>
                  <a:gd name="T6" fmla="*/ 0 w 230"/>
                  <a:gd name="T7" fmla="*/ 0 h 230"/>
                  <a:gd name="T8" fmla="*/ 0 60000 65536"/>
                  <a:gd name="T9" fmla="*/ 0 60000 65536"/>
                  <a:gd name="T10" fmla="*/ 0 60000 65536"/>
                  <a:gd name="T11" fmla="*/ 0 60000 65536"/>
                  <a:gd name="T12" fmla="*/ 0 w 230"/>
                  <a:gd name="T13" fmla="*/ 0 h 230"/>
                  <a:gd name="T14" fmla="*/ 230 w 230"/>
                  <a:gd name="T15" fmla="*/ 230 h 230"/>
                </a:gdLst>
                <a:ahLst/>
                <a:cxnLst>
                  <a:cxn ang="T8">
                    <a:pos x="T0" y="T1"/>
                  </a:cxn>
                  <a:cxn ang="T9">
                    <a:pos x="T2" y="T3"/>
                  </a:cxn>
                  <a:cxn ang="T10">
                    <a:pos x="T4" y="T5"/>
                  </a:cxn>
                  <a:cxn ang="T11">
                    <a:pos x="T6" y="T7"/>
                  </a:cxn>
                </a:cxnLst>
                <a:rect l="T12" t="T13" r="T14" b="T15"/>
                <a:pathLst>
                  <a:path w="230" h="230">
                    <a:moveTo>
                      <a:pt x="0" y="0"/>
                    </a:moveTo>
                    <a:lnTo>
                      <a:pt x="115" y="230"/>
                    </a:lnTo>
                    <a:lnTo>
                      <a:pt x="230" y="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cxnSp>
          <p:nvCxnSpPr>
            <p:cNvPr id="39" name="Straight Connector 38">
              <a:extLst>
                <a:ext uri="{FF2B5EF4-FFF2-40B4-BE49-F238E27FC236}">
                  <a16:creationId xmlns:a16="http://schemas.microsoft.com/office/drawing/2014/main" id="{AE4FF339-D285-8B4C-8C87-66759FFF2A2C}"/>
                </a:ext>
              </a:extLst>
            </p:cNvPr>
            <p:cNvCxnSpPr>
              <a:cxnSpLocks/>
            </p:cNvCxnSpPr>
            <p:nvPr/>
          </p:nvCxnSpPr>
          <p:spPr>
            <a:xfrm>
              <a:off x="1754624" y="3609974"/>
              <a:ext cx="0" cy="71406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CAC89B3-1E31-9F48-83ED-B4E2C7E3993D}"/>
                </a:ext>
              </a:extLst>
            </p:cNvPr>
            <p:cNvCxnSpPr>
              <a:cxnSpLocks/>
            </p:cNvCxnSpPr>
            <p:nvPr/>
          </p:nvCxnSpPr>
          <p:spPr>
            <a:xfrm>
              <a:off x="1745969" y="4320861"/>
              <a:ext cx="86511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3" name="Group 864">
              <a:extLst>
                <a:ext uri="{FF2B5EF4-FFF2-40B4-BE49-F238E27FC236}">
                  <a16:creationId xmlns:a16="http://schemas.microsoft.com/office/drawing/2014/main" id="{762CD583-AA2A-7D4D-823B-A9381DFE6BFF}"/>
                </a:ext>
              </a:extLst>
            </p:cNvPr>
            <p:cNvGrpSpPr>
              <a:grpSpLocks/>
            </p:cNvGrpSpPr>
            <p:nvPr/>
          </p:nvGrpSpPr>
          <p:grpSpPr bwMode="auto">
            <a:xfrm>
              <a:off x="3766489" y="3950880"/>
              <a:ext cx="914400" cy="747713"/>
              <a:chOff x="1843" y="1689"/>
              <a:chExt cx="576" cy="471"/>
            </a:xfrm>
          </p:grpSpPr>
          <p:grpSp>
            <p:nvGrpSpPr>
              <p:cNvPr id="44" name="Group 60">
                <a:extLst>
                  <a:ext uri="{FF2B5EF4-FFF2-40B4-BE49-F238E27FC236}">
                    <a16:creationId xmlns:a16="http://schemas.microsoft.com/office/drawing/2014/main" id="{5669657F-5D0E-2740-95C3-3A74188D4143}"/>
                  </a:ext>
                </a:extLst>
              </p:cNvPr>
              <p:cNvGrpSpPr>
                <a:grpSpLocks/>
              </p:cNvGrpSpPr>
              <p:nvPr/>
            </p:nvGrpSpPr>
            <p:grpSpPr bwMode="auto">
              <a:xfrm>
                <a:off x="1843" y="1689"/>
                <a:ext cx="576" cy="461"/>
                <a:chOff x="3456" y="3418"/>
                <a:chExt cx="576" cy="461"/>
              </a:xfrm>
            </p:grpSpPr>
            <p:sp>
              <p:nvSpPr>
                <p:cNvPr id="46" name="Line 55">
                  <a:extLst>
                    <a:ext uri="{FF2B5EF4-FFF2-40B4-BE49-F238E27FC236}">
                      <a16:creationId xmlns:a16="http://schemas.microsoft.com/office/drawing/2014/main" id="{881E254D-223E-EA48-940F-7394AD884BD9}"/>
                    </a:ext>
                  </a:extLst>
                </p:cNvPr>
                <p:cNvSpPr>
                  <a:spLocks noChangeShapeType="1"/>
                </p:cNvSpPr>
                <p:nvPr/>
              </p:nvSpPr>
              <p:spPr bwMode="auto">
                <a:xfrm>
                  <a:off x="3456" y="3658"/>
                  <a:ext cx="5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 name="AutoShape 56">
                  <a:extLst>
                    <a:ext uri="{FF2B5EF4-FFF2-40B4-BE49-F238E27FC236}">
                      <a16:creationId xmlns:a16="http://schemas.microsoft.com/office/drawing/2014/main" id="{9B8CFADA-6B8F-F74C-BC2E-8D17CDD7E2CC}"/>
                    </a:ext>
                  </a:extLst>
                </p:cNvPr>
                <p:cNvSpPr>
                  <a:spLocks noChangeArrowheads="1"/>
                </p:cNvSpPr>
                <p:nvPr/>
              </p:nvSpPr>
              <p:spPr bwMode="auto">
                <a:xfrm rot="5400000">
                  <a:off x="3525" y="3488"/>
                  <a:ext cx="461" cy="322"/>
                </a:xfrm>
                <a:prstGeom prst="triangle">
                  <a:avLst>
                    <a:gd name="adj" fmla="val 50000"/>
                  </a:avLst>
                </a:prstGeom>
                <a:solidFill>
                  <a:schemeClr val="bg1"/>
                </a:solidFill>
                <a:ln w="25400">
                  <a:solidFill>
                    <a:schemeClr val="tx1"/>
                  </a:solidFill>
                  <a:miter lim="800000"/>
                  <a:headEnd/>
                  <a:tailEnd/>
                </a:ln>
              </p:spPr>
              <p:txBody>
                <a:bodyPr rot="10800000" vert="eaVert"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45" name="Freeform 863">
                <a:extLst>
                  <a:ext uri="{FF2B5EF4-FFF2-40B4-BE49-F238E27FC236}">
                    <a16:creationId xmlns:a16="http://schemas.microsoft.com/office/drawing/2014/main" id="{AD23796F-DFF6-4744-B8CD-E963AEE7DF93}"/>
                  </a:ext>
                </a:extLst>
              </p:cNvPr>
              <p:cNvSpPr>
                <a:spLocks/>
              </p:cNvSpPr>
              <p:nvPr/>
            </p:nvSpPr>
            <p:spPr bwMode="auto">
              <a:xfrm>
                <a:off x="1843" y="1699"/>
                <a:ext cx="576" cy="461"/>
              </a:xfrm>
              <a:custGeom>
                <a:avLst/>
                <a:gdLst>
                  <a:gd name="T0" fmla="*/ 0 w 576"/>
                  <a:gd name="T1" fmla="*/ 231 h 461"/>
                  <a:gd name="T2" fmla="*/ 115 w 576"/>
                  <a:gd name="T3" fmla="*/ 461 h 461"/>
                  <a:gd name="T4" fmla="*/ 576 w 576"/>
                  <a:gd name="T5" fmla="*/ 231 h 461"/>
                  <a:gd name="T6" fmla="*/ 115 w 576"/>
                  <a:gd name="T7" fmla="*/ 0 h 461"/>
                  <a:gd name="T8" fmla="*/ 0 w 576"/>
                  <a:gd name="T9" fmla="*/ 231 h 461"/>
                  <a:gd name="T10" fmla="*/ 0 60000 65536"/>
                  <a:gd name="T11" fmla="*/ 0 60000 65536"/>
                  <a:gd name="T12" fmla="*/ 0 60000 65536"/>
                  <a:gd name="T13" fmla="*/ 0 60000 65536"/>
                  <a:gd name="T14" fmla="*/ 0 60000 65536"/>
                  <a:gd name="T15" fmla="*/ 0 w 576"/>
                  <a:gd name="T16" fmla="*/ 0 h 461"/>
                  <a:gd name="T17" fmla="*/ 576 w 576"/>
                  <a:gd name="T18" fmla="*/ 461 h 461"/>
                </a:gdLst>
                <a:ahLst/>
                <a:cxnLst>
                  <a:cxn ang="T10">
                    <a:pos x="T0" y="T1"/>
                  </a:cxn>
                  <a:cxn ang="T11">
                    <a:pos x="T2" y="T3"/>
                  </a:cxn>
                  <a:cxn ang="T12">
                    <a:pos x="T4" y="T5"/>
                  </a:cxn>
                  <a:cxn ang="T13">
                    <a:pos x="T6" y="T7"/>
                  </a:cxn>
                  <a:cxn ang="T14">
                    <a:pos x="T8" y="T9"/>
                  </a:cxn>
                </a:cxnLst>
                <a:rect l="T15" t="T16" r="T17" b="T18"/>
                <a:pathLst>
                  <a:path w="576" h="461">
                    <a:moveTo>
                      <a:pt x="0" y="231"/>
                    </a:moveTo>
                    <a:lnTo>
                      <a:pt x="115" y="461"/>
                    </a:lnTo>
                    <a:lnTo>
                      <a:pt x="576" y="231"/>
                    </a:lnTo>
                    <a:lnTo>
                      <a:pt x="115" y="0"/>
                    </a:lnTo>
                    <a:lnTo>
                      <a:pt x="0" y="231"/>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cxnSp>
          <p:nvCxnSpPr>
            <p:cNvPr id="48" name="Straight Connector 47">
              <a:extLst>
                <a:ext uri="{FF2B5EF4-FFF2-40B4-BE49-F238E27FC236}">
                  <a16:creationId xmlns:a16="http://schemas.microsoft.com/office/drawing/2014/main" id="{19E317C5-6CC0-B041-8215-E7CB0DA19E61}"/>
                </a:ext>
              </a:extLst>
            </p:cNvPr>
            <p:cNvCxnSpPr>
              <a:cxnSpLocks/>
            </p:cNvCxnSpPr>
            <p:nvPr/>
          </p:nvCxnSpPr>
          <p:spPr>
            <a:xfrm>
              <a:off x="3129899" y="4321793"/>
              <a:ext cx="86511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9" name="Group 864">
              <a:extLst>
                <a:ext uri="{FF2B5EF4-FFF2-40B4-BE49-F238E27FC236}">
                  <a16:creationId xmlns:a16="http://schemas.microsoft.com/office/drawing/2014/main" id="{5CD67845-CA98-DE42-A2DA-745B1D28877D}"/>
                </a:ext>
              </a:extLst>
            </p:cNvPr>
            <p:cNvGrpSpPr>
              <a:grpSpLocks/>
            </p:cNvGrpSpPr>
            <p:nvPr/>
          </p:nvGrpSpPr>
          <p:grpSpPr bwMode="auto">
            <a:xfrm>
              <a:off x="5284987" y="3963329"/>
              <a:ext cx="914400" cy="733425"/>
              <a:chOff x="1843" y="1698"/>
              <a:chExt cx="576" cy="462"/>
            </a:xfrm>
          </p:grpSpPr>
          <p:grpSp>
            <p:nvGrpSpPr>
              <p:cNvPr id="51" name="Group 60">
                <a:extLst>
                  <a:ext uri="{FF2B5EF4-FFF2-40B4-BE49-F238E27FC236}">
                    <a16:creationId xmlns:a16="http://schemas.microsoft.com/office/drawing/2014/main" id="{E26B8B0C-7069-074F-BC20-41CBB444A370}"/>
                  </a:ext>
                </a:extLst>
              </p:cNvPr>
              <p:cNvGrpSpPr>
                <a:grpSpLocks/>
              </p:cNvGrpSpPr>
              <p:nvPr/>
            </p:nvGrpSpPr>
            <p:grpSpPr bwMode="auto">
              <a:xfrm>
                <a:off x="1843" y="1698"/>
                <a:ext cx="576" cy="461"/>
                <a:chOff x="3456" y="3427"/>
                <a:chExt cx="576" cy="461"/>
              </a:xfrm>
            </p:grpSpPr>
            <p:sp>
              <p:nvSpPr>
                <p:cNvPr id="53" name="Line 55">
                  <a:extLst>
                    <a:ext uri="{FF2B5EF4-FFF2-40B4-BE49-F238E27FC236}">
                      <a16:creationId xmlns:a16="http://schemas.microsoft.com/office/drawing/2014/main" id="{ED23E655-CEC5-0542-BFC1-0063D8620EED}"/>
                    </a:ext>
                  </a:extLst>
                </p:cNvPr>
                <p:cNvSpPr>
                  <a:spLocks noChangeShapeType="1"/>
                </p:cNvSpPr>
                <p:nvPr/>
              </p:nvSpPr>
              <p:spPr bwMode="auto">
                <a:xfrm>
                  <a:off x="3456" y="3658"/>
                  <a:ext cx="5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 name="AutoShape 56">
                  <a:extLst>
                    <a:ext uri="{FF2B5EF4-FFF2-40B4-BE49-F238E27FC236}">
                      <a16:creationId xmlns:a16="http://schemas.microsoft.com/office/drawing/2014/main" id="{56D1C53F-C98A-1344-8E85-53231633B6EA}"/>
                    </a:ext>
                  </a:extLst>
                </p:cNvPr>
                <p:cNvSpPr>
                  <a:spLocks noChangeArrowheads="1"/>
                </p:cNvSpPr>
                <p:nvPr/>
              </p:nvSpPr>
              <p:spPr bwMode="auto">
                <a:xfrm rot="5400000">
                  <a:off x="3525" y="3497"/>
                  <a:ext cx="461" cy="322"/>
                </a:xfrm>
                <a:prstGeom prst="triangle">
                  <a:avLst>
                    <a:gd name="adj" fmla="val 50000"/>
                  </a:avLst>
                </a:prstGeom>
                <a:solidFill>
                  <a:schemeClr val="bg1"/>
                </a:solidFill>
                <a:ln w="25400">
                  <a:solidFill>
                    <a:schemeClr val="tx1"/>
                  </a:solidFill>
                  <a:miter lim="800000"/>
                  <a:headEnd/>
                  <a:tailEnd/>
                </a:ln>
              </p:spPr>
              <p:txBody>
                <a:bodyPr rot="10800000" vert="eaVert"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52" name="Freeform 863">
                <a:extLst>
                  <a:ext uri="{FF2B5EF4-FFF2-40B4-BE49-F238E27FC236}">
                    <a16:creationId xmlns:a16="http://schemas.microsoft.com/office/drawing/2014/main" id="{AA81CB97-B116-294B-A790-C6532FFEDF40}"/>
                  </a:ext>
                </a:extLst>
              </p:cNvPr>
              <p:cNvSpPr>
                <a:spLocks/>
              </p:cNvSpPr>
              <p:nvPr/>
            </p:nvSpPr>
            <p:spPr bwMode="auto">
              <a:xfrm>
                <a:off x="1843" y="1699"/>
                <a:ext cx="576" cy="461"/>
              </a:xfrm>
              <a:custGeom>
                <a:avLst/>
                <a:gdLst>
                  <a:gd name="T0" fmla="*/ 0 w 576"/>
                  <a:gd name="T1" fmla="*/ 231 h 461"/>
                  <a:gd name="T2" fmla="*/ 115 w 576"/>
                  <a:gd name="T3" fmla="*/ 461 h 461"/>
                  <a:gd name="T4" fmla="*/ 576 w 576"/>
                  <a:gd name="T5" fmla="*/ 231 h 461"/>
                  <a:gd name="T6" fmla="*/ 115 w 576"/>
                  <a:gd name="T7" fmla="*/ 0 h 461"/>
                  <a:gd name="T8" fmla="*/ 0 w 576"/>
                  <a:gd name="T9" fmla="*/ 231 h 461"/>
                  <a:gd name="T10" fmla="*/ 0 60000 65536"/>
                  <a:gd name="T11" fmla="*/ 0 60000 65536"/>
                  <a:gd name="T12" fmla="*/ 0 60000 65536"/>
                  <a:gd name="T13" fmla="*/ 0 60000 65536"/>
                  <a:gd name="T14" fmla="*/ 0 60000 65536"/>
                  <a:gd name="T15" fmla="*/ 0 w 576"/>
                  <a:gd name="T16" fmla="*/ 0 h 461"/>
                  <a:gd name="T17" fmla="*/ 576 w 576"/>
                  <a:gd name="T18" fmla="*/ 461 h 461"/>
                </a:gdLst>
                <a:ahLst/>
                <a:cxnLst>
                  <a:cxn ang="T10">
                    <a:pos x="T0" y="T1"/>
                  </a:cxn>
                  <a:cxn ang="T11">
                    <a:pos x="T2" y="T3"/>
                  </a:cxn>
                  <a:cxn ang="T12">
                    <a:pos x="T4" y="T5"/>
                  </a:cxn>
                  <a:cxn ang="T13">
                    <a:pos x="T6" y="T7"/>
                  </a:cxn>
                  <a:cxn ang="T14">
                    <a:pos x="T8" y="T9"/>
                  </a:cxn>
                </a:cxnLst>
                <a:rect l="T15" t="T16" r="T17" b="T18"/>
                <a:pathLst>
                  <a:path w="576" h="461">
                    <a:moveTo>
                      <a:pt x="0" y="231"/>
                    </a:moveTo>
                    <a:lnTo>
                      <a:pt x="115" y="461"/>
                    </a:lnTo>
                    <a:lnTo>
                      <a:pt x="576" y="231"/>
                    </a:lnTo>
                    <a:lnTo>
                      <a:pt x="115" y="0"/>
                    </a:lnTo>
                    <a:lnTo>
                      <a:pt x="0" y="231"/>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cxnSp>
          <p:nvCxnSpPr>
            <p:cNvPr id="55" name="Straight Connector 54">
              <a:extLst>
                <a:ext uri="{FF2B5EF4-FFF2-40B4-BE49-F238E27FC236}">
                  <a16:creationId xmlns:a16="http://schemas.microsoft.com/office/drawing/2014/main" id="{37139A2F-7F7A-2043-AF03-DCB628A59295}"/>
                </a:ext>
              </a:extLst>
            </p:cNvPr>
            <p:cNvCxnSpPr>
              <a:cxnSpLocks/>
            </p:cNvCxnSpPr>
            <p:nvPr/>
          </p:nvCxnSpPr>
          <p:spPr>
            <a:xfrm>
              <a:off x="4648397" y="4330973"/>
              <a:ext cx="86511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7B854C5C-EF1C-7244-B79C-C65BBC30FABE}"/>
                </a:ext>
              </a:extLst>
            </p:cNvPr>
            <p:cNvCxnSpPr>
              <a:cxnSpLocks/>
            </p:cNvCxnSpPr>
            <p:nvPr/>
          </p:nvCxnSpPr>
          <p:spPr>
            <a:xfrm>
              <a:off x="6045703" y="4329135"/>
              <a:ext cx="86511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D39AB4FB-9971-B842-B56E-85B18518C785}"/>
                </a:ext>
              </a:extLst>
            </p:cNvPr>
            <p:cNvSpPr/>
            <p:nvPr/>
          </p:nvSpPr>
          <p:spPr>
            <a:xfrm>
              <a:off x="6846891" y="4250262"/>
              <a:ext cx="137160" cy="14067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939DA41E-8BE9-B547-96ED-AB2F2B438AC6}"/>
                </a:ext>
              </a:extLst>
            </p:cNvPr>
            <p:cNvSpPr txBox="1"/>
            <p:nvPr/>
          </p:nvSpPr>
          <p:spPr>
            <a:xfrm>
              <a:off x="955224" y="3244849"/>
              <a:ext cx="492577" cy="369332"/>
            </a:xfrm>
            <a:prstGeom prst="rect">
              <a:avLst/>
            </a:prstGeom>
            <a:noFill/>
          </p:spPr>
          <p:txBody>
            <a:bodyPr wrap="square" rtlCol="0">
              <a:spAutoFit/>
            </a:bodyPr>
            <a:lstStyle/>
            <a:p>
              <a:r>
                <a:rPr lang="en-US" dirty="0"/>
                <a:t>T</a:t>
              </a:r>
              <a:r>
                <a:rPr lang="en-US" baseline="-25000" dirty="0"/>
                <a:t>a</a:t>
              </a:r>
            </a:p>
          </p:txBody>
        </p:sp>
        <p:sp>
          <p:nvSpPr>
            <p:cNvPr id="61" name="TextBox 60">
              <a:extLst>
                <a:ext uri="{FF2B5EF4-FFF2-40B4-BE49-F238E27FC236}">
                  <a16:creationId xmlns:a16="http://schemas.microsoft.com/office/drawing/2014/main" id="{86B693B9-0FF4-1042-A653-8C1C58C07FF1}"/>
                </a:ext>
              </a:extLst>
            </p:cNvPr>
            <p:cNvSpPr txBox="1"/>
            <p:nvPr/>
          </p:nvSpPr>
          <p:spPr>
            <a:xfrm>
              <a:off x="2252549" y="4714260"/>
              <a:ext cx="1249186" cy="429600"/>
            </a:xfrm>
            <a:prstGeom prst="rect">
              <a:avLst/>
            </a:prstGeom>
            <a:noFill/>
          </p:spPr>
          <p:txBody>
            <a:bodyPr wrap="square" rtlCol="0">
              <a:spAutoFit/>
            </a:bodyPr>
            <a:lstStyle/>
            <a:p>
              <a:r>
                <a:rPr lang="en-US" sz="1600" dirty="0"/>
                <a:t>G</a:t>
              </a:r>
              <a:r>
                <a:rPr lang="en-US" sz="1600" baseline="-25000" dirty="0"/>
                <a:t>1</a:t>
              </a:r>
              <a:r>
                <a:rPr lang="en-US" sz="1600" dirty="0"/>
                <a:t>, N</a:t>
              </a:r>
              <a:r>
                <a:rPr lang="en-US" sz="1600" baseline="-25000" dirty="0"/>
                <a:t>1</a:t>
              </a:r>
              <a:r>
                <a:rPr lang="en-US" sz="1600" dirty="0"/>
                <a:t>, T</a:t>
              </a:r>
              <a:r>
                <a:rPr lang="en-US" sz="1600" baseline="-25000" dirty="0"/>
                <a:t>1</a:t>
              </a:r>
            </a:p>
          </p:txBody>
        </p:sp>
        <p:sp>
          <p:nvSpPr>
            <p:cNvPr id="62" name="TextBox 61">
              <a:extLst>
                <a:ext uri="{FF2B5EF4-FFF2-40B4-BE49-F238E27FC236}">
                  <a16:creationId xmlns:a16="http://schemas.microsoft.com/office/drawing/2014/main" id="{8E4266AB-A95C-C845-A242-B7F6B2401CA6}"/>
                </a:ext>
              </a:extLst>
            </p:cNvPr>
            <p:cNvSpPr txBox="1"/>
            <p:nvPr/>
          </p:nvSpPr>
          <p:spPr>
            <a:xfrm>
              <a:off x="3689463" y="4757801"/>
              <a:ext cx="1227412" cy="429600"/>
            </a:xfrm>
            <a:prstGeom prst="rect">
              <a:avLst/>
            </a:prstGeom>
            <a:noFill/>
          </p:spPr>
          <p:txBody>
            <a:bodyPr wrap="square" rtlCol="0">
              <a:spAutoFit/>
            </a:bodyPr>
            <a:lstStyle/>
            <a:p>
              <a:r>
                <a:rPr lang="en-US" sz="1600" dirty="0"/>
                <a:t>G</a:t>
              </a:r>
              <a:r>
                <a:rPr lang="en-US" sz="1600" baseline="-25000" dirty="0"/>
                <a:t>2</a:t>
              </a:r>
              <a:r>
                <a:rPr lang="en-US" sz="1600" dirty="0"/>
                <a:t>, N</a:t>
              </a:r>
              <a:r>
                <a:rPr lang="en-US" sz="1600" baseline="-25000" dirty="0"/>
                <a:t>2</a:t>
              </a:r>
              <a:r>
                <a:rPr lang="en-US" sz="1600" dirty="0"/>
                <a:t>, T</a:t>
              </a:r>
              <a:r>
                <a:rPr lang="en-US" sz="1600" baseline="-25000" dirty="0"/>
                <a:t>2</a:t>
              </a:r>
            </a:p>
          </p:txBody>
        </p:sp>
        <p:sp>
          <p:nvSpPr>
            <p:cNvPr id="63" name="TextBox 62">
              <a:extLst>
                <a:ext uri="{FF2B5EF4-FFF2-40B4-BE49-F238E27FC236}">
                  <a16:creationId xmlns:a16="http://schemas.microsoft.com/office/drawing/2014/main" id="{BFAE5233-911F-BE4F-8EAA-9C58BEB1783D}"/>
                </a:ext>
              </a:extLst>
            </p:cNvPr>
            <p:cNvSpPr txBox="1"/>
            <p:nvPr/>
          </p:nvSpPr>
          <p:spPr>
            <a:xfrm>
              <a:off x="5104604" y="4768688"/>
              <a:ext cx="1372004" cy="429600"/>
            </a:xfrm>
            <a:prstGeom prst="rect">
              <a:avLst/>
            </a:prstGeom>
            <a:noFill/>
          </p:spPr>
          <p:txBody>
            <a:bodyPr wrap="square" rtlCol="0">
              <a:spAutoFit/>
            </a:bodyPr>
            <a:lstStyle/>
            <a:p>
              <a:r>
                <a:rPr lang="en-US" sz="1600" dirty="0"/>
                <a:t>G</a:t>
              </a:r>
              <a:r>
                <a:rPr lang="en-US" sz="1600" baseline="-25000" dirty="0"/>
                <a:t>3</a:t>
              </a:r>
              <a:r>
                <a:rPr lang="en-US" sz="1600" dirty="0"/>
                <a:t>, N</a:t>
              </a:r>
              <a:r>
                <a:rPr lang="en-US" sz="1600" baseline="-25000" dirty="0"/>
                <a:t>3</a:t>
              </a:r>
              <a:r>
                <a:rPr lang="en-US" sz="1600" dirty="0"/>
                <a:t>, T</a:t>
              </a:r>
              <a:r>
                <a:rPr lang="en-US" sz="1600" baseline="-25000" dirty="0"/>
                <a:t>3</a:t>
              </a:r>
            </a:p>
          </p:txBody>
        </p:sp>
        <p:sp>
          <p:nvSpPr>
            <p:cNvPr id="64" name="TextBox 63">
              <a:extLst>
                <a:ext uri="{FF2B5EF4-FFF2-40B4-BE49-F238E27FC236}">
                  <a16:creationId xmlns:a16="http://schemas.microsoft.com/office/drawing/2014/main" id="{A4D1B95E-837F-3645-93D2-C8376DF1589D}"/>
                </a:ext>
              </a:extLst>
            </p:cNvPr>
            <p:cNvSpPr txBox="1"/>
            <p:nvPr/>
          </p:nvSpPr>
          <p:spPr>
            <a:xfrm>
              <a:off x="7051218" y="4170135"/>
              <a:ext cx="492577" cy="369332"/>
            </a:xfrm>
            <a:prstGeom prst="rect">
              <a:avLst/>
            </a:prstGeom>
            <a:noFill/>
          </p:spPr>
          <p:txBody>
            <a:bodyPr wrap="square" rtlCol="0">
              <a:spAutoFit/>
            </a:bodyPr>
            <a:lstStyle/>
            <a:p>
              <a:r>
                <a:rPr lang="en-US" dirty="0"/>
                <a:t>N</a:t>
              </a:r>
              <a:endParaRPr lang="en-US" baseline="-25000" dirty="0"/>
            </a:p>
          </p:txBody>
        </p:sp>
        <p:sp>
          <p:nvSpPr>
            <p:cNvPr id="65" name="TextBox 64">
              <a:extLst>
                <a:ext uri="{FF2B5EF4-FFF2-40B4-BE49-F238E27FC236}">
                  <a16:creationId xmlns:a16="http://schemas.microsoft.com/office/drawing/2014/main" id="{1FF09B26-7838-1D41-B29F-0BEDC1C8496F}"/>
                </a:ext>
              </a:extLst>
            </p:cNvPr>
            <p:cNvSpPr txBox="1"/>
            <p:nvPr/>
          </p:nvSpPr>
          <p:spPr>
            <a:xfrm>
              <a:off x="3504406" y="5258547"/>
              <a:ext cx="2351693" cy="429600"/>
            </a:xfrm>
            <a:prstGeom prst="rect">
              <a:avLst/>
            </a:prstGeom>
            <a:noFill/>
          </p:spPr>
          <p:txBody>
            <a:bodyPr wrap="square" rtlCol="0">
              <a:spAutoFit/>
            </a:bodyPr>
            <a:lstStyle/>
            <a:p>
              <a:r>
                <a:rPr lang="en-US" sz="1600" dirty="0"/>
                <a:t>Process Cascade</a:t>
              </a:r>
            </a:p>
          </p:txBody>
        </p:sp>
      </p:grpSp>
    </p:spTree>
    <p:extLst>
      <p:ext uri="{BB962C8B-B14F-4D97-AF65-F5344CB8AC3E}">
        <p14:creationId xmlns:p14="http://schemas.microsoft.com/office/powerpoint/2010/main" val="17575675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279235" y="304954"/>
            <a:ext cx="11174680" cy="677108"/>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Mixers</a:t>
            </a:r>
            <a:endParaRPr sz="20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374323" y="1704855"/>
                <a:ext cx="11174680" cy="373347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285750" indent="-285750"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𝑉</m:t>
                        </m:r>
                      </m:e>
                      <m:sub>
                        <m:r>
                          <a:rPr lang="en-US" sz="2000" b="0" i="1" smtClean="0">
                            <a:solidFill>
                              <a:srgbClr val="000000"/>
                            </a:solidFill>
                            <a:latin typeface="Cambria Math" panose="02040503050406030204" pitchFamily="18" charset="0"/>
                            <a:sym typeface="Calibri"/>
                          </a:rPr>
                          <m:t>𝑙𝑜</m:t>
                        </m:r>
                      </m:sub>
                    </m:sSub>
                    <m:r>
                      <a:rPr lang="en-US" sz="2000" b="0" i="1" smtClean="0">
                        <a:solidFill>
                          <a:srgbClr val="000000"/>
                        </a:solidFill>
                        <a:latin typeface="Cambria Math" panose="02040503050406030204" pitchFamily="18" charset="0"/>
                        <a:sym typeface="Calibri"/>
                      </a:rPr>
                      <m:t>(</m:t>
                    </m:r>
                    <m:r>
                      <a:rPr lang="en-US" sz="2000" b="0" i="1" smtClean="0">
                        <a:solidFill>
                          <a:srgbClr val="000000"/>
                        </a:solidFill>
                        <a:latin typeface="Cambria Math" panose="02040503050406030204" pitchFamily="18" charset="0"/>
                        <a:sym typeface="Calibri"/>
                      </a:rPr>
                      <m:t>𝑡</m:t>
                    </m:r>
                    <m:r>
                      <a:rPr lang="en-US" sz="2000" b="0" i="1" smtClean="0">
                        <a:solidFill>
                          <a:srgbClr val="000000"/>
                        </a:solidFill>
                        <a:latin typeface="Cambria Math" panose="02040503050406030204" pitchFamily="18" charset="0"/>
                        <a:sym typeface="Calibri"/>
                      </a:rPr>
                      <m:t>)</m:t>
                    </m:r>
                  </m:oMath>
                </a14:m>
                <a:r>
                  <a:rPr lang="en-US" sz="2000" dirty="0">
                    <a:solidFill>
                      <a:srgbClr val="000000"/>
                    </a:solidFill>
                    <a:sym typeface="Calibri"/>
                  </a:rPr>
                  <a:t> is a square wave with period </a:t>
                </a:r>
                <a14:m>
                  <m:oMath xmlns:m="http://schemas.openxmlformats.org/officeDocument/2006/math">
                    <m:sSub>
                      <m:sSubPr>
                        <m:ctrlPr>
                          <a:rPr lang="en-US" sz="2000" i="1" smtClean="0">
                            <a:solidFill>
                              <a:srgbClr val="000000"/>
                            </a:solidFill>
                            <a:latin typeface="Cambria Math" panose="02040503050406030204" pitchFamily="18" charset="0"/>
                            <a:ea typeface="Cambria Math" panose="02040503050406030204" pitchFamily="18" charset="0"/>
                            <a:sym typeface="Calibri"/>
                          </a:rPr>
                        </m:ctrlPr>
                      </m:sSubPr>
                      <m:e>
                        <m:r>
                          <a:rPr lang="en-US" sz="2000" i="1" smtClean="0">
                            <a:solidFill>
                              <a:srgbClr val="000000"/>
                            </a:solidFill>
                            <a:latin typeface="Cambria Math" panose="02040503050406030204" pitchFamily="18" charset="0"/>
                            <a:ea typeface="Cambria Math" panose="02040503050406030204" pitchFamily="18" charset="0"/>
                            <a:sym typeface="Calibri"/>
                          </a:rPr>
                          <m:t>𝜔</m:t>
                        </m:r>
                      </m:e>
                      <m:sub>
                        <m:r>
                          <a:rPr lang="en-US" sz="2000" b="0" i="1" smtClean="0">
                            <a:solidFill>
                              <a:srgbClr val="000000"/>
                            </a:solidFill>
                            <a:latin typeface="Cambria Math" panose="02040503050406030204" pitchFamily="18" charset="0"/>
                            <a:sym typeface="Calibri"/>
                          </a:rPr>
                          <m:t>𝑙𝑜</m:t>
                        </m:r>
                      </m:sub>
                    </m:sSub>
                  </m:oMath>
                </a14:m>
                <a:r>
                  <a:rPr lang="en-US" sz="2000" dirty="0">
                    <a:solidFill>
                      <a:srgbClr val="000000"/>
                    </a:solidFill>
                    <a:sym typeface="Calibri"/>
                  </a:rPr>
                  <a:t>.  Expanding this in a Fourier series, we get:</a:t>
                </a:r>
              </a:p>
              <a:p>
                <a:pPr marL="285750" indent="-285750"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sym typeface="Calibri"/>
                          </a:rPr>
                        </m:ctrlPr>
                      </m:sSubPr>
                      <m:e>
                        <m:r>
                          <a:rPr lang="en-US" sz="2000" i="1">
                            <a:solidFill>
                              <a:srgbClr val="000000"/>
                            </a:solidFill>
                            <a:latin typeface="Cambria Math" panose="02040503050406030204" pitchFamily="18" charset="0"/>
                            <a:sym typeface="Calibri"/>
                          </a:rPr>
                          <m:t>𝑉</m:t>
                        </m:r>
                      </m:e>
                      <m:sub>
                        <m:r>
                          <a:rPr lang="en-US" sz="2000" i="1">
                            <a:solidFill>
                              <a:srgbClr val="000000"/>
                            </a:solidFill>
                            <a:latin typeface="Cambria Math" panose="02040503050406030204" pitchFamily="18" charset="0"/>
                            <a:sym typeface="Calibri"/>
                          </a:rPr>
                          <m:t>𝑙𝑜</m:t>
                        </m:r>
                      </m:sub>
                    </m:sSub>
                    <m:d>
                      <m:dPr>
                        <m:ctrlPr>
                          <a:rPr lang="en-US" sz="2000" i="1">
                            <a:solidFill>
                              <a:srgbClr val="000000"/>
                            </a:solidFill>
                            <a:latin typeface="Cambria Math" panose="02040503050406030204" pitchFamily="18" charset="0"/>
                            <a:sym typeface="Calibri"/>
                          </a:rPr>
                        </m:ctrlPr>
                      </m:dPr>
                      <m:e>
                        <m:r>
                          <a:rPr lang="en-US" sz="2000" i="1">
                            <a:solidFill>
                              <a:srgbClr val="000000"/>
                            </a:solidFill>
                            <a:latin typeface="Cambria Math" panose="02040503050406030204" pitchFamily="18" charset="0"/>
                            <a:sym typeface="Calibri"/>
                          </a:rPr>
                          <m:t>𝑡</m:t>
                        </m:r>
                      </m:e>
                    </m:d>
                    <m:r>
                      <a:rPr lang="en-US" sz="2000" b="0" i="0" smtClean="0">
                        <a:solidFill>
                          <a:srgbClr val="000000"/>
                        </a:solidFill>
                        <a:latin typeface="Cambria Math" panose="02040503050406030204" pitchFamily="18" charset="0"/>
                        <a:sym typeface="Calibri"/>
                      </a:rPr>
                      <m:t>= </m:t>
                    </m:r>
                    <m:f>
                      <m:fPr>
                        <m:ctrlPr>
                          <a:rPr lang="en-US" sz="2000" b="0" i="1" smtClean="0">
                            <a:solidFill>
                              <a:srgbClr val="000000"/>
                            </a:solidFill>
                            <a:latin typeface="Cambria Math" panose="02040503050406030204" pitchFamily="18" charset="0"/>
                            <a:sym typeface="Calibri"/>
                          </a:rPr>
                        </m:ctrlPr>
                      </m:fPr>
                      <m:num>
                        <m:r>
                          <a:rPr lang="en-US" sz="2000" b="0" i="1" smtClean="0">
                            <a:solidFill>
                              <a:srgbClr val="000000"/>
                            </a:solidFill>
                            <a:latin typeface="Cambria Math" panose="02040503050406030204" pitchFamily="18" charset="0"/>
                            <a:sym typeface="Calibri"/>
                          </a:rPr>
                          <m:t>4</m:t>
                        </m:r>
                      </m:num>
                      <m:den>
                        <m:r>
                          <a:rPr lang="en-US" sz="2000" b="0" i="1" smtClean="0">
                            <a:solidFill>
                              <a:srgbClr val="000000"/>
                            </a:solidFill>
                            <a:latin typeface="Cambria Math" panose="02040503050406030204" pitchFamily="18" charset="0"/>
                            <a:ea typeface="Cambria Math" panose="02040503050406030204" pitchFamily="18" charset="0"/>
                            <a:sym typeface="Calibri"/>
                          </a:rPr>
                          <m:t>𝜋</m:t>
                        </m:r>
                      </m:den>
                    </m:f>
                    <m:r>
                      <a:rPr lang="en-US" sz="2000" b="0" i="1" smtClean="0">
                        <a:solidFill>
                          <a:srgbClr val="000000"/>
                        </a:solidFill>
                        <a:latin typeface="Cambria Math" panose="02040503050406030204" pitchFamily="18" charset="0"/>
                        <a:sym typeface="Calibri"/>
                      </a:rPr>
                      <m:t>(</m:t>
                    </m:r>
                    <m:func>
                      <m:funcPr>
                        <m:ctrlPr>
                          <a:rPr lang="en-US" sz="2000" b="0" i="0" smtClean="0">
                            <a:solidFill>
                              <a:srgbClr val="000000"/>
                            </a:solidFill>
                            <a:latin typeface="Cambria Math" panose="02040503050406030204" pitchFamily="18" charset="0"/>
                            <a:sym typeface="Calibri"/>
                          </a:rPr>
                        </m:ctrlPr>
                      </m:funcPr>
                      <m:fName>
                        <m:r>
                          <m:rPr>
                            <m:sty m:val="p"/>
                          </m:rPr>
                          <a:rPr lang="en-US" sz="2000" b="0" i="0" smtClean="0">
                            <a:solidFill>
                              <a:srgbClr val="000000"/>
                            </a:solidFill>
                            <a:latin typeface="Cambria Math" panose="02040503050406030204" pitchFamily="18" charset="0"/>
                            <a:sym typeface="Calibri"/>
                          </a:rPr>
                          <m:t>cos</m:t>
                        </m:r>
                      </m:fName>
                      <m:e>
                        <m:d>
                          <m:dPr>
                            <m:ctrlPr>
                              <a:rPr lang="en-US" sz="2000" b="0" i="1" smtClean="0">
                                <a:solidFill>
                                  <a:srgbClr val="000000"/>
                                </a:solidFill>
                                <a:latin typeface="Cambria Math" panose="02040503050406030204" pitchFamily="18" charset="0"/>
                                <a:sym typeface="Calibri"/>
                              </a:rPr>
                            </m:ctrlPr>
                          </m:dPr>
                          <m:e>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𝜔</m:t>
                                </m:r>
                              </m:e>
                              <m:sub>
                                <m:r>
                                  <a:rPr lang="en-US" sz="2000" b="0" i="1" smtClean="0">
                                    <a:solidFill>
                                      <a:srgbClr val="000000"/>
                                    </a:solidFill>
                                    <a:latin typeface="Cambria Math" panose="02040503050406030204" pitchFamily="18" charset="0"/>
                                    <a:sym typeface="Calibri"/>
                                  </a:rPr>
                                  <m:t>𝑙𝑜</m:t>
                                </m:r>
                              </m:sub>
                            </m:sSub>
                            <m:r>
                              <a:rPr lang="en-US" sz="2000" b="0" i="1" smtClean="0">
                                <a:solidFill>
                                  <a:srgbClr val="000000"/>
                                </a:solidFill>
                                <a:latin typeface="Cambria Math" panose="02040503050406030204" pitchFamily="18" charset="0"/>
                                <a:sym typeface="Calibri"/>
                              </a:rPr>
                              <m:t>𝑡</m:t>
                            </m:r>
                          </m:e>
                        </m:d>
                      </m:e>
                    </m:func>
                    <m:r>
                      <a:rPr lang="en-US" sz="2000" b="0" i="1" smtClean="0">
                        <a:solidFill>
                          <a:srgbClr val="000000"/>
                        </a:solidFill>
                        <a:latin typeface="Cambria Math" panose="02040503050406030204" pitchFamily="18" charset="0"/>
                        <a:sym typeface="Calibri"/>
                      </a:rPr>
                      <m:t>−</m:t>
                    </m:r>
                    <m:f>
                      <m:fPr>
                        <m:ctrlPr>
                          <a:rPr lang="en-US" sz="2000" b="0" i="1" smtClean="0">
                            <a:solidFill>
                              <a:srgbClr val="000000"/>
                            </a:solidFill>
                            <a:latin typeface="Cambria Math" panose="02040503050406030204" pitchFamily="18" charset="0"/>
                            <a:sym typeface="Calibri"/>
                          </a:rPr>
                        </m:ctrlPr>
                      </m:fPr>
                      <m:num>
                        <m:func>
                          <m:funcPr>
                            <m:ctrlPr>
                              <a:rPr lang="en-US" sz="2000" b="0" i="0" smtClean="0">
                                <a:solidFill>
                                  <a:srgbClr val="000000"/>
                                </a:solidFill>
                                <a:latin typeface="Cambria Math" panose="02040503050406030204" pitchFamily="18" charset="0"/>
                                <a:sym typeface="Calibri"/>
                              </a:rPr>
                            </m:ctrlPr>
                          </m:funcPr>
                          <m:fName>
                            <m:r>
                              <m:rPr>
                                <m:sty m:val="p"/>
                              </m:rPr>
                              <a:rPr lang="en-US" sz="2000" b="0" i="0" smtClean="0">
                                <a:solidFill>
                                  <a:srgbClr val="000000"/>
                                </a:solidFill>
                                <a:latin typeface="Cambria Math" panose="02040503050406030204" pitchFamily="18" charset="0"/>
                                <a:sym typeface="Calibri"/>
                              </a:rPr>
                              <m:t>cos</m:t>
                            </m:r>
                          </m:fName>
                          <m:e>
                            <m:d>
                              <m:dPr>
                                <m:ctrlPr>
                                  <a:rPr lang="en-US" sz="2000" b="0" i="1" smtClean="0">
                                    <a:solidFill>
                                      <a:srgbClr val="000000"/>
                                    </a:solidFill>
                                    <a:latin typeface="Cambria Math" panose="02040503050406030204" pitchFamily="18" charset="0"/>
                                    <a:sym typeface="Calibri"/>
                                  </a:rPr>
                                </m:ctrlPr>
                              </m:dPr>
                              <m:e>
                                <m:r>
                                  <a:rPr lang="en-US" sz="2000" b="0" i="1" smtClean="0">
                                    <a:solidFill>
                                      <a:srgbClr val="000000"/>
                                    </a:solidFill>
                                    <a:latin typeface="Cambria Math" panose="02040503050406030204" pitchFamily="18" charset="0"/>
                                    <a:sym typeface="Calibri"/>
                                  </a:rPr>
                                  <m:t>3</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𝜔</m:t>
                                    </m:r>
                                  </m:e>
                                  <m:sub>
                                    <m:r>
                                      <a:rPr lang="en-US" sz="2000" b="0" i="1" smtClean="0">
                                        <a:solidFill>
                                          <a:srgbClr val="000000"/>
                                        </a:solidFill>
                                        <a:latin typeface="Cambria Math" panose="02040503050406030204" pitchFamily="18" charset="0"/>
                                        <a:sym typeface="Calibri"/>
                                      </a:rPr>
                                      <m:t>𝑙𝑜</m:t>
                                    </m:r>
                                  </m:sub>
                                </m:sSub>
                                <m:r>
                                  <a:rPr lang="en-US" sz="2000" b="0" i="1" smtClean="0">
                                    <a:solidFill>
                                      <a:srgbClr val="000000"/>
                                    </a:solidFill>
                                    <a:latin typeface="Cambria Math" panose="02040503050406030204" pitchFamily="18" charset="0"/>
                                    <a:sym typeface="Calibri"/>
                                  </a:rPr>
                                  <m:t>𝑡</m:t>
                                </m:r>
                              </m:e>
                            </m:d>
                          </m:e>
                        </m:func>
                      </m:num>
                      <m:den>
                        <m:r>
                          <a:rPr lang="en-US" sz="2000" b="0" i="1" smtClean="0">
                            <a:solidFill>
                              <a:srgbClr val="000000"/>
                            </a:solidFill>
                            <a:latin typeface="Cambria Math" panose="02040503050406030204" pitchFamily="18" charset="0"/>
                            <a:sym typeface="Calibri"/>
                          </a:rPr>
                          <m:t>3</m:t>
                        </m:r>
                      </m:den>
                    </m:f>
                    <m:r>
                      <a:rPr lang="en-US" sz="2000" b="0" i="1" smtClean="0">
                        <a:solidFill>
                          <a:srgbClr val="000000"/>
                        </a:solidFill>
                        <a:latin typeface="Cambria Math" panose="02040503050406030204" pitchFamily="18" charset="0"/>
                        <a:sym typeface="Calibri"/>
                      </a:rPr>
                      <m:t>+</m:t>
                    </m:r>
                    <m:f>
                      <m:fPr>
                        <m:ctrlPr>
                          <a:rPr lang="en-US" sz="2000" i="1">
                            <a:solidFill>
                              <a:srgbClr val="000000"/>
                            </a:solidFill>
                            <a:latin typeface="Cambria Math" panose="02040503050406030204" pitchFamily="18" charset="0"/>
                            <a:sym typeface="Calibri"/>
                          </a:rPr>
                        </m:ctrlPr>
                      </m:fPr>
                      <m:num>
                        <m:func>
                          <m:funcPr>
                            <m:ctrlPr>
                              <a:rPr lang="en-US" sz="2000">
                                <a:solidFill>
                                  <a:srgbClr val="000000"/>
                                </a:solidFill>
                                <a:latin typeface="Cambria Math" panose="02040503050406030204" pitchFamily="18" charset="0"/>
                                <a:sym typeface="Calibri"/>
                              </a:rPr>
                            </m:ctrlPr>
                          </m:funcPr>
                          <m:fName>
                            <m:r>
                              <m:rPr>
                                <m:sty m:val="p"/>
                              </m:rPr>
                              <a:rPr lang="en-US" sz="2000">
                                <a:solidFill>
                                  <a:srgbClr val="000000"/>
                                </a:solidFill>
                                <a:latin typeface="Cambria Math" panose="02040503050406030204" pitchFamily="18" charset="0"/>
                                <a:sym typeface="Calibri"/>
                              </a:rPr>
                              <m:t>cos</m:t>
                            </m:r>
                          </m:fName>
                          <m:e>
                            <m:d>
                              <m:dPr>
                                <m:ctrlPr>
                                  <a:rPr lang="en-US" sz="2000" b="0" i="1" smtClean="0">
                                    <a:solidFill>
                                      <a:srgbClr val="000000"/>
                                    </a:solidFill>
                                    <a:latin typeface="Cambria Math" panose="02040503050406030204" pitchFamily="18" charset="0"/>
                                    <a:sym typeface="Calibri"/>
                                  </a:rPr>
                                </m:ctrlPr>
                              </m:dPr>
                              <m:e>
                                <m:r>
                                  <a:rPr lang="en-US" sz="2000" b="0" i="1" smtClean="0">
                                    <a:solidFill>
                                      <a:srgbClr val="000000"/>
                                    </a:solidFill>
                                    <a:latin typeface="Cambria Math" panose="02040503050406030204" pitchFamily="18" charset="0"/>
                                    <a:sym typeface="Calibri"/>
                                  </a:rPr>
                                  <m:t>5</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𝜔</m:t>
                                    </m:r>
                                  </m:e>
                                  <m:sub>
                                    <m:r>
                                      <a:rPr lang="en-US" sz="2000" i="1">
                                        <a:solidFill>
                                          <a:srgbClr val="000000"/>
                                        </a:solidFill>
                                        <a:latin typeface="Cambria Math" panose="02040503050406030204" pitchFamily="18" charset="0"/>
                                        <a:sym typeface="Calibri"/>
                                      </a:rPr>
                                      <m:t>𝑙𝑜</m:t>
                                    </m:r>
                                  </m:sub>
                                </m:sSub>
                                <m:r>
                                  <a:rPr lang="en-US" sz="2000" i="1">
                                    <a:solidFill>
                                      <a:srgbClr val="000000"/>
                                    </a:solidFill>
                                    <a:latin typeface="Cambria Math" panose="02040503050406030204" pitchFamily="18" charset="0"/>
                                    <a:sym typeface="Calibri"/>
                                  </a:rPr>
                                  <m:t>𝑡</m:t>
                                </m:r>
                              </m:e>
                            </m:d>
                          </m:e>
                        </m:func>
                      </m:num>
                      <m:den>
                        <m:r>
                          <a:rPr lang="en-US" sz="2000" b="0" i="1" smtClean="0">
                            <a:solidFill>
                              <a:srgbClr val="000000"/>
                            </a:solidFill>
                            <a:latin typeface="Cambria Math" panose="02040503050406030204" pitchFamily="18" charset="0"/>
                            <a:sym typeface="Calibri"/>
                          </a:rPr>
                          <m:t>5</m:t>
                        </m:r>
                      </m:den>
                    </m:f>
                    <m:r>
                      <a:rPr lang="en-US" sz="2000" b="0" i="1" smtClean="0">
                        <a:solidFill>
                          <a:srgbClr val="000000"/>
                        </a:solidFill>
                        <a:latin typeface="Cambria Math" panose="02040503050406030204" pitchFamily="18" charset="0"/>
                        <a:sym typeface="Calibri"/>
                      </a:rPr>
                      <m:t>…)</m:t>
                    </m:r>
                  </m:oMath>
                </a14:m>
                <a:r>
                  <a:rPr lang="en-US" sz="2000" dirty="0">
                    <a:solidFill>
                      <a:srgbClr val="000000"/>
                    </a:solidFill>
                    <a:sym typeface="Calibri"/>
                  </a:rPr>
                  <a:t>, </a:t>
                </a:r>
                <a14:m>
                  <m:oMath xmlns:m="http://schemas.openxmlformats.org/officeDocument/2006/math">
                    <m:sSub>
                      <m:sSubPr>
                        <m:ctrlPr>
                          <a:rPr lang="en-US" sz="2000" b="0" i="1" dirty="0" smtClean="0">
                            <a:solidFill>
                              <a:srgbClr val="000000"/>
                            </a:solidFill>
                            <a:latin typeface="Cambria Math" panose="02040503050406030204" pitchFamily="18" charset="0"/>
                            <a:sym typeface="Calibri"/>
                          </a:rPr>
                        </m:ctrlPr>
                      </m:sSubPr>
                      <m:e>
                        <m:r>
                          <a:rPr lang="en-US" sz="2000" b="0" i="1" dirty="0" smtClean="0">
                            <a:solidFill>
                              <a:srgbClr val="000000"/>
                            </a:solidFill>
                            <a:latin typeface="Cambria Math" panose="02040503050406030204" pitchFamily="18" charset="0"/>
                            <a:sym typeface="Calibri"/>
                          </a:rPr>
                          <m:t>𝑉</m:t>
                        </m:r>
                      </m:e>
                      <m:sub>
                        <m:r>
                          <a:rPr lang="en-US" sz="2000" b="0" i="1" dirty="0" smtClean="0">
                            <a:solidFill>
                              <a:srgbClr val="000000"/>
                            </a:solidFill>
                            <a:latin typeface="Cambria Math" panose="02040503050406030204" pitchFamily="18" charset="0"/>
                            <a:sym typeface="Calibri"/>
                          </a:rPr>
                          <m:t>𝑟𝑓</m:t>
                        </m:r>
                      </m:sub>
                    </m:sSub>
                    <m:d>
                      <m:dPr>
                        <m:ctrlPr>
                          <a:rPr lang="en-US" sz="2000" b="0" i="1" dirty="0" smtClean="0">
                            <a:solidFill>
                              <a:srgbClr val="000000"/>
                            </a:solidFill>
                            <a:latin typeface="Cambria Math" panose="02040503050406030204" pitchFamily="18" charset="0"/>
                            <a:sym typeface="Calibri"/>
                          </a:rPr>
                        </m:ctrlPr>
                      </m:dPr>
                      <m:e>
                        <m:r>
                          <a:rPr lang="en-US" sz="2000" b="0" i="1" dirty="0" smtClean="0">
                            <a:solidFill>
                              <a:srgbClr val="000000"/>
                            </a:solidFill>
                            <a:latin typeface="Cambria Math" panose="02040503050406030204" pitchFamily="18" charset="0"/>
                            <a:sym typeface="Calibri"/>
                          </a:rPr>
                          <m:t>𝑡</m:t>
                        </m:r>
                      </m:e>
                    </m:d>
                    <m:r>
                      <a:rPr lang="en-US" sz="2000" b="0" i="1" dirty="0" smtClean="0">
                        <a:solidFill>
                          <a:srgbClr val="000000"/>
                        </a:solidFill>
                        <a:latin typeface="Cambria Math" panose="02040503050406030204" pitchFamily="18" charset="0"/>
                        <a:sym typeface="Calibri"/>
                      </a:rPr>
                      <m:t>=</m:t>
                    </m:r>
                    <m:sSub>
                      <m:sSubPr>
                        <m:ctrlPr>
                          <a:rPr lang="en-US" sz="2000" b="0" i="1" dirty="0" smtClean="0">
                            <a:solidFill>
                              <a:srgbClr val="000000"/>
                            </a:solidFill>
                            <a:latin typeface="Cambria Math" panose="02040503050406030204" pitchFamily="18" charset="0"/>
                            <a:sym typeface="Calibri"/>
                          </a:rPr>
                        </m:ctrlPr>
                      </m:sSubPr>
                      <m:e>
                        <m:r>
                          <a:rPr lang="en-US" sz="2000" b="0" i="1" dirty="0" smtClean="0">
                            <a:solidFill>
                              <a:srgbClr val="000000"/>
                            </a:solidFill>
                            <a:latin typeface="Cambria Math" panose="02040503050406030204" pitchFamily="18" charset="0"/>
                            <a:sym typeface="Calibri"/>
                          </a:rPr>
                          <m:t>𝑉</m:t>
                        </m:r>
                      </m:e>
                      <m:sub>
                        <m:r>
                          <a:rPr lang="en-US" sz="2000" b="0" i="1" dirty="0" smtClean="0">
                            <a:solidFill>
                              <a:srgbClr val="000000"/>
                            </a:solidFill>
                            <a:latin typeface="Cambria Math" panose="02040503050406030204" pitchFamily="18" charset="0"/>
                            <a:sym typeface="Calibri"/>
                          </a:rPr>
                          <m:t>𝑟𝑓</m:t>
                        </m:r>
                      </m:sub>
                    </m:sSub>
                    <m:r>
                      <m:rPr>
                        <m:sty m:val="p"/>
                      </m:rPr>
                      <a:rPr lang="en-US" sz="2000" b="0" i="0" dirty="0" smtClean="0">
                        <a:solidFill>
                          <a:srgbClr val="000000"/>
                        </a:solidFill>
                        <a:latin typeface="Cambria Math" panose="02040503050406030204" pitchFamily="18" charset="0"/>
                        <a:sym typeface="Calibri"/>
                      </a:rPr>
                      <m:t>cos</m:t>
                    </m:r>
                    <m:r>
                      <a:rPr lang="en-US" sz="2000" b="0" i="1" dirty="0" smtClean="0">
                        <a:solidFill>
                          <a:srgbClr val="000000"/>
                        </a:solidFill>
                        <a:latin typeface="Cambria Math" panose="02040503050406030204" pitchFamily="18" charset="0"/>
                        <a:sym typeface="Calibri"/>
                      </a:rPr>
                      <m:t>⁡(</m:t>
                    </m:r>
                    <m:sSub>
                      <m:sSubPr>
                        <m:ctrlPr>
                          <a:rPr lang="en-US" sz="2000" b="0" i="1" dirty="0"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dirty="0" smtClean="0">
                            <a:solidFill>
                              <a:srgbClr val="000000"/>
                            </a:solidFill>
                            <a:latin typeface="Cambria Math" panose="02040503050406030204" pitchFamily="18" charset="0"/>
                            <a:ea typeface="Cambria Math" panose="02040503050406030204" pitchFamily="18" charset="0"/>
                            <a:sym typeface="Calibri"/>
                          </a:rPr>
                          <m:t>𝜔</m:t>
                        </m:r>
                      </m:e>
                      <m:sub>
                        <m:r>
                          <a:rPr lang="en-US" sz="2000" b="0" i="1" dirty="0" smtClean="0">
                            <a:solidFill>
                              <a:srgbClr val="000000"/>
                            </a:solidFill>
                            <a:latin typeface="Cambria Math" panose="02040503050406030204" pitchFamily="18" charset="0"/>
                            <a:sym typeface="Calibri"/>
                          </a:rPr>
                          <m:t>𝑟𝑓</m:t>
                        </m:r>
                      </m:sub>
                    </m:sSub>
                    <m:r>
                      <a:rPr lang="en-US" sz="2000" b="0" i="1" dirty="0" smtClean="0">
                        <a:solidFill>
                          <a:srgbClr val="000000"/>
                        </a:solidFill>
                        <a:latin typeface="Cambria Math" panose="02040503050406030204" pitchFamily="18" charset="0"/>
                        <a:sym typeface="Calibri"/>
                      </a:rPr>
                      <m:t>𝑡</m:t>
                    </m:r>
                    <m:r>
                      <a:rPr lang="en-US" sz="2000" b="0" i="1" dirty="0" smtClean="0">
                        <a:solidFill>
                          <a:srgbClr val="000000"/>
                        </a:solidFill>
                        <a:latin typeface="Cambria Math" panose="02040503050406030204" pitchFamily="18" charset="0"/>
                        <a:sym typeface="Calibri"/>
                      </a:rPr>
                      <m:t>)</m:t>
                    </m:r>
                  </m:oMath>
                </a14:m>
                <a:endParaRPr lang="en-US" sz="2000" dirty="0">
                  <a:solidFill>
                    <a:srgbClr val="000000"/>
                  </a:solidFill>
                  <a:sym typeface="Calibri"/>
                </a:endParaRPr>
              </a:p>
              <a:p>
                <a:pPr marL="285750" indent="-285750"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sym typeface="Calibri"/>
                          </a:rPr>
                        </m:ctrlPr>
                      </m:sSubPr>
                      <m:e>
                        <m:r>
                          <a:rPr lang="en-US" sz="2000" i="1">
                            <a:solidFill>
                              <a:srgbClr val="000000"/>
                            </a:solidFill>
                            <a:latin typeface="Cambria Math" panose="02040503050406030204" pitchFamily="18" charset="0"/>
                            <a:sym typeface="Calibri"/>
                          </a:rPr>
                          <m:t>𝑉</m:t>
                        </m:r>
                      </m:e>
                      <m:sub>
                        <m:r>
                          <a:rPr lang="en-US" sz="2000" i="1">
                            <a:solidFill>
                              <a:srgbClr val="000000"/>
                            </a:solidFill>
                            <a:latin typeface="Cambria Math" panose="02040503050406030204" pitchFamily="18" charset="0"/>
                            <a:sym typeface="Calibri"/>
                          </a:rPr>
                          <m:t>𝑙𝑜</m:t>
                        </m:r>
                      </m:sub>
                    </m:sSub>
                    <m:d>
                      <m:dPr>
                        <m:ctrlPr>
                          <a:rPr lang="en-US" sz="2000" i="1">
                            <a:solidFill>
                              <a:srgbClr val="000000"/>
                            </a:solidFill>
                            <a:latin typeface="Cambria Math" panose="02040503050406030204" pitchFamily="18" charset="0"/>
                            <a:sym typeface="Calibri"/>
                          </a:rPr>
                        </m:ctrlPr>
                      </m:dPr>
                      <m:e>
                        <m:r>
                          <a:rPr lang="en-US" sz="2000" i="1">
                            <a:solidFill>
                              <a:srgbClr val="000000"/>
                            </a:solidFill>
                            <a:latin typeface="Cambria Math" panose="02040503050406030204" pitchFamily="18" charset="0"/>
                            <a:sym typeface="Calibri"/>
                          </a:rPr>
                          <m:t>𝑡</m:t>
                        </m:r>
                      </m:e>
                    </m:d>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𝑉</m:t>
                        </m:r>
                      </m:e>
                      <m:sub>
                        <m:r>
                          <a:rPr lang="en-US" sz="2000" b="0" i="1" smtClean="0">
                            <a:solidFill>
                              <a:srgbClr val="000000"/>
                            </a:solidFill>
                            <a:latin typeface="Cambria Math" panose="02040503050406030204" pitchFamily="18" charset="0"/>
                            <a:sym typeface="Calibri"/>
                          </a:rPr>
                          <m:t>𝑟𝑓</m:t>
                        </m:r>
                      </m:sub>
                    </m:sSub>
                    <m:d>
                      <m:dPr>
                        <m:ctrlPr>
                          <a:rPr lang="en-US" sz="2000" b="0" i="1" smtClean="0">
                            <a:solidFill>
                              <a:srgbClr val="000000"/>
                            </a:solidFill>
                            <a:latin typeface="Cambria Math" panose="02040503050406030204" pitchFamily="18" charset="0"/>
                            <a:sym typeface="Calibri"/>
                          </a:rPr>
                        </m:ctrlPr>
                      </m:dPr>
                      <m:e>
                        <m:r>
                          <a:rPr lang="en-US" sz="2000" b="0" i="1" smtClean="0">
                            <a:solidFill>
                              <a:srgbClr val="000000"/>
                            </a:solidFill>
                            <a:latin typeface="Cambria Math" panose="02040503050406030204" pitchFamily="18" charset="0"/>
                            <a:sym typeface="Calibri"/>
                          </a:rPr>
                          <m:t>𝑡</m:t>
                        </m:r>
                      </m:e>
                    </m:d>
                    <m:r>
                      <a:rPr lang="en-US" sz="2000">
                        <a:solidFill>
                          <a:srgbClr val="000000"/>
                        </a:solidFill>
                        <a:latin typeface="Cambria Math" panose="02040503050406030204" pitchFamily="18" charset="0"/>
                        <a:sym typeface="Calibri"/>
                      </a:rPr>
                      <m:t>=</m:t>
                    </m:r>
                    <m:f>
                      <m:fPr>
                        <m:ctrlPr>
                          <a:rPr lang="en-US" sz="2000" b="0" i="1" smtClean="0">
                            <a:solidFill>
                              <a:srgbClr val="000000"/>
                            </a:solidFill>
                            <a:latin typeface="Cambria Math" panose="02040503050406030204" pitchFamily="18" charset="0"/>
                            <a:sym typeface="Calibri"/>
                          </a:rPr>
                        </m:ctrlPr>
                      </m:fPr>
                      <m:num>
                        <m:r>
                          <a:rPr lang="en-US" sz="2000" b="0" i="1" smtClean="0">
                            <a:solidFill>
                              <a:srgbClr val="000000"/>
                            </a:solidFill>
                            <a:latin typeface="Cambria Math" panose="02040503050406030204" pitchFamily="18" charset="0"/>
                            <a:sym typeface="Calibri"/>
                          </a:rPr>
                          <m:t>2</m:t>
                        </m:r>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𝑉</m:t>
                            </m:r>
                          </m:e>
                          <m:sub>
                            <m:r>
                              <a:rPr lang="en-US" sz="2000" b="0" i="1" smtClean="0">
                                <a:solidFill>
                                  <a:srgbClr val="000000"/>
                                </a:solidFill>
                                <a:latin typeface="Cambria Math" panose="02040503050406030204" pitchFamily="18" charset="0"/>
                                <a:sym typeface="Calibri"/>
                              </a:rPr>
                              <m:t>𝑟𝑓</m:t>
                            </m:r>
                          </m:sub>
                        </m:sSub>
                      </m:num>
                      <m:den>
                        <m:r>
                          <a:rPr lang="en-US" sz="2000" i="1" smtClean="0">
                            <a:solidFill>
                              <a:srgbClr val="000000"/>
                            </a:solidFill>
                            <a:latin typeface="Cambria Math" panose="02040503050406030204" pitchFamily="18" charset="0"/>
                            <a:ea typeface="Cambria Math" panose="02040503050406030204" pitchFamily="18" charset="0"/>
                            <a:sym typeface="Calibri"/>
                          </a:rPr>
                          <m:t>𝜋</m:t>
                        </m:r>
                      </m:den>
                    </m:f>
                    <m:d>
                      <m:dPr>
                        <m:ctrlPr>
                          <a:rPr lang="en-US" sz="2000" b="0" i="1" smtClean="0">
                            <a:solidFill>
                              <a:srgbClr val="000000"/>
                            </a:solidFill>
                            <a:latin typeface="Cambria Math" panose="02040503050406030204" pitchFamily="18" charset="0"/>
                            <a:sym typeface="Calibri"/>
                          </a:rPr>
                        </m:ctrlPr>
                      </m:dPr>
                      <m:e>
                        <m:sSub>
                          <m:sSubPr>
                            <m:ctrlPr>
                              <a:rPr lang="en-US" sz="2000" b="0" i="0" smtClean="0">
                                <a:solidFill>
                                  <a:srgbClr val="000000"/>
                                </a:solidFill>
                                <a:latin typeface="Cambria Math" panose="02040503050406030204" pitchFamily="18" charset="0"/>
                                <a:sym typeface="Calibri"/>
                              </a:rPr>
                            </m:ctrlPr>
                          </m:sSubPr>
                          <m:e>
                            <m:r>
                              <m:rPr>
                                <m:sty m:val="p"/>
                              </m:rPr>
                              <a:rPr lang="en-US" sz="2000" b="0" i="0" smtClean="0">
                                <a:solidFill>
                                  <a:srgbClr val="000000"/>
                                </a:solidFill>
                                <a:latin typeface="Cambria Math" panose="02040503050406030204" pitchFamily="18" charset="0"/>
                                <a:sym typeface="Calibri"/>
                              </a:rPr>
                              <m:t>cos</m:t>
                            </m:r>
                            <m:r>
                              <a:rPr lang="en-US" sz="2000" b="0" i="1" smtClean="0">
                                <a:solidFill>
                                  <a:srgbClr val="000000"/>
                                </a:solidFill>
                                <a:latin typeface="Cambria Math" panose="02040503050406030204" pitchFamily="18" charset="0"/>
                                <a:sym typeface="Calibri"/>
                              </a:rPr>
                              <m:t>⁡(</m:t>
                            </m:r>
                            <m:r>
                              <a:rPr lang="en-US" sz="2000" b="0" i="1" smtClean="0">
                                <a:solidFill>
                                  <a:srgbClr val="000000"/>
                                </a:solidFill>
                                <a:latin typeface="Cambria Math" panose="02040503050406030204" pitchFamily="18" charset="0"/>
                                <a:ea typeface="Cambria Math" panose="02040503050406030204" pitchFamily="18" charset="0"/>
                                <a:sym typeface="Calibri"/>
                              </a:rPr>
                              <m:t>𝜔</m:t>
                            </m:r>
                          </m:e>
                          <m:sub>
                            <m:r>
                              <a:rPr lang="en-US" sz="2000" b="0" i="1" smtClean="0">
                                <a:solidFill>
                                  <a:srgbClr val="000000"/>
                                </a:solidFill>
                                <a:latin typeface="Cambria Math" panose="02040503050406030204" pitchFamily="18" charset="0"/>
                                <a:sym typeface="Calibri"/>
                              </a:rPr>
                              <m:t>−</m:t>
                            </m:r>
                          </m:sub>
                        </m:sSub>
                        <m:r>
                          <a:rPr lang="en-US" sz="2000" b="0" i="1" smtClean="0">
                            <a:solidFill>
                              <a:srgbClr val="000000"/>
                            </a:solidFill>
                            <a:latin typeface="Cambria Math" panose="02040503050406030204" pitchFamily="18" charset="0"/>
                            <a:sym typeface="Calibri"/>
                          </a:rPr>
                          <m:t>𝑡</m:t>
                        </m:r>
                      </m:e>
                    </m:d>
                    <m:r>
                      <a:rPr lang="en-US" sz="2000" b="0" i="1" smtClean="0">
                        <a:solidFill>
                          <a:srgbClr val="000000"/>
                        </a:solidFill>
                        <a:latin typeface="Cambria Math" panose="02040503050406030204" pitchFamily="18" charset="0"/>
                        <a:sym typeface="Calibri"/>
                      </a:rPr>
                      <m:t>−</m:t>
                    </m:r>
                    <m:f>
                      <m:fPr>
                        <m:ctrlPr>
                          <a:rPr lang="en-US" sz="2000" b="0" i="1" smtClean="0">
                            <a:solidFill>
                              <a:srgbClr val="000000"/>
                            </a:solidFill>
                            <a:latin typeface="Cambria Math" panose="02040503050406030204" pitchFamily="18" charset="0"/>
                            <a:sym typeface="Calibri"/>
                          </a:rPr>
                        </m:ctrlPr>
                      </m:fPr>
                      <m:num>
                        <m:func>
                          <m:funcPr>
                            <m:ctrlPr>
                              <a:rPr lang="en-US" sz="2000" b="0" i="0" smtClean="0">
                                <a:solidFill>
                                  <a:srgbClr val="000000"/>
                                </a:solidFill>
                                <a:latin typeface="Cambria Math" panose="02040503050406030204" pitchFamily="18" charset="0"/>
                                <a:sym typeface="Calibri"/>
                              </a:rPr>
                            </m:ctrlPr>
                          </m:funcPr>
                          <m:fName>
                            <m:r>
                              <m:rPr>
                                <m:sty m:val="p"/>
                              </m:rPr>
                              <a:rPr lang="en-US" sz="2000" b="0" i="0" smtClean="0">
                                <a:solidFill>
                                  <a:srgbClr val="000000"/>
                                </a:solidFill>
                                <a:latin typeface="Cambria Math" panose="02040503050406030204" pitchFamily="18" charset="0"/>
                                <a:sym typeface="Calibri"/>
                              </a:rPr>
                              <m:t>cos</m:t>
                            </m:r>
                          </m:fName>
                          <m:e>
                            <m:d>
                              <m:dPr>
                                <m:ctrlPr>
                                  <a:rPr lang="en-US" sz="2000" b="0" i="1" smtClean="0">
                                    <a:solidFill>
                                      <a:srgbClr val="000000"/>
                                    </a:solidFill>
                                    <a:latin typeface="Cambria Math" panose="02040503050406030204" pitchFamily="18" charset="0"/>
                                    <a:sym typeface="Calibri"/>
                                  </a:rPr>
                                </m:ctrlPr>
                              </m:dPr>
                              <m:e>
                                <m:r>
                                  <a:rPr lang="en-US" sz="2000" b="0" i="1" smtClean="0">
                                    <a:solidFill>
                                      <a:srgbClr val="000000"/>
                                    </a:solidFill>
                                    <a:latin typeface="Cambria Math" panose="02040503050406030204" pitchFamily="18" charset="0"/>
                                    <a:sym typeface="Calibri"/>
                                  </a:rPr>
                                  <m:t>3</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𝜔</m:t>
                                    </m:r>
                                  </m:e>
                                  <m:sub>
                                    <m:r>
                                      <a:rPr lang="en-US" sz="2000" b="0" i="1" smtClean="0">
                                        <a:solidFill>
                                          <a:srgbClr val="000000"/>
                                        </a:solidFill>
                                        <a:latin typeface="Cambria Math" panose="02040503050406030204" pitchFamily="18" charset="0"/>
                                        <a:sym typeface="Calibri"/>
                                      </a:rPr>
                                      <m:t>−</m:t>
                                    </m:r>
                                  </m:sub>
                                </m:sSub>
                                <m:r>
                                  <a:rPr lang="en-US" sz="2000" b="0" i="1" smtClean="0">
                                    <a:solidFill>
                                      <a:srgbClr val="000000"/>
                                    </a:solidFill>
                                    <a:latin typeface="Cambria Math" panose="02040503050406030204" pitchFamily="18" charset="0"/>
                                    <a:sym typeface="Calibri"/>
                                  </a:rPr>
                                  <m:t>𝑡</m:t>
                                </m:r>
                              </m:e>
                            </m:d>
                          </m:e>
                        </m:func>
                      </m:num>
                      <m:den>
                        <m:r>
                          <a:rPr lang="en-US" sz="2000" b="0" i="1" smtClean="0">
                            <a:solidFill>
                              <a:srgbClr val="000000"/>
                            </a:solidFill>
                            <a:latin typeface="Cambria Math" panose="02040503050406030204" pitchFamily="18" charset="0"/>
                            <a:sym typeface="Calibri"/>
                          </a:rPr>
                          <m:t>3</m:t>
                        </m:r>
                      </m:den>
                    </m:f>
                    <m:r>
                      <a:rPr lang="en-US" sz="2000" b="0" i="1" smtClean="0">
                        <a:solidFill>
                          <a:srgbClr val="000000"/>
                        </a:solidFill>
                        <a:latin typeface="Cambria Math" panose="02040503050406030204" pitchFamily="18" charset="0"/>
                        <a:sym typeface="Calibri"/>
                      </a:rPr>
                      <m:t>+</m:t>
                    </m:r>
                    <m:f>
                      <m:fPr>
                        <m:ctrlPr>
                          <a:rPr lang="en-US" sz="2000" i="1">
                            <a:solidFill>
                              <a:srgbClr val="000000"/>
                            </a:solidFill>
                            <a:latin typeface="Cambria Math" panose="02040503050406030204" pitchFamily="18" charset="0"/>
                            <a:sym typeface="Calibri"/>
                          </a:rPr>
                        </m:ctrlPr>
                      </m:fPr>
                      <m:num>
                        <m:func>
                          <m:funcPr>
                            <m:ctrlPr>
                              <a:rPr lang="en-US" sz="2000">
                                <a:solidFill>
                                  <a:srgbClr val="000000"/>
                                </a:solidFill>
                                <a:latin typeface="Cambria Math" panose="02040503050406030204" pitchFamily="18" charset="0"/>
                                <a:sym typeface="Calibri"/>
                              </a:rPr>
                            </m:ctrlPr>
                          </m:funcPr>
                          <m:fName>
                            <m:r>
                              <m:rPr>
                                <m:sty m:val="p"/>
                              </m:rPr>
                              <a:rPr lang="en-US" sz="2000">
                                <a:solidFill>
                                  <a:srgbClr val="000000"/>
                                </a:solidFill>
                                <a:latin typeface="Cambria Math" panose="02040503050406030204" pitchFamily="18" charset="0"/>
                                <a:sym typeface="Calibri"/>
                              </a:rPr>
                              <m:t>cos</m:t>
                            </m:r>
                          </m:fName>
                          <m:e>
                            <m:d>
                              <m:dPr>
                                <m:ctrlPr>
                                  <a:rPr lang="en-US" sz="2000" b="0" i="1" smtClean="0">
                                    <a:solidFill>
                                      <a:srgbClr val="000000"/>
                                    </a:solidFill>
                                    <a:latin typeface="Cambria Math" panose="02040503050406030204" pitchFamily="18" charset="0"/>
                                    <a:sym typeface="Calibri"/>
                                  </a:rPr>
                                </m:ctrlPr>
                              </m:dPr>
                              <m:e>
                                <m:r>
                                  <a:rPr lang="en-US" sz="2000" b="0" i="1" smtClean="0">
                                    <a:solidFill>
                                      <a:srgbClr val="000000"/>
                                    </a:solidFill>
                                    <a:latin typeface="Cambria Math" panose="02040503050406030204" pitchFamily="18" charset="0"/>
                                    <a:sym typeface="Calibri"/>
                                  </a:rPr>
                                  <m:t>5</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𝜔</m:t>
                                    </m:r>
                                  </m:e>
                                  <m:sub>
                                    <m:r>
                                      <a:rPr lang="en-US" sz="2000" i="1">
                                        <a:solidFill>
                                          <a:srgbClr val="000000"/>
                                        </a:solidFill>
                                        <a:latin typeface="Cambria Math" panose="02040503050406030204" pitchFamily="18" charset="0"/>
                                        <a:sym typeface="Calibri"/>
                                      </a:rPr>
                                      <m:t>−</m:t>
                                    </m:r>
                                  </m:sub>
                                </m:sSub>
                                <m:r>
                                  <a:rPr lang="en-US" sz="2000" i="1">
                                    <a:solidFill>
                                      <a:srgbClr val="000000"/>
                                    </a:solidFill>
                                    <a:latin typeface="Cambria Math" panose="02040503050406030204" pitchFamily="18" charset="0"/>
                                    <a:sym typeface="Calibri"/>
                                  </a:rPr>
                                  <m:t>𝑡</m:t>
                                </m:r>
                              </m:e>
                            </m:d>
                          </m:e>
                        </m:func>
                      </m:num>
                      <m:den>
                        <m:r>
                          <a:rPr lang="en-US" sz="2000" b="0" i="1" smtClean="0">
                            <a:solidFill>
                              <a:srgbClr val="000000"/>
                            </a:solidFill>
                            <a:latin typeface="Cambria Math" panose="02040503050406030204" pitchFamily="18" charset="0"/>
                            <a:sym typeface="Calibri"/>
                          </a:rPr>
                          <m:t>5</m:t>
                        </m:r>
                      </m:den>
                    </m:f>
                    <m:r>
                      <a:rPr lang="en-US" sz="2000" b="0" i="1" smtClean="0">
                        <a:solidFill>
                          <a:srgbClr val="000000"/>
                        </a:solidFill>
                        <a:latin typeface="Cambria Math" panose="02040503050406030204" pitchFamily="18" charset="0"/>
                        <a:sym typeface="Calibri"/>
                      </a:rPr>
                      <m:t>…)</m:t>
                    </m:r>
                  </m:oMath>
                </a14:m>
                <a:r>
                  <a:rPr lang="en-US" sz="2000" dirty="0">
                    <a:solidFill>
                      <a:srgbClr val="000000"/>
                    </a:solidFill>
                    <a:sym typeface="Calibri"/>
                  </a:rPr>
                  <a:t> + </a:t>
                </a:r>
                <a14:m>
                  <m:oMath xmlns:m="http://schemas.openxmlformats.org/officeDocument/2006/math">
                    <m:f>
                      <m:fPr>
                        <m:ctrlPr>
                          <a:rPr lang="en-US" sz="2000" i="1">
                            <a:solidFill>
                              <a:srgbClr val="000000"/>
                            </a:solidFill>
                            <a:latin typeface="Cambria Math" panose="02040503050406030204" pitchFamily="18" charset="0"/>
                            <a:sym typeface="Calibri"/>
                          </a:rPr>
                        </m:ctrlPr>
                      </m:fPr>
                      <m:num>
                        <m:r>
                          <a:rPr lang="en-US" sz="2000" i="1">
                            <a:solidFill>
                              <a:srgbClr val="000000"/>
                            </a:solidFill>
                            <a:latin typeface="Cambria Math" panose="02040503050406030204" pitchFamily="18" charset="0"/>
                            <a:sym typeface="Calibri"/>
                          </a:rPr>
                          <m:t>2</m:t>
                        </m:r>
                        <m:sSub>
                          <m:sSubPr>
                            <m:ctrlPr>
                              <a:rPr lang="en-US" sz="2000" i="1">
                                <a:solidFill>
                                  <a:srgbClr val="000000"/>
                                </a:solidFill>
                                <a:latin typeface="Cambria Math" panose="02040503050406030204" pitchFamily="18" charset="0"/>
                                <a:sym typeface="Calibri"/>
                              </a:rPr>
                            </m:ctrlPr>
                          </m:sSubPr>
                          <m:e>
                            <m:r>
                              <a:rPr lang="en-US" sz="2000" i="1">
                                <a:solidFill>
                                  <a:srgbClr val="000000"/>
                                </a:solidFill>
                                <a:latin typeface="Cambria Math" panose="02040503050406030204" pitchFamily="18" charset="0"/>
                                <a:sym typeface="Calibri"/>
                              </a:rPr>
                              <m:t>𝑉</m:t>
                            </m:r>
                          </m:e>
                          <m:sub>
                            <m:r>
                              <a:rPr lang="en-US" sz="2000" i="1">
                                <a:solidFill>
                                  <a:srgbClr val="000000"/>
                                </a:solidFill>
                                <a:latin typeface="Cambria Math" panose="02040503050406030204" pitchFamily="18" charset="0"/>
                                <a:sym typeface="Calibri"/>
                              </a:rPr>
                              <m:t>𝑟𝑓</m:t>
                            </m:r>
                          </m:sub>
                        </m:sSub>
                      </m:num>
                      <m:den>
                        <m:r>
                          <a:rPr lang="en-US" sz="2000" i="1">
                            <a:solidFill>
                              <a:srgbClr val="000000"/>
                            </a:solidFill>
                            <a:latin typeface="Cambria Math" panose="02040503050406030204" pitchFamily="18" charset="0"/>
                            <a:ea typeface="Cambria Math" panose="02040503050406030204" pitchFamily="18" charset="0"/>
                            <a:sym typeface="Calibri"/>
                          </a:rPr>
                          <m:t>𝜋</m:t>
                        </m:r>
                      </m:den>
                    </m:f>
                    <m:d>
                      <m:dPr>
                        <m:ctrlPr>
                          <a:rPr lang="en-US" sz="2000" i="1">
                            <a:solidFill>
                              <a:srgbClr val="000000"/>
                            </a:solidFill>
                            <a:latin typeface="Cambria Math" panose="02040503050406030204" pitchFamily="18" charset="0"/>
                            <a:sym typeface="Calibri"/>
                          </a:rPr>
                        </m:ctrlPr>
                      </m:dPr>
                      <m:e>
                        <m:sSub>
                          <m:sSubPr>
                            <m:ctrlPr>
                              <a:rPr lang="en-US" sz="2000">
                                <a:solidFill>
                                  <a:srgbClr val="000000"/>
                                </a:solidFill>
                                <a:latin typeface="Cambria Math" panose="02040503050406030204" pitchFamily="18" charset="0"/>
                                <a:sym typeface="Calibri"/>
                              </a:rPr>
                            </m:ctrlPr>
                          </m:sSubPr>
                          <m:e>
                            <m:r>
                              <m:rPr>
                                <m:sty m:val="p"/>
                              </m:rPr>
                              <a:rPr lang="en-US" sz="2000">
                                <a:solidFill>
                                  <a:srgbClr val="000000"/>
                                </a:solidFill>
                                <a:latin typeface="Cambria Math" panose="02040503050406030204" pitchFamily="18" charset="0"/>
                                <a:sym typeface="Calibri"/>
                              </a:rPr>
                              <m:t>cos</m:t>
                            </m:r>
                            <m:r>
                              <a:rPr lang="en-US" sz="2000" i="1">
                                <a:solidFill>
                                  <a:srgbClr val="000000"/>
                                </a:solidFill>
                                <a:latin typeface="Cambria Math" panose="02040503050406030204" pitchFamily="18" charset="0"/>
                                <a:sym typeface="Calibri"/>
                              </a:rPr>
                              <m:t>⁡(</m:t>
                            </m:r>
                            <m:r>
                              <a:rPr lang="en-US" sz="2000" i="1">
                                <a:solidFill>
                                  <a:srgbClr val="000000"/>
                                </a:solidFill>
                                <a:latin typeface="Cambria Math" panose="02040503050406030204" pitchFamily="18" charset="0"/>
                                <a:ea typeface="Cambria Math" panose="02040503050406030204" pitchFamily="18" charset="0"/>
                                <a:sym typeface="Calibri"/>
                              </a:rPr>
                              <m:t>𝜔</m:t>
                            </m:r>
                          </m:e>
                          <m:sub>
                            <m:r>
                              <a:rPr lang="en-US" sz="2000" b="0" i="1" smtClean="0">
                                <a:solidFill>
                                  <a:srgbClr val="000000"/>
                                </a:solidFill>
                                <a:latin typeface="Cambria Math" panose="02040503050406030204" pitchFamily="18" charset="0"/>
                                <a:ea typeface="Cambria Math" panose="02040503050406030204" pitchFamily="18" charset="0"/>
                                <a:sym typeface="Calibri"/>
                              </a:rPr>
                              <m:t>+</m:t>
                            </m:r>
                          </m:sub>
                        </m:sSub>
                        <m:r>
                          <a:rPr lang="en-US" sz="2000" i="1">
                            <a:solidFill>
                              <a:srgbClr val="000000"/>
                            </a:solidFill>
                            <a:latin typeface="Cambria Math" panose="02040503050406030204" pitchFamily="18" charset="0"/>
                            <a:sym typeface="Calibri"/>
                          </a:rPr>
                          <m:t>𝑡</m:t>
                        </m:r>
                      </m:e>
                    </m:d>
                    <m:r>
                      <a:rPr lang="en-US" sz="2000" i="1">
                        <a:solidFill>
                          <a:srgbClr val="000000"/>
                        </a:solidFill>
                        <a:latin typeface="Cambria Math" panose="02040503050406030204" pitchFamily="18" charset="0"/>
                        <a:sym typeface="Calibri"/>
                      </a:rPr>
                      <m:t>−</m:t>
                    </m:r>
                    <m:f>
                      <m:fPr>
                        <m:ctrlPr>
                          <a:rPr lang="en-US" sz="2000" i="1">
                            <a:solidFill>
                              <a:srgbClr val="000000"/>
                            </a:solidFill>
                            <a:latin typeface="Cambria Math" panose="02040503050406030204" pitchFamily="18" charset="0"/>
                            <a:sym typeface="Calibri"/>
                          </a:rPr>
                        </m:ctrlPr>
                      </m:fPr>
                      <m:num>
                        <m:func>
                          <m:funcPr>
                            <m:ctrlPr>
                              <a:rPr lang="en-US" sz="2000">
                                <a:solidFill>
                                  <a:srgbClr val="000000"/>
                                </a:solidFill>
                                <a:latin typeface="Cambria Math" panose="02040503050406030204" pitchFamily="18" charset="0"/>
                                <a:sym typeface="Calibri"/>
                              </a:rPr>
                            </m:ctrlPr>
                          </m:funcPr>
                          <m:fName>
                            <m:r>
                              <m:rPr>
                                <m:sty m:val="p"/>
                              </m:rPr>
                              <a:rPr lang="en-US" sz="2000">
                                <a:solidFill>
                                  <a:srgbClr val="000000"/>
                                </a:solidFill>
                                <a:latin typeface="Cambria Math" panose="02040503050406030204" pitchFamily="18" charset="0"/>
                                <a:sym typeface="Calibri"/>
                              </a:rPr>
                              <m:t>cos</m:t>
                            </m:r>
                          </m:fName>
                          <m:e>
                            <m:d>
                              <m:dPr>
                                <m:ctrlPr>
                                  <a:rPr lang="en-US" sz="2000" i="1">
                                    <a:solidFill>
                                      <a:srgbClr val="000000"/>
                                    </a:solidFill>
                                    <a:latin typeface="Cambria Math" panose="02040503050406030204" pitchFamily="18" charset="0"/>
                                    <a:sym typeface="Calibri"/>
                                  </a:rPr>
                                </m:ctrlPr>
                              </m:dPr>
                              <m:e>
                                <m:r>
                                  <a:rPr lang="en-US" sz="2000" i="1">
                                    <a:solidFill>
                                      <a:srgbClr val="000000"/>
                                    </a:solidFill>
                                    <a:latin typeface="Cambria Math" panose="02040503050406030204" pitchFamily="18" charset="0"/>
                                    <a:sym typeface="Calibri"/>
                                  </a:rPr>
                                  <m:t>3</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𝜔</m:t>
                                    </m:r>
                                  </m:e>
                                  <m:sub>
                                    <m:r>
                                      <a:rPr lang="en-US" sz="2000" b="0" i="1" smtClean="0">
                                        <a:solidFill>
                                          <a:srgbClr val="000000"/>
                                        </a:solidFill>
                                        <a:latin typeface="Cambria Math" panose="02040503050406030204" pitchFamily="18" charset="0"/>
                                        <a:ea typeface="Cambria Math" panose="02040503050406030204" pitchFamily="18" charset="0"/>
                                        <a:sym typeface="Calibri"/>
                                      </a:rPr>
                                      <m:t>+</m:t>
                                    </m:r>
                                  </m:sub>
                                </m:sSub>
                                <m:r>
                                  <a:rPr lang="en-US" sz="2000" i="1">
                                    <a:solidFill>
                                      <a:srgbClr val="000000"/>
                                    </a:solidFill>
                                    <a:latin typeface="Cambria Math" panose="02040503050406030204" pitchFamily="18" charset="0"/>
                                    <a:sym typeface="Calibri"/>
                                  </a:rPr>
                                  <m:t>𝑡</m:t>
                                </m:r>
                              </m:e>
                            </m:d>
                          </m:e>
                        </m:func>
                      </m:num>
                      <m:den>
                        <m:r>
                          <a:rPr lang="en-US" sz="2000" i="1">
                            <a:solidFill>
                              <a:srgbClr val="000000"/>
                            </a:solidFill>
                            <a:latin typeface="Cambria Math" panose="02040503050406030204" pitchFamily="18" charset="0"/>
                            <a:sym typeface="Calibri"/>
                          </a:rPr>
                          <m:t>3</m:t>
                        </m:r>
                      </m:den>
                    </m:f>
                    <m:r>
                      <a:rPr lang="en-US" sz="2000" i="1">
                        <a:solidFill>
                          <a:srgbClr val="000000"/>
                        </a:solidFill>
                        <a:latin typeface="Cambria Math" panose="02040503050406030204" pitchFamily="18" charset="0"/>
                        <a:sym typeface="Calibri"/>
                      </a:rPr>
                      <m:t>+</m:t>
                    </m:r>
                    <m:f>
                      <m:fPr>
                        <m:ctrlPr>
                          <a:rPr lang="en-US" sz="2000" i="1">
                            <a:solidFill>
                              <a:srgbClr val="000000"/>
                            </a:solidFill>
                            <a:latin typeface="Cambria Math" panose="02040503050406030204" pitchFamily="18" charset="0"/>
                            <a:sym typeface="Calibri"/>
                          </a:rPr>
                        </m:ctrlPr>
                      </m:fPr>
                      <m:num>
                        <m:func>
                          <m:funcPr>
                            <m:ctrlPr>
                              <a:rPr lang="en-US" sz="2000">
                                <a:solidFill>
                                  <a:srgbClr val="000000"/>
                                </a:solidFill>
                                <a:latin typeface="Cambria Math" panose="02040503050406030204" pitchFamily="18" charset="0"/>
                                <a:sym typeface="Calibri"/>
                              </a:rPr>
                            </m:ctrlPr>
                          </m:funcPr>
                          <m:fName>
                            <m:r>
                              <m:rPr>
                                <m:sty m:val="p"/>
                              </m:rPr>
                              <a:rPr lang="en-US" sz="2000">
                                <a:solidFill>
                                  <a:srgbClr val="000000"/>
                                </a:solidFill>
                                <a:latin typeface="Cambria Math" panose="02040503050406030204" pitchFamily="18" charset="0"/>
                                <a:sym typeface="Calibri"/>
                              </a:rPr>
                              <m:t>cos</m:t>
                            </m:r>
                          </m:fName>
                          <m:e>
                            <m:d>
                              <m:dPr>
                                <m:ctrlPr>
                                  <a:rPr lang="en-US" sz="2000" i="1">
                                    <a:solidFill>
                                      <a:srgbClr val="000000"/>
                                    </a:solidFill>
                                    <a:latin typeface="Cambria Math" panose="02040503050406030204" pitchFamily="18" charset="0"/>
                                    <a:sym typeface="Calibri"/>
                                  </a:rPr>
                                </m:ctrlPr>
                              </m:dPr>
                              <m:e>
                                <m:r>
                                  <a:rPr lang="en-US" sz="2000" i="1">
                                    <a:solidFill>
                                      <a:srgbClr val="000000"/>
                                    </a:solidFill>
                                    <a:latin typeface="Cambria Math" panose="02040503050406030204" pitchFamily="18" charset="0"/>
                                    <a:sym typeface="Calibri"/>
                                  </a:rPr>
                                  <m:t>5</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𝜔</m:t>
                                    </m:r>
                                  </m:e>
                                  <m:sub>
                                    <m:r>
                                      <a:rPr lang="en-US" sz="2000" b="0" i="1" smtClean="0">
                                        <a:solidFill>
                                          <a:srgbClr val="000000"/>
                                        </a:solidFill>
                                        <a:latin typeface="Cambria Math" panose="02040503050406030204" pitchFamily="18" charset="0"/>
                                        <a:ea typeface="Cambria Math" panose="02040503050406030204" pitchFamily="18" charset="0"/>
                                        <a:sym typeface="Calibri"/>
                                      </a:rPr>
                                      <m:t>+</m:t>
                                    </m:r>
                                  </m:sub>
                                </m:sSub>
                                <m:r>
                                  <a:rPr lang="en-US" sz="2000" i="1">
                                    <a:solidFill>
                                      <a:srgbClr val="000000"/>
                                    </a:solidFill>
                                    <a:latin typeface="Cambria Math" panose="02040503050406030204" pitchFamily="18" charset="0"/>
                                    <a:sym typeface="Calibri"/>
                                  </a:rPr>
                                  <m:t>𝑡</m:t>
                                </m:r>
                              </m:e>
                            </m:d>
                          </m:e>
                        </m:func>
                      </m:num>
                      <m:den>
                        <m:r>
                          <a:rPr lang="en-US" sz="2000" i="1">
                            <a:solidFill>
                              <a:srgbClr val="000000"/>
                            </a:solidFill>
                            <a:latin typeface="Cambria Math" panose="02040503050406030204" pitchFamily="18" charset="0"/>
                            <a:sym typeface="Calibri"/>
                          </a:rPr>
                          <m:t>5</m:t>
                        </m:r>
                      </m:den>
                    </m:f>
                    <m:r>
                      <a:rPr lang="en-US" sz="2000" i="1">
                        <a:solidFill>
                          <a:srgbClr val="000000"/>
                        </a:solidFill>
                        <a:latin typeface="Cambria Math" panose="02040503050406030204" pitchFamily="18" charset="0"/>
                        <a:sym typeface="Calibri"/>
                      </a:rPr>
                      <m:t>…)</m:t>
                    </m:r>
                  </m:oMath>
                </a14:m>
                <a:endParaRPr lang="en-US" sz="2000" dirty="0">
                  <a:solidFill>
                    <a:srgbClr val="000000"/>
                  </a:solidFill>
                  <a:sym typeface="Calibri"/>
                </a:endParaRPr>
              </a:p>
              <a:p>
                <a:pPr marL="285750" indent="-285750" hangingPunct="0">
                  <a:buFont typeface="Arial" panose="020B0604020202020204" pitchFamily="34" charset="0"/>
                  <a:buChar char="•"/>
                </a:pPr>
                <a14:m>
                  <m:oMath xmlns:m="http://schemas.openxmlformats.org/officeDocument/2006/math">
                    <m:sSub>
                      <m:sSubPr>
                        <m:ctrlPr>
                          <a:rPr lang="en-US" sz="2000" i="1" smtClean="0">
                            <a:solidFill>
                              <a:srgbClr val="000000"/>
                            </a:solidFill>
                            <a:latin typeface="Cambria Math" panose="02040503050406030204" pitchFamily="18" charset="0"/>
                            <a:ea typeface="Cambria Math" panose="02040503050406030204" pitchFamily="18" charset="0"/>
                            <a:sym typeface="Calibri"/>
                          </a:rPr>
                        </m:ctrlPr>
                      </m:sSubPr>
                      <m:e>
                        <m:r>
                          <a:rPr lang="en-US" sz="2000" i="1" smtClean="0">
                            <a:solidFill>
                              <a:srgbClr val="000000"/>
                            </a:solidFill>
                            <a:latin typeface="Cambria Math" panose="02040503050406030204" pitchFamily="18" charset="0"/>
                            <a:ea typeface="Cambria Math" panose="02040503050406030204" pitchFamily="18" charset="0"/>
                            <a:sym typeface="Calibri"/>
                          </a:rPr>
                          <m:t>𝜔</m:t>
                        </m:r>
                      </m:e>
                      <m:sub>
                        <m:r>
                          <a:rPr lang="en-US" sz="2000" b="0" i="1" smtClean="0">
                            <a:solidFill>
                              <a:srgbClr val="000000"/>
                            </a:solidFill>
                            <a:latin typeface="Cambria Math" panose="02040503050406030204" pitchFamily="18" charset="0"/>
                            <a:sym typeface="Calibri"/>
                          </a:rPr>
                          <m:t>+</m:t>
                        </m:r>
                      </m:sub>
                    </m:sSub>
                    <m:r>
                      <a:rPr lang="en-US" sz="2000" b="0" i="1" smtClean="0">
                        <a:solidFill>
                          <a:srgbClr val="000000"/>
                        </a:solidFill>
                        <a:latin typeface="Cambria Math" panose="02040503050406030204" pitchFamily="18" charset="0"/>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𝜔</m:t>
                        </m:r>
                      </m:e>
                      <m:sub>
                        <m:r>
                          <a:rPr lang="en-US" sz="2000" b="0" i="1" smtClean="0">
                            <a:solidFill>
                              <a:srgbClr val="000000"/>
                            </a:solidFill>
                            <a:latin typeface="Cambria Math" panose="02040503050406030204" pitchFamily="18" charset="0"/>
                            <a:sym typeface="Calibri"/>
                          </a:rPr>
                          <m:t>𝑙𝑜</m:t>
                        </m:r>
                      </m:sub>
                    </m:sSub>
                    <m:r>
                      <a:rPr lang="en-US" sz="2000" b="0" i="1" smtClean="0">
                        <a:solidFill>
                          <a:srgbClr val="000000"/>
                        </a:solidFill>
                        <a:latin typeface="Cambria Math" panose="02040503050406030204" pitchFamily="18" charset="0"/>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𝜔</m:t>
                        </m:r>
                      </m:e>
                      <m:sub>
                        <m:r>
                          <a:rPr lang="en-US" sz="2000" b="0" i="1" smtClean="0">
                            <a:solidFill>
                              <a:srgbClr val="000000"/>
                            </a:solidFill>
                            <a:latin typeface="Cambria Math" panose="02040503050406030204" pitchFamily="18" charset="0"/>
                            <a:sym typeface="Calibri"/>
                          </a:rPr>
                          <m:t>𝑟𝑓</m:t>
                        </m:r>
                      </m:sub>
                    </m:sSub>
                  </m:oMath>
                </a14:m>
                <a:r>
                  <a:rPr lang="en-US" sz="2000" dirty="0">
                    <a:solidFill>
                      <a:srgbClr val="000000"/>
                    </a:solidFill>
                    <a:sym typeface="Calibri"/>
                  </a:rPr>
                  <a:t> and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𝜔</m:t>
                        </m:r>
                      </m:e>
                      <m:sub>
                        <m:r>
                          <a:rPr lang="en-US" sz="2000" b="0" i="1" smtClean="0">
                            <a:solidFill>
                              <a:srgbClr val="000000"/>
                            </a:solidFill>
                            <a:latin typeface="Cambria Math" panose="02040503050406030204" pitchFamily="18" charset="0"/>
                            <a:ea typeface="Cambria Math" panose="02040503050406030204" pitchFamily="18" charset="0"/>
                            <a:sym typeface="Calibri"/>
                          </a:rPr>
                          <m:t>−</m:t>
                        </m:r>
                      </m:sub>
                    </m:sSub>
                    <m:r>
                      <a:rPr lang="en-US" sz="2000" i="1">
                        <a:solidFill>
                          <a:srgbClr val="000000"/>
                        </a:solidFill>
                        <a:latin typeface="Cambria Math" panose="02040503050406030204" pitchFamily="18" charset="0"/>
                        <a:sym typeface="Calibri"/>
                      </a:rPr>
                      <m:t>=</m:t>
                    </m:r>
                    <m:r>
                      <a:rPr lang="en-US" sz="2000" b="0" i="1" smtClean="0">
                        <a:solidFill>
                          <a:srgbClr val="000000"/>
                        </a:solidFill>
                        <a:latin typeface="Cambria Math" panose="02040503050406030204" pitchFamily="18" charset="0"/>
                        <a:sym typeface="Calibri"/>
                      </a:rPr>
                      <m:t>|</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𝜔</m:t>
                        </m:r>
                      </m:e>
                      <m:sub>
                        <m:r>
                          <a:rPr lang="en-US" sz="2000" i="1">
                            <a:solidFill>
                              <a:srgbClr val="000000"/>
                            </a:solidFill>
                            <a:latin typeface="Cambria Math" panose="02040503050406030204" pitchFamily="18" charset="0"/>
                            <a:sym typeface="Calibri"/>
                          </a:rPr>
                          <m:t>𝑙𝑜</m:t>
                        </m:r>
                      </m:sub>
                    </m:sSub>
                    <m:r>
                      <a:rPr lang="en-US" sz="2000" b="0" i="1" smtClean="0">
                        <a:solidFill>
                          <a:srgbClr val="000000"/>
                        </a:solidFill>
                        <a:latin typeface="Cambria Math" panose="02040503050406030204" pitchFamily="18" charset="0"/>
                        <a:sym typeface="Calibri"/>
                      </a:rPr>
                      <m:t>−</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𝜔</m:t>
                        </m:r>
                      </m:e>
                      <m:sub>
                        <m:r>
                          <a:rPr lang="en-US" sz="2000" i="1">
                            <a:solidFill>
                              <a:srgbClr val="000000"/>
                            </a:solidFill>
                            <a:latin typeface="Cambria Math" panose="02040503050406030204" pitchFamily="18" charset="0"/>
                            <a:sym typeface="Calibri"/>
                          </a:rPr>
                          <m:t>𝑟𝑓</m:t>
                        </m:r>
                      </m:sub>
                    </m:sSub>
                    <m:r>
                      <a:rPr lang="en-US" sz="2000" b="0" i="1" smtClean="0">
                        <a:solidFill>
                          <a:srgbClr val="000000"/>
                        </a:solidFill>
                        <a:latin typeface="Cambria Math" panose="02040503050406030204" pitchFamily="18" charset="0"/>
                        <a:sym typeface="Calibri"/>
                      </a:rPr>
                      <m:t>|</m:t>
                    </m:r>
                  </m:oMath>
                </a14:m>
                <a:r>
                  <a:rPr lang="en-US" sz="2000" dirty="0">
                    <a:solidFill>
                      <a:srgbClr val="000000"/>
                    </a:solidFill>
                    <a:sym typeface="Calibri"/>
                  </a:rPr>
                  <a:t>  </a:t>
                </a:r>
              </a:p>
              <a:p>
                <a:pPr marL="285750" indent="-285750" hangingPunct="0">
                  <a:buFont typeface="Arial" panose="020B0604020202020204" pitchFamily="34" charset="0"/>
                  <a:buChar char="•"/>
                </a:pPr>
                <a:r>
                  <a:rPr lang="en-US" sz="2000" dirty="0">
                    <a:solidFill>
                      <a:srgbClr val="000000"/>
                    </a:solidFill>
                    <a:sym typeface="Calibri"/>
                  </a:rPr>
                  <a:t>We define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𝜔</m:t>
                        </m:r>
                      </m:e>
                      <m:sub>
                        <m:r>
                          <a:rPr lang="en-US" sz="2000" b="0" i="1" smtClean="0">
                            <a:solidFill>
                              <a:srgbClr val="000000"/>
                            </a:solidFill>
                            <a:latin typeface="Cambria Math" panose="02040503050406030204" pitchFamily="18" charset="0"/>
                            <a:ea typeface="Cambria Math" panose="02040503050406030204" pitchFamily="18" charset="0"/>
                            <a:sym typeface="Calibri"/>
                          </a:rPr>
                          <m:t>𝑘</m:t>
                        </m:r>
                        <m:r>
                          <a:rPr lang="en-US" sz="2000" i="1">
                            <a:solidFill>
                              <a:srgbClr val="000000"/>
                            </a:solidFill>
                            <a:latin typeface="Cambria Math" panose="02040503050406030204" pitchFamily="18" charset="0"/>
                            <a:sym typeface="Calibri"/>
                          </a:rPr>
                          <m:t>+</m:t>
                        </m:r>
                      </m:sub>
                    </m:sSub>
                    <m:r>
                      <a:rPr lang="en-US" sz="2000" i="1">
                        <a:solidFill>
                          <a:srgbClr val="000000"/>
                        </a:solidFill>
                        <a:latin typeface="Cambria Math" panose="02040503050406030204" pitchFamily="18" charset="0"/>
                        <a:sym typeface="Calibri"/>
                      </a:rPr>
                      <m:t>=</m:t>
                    </m:r>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m:t>
                        </m:r>
                        <m:r>
                          <a:rPr lang="en-US" sz="2000" b="0" i="1" smtClean="0">
                            <a:solidFill>
                              <a:srgbClr val="000000"/>
                            </a:solidFill>
                            <a:latin typeface="Cambria Math" panose="02040503050406030204" pitchFamily="18" charset="0"/>
                            <a:sym typeface="Calibri"/>
                          </a:rPr>
                          <m:t>𝑘</m:t>
                        </m:r>
                        <m:r>
                          <a:rPr lang="en-US" sz="2000" i="1">
                            <a:solidFill>
                              <a:srgbClr val="000000"/>
                            </a:solidFill>
                            <a:latin typeface="Cambria Math" panose="02040503050406030204" pitchFamily="18" charset="0"/>
                            <a:ea typeface="Cambria Math" panose="02040503050406030204" pitchFamily="18" charset="0"/>
                            <a:sym typeface="Calibri"/>
                          </a:rPr>
                          <m:t>𝜔</m:t>
                        </m:r>
                      </m:e>
                      <m:sub>
                        <m:r>
                          <a:rPr lang="en-US" sz="2000" i="1">
                            <a:solidFill>
                              <a:srgbClr val="000000"/>
                            </a:solidFill>
                            <a:latin typeface="Cambria Math" panose="02040503050406030204" pitchFamily="18" charset="0"/>
                            <a:sym typeface="Calibri"/>
                          </a:rPr>
                          <m:t>𝑙𝑜</m:t>
                        </m:r>
                      </m:sub>
                    </m:sSub>
                    <m:r>
                      <a:rPr lang="en-US" sz="2000" i="1">
                        <a:solidFill>
                          <a:srgbClr val="000000"/>
                        </a:solidFill>
                        <a:latin typeface="Cambria Math" panose="02040503050406030204" pitchFamily="18" charset="0"/>
                        <a:sym typeface="Calibri"/>
                      </a:rPr>
                      <m:t>+</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𝜔</m:t>
                        </m:r>
                      </m:e>
                      <m:sub>
                        <m:r>
                          <a:rPr lang="en-US" sz="2000" i="1">
                            <a:solidFill>
                              <a:srgbClr val="000000"/>
                            </a:solidFill>
                            <a:latin typeface="Cambria Math" panose="02040503050406030204" pitchFamily="18" charset="0"/>
                            <a:sym typeface="Calibri"/>
                          </a:rPr>
                          <m:t>𝑟𝑓</m:t>
                        </m:r>
                      </m:sub>
                    </m:sSub>
                    <m:r>
                      <a:rPr lang="en-US" sz="2000" b="0" i="1" smtClean="0">
                        <a:solidFill>
                          <a:srgbClr val="000000"/>
                        </a:solidFill>
                        <a:latin typeface="Cambria Math" panose="02040503050406030204" pitchFamily="18" charset="0"/>
                        <a:sym typeface="Calibri"/>
                      </a:rPr>
                      <m:t>)</m:t>
                    </m:r>
                  </m:oMath>
                </a14:m>
                <a:r>
                  <a:rPr lang="en-US" sz="2000" dirty="0">
                    <a:solidFill>
                      <a:srgbClr val="000000"/>
                    </a:solidFill>
                    <a:sym typeface="Calibri"/>
                  </a:rPr>
                  <a:t> and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𝜔</m:t>
                        </m:r>
                      </m:e>
                      <m:sub>
                        <m:r>
                          <a:rPr lang="en-US" sz="2000" b="0" i="1" smtClean="0">
                            <a:solidFill>
                              <a:srgbClr val="000000"/>
                            </a:solidFill>
                            <a:latin typeface="Cambria Math" panose="02040503050406030204" pitchFamily="18" charset="0"/>
                            <a:ea typeface="Cambria Math" panose="02040503050406030204" pitchFamily="18" charset="0"/>
                            <a:sym typeface="Calibri"/>
                          </a:rPr>
                          <m:t>𝑘</m:t>
                        </m:r>
                        <m:r>
                          <a:rPr lang="en-US" sz="2000" i="1">
                            <a:solidFill>
                              <a:srgbClr val="000000"/>
                            </a:solidFill>
                            <a:latin typeface="Cambria Math" panose="02040503050406030204" pitchFamily="18" charset="0"/>
                            <a:ea typeface="Cambria Math" panose="02040503050406030204" pitchFamily="18" charset="0"/>
                            <a:sym typeface="Calibri"/>
                          </a:rPr>
                          <m:t>−</m:t>
                        </m:r>
                      </m:sub>
                    </m:sSub>
                    <m:r>
                      <a:rPr lang="en-US" sz="2000" i="1">
                        <a:solidFill>
                          <a:srgbClr val="000000"/>
                        </a:solidFill>
                        <a:latin typeface="Cambria Math" panose="02040503050406030204" pitchFamily="18" charset="0"/>
                        <a:sym typeface="Calibri"/>
                      </a:rPr>
                      <m:t>=|</m:t>
                    </m:r>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𝑘</m:t>
                        </m:r>
                        <m:r>
                          <a:rPr lang="en-US" sz="2000" i="1">
                            <a:solidFill>
                              <a:srgbClr val="000000"/>
                            </a:solidFill>
                            <a:latin typeface="Cambria Math" panose="02040503050406030204" pitchFamily="18" charset="0"/>
                            <a:ea typeface="Cambria Math" panose="02040503050406030204" pitchFamily="18" charset="0"/>
                            <a:sym typeface="Calibri"/>
                          </a:rPr>
                          <m:t>𝜔</m:t>
                        </m:r>
                      </m:e>
                      <m:sub>
                        <m:r>
                          <a:rPr lang="en-US" sz="2000" i="1">
                            <a:solidFill>
                              <a:srgbClr val="000000"/>
                            </a:solidFill>
                            <a:latin typeface="Cambria Math" panose="02040503050406030204" pitchFamily="18" charset="0"/>
                            <a:sym typeface="Calibri"/>
                          </a:rPr>
                          <m:t>𝑙𝑜</m:t>
                        </m:r>
                      </m:sub>
                    </m:sSub>
                    <m:r>
                      <a:rPr lang="en-US" sz="2000" i="1">
                        <a:solidFill>
                          <a:srgbClr val="000000"/>
                        </a:solidFill>
                        <a:latin typeface="Cambria Math" panose="02040503050406030204" pitchFamily="18" charset="0"/>
                        <a:sym typeface="Calibri"/>
                      </a:rPr>
                      <m:t>−</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𝜔</m:t>
                        </m:r>
                      </m:e>
                      <m:sub>
                        <m:r>
                          <a:rPr lang="en-US" sz="2000" i="1">
                            <a:solidFill>
                              <a:srgbClr val="000000"/>
                            </a:solidFill>
                            <a:latin typeface="Cambria Math" panose="02040503050406030204" pitchFamily="18" charset="0"/>
                            <a:sym typeface="Calibri"/>
                          </a:rPr>
                          <m:t>𝑟𝑓</m:t>
                        </m:r>
                      </m:sub>
                    </m:sSub>
                    <m:r>
                      <a:rPr lang="en-US" sz="2000" i="1">
                        <a:solidFill>
                          <a:srgbClr val="000000"/>
                        </a:solidFill>
                        <a:latin typeface="Cambria Math" panose="02040503050406030204" pitchFamily="18" charset="0"/>
                        <a:sym typeface="Calibri"/>
                      </a:rPr>
                      <m:t>|</m:t>
                    </m:r>
                  </m:oMath>
                </a14:m>
                <a:r>
                  <a:rPr lang="en-US" sz="2000" dirty="0">
                    <a:solidFill>
                      <a:srgbClr val="000000"/>
                    </a:solidFill>
                    <a:sym typeface="Calibri"/>
                  </a:rPr>
                  <a:t>  and </a:t>
                </a:r>
                <a14:m>
                  <m:oMath xmlns:m="http://schemas.openxmlformats.org/officeDocument/2006/math">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𝑉</m:t>
                        </m:r>
                      </m:e>
                      <m:sub>
                        <m:r>
                          <a:rPr lang="en-US" sz="2000" b="0" i="1" smtClean="0">
                            <a:solidFill>
                              <a:srgbClr val="000000"/>
                            </a:solidFill>
                            <a:latin typeface="Cambria Math" panose="02040503050406030204" pitchFamily="18" charset="0"/>
                            <a:sym typeface="Calibri"/>
                          </a:rPr>
                          <m:t>𝑘</m:t>
                        </m:r>
                        <m:r>
                          <a:rPr lang="en-US" sz="2000" b="0" i="1" smtClean="0">
                            <a:solidFill>
                              <a:srgbClr val="000000"/>
                            </a:solidFill>
                            <a:latin typeface="Cambria Math" panose="02040503050406030204" pitchFamily="18" charset="0"/>
                            <a:sym typeface="Calibri"/>
                          </a:rPr>
                          <m:t>+</m:t>
                        </m:r>
                      </m:sub>
                    </m:sSub>
                    <m:d>
                      <m:dPr>
                        <m:ctrlPr>
                          <a:rPr lang="en-US" sz="2000" b="0" i="1" smtClean="0">
                            <a:solidFill>
                              <a:srgbClr val="000000"/>
                            </a:solidFill>
                            <a:latin typeface="Cambria Math" panose="02040503050406030204" pitchFamily="18" charset="0"/>
                            <a:sym typeface="Calibri"/>
                          </a:rPr>
                        </m:ctrlPr>
                      </m:dPr>
                      <m:e>
                        <m:r>
                          <a:rPr lang="en-US" sz="2000" b="0" i="1" smtClean="0">
                            <a:solidFill>
                              <a:srgbClr val="000000"/>
                            </a:solidFill>
                            <a:latin typeface="Cambria Math" panose="02040503050406030204" pitchFamily="18" charset="0"/>
                            <a:sym typeface="Calibri"/>
                          </a:rPr>
                          <m:t>𝑡</m:t>
                        </m:r>
                      </m:e>
                    </m:d>
                    <m:r>
                      <a:rPr lang="en-US" sz="2000" b="0" i="1" smtClean="0">
                        <a:solidFill>
                          <a:srgbClr val="000000"/>
                        </a:solidFill>
                        <a:latin typeface="Cambria Math" panose="02040503050406030204" pitchFamily="18" charset="0"/>
                        <a:sym typeface="Calibri"/>
                      </a:rPr>
                      <m:t>=</m:t>
                    </m:r>
                    <m:f>
                      <m:fPr>
                        <m:ctrlPr>
                          <a:rPr lang="en-US" sz="2000" b="0" i="1" smtClean="0">
                            <a:solidFill>
                              <a:srgbClr val="000000"/>
                            </a:solidFill>
                            <a:latin typeface="Cambria Math" panose="02040503050406030204" pitchFamily="18" charset="0"/>
                            <a:sym typeface="Calibri"/>
                          </a:rPr>
                        </m:ctrlPr>
                      </m:fPr>
                      <m:num>
                        <m:r>
                          <a:rPr lang="en-US" sz="2000" b="0" i="1" smtClean="0">
                            <a:solidFill>
                              <a:srgbClr val="000000"/>
                            </a:solidFill>
                            <a:latin typeface="Cambria Math" panose="02040503050406030204" pitchFamily="18" charset="0"/>
                            <a:sym typeface="Calibri"/>
                          </a:rPr>
                          <m:t>2</m:t>
                        </m:r>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𝑉</m:t>
                            </m:r>
                          </m:e>
                          <m:sub>
                            <m:r>
                              <a:rPr lang="en-US" sz="2000" b="0" i="1" smtClean="0">
                                <a:solidFill>
                                  <a:srgbClr val="000000"/>
                                </a:solidFill>
                                <a:latin typeface="Cambria Math" panose="02040503050406030204" pitchFamily="18" charset="0"/>
                                <a:sym typeface="Calibri"/>
                              </a:rPr>
                              <m:t>𝑟𝑓</m:t>
                            </m:r>
                          </m:sub>
                        </m:sSub>
                      </m:num>
                      <m:den>
                        <m:r>
                          <a:rPr lang="en-US" sz="2000" b="0" i="1" smtClean="0">
                            <a:solidFill>
                              <a:srgbClr val="000000"/>
                            </a:solidFill>
                            <a:latin typeface="Cambria Math" panose="02040503050406030204" pitchFamily="18" charset="0"/>
                            <a:sym typeface="Calibri"/>
                          </a:rPr>
                          <m:t>𝑘</m:t>
                        </m:r>
                        <m:r>
                          <a:rPr lang="en-US" sz="2000" b="0" i="1" smtClean="0">
                            <a:solidFill>
                              <a:srgbClr val="000000"/>
                            </a:solidFill>
                            <a:latin typeface="Cambria Math" panose="02040503050406030204" pitchFamily="18" charset="0"/>
                            <a:ea typeface="Cambria Math" panose="02040503050406030204" pitchFamily="18" charset="0"/>
                            <a:sym typeface="Calibri"/>
                          </a:rPr>
                          <m:t>𝜋</m:t>
                        </m:r>
                      </m:den>
                    </m:f>
                    <m:r>
                      <m:rPr>
                        <m:sty m:val="p"/>
                      </m:rPr>
                      <a:rPr lang="en-US" sz="2000" b="0" i="0" smtClean="0">
                        <a:solidFill>
                          <a:srgbClr val="000000"/>
                        </a:solidFill>
                        <a:latin typeface="Cambria Math" panose="02040503050406030204" pitchFamily="18" charset="0"/>
                        <a:sym typeface="Calibri"/>
                      </a:rPr>
                      <m:t>cos</m:t>
                    </m:r>
                    <m:r>
                      <a:rPr lang="en-US" sz="2000" b="0" i="1" smtClean="0">
                        <a:solidFill>
                          <a:srgbClr val="000000"/>
                        </a:solidFill>
                        <a:latin typeface="Cambria Math" panose="02040503050406030204" pitchFamily="18" charset="0"/>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𝜔</m:t>
                        </m:r>
                      </m:e>
                      <m:sub>
                        <m:r>
                          <a:rPr lang="en-US" sz="2000" b="0" i="1" smtClean="0">
                            <a:solidFill>
                              <a:srgbClr val="000000"/>
                            </a:solidFill>
                            <a:latin typeface="Cambria Math" panose="02040503050406030204" pitchFamily="18" charset="0"/>
                            <a:sym typeface="Calibri"/>
                          </a:rPr>
                          <m:t>𝑘</m:t>
                        </m:r>
                        <m:r>
                          <a:rPr lang="en-US" sz="2000" b="0" i="1" smtClean="0">
                            <a:solidFill>
                              <a:srgbClr val="000000"/>
                            </a:solidFill>
                            <a:latin typeface="Cambria Math" panose="02040503050406030204" pitchFamily="18" charset="0"/>
                            <a:sym typeface="Calibri"/>
                          </a:rPr>
                          <m:t>+</m:t>
                        </m:r>
                      </m:sub>
                    </m:sSub>
                    <m:r>
                      <a:rPr lang="en-US" sz="2000" b="0" i="1" smtClean="0">
                        <a:solidFill>
                          <a:srgbClr val="000000"/>
                        </a:solidFill>
                        <a:latin typeface="Cambria Math" panose="02040503050406030204" pitchFamily="18" charset="0"/>
                        <a:sym typeface="Calibri"/>
                      </a:rPr>
                      <m:t>𝑡</m:t>
                    </m:r>
                    <m:r>
                      <a:rPr lang="en-US" sz="2000" b="0" i="1" smtClean="0">
                        <a:solidFill>
                          <a:srgbClr val="000000"/>
                        </a:solidFill>
                        <a:latin typeface="Cambria Math" panose="02040503050406030204" pitchFamily="18" charset="0"/>
                        <a:sym typeface="Calibri"/>
                      </a:rPr>
                      <m:t>)</m:t>
                    </m:r>
                  </m:oMath>
                </a14:m>
                <a:r>
                  <a:rPr lang="en-US" sz="2000" dirty="0">
                    <a:solidFill>
                      <a:srgbClr val="000000"/>
                    </a:solidFill>
                    <a:sym typeface="Calibri"/>
                  </a:rPr>
                  <a:t> and </a:t>
                </a:r>
                <a14:m>
                  <m:oMath xmlns:m="http://schemas.openxmlformats.org/officeDocument/2006/math">
                    <m:sSub>
                      <m:sSubPr>
                        <m:ctrlPr>
                          <a:rPr lang="en-US" sz="2000" i="1">
                            <a:solidFill>
                              <a:srgbClr val="000000"/>
                            </a:solidFill>
                            <a:latin typeface="Cambria Math" panose="02040503050406030204" pitchFamily="18" charset="0"/>
                            <a:sym typeface="Calibri"/>
                          </a:rPr>
                        </m:ctrlPr>
                      </m:sSubPr>
                      <m:e>
                        <m:r>
                          <a:rPr lang="en-US" sz="2000" i="1">
                            <a:solidFill>
                              <a:srgbClr val="000000"/>
                            </a:solidFill>
                            <a:latin typeface="Cambria Math" panose="02040503050406030204" pitchFamily="18" charset="0"/>
                            <a:sym typeface="Calibri"/>
                          </a:rPr>
                          <m:t>𝑉</m:t>
                        </m:r>
                      </m:e>
                      <m:sub>
                        <m:r>
                          <a:rPr lang="en-US" sz="2000" i="1">
                            <a:solidFill>
                              <a:srgbClr val="000000"/>
                            </a:solidFill>
                            <a:latin typeface="Cambria Math" panose="02040503050406030204" pitchFamily="18" charset="0"/>
                            <a:sym typeface="Calibri"/>
                          </a:rPr>
                          <m:t>𝑘</m:t>
                        </m:r>
                        <m:r>
                          <a:rPr lang="en-US" sz="2000" b="0" i="1" smtClean="0">
                            <a:solidFill>
                              <a:srgbClr val="000000"/>
                            </a:solidFill>
                            <a:latin typeface="Cambria Math" panose="02040503050406030204" pitchFamily="18" charset="0"/>
                            <a:sym typeface="Calibri"/>
                          </a:rPr>
                          <m:t>−</m:t>
                        </m:r>
                      </m:sub>
                    </m:sSub>
                    <m:d>
                      <m:dPr>
                        <m:ctrlPr>
                          <a:rPr lang="en-US" sz="2000" i="1">
                            <a:solidFill>
                              <a:srgbClr val="000000"/>
                            </a:solidFill>
                            <a:latin typeface="Cambria Math" panose="02040503050406030204" pitchFamily="18" charset="0"/>
                            <a:sym typeface="Calibri"/>
                          </a:rPr>
                        </m:ctrlPr>
                      </m:dPr>
                      <m:e>
                        <m:r>
                          <a:rPr lang="en-US" sz="2000" i="1">
                            <a:solidFill>
                              <a:srgbClr val="000000"/>
                            </a:solidFill>
                            <a:latin typeface="Cambria Math" panose="02040503050406030204" pitchFamily="18" charset="0"/>
                            <a:sym typeface="Calibri"/>
                          </a:rPr>
                          <m:t>𝑡</m:t>
                        </m:r>
                      </m:e>
                    </m:d>
                    <m:r>
                      <a:rPr lang="en-US" sz="2000" i="1">
                        <a:solidFill>
                          <a:srgbClr val="000000"/>
                        </a:solidFill>
                        <a:latin typeface="Cambria Math" panose="02040503050406030204" pitchFamily="18" charset="0"/>
                        <a:sym typeface="Calibri"/>
                      </a:rPr>
                      <m:t>=</m:t>
                    </m:r>
                    <m:f>
                      <m:fPr>
                        <m:ctrlPr>
                          <a:rPr lang="en-US" sz="2000" i="1">
                            <a:solidFill>
                              <a:srgbClr val="000000"/>
                            </a:solidFill>
                            <a:latin typeface="Cambria Math" panose="02040503050406030204" pitchFamily="18" charset="0"/>
                            <a:sym typeface="Calibri"/>
                          </a:rPr>
                        </m:ctrlPr>
                      </m:fPr>
                      <m:num>
                        <m:r>
                          <a:rPr lang="en-US" sz="2000" i="1">
                            <a:solidFill>
                              <a:srgbClr val="000000"/>
                            </a:solidFill>
                            <a:latin typeface="Cambria Math" panose="02040503050406030204" pitchFamily="18" charset="0"/>
                            <a:sym typeface="Calibri"/>
                          </a:rPr>
                          <m:t>2</m:t>
                        </m:r>
                        <m:sSub>
                          <m:sSubPr>
                            <m:ctrlPr>
                              <a:rPr lang="en-US" sz="2000" i="1">
                                <a:solidFill>
                                  <a:srgbClr val="000000"/>
                                </a:solidFill>
                                <a:latin typeface="Cambria Math" panose="02040503050406030204" pitchFamily="18" charset="0"/>
                                <a:sym typeface="Calibri"/>
                              </a:rPr>
                            </m:ctrlPr>
                          </m:sSubPr>
                          <m:e>
                            <m:r>
                              <a:rPr lang="en-US" sz="2000" i="1">
                                <a:solidFill>
                                  <a:srgbClr val="000000"/>
                                </a:solidFill>
                                <a:latin typeface="Cambria Math" panose="02040503050406030204" pitchFamily="18" charset="0"/>
                                <a:sym typeface="Calibri"/>
                              </a:rPr>
                              <m:t>𝑉</m:t>
                            </m:r>
                          </m:e>
                          <m:sub>
                            <m:r>
                              <a:rPr lang="en-US" sz="2000" i="1">
                                <a:solidFill>
                                  <a:srgbClr val="000000"/>
                                </a:solidFill>
                                <a:latin typeface="Cambria Math" panose="02040503050406030204" pitchFamily="18" charset="0"/>
                                <a:sym typeface="Calibri"/>
                              </a:rPr>
                              <m:t>𝑟𝑓</m:t>
                            </m:r>
                          </m:sub>
                        </m:sSub>
                      </m:num>
                      <m:den>
                        <m:r>
                          <a:rPr lang="en-US" sz="2000" i="1">
                            <a:solidFill>
                              <a:srgbClr val="000000"/>
                            </a:solidFill>
                            <a:latin typeface="Cambria Math" panose="02040503050406030204" pitchFamily="18" charset="0"/>
                            <a:sym typeface="Calibri"/>
                          </a:rPr>
                          <m:t>𝑘</m:t>
                        </m:r>
                        <m:r>
                          <a:rPr lang="en-US" sz="2000" i="1">
                            <a:solidFill>
                              <a:srgbClr val="000000"/>
                            </a:solidFill>
                            <a:latin typeface="Cambria Math" panose="02040503050406030204" pitchFamily="18" charset="0"/>
                            <a:ea typeface="Cambria Math" panose="02040503050406030204" pitchFamily="18" charset="0"/>
                            <a:sym typeface="Calibri"/>
                          </a:rPr>
                          <m:t>𝜋</m:t>
                        </m:r>
                      </m:den>
                    </m:f>
                    <m:r>
                      <m:rPr>
                        <m:sty m:val="p"/>
                      </m:rPr>
                      <a:rPr lang="en-US" sz="2000">
                        <a:solidFill>
                          <a:srgbClr val="000000"/>
                        </a:solidFill>
                        <a:latin typeface="Cambria Math" panose="02040503050406030204" pitchFamily="18" charset="0"/>
                        <a:sym typeface="Calibri"/>
                      </a:rPr>
                      <m:t>cos</m:t>
                    </m:r>
                    <m:r>
                      <a:rPr lang="en-US" sz="2000" i="1">
                        <a:solidFill>
                          <a:srgbClr val="000000"/>
                        </a:solidFill>
                        <a:latin typeface="Cambria Math" panose="02040503050406030204" pitchFamily="18" charset="0"/>
                        <a:sym typeface="Calibri"/>
                      </a:rPr>
                      <m:t>⁡(</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𝜔</m:t>
                        </m:r>
                      </m:e>
                      <m:sub>
                        <m:r>
                          <a:rPr lang="en-US" sz="2000" i="1">
                            <a:solidFill>
                              <a:srgbClr val="000000"/>
                            </a:solidFill>
                            <a:latin typeface="Cambria Math" panose="02040503050406030204" pitchFamily="18" charset="0"/>
                            <a:sym typeface="Calibri"/>
                          </a:rPr>
                          <m:t>𝑘</m:t>
                        </m:r>
                        <m:r>
                          <a:rPr lang="en-US" sz="2000" b="0" i="1" smtClean="0">
                            <a:solidFill>
                              <a:srgbClr val="000000"/>
                            </a:solidFill>
                            <a:latin typeface="Cambria Math" panose="02040503050406030204" pitchFamily="18" charset="0"/>
                            <a:sym typeface="Calibri"/>
                          </a:rPr>
                          <m:t>−</m:t>
                        </m:r>
                      </m:sub>
                    </m:sSub>
                    <m:r>
                      <a:rPr lang="en-US" sz="2000" i="1">
                        <a:solidFill>
                          <a:srgbClr val="000000"/>
                        </a:solidFill>
                        <a:latin typeface="Cambria Math" panose="02040503050406030204" pitchFamily="18" charset="0"/>
                        <a:sym typeface="Calibri"/>
                      </a:rPr>
                      <m:t>𝑡</m:t>
                    </m:r>
                    <m:r>
                      <a:rPr lang="en-US" sz="2000" i="1">
                        <a:solidFill>
                          <a:srgbClr val="000000"/>
                        </a:solidFill>
                        <a:latin typeface="Cambria Math" panose="02040503050406030204" pitchFamily="18" charset="0"/>
                        <a:sym typeface="Calibri"/>
                      </a:rPr>
                      <m:t>)</m:t>
                    </m:r>
                  </m:oMath>
                </a14:m>
                <a:endParaRPr lang="en-US" sz="2000" dirty="0">
                  <a:solidFill>
                    <a:srgbClr val="000000"/>
                  </a:solidFill>
                  <a:sym typeface="Calibri"/>
                </a:endParaRPr>
              </a:p>
              <a:p>
                <a:pPr marL="285750" indent="-285750" hangingPunct="0">
                  <a:buFont typeface="Arial" panose="020B0604020202020204" pitchFamily="34" charset="0"/>
                  <a:buChar char="•"/>
                </a:pPr>
                <a14:m>
                  <m:oMath xmlns:m="http://schemas.openxmlformats.org/officeDocument/2006/math">
                    <m:sSub>
                      <m:sSubPr>
                        <m:ctrlPr>
                          <a:rPr lang="en-US" sz="2000" i="1" smtClean="0">
                            <a:solidFill>
                              <a:srgbClr val="000000"/>
                            </a:solidFill>
                            <a:latin typeface="Cambria Math" panose="02040503050406030204" pitchFamily="18" charset="0"/>
                            <a:ea typeface="Cambria Math" panose="02040503050406030204" pitchFamily="18" charset="0"/>
                            <a:sym typeface="Calibri"/>
                          </a:rPr>
                        </m:ctrlPr>
                      </m:sSubPr>
                      <m:e>
                        <m:r>
                          <a:rPr lang="en-US" sz="2000" i="1" smtClean="0">
                            <a:solidFill>
                              <a:srgbClr val="000000"/>
                            </a:solidFill>
                            <a:latin typeface="Cambria Math" panose="02040503050406030204" pitchFamily="18" charset="0"/>
                            <a:ea typeface="Cambria Math" panose="02040503050406030204" pitchFamily="18" charset="0"/>
                            <a:sym typeface="Calibri"/>
                          </a:rPr>
                          <m:t>𝜔</m:t>
                        </m:r>
                      </m:e>
                      <m:sub>
                        <m:r>
                          <a:rPr lang="en-US" sz="2000" b="0" i="1" smtClean="0">
                            <a:solidFill>
                              <a:srgbClr val="000000"/>
                            </a:solidFill>
                            <a:latin typeface="Cambria Math" panose="02040503050406030204" pitchFamily="18" charset="0"/>
                            <a:sym typeface="Calibri"/>
                          </a:rPr>
                          <m:t>𝑖</m:t>
                        </m:r>
                      </m:sub>
                    </m:sSub>
                    <m:r>
                      <a:rPr lang="en-US" sz="2000" b="0" i="1" smtClean="0">
                        <a:solidFill>
                          <a:srgbClr val="000000"/>
                        </a:solidFill>
                        <a:latin typeface="Cambria Math" panose="02040503050406030204" pitchFamily="18" charset="0"/>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𝜔</m:t>
                        </m:r>
                      </m:e>
                      <m:sub>
                        <m:r>
                          <a:rPr lang="en-US" sz="2000" b="0" i="1" smtClean="0">
                            <a:solidFill>
                              <a:srgbClr val="000000"/>
                            </a:solidFill>
                            <a:latin typeface="Cambria Math" panose="02040503050406030204" pitchFamily="18" charset="0"/>
                            <a:sym typeface="Calibri"/>
                          </a:rPr>
                          <m:t>𝑖𝑓</m:t>
                        </m:r>
                      </m:sub>
                    </m:sSub>
                    <m:r>
                      <a:rPr lang="en-US" sz="2000" b="0" i="1" smtClean="0">
                        <a:solidFill>
                          <a:srgbClr val="000000"/>
                        </a:solidFill>
                        <a:latin typeface="Cambria Math" panose="02040503050406030204" pitchFamily="18" charset="0"/>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𝜔</m:t>
                        </m:r>
                      </m:e>
                      <m:sub>
                        <m:r>
                          <a:rPr lang="en-US" sz="2000" b="0" i="1" smtClean="0">
                            <a:solidFill>
                              <a:srgbClr val="000000"/>
                            </a:solidFill>
                            <a:latin typeface="Cambria Math" panose="02040503050406030204" pitchFamily="18" charset="0"/>
                            <a:sym typeface="Calibri"/>
                          </a:rPr>
                          <m:t>𝑙𝑜</m:t>
                        </m:r>
                      </m:sub>
                    </m:sSub>
                  </m:oMath>
                </a14:m>
                <a:r>
                  <a:rPr lang="en-US" sz="2000" dirty="0">
                    <a:solidFill>
                      <a:srgbClr val="000000"/>
                    </a:solidFill>
                    <a:sym typeface="Calibri"/>
                  </a:rPr>
                  <a:t> and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𝜔</m:t>
                        </m:r>
                      </m:e>
                      <m:sub>
                        <m:r>
                          <a:rPr lang="en-US" sz="2000" b="0" i="1" smtClean="0">
                            <a:solidFill>
                              <a:srgbClr val="000000"/>
                            </a:solidFill>
                            <a:latin typeface="Cambria Math" panose="02040503050406030204" pitchFamily="18" charset="0"/>
                            <a:ea typeface="Cambria Math" panose="02040503050406030204" pitchFamily="18" charset="0"/>
                            <a:sym typeface="Calibri"/>
                          </a:rPr>
                          <m:t>𝑖𝑓</m:t>
                        </m:r>
                      </m:sub>
                    </m:sSub>
                    <m:r>
                      <a:rPr lang="en-US" sz="2000" i="1">
                        <a:solidFill>
                          <a:srgbClr val="000000"/>
                        </a:solidFill>
                        <a:latin typeface="Cambria Math" panose="02040503050406030204" pitchFamily="18" charset="0"/>
                        <a:sym typeface="Calibri"/>
                      </a:rPr>
                      <m:t>=</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𝜔</m:t>
                        </m:r>
                      </m:e>
                      <m:sub>
                        <m:r>
                          <a:rPr lang="en-US" sz="2000" i="1">
                            <a:solidFill>
                              <a:srgbClr val="000000"/>
                            </a:solidFill>
                            <a:latin typeface="Cambria Math" panose="02040503050406030204" pitchFamily="18" charset="0"/>
                            <a:sym typeface="Calibri"/>
                          </a:rPr>
                          <m:t>𝑖𝑓</m:t>
                        </m:r>
                      </m:sub>
                    </m:sSub>
                    <m:r>
                      <a:rPr lang="en-US" sz="2000" b="0" i="1" smtClean="0">
                        <a:solidFill>
                          <a:srgbClr val="000000"/>
                        </a:solidFill>
                        <a:latin typeface="Cambria Math" panose="02040503050406030204" pitchFamily="18" charset="0"/>
                        <a:sym typeface="Calibri"/>
                      </a:rPr>
                      <m:t>+</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𝜔</m:t>
                        </m:r>
                      </m:e>
                      <m:sub>
                        <m:r>
                          <a:rPr lang="en-US" sz="2000" b="0" i="1" smtClean="0">
                            <a:solidFill>
                              <a:srgbClr val="000000"/>
                            </a:solidFill>
                            <a:latin typeface="Cambria Math" panose="02040503050406030204" pitchFamily="18" charset="0"/>
                            <a:ea typeface="Cambria Math" panose="02040503050406030204" pitchFamily="18" charset="0"/>
                            <a:sym typeface="Calibri"/>
                          </a:rPr>
                          <m:t>𝑖</m:t>
                        </m:r>
                      </m:sub>
                    </m:sSub>
                  </m:oMath>
                </a14:m>
                <a:r>
                  <a:rPr lang="en-US" sz="2000" dirty="0">
                    <a:solidFill>
                      <a:srgbClr val="000000"/>
                    </a:solidFill>
                    <a:sym typeface="Calibri"/>
                  </a:rPr>
                  <a:t> ,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𝜔</m:t>
                        </m:r>
                      </m:e>
                      <m:sub>
                        <m:r>
                          <a:rPr lang="en-US" sz="2000" i="1">
                            <a:solidFill>
                              <a:srgbClr val="000000"/>
                            </a:solidFill>
                            <a:latin typeface="Cambria Math" panose="02040503050406030204" pitchFamily="18" charset="0"/>
                            <a:ea typeface="Cambria Math" panose="02040503050406030204" pitchFamily="18" charset="0"/>
                            <a:sym typeface="Calibri"/>
                          </a:rPr>
                          <m:t>𝑖</m:t>
                        </m:r>
                      </m:sub>
                    </m:sSub>
                  </m:oMath>
                </a14:m>
                <a:r>
                  <a:rPr lang="en-US" sz="2000" dirty="0">
                    <a:solidFill>
                      <a:srgbClr val="000000"/>
                    </a:solidFill>
                    <a:sym typeface="Calibri"/>
                  </a:rPr>
                  <a:t> is a spurious signal.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𝜔</m:t>
                        </m:r>
                      </m:e>
                      <m:sub>
                        <m:r>
                          <a:rPr lang="en-US" sz="2000" i="1">
                            <a:solidFill>
                              <a:srgbClr val="000000"/>
                            </a:solidFill>
                            <a:latin typeface="Cambria Math" panose="02040503050406030204" pitchFamily="18" charset="0"/>
                            <a:sym typeface="Calibri"/>
                          </a:rPr>
                          <m:t>𝑘</m:t>
                        </m:r>
                        <m:r>
                          <a:rPr lang="en-US" sz="2000" i="1">
                            <a:solidFill>
                              <a:srgbClr val="000000"/>
                            </a:solidFill>
                            <a:latin typeface="Cambria Math" panose="02040503050406030204" pitchFamily="18" charset="0"/>
                            <a:sym typeface="Calibri"/>
                          </a:rPr>
                          <m:t>+</m:t>
                        </m:r>
                      </m:sub>
                    </m:sSub>
                  </m:oMath>
                </a14:m>
                <a:r>
                  <a:rPr lang="en-US" sz="2000" dirty="0">
                    <a:solidFill>
                      <a:srgbClr val="000000"/>
                    </a:solidFill>
                    <a:sym typeface="Calibri"/>
                  </a:rPr>
                  <a:t> and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𝜔</m:t>
                        </m:r>
                      </m:e>
                      <m:sub>
                        <m:r>
                          <a:rPr lang="en-US" sz="2000" i="1">
                            <a:solidFill>
                              <a:srgbClr val="000000"/>
                            </a:solidFill>
                            <a:latin typeface="Cambria Math" panose="02040503050406030204" pitchFamily="18" charset="0"/>
                            <a:sym typeface="Calibri"/>
                          </a:rPr>
                          <m:t>𝑘</m:t>
                        </m:r>
                        <m:r>
                          <a:rPr lang="en-US" sz="2000" b="0" i="1" smtClean="0">
                            <a:solidFill>
                              <a:srgbClr val="000000"/>
                            </a:solidFill>
                            <a:latin typeface="Cambria Math" panose="02040503050406030204" pitchFamily="18" charset="0"/>
                            <a:sym typeface="Calibri"/>
                          </a:rPr>
                          <m:t>−</m:t>
                        </m:r>
                      </m:sub>
                    </m:sSub>
                  </m:oMath>
                </a14:m>
                <a:r>
                  <a:rPr lang="en-US" sz="2000" dirty="0">
                    <a:solidFill>
                      <a:srgbClr val="000000"/>
                    </a:solidFill>
                    <a:sym typeface="Calibri"/>
                  </a:rPr>
                  <a:t> are the spurs from the </a:t>
                </a:r>
                <a14:m>
                  <m:oMath xmlns:m="http://schemas.openxmlformats.org/officeDocument/2006/math">
                    <m:r>
                      <a:rPr lang="en-US" sz="2000" b="0" i="1" smtClean="0">
                        <a:solidFill>
                          <a:srgbClr val="000000"/>
                        </a:solidFill>
                        <a:latin typeface="Cambria Math" panose="02040503050406030204" pitchFamily="18" charset="0"/>
                        <a:sym typeface="Calibri"/>
                      </a:rPr>
                      <m:t>𝑘</m:t>
                    </m:r>
                  </m:oMath>
                </a14:m>
                <a:r>
                  <a:rPr lang="en-US" sz="2000" dirty="0" err="1">
                    <a:solidFill>
                      <a:srgbClr val="000000"/>
                    </a:solidFill>
                    <a:sym typeface="Calibri"/>
                  </a:rPr>
                  <a:t>th</a:t>
                </a:r>
                <a:r>
                  <a:rPr lang="en-US" sz="2000" dirty="0">
                    <a:solidFill>
                      <a:srgbClr val="000000"/>
                    </a:solidFill>
                    <a:sym typeface="Calibri"/>
                  </a:rPr>
                  <a:t> harmonic</a:t>
                </a: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374323" y="1704855"/>
                <a:ext cx="11174680" cy="3733476"/>
              </a:xfrm>
              <a:prstGeom prst="rect">
                <a:avLst/>
              </a:prstGeom>
              <a:blipFill>
                <a:blip r:embed="rId3"/>
                <a:stretch>
                  <a:fillRect l="-908" t="-1017"/>
                </a:stretch>
              </a:blipFill>
              <a:ln w="12700" cap="flat">
                <a:noFill/>
                <a:miter lim="400000"/>
              </a:ln>
              <a:effec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7E9BD940-D742-3E42-AEA4-F8F78162A399}"/>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5</a:t>
            </a:fld>
            <a:endParaRPr lang="en-US" dirty="0">
              <a:solidFill>
                <a:schemeClr val="tx1"/>
              </a:solidFill>
            </a:endParaRPr>
          </a:p>
        </p:txBody>
      </p:sp>
      <p:grpSp>
        <p:nvGrpSpPr>
          <p:cNvPr id="18" name="Group 17">
            <a:extLst>
              <a:ext uri="{FF2B5EF4-FFF2-40B4-BE49-F238E27FC236}">
                <a16:creationId xmlns:a16="http://schemas.microsoft.com/office/drawing/2014/main" id="{7DACCE4C-B4A7-9C4D-9FD1-C8B478B2C406}"/>
              </a:ext>
            </a:extLst>
          </p:cNvPr>
          <p:cNvGrpSpPr/>
          <p:nvPr/>
        </p:nvGrpSpPr>
        <p:grpSpPr>
          <a:xfrm>
            <a:off x="5692032" y="4913944"/>
            <a:ext cx="6198158" cy="1344022"/>
            <a:chOff x="5568462" y="4239408"/>
            <a:chExt cx="6198158" cy="1344022"/>
          </a:xfrm>
        </p:grpSpPr>
        <p:cxnSp>
          <p:nvCxnSpPr>
            <p:cNvPr id="4" name="Straight Connector 3">
              <a:extLst>
                <a:ext uri="{FF2B5EF4-FFF2-40B4-BE49-F238E27FC236}">
                  <a16:creationId xmlns:a16="http://schemas.microsoft.com/office/drawing/2014/main" id="{D6A5E189-6554-7E47-9608-26A60415E774}"/>
                </a:ext>
              </a:extLst>
            </p:cNvPr>
            <p:cNvCxnSpPr>
              <a:cxnSpLocks/>
            </p:cNvCxnSpPr>
            <p:nvPr/>
          </p:nvCxnSpPr>
          <p:spPr>
            <a:xfrm>
              <a:off x="5568462" y="5003083"/>
              <a:ext cx="619815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01618163-B5A1-B64B-A9D3-9A1EB241EB3A}"/>
                </a:ext>
              </a:extLst>
            </p:cNvPr>
            <p:cNvCxnSpPr>
              <a:cxnSpLocks/>
            </p:cNvCxnSpPr>
            <p:nvPr/>
          </p:nvCxnSpPr>
          <p:spPr>
            <a:xfrm flipV="1">
              <a:off x="6109398" y="4239408"/>
              <a:ext cx="0" cy="76367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A875B86-1B2E-F443-9237-C5A0AEE749EA}"/>
                </a:ext>
              </a:extLst>
            </p:cNvPr>
            <p:cNvCxnSpPr>
              <a:cxnSpLocks/>
            </p:cNvCxnSpPr>
            <p:nvPr/>
          </p:nvCxnSpPr>
          <p:spPr>
            <a:xfrm flipV="1">
              <a:off x="6945084" y="4241086"/>
              <a:ext cx="0" cy="76367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B22C685-305B-C84E-AB05-52900A90CB3F}"/>
                </a:ext>
              </a:extLst>
            </p:cNvPr>
            <p:cNvCxnSpPr>
              <a:cxnSpLocks/>
            </p:cNvCxnSpPr>
            <p:nvPr/>
          </p:nvCxnSpPr>
          <p:spPr>
            <a:xfrm flipV="1">
              <a:off x="7929823" y="4261182"/>
              <a:ext cx="0" cy="76367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C5656D2-EFC5-A64C-ADCA-1D8E5202AA01}"/>
                </a:ext>
              </a:extLst>
            </p:cNvPr>
            <p:cNvCxnSpPr>
              <a:cxnSpLocks/>
            </p:cNvCxnSpPr>
            <p:nvPr/>
          </p:nvCxnSpPr>
          <p:spPr>
            <a:xfrm flipV="1">
              <a:off x="8876040" y="4252807"/>
              <a:ext cx="0" cy="76367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A145FD0C-107A-744F-BD20-EE0ACDE97986}"/>
                </a:ext>
              </a:extLst>
            </p:cNvPr>
            <p:cNvSpPr txBox="1"/>
            <p:nvPr/>
          </p:nvSpPr>
          <p:spPr>
            <a:xfrm>
              <a:off x="5838093" y="5214098"/>
              <a:ext cx="482321" cy="369332"/>
            </a:xfrm>
            <a:prstGeom prst="rect">
              <a:avLst/>
            </a:prstGeom>
            <a:noFill/>
          </p:spPr>
          <p:txBody>
            <a:bodyPr wrap="square" rtlCol="0">
              <a:spAutoFit/>
            </a:bodyPr>
            <a:lstStyle/>
            <a:p>
              <a:r>
                <a:rPr lang="en-US" dirty="0"/>
                <a:t>LO</a:t>
              </a:r>
            </a:p>
          </p:txBody>
        </p:sp>
        <p:sp>
          <p:nvSpPr>
            <p:cNvPr id="15" name="TextBox 14">
              <a:extLst>
                <a:ext uri="{FF2B5EF4-FFF2-40B4-BE49-F238E27FC236}">
                  <a16:creationId xmlns:a16="http://schemas.microsoft.com/office/drawing/2014/main" id="{23740F5D-BCBF-5A4F-87CA-44F212415330}"/>
                </a:ext>
              </a:extLst>
            </p:cNvPr>
            <p:cNvSpPr txBox="1"/>
            <p:nvPr/>
          </p:nvSpPr>
          <p:spPr>
            <a:xfrm>
              <a:off x="6573295" y="5204456"/>
              <a:ext cx="772048" cy="369332"/>
            </a:xfrm>
            <a:prstGeom prst="rect">
              <a:avLst/>
            </a:prstGeom>
            <a:noFill/>
          </p:spPr>
          <p:txBody>
            <a:bodyPr wrap="square" rtlCol="0">
              <a:spAutoFit/>
            </a:bodyPr>
            <a:lstStyle/>
            <a:p>
              <a:r>
                <a:rPr lang="en-US" dirty="0"/>
                <a:t>Image</a:t>
              </a:r>
            </a:p>
          </p:txBody>
        </p:sp>
        <p:sp>
          <p:nvSpPr>
            <p:cNvPr id="16" name="TextBox 15">
              <a:extLst>
                <a:ext uri="{FF2B5EF4-FFF2-40B4-BE49-F238E27FC236}">
                  <a16:creationId xmlns:a16="http://schemas.microsoft.com/office/drawing/2014/main" id="{B3141B4E-4AD7-B644-A7C6-236E49535009}"/>
                </a:ext>
              </a:extLst>
            </p:cNvPr>
            <p:cNvSpPr txBox="1"/>
            <p:nvPr/>
          </p:nvSpPr>
          <p:spPr>
            <a:xfrm>
              <a:off x="7734716" y="5170624"/>
              <a:ext cx="390213" cy="369332"/>
            </a:xfrm>
            <a:prstGeom prst="rect">
              <a:avLst/>
            </a:prstGeom>
            <a:noFill/>
          </p:spPr>
          <p:txBody>
            <a:bodyPr wrap="square" rtlCol="0">
              <a:spAutoFit/>
            </a:bodyPr>
            <a:lstStyle/>
            <a:p>
              <a:r>
                <a:rPr lang="en-US" dirty="0"/>
                <a:t>IF</a:t>
              </a:r>
            </a:p>
          </p:txBody>
        </p:sp>
        <p:sp>
          <p:nvSpPr>
            <p:cNvPr id="17" name="TextBox 16">
              <a:extLst>
                <a:ext uri="{FF2B5EF4-FFF2-40B4-BE49-F238E27FC236}">
                  <a16:creationId xmlns:a16="http://schemas.microsoft.com/office/drawing/2014/main" id="{9CCEBA83-D15A-D545-960F-F014047BD0D9}"/>
                </a:ext>
              </a:extLst>
            </p:cNvPr>
            <p:cNvSpPr txBox="1"/>
            <p:nvPr/>
          </p:nvSpPr>
          <p:spPr>
            <a:xfrm>
              <a:off x="8719449" y="5180190"/>
              <a:ext cx="464742" cy="369332"/>
            </a:xfrm>
            <a:prstGeom prst="rect">
              <a:avLst/>
            </a:prstGeom>
            <a:noFill/>
          </p:spPr>
          <p:txBody>
            <a:bodyPr wrap="square" rtlCol="0">
              <a:spAutoFit/>
            </a:bodyPr>
            <a:lstStyle/>
            <a:p>
              <a:r>
                <a:rPr lang="en-US" dirty="0"/>
                <a:t>RF</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E74077A-C638-9D48-8AFF-9DDCB06201D2}"/>
                    </a:ext>
                  </a:extLst>
                </p:cNvPr>
                <p:cNvSpPr txBox="1"/>
                <p:nvPr/>
              </p:nvSpPr>
              <p:spPr>
                <a:xfrm>
                  <a:off x="9559331" y="5175987"/>
                  <a:ext cx="772048" cy="369332"/>
                </a:xfrm>
                <a:prstGeom prst="rect">
                  <a:avLst/>
                </a:prstGeom>
                <a:noFill/>
              </p:spPr>
              <p:txBody>
                <a:bodyPr wrap="square" rtlCol="0">
                  <a:spAutoFit/>
                </a:bodyPr>
                <a:lstStyle/>
                <a:p>
                  <a:pPr/>
                  <a14:m>
                    <m:oMathPara xmlns:m="http://schemas.openxmlformats.org/officeDocument/2006/math">
                      <m:oMath>
                        <m:r>
                          <a:rPr lang="en-US" b="0" i="1" smtClean="0">
                            <a:latin typeface="Cambria Math" panose="02040503050406030204" pitchFamily="18" charset="0"/>
                          </a:rPr>
                          <m:t>3</m:t>
                        </m:r>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9" name="TextBox 18">
                  <a:extLst>
                    <a:ext uri="{FF2B5EF4-FFF2-40B4-BE49-F238E27FC236}">
                      <a16:creationId xmlns:a16="http://schemas.microsoft.com/office/drawing/2014/main" id="{0E74077A-C638-9D48-8AFF-9DDCB06201D2}"/>
                    </a:ext>
                  </a:extLst>
                </p:cNvPr>
                <p:cNvSpPr txBox="1">
                  <a:spLocks noRot="1" noChangeAspect="1" noMove="1" noResize="1" noEditPoints="1" noAdjustHandles="1" noChangeArrowheads="1" noChangeShapeType="1" noTextEdit="1"/>
                </p:cNvSpPr>
                <p:nvPr/>
              </p:nvSpPr>
              <p:spPr>
                <a:xfrm>
                  <a:off x="9559331" y="5175987"/>
                  <a:ext cx="772048"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C76891B-9CEC-DD4E-B458-E997B30DF693}"/>
                    </a:ext>
                  </a:extLst>
                </p:cNvPr>
                <p:cNvSpPr txBox="1"/>
                <p:nvPr/>
              </p:nvSpPr>
              <p:spPr>
                <a:xfrm>
                  <a:off x="10558297" y="5179834"/>
                  <a:ext cx="772048" cy="369332"/>
                </a:xfrm>
                <a:prstGeom prst="rect">
                  <a:avLst/>
                </a:prstGeom>
                <a:noFill/>
              </p:spPr>
              <p:txBody>
                <a:bodyPr wrap="square" rtlCol="0">
                  <a:spAutoFit/>
                </a:bodyPr>
                <a:lstStyle/>
                <a:p>
                  <a:pPr/>
                  <a14:m>
                    <m:oMathPara xmlns:m="http://schemas.openxmlformats.org/officeDocument/2006/math">
                      <m:oMath>
                        <m:r>
                          <a:rPr lang="en-US" i="1">
                            <a:latin typeface="Cambria Math" panose="02040503050406030204" pitchFamily="18" charset="0"/>
                          </a:rPr>
                          <m:t>5</m:t>
                        </m:r>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20" name="TextBox 19">
                  <a:extLst>
                    <a:ext uri="{FF2B5EF4-FFF2-40B4-BE49-F238E27FC236}">
                      <a16:creationId xmlns:a16="http://schemas.microsoft.com/office/drawing/2014/main" id="{0C76891B-9CEC-DD4E-B458-E997B30DF693}"/>
                    </a:ext>
                  </a:extLst>
                </p:cNvPr>
                <p:cNvSpPr txBox="1">
                  <a:spLocks noRot="1" noChangeAspect="1" noMove="1" noResize="1" noEditPoints="1" noAdjustHandles="1" noChangeArrowheads="1" noChangeShapeType="1" noTextEdit="1"/>
                </p:cNvSpPr>
                <p:nvPr/>
              </p:nvSpPr>
              <p:spPr>
                <a:xfrm>
                  <a:off x="10558297" y="5179834"/>
                  <a:ext cx="772048" cy="369332"/>
                </a:xfrm>
                <a:prstGeom prst="rect">
                  <a:avLst/>
                </a:prstGeom>
                <a:blipFill>
                  <a:blip r:embed="rId5"/>
                  <a:stretch>
                    <a:fillRect/>
                  </a:stretch>
                </a:blipFill>
              </p:spPr>
              <p:txBody>
                <a:bodyPr/>
                <a:lstStyle/>
                <a:p>
                  <a:r>
                    <a:rPr lang="en-US">
                      <a:noFill/>
                    </a:rPr>
                    <a:t> </a:t>
                  </a:r>
                </a:p>
              </p:txBody>
            </p:sp>
          </mc:Fallback>
        </mc:AlternateContent>
        <p:cxnSp>
          <p:nvCxnSpPr>
            <p:cNvPr id="22" name="Straight Arrow Connector 21">
              <a:extLst>
                <a:ext uri="{FF2B5EF4-FFF2-40B4-BE49-F238E27FC236}">
                  <a16:creationId xmlns:a16="http://schemas.microsoft.com/office/drawing/2014/main" id="{448EF065-6AF1-104A-837F-D985CB92E25B}"/>
                </a:ext>
              </a:extLst>
            </p:cNvPr>
            <p:cNvCxnSpPr>
              <a:cxnSpLocks/>
            </p:cNvCxnSpPr>
            <p:nvPr/>
          </p:nvCxnSpPr>
          <p:spPr>
            <a:xfrm flipV="1">
              <a:off x="9870830" y="4239408"/>
              <a:ext cx="0" cy="76367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B4F469A-ECC6-024D-B48C-9AB9A9B0DC11}"/>
                </a:ext>
              </a:extLst>
            </p:cNvPr>
            <p:cNvCxnSpPr>
              <a:cxnSpLocks/>
            </p:cNvCxnSpPr>
            <p:nvPr/>
          </p:nvCxnSpPr>
          <p:spPr>
            <a:xfrm flipV="1">
              <a:off x="10939296" y="4239408"/>
              <a:ext cx="0" cy="76367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4808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332509" y="358082"/>
            <a:ext cx="11649694"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Intermodulation</a:t>
            </a:r>
            <a:endParaRPr sz="4400" dirty="0">
              <a:latin typeface="Calibri" panose="020F0502020204030204" pitchFamily="34" charset="0"/>
              <a:cs typeface="Calibri" panose="020F0502020204030204" pitchFamily="34" charset="0"/>
            </a:endParaRPr>
          </a:p>
        </p:txBody>
      </p:sp>
      <p:sp>
        <p:nvSpPr>
          <p:cNvPr id="3" name="Slide Number Placeholder 2">
            <a:extLst>
              <a:ext uri="{FF2B5EF4-FFF2-40B4-BE49-F238E27FC236}">
                <a16:creationId xmlns:a16="http://schemas.microsoft.com/office/drawing/2014/main" id="{F3EED66A-56F2-494C-BB12-2E8BBB011DE2}"/>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6</a:t>
            </a:fld>
            <a:endParaRPr lang="en-US" dirty="0">
              <a:solidFill>
                <a:schemeClr val="tx1"/>
              </a:solidFill>
            </a:endParaRPr>
          </a:p>
        </p:txBody>
      </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C253EE9D-C214-DB4D-AC8D-E226CA03A8AE}"/>
                  </a:ext>
                </a:extLst>
              </p:cNvPr>
              <p:cNvSpPr txBox="1"/>
              <p:nvPr/>
            </p:nvSpPr>
            <p:spPr>
              <a:xfrm>
                <a:off x="509555" y="1923533"/>
                <a:ext cx="11172890" cy="234808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285750" indent="-285750" hangingPunct="0">
                  <a:buFont typeface="Arial" panose="020B0604020202020204" pitchFamily="34" charset="0"/>
                  <a:buChar char="•"/>
                </a:pPr>
                <a:r>
                  <a:rPr lang="en-US" sz="2000" b="0" dirty="0">
                    <a:solidFill>
                      <a:srgbClr val="000000"/>
                    </a:solidFill>
                    <a:ea typeface="Calibri"/>
                    <a:cs typeface="Calibri"/>
                    <a:sym typeface="Calibri"/>
                  </a:rPr>
                  <a:t>If frequency components are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𝑘</m:t>
                        </m:r>
                      </m:e>
                      <m:sub>
                        <m:r>
                          <a:rPr lang="en-US" sz="2000" b="0" i="1" smtClean="0">
                            <a:solidFill>
                              <a:srgbClr val="000000"/>
                            </a:solidFill>
                            <a:latin typeface="Cambria Math" panose="02040503050406030204" pitchFamily="18" charset="0"/>
                            <a:cs typeface="Calibri"/>
                            <a:sym typeface="Calibri"/>
                          </a:rPr>
                          <m:t>1</m:t>
                        </m:r>
                      </m:sub>
                    </m:sSub>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𝑓</m:t>
                        </m:r>
                      </m:e>
                      <m:sub>
                        <m:r>
                          <a:rPr lang="en-US" sz="2000" b="0" i="1" smtClean="0">
                            <a:solidFill>
                              <a:srgbClr val="000000"/>
                            </a:solidFill>
                            <a:latin typeface="Cambria Math" panose="02040503050406030204" pitchFamily="18" charset="0"/>
                            <a:cs typeface="Calibri"/>
                            <a:sym typeface="Calibri"/>
                          </a:rPr>
                          <m:t>1</m:t>
                        </m:r>
                      </m:sub>
                    </m:sSub>
                    <m:r>
                      <a:rPr lang="en-US" sz="2000" b="0" i="1" smtClean="0">
                        <a:solidFill>
                          <a:srgbClr val="000000"/>
                        </a:solidFill>
                        <a:latin typeface="Cambria Math" panose="02040503050406030204" pitchFamily="18" charset="0"/>
                        <a:cs typeface="Calibri"/>
                        <a:sym typeface="Calibri"/>
                      </a:rPr>
                      <m:t>+</m:t>
                    </m:r>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𝑘</m:t>
                        </m:r>
                      </m:e>
                      <m:sub>
                        <m:r>
                          <a:rPr lang="en-US" sz="2000" b="0" i="1" smtClean="0">
                            <a:solidFill>
                              <a:srgbClr val="000000"/>
                            </a:solidFill>
                            <a:latin typeface="Cambria Math" panose="02040503050406030204" pitchFamily="18" charset="0"/>
                            <a:cs typeface="Calibri"/>
                            <a:sym typeface="Calibri"/>
                          </a:rPr>
                          <m:t>2</m:t>
                        </m:r>
                      </m:sub>
                    </m:sSub>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𝑓</m:t>
                        </m:r>
                      </m:e>
                      <m:sub>
                        <m:r>
                          <a:rPr lang="en-US" sz="2000" b="0" i="1" smtClean="0">
                            <a:solidFill>
                              <a:srgbClr val="000000"/>
                            </a:solidFill>
                            <a:latin typeface="Cambria Math" panose="02040503050406030204" pitchFamily="18" charset="0"/>
                            <a:cs typeface="Calibri"/>
                            <a:sym typeface="Calibri"/>
                          </a:rPr>
                          <m:t>2</m:t>
                        </m:r>
                      </m:sub>
                    </m:sSub>
                    <m:r>
                      <a:rPr lang="en-US" sz="2000" i="1">
                        <a:solidFill>
                          <a:srgbClr val="000000"/>
                        </a:solidFill>
                        <a:latin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m:t>
                        </m:r>
                        <m:r>
                          <a:rPr lang="en-US" sz="2000" i="1">
                            <a:solidFill>
                              <a:srgbClr val="000000"/>
                            </a:solidFill>
                            <a:latin typeface="Cambria Math" panose="02040503050406030204" pitchFamily="18" charset="0"/>
                            <a:cs typeface="Calibri"/>
                            <a:sym typeface="Calibri"/>
                          </a:rPr>
                          <m:t>𝑘</m:t>
                        </m:r>
                      </m:e>
                      <m:sub>
                        <m:r>
                          <a:rPr lang="en-US" sz="2000" b="0" i="1" smtClean="0">
                            <a:solidFill>
                              <a:srgbClr val="000000"/>
                            </a:solidFill>
                            <a:latin typeface="Cambria Math" panose="02040503050406030204" pitchFamily="18" charset="0"/>
                            <a:cs typeface="Calibri"/>
                            <a:sym typeface="Calibri"/>
                          </a:rPr>
                          <m:t>𝑛</m:t>
                        </m:r>
                      </m:sub>
                    </m:sSub>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𝑓</m:t>
                        </m:r>
                      </m:e>
                      <m:sub>
                        <m:r>
                          <a:rPr lang="en-US" sz="2000" b="0" i="1" smtClean="0">
                            <a:solidFill>
                              <a:srgbClr val="000000"/>
                            </a:solidFill>
                            <a:latin typeface="Cambria Math" panose="02040503050406030204" pitchFamily="18" charset="0"/>
                            <a:cs typeface="Calibri"/>
                            <a:sym typeface="Calibri"/>
                          </a:rPr>
                          <m:t>𝑛</m:t>
                        </m:r>
                      </m:sub>
                    </m:sSub>
                  </m:oMath>
                </a14:m>
                <a:r>
                  <a:rPr lang="en-US" sz="2000" dirty="0">
                    <a:solidFill>
                      <a:srgbClr val="000000"/>
                    </a:solidFill>
                    <a:ea typeface="Calibri"/>
                    <a:cs typeface="Calibri"/>
                    <a:sym typeface="Calibri"/>
                  </a:rPr>
                  <a:t>, modulation order is |</a:t>
                </a:r>
                <a14:m>
                  <m:oMath xmlns:m="http://schemas.openxmlformats.org/officeDocument/2006/math">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𝑘</m:t>
                        </m:r>
                      </m:e>
                      <m:sub>
                        <m:r>
                          <a:rPr lang="en-US" sz="2000" i="1">
                            <a:solidFill>
                              <a:srgbClr val="000000"/>
                            </a:solidFill>
                            <a:latin typeface="Cambria Math" panose="02040503050406030204" pitchFamily="18" charset="0"/>
                            <a:cs typeface="Calibri"/>
                            <a:sym typeface="Calibri"/>
                          </a:rPr>
                          <m:t>1</m:t>
                        </m:r>
                      </m:sub>
                    </m:sSub>
                    <m:r>
                      <a:rPr lang="en-US" sz="2000" b="0" i="1" smtClean="0">
                        <a:solidFill>
                          <a:srgbClr val="000000"/>
                        </a:solidFill>
                        <a:latin typeface="Cambria Math" panose="02040503050406030204" pitchFamily="18" charset="0"/>
                        <a:cs typeface="Calibri"/>
                        <a:sym typeface="Calibri"/>
                      </a:rPr>
                      <m:t>|</m:t>
                    </m:r>
                    <m:r>
                      <a:rPr lang="en-US" sz="2000" i="1">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m:t>
                        </m:r>
                        <m:r>
                          <a:rPr lang="en-US" sz="2000" i="1">
                            <a:solidFill>
                              <a:srgbClr val="000000"/>
                            </a:solidFill>
                            <a:latin typeface="Cambria Math" panose="02040503050406030204" pitchFamily="18" charset="0"/>
                            <a:cs typeface="Calibri"/>
                            <a:sym typeface="Calibri"/>
                          </a:rPr>
                          <m:t>𝑘</m:t>
                        </m:r>
                      </m:e>
                      <m:sub>
                        <m:r>
                          <a:rPr lang="en-US" sz="2000" i="1">
                            <a:solidFill>
                              <a:srgbClr val="000000"/>
                            </a:solidFill>
                            <a:latin typeface="Cambria Math" panose="02040503050406030204" pitchFamily="18" charset="0"/>
                            <a:cs typeface="Calibri"/>
                            <a:sym typeface="Calibri"/>
                          </a:rPr>
                          <m:t>2</m:t>
                        </m:r>
                      </m:sub>
                    </m:sSub>
                    <m:r>
                      <a:rPr lang="en-US" sz="2000" b="0" i="1" smtClean="0">
                        <a:solidFill>
                          <a:srgbClr val="000000"/>
                        </a:solidFill>
                        <a:latin typeface="Cambria Math" panose="02040503050406030204" pitchFamily="18" charset="0"/>
                        <a:cs typeface="Calibri"/>
                        <a:sym typeface="Calibri"/>
                      </a:rPr>
                      <m:t>|</m:t>
                    </m:r>
                    <m:r>
                      <a:rPr lang="en-US" sz="2000" i="1">
                        <a:solidFill>
                          <a:srgbClr val="000000"/>
                        </a:solidFill>
                        <a:latin typeface="Cambria Math" panose="02040503050406030204" pitchFamily="18" charset="0"/>
                        <a:cs typeface="Calibri"/>
                        <a:sym typeface="Calibri"/>
                      </a:rPr>
                      <m:t>+…</m:t>
                    </m:r>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cs typeface="Calibri"/>
                            <a:sym typeface="Calibri"/>
                          </a:rPr>
                          <m:t>|</m:t>
                        </m:r>
                        <m:r>
                          <a:rPr lang="en-US" sz="2000" i="1">
                            <a:solidFill>
                              <a:srgbClr val="000000"/>
                            </a:solidFill>
                            <a:latin typeface="Cambria Math" panose="02040503050406030204" pitchFamily="18" charset="0"/>
                            <a:cs typeface="Calibri"/>
                            <a:sym typeface="Calibri"/>
                          </a:rPr>
                          <m:t>𝑘</m:t>
                        </m:r>
                      </m:e>
                      <m:sub>
                        <m:r>
                          <a:rPr lang="en-US" sz="2000" i="1">
                            <a:solidFill>
                              <a:srgbClr val="000000"/>
                            </a:solidFill>
                            <a:latin typeface="Cambria Math" panose="02040503050406030204" pitchFamily="18" charset="0"/>
                            <a:cs typeface="Calibri"/>
                            <a:sym typeface="Calibri"/>
                          </a:rPr>
                          <m:t>𝑛</m:t>
                        </m:r>
                      </m:sub>
                    </m:sSub>
                    <m:r>
                      <a:rPr lang="en-US" sz="2000" b="0" i="1" smtClean="0">
                        <a:solidFill>
                          <a:srgbClr val="000000"/>
                        </a:solidFill>
                        <a:latin typeface="Cambria Math" panose="02040503050406030204" pitchFamily="18" charset="0"/>
                        <a:cs typeface="Calibri"/>
                        <a:sym typeface="Calibri"/>
                      </a:rPr>
                      <m:t>|</m:t>
                    </m:r>
                  </m:oMath>
                </a14:m>
                <a:endParaRPr lang="en-US" sz="2000" b="0" dirty="0">
                  <a:solidFill>
                    <a:srgbClr val="000000"/>
                  </a:solidFill>
                  <a:ea typeface="Calibri"/>
                  <a:cs typeface="Calibri"/>
                  <a:sym typeface="Calibri"/>
                </a:endParaRPr>
              </a:p>
              <a:p>
                <a:pPr marL="285750" indent="-285750" hangingPunct="0">
                  <a:buFont typeface="Arial" panose="020B0604020202020204" pitchFamily="34" charset="0"/>
                  <a:buChar char="•"/>
                </a:pPr>
                <a:r>
                  <a:rPr lang="en-US" sz="2000" b="0" dirty="0">
                    <a:solidFill>
                      <a:srgbClr val="000000"/>
                    </a:solidFill>
                    <a:ea typeface="Calibri"/>
                    <a:cs typeface="Calibri"/>
                    <a:sym typeface="Calibri"/>
                  </a:rPr>
                  <a:t>Intermodulation response</a:t>
                </a:r>
              </a:p>
              <a:p>
                <a:pPr marL="742950" lvl="1" indent="-285750" hangingPunct="0">
                  <a:buFont typeface="Arial" panose="020B0604020202020204" pitchFamily="34" charset="0"/>
                  <a:buChar char="•"/>
                </a:pPr>
                <a14:m>
                  <m:oMath xmlns:m="http://schemas.openxmlformats.org/officeDocument/2006/math">
                    <m:r>
                      <a:rPr lang="en-US" sz="2000" b="0" i="1" smtClean="0">
                        <a:solidFill>
                          <a:srgbClr val="000000"/>
                        </a:solidFill>
                        <a:latin typeface="Cambria Math" panose="02040503050406030204" pitchFamily="18" charset="0"/>
                        <a:ea typeface="Calibri"/>
                        <a:cs typeface="Calibri"/>
                        <a:sym typeface="Calibri"/>
                      </a:rPr>
                      <m:t>𝑉</m:t>
                    </m:r>
                    <m:r>
                      <a:rPr lang="en-US" sz="2000" b="0" i="1" smtClean="0">
                        <a:solidFill>
                          <a:srgbClr val="000000"/>
                        </a:solidFill>
                        <a:latin typeface="Cambria Math" panose="02040503050406030204" pitchFamily="18" charset="0"/>
                        <a:ea typeface="Calibri"/>
                        <a:cs typeface="Calibri"/>
                        <a:sym typeface="Calibri"/>
                      </a:rPr>
                      <m:t>= </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𝐺</m:t>
                        </m:r>
                      </m:e>
                      <m:sub>
                        <m:r>
                          <a:rPr lang="en-US" sz="2000" b="0" i="1" smtClean="0">
                            <a:solidFill>
                              <a:srgbClr val="000000"/>
                            </a:solidFill>
                            <a:latin typeface="Cambria Math" panose="02040503050406030204" pitchFamily="18" charset="0"/>
                            <a:cs typeface="Calibri"/>
                            <a:sym typeface="Calibri"/>
                          </a:rPr>
                          <m:t>𝑣</m:t>
                        </m:r>
                      </m:sub>
                    </m:sSub>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𝑖</m:t>
                        </m:r>
                      </m:sub>
                    </m:sSub>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𝐺</m:t>
                        </m:r>
                      </m:e>
                      <m:sub>
                        <m:r>
                          <a:rPr lang="en-US" sz="2000" b="0" i="1" smtClean="0">
                            <a:solidFill>
                              <a:srgbClr val="000000"/>
                            </a:solidFill>
                            <a:latin typeface="Cambria Math" panose="02040503050406030204" pitchFamily="18" charset="0"/>
                            <a:cs typeface="Calibri"/>
                            <a:sym typeface="Calibri"/>
                          </a:rPr>
                          <m:t>2</m:t>
                        </m:r>
                      </m:sub>
                    </m:sSub>
                    <m:sSup>
                      <m:sSupPr>
                        <m:ctrlPr>
                          <a:rPr lang="en-US" sz="2000" b="0" i="1" smtClean="0">
                            <a:solidFill>
                              <a:srgbClr val="000000"/>
                            </a:solidFill>
                            <a:latin typeface="Cambria Math" panose="02040503050406030204" pitchFamily="18" charset="0"/>
                            <a:cs typeface="Calibri"/>
                            <a:sym typeface="Calibri"/>
                          </a:rPr>
                        </m:ctrlPr>
                      </m:sSupPr>
                      <m:e>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𝑖</m:t>
                            </m:r>
                          </m:sub>
                        </m:sSub>
                      </m:e>
                      <m:sup>
                        <m:r>
                          <a:rPr lang="en-US" sz="2000" b="0" i="1" smtClean="0">
                            <a:solidFill>
                              <a:srgbClr val="000000"/>
                            </a:solidFill>
                            <a:latin typeface="Cambria Math" panose="02040503050406030204" pitchFamily="18" charset="0"/>
                            <a:cs typeface="Calibri"/>
                            <a:sym typeface="Calibri"/>
                          </a:rPr>
                          <m:t>2</m:t>
                        </m:r>
                      </m:sup>
                    </m:sSup>
                    <m:r>
                      <a:rPr lang="en-US" sz="2000" b="0" i="1" smtClean="0">
                        <a:solidFill>
                          <a:srgbClr val="000000"/>
                        </a:solidFill>
                        <a:latin typeface="Cambria Math" panose="02040503050406030204" pitchFamily="18" charset="0"/>
                        <a:cs typeface="Calibri"/>
                        <a:sym typeface="Calibri"/>
                      </a:rPr>
                      <m:t>+</m:t>
                    </m:r>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𝐺</m:t>
                        </m:r>
                      </m:e>
                      <m:sub>
                        <m:r>
                          <a:rPr lang="en-US" sz="2000" b="0" i="1" smtClean="0">
                            <a:solidFill>
                              <a:srgbClr val="000000"/>
                            </a:solidFill>
                            <a:latin typeface="Cambria Math" panose="02040503050406030204" pitchFamily="18" charset="0"/>
                            <a:cs typeface="Calibri"/>
                            <a:sym typeface="Calibri"/>
                          </a:rPr>
                          <m:t>3</m:t>
                        </m:r>
                      </m:sub>
                    </m:sSub>
                    <m:sSup>
                      <m:sSupPr>
                        <m:ctrlPr>
                          <a:rPr lang="en-US" sz="2000" i="1">
                            <a:solidFill>
                              <a:srgbClr val="000000"/>
                            </a:solidFill>
                            <a:latin typeface="Cambria Math" panose="02040503050406030204" pitchFamily="18" charset="0"/>
                            <a:cs typeface="Calibri"/>
                            <a:sym typeface="Calibri"/>
                          </a:rPr>
                        </m:ctrlPr>
                      </m:sSupPr>
                      <m:e>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𝑉</m:t>
                            </m:r>
                          </m:e>
                          <m:sub>
                            <m:r>
                              <a:rPr lang="en-US" sz="2000" i="1">
                                <a:solidFill>
                                  <a:srgbClr val="000000"/>
                                </a:solidFill>
                                <a:latin typeface="Cambria Math" panose="02040503050406030204" pitchFamily="18" charset="0"/>
                                <a:cs typeface="Calibri"/>
                                <a:sym typeface="Calibri"/>
                              </a:rPr>
                              <m:t>𝑖</m:t>
                            </m:r>
                          </m:sub>
                        </m:sSub>
                      </m:e>
                      <m:sup>
                        <m:r>
                          <a:rPr lang="en-US" sz="2000" b="0" i="1" smtClean="0">
                            <a:solidFill>
                              <a:srgbClr val="000000"/>
                            </a:solidFill>
                            <a:latin typeface="Cambria Math" panose="02040503050406030204" pitchFamily="18" charset="0"/>
                            <a:cs typeface="Calibri"/>
                            <a:sym typeface="Calibri"/>
                          </a:rPr>
                          <m:t>3</m:t>
                        </m:r>
                      </m:sup>
                    </m:sSup>
                  </m:oMath>
                </a14:m>
                <a:r>
                  <a:rPr lang="en-US" sz="2000" dirty="0">
                    <a:solidFill>
                      <a:srgbClr val="000000"/>
                    </a:solidFill>
                    <a:latin typeface="Cambria Math" panose="02040503050406030204" pitchFamily="18" charset="0"/>
                    <a:ea typeface="Calibri"/>
                    <a:cs typeface="Calibri"/>
                    <a:sym typeface="Calibri"/>
                  </a:rPr>
                  <a:t>+ …</a:t>
                </a:r>
              </a:p>
              <a:p>
                <a:pPr marL="742950" lvl="1" indent="-285750"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𝑖</m:t>
                        </m:r>
                      </m:sub>
                    </m:sSub>
                    <m:r>
                      <a:rPr lang="en-US" sz="2000" i="1">
                        <a:solidFill>
                          <a:srgbClr val="000000"/>
                        </a:solidFill>
                        <a:latin typeface="Cambria Math" panose="02040503050406030204" pitchFamily="18" charset="0"/>
                        <a:ea typeface="Calibri"/>
                        <a:cs typeface="Calibri"/>
                        <a:sym typeface="Calibri"/>
                      </a:rPr>
                      <m:t>= </m:t>
                    </m:r>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1</m:t>
                        </m:r>
                      </m:sub>
                    </m:sSub>
                    <m:r>
                      <m:rPr>
                        <m:sty m:val="p"/>
                      </m:rPr>
                      <a:rPr lang="en-US" sz="2000" b="0" i="0" smtClean="0">
                        <a:solidFill>
                          <a:srgbClr val="000000"/>
                        </a:solidFill>
                        <a:latin typeface="Cambria Math" panose="02040503050406030204" pitchFamily="18" charset="0"/>
                        <a:cs typeface="Calibri"/>
                        <a:sym typeface="Calibri"/>
                      </a:rPr>
                      <m:t>cos</m:t>
                    </m:r>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𝜔</m:t>
                        </m:r>
                      </m:e>
                      <m:sub>
                        <m:r>
                          <a:rPr lang="en-US" sz="2000" b="0" i="1" smtClean="0">
                            <a:solidFill>
                              <a:srgbClr val="000000"/>
                            </a:solidFill>
                            <a:latin typeface="Cambria Math" panose="02040503050406030204" pitchFamily="18" charset="0"/>
                            <a:cs typeface="Calibri"/>
                            <a:sym typeface="Calibri"/>
                          </a:rPr>
                          <m:t>1</m:t>
                        </m:r>
                      </m:sub>
                    </m:sSub>
                    <m:r>
                      <a:rPr lang="en-US" sz="2000" b="0" i="1" smtClean="0">
                        <a:solidFill>
                          <a:srgbClr val="000000"/>
                        </a:solidFill>
                        <a:latin typeface="Cambria Math" panose="02040503050406030204" pitchFamily="18" charset="0"/>
                        <a:cs typeface="Calibri"/>
                        <a:sym typeface="Calibri"/>
                      </a:rPr>
                      <m:t>𝑡</m:t>
                    </m:r>
                    <m:r>
                      <a:rPr lang="en-US" sz="2000" b="0" i="1" smtClean="0">
                        <a:solidFill>
                          <a:srgbClr val="000000"/>
                        </a:solidFill>
                        <a:latin typeface="Cambria Math" panose="02040503050406030204" pitchFamily="18" charset="0"/>
                        <a:cs typeface="Calibri"/>
                        <a:sym typeface="Calibri"/>
                      </a:rPr>
                      <m:t>)+</m:t>
                    </m:r>
                  </m:oMath>
                </a14:m>
                <a:r>
                  <a:rPr lang="en-US" sz="2000" dirty="0">
                    <a:solidFill>
                      <a:srgbClr val="000000"/>
                    </a:solidFill>
                    <a:cs typeface="Calibri"/>
                    <a:sym typeface="Calibri"/>
                  </a:rPr>
                  <a:t> </a:t>
                </a:r>
                <a14:m>
                  <m:oMath xmlns:m="http://schemas.openxmlformats.org/officeDocument/2006/math">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2</m:t>
                        </m:r>
                      </m:sub>
                    </m:sSub>
                    <m:r>
                      <m:rPr>
                        <m:sty m:val="p"/>
                      </m:rPr>
                      <a:rPr lang="en-US" sz="2000">
                        <a:solidFill>
                          <a:srgbClr val="000000"/>
                        </a:solidFill>
                        <a:latin typeface="Cambria Math" panose="02040503050406030204" pitchFamily="18" charset="0"/>
                        <a:cs typeface="Calibri"/>
                        <a:sym typeface="Calibri"/>
                      </a:rPr>
                      <m:t>cos</m:t>
                    </m:r>
                    <m:r>
                      <a:rPr lang="en-US" sz="2000" i="1">
                        <a:solidFill>
                          <a:srgbClr val="000000"/>
                        </a:solidFill>
                        <a:latin typeface="Cambria Math" panose="02040503050406030204" pitchFamily="18" charset="0"/>
                        <a:cs typeface="Calibri"/>
                        <a:sym typeface="Calibri"/>
                      </a:rPr>
                      <m:t>⁡(</m:t>
                    </m:r>
                    <m:sSub>
                      <m:sSubPr>
                        <m:ctrlPr>
                          <a:rPr lang="en-US" sz="2000"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ea typeface="Cambria Math" panose="02040503050406030204" pitchFamily="18" charset="0"/>
                            <a:cs typeface="Calibri"/>
                            <a:sym typeface="Calibri"/>
                          </a:rPr>
                          <m:t>𝜔</m:t>
                        </m:r>
                      </m:e>
                      <m:sub>
                        <m:r>
                          <a:rPr lang="en-US" sz="2000" b="0" i="1" smtClean="0">
                            <a:solidFill>
                              <a:srgbClr val="000000"/>
                            </a:solidFill>
                            <a:latin typeface="Cambria Math" panose="02040503050406030204" pitchFamily="18" charset="0"/>
                            <a:cs typeface="Calibri"/>
                            <a:sym typeface="Calibri"/>
                          </a:rPr>
                          <m:t>2</m:t>
                        </m:r>
                      </m:sub>
                    </m:sSub>
                    <m:r>
                      <a:rPr lang="en-US" sz="2000" i="1">
                        <a:solidFill>
                          <a:srgbClr val="000000"/>
                        </a:solidFill>
                        <a:latin typeface="Cambria Math" panose="02040503050406030204" pitchFamily="18" charset="0"/>
                        <a:cs typeface="Calibri"/>
                        <a:sym typeface="Calibri"/>
                      </a:rPr>
                      <m:t>𝑡</m:t>
                    </m:r>
                    <m:r>
                      <a:rPr lang="en-US" sz="2000" i="1">
                        <a:solidFill>
                          <a:srgbClr val="000000"/>
                        </a:solidFill>
                        <a:latin typeface="Cambria Math" panose="02040503050406030204" pitchFamily="18" charset="0"/>
                        <a:cs typeface="Calibri"/>
                        <a:sym typeface="Calibri"/>
                      </a:rPr>
                      <m:t>)</m:t>
                    </m:r>
                  </m:oMath>
                </a14:m>
                <a:endParaRPr lang="en-US" sz="2000" dirty="0">
                  <a:solidFill>
                    <a:srgbClr val="000000"/>
                  </a:solidFill>
                  <a:latin typeface="Cambria Math" panose="02040503050406030204" pitchFamily="18" charset="0"/>
                  <a:ea typeface="Calibri"/>
                  <a:cs typeface="Calibri"/>
                  <a:sym typeface="Calibri"/>
                </a:endParaRPr>
              </a:p>
              <a:p>
                <a:pPr marL="285750" indent="-285750" hangingPunct="0">
                  <a:buFont typeface="Arial" panose="020B0604020202020204" pitchFamily="34" charset="0"/>
                  <a:buChar char="•"/>
                </a:pPr>
                <a:r>
                  <a:rPr lang="en-US" sz="2000" dirty="0">
                    <a:solidFill>
                      <a:srgbClr val="000000"/>
                    </a:solidFill>
                    <a:latin typeface="Calibri" panose="020F0502020204030204" pitchFamily="34" charset="0"/>
                    <a:ea typeface="Calibri"/>
                    <a:cs typeface="Calibri" panose="020F0502020204030204" pitchFamily="34" charset="0"/>
                    <a:sym typeface="Calibri"/>
                  </a:rPr>
                  <a:t>MDS is where input power (P</a:t>
                </a:r>
                <a:r>
                  <a:rPr lang="en-US" sz="2000" baseline="-25000" dirty="0">
                    <a:solidFill>
                      <a:srgbClr val="000000"/>
                    </a:solidFill>
                    <a:latin typeface="Calibri" panose="020F0502020204030204" pitchFamily="34" charset="0"/>
                    <a:ea typeface="Calibri"/>
                    <a:cs typeface="Calibri" panose="020F0502020204030204" pitchFamily="34" charset="0"/>
                    <a:sym typeface="Calibri"/>
                  </a:rPr>
                  <a:t>i</a:t>
                </a:r>
                <a:r>
                  <a:rPr lang="en-US" sz="2000" dirty="0">
                    <a:solidFill>
                      <a:srgbClr val="000000"/>
                    </a:solidFill>
                    <a:latin typeface="Calibri" panose="020F0502020204030204" pitchFamily="34" charset="0"/>
                    <a:ea typeface="Calibri"/>
                    <a:cs typeface="Calibri" panose="020F0502020204030204" pitchFamily="34" charset="0"/>
                    <a:sym typeface="Calibri"/>
                  </a:rPr>
                  <a:t>) is </a:t>
                </a:r>
                <a14:m>
                  <m:oMath xmlns:m="http://schemas.openxmlformats.org/officeDocument/2006/math">
                    <m:r>
                      <a:rPr lang="en-US" sz="2000" i="1">
                        <a:solidFill>
                          <a:srgbClr val="000000"/>
                        </a:solidFill>
                        <a:latin typeface="Cambria Math" panose="02040503050406030204" pitchFamily="18" charset="0"/>
                        <a:ea typeface="Calibri"/>
                        <a:cs typeface="Calibri"/>
                        <a:sym typeface="Calibri"/>
                      </a:rPr>
                      <m:t>2</m:t>
                    </m:r>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𝑃</m:t>
                        </m:r>
                      </m:e>
                      <m:sub>
                        <m:r>
                          <a:rPr lang="en-US" sz="2000" i="1">
                            <a:solidFill>
                              <a:srgbClr val="000000"/>
                            </a:solidFill>
                            <a:latin typeface="Cambria Math" panose="02040503050406030204" pitchFamily="18" charset="0"/>
                            <a:cs typeface="Calibri"/>
                            <a:sym typeface="Calibri"/>
                          </a:rPr>
                          <m:t>𝑛</m:t>
                        </m:r>
                      </m:sub>
                    </m:sSub>
                  </m:oMath>
                </a14:m>
                <a:r>
                  <a:rPr lang="en-US" sz="2000" dirty="0">
                    <a:solidFill>
                      <a:srgbClr val="000000"/>
                    </a:solidFill>
                    <a:latin typeface="Calibri" panose="020F0502020204030204" pitchFamily="34" charset="0"/>
                    <a:ea typeface="Calibri"/>
                    <a:cs typeface="Calibri" panose="020F0502020204030204" pitchFamily="34" charset="0"/>
                    <a:sym typeface="Calibri"/>
                  </a:rPr>
                  <a:t>. MDI is where intermodulation power is </a:t>
                </a:r>
                <a14:m>
                  <m:oMath xmlns:m="http://schemas.openxmlformats.org/officeDocument/2006/math">
                    <m:r>
                      <a:rPr lang="en-US" sz="2000" i="1">
                        <a:solidFill>
                          <a:srgbClr val="000000"/>
                        </a:solidFill>
                        <a:latin typeface="Cambria Math" panose="02040503050406030204" pitchFamily="18" charset="0"/>
                        <a:ea typeface="Calibri"/>
                        <a:cs typeface="Calibri"/>
                        <a:sym typeface="Calibri"/>
                      </a:rPr>
                      <m:t>2</m:t>
                    </m:r>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𝑃</m:t>
                        </m:r>
                      </m:e>
                      <m:sub>
                        <m:r>
                          <a:rPr lang="en-US" sz="2000" i="1">
                            <a:solidFill>
                              <a:srgbClr val="000000"/>
                            </a:solidFill>
                            <a:latin typeface="Cambria Math" panose="02040503050406030204" pitchFamily="18" charset="0"/>
                            <a:cs typeface="Calibri"/>
                            <a:sym typeface="Calibri"/>
                          </a:rPr>
                          <m:t>𝑛</m:t>
                        </m:r>
                      </m:sub>
                    </m:sSub>
                  </m:oMath>
                </a14:m>
                <a:r>
                  <a:rPr lang="en-US" sz="2000" dirty="0">
                    <a:solidFill>
                      <a:srgbClr val="000000"/>
                    </a:solidFill>
                    <a:latin typeface="Calibri" panose="020F0502020204030204" pitchFamily="34" charset="0"/>
                    <a:ea typeface="Calibri"/>
                    <a:cs typeface="Calibri" panose="020F0502020204030204" pitchFamily="34" charset="0"/>
                    <a:sym typeface="Calibri"/>
                  </a:rPr>
                  <a:t>.</a:t>
                </a:r>
              </a:p>
              <a:p>
                <a:pPr marL="285750" indent="-285750" hangingPunct="0">
                  <a:buFont typeface="Arial" panose="020B0604020202020204" pitchFamily="34" charset="0"/>
                  <a:buChar char="•"/>
                </a:pPr>
                <a:r>
                  <a:rPr lang="en-US" sz="2000" dirty="0">
                    <a:solidFill>
                      <a:srgbClr val="000000"/>
                    </a:solidFill>
                    <a:latin typeface="Calibri" panose="020F0502020204030204" pitchFamily="34" charset="0"/>
                    <a:ea typeface="Calibri"/>
                    <a:cs typeface="Calibri" panose="020F0502020204030204" pitchFamily="34" charset="0"/>
                    <a:sym typeface="Calibri"/>
                  </a:rPr>
                  <a:t>Dynamic range = MDI-MDS.</a:t>
                </a:r>
              </a:p>
              <a:p>
                <a:pPr marL="285750" indent="-285750" hangingPunct="0">
                  <a:buFont typeface="Arial" panose="020B0604020202020204" pitchFamily="34" charset="0"/>
                  <a:buChar char="•"/>
                </a:pPr>
                <a:r>
                  <a:rPr lang="en-US" sz="2000" dirty="0">
                    <a:solidFill>
                      <a:srgbClr val="000000"/>
                    </a:solidFill>
                    <a:latin typeface="Calibri" panose="020F0502020204030204" pitchFamily="34" charset="0"/>
                    <a:ea typeface="Calibri"/>
                    <a:cs typeface="Calibri" panose="020F0502020204030204" pitchFamily="34" charset="0"/>
                    <a:sym typeface="Calibri"/>
                  </a:rPr>
                  <a:t>Good receivers have DR </a:t>
                </a:r>
                <a14:m>
                  <m:oMath xmlns:m="http://schemas.openxmlformats.org/officeDocument/2006/math">
                    <m:r>
                      <a:rPr lang="en-US" sz="200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100</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𝑑𝐵</m:t>
                    </m:r>
                  </m:oMath>
                </a14:m>
                <a:endParaRPr lang="en-US" sz="2000" dirty="0">
                  <a:solidFill>
                    <a:srgbClr val="000000"/>
                  </a:solidFill>
                  <a:latin typeface="Calibri" panose="020F0502020204030204" pitchFamily="34" charset="0"/>
                  <a:ea typeface="Calibri"/>
                  <a:cs typeface="Calibri" panose="020F0502020204030204" pitchFamily="34" charset="0"/>
                  <a:sym typeface="Calibri"/>
                </a:endParaRPr>
              </a:p>
              <a:p>
                <a:pPr marL="285750" indent="-285750" hangingPunct="0">
                  <a:buFont typeface="Arial" panose="020B0604020202020204" pitchFamily="34" charset="0"/>
                  <a:buChar char="•"/>
                </a:pPr>
                <a:endParaRPr lang="en-US" sz="2000" dirty="0">
                  <a:solidFill>
                    <a:srgbClr val="000000"/>
                  </a:solidFill>
                  <a:latin typeface="Calibri" panose="020F0502020204030204" pitchFamily="34" charset="0"/>
                  <a:ea typeface="Calibri"/>
                  <a:cs typeface="Calibri" panose="020F0502020204030204" pitchFamily="34" charset="0"/>
                  <a:sym typeface="Calibri"/>
                </a:endParaRPr>
              </a:p>
              <a:p>
                <a:pPr algn="l" rtl="0" latinLnBrk="1" hangingPunct="0"/>
                <a:endParaRPr lang="en-US" dirty="0">
                  <a:solidFill>
                    <a:srgbClr val="000000"/>
                  </a:solidFill>
                  <a:latin typeface="Calibri"/>
                  <a:ea typeface="Calibri"/>
                  <a:cs typeface="Calibri"/>
                  <a:sym typeface="Calibri"/>
                </a:endParaRPr>
              </a:p>
            </p:txBody>
          </p:sp>
        </mc:Choice>
        <mc:Fallback xmlns="">
          <p:sp>
            <p:nvSpPr>
              <p:cNvPr id="68" name="TextBox 67">
                <a:extLst>
                  <a:ext uri="{FF2B5EF4-FFF2-40B4-BE49-F238E27FC236}">
                    <a16:creationId xmlns:a16="http://schemas.microsoft.com/office/drawing/2014/main" id="{C253EE9D-C214-DB4D-AC8D-E226CA03A8AE}"/>
                  </a:ext>
                </a:extLst>
              </p:cNvPr>
              <p:cNvSpPr txBox="1">
                <a:spLocks noRot="1" noChangeAspect="1" noMove="1" noResize="1" noEditPoints="1" noAdjustHandles="1" noChangeArrowheads="1" noChangeShapeType="1" noTextEdit="1"/>
              </p:cNvSpPr>
              <p:nvPr/>
            </p:nvSpPr>
            <p:spPr>
              <a:xfrm>
                <a:off x="509555" y="1923533"/>
                <a:ext cx="11172890" cy="2348082"/>
              </a:xfrm>
              <a:prstGeom prst="rect">
                <a:avLst/>
              </a:prstGeom>
              <a:blipFill>
                <a:blip r:embed="rId3"/>
                <a:stretch>
                  <a:fillRect l="-909" t="-1613"/>
                </a:stretch>
              </a:blipFill>
              <a:ln w="12700" cap="flat">
                <a:noFill/>
                <a:miter lim="400000"/>
              </a:ln>
              <a:effectLst/>
            </p:spPr>
            <p:txBody>
              <a:bodyPr/>
              <a:lstStyle/>
              <a:p>
                <a:r>
                  <a:rPr lang="en-US">
                    <a:noFill/>
                  </a:rPr>
                  <a:t> </a:t>
                </a:r>
              </a:p>
            </p:txBody>
          </p:sp>
        </mc:Fallback>
      </mc:AlternateContent>
      <p:grpSp>
        <p:nvGrpSpPr>
          <p:cNvPr id="14" name="Group 13">
            <a:extLst>
              <a:ext uri="{FF2B5EF4-FFF2-40B4-BE49-F238E27FC236}">
                <a16:creationId xmlns:a16="http://schemas.microsoft.com/office/drawing/2014/main" id="{18C33E32-792C-E049-BA12-433BD99F968B}"/>
              </a:ext>
            </a:extLst>
          </p:cNvPr>
          <p:cNvGrpSpPr/>
          <p:nvPr/>
        </p:nvGrpSpPr>
        <p:grpSpPr>
          <a:xfrm>
            <a:off x="8506737" y="4333459"/>
            <a:ext cx="3280189" cy="1786901"/>
            <a:chOff x="8090177" y="4333459"/>
            <a:chExt cx="3280189" cy="1786901"/>
          </a:xfrm>
        </p:grpSpPr>
        <p:cxnSp>
          <p:nvCxnSpPr>
            <p:cNvPr id="4" name="Straight Connector 3">
              <a:extLst>
                <a:ext uri="{FF2B5EF4-FFF2-40B4-BE49-F238E27FC236}">
                  <a16:creationId xmlns:a16="http://schemas.microsoft.com/office/drawing/2014/main" id="{9626EFAF-071C-0A4F-A7B3-736D69D8C529}"/>
                </a:ext>
              </a:extLst>
            </p:cNvPr>
            <p:cNvCxnSpPr>
              <a:cxnSpLocks/>
            </p:cNvCxnSpPr>
            <p:nvPr/>
          </p:nvCxnSpPr>
          <p:spPr>
            <a:xfrm flipV="1">
              <a:off x="8313089" y="5367129"/>
              <a:ext cx="2773017" cy="994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CF3A1ED-CD27-334D-891F-B109CB40F67E}"/>
                </a:ext>
              </a:extLst>
            </p:cNvPr>
            <p:cNvSpPr txBox="1"/>
            <p:nvPr/>
          </p:nvSpPr>
          <p:spPr>
            <a:xfrm>
              <a:off x="8090177" y="5781806"/>
              <a:ext cx="3150704" cy="338554"/>
            </a:xfrm>
            <a:prstGeom prst="rect">
              <a:avLst/>
            </a:prstGeom>
            <a:noFill/>
          </p:spPr>
          <p:txBody>
            <a:bodyPr wrap="square" rtlCol="0">
              <a:spAutoFit/>
            </a:bodyPr>
            <a:lstStyle/>
            <a:p>
              <a:pPr algn="ctr"/>
              <a:r>
                <a:rPr lang="en-US" sz="1600" dirty="0"/>
                <a:t>Intermodulation products</a:t>
              </a:r>
            </a:p>
          </p:txBody>
        </p:sp>
        <p:cxnSp>
          <p:nvCxnSpPr>
            <p:cNvPr id="7" name="Straight Connector 6">
              <a:extLst>
                <a:ext uri="{FF2B5EF4-FFF2-40B4-BE49-F238E27FC236}">
                  <a16:creationId xmlns:a16="http://schemas.microsoft.com/office/drawing/2014/main" id="{98082AE0-913C-2A4D-8786-66BECAC7A233}"/>
                </a:ext>
              </a:extLst>
            </p:cNvPr>
            <p:cNvCxnSpPr>
              <a:cxnSpLocks/>
            </p:cNvCxnSpPr>
            <p:nvPr/>
          </p:nvCxnSpPr>
          <p:spPr>
            <a:xfrm>
              <a:off x="9320695" y="4333459"/>
              <a:ext cx="0" cy="10336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4E87991-E72A-0E4E-9072-DC2C7965AF03}"/>
                </a:ext>
              </a:extLst>
            </p:cNvPr>
            <p:cNvCxnSpPr>
              <a:cxnSpLocks/>
            </p:cNvCxnSpPr>
            <p:nvPr/>
          </p:nvCxnSpPr>
          <p:spPr>
            <a:xfrm>
              <a:off x="9703902" y="4336774"/>
              <a:ext cx="0" cy="10336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8E91C335-0D1B-DD49-9B4F-8106E0A62E5D}"/>
                </a:ext>
              </a:extLst>
            </p:cNvPr>
            <p:cNvSpPr txBox="1"/>
            <p:nvPr/>
          </p:nvSpPr>
          <p:spPr>
            <a:xfrm>
              <a:off x="10903226" y="5418594"/>
              <a:ext cx="467140" cy="338554"/>
            </a:xfrm>
            <a:prstGeom prst="rect">
              <a:avLst/>
            </a:prstGeom>
            <a:noFill/>
          </p:spPr>
          <p:txBody>
            <a:bodyPr wrap="square" rtlCol="0">
              <a:spAutoFit/>
            </a:bodyPr>
            <a:lstStyle/>
            <a:p>
              <a:r>
                <a:rPr lang="en-US" sz="1600" dirty="0"/>
                <a:t>f</a:t>
              </a:r>
            </a:p>
          </p:txBody>
        </p:sp>
        <p:cxnSp>
          <p:nvCxnSpPr>
            <p:cNvPr id="70" name="Straight Connector 69">
              <a:extLst>
                <a:ext uri="{FF2B5EF4-FFF2-40B4-BE49-F238E27FC236}">
                  <a16:creationId xmlns:a16="http://schemas.microsoft.com/office/drawing/2014/main" id="{C12A6545-A3B3-FF40-8386-B0D44AB1AFD0}"/>
                </a:ext>
              </a:extLst>
            </p:cNvPr>
            <p:cNvCxnSpPr>
              <a:cxnSpLocks/>
            </p:cNvCxnSpPr>
            <p:nvPr/>
          </p:nvCxnSpPr>
          <p:spPr>
            <a:xfrm>
              <a:off x="8967526" y="4750904"/>
              <a:ext cx="0" cy="63941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01F2CA7C-EF92-E040-9A6B-75AB06A7AB0A}"/>
                </a:ext>
              </a:extLst>
            </p:cNvPr>
            <p:cNvCxnSpPr>
              <a:cxnSpLocks/>
            </p:cNvCxnSpPr>
            <p:nvPr/>
          </p:nvCxnSpPr>
          <p:spPr>
            <a:xfrm>
              <a:off x="8603756" y="5029200"/>
              <a:ext cx="0" cy="35449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C0C2EF5-D7DD-9043-8FC0-9665A8109B9F}"/>
                    </a:ext>
                  </a:extLst>
                </p:cNvPr>
                <p:cNvSpPr txBox="1"/>
                <p:nvPr/>
              </p:nvSpPr>
              <p:spPr>
                <a:xfrm>
                  <a:off x="8425291" y="5364480"/>
                  <a:ext cx="467140" cy="375296"/>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𝑓</m:t>
                            </m:r>
                          </m:e>
                          <m:sub>
                            <m:bar>
                              <m:barPr>
                                <m:pos m:val="bot"/>
                                <m:ctrlPr>
                                  <a:rPr lang="en-US" sz="1600" b="0" i="1" smtClean="0">
                                    <a:latin typeface="Cambria Math" panose="02040503050406030204" pitchFamily="18" charset="0"/>
                                  </a:rPr>
                                </m:ctrlPr>
                              </m:barPr>
                              <m:e>
                                <m:r>
                                  <a:rPr lang="en-US" sz="1600" b="0" i="1" smtClean="0">
                                    <a:latin typeface="Cambria Math" panose="02040503050406030204" pitchFamily="18" charset="0"/>
                                  </a:rPr>
                                  <m:t>5</m:t>
                                </m:r>
                              </m:e>
                            </m:bar>
                          </m:sub>
                        </m:sSub>
                      </m:oMath>
                    </m:oMathPara>
                  </a14:m>
                  <a:endParaRPr lang="en-US" dirty="0"/>
                </a:p>
              </p:txBody>
            </p:sp>
          </mc:Choice>
          <mc:Fallback xmlns="">
            <p:sp>
              <p:nvSpPr>
                <p:cNvPr id="12" name="TextBox 11">
                  <a:extLst>
                    <a:ext uri="{FF2B5EF4-FFF2-40B4-BE49-F238E27FC236}">
                      <a16:creationId xmlns:a16="http://schemas.microsoft.com/office/drawing/2014/main" id="{BC0C2EF5-D7DD-9043-8FC0-9665A8109B9F}"/>
                    </a:ext>
                  </a:extLst>
                </p:cNvPr>
                <p:cNvSpPr txBox="1">
                  <a:spLocks noRot="1" noChangeAspect="1" noMove="1" noResize="1" noEditPoints="1" noAdjustHandles="1" noChangeArrowheads="1" noChangeShapeType="1" noTextEdit="1"/>
                </p:cNvSpPr>
                <p:nvPr/>
              </p:nvSpPr>
              <p:spPr>
                <a:xfrm>
                  <a:off x="8425291" y="5364480"/>
                  <a:ext cx="467140" cy="37529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D48C661E-C394-E24B-9D86-7248A3226FDA}"/>
                    </a:ext>
                  </a:extLst>
                </p:cNvPr>
                <p:cNvSpPr txBox="1"/>
                <p:nvPr/>
              </p:nvSpPr>
              <p:spPr>
                <a:xfrm>
                  <a:off x="8790162" y="5364241"/>
                  <a:ext cx="467140" cy="375296"/>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𝑓</m:t>
                            </m:r>
                          </m:e>
                          <m:sub>
                            <m:bar>
                              <m:barPr>
                                <m:pos m:val="bot"/>
                                <m:ctrlPr>
                                  <a:rPr lang="en-US" sz="1600" b="0" i="1" smtClean="0">
                                    <a:latin typeface="Cambria Math" panose="02040503050406030204" pitchFamily="18" charset="0"/>
                                  </a:rPr>
                                </m:ctrlPr>
                              </m:barPr>
                              <m:e>
                                <m:r>
                                  <a:rPr lang="en-US" sz="1600" b="0" i="1" smtClean="0">
                                    <a:latin typeface="Cambria Math" panose="02040503050406030204" pitchFamily="18" charset="0"/>
                                  </a:rPr>
                                  <m:t>3</m:t>
                                </m:r>
                              </m:e>
                            </m:bar>
                          </m:sub>
                        </m:sSub>
                      </m:oMath>
                    </m:oMathPara>
                  </a14:m>
                  <a:endParaRPr lang="en-US" dirty="0"/>
                </a:p>
              </p:txBody>
            </p:sp>
          </mc:Choice>
          <mc:Fallback xmlns="">
            <p:sp>
              <p:nvSpPr>
                <p:cNvPr id="75" name="TextBox 74">
                  <a:extLst>
                    <a:ext uri="{FF2B5EF4-FFF2-40B4-BE49-F238E27FC236}">
                      <a16:creationId xmlns:a16="http://schemas.microsoft.com/office/drawing/2014/main" id="{D48C661E-C394-E24B-9D86-7248A3226FDA}"/>
                    </a:ext>
                  </a:extLst>
                </p:cNvPr>
                <p:cNvSpPr txBox="1">
                  <a:spLocks noRot="1" noChangeAspect="1" noMove="1" noResize="1" noEditPoints="1" noAdjustHandles="1" noChangeArrowheads="1" noChangeShapeType="1" noTextEdit="1"/>
                </p:cNvSpPr>
                <p:nvPr/>
              </p:nvSpPr>
              <p:spPr>
                <a:xfrm>
                  <a:off x="8790162" y="5364241"/>
                  <a:ext cx="467140" cy="37529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82F51CA3-B1EA-F34C-B4B1-9E50BF4F94EB}"/>
                    </a:ext>
                  </a:extLst>
                </p:cNvPr>
                <p:cNvSpPr txBox="1"/>
                <p:nvPr/>
              </p:nvSpPr>
              <p:spPr>
                <a:xfrm>
                  <a:off x="9198389" y="5359078"/>
                  <a:ext cx="467140" cy="338554"/>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𝑓</m:t>
                            </m:r>
                          </m:e>
                          <m:sub>
                            <m:r>
                              <a:rPr lang="en-US" sz="1600" i="1" smtClean="0">
                                <a:latin typeface="Cambria Math" panose="02040503050406030204" pitchFamily="18" charset="0"/>
                              </a:rPr>
                              <m:t>1</m:t>
                            </m:r>
                          </m:sub>
                        </m:sSub>
                      </m:oMath>
                    </m:oMathPara>
                  </a14:m>
                  <a:endParaRPr lang="en-US" dirty="0"/>
                </a:p>
              </p:txBody>
            </p:sp>
          </mc:Choice>
          <mc:Fallback xmlns="">
            <p:sp>
              <p:nvSpPr>
                <p:cNvPr id="76" name="TextBox 75">
                  <a:extLst>
                    <a:ext uri="{FF2B5EF4-FFF2-40B4-BE49-F238E27FC236}">
                      <a16:creationId xmlns:a16="http://schemas.microsoft.com/office/drawing/2014/main" id="{82F51CA3-B1EA-F34C-B4B1-9E50BF4F94EB}"/>
                    </a:ext>
                  </a:extLst>
                </p:cNvPr>
                <p:cNvSpPr txBox="1">
                  <a:spLocks noRot="1" noChangeAspect="1" noMove="1" noResize="1" noEditPoints="1" noAdjustHandles="1" noChangeArrowheads="1" noChangeShapeType="1" noTextEdit="1"/>
                </p:cNvSpPr>
                <p:nvPr/>
              </p:nvSpPr>
              <p:spPr>
                <a:xfrm>
                  <a:off x="9198389" y="5359078"/>
                  <a:ext cx="467140" cy="338554"/>
                </a:xfrm>
                <a:prstGeom prst="rect">
                  <a:avLst/>
                </a:prstGeom>
                <a:blipFill>
                  <a:blip r:embed="rId6"/>
                  <a:stretch>
                    <a:fillRect b="-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4EF30268-7F35-6449-837B-89D9CEAA113C}"/>
                    </a:ext>
                  </a:extLst>
                </p:cNvPr>
                <p:cNvSpPr txBox="1"/>
                <p:nvPr/>
              </p:nvSpPr>
              <p:spPr>
                <a:xfrm>
                  <a:off x="9559787" y="5367129"/>
                  <a:ext cx="467140" cy="338554"/>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𝑓</m:t>
                            </m:r>
                          </m:e>
                          <m:sub>
                            <m:r>
                              <a:rPr lang="en-US" sz="1600" b="0" i="1" smtClean="0">
                                <a:latin typeface="Cambria Math" panose="02040503050406030204" pitchFamily="18" charset="0"/>
                              </a:rPr>
                              <m:t>2</m:t>
                            </m:r>
                          </m:sub>
                        </m:sSub>
                      </m:oMath>
                    </m:oMathPara>
                  </a14:m>
                  <a:endParaRPr lang="en-US" dirty="0"/>
                </a:p>
              </p:txBody>
            </p:sp>
          </mc:Choice>
          <mc:Fallback xmlns="">
            <p:sp>
              <p:nvSpPr>
                <p:cNvPr id="77" name="TextBox 76">
                  <a:extLst>
                    <a:ext uri="{FF2B5EF4-FFF2-40B4-BE49-F238E27FC236}">
                      <a16:creationId xmlns:a16="http://schemas.microsoft.com/office/drawing/2014/main" id="{4EF30268-7F35-6449-837B-89D9CEAA113C}"/>
                    </a:ext>
                  </a:extLst>
                </p:cNvPr>
                <p:cNvSpPr txBox="1">
                  <a:spLocks noRot="1" noChangeAspect="1" noMove="1" noResize="1" noEditPoints="1" noAdjustHandles="1" noChangeArrowheads="1" noChangeShapeType="1" noTextEdit="1"/>
                </p:cNvSpPr>
                <p:nvPr/>
              </p:nvSpPr>
              <p:spPr>
                <a:xfrm>
                  <a:off x="9559787" y="5367129"/>
                  <a:ext cx="467140" cy="338554"/>
                </a:xfrm>
                <a:prstGeom prst="rect">
                  <a:avLst/>
                </a:prstGeom>
                <a:blipFill>
                  <a:blip r:embed="rId7"/>
                  <a:stretch>
                    <a:fillRect b="-7143"/>
                  </a:stretch>
                </a:blipFill>
              </p:spPr>
              <p:txBody>
                <a:bodyPr/>
                <a:lstStyle/>
                <a:p>
                  <a:r>
                    <a:rPr lang="en-US">
                      <a:noFill/>
                    </a:rPr>
                    <a:t> </a:t>
                  </a:r>
                </a:p>
              </p:txBody>
            </p:sp>
          </mc:Fallback>
        </mc:AlternateContent>
        <p:cxnSp>
          <p:nvCxnSpPr>
            <p:cNvPr id="78" name="Straight Connector 77">
              <a:extLst>
                <a:ext uri="{FF2B5EF4-FFF2-40B4-BE49-F238E27FC236}">
                  <a16:creationId xmlns:a16="http://schemas.microsoft.com/office/drawing/2014/main" id="{46239324-22F9-C84A-BD0F-B4B8D3E74397}"/>
                </a:ext>
              </a:extLst>
            </p:cNvPr>
            <p:cNvCxnSpPr>
              <a:cxnSpLocks/>
            </p:cNvCxnSpPr>
            <p:nvPr/>
          </p:nvCxnSpPr>
          <p:spPr>
            <a:xfrm>
              <a:off x="10095286" y="4740744"/>
              <a:ext cx="0" cy="63941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992ED0D5-C111-2344-98A2-729D6552EF0A}"/>
                </a:ext>
              </a:extLst>
            </p:cNvPr>
            <p:cNvCxnSpPr>
              <a:cxnSpLocks/>
            </p:cNvCxnSpPr>
            <p:nvPr/>
          </p:nvCxnSpPr>
          <p:spPr>
            <a:xfrm>
              <a:off x="10442716" y="5019040"/>
              <a:ext cx="0" cy="35449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76A799F9-4515-964F-B5A0-7F9EB5391981}"/>
                    </a:ext>
                  </a:extLst>
                </p:cNvPr>
                <p:cNvSpPr txBox="1"/>
                <p:nvPr/>
              </p:nvSpPr>
              <p:spPr>
                <a:xfrm>
                  <a:off x="10284571" y="5384800"/>
                  <a:ext cx="467140" cy="35548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𝑓</m:t>
                            </m:r>
                          </m:e>
                          <m:sub>
                            <m:bar>
                              <m:barPr>
                                <m:pos m:val="top"/>
                                <m:ctrlPr>
                                  <a:rPr lang="en-US" sz="1600" b="0" i="1" smtClean="0">
                                    <a:latin typeface="Cambria Math" panose="02040503050406030204" pitchFamily="18" charset="0"/>
                                  </a:rPr>
                                </m:ctrlPr>
                              </m:barPr>
                              <m:e>
                                <m:r>
                                  <a:rPr lang="en-US" sz="1600" b="0" i="1" smtClean="0">
                                    <a:latin typeface="Cambria Math" panose="02040503050406030204" pitchFamily="18" charset="0"/>
                                  </a:rPr>
                                  <m:t>5</m:t>
                                </m:r>
                              </m:e>
                            </m:bar>
                          </m:sub>
                        </m:sSub>
                      </m:oMath>
                    </m:oMathPara>
                  </a14:m>
                  <a:endParaRPr lang="en-US" dirty="0"/>
                </a:p>
              </p:txBody>
            </p:sp>
          </mc:Choice>
          <mc:Fallback xmlns="">
            <p:sp>
              <p:nvSpPr>
                <p:cNvPr id="80" name="TextBox 79">
                  <a:extLst>
                    <a:ext uri="{FF2B5EF4-FFF2-40B4-BE49-F238E27FC236}">
                      <a16:creationId xmlns:a16="http://schemas.microsoft.com/office/drawing/2014/main" id="{76A799F9-4515-964F-B5A0-7F9EB5391981}"/>
                    </a:ext>
                  </a:extLst>
                </p:cNvPr>
                <p:cNvSpPr txBox="1">
                  <a:spLocks noRot="1" noChangeAspect="1" noMove="1" noResize="1" noEditPoints="1" noAdjustHandles="1" noChangeArrowheads="1" noChangeShapeType="1" noTextEdit="1"/>
                </p:cNvSpPr>
                <p:nvPr/>
              </p:nvSpPr>
              <p:spPr>
                <a:xfrm>
                  <a:off x="10284571" y="5384800"/>
                  <a:ext cx="467140" cy="35548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7D06D935-E3EA-314B-81EE-A2EAFA18C791}"/>
                    </a:ext>
                  </a:extLst>
                </p:cNvPr>
                <p:cNvSpPr txBox="1"/>
                <p:nvPr/>
              </p:nvSpPr>
              <p:spPr>
                <a:xfrm>
                  <a:off x="9949291" y="5364480"/>
                  <a:ext cx="467140" cy="35548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𝑓</m:t>
                            </m:r>
                          </m:e>
                          <m:sub>
                            <m:bar>
                              <m:barPr>
                                <m:pos m:val="top"/>
                                <m:ctrlPr>
                                  <a:rPr lang="en-US" sz="1600" b="0" i="1" smtClean="0">
                                    <a:latin typeface="Cambria Math" panose="02040503050406030204" pitchFamily="18" charset="0"/>
                                  </a:rPr>
                                </m:ctrlPr>
                              </m:barPr>
                              <m:e>
                                <m:r>
                                  <a:rPr lang="en-US" sz="1600" b="0" i="1" smtClean="0">
                                    <a:latin typeface="Cambria Math" panose="02040503050406030204" pitchFamily="18" charset="0"/>
                                  </a:rPr>
                                  <m:t>3</m:t>
                                </m:r>
                              </m:e>
                            </m:bar>
                          </m:sub>
                        </m:sSub>
                      </m:oMath>
                    </m:oMathPara>
                  </a14:m>
                  <a:endParaRPr lang="en-US" dirty="0"/>
                </a:p>
              </p:txBody>
            </p:sp>
          </mc:Choice>
          <mc:Fallback xmlns="">
            <p:sp>
              <p:nvSpPr>
                <p:cNvPr id="81" name="TextBox 80">
                  <a:extLst>
                    <a:ext uri="{FF2B5EF4-FFF2-40B4-BE49-F238E27FC236}">
                      <a16:creationId xmlns:a16="http://schemas.microsoft.com/office/drawing/2014/main" id="{7D06D935-E3EA-314B-81EE-A2EAFA18C791}"/>
                    </a:ext>
                  </a:extLst>
                </p:cNvPr>
                <p:cNvSpPr txBox="1">
                  <a:spLocks noRot="1" noChangeAspect="1" noMove="1" noResize="1" noEditPoints="1" noAdjustHandles="1" noChangeArrowheads="1" noChangeShapeType="1" noTextEdit="1"/>
                </p:cNvSpPr>
                <p:nvPr/>
              </p:nvSpPr>
              <p:spPr>
                <a:xfrm>
                  <a:off x="9949291" y="5364480"/>
                  <a:ext cx="467140" cy="355482"/>
                </a:xfrm>
                <a:prstGeom prst="rect">
                  <a:avLst/>
                </a:prstGeom>
                <a:blipFill>
                  <a:blip r:embed="rId9"/>
                  <a:stretch>
                    <a:fillRect b="-3448"/>
                  </a:stretch>
                </a:blipFill>
              </p:spPr>
              <p:txBody>
                <a:bodyPr/>
                <a:lstStyle/>
                <a:p>
                  <a:r>
                    <a:rPr lang="en-US">
                      <a:noFill/>
                    </a:rPr>
                    <a:t> </a:t>
                  </a:r>
                </a:p>
              </p:txBody>
            </p:sp>
          </mc:Fallback>
        </mc:AlternateContent>
      </p:grpSp>
    </p:spTree>
    <p:extLst>
      <p:ext uri="{BB962C8B-B14F-4D97-AF65-F5344CB8AC3E}">
        <p14:creationId xmlns:p14="http://schemas.microsoft.com/office/powerpoint/2010/main" val="2134857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271153" y="139928"/>
            <a:ext cx="11649694"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Antennas</a:t>
            </a:r>
            <a:endParaRPr sz="44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408553" y="1231243"/>
                <a:ext cx="10533321" cy="554433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285750" indent="-285750" hangingPunct="0">
                  <a:buFont typeface="Arial" panose="020B0604020202020204" pitchFamily="34" charset="0"/>
                  <a:buChar char="•"/>
                </a:pPr>
                <a:r>
                  <a:rPr lang="en-US" sz="2000" dirty="0">
                    <a:solidFill>
                      <a:srgbClr val="000000"/>
                    </a:solidFill>
                    <a:latin typeface="Calibri" panose="020F0502020204030204" pitchFamily="34" charset="0"/>
                    <a:ea typeface="Cambria Math" panose="02040503050406030204" pitchFamily="18" charset="0"/>
                    <a:cs typeface="Calibri" panose="020F0502020204030204" pitchFamily="34" charset="0"/>
                  </a:rPr>
                  <a:t>Antennas characterized by impedance and pattern</a:t>
                </a:r>
              </a:p>
              <a:p>
                <a:pPr marL="285750" indent="-285750" hangingPunct="0">
                  <a:buFont typeface="Arial" panose="020B0604020202020204" pitchFamily="34" charset="0"/>
                  <a:buChar char="•"/>
                </a:pPr>
                <a:r>
                  <a:rPr lang="en-US" sz="2000" dirty="0">
                    <a:solidFill>
                      <a:srgbClr val="000000"/>
                    </a:solidFill>
                    <a:latin typeface="Calibri" panose="020F0502020204030204" pitchFamily="34" charset="0"/>
                    <a:ea typeface="Cambria Math" panose="02040503050406030204" pitchFamily="18" charset="0"/>
                    <a:cs typeface="Calibri" panose="020F0502020204030204" pitchFamily="34" charset="0"/>
                  </a:rPr>
                  <a:t>From Maxwell, for a plane wave (E in x direction, H in y direction), </a:t>
                </a:r>
                <a:r>
                  <a:rPr lang="en-US" sz="2000" dirty="0">
                    <a:solidFill>
                      <a:srgbClr val="000000"/>
                    </a:solidFill>
                  </a:rPr>
                  <a:t>wave is of form </a:t>
                </a:r>
                <a14:m>
                  <m:oMath xmlns:m="http://schemas.openxmlformats.org/officeDocument/2006/math">
                    <m:func>
                      <m:funcPr>
                        <m:ctrlPr>
                          <a:rPr lang="en-US" sz="2000">
                            <a:solidFill>
                              <a:srgbClr val="000000"/>
                            </a:solidFill>
                            <a:latin typeface="Cambria Math" panose="02040503050406030204" pitchFamily="18" charset="0"/>
                          </a:rPr>
                        </m:ctrlPr>
                      </m:funcPr>
                      <m:fName>
                        <m:r>
                          <m:rPr>
                            <m:sty m:val="p"/>
                          </m:rPr>
                          <a:rPr lang="en-US" sz="2000">
                            <a:solidFill>
                              <a:srgbClr val="000000"/>
                            </a:solidFill>
                            <a:latin typeface="Cambria Math" panose="02040503050406030204" pitchFamily="18" charset="0"/>
                          </a:rPr>
                          <m:t>exp</m:t>
                        </m:r>
                      </m:fName>
                      <m:e>
                        <m:d>
                          <m:dPr>
                            <m:ctrlPr>
                              <a:rPr lang="en-US" sz="2000" i="1">
                                <a:solidFill>
                                  <a:srgbClr val="000000"/>
                                </a:solidFill>
                                <a:latin typeface="Cambria Math" panose="02040503050406030204" pitchFamily="18" charset="0"/>
                              </a:rPr>
                            </m:ctrlPr>
                          </m:dPr>
                          <m:e>
                            <m:r>
                              <a:rPr lang="en-US" sz="2000" i="1">
                                <a:solidFill>
                                  <a:srgbClr val="000000"/>
                                </a:solidFill>
                                <a:latin typeface="Cambria Math" panose="02040503050406030204" pitchFamily="18" charset="0"/>
                              </a:rPr>
                              <m:t>𝑗</m:t>
                            </m:r>
                            <m:r>
                              <a:rPr lang="en-US" sz="2000" i="1">
                                <a:solidFill>
                                  <a:srgbClr val="000000"/>
                                </a:solidFill>
                                <a:latin typeface="Cambria Math" panose="02040503050406030204" pitchFamily="18" charset="0"/>
                                <a:ea typeface="Cambria Math" panose="02040503050406030204" pitchFamily="18" charset="0"/>
                              </a:rPr>
                              <m:t>𝜔</m:t>
                            </m:r>
                            <m:r>
                              <a:rPr lang="en-US" sz="2000" i="1">
                                <a:solidFill>
                                  <a:srgbClr val="000000"/>
                                </a:solidFill>
                                <a:latin typeface="Cambria Math" panose="02040503050406030204" pitchFamily="18" charset="0"/>
                                <a:ea typeface="Cambria Math" panose="02040503050406030204" pitchFamily="18" charset="0"/>
                              </a:rPr>
                              <m:t>𝑡</m:t>
                            </m:r>
                            <m:r>
                              <a:rPr lang="en-US" sz="2000" i="1">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𝑗</m:t>
                            </m:r>
                            <m:r>
                              <a:rPr lang="en-US" sz="2000" i="1">
                                <a:solidFill>
                                  <a:srgbClr val="000000"/>
                                </a:solidFill>
                                <a:latin typeface="Cambria Math" panose="02040503050406030204" pitchFamily="18" charset="0"/>
                                <a:ea typeface="Cambria Math" panose="02040503050406030204" pitchFamily="18" charset="0"/>
                              </a:rPr>
                              <m:t>𝛽</m:t>
                            </m:r>
                            <m:r>
                              <a:rPr lang="en-US" sz="2000" i="1">
                                <a:solidFill>
                                  <a:srgbClr val="000000"/>
                                </a:solidFill>
                                <a:latin typeface="Cambria Math" panose="02040503050406030204" pitchFamily="18" charset="0"/>
                                <a:ea typeface="Cambria Math" panose="02040503050406030204" pitchFamily="18" charset="0"/>
                              </a:rPr>
                              <m:t>𝑧</m:t>
                            </m:r>
                          </m:e>
                        </m:d>
                      </m:e>
                    </m:func>
                  </m:oMath>
                </a14:m>
                <a:endParaRPr lang="en-US" sz="2000" dirty="0">
                  <a:solidFill>
                    <a:srgbClr val="000000"/>
                  </a:solidFill>
                  <a:latin typeface="Calibri" panose="020F0502020204030204" pitchFamily="34" charset="0"/>
                  <a:ea typeface="Cambria Math" panose="02040503050406030204" pitchFamily="18" charset="0"/>
                  <a:cs typeface="Calibri" panose="020F0502020204030204" pitchFamily="34" charset="0"/>
                  <a:sym typeface="Calibri"/>
                </a:endParaRPr>
              </a:p>
              <a:p>
                <a:pPr marL="742950" lvl="1" indent="-285750" defTabSz="457200" hangingPunct="0">
                  <a:buFont typeface="Arial" panose="020B0604020202020204" pitchFamily="34" charset="0"/>
                  <a:buChar char="•"/>
                </a:pPr>
                <a14:m>
                  <m:oMath xmlns:m="http://schemas.openxmlformats.org/officeDocument/2006/math">
                    <m:r>
                      <m:rPr>
                        <m:sty m:val="p"/>
                      </m:rPr>
                      <a:rPr lang="en-US" sz="2000" i="1">
                        <a:solidFill>
                          <a:srgbClr val="000000"/>
                        </a:solidFill>
                        <a:latin typeface="Cambria Math" panose="02040503050406030204" pitchFamily="18" charset="0"/>
                        <a:ea typeface="Cambria Math" panose="02040503050406030204" pitchFamily="18" charset="0"/>
                        <a:sym typeface="Calibri"/>
                      </a:rPr>
                      <m:t>∇</m:t>
                    </m:r>
                    <m:r>
                      <a:rPr lang="en-US" sz="2000" i="1">
                        <a:solidFill>
                          <a:srgbClr val="000000"/>
                        </a:solidFill>
                        <a:latin typeface="Cambria Math" panose="02040503050406030204" pitchFamily="18" charset="0"/>
                        <a:ea typeface="Cambria Math" panose="02040503050406030204" pitchFamily="18" charset="0"/>
                        <a:sym typeface="Calibri"/>
                      </a:rPr>
                      <m:t>×</m:t>
                    </m:r>
                    <m:r>
                      <a:rPr lang="en-US" sz="2000" i="1">
                        <a:solidFill>
                          <a:srgbClr val="000000"/>
                        </a:solidFill>
                        <a:latin typeface="Cambria Math" panose="02040503050406030204" pitchFamily="18" charset="0"/>
                        <a:ea typeface="Cambria Math" panose="02040503050406030204" pitchFamily="18" charset="0"/>
                        <a:sym typeface="Calibri"/>
                      </a:rPr>
                      <m:t>𝐸</m:t>
                    </m:r>
                    <m:r>
                      <a:rPr lang="en-US" sz="2000" i="1">
                        <a:solidFill>
                          <a:srgbClr val="000000"/>
                        </a:solidFill>
                        <a:latin typeface="Cambria Math" panose="02040503050406030204" pitchFamily="18" charset="0"/>
                        <a:ea typeface="Cambria Math" panose="02040503050406030204" pitchFamily="18" charset="0"/>
                        <a:sym typeface="Calibri"/>
                      </a:rPr>
                      <m:t>=−</m:t>
                    </m:r>
                    <m:r>
                      <a:rPr lang="en-US" sz="2000" i="1">
                        <a:solidFill>
                          <a:srgbClr val="000000"/>
                        </a:solidFill>
                        <a:latin typeface="Cambria Math" panose="02040503050406030204" pitchFamily="18" charset="0"/>
                        <a:ea typeface="Cambria Math" panose="02040503050406030204" pitchFamily="18" charset="0"/>
                        <a:sym typeface="Calibri"/>
                      </a:rPr>
                      <m:t>𝑗</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𝜇</m:t>
                        </m:r>
                      </m:e>
                      <m:sub>
                        <m:r>
                          <a:rPr lang="en-US" sz="2000" i="1">
                            <a:solidFill>
                              <a:srgbClr val="000000"/>
                            </a:solidFill>
                            <a:latin typeface="Cambria Math" panose="02040503050406030204" pitchFamily="18" charset="0"/>
                            <a:ea typeface="Cambria Math" panose="02040503050406030204" pitchFamily="18" charset="0"/>
                            <a:sym typeface="Calibri"/>
                          </a:rPr>
                          <m:t>0</m:t>
                        </m:r>
                      </m:sub>
                    </m:sSub>
                    <m:r>
                      <a:rPr lang="en-US" sz="2000" i="1">
                        <a:solidFill>
                          <a:srgbClr val="000000"/>
                        </a:solidFill>
                        <a:latin typeface="Cambria Math" panose="02040503050406030204" pitchFamily="18" charset="0"/>
                        <a:ea typeface="Cambria Math" panose="02040503050406030204" pitchFamily="18" charset="0"/>
                        <a:sym typeface="Calibri"/>
                      </a:rPr>
                      <m:t>𝜔</m:t>
                    </m:r>
                    <m:r>
                      <a:rPr lang="en-US" sz="2000" i="1">
                        <a:solidFill>
                          <a:srgbClr val="000000"/>
                        </a:solidFill>
                        <a:latin typeface="Cambria Math" panose="02040503050406030204" pitchFamily="18" charset="0"/>
                        <a:ea typeface="Cambria Math" panose="02040503050406030204" pitchFamily="18" charset="0"/>
                        <a:sym typeface="Calibri"/>
                      </a:rPr>
                      <m:t>𝐻</m:t>
                    </m:r>
                  </m:oMath>
                </a14:m>
                <a:r>
                  <a:rPr lang="en-US" sz="2000" b="0" i="0" dirty="0">
                    <a:solidFill>
                      <a:srgbClr val="000000"/>
                    </a:solidFill>
                    <a:latin typeface="Cambria Math" panose="02040503050406030204" pitchFamily="18" charset="0"/>
                    <a:ea typeface="Cambria Math" panose="02040503050406030204" pitchFamily="18" charset="0"/>
                    <a:sym typeface="Calibri"/>
                  </a:rPr>
                  <a:t>, </a:t>
                </a:r>
                <a14:m>
                  <m:oMath xmlns:m="http://schemas.openxmlformats.org/officeDocument/2006/math">
                    <m:r>
                      <m:rPr>
                        <m:sty m:val="p"/>
                      </m:rPr>
                      <a:rPr lang="en-US" sz="2000" i="1">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𝐵</m:t>
                    </m:r>
                    <m:r>
                      <a:rPr lang="en-US" sz="2000" i="1">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𝑗</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𝜖</m:t>
                        </m:r>
                      </m:e>
                      <m:sub>
                        <m:r>
                          <a:rPr lang="en-US" sz="2000" i="1">
                            <a:solidFill>
                              <a:srgbClr val="000000"/>
                            </a:solidFill>
                            <a:latin typeface="Cambria Math" panose="02040503050406030204" pitchFamily="18" charset="0"/>
                            <a:ea typeface="Cambria Math" panose="02040503050406030204" pitchFamily="18" charset="0"/>
                          </a:rPr>
                          <m:t>0</m:t>
                        </m:r>
                      </m:sub>
                    </m:sSub>
                    <m:r>
                      <a:rPr lang="en-US" sz="2000" i="1">
                        <a:solidFill>
                          <a:srgbClr val="000000"/>
                        </a:solidFill>
                        <a:latin typeface="Cambria Math" panose="02040503050406030204" pitchFamily="18" charset="0"/>
                        <a:ea typeface="Cambria Math" panose="02040503050406030204" pitchFamily="18" charset="0"/>
                      </a:rPr>
                      <m:t>𝜔</m:t>
                    </m:r>
                    <m:r>
                      <a:rPr lang="en-US" sz="2000" i="1">
                        <a:solidFill>
                          <a:srgbClr val="000000"/>
                        </a:solidFill>
                        <a:latin typeface="Cambria Math" panose="02040503050406030204" pitchFamily="18" charset="0"/>
                        <a:ea typeface="Cambria Math" panose="02040503050406030204" pitchFamily="18" charset="0"/>
                      </a:rPr>
                      <m:t>𝐸</m:t>
                    </m:r>
                  </m:oMath>
                </a14:m>
                <a:endParaRPr lang="en-US" sz="2000" dirty="0">
                  <a:solidFill>
                    <a:srgbClr val="000000"/>
                  </a:solidFill>
                  <a:ea typeface="Cambria Math" panose="02040503050406030204" pitchFamily="18" charset="0"/>
                </a:endParaRPr>
              </a:p>
              <a:p>
                <a:pPr marL="742950" lvl="1" indent="-285750" hangingPunct="0">
                  <a:buFont typeface="Arial" panose="020B0604020202020204" pitchFamily="34" charset="0"/>
                  <a:buChar char="•"/>
                </a:pPr>
                <a:r>
                  <a:rPr lang="en-US" sz="2000" dirty="0">
                    <a:solidFill>
                      <a:srgbClr val="000000"/>
                    </a:solidFill>
                    <a:ea typeface="Cambria Math" panose="02040503050406030204" pitchFamily="18" charset="0"/>
                  </a:rPr>
                  <a:t>Linear polarization: </a:t>
                </a: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rPr>
                      <m:t>𝛽</m:t>
                    </m:r>
                    <m:acc>
                      <m:accPr>
                        <m:chr m:val="̂"/>
                        <m:ctrlPr>
                          <a:rPr lang="en-US" sz="2000" i="1">
                            <a:solidFill>
                              <a:srgbClr val="000000"/>
                            </a:solidFill>
                            <a:latin typeface="Cambria Math" panose="02040503050406030204" pitchFamily="18" charset="0"/>
                            <a:ea typeface="Cambria Math" panose="02040503050406030204" pitchFamily="18" charset="0"/>
                          </a:rPr>
                        </m:ctrlPr>
                      </m:accPr>
                      <m:e>
                        <m:r>
                          <a:rPr lang="en-US" sz="2000" i="1">
                            <a:solidFill>
                              <a:srgbClr val="000000"/>
                            </a:solidFill>
                            <a:latin typeface="Cambria Math" panose="02040503050406030204" pitchFamily="18" charset="0"/>
                            <a:ea typeface="Cambria Math" panose="02040503050406030204" pitchFamily="18" charset="0"/>
                          </a:rPr>
                          <m:t>𝑧</m:t>
                        </m:r>
                      </m:e>
                    </m:acc>
                    <m:r>
                      <a:rPr lang="en-US" sz="2000" i="1">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𝐸</m:t>
                    </m:r>
                    <m:r>
                      <a:rPr lang="en-US" sz="2000" i="1">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𝜇</m:t>
                        </m:r>
                      </m:e>
                      <m:sub>
                        <m:r>
                          <a:rPr lang="en-US" sz="2000" i="1">
                            <a:solidFill>
                              <a:srgbClr val="000000"/>
                            </a:solidFill>
                            <a:latin typeface="Cambria Math" panose="02040503050406030204" pitchFamily="18" charset="0"/>
                            <a:ea typeface="Cambria Math" panose="02040503050406030204" pitchFamily="18" charset="0"/>
                          </a:rPr>
                          <m:t>0</m:t>
                        </m:r>
                      </m:sub>
                    </m:sSub>
                    <m:r>
                      <a:rPr lang="en-US" sz="2000" i="1">
                        <a:solidFill>
                          <a:srgbClr val="000000"/>
                        </a:solidFill>
                        <a:latin typeface="Cambria Math" panose="02040503050406030204" pitchFamily="18" charset="0"/>
                        <a:ea typeface="Cambria Math" panose="02040503050406030204" pitchFamily="18" charset="0"/>
                      </a:rPr>
                      <m:t>𝜔</m:t>
                    </m:r>
                    <m:r>
                      <a:rPr lang="en-US" sz="2000" i="1">
                        <a:solidFill>
                          <a:srgbClr val="000000"/>
                        </a:solidFill>
                        <a:latin typeface="Cambria Math" panose="02040503050406030204" pitchFamily="18" charset="0"/>
                        <a:ea typeface="Cambria Math" panose="02040503050406030204" pitchFamily="18" charset="0"/>
                      </a:rPr>
                      <m:t>𝐻</m:t>
                    </m:r>
                    <m:r>
                      <a:rPr lang="en-US" sz="2000" i="1">
                        <a:solidFill>
                          <a:srgbClr val="000000"/>
                        </a:solidFill>
                        <a:latin typeface="Cambria Math" panose="02040503050406030204" pitchFamily="18" charset="0"/>
                        <a:ea typeface="Cambria Math" panose="02040503050406030204" pitchFamily="18" charset="0"/>
                      </a:rPr>
                      <m:t>, </m:t>
                    </m:r>
                    <m:r>
                      <a:rPr lang="en-US" sz="2000" i="1">
                        <a:solidFill>
                          <a:srgbClr val="000000"/>
                        </a:solidFill>
                        <a:latin typeface="Cambria Math" panose="02040503050406030204" pitchFamily="18" charset="0"/>
                        <a:ea typeface="Cambria Math" panose="02040503050406030204" pitchFamily="18" charset="0"/>
                      </a:rPr>
                      <m:t>𝛽</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𝐸</m:t>
                        </m:r>
                      </m:e>
                      <m:sub>
                        <m:r>
                          <a:rPr lang="en-US" sz="2000" i="1">
                            <a:solidFill>
                              <a:srgbClr val="000000"/>
                            </a:solidFill>
                            <a:latin typeface="Cambria Math" panose="02040503050406030204" pitchFamily="18" charset="0"/>
                            <a:ea typeface="Cambria Math" panose="02040503050406030204" pitchFamily="18" charset="0"/>
                          </a:rPr>
                          <m:t>𝑥</m:t>
                        </m:r>
                      </m:sub>
                    </m:sSub>
                    <m:acc>
                      <m:accPr>
                        <m:chr m:val="̂"/>
                        <m:ctrlPr>
                          <a:rPr lang="en-US" sz="2000" i="1">
                            <a:solidFill>
                              <a:srgbClr val="000000"/>
                            </a:solidFill>
                            <a:latin typeface="Cambria Math" panose="02040503050406030204" pitchFamily="18" charset="0"/>
                            <a:ea typeface="Cambria Math" panose="02040503050406030204" pitchFamily="18" charset="0"/>
                          </a:rPr>
                        </m:ctrlPr>
                      </m:accPr>
                      <m:e>
                        <m:r>
                          <a:rPr lang="en-US" sz="2000" i="1">
                            <a:solidFill>
                              <a:srgbClr val="000000"/>
                            </a:solidFill>
                            <a:latin typeface="Cambria Math" panose="02040503050406030204" pitchFamily="18" charset="0"/>
                            <a:ea typeface="Cambria Math" panose="02040503050406030204" pitchFamily="18" charset="0"/>
                          </a:rPr>
                          <m:t>𝑦</m:t>
                        </m:r>
                      </m:e>
                    </m:acc>
                    <m:r>
                      <a:rPr lang="en-US" sz="2000" i="1">
                        <a:solidFill>
                          <a:srgbClr val="000000"/>
                        </a:solidFill>
                        <a:latin typeface="Cambria Math" panose="02040503050406030204" pitchFamily="18" charset="0"/>
                        <a:ea typeface="Cambria Math" panose="02040503050406030204" pitchFamily="18" charset="0"/>
                      </a:rPr>
                      <m:t>=</m:t>
                    </m:r>
                    <m:r>
                      <a:rPr lang="en-US" sz="2000" b="0" i="1" smtClean="0">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𝜇</m:t>
                        </m:r>
                      </m:e>
                      <m:sub>
                        <m:r>
                          <a:rPr lang="en-US" sz="2000" i="1">
                            <a:solidFill>
                              <a:srgbClr val="000000"/>
                            </a:solidFill>
                            <a:latin typeface="Cambria Math" panose="02040503050406030204" pitchFamily="18" charset="0"/>
                            <a:ea typeface="Cambria Math" panose="02040503050406030204" pitchFamily="18" charset="0"/>
                          </a:rPr>
                          <m:t>0</m:t>
                        </m:r>
                      </m:sub>
                    </m:sSub>
                    <m:r>
                      <a:rPr lang="en-US" sz="2000" i="1">
                        <a:solidFill>
                          <a:srgbClr val="000000"/>
                        </a:solidFill>
                        <a:latin typeface="Cambria Math" panose="02040503050406030204" pitchFamily="18" charset="0"/>
                        <a:ea typeface="Cambria Math" panose="02040503050406030204" pitchFamily="18" charset="0"/>
                      </a:rPr>
                      <m:t>𝜔</m:t>
                    </m:r>
                    <m:r>
                      <a:rPr lang="en-US" sz="2000" i="1">
                        <a:solidFill>
                          <a:srgbClr val="000000"/>
                        </a:solidFill>
                        <a:latin typeface="Cambria Math" panose="02040503050406030204" pitchFamily="18" charset="0"/>
                        <a:ea typeface="Cambria Math" panose="02040503050406030204" pitchFamily="18" charset="0"/>
                      </a:rPr>
                      <m:t>𝐻</m:t>
                    </m:r>
                  </m:oMath>
                </a14:m>
                <a:endParaRPr lang="en-US" sz="2000" dirty="0">
                  <a:solidFill>
                    <a:srgbClr val="000000"/>
                  </a:solidFill>
                  <a:ea typeface="Cambria Math" panose="02040503050406030204" pitchFamily="18" charset="0"/>
                </a:endParaRPr>
              </a:p>
              <a:p>
                <a:pPr marL="285750" indent="-285750" hangingPunct="0">
                  <a:buFont typeface="Arial" panose="020B0604020202020204" pitchFamily="34" charset="0"/>
                  <a:buChar char="•"/>
                </a:pPr>
                <a:r>
                  <a:rPr lang="en-US" sz="2000" dirty="0">
                    <a:solidFill>
                      <a:srgbClr val="000000"/>
                    </a:solidFill>
                    <a:ea typeface="Cambria Math" panose="02040503050406030204" pitchFamily="18" charset="0"/>
                  </a:rPr>
                  <a:t>Substituting and taking the cross product, we  get:</a:t>
                </a:r>
              </a:p>
              <a:p>
                <a:pPr marL="742950" lvl="1" indent="-285750" hangingPunct="0">
                  <a:buFont typeface="Arial" panose="020B0604020202020204" pitchFamily="34" charset="0"/>
                  <a:buChar char="•"/>
                </a:pPr>
                <a:r>
                  <a:rPr lang="en-US" sz="2000" dirty="0">
                    <a:solidFill>
                      <a:srgbClr val="000000"/>
                    </a:solidFill>
                    <a:ea typeface="Cambria Math" panose="02040503050406030204" pitchFamily="18" charset="0"/>
                  </a:rPr>
                  <a:t> </a:t>
                </a: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rPr>
                      <m:t>𝛽</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𝐸</m:t>
                        </m:r>
                      </m:e>
                      <m:sub>
                        <m:r>
                          <a:rPr lang="en-US" sz="2000" i="1">
                            <a:solidFill>
                              <a:srgbClr val="000000"/>
                            </a:solidFill>
                            <a:latin typeface="Cambria Math" panose="02040503050406030204" pitchFamily="18" charset="0"/>
                            <a:ea typeface="Cambria Math" panose="02040503050406030204" pitchFamily="18" charset="0"/>
                          </a:rPr>
                          <m:t>𝑥</m:t>
                        </m:r>
                      </m:sub>
                    </m:sSub>
                    <m:r>
                      <a:rPr lang="en-US" sz="2000" i="1">
                        <a:solidFill>
                          <a:srgbClr val="000000"/>
                        </a:solidFill>
                        <a:latin typeface="Cambria Math" panose="02040503050406030204" pitchFamily="18" charset="0"/>
                        <a:ea typeface="Cambria Math" panose="02040503050406030204" pitchFamily="18" charset="0"/>
                      </a:rPr>
                      <m:t>=</m:t>
                    </m:r>
                    <m:r>
                      <a:rPr lang="en-US" sz="2000" b="0" i="1" smtClean="0">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𝜔</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𝜇</m:t>
                        </m:r>
                      </m:e>
                      <m:sub>
                        <m:r>
                          <a:rPr lang="en-US" sz="2000" i="1">
                            <a:solidFill>
                              <a:srgbClr val="000000"/>
                            </a:solidFill>
                            <a:latin typeface="Cambria Math" panose="02040503050406030204" pitchFamily="18" charset="0"/>
                            <a:ea typeface="Cambria Math" panose="02040503050406030204" pitchFamily="18" charset="0"/>
                          </a:rPr>
                          <m:t>0</m:t>
                        </m:r>
                      </m:sub>
                    </m:sSub>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𝐻</m:t>
                        </m:r>
                      </m:e>
                      <m:sub>
                        <m:r>
                          <a:rPr lang="en-US" sz="2000" b="0" i="1" smtClean="0">
                            <a:solidFill>
                              <a:srgbClr val="000000"/>
                            </a:solidFill>
                            <a:latin typeface="Cambria Math" panose="02040503050406030204" pitchFamily="18" charset="0"/>
                            <a:ea typeface="Cambria Math" panose="02040503050406030204" pitchFamily="18" charset="0"/>
                          </a:rPr>
                          <m:t>𝑦</m:t>
                        </m:r>
                      </m:sub>
                    </m:sSub>
                  </m:oMath>
                </a14:m>
                <a:r>
                  <a:rPr lang="en-US" sz="2000" i="1" dirty="0">
                    <a:solidFill>
                      <a:srgbClr val="000000"/>
                    </a:solidFill>
                    <a:latin typeface="Cambria Math" panose="02040503050406030204" pitchFamily="18" charset="0"/>
                    <a:ea typeface="Cambria Math" panose="02040503050406030204" pitchFamily="18" charset="0"/>
                  </a:rPr>
                  <a:t> </a:t>
                </a:r>
                <a:r>
                  <a:rPr lang="en-US" sz="2000" dirty="0">
                    <a:solidFill>
                      <a:srgbClr val="000000"/>
                    </a:solidFill>
                    <a:latin typeface="Calibri" panose="020F0502020204030204" pitchFamily="34" charset="0"/>
                    <a:ea typeface="Cambria Math" panose="02040503050406030204" pitchFamily="18" charset="0"/>
                    <a:cs typeface="Calibri" panose="020F0502020204030204" pitchFamily="34" charset="0"/>
                  </a:rPr>
                  <a:t>and </a:t>
                </a: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rPr>
                      <m:t>𝛽</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𝐻</m:t>
                        </m:r>
                      </m:e>
                      <m:sub>
                        <m:r>
                          <a:rPr lang="en-US" sz="2000" b="0" i="1" smtClean="0">
                            <a:solidFill>
                              <a:srgbClr val="000000"/>
                            </a:solidFill>
                            <a:latin typeface="Cambria Math" panose="02040503050406030204" pitchFamily="18" charset="0"/>
                            <a:ea typeface="Cambria Math" panose="02040503050406030204" pitchFamily="18" charset="0"/>
                          </a:rPr>
                          <m:t>𝑦</m:t>
                        </m:r>
                      </m:sub>
                    </m:sSub>
                    <m:r>
                      <a:rPr lang="en-US" sz="2000" i="1">
                        <a:solidFill>
                          <a:srgbClr val="000000"/>
                        </a:solidFill>
                        <a:latin typeface="Cambria Math" panose="02040503050406030204" pitchFamily="18" charset="0"/>
                        <a:ea typeface="Cambria Math" panose="02040503050406030204" pitchFamily="18" charset="0"/>
                      </a:rPr>
                      <m:t>=</m:t>
                    </m:r>
                    <m:r>
                      <a:rPr lang="en-US" sz="2000" b="0" i="1" smtClean="0">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𝜔</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𝜖</m:t>
                        </m:r>
                      </m:e>
                      <m:sub>
                        <m:r>
                          <a:rPr lang="en-US" sz="2000" b="0" i="1" smtClean="0">
                            <a:solidFill>
                              <a:srgbClr val="000000"/>
                            </a:solidFill>
                            <a:latin typeface="Cambria Math" panose="02040503050406030204" pitchFamily="18" charset="0"/>
                            <a:ea typeface="Cambria Math" panose="02040503050406030204" pitchFamily="18" charset="0"/>
                          </a:rPr>
                          <m:t>0</m:t>
                        </m:r>
                      </m:sub>
                    </m:sSub>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𝐸</m:t>
                        </m:r>
                      </m:e>
                      <m:sub>
                        <m:r>
                          <a:rPr lang="en-US" sz="2000" b="0" i="1" smtClean="0">
                            <a:solidFill>
                              <a:srgbClr val="000000"/>
                            </a:solidFill>
                            <a:latin typeface="Cambria Math" panose="02040503050406030204" pitchFamily="18" charset="0"/>
                            <a:ea typeface="Cambria Math" panose="02040503050406030204" pitchFamily="18" charset="0"/>
                          </a:rPr>
                          <m:t>𝑥</m:t>
                        </m:r>
                      </m:sub>
                    </m:sSub>
                  </m:oMath>
                </a14:m>
                <a:endParaRPr lang="en-US" sz="2000" dirty="0">
                  <a:solidFill>
                    <a:srgbClr val="000000"/>
                  </a:solidFill>
                  <a:latin typeface="Cambria Math" panose="02040503050406030204" pitchFamily="18" charset="0"/>
                  <a:ea typeface="Cambria Math" panose="02040503050406030204" pitchFamily="18" charset="0"/>
                </a:endParaRPr>
              </a:p>
              <a:p>
                <a:pPr marL="742950" lvl="1" indent="-285750" hangingPunct="0">
                  <a:buFont typeface="Arial" panose="020B0604020202020204" pitchFamily="34" charset="0"/>
                  <a:buChar char="•"/>
                </a:pPr>
                <a:r>
                  <a:rPr lang="en-US" sz="2000" dirty="0">
                    <a:solidFill>
                      <a:srgbClr val="000000"/>
                    </a:solidFill>
                  </a:rPr>
                  <a:t> Impedance is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𝜂</m:t>
                        </m:r>
                      </m:e>
                      <m:sub>
                        <m:r>
                          <a:rPr lang="en-US" sz="2000" i="1">
                            <a:solidFill>
                              <a:srgbClr val="000000"/>
                            </a:solidFill>
                            <a:latin typeface="Cambria Math" panose="02040503050406030204" pitchFamily="18" charset="0"/>
                          </a:rPr>
                          <m:t>0</m:t>
                        </m:r>
                      </m:sub>
                    </m:sSub>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𝐸</m:t>
                            </m:r>
                          </m:e>
                          <m:sub>
                            <m:r>
                              <a:rPr lang="en-US" sz="2000" i="1">
                                <a:solidFill>
                                  <a:srgbClr val="000000"/>
                                </a:solidFill>
                                <a:latin typeface="Cambria Math" panose="02040503050406030204" pitchFamily="18" charset="0"/>
                              </a:rPr>
                              <m:t>𝑥</m:t>
                            </m:r>
                          </m:sub>
                        </m:sSub>
                      </m:num>
                      <m:den>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𝐻</m:t>
                            </m:r>
                          </m:e>
                          <m:sub>
                            <m:r>
                              <a:rPr lang="en-US" sz="2000" i="1">
                                <a:solidFill>
                                  <a:srgbClr val="000000"/>
                                </a:solidFill>
                                <a:latin typeface="Cambria Math" panose="02040503050406030204" pitchFamily="18" charset="0"/>
                              </a:rPr>
                              <m:t>𝑦</m:t>
                            </m:r>
                          </m:sub>
                        </m:sSub>
                      </m:den>
                    </m:f>
                    <m:r>
                      <a:rPr lang="en-US" sz="2000" i="1">
                        <a:solidFill>
                          <a:srgbClr val="000000"/>
                        </a:solidFill>
                        <a:latin typeface="Cambria Math" panose="02040503050406030204" pitchFamily="18" charset="0"/>
                      </a:rPr>
                      <m:t>=</m:t>
                    </m:r>
                    <m:rad>
                      <m:radPr>
                        <m:degHide m:val="on"/>
                        <m:ctrlPr>
                          <a:rPr lang="en-US" sz="2000" i="1">
                            <a:solidFill>
                              <a:srgbClr val="000000"/>
                            </a:solidFill>
                            <a:latin typeface="Cambria Math" panose="02040503050406030204" pitchFamily="18" charset="0"/>
                          </a:rPr>
                        </m:ctrlPr>
                      </m:radPr>
                      <m:deg/>
                      <m:e>
                        <m:f>
                          <m:fPr>
                            <m:ctrlPr>
                              <a:rPr lang="en-US" sz="2000" i="1">
                                <a:solidFill>
                                  <a:srgbClr val="000000"/>
                                </a:solidFill>
                                <a:latin typeface="Cambria Math" panose="02040503050406030204" pitchFamily="18" charset="0"/>
                              </a:rPr>
                            </m:ctrlPr>
                          </m:fPr>
                          <m:num>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𝜇</m:t>
                                </m:r>
                              </m:e>
                              <m:sub>
                                <m:r>
                                  <a:rPr lang="en-US" sz="2000" i="1">
                                    <a:solidFill>
                                      <a:srgbClr val="000000"/>
                                    </a:solidFill>
                                    <a:latin typeface="Cambria Math" panose="02040503050406030204" pitchFamily="18" charset="0"/>
                                  </a:rPr>
                                  <m:t>0</m:t>
                                </m:r>
                              </m:sub>
                            </m:sSub>
                          </m:num>
                          <m:den>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𝜖</m:t>
                                </m:r>
                              </m:e>
                              <m:sub>
                                <m:r>
                                  <a:rPr lang="en-US" sz="2000" i="1">
                                    <a:solidFill>
                                      <a:srgbClr val="000000"/>
                                    </a:solidFill>
                                    <a:latin typeface="Cambria Math" panose="02040503050406030204" pitchFamily="18" charset="0"/>
                                  </a:rPr>
                                  <m:t>0</m:t>
                                </m:r>
                              </m:sub>
                            </m:sSub>
                          </m:den>
                        </m:f>
                      </m:e>
                    </m:rad>
                    <m:r>
                      <a:rPr lang="en-US" sz="2000" i="1">
                        <a:solidFill>
                          <a:srgbClr val="000000"/>
                        </a:solidFill>
                        <a:latin typeface="Cambria Math" panose="02040503050406030204" pitchFamily="18" charset="0"/>
                      </a:rPr>
                      <m:t>=377</m:t>
                    </m:r>
                    <m:r>
                      <m:rPr>
                        <m:sty m:val="p"/>
                      </m:rPr>
                      <a:rPr lang="el-GR" sz="2000" i="1">
                        <a:solidFill>
                          <a:srgbClr val="000000"/>
                        </a:solidFill>
                        <a:latin typeface="Cambria Math" panose="02040503050406030204" pitchFamily="18" charset="0"/>
                        <a:ea typeface="Cambria Math" panose="02040503050406030204" pitchFamily="18" charset="0"/>
                      </a:rPr>
                      <m:t>Ω</m:t>
                    </m:r>
                  </m:oMath>
                </a14:m>
                <a:r>
                  <a:rPr lang="en-US" sz="2000" dirty="0">
                    <a:solidFill>
                      <a:srgbClr val="000000"/>
                    </a:solidFill>
                    <a:latin typeface="Cambria Math" panose="02040503050406030204" pitchFamily="18" charset="0"/>
                    <a:ea typeface="Cambria Math" panose="02040503050406030204" pitchFamily="18" charset="0"/>
                  </a:rPr>
                  <a:t> </a:t>
                </a:r>
              </a:p>
              <a:p>
                <a:pPr marL="285750" indent="-285750" algn="l" rtl="0" hangingPunct="0">
                  <a:buFont typeface="Arial" panose="020B0604020202020204" pitchFamily="34" charset="0"/>
                  <a:buChar char="•"/>
                </a:pPr>
                <a:r>
                  <a:rPr lang="en-US" sz="2000" dirty="0">
                    <a:solidFill>
                      <a:srgbClr val="000000"/>
                    </a:solidFill>
                    <a:ea typeface="Cambria Math" panose="02040503050406030204" pitchFamily="18" charset="0"/>
                  </a:rPr>
                  <a:t>Write </a:t>
                </a: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rPr>
                      <m:t>𝛽</m:t>
                    </m:r>
                    <m:r>
                      <a:rPr lang="en-US" sz="2000" i="1">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𝜔</m:t>
                    </m:r>
                    <m:rad>
                      <m:radPr>
                        <m:degHide m:val="on"/>
                        <m:ctrlPr>
                          <a:rPr lang="en-US" sz="2000" i="1">
                            <a:solidFill>
                              <a:srgbClr val="000000"/>
                            </a:solidFill>
                            <a:latin typeface="Cambria Math" panose="02040503050406030204" pitchFamily="18" charset="0"/>
                            <a:ea typeface="Cambria Math" panose="02040503050406030204" pitchFamily="18" charset="0"/>
                          </a:rPr>
                        </m:ctrlPr>
                      </m:radPr>
                      <m:deg/>
                      <m:e>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𝜇</m:t>
                            </m:r>
                          </m:e>
                          <m:sub>
                            <m:r>
                              <a:rPr lang="en-US" sz="2000" i="1">
                                <a:solidFill>
                                  <a:srgbClr val="000000"/>
                                </a:solidFill>
                                <a:latin typeface="Cambria Math" panose="02040503050406030204" pitchFamily="18" charset="0"/>
                                <a:ea typeface="Cambria Math" panose="02040503050406030204" pitchFamily="18" charset="0"/>
                              </a:rPr>
                              <m:t>0</m:t>
                            </m:r>
                          </m:sub>
                        </m:sSub>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𝜖</m:t>
                            </m:r>
                          </m:e>
                          <m:sub>
                            <m:r>
                              <a:rPr lang="en-US" sz="2000" i="1">
                                <a:solidFill>
                                  <a:srgbClr val="000000"/>
                                </a:solidFill>
                                <a:latin typeface="Cambria Math" panose="02040503050406030204" pitchFamily="18" charset="0"/>
                                <a:ea typeface="Cambria Math" panose="02040503050406030204" pitchFamily="18" charset="0"/>
                              </a:rPr>
                              <m:t>0</m:t>
                            </m:r>
                          </m:sub>
                        </m:sSub>
                      </m:e>
                    </m:rad>
                  </m:oMath>
                </a14:m>
                <a:endParaRPr lang="en-US" sz="2000" dirty="0">
                  <a:solidFill>
                    <a:srgbClr val="000000"/>
                  </a:solidFill>
                  <a:ea typeface="Cambria Math" panose="02040503050406030204" pitchFamily="18" charset="0"/>
                </a:endParaRPr>
              </a:p>
              <a:p>
                <a:pPr marL="285750" indent="-285750" hangingPunct="0">
                  <a:buFont typeface="Arial" panose="020B0604020202020204" pitchFamily="34" charset="0"/>
                  <a:buChar char="•"/>
                </a:pPr>
                <a:r>
                  <a:rPr lang="en-US" sz="2000" dirty="0">
                    <a:solidFill>
                      <a:srgbClr val="000000"/>
                    </a:solidFill>
                  </a:rPr>
                  <a:t>Power density</a:t>
                </a:r>
              </a:p>
              <a:p>
                <a:pPr marL="742950" lvl="1" indent="-285750" hangingPunct="0">
                  <a:buFont typeface="Arial" panose="020B0604020202020204" pitchFamily="34" charset="0"/>
                  <a:buChar char="•"/>
                </a:pPr>
                <a:r>
                  <a:rPr lang="en-US" sz="2000" dirty="0">
                    <a:solidFill>
                      <a:srgbClr val="000000"/>
                    </a:solidFill>
                  </a:rPr>
                  <a:t> </a:t>
                </a:r>
                <a14:m>
                  <m:oMath xmlns:m="http://schemas.openxmlformats.org/officeDocument/2006/math">
                    <m:r>
                      <a:rPr lang="en-US" sz="2000" i="1">
                        <a:solidFill>
                          <a:srgbClr val="000000"/>
                        </a:solidFill>
                        <a:latin typeface="Cambria Math" panose="02040503050406030204" pitchFamily="18" charset="0"/>
                      </a:rPr>
                      <m:t>𝑆</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𝑅𝑒</m:t>
                    </m:r>
                    <m:d>
                      <m:dPr>
                        <m:ctrlPr>
                          <a:rPr lang="en-US" sz="2000" i="1">
                            <a:solidFill>
                              <a:srgbClr val="000000"/>
                            </a:solidFill>
                            <a:latin typeface="Cambria Math" panose="02040503050406030204" pitchFamily="18" charset="0"/>
                          </a:rPr>
                        </m:ctrlPr>
                      </m:dPr>
                      <m:e>
                        <m:f>
                          <m:fPr>
                            <m:ctrlPr>
                              <a:rPr lang="en-US" sz="2000" i="1">
                                <a:solidFill>
                                  <a:srgbClr val="000000"/>
                                </a:solidFill>
                                <a:latin typeface="Cambria Math" panose="02040503050406030204" pitchFamily="18" charset="0"/>
                              </a:rPr>
                            </m:ctrlPr>
                          </m:fPr>
                          <m:num>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𝐸</m:t>
                                </m:r>
                              </m:e>
                              <m:sub>
                                <m:r>
                                  <a:rPr lang="en-US" sz="2000" i="1">
                                    <a:solidFill>
                                      <a:srgbClr val="000000"/>
                                    </a:solidFill>
                                    <a:latin typeface="Cambria Math" panose="02040503050406030204" pitchFamily="18" charset="0"/>
                                  </a:rPr>
                                  <m:t>𝑥</m:t>
                                </m:r>
                              </m:sub>
                            </m:sSub>
                            <m:acc>
                              <m:accPr>
                                <m:chr m:val="̅"/>
                                <m:ctrlPr>
                                  <a:rPr lang="en-US" sz="2000" i="1">
                                    <a:solidFill>
                                      <a:srgbClr val="000000"/>
                                    </a:solidFill>
                                    <a:latin typeface="Cambria Math" panose="02040503050406030204" pitchFamily="18" charset="0"/>
                                  </a:rPr>
                                </m:ctrlPr>
                              </m:accPr>
                              <m:e>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𝐻</m:t>
                                    </m:r>
                                  </m:e>
                                  <m:sub>
                                    <m:r>
                                      <a:rPr lang="en-US" sz="2000" i="1">
                                        <a:solidFill>
                                          <a:srgbClr val="000000"/>
                                        </a:solidFill>
                                        <a:latin typeface="Cambria Math" panose="02040503050406030204" pitchFamily="18" charset="0"/>
                                      </a:rPr>
                                      <m:t>𝑦</m:t>
                                    </m:r>
                                  </m:sub>
                                </m:sSub>
                              </m:e>
                            </m:acc>
                          </m:num>
                          <m:den>
                            <m:r>
                              <a:rPr lang="en-US" sz="2000" i="1">
                                <a:solidFill>
                                  <a:srgbClr val="000000"/>
                                </a:solidFill>
                                <a:latin typeface="Cambria Math" panose="02040503050406030204" pitchFamily="18" charset="0"/>
                              </a:rPr>
                              <m:t>2</m:t>
                            </m:r>
                          </m:den>
                        </m:f>
                      </m:e>
                    </m:d>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m:t>
                            </m:r>
                            <m:d>
                              <m:dPr>
                                <m:begChr m:val="|"/>
                                <m:endChr m:val="|"/>
                                <m:ctrlPr>
                                  <a:rPr lang="en-US" sz="2000" i="1">
                                    <a:solidFill>
                                      <a:srgbClr val="000000"/>
                                    </a:solidFill>
                                    <a:latin typeface="Cambria Math" panose="02040503050406030204" pitchFamily="18" charset="0"/>
                                  </a:rPr>
                                </m:ctrlPr>
                              </m:dPr>
                              <m:e>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𝐸</m:t>
                                    </m:r>
                                  </m:e>
                                  <m:sub>
                                    <m:r>
                                      <a:rPr lang="en-US" sz="2000" i="1">
                                        <a:solidFill>
                                          <a:srgbClr val="000000"/>
                                        </a:solidFill>
                                        <a:latin typeface="Cambria Math" panose="02040503050406030204" pitchFamily="18" charset="0"/>
                                      </a:rPr>
                                      <m:t>𝑥</m:t>
                                    </m:r>
                                  </m:sub>
                                </m:sSub>
                              </m:e>
                            </m:d>
                            <m:r>
                              <a:rPr lang="en-US" sz="2000" i="1">
                                <a:solidFill>
                                  <a:srgbClr val="000000"/>
                                </a:solidFill>
                                <a:latin typeface="Cambria Math" panose="02040503050406030204" pitchFamily="18" charset="0"/>
                              </a:rPr>
                              <m:t>)</m:t>
                            </m:r>
                          </m:e>
                          <m:sup>
                            <m:r>
                              <a:rPr lang="en-US" sz="2000" i="1">
                                <a:solidFill>
                                  <a:srgbClr val="000000"/>
                                </a:solidFill>
                                <a:latin typeface="Cambria Math" panose="02040503050406030204" pitchFamily="18" charset="0"/>
                              </a:rPr>
                              <m:t>2</m:t>
                            </m:r>
                          </m:sup>
                        </m:sSup>
                      </m:num>
                      <m:den>
                        <m:r>
                          <a:rPr lang="en-US" sz="2000" i="1">
                            <a:solidFill>
                              <a:srgbClr val="000000"/>
                            </a:solidFill>
                            <a:latin typeface="Cambria Math" panose="02040503050406030204" pitchFamily="18" charset="0"/>
                          </a:rPr>
                          <m:t>2</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𝜂</m:t>
                            </m:r>
                          </m:e>
                          <m:sub>
                            <m:r>
                              <a:rPr lang="en-US" sz="2000" i="1">
                                <a:solidFill>
                                  <a:srgbClr val="000000"/>
                                </a:solidFill>
                                <a:latin typeface="Cambria Math" panose="02040503050406030204" pitchFamily="18" charset="0"/>
                              </a:rPr>
                              <m:t>0</m:t>
                            </m:r>
                          </m:sub>
                        </m:sSub>
                      </m:den>
                    </m:f>
                  </m:oMath>
                </a14:m>
                <a:r>
                  <a:rPr lang="en-US" sz="2000" dirty="0">
                    <a:solidFill>
                      <a:srgbClr val="000000"/>
                    </a:solidFill>
                  </a:rPr>
                  <a:t> (Poynting vector)</a:t>
                </a:r>
              </a:p>
              <a:p>
                <a:pPr marL="285750" indent="-285750" hangingPunct="0">
                  <a:buFont typeface="Arial" panose="020B0604020202020204" pitchFamily="34" charset="0"/>
                  <a:buChar char="•"/>
                </a:pPr>
                <a:r>
                  <a:rPr lang="en-US" sz="2000" dirty="0">
                    <a:solidFill>
                      <a:srgbClr val="000000"/>
                    </a:solidFill>
                  </a:rPr>
                  <a:t>Impedance:</a:t>
                </a:r>
              </a:p>
              <a:p>
                <a:pPr marL="742950" lvl="1" indent="-285750" defTabSz="457200" hangingPunct="0">
                  <a:buFont typeface="Arial" panose="020B0604020202020204" pitchFamily="34" charset="0"/>
                  <a:buChar char="•"/>
                </a:pPr>
                <a:r>
                  <a:rPr lang="en-US" sz="2000" dirty="0">
                    <a:solidFill>
                      <a:srgbClr val="000000"/>
                    </a:solidFill>
                    <a:cs typeface="Calibri"/>
                    <a:sym typeface="Calibri"/>
                  </a:rPr>
                  <a:t>Power delivered to antenna:  </a:t>
                </a:r>
                <a14:m>
                  <m:oMath xmlns:m="http://schemas.openxmlformats.org/officeDocument/2006/math">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𝑃</m:t>
                        </m:r>
                      </m:e>
                      <m:sub>
                        <m:r>
                          <a:rPr lang="en-US" sz="2000" i="1">
                            <a:solidFill>
                              <a:srgbClr val="000000"/>
                            </a:solidFill>
                            <a:latin typeface="Cambria Math" panose="02040503050406030204" pitchFamily="18" charset="0"/>
                            <a:cs typeface="Calibri"/>
                            <a:sym typeface="Calibri"/>
                          </a:rPr>
                          <m:t>𝑡</m:t>
                        </m:r>
                      </m:sub>
                    </m:sSub>
                    <m:r>
                      <a:rPr lang="en-US" sz="2000" i="1">
                        <a:solidFill>
                          <a:srgbClr val="000000"/>
                        </a:solidFill>
                        <a:latin typeface="Cambria Math" panose="02040503050406030204" pitchFamily="18" charset="0"/>
                        <a:cs typeface="Calibri"/>
                        <a:sym typeface="Calibri"/>
                      </a:rPr>
                      <m:t>=</m:t>
                    </m:r>
                    <m:f>
                      <m:fPr>
                        <m:ctrlPr>
                          <a:rPr lang="en-US" sz="2000" i="1">
                            <a:solidFill>
                              <a:srgbClr val="000000"/>
                            </a:solidFill>
                            <a:latin typeface="Cambria Math" panose="02040503050406030204" pitchFamily="18" charset="0"/>
                            <a:cs typeface="Calibri"/>
                            <a:sym typeface="Calibri"/>
                          </a:rPr>
                        </m:ctrlPr>
                      </m:fPr>
                      <m:num>
                        <m:r>
                          <a:rPr lang="en-US" sz="2000" i="1">
                            <a:solidFill>
                              <a:srgbClr val="000000"/>
                            </a:solidFill>
                            <a:latin typeface="Cambria Math" panose="02040503050406030204" pitchFamily="18" charset="0"/>
                            <a:cs typeface="Calibri"/>
                            <a:sym typeface="Calibri"/>
                          </a:rPr>
                          <m:t>𝑅</m:t>
                        </m:r>
                        <m:sSup>
                          <m:sSupPr>
                            <m:ctrlPr>
                              <a:rPr lang="en-US" sz="2000" i="1">
                                <a:solidFill>
                                  <a:srgbClr val="000000"/>
                                </a:solidFill>
                                <a:latin typeface="Cambria Math" panose="02040503050406030204" pitchFamily="18" charset="0"/>
                                <a:cs typeface="Calibri"/>
                                <a:sym typeface="Calibri"/>
                              </a:rPr>
                            </m:ctrlPr>
                          </m:sSupPr>
                          <m:e>
                            <m:r>
                              <a:rPr lang="en-US" sz="2000" i="1">
                                <a:solidFill>
                                  <a:srgbClr val="000000"/>
                                </a:solidFill>
                                <a:latin typeface="Cambria Math" panose="02040503050406030204" pitchFamily="18" charset="0"/>
                                <a:cs typeface="Calibri"/>
                                <a:sym typeface="Calibri"/>
                              </a:rPr>
                              <m:t>|</m:t>
                            </m:r>
                            <m:r>
                              <a:rPr lang="en-US" sz="2000" i="1">
                                <a:solidFill>
                                  <a:srgbClr val="000000"/>
                                </a:solidFill>
                                <a:latin typeface="Cambria Math" panose="02040503050406030204" pitchFamily="18" charset="0"/>
                                <a:cs typeface="Calibri"/>
                                <a:sym typeface="Calibri"/>
                              </a:rPr>
                              <m:t>𝐼</m:t>
                            </m:r>
                            <m:r>
                              <a:rPr lang="en-US" sz="2000" i="1">
                                <a:solidFill>
                                  <a:srgbClr val="000000"/>
                                </a:solidFill>
                                <a:latin typeface="Cambria Math" panose="02040503050406030204" pitchFamily="18" charset="0"/>
                                <a:cs typeface="Calibri"/>
                                <a:sym typeface="Calibri"/>
                              </a:rPr>
                              <m:t>|</m:t>
                            </m:r>
                          </m:e>
                          <m:sup>
                            <m:r>
                              <a:rPr lang="en-US" sz="2000" i="1">
                                <a:solidFill>
                                  <a:srgbClr val="000000"/>
                                </a:solidFill>
                                <a:latin typeface="Cambria Math" panose="02040503050406030204" pitchFamily="18" charset="0"/>
                                <a:cs typeface="Calibri"/>
                                <a:sym typeface="Calibri"/>
                              </a:rPr>
                              <m:t>2</m:t>
                            </m:r>
                          </m:sup>
                        </m:sSup>
                      </m:num>
                      <m:den>
                        <m:r>
                          <a:rPr lang="en-US" sz="2000" i="1">
                            <a:solidFill>
                              <a:srgbClr val="000000"/>
                            </a:solidFill>
                            <a:latin typeface="Cambria Math" panose="02040503050406030204" pitchFamily="18" charset="0"/>
                            <a:cs typeface="Calibri"/>
                            <a:sym typeface="Calibri"/>
                          </a:rPr>
                          <m:t>2</m:t>
                        </m:r>
                      </m:den>
                    </m:f>
                  </m:oMath>
                </a14:m>
                <a:r>
                  <a:rPr lang="en-US" sz="2000" dirty="0">
                    <a:solidFill>
                      <a:srgbClr val="000000"/>
                    </a:solidFill>
                    <a:ea typeface="Calibri"/>
                    <a:cs typeface="Calibri"/>
                    <a:sym typeface="Calibri"/>
                  </a:rPr>
                  <a:t>, </a:t>
                </a:r>
                <a14:m>
                  <m:oMath xmlns:m="http://schemas.openxmlformats.org/officeDocument/2006/math">
                    <m:r>
                      <a:rPr lang="en-US" sz="2000" i="1">
                        <a:solidFill>
                          <a:srgbClr val="000000"/>
                        </a:solidFill>
                        <a:latin typeface="Cambria Math" panose="02040503050406030204" pitchFamily="18" charset="0"/>
                        <a:ea typeface="Calibri"/>
                        <a:cs typeface="Calibri"/>
                        <a:sym typeface="Calibri"/>
                      </a:rPr>
                      <m:t>𝑅</m:t>
                    </m:r>
                  </m:oMath>
                </a14:m>
                <a:r>
                  <a:rPr lang="en-US" sz="2000" dirty="0">
                    <a:solidFill>
                      <a:srgbClr val="000000"/>
                    </a:solidFill>
                    <a:ea typeface="Calibri"/>
                    <a:cs typeface="Calibri"/>
                    <a:sym typeface="Calibri"/>
                  </a:rPr>
                  <a:t> is real part of </a:t>
                </a:r>
                <a14:m>
                  <m:oMath xmlns:m="http://schemas.openxmlformats.org/officeDocument/2006/math">
                    <m:r>
                      <a:rPr lang="en-US" sz="2000" i="1">
                        <a:solidFill>
                          <a:srgbClr val="000000"/>
                        </a:solidFill>
                        <a:latin typeface="Cambria Math" panose="02040503050406030204" pitchFamily="18" charset="0"/>
                        <a:ea typeface="Calibri"/>
                        <a:cs typeface="Calibri"/>
                        <a:sym typeface="Calibri"/>
                      </a:rPr>
                      <m:t>𝑍</m:t>
                    </m:r>
                  </m:oMath>
                </a14:m>
                <a:r>
                  <a:rPr lang="en-US" sz="2000" dirty="0">
                    <a:solidFill>
                      <a:srgbClr val="000000"/>
                    </a:solidFill>
                    <a:ea typeface="Calibri"/>
                    <a:cs typeface="Calibri"/>
                    <a:sym typeface="Calibri"/>
                  </a:rPr>
                  <a:t>, </a:t>
                </a:r>
              </a:p>
              <a:p>
                <a:pPr marL="742950" lvl="1" indent="-285750" defTabSz="457200" hangingPunct="0">
                  <a:buFont typeface="Arial" panose="020B0604020202020204" pitchFamily="34" charset="0"/>
                  <a:buChar char="•"/>
                </a:pPr>
                <a14:m>
                  <m:oMath xmlns:m="http://schemas.openxmlformats.org/officeDocument/2006/math">
                    <m:r>
                      <a:rPr lang="en-US" sz="2000" i="1">
                        <a:solidFill>
                          <a:srgbClr val="000000"/>
                        </a:solidFill>
                        <a:latin typeface="Cambria Math" panose="02040503050406030204" pitchFamily="18" charset="0"/>
                        <a:ea typeface="Calibri"/>
                        <a:cs typeface="Calibri"/>
                        <a:sym typeface="Calibri"/>
                      </a:rPr>
                      <m:t>𝑅</m:t>
                    </m:r>
                    <m:r>
                      <a:rPr lang="en-US" sz="2000" i="1">
                        <a:solidFill>
                          <a:srgbClr val="000000"/>
                        </a:solidFill>
                        <a:latin typeface="Cambria Math" panose="02040503050406030204" pitchFamily="18" charset="0"/>
                        <a:ea typeface="Calibri"/>
                        <a:cs typeface="Calibri"/>
                        <a:sym typeface="Calibri"/>
                      </a:rPr>
                      <m:t>=</m:t>
                    </m:r>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𝑅</m:t>
                        </m:r>
                      </m:e>
                      <m:sub>
                        <m:r>
                          <a:rPr lang="en-US" sz="2000" i="1">
                            <a:solidFill>
                              <a:srgbClr val="000000"/>
                            </a:solidFill>
                            <a:latin typeface="Cambria Math" panose="02040503050406030204" pitchFamily="18" charset="0"/>
                            <a:cs typeface="Calibri"/>
                            <a:sym typeface="Calibri"/>
                          </a:rPr>
                          <m:t>𝑟</m:t>
                        </m:r>
                      </m:sub>
                    </m:sSub>
                    <m:r>
                      <a:rPr lang="en-US" sz="2000" i="1">
                        <a:solidFill>
                          <a:srgbClr val="000000"/>
                        </a:solidFill>
                        <a:latin typeface="Cambria Math" panose="02040503050406030204" pitchFamily="18" charset="0"/>
                        <a:cs typeface="Calibri"/>
                        <a:sym typeface="Calibri"/>
                      </a:rPr>
                      <m:t>+</m:t>
                    </m:r>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𝑅</m:t>
                        </m:r>
                      </m:e>
                      <m:sub>
                        <m:r>
                          <a:rPr lang="en-US" sz="2000" i="1">
                            <a:solidFill>
                              <a:srgbClr val="000000"/>
                            </a:solidFill>
                            <a:latin typeface="Cambria Math" panose="02040503050406030204" pitchFamily="18" charset="0"/>
                            <a:cs typeface="Calibri"/>
                            <a:sym typeface="Calibri"/>
                          </a:rPr>
                          <m:t>𝑙</m:t>
                        </m:r>
                      </m:sub>
                    </m:sSub>
                    <m:r>
                      <a:rPr lang="en-US" sz="2000">
                        <a:solidFill>
                          <a:srgbClr val="000000"/>
                        </a:solidFill>
                        <a:latin typeface="Cambria Math" panose="02040503050406030204" pitchFamily="18" charset="0"/>
                        <a:cs typeface="Calibri"/>
                        <a:sym typeface="Calibri"/>
                      </a:rPr>
                      <m:t>, </m:t>
                    </m:r>
                    <m:r>
                      <a:rPr lang="en-US" sz="2000" b="0" i="0" smtClean="0">
                        <a:solidFill>
                          <a:srgbClr val="000000"/>
                        </a:solidFill>
                        <a:latin typeface="Cambria Math" panose="02040503050406030204" pitchFamily="18" charset="0"/>
                        <a:cs typeface="Calibri"/>
                        <a:sym typeface="Calibri"/>
                      </a:rPr>
                      <m:t> </m:t>
                    </m:r>
                    <m:r>
                      <a:rPr lang="en-US" sz="2000" i="1">
                        <a:solidFill>
                          <a:srgbClr val="000000"/>
                        </a:solidFill>
                        <a:latin typeface="Cambria Math" panose="02040503050406030204" pitchFamily="18" charset="0"/>
                        <a:ea typeface="Cambria Math" panose="02040503050406030204" pitchFamily="18" charset="0"/>
                        <a:sym typeface="Calibri"/>
                      </a:rPr>
                      <m:t>𝜂</m:t>
                    </m:r>
                    <m:r>
                      <a:rPr lang="en-US" sz="2000" i="1">
                        <a:solidFill>
                          <a:srgbClr val="000000"/>
                        </a:solidFill>
                        <a:latin typeface="Cambria Math" panose="02040503050406030204" pitchFamily="18" charset="0"/>
                        <a:ea typeface="Cambria Math" panose="02040503050406030204" pitchFamily="18" charset="0"/>
                        <a:sym typeface="Calibri"/>
                      </a:rPr>
                      <m:t>=</m:t>
                    </m:r>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𝑅</m:t>
                            </m:r>
                          </m:e>
                          <m:sub>
                            <m:r>
                              <a:rPr lang="en-US" sz="2000" i="1">
                                <a:solidFill>
                                  <a:srgbClr val="000000"/>
                                </a:solidFill>
                                <a:latin typeface="Cambria Math" panose="02040503050406030204" pitchFamily="18" charset="0"/>
                                <a:ea typeface="Cambria Math" panose="02040503050406030204" pitchFamily="18" charset="0"/>
                                <a:sym typeface="Calibri"/>
                              </a:rPr>
                              <m:t>𝑟</m:t>
                            </m:r>
                          </m:sub>
                        </m:sSub>
                      </m:num>
                      <m:den>
                        <m:r>
                          <a:rPr lang="en-US" sz="2000" i="1">
                            <a:solidFill>
                              <a:srgbClr val="000000"/>
                            </a:solidFill>
                            <a:latin typeface="Cambria Math" panose="02040503050406030204" pitchFamily="18" charset="0"/>
                            <a:ea typeface="Cambria Math" panose="02040503050406030204" pitchFamily="18" charset="0"/>
                            <a:sym typeface="Calibri"/>
                          </a:rPr>
                          <m:t>𝑅</m:t>
                        </m:r>
                      </m:den>
                    </m:f>
                  </m:oMath>
                </a14:m>
                <a:r>
                  <a:rPr lang="en-US" sz="2000" dirty="0">
                    <a:solidFill>
                      <a:srgbClr val="000000"/>
                    </a:solidFill>
                  </a:rPr>
                  <a:t>,  </a:t>
                </a:r>
                <a14:m>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𝑅</m:t>
                        </m:r>
                      </m:e>
                      <m:sub>
                        <m:r>
                          <a:rPr lang="en-US" sz="2000" b="0" i="1" smtClean="0">
                            <a:solidFill>
                              <a:srgbClr val="000000"/>
                            </a:solidFill>
                            <a:latin typeface="Cambria Math" panose="02040503050406030204" pitchFamily="18" charset="0"/>
                          </a:rPr>
                          <m:t>𝑟</m:t>
                        </m:r>
                      </m:sub>
                    </m:sSub>
                  </m:oMath>
                </a14:m>
                <a:r>
                  <a:rPr lang="en-US" sz="2000" dirty="0">
                    <a:solidFill>
                      <a:srgbClr val="000000"/>
                    </a:solidFill>
                  </a:rPr>
                  <a:t> is radiation resistance, </a:t>
                </a:r>
                <a14:m>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𝑅</m:t>
                        </m:r>
                      </m:e>
                      <m:sub>
                        <m:r>
                          <a:rPr lang="en-US" sz="2000" b="0" i="1" smtClean="0">
                            <a:solidFill>
                              <a:srgbClr val="000000"/>
                            </a:solidFill>
                            <a:latin typeface="Cambria Math" panose="02040503050406030204" pitchFamily="18" charset="0"/>
                          </a:rPr>
                          <m:t>𝑙</m:t>
                        </m:r>
                      </m:sub>
                    </m:sSub>
                  </m:oMath>
                </a14:m>
                <a:r>
                  <a:rPr lang="en-US" sz="2000" dirty="0">
                    <a:solidFill>
                      <a:srgbClr val="000000"/>
                    </a:solidFill>
                  </a:rPr>
                  <a:t> is loss.</a:t>
                </a:r>
              </a:p>
              <a:p>
                <a:pPr marL="742950" lvl="1" indent="-285750" defTabSz="457200" hangingPunct="0">
                  <a:buFont typeface="Arial" panose="020B0604020202020204" pitchFamily="34" charset="0"/>
                  <a:buChar char="•"/>
                </a:pPr>
                <a:r>
                  <a:rPr lang="en-US" sz="2000" dirty="0">
                    <a:solidFill>
                      <a:srgbClr val="000000"/>
                    </a:solidFill>
                  </a:rPr>
                  <a:t>Transmitter impedance = Receiver impedance.</a:t>
                </a:r>
              </a:p>
              <a:p>
                <a:pPr algn="l" rtl="0" latinLnBrk="1" hangingPunct="0"/>
                <a:endParaRPr lang="en-US" dirty="0">
                  <a:solidFill>
                    <a:srgbClr val="000000"/>
                  </a:solidFill>
                  <a:latin typeface="Calibri"/>
                  <a:ea typeface="Calibri"/>
                  <a:cs typeface="Calibri"/>
                  <a:sym typeface="Calibri"/>
                </a:endParaRP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408553" y="1231243"/>
                <a:ext cx="10533321" cy="5544336"/>
              </a:xfrm>
              <a:prstGeom prst="rect">
                <a:avLst/>
              </a:prstGeom>
              <a:blipFill>
                <a:blip r:embed="rId3"/>
                <a:stretch>
                  <a:fillRect l="-964" t="-457"/>
                </a:stretch>
              </a:blipFill>
              <a:ln w="12700" cap="flat">
                <a:noFill/>
                <a:miter lim="400000"/>
              </a:ln>
              <a:effectLst/>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F3EED66A-56F2-494C-BB12-2E8BBB011DE2}"/>
              </a:ext>
            </a:extLst>
          </p:cNvPr>
          <p:cNvSpPr>
            <a:spLocks noGrp="1"/>
          </p:cNvSpPr>
          <p:nvPr>
            <p:ph type="sldNum" sz="quarter" idx="2"/>
          </p:nvPr>
        </p:nvSpPr>
        <p:spPr>
          <a:xfrm>
            <a:off x="984504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7</a:t>
            </a:fld>
            <a:endParaRPr lang="en-US" dirty="0">
              <a:solidFill>
                <a:schemeClr val="tx1"/>
              </a:solidFill>
            </a:endParaRPr>
          </a:p>
        </p:txBody>
      </p:sp>
      <p:grpSp>
        <p:nvGrpSpPr>
          <p:cNvPr id="2" name="Group 1">
            <a:extLst>
              <a:ext uri="{FF2B5EF4-FFF2-40B4-BE49-F238E27FC236}">
                <a16:creationId xmlns:a16="http://schemas.microsoft.com/office/drawing/2014/main" id="{3649F89F-BD43-CB9D-F3CB-2DA78519EF54}"/>
              </a:ext>
            </a:extLst>
          </p:cNvPr>
          <p:cNvGrpSpPr/>
          <p:nvPr/>
        </p:nvGrpSpPr>
        <p:grpSpPr>
          <a:xfrm>
            <a:off x="8904238" y="2112626"/>
            <a:ext cx="2178061" cy="1876782"/>
            <a:chOff x="9700180" y="1388726"/>
            <a:chExt cx="2354652" cy="1876782"/>
          </a:xfrm>
        </p:grpSpPr>
        <p:sp>
          <p:nvSpPr>
            <p:cNvPr id="4" name="TextBox 3">
              <a:extLst>
                <a:ext uri="{FF2B5EF4-FFF2-40B4-BE49-F238E27FC236}">
                  <a16:creationId xmlns:a16="http://schemas.microsoft.com/office/drawing/2014/main" id="{A32B08E6-C224-74F3-59F9-C9ABDA4AF0CC}"/>
                </a:ext>
              </a:extLst>
            </p:cNvPr>
            <p:cNvSpPr txBox="1"/>
            <p:nvPr/>
          </p:nvSpPr>
          <p:spPr>
            <a:xfrm>
              <a:off x="10378770" y="1388726"/>
              <a:ext cx="242374" cy="369332"/>
            </a:xfrm>
            <a:prstGeom prst="rect">
              <a:avLst/>
            </a:prstGeom>
            <a:noFill/>
          </p:spPr>
          <p:txBody>
            <a:bodyPr wrap="none" rtlCol="0">
              <a:spAutoFit/>
            </a:bodyPr>
            <a:lstStyle/>
            <a:p>
              <a:r>
                <a:rPr lang="en-US" dirty="0"/>
                <a:t>I</a:t>
              </a:r>
            </a:p>
          </p:txBody>
        </p:sp>
        <p:sp>
          <p:nvSpPr>
            <p:cNvPr id="5" name="Rectangle 4">
              <a:extLst>
                <a:ext uri="{FF2B5EF4-FFF2-40B4-BE49-F238E27FC236}">
                  <a16:creationId xmlns:a16="http://schemas.microsoft.com/office/drawing/2014/main" id="{55624CED-06DE-1E0C-8255-766C4B1133EF}"/>
                </a:ext>
              </a:extLst>
            </p:cNvPr>
            <p:cNvSpPr/>
            <p:nvPr/>
          </p:nvSpPr>
          <p:spPr>
            <a:xfrm>
              <a:off x="10829584" y="2101049"/>
              <a:ext cx="245806" cy="513546"/>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56D9144-F6FA-A028-38A7-BF21E26BA2F1}"/>
                </a:ext>
              </a:extLst>
            </p:cNvPr>
            <p:cNvSpPr txBox="1"/>
            <p:nvPr/>
          </p:nvSpPr>
          <p:spPr>
            <a:xfrm>
              <a:off x="10800073" y="2167232"/>
              <a:ext cx="253557" cy="369332"/>
            </a:xfrm>
            <a:prstGeom prst="rect">
              <a:avLst/>
            </a:prstGeom>
            <a:noFill/>
          </p:spPr>
          <p:txBody>
            <a:bodyPr wrap="square" rtlCol="0">
              <a:spAutoFit/>
            </a:bodyPr>
            <a:lstStyle/>
            <a:p>
              <a:r>
                <a:rPr lang="en-US" dirty="0"/>
                <a:t>Z</a:t>
              </a:r>
            </a:p>
          </p:txBody>
        </p:sp>
        <p:cxnSp>
          <p:nvCxnSpPr>
            <p:cNvPr id="7" name="Straight Connector 6">
              <a:extLst>
                <a:ext uri="{FF2B5EF4-FFF2-40B4-BE49-F238E27FC236}">
                  <a16:creationId xmlns:a16="http://schemas.microsoft.com/office/drawing/2014/main" id="{A20C2F61-061D-011E-02D1-26DA786F81F2}"/>
                </a:ext>
              </a:extLst>
            </p:cNvPr>
            <p:cNvCxnSpPr>
              <a:cxnSpLocks/>
            </p:cNvCxnSpPr>
            <p:nvPr/>
          </p:nvCxnSpPr>
          <p:spPr>
            <a:xfrm>
              <a:off x="10160991" y="1690366"/>
              <a:ext cx="78166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8656207-8430-B836-419A-DCF04BB46053}"/>
                </a:ext>
              </a:extLst>
            </p:cNvPr>
            <p:cNvCxnSpPr>
              <a:cxnSpLocks/>
            </p:cNvCxnSpPr>
            <p:nvPr/>
          </p:nvCxnSpPr>
          <p:spPr>
            <a:xfrm>
              <a:off x="10937723" y="1690366"/>
              <a:ext cx="0" cy="39820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Group 13">
              <a:extLst>
                <a:ext uri="{FF2B5EF4-FFF2-40B4-BE49-F238E27FC236}">
                  <a16:creationId xmlns:a16="http://schemas.microsoft.com/office/drawing/2014/main" id="{B79C8825-44FE-4C16-AE08-665BDB18AB20}"/>
                </a:ext>
              </a:extLst>
            </p:cNvPr>
            <p:cNvGrpSpPr>
              <a:grpSpLocks noChangeAspect="1"/>
            </p:cNvGrpSpPr>
            <p:nvPr/>
          </p:nvGrpSpPr>
          <p:grpSpPr bwMode="auto">
            <a:xfrm>
              <a:off x="10126572" y="1619071"/>
              <a:ext cx="152400" cy="152400"/>
              <a:chOff x="1344" y="2064"/>
              <a:chExt cx="192" cy="192"/>
            </a:xfrm>
          </p:grpSpPr>
          <p:sp>
            <p:nvSpPr>
              <p:cNvPr id="15" name="Oval 14">
                <a:extLst>
                  <a:ext uri="{FF2B5EF4-FFF2-40B4-BE49-F238E27FC236}">
                    <a16:creationId xmlns:a16="http://schemas.microsoft.com/office/drawing/2014/main" id="{87FC7A52-3FD9-77D9-697E-01C40711686D}"/>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6" name="Rectangle 15">
                <a:extLst>
                  <a:ext uri="{FF2B5EF4-FFF2-40B4-BE49-F238E27FC236}">
                    <a16:creationId xmlns:a16="http://schemas.microsoft.com/office/drawing/2014/main" id="{387D7870-E561-C94E-D05B-EED05DA0CB85}"/>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1" name="Group 220">
              <a:extLst>
                <a:ext uri="{FF2B5EF4-FFF2-40B4-BE49-F238E27FC236}">
                  <a16:creationId xmlns:a16="http://schemas.microsoft.com/office/drawing/2014/main" id="{86DF22F1-EB0F-9F11-C838-933CF06A1848}"/>
                </a:ext>
              </a:extLst>
            </p:cNvPr>
            <p:cNvGrpSpPr>
              <a:grpSpLocks/>
            </p:cNvGrpSpPr>
            <p:nvPr/>
          </p:nvGrpSpPr>
          <p:grpSpPr bwMode="auto">
            <a:xfrm>
              <a:off x="10873831" y="2624425"/>
              <a:ext cx="152400" cy="304800"/>
              <a:chOff x="3264" y="3072"/>
              <a:chExt cx="96" cy="192"/>
            </a:xfrm>
          </p:grpSpPr>
          <p:sp>
            <p:nvSpPr>
              <p:cNvPr id="13" name="Line 17">
                <a:extLst>
                  <a:ext uri="{FF2B5EF4-FFF2-40B4-BE49-F238E27FC236}">
                    <a16:creationId xmlns:a16="http://schemas.microsoft.com/office/drawing/2014/main" id="{179D2EF4-5E09-9A77-1156-2BECEEFD7D7D}"/>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 name="Freeform 18">
                <a:extLst>
                  <a:ext uri="{FF2B5EF4-FFF2-40B4-BE49-F238E27FC236}">
                    <a16:creationId xmlns:a16="http://schemas.microsoft.com/office/drawing/2014/main" id="{0E0074D8-FCE3-E765-F142-FFB353155E72}"/>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2" name="TextBox 11">
              <a:extLst>
                <a:ext uri="{FF2B5EF4-FFF2-40B4-BE49-F238E27FC236}">
                  <a16:creationId xmlns:a16="http://schemas.microsoft.com/office/drawing/2014/main" id="{B07A4576-38FA-9239-FA07-B983C9A088A5}"/>
                </a:ext>
              </a:extLst>
            </p:cNvPr>
            <p:cNvSpPr txBox="1"/>
            <p:nvPr/>
          </p:nvSpPr>
          <p:spPr>
            <a:xfrm>
              <a:off x="9700180" y="2926954"/>
              <a:ext cx="2354652" cy="338554"/>
            </a:xfrm>
            <a:prstGeom prst="rect">
              <a:avLst/>
            </a:prstGeom>
            <a:noFill/>
          </p:spPr>
          <p:txBody>
            <a:bodyPr wrap="square" rtlCol="0">
              <a:spAutoFit/>
            </a:bodyPr>
            <a:lstStyle/>
            <a:p>
              <a:r>
                <a:rPr lang="en-US" sz="1600" dirty="0"/>
                <a:t>Transmitting Antenna</a:t>
              </a:r>
            </a:p>
          </p:txBody>
        </p:sp>
      </p:grpSp>
      <p:grpSp>
        <p:nvGrpSpPr>
          <p:cNvPr id="17" name="Group 16">
            <a:extLst>
              <a:ext uri="{FF2B5EF4-FFF2-40B4-BE49-F238E27FC236}">
                <a16:creationId xmlns:a16="http://schemas.microsoft.com/office/drawing/2014/main" id="{D98AB1D4-392C-CD68-686E-7CCA7CABDA08}"/>
              </a:ext>
            </a:extLst>
          </p:cNvPr>
          <p:cNvGrpSpPr/>
          <p:nvPr/>
        </p:nvGrpSpPr>
        <p:grpSpPr>
          <a:xfrm>
            <a:off x="8980145" y="4326008"/>
            <a:ext cx="1957722" cy="2327213"/>
            <a:chOff x="9148337" y="3208394"/>
            <a:chExt cx="2354652" cy="2327213"/>
          </a:xfrm>
        </p:grpSpPr>
        <p:grpSp>
          <p:nvGrpSpPr>
            <p:cNvPr id="18" name="Group 207">
              <a:extLst>
                <a:ext uri="{FF2B5EF4-FFF2-40B4-BE49-F238E27FC236}">
                  <a16:creationId xmlns:a16="http://schemas.microsoft.com/office/drawing/2014/main" id="{A0240D96-F2A4-B77C-E2F5-4431D7286885}"/>
                </a:ext>
              </a:extLst>
            </p:cNvPr>
            <p:cNvGrpSpPr>
              <a:grpSpLocks/>
            </p:cNvGrpSpPr>
            <p:nvPr/>
          </p:nvGrpSpPr>
          <p:grpSpPr bwMode="auto">
            <a:xfrm>
              <a:off x="10251442" y="4215318"/>
              <a:ext cx="304800" cy="762000"/>
              <a:chOff x="4560" y="2400"/>
              <a:chExt cx="192" cy="480"/>
            </a:xfrm>
          </p:grpSpPr>
          <p:sp>
            <p:nvSpPr>
              <p:cNvPr id="31" name="Oval 111">
                <a:extLst>
                  <a:ext uri="{FF2B5EF4-FFF2-40B4-BE49-F238E27FC236}">
                    <a16:creationId xmlns:a16="http://schemas.microsoft.com/office/drawing/2014/main" id="{C0EA6E32-4425-E638-C52C-2CDBF915F48D}"/>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32" name="Line 112">
                <a:extLst>
                  <a:ext uri="{FF2B5EF4-FFF2-40B4-BE49-F238E27FC236}">
                    <a16:creationId xmlns:a16="http://schemas.microsoft.com/office/drawing/2014/main" id="{A2CEFE27-4D13-E999-E41C-0E5CC24C1D21}"/>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 name="Line 113">
                <a:extLst>
                  <a:ext uri="{FF2B5EF4-FFF2-40B4-BE49-F238E27FC236}">
                    <a16:creationId xmlns:a16="http://schemas.microsoft.com/office/drawing/2014/main" id="{18FF5B5E-69EF-5F6C-70B0-D9DD44B50B6A}"/>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4" name="Group 117">
                <a:extLst>
                  <a:ext uri="{FF2B5EF4-FFF2-40B4-BE49-F238E27FC236}">
                    <a16:creationId xmlns:a16="http://schemas.microsoft.com/office/drawing/2014/main" id="{50D23382-DFC3-DBA8-36B2-A125AAD0C0A4}"/>
                  </a:ext>
                </a:extLst>
              </p:cNvPr>
              <p:cNvGrpSpPr>
                <a:grpSpLocks noChangeAspect="1"/>
              </p:cNvGrpSpPr>
              <p:nvPr/>
            </p:nvGrpSpPr>
            <p:grpSpPr bwMode="auto">
              <a:xfrm>
                <a:off x="4608" y="2592"/>
                <a:ext cx="96" cy="96"/>
                <a:chOff x="2929" y="3217"/>
                <a:chExt cx="383" cy="191"/>
              </a:xfrm>
            </p:grpSpPr>
            <p:sp>
              <p:nvSpPr>
                <p:cNvPr id="35" name="Arc 118">
                  <a:extLst>
                    <a:ext uri="{FF2B5EF4-FFF2-40B4-BE49-F238E27FC236}">
                      <a16:creationId xmlns:a16="http://schemas.microsoft.com/office/drawing/2014/main" id="{D09A0D82-BE14-D0A6-0187-E943BFF98792}"/>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6" name="Arc 119">
                  <a:extLst>
                    <a:ext uri="{FF2B5EF4-FFF2-40B4-BE49-F238E27FC236}">
                      <a16:creationId xmlns:a16="http://schemas.microsoft.com/office/drawing/2014/main" id="{9466A05B-59EF-685B-6500-21F88C8AA4E9}"/>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19" name="Rectangle 18">
              <a:extLst>
                <a:ext uri="{FF2B5EF4-FFF2-40B4-BE49-F238E27FC236}">
                  <a16:creationId xmlns:a16="http://schemas.microsoft.com/office/drawing/2014/main" id="{C121ADEB-16FE-D0AD-6E9D-66F8B9578BC4}"/>
                </a:ext>
              </a:extLst>
            </p:cNvPr>
            <p:cNvSpPr/>
            <p:nvPr/>
          </p:nvSpPr>
          <p:spPr>
            <a:xfrm>
              <a:off x="10281416" y="3690372"/>
              <a:ext cx="245806" cy="513546"/>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DA8106B8-2A57-FCA2-2A33-467D2F66D225}"/>
                </a:ext>
              </a:extLst>
            </p:cNvPr>
            <p:cNvSpPr txBox="1"/>
            <p:nvPr/>
          </p:nvSpPr>
          <p:spPr>
            <a:xfrm>
              <a:off x="10251905" y="3756555"/>
              <a:ext cx="253557" cy="369332"/>
            </a:xfrm>
            <a:prstGeom prst="rect">
              <a:avLst/>
            </a:prstGeom>
            <a:noFill/>
          </p:spPr>
          <p:txBody>
            <a:bodyPr wrap="square" rtlCol="0">
              <a:spAutoFit/>
            </a:bodyPr>
            <a:lstStyle/>
            <a:p>
              <a:r>
                <a:rPr lang="en-US" dirty="0"/>
                <a:t>Z</a:t>
              </a:r>
            </a:p>
          </p:txBody>
        </p:sp>
        <p:cxnSp>
          <p:nvCxnSpPr>
            <p:cNvPr id="21" name="Straight Connector 20">
              <a:extLst>
                <a:ext uri="{FF2B5EF4-FFF2-40B4-BE49-F238E27FC236}">
                  <a16:creationId xmlns:a16="http://schemas.microsoft.com/office/drawing/2014/main" id="{9FED07F4-4357-0F3B-D6C2-D4724B46E255}"/>
                </a:ext>
              </a:extLst>
            </p:cNvPr>
            <p:cNvCxnSpPr>
              <a:cxnSpLocks/>
            </p:cNvCxnSpPr>
            <p:nvPr/>
          </p:nvCxnSpPr>
          <p:spPr>
            <a:xfrm>
              <a:off x="9612823" y="3279689"/>
              <a:ext cx="78166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D2F1530-0F1D-8A3A-128C-3BF1A671E88B}"/>
                </a:ext>
              </a:extLst>
            </p:cNvPr>
            <p:cNvCxnSpPr>
              <a:cxnSpLocks/>
            </p:cNvCxnSpPr>
            <p:nvPr/>
          </p:nvCxnSpPr>
          <p:spPr>
            <a:xfrm>
              <a:off x="10389555" y="3279689"/>
              <a:ext cx="0" cy="39820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 name="Group 13">
              <a:extLst>
                <a:ext uri="{FF2B5EF4-FFF2-40B4-BE49-F238E27FC236}">
                  <a16:creationId xmlns:a16="http://schemas.microsoft.com/office/drawing/2014/main" id="{06FA3FCD-C4E6-2A63-9474-C5BEF701EBAD}"/>
                </a:ext>
              </a:extLst>
            </p:cNvPr>
            <p:cNvGrpSpPr>
              <a:grpSpLocks noChangeAspect="1"/>
            </p:cNvGrpSpPr>
            <p:nvPr/>
          </p:nvGrpSpPr>
          <p:grpSpPr bwMode="auto">
            <a:xfrm>
              <a:off x="9578404" y="3208394"/>
              <a:ext cx="152400" cy="152400"/>
              <a:chOff x="1344" y="2064"/>
              <a:chExt cx="192" cy="192"/>
            </a:xfrm>
          </p:grpSpPr>
          <p:sp>
            <p:nvSpPr>
              <p:cNvPr id="29" name="Oval 14">
                <a:extLst>
                  <a:ext uri="{FF2B5EF4-FFF2-40B4-BE49-F238E27FC236}">
                    <a16:creationId xmlns:a16="http://schemas.microsoft.com/office/drawing/2014/main" id="{4D4ADAD3-85D4-8120-881F-0D3BE12A7A74}"/>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30" name="Rectangle 15">
                <a:extLst>
                  <a:ext uri="{FF2B5EF4-FFF2-40B4-BE49-F238E27FC236}">
                    <a16:creationId xmlns:a16="http://schemas.microsoft.com/office/drawing/2014/main" id="{48E0F00F-3DD9-B996-D111-C4977C6BCE51}"/>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24" name="Group 220">
              <a:extLst>
                <a:ext uri="{FF2B5EF4-FFF2-40B4-BE49-F238E27FC236}">
                  <a16:creationId xmlns:a16="http://schemas.microsoft.com/office/drawing/2014/main" id="{50D16BA2-97DC-A77E-561D-3582B8BBA02F}"/>
                </a:ext>
              </a:extLst>
            </p:cNvPr>
            <p:cNvGrpSpPr>
              <a:grpSpLocks/>
            </p:cNvGrpSpPr>
            <p:nvPr/>
          </p:nvGrpSpPr>
          <p:grpSpPr bwMode="auto">
            <a:xfrm>
              <a:off x="10325663" y="4777953"/>
              <a:ext cx="152400" cy="304800"/>
              <a:chOff x="3264" y="3072"/>
              <a:chExt cx="96" cy="192"/>
            </a:xfrm>
          </p:grpSpPr>
          <p:sp>
            <p:nvSpPr>
              <p:cNvPr id="27" name="Line 17">
                <a:extLst>
                  <a:ext uri="{FF2B5EF4-FFF2-40B4-BE49-F238E27FC236}">
                    <a16:creationId xmlns:a16="http://schemas.microsoft.com/office/drawing/2014/main" id="{A28E2B1A-B356-6FB2-A673-A4DE4219CC28}"/>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 name="Freeform 18">
                <a:extLst>
                  <a:ext uri="{FF2B5EF4-FFF2-40B4-BE49-F238E27FC236}">
                    <a16:creationId xmlns:a16="http://schemas.microsoft.com/office/drawing/2014/main" id="{2AA31982-6AAF-B389-B3A9-B86633E3353E}"/>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5" name="TextBox 24">
              <a:extLst>
                <a:ext uri="{FF2B5EF4-FFF2-40B4-BE49-F238E27FC236}">
                  <a16:creationId xmlns:a16="http://schemas.microsoft.com/office/drawing/2014/main" id="{012260A8-F079-E065-6F36-093D1612090D}"/>
                </a:ext>
              </a:extLst>
            </p:cNvPr>
            <p:cNvSpPr txBox="1"/>
            <p:nvPr/>
          </p:nvSpPr>
          <p:spPr>
            <a:xfrm>
              <a:off x="9855793" y="4418086"/>
              <a:ext cx="394660" cy="369332"/>
            </a:xfrm>
            <a:prstGeom prst="rect">
              <a:avLst/>
            </a:prstGeom>
            <a:noFill/>
          </p:spPr>
          <p:txBody>
            <a:bodyPr wrap="none" rtlCol="0">
              <a:spAutoFit/>
            </a:bodyPr>
            <a:lstStyle/>
            <a:p>
              <a:r>
                <a:rPr lang="en-US" dirty="0"/>
                <a:t>V</a:t>
              </a:r>
              <a:r>
                <a:rPr lang="en-US" baseline="-25000" dirty="0"/>
                <a:t>0</a:t>
              </a:r>
            </a:p>
          </p:txBody>
        </p:sp>
        <p:sp>
          <p:nvSpPr>
            <p:cNvPr id="26" name="TextBox 25">
              <a:extLst>
                <a:ext uri="{FF2B5EF4-FFF2-40B4-BE49-F238E27FC236}">
                  <a16:creationId xmlns:a16="http://schemas.microsoft.com/office/drawing/2014/main" id="{A9EB3907-3631-2E0D-0016-70493B4F97A2}"/>
                </a:ext>
              </a:extLst>
            </p:cNvPr>
            <p:cNvSpPr txBox="1"/>
            <p:nvPr/>
          </p:nvSpPr>
          <p:spPr>
            <a:xfrm>
              <a:off x="9148337" y="5197053"/>
              <a:ext cx="2354652" cy="338554"/>
            </a:xfrm>
            <a:prstGeom prst="rect">
              <a:avLst/>
            </a:prstGeom>
            <a:noFill/>
          </p:spPr>
          <p:txBody>
            <a:bodyPr wrap="square" rtlCol="0">
              <a:spAutoFit/>
            </a:bodyPr>
            <a:lstStyle/>
            <a:p>
              <a:r>
                <a:rPr lang="en-US" sz="1600" dirty="0"/>
                <a:t>Receiving Antenna</a:t>
              </a:r>
            </a:p>
          </p:txBody>
        </p:sp>
      </p:grpSp>
    </p:spTree>
    <p:extLst>
      <p:ext uri="{BB962C8B-B14F-4D97-AF65-F5344CB8AC3E}">
        <p14:creationId xmlns:p14="http://schemas.microsoft.com/office/powerpoint/2010/main" val="31385239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332509" y="209492"/>
            <a:ext cx="11649694"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Transmitting Antennas</a:t>
            </a:r>
            <a:endParaRPr sz="44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528266" y="1874069"/>
                <a:ext cx="9358952" cy="408499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defTabSz="457200" hangingPunct="0"/>
                <a:endParaRPr lang="en-US" sz="2000" dirty="0">
                  <a:solidFill>
                    <a:srgbClr val="000000"/>
                  </a:solidFill>
                  <a:ea typeface="Calibri"/>
                  <a:cs typeface="Calibri"/>
                  <a:sym typeface="Calibri"/>
                </a:endParaRPr>
              </a:p>
              <a:p>
                <a:pPr marL="285750" indent="-285750" defTabSz="457200" hangingPunct="0">
                  <a:buFont typeface="Arial" panose="020B0604020202020204" pitchFamily="34" charset="0"/>
                  <a:buChar char="•"/>
                </a:pPr>
                <a:r>
                  <a:rPr lang="en-US" sz="2000" dirty="0">
                    <a:solidFill>
                      <a:srgbClr val="000000"/>
                    </a:solidFill>
                  </a:rPr>
                  <a:t>Power density for isotropic antenna: </a:t>
                </a: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𝑆</m:t>
                        </m:r>
                      </m:e>
                      <m:sub>
                        <m:r>
                          <a:rPr lang="en-US" sz="2000" i="1">
                            <a:solidFill>
                              <a:srgbClr val="000000"/>
                            </a:solidFill>
                            <a:latin typeface="Cambria Math" panose="02040503050406030204" pitchFamily="18" charset="0"/>
                          </a:rPr>
                          <m:t>𝑖</m:t>
                        </m:r>
                      </m:sub>
                    </m:sSub>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𝑃</m:t>
                            </m:r>
                          </m:e>
                          <m:sub>
                            <m:r>
                              <a:rPr lang="en-US" sz="2000" i="1">
                                <a:solidFill>
                                  <a:srgbClr val="000000"/>
                                </a:solidFill>
                                <a:latin typeface="Cambria Math" panose="02040503050406030204" pitchFamily="18" charset="0"/>
                              </a:rPr>
                              <m:t>𝑡</m:t>
                            </m:r>
                          </m:sub>
                        </m:sSub>
                      </m:num>
                      <m:den>
                        <m:r>
                          <a:rPr lang="en-US" sz="2000" i="1">
                            <a:solidFill>
                              <a:srgbClr val="000000"/>
                            </a:solidFill>
                            <a:latin typeface="Cambria Math" panose="02040503050406030204" pitchFamily="18" charset="0"/>
                          </a:rPr>
                          <m:t>4</m:t>
                        </m:r>
                        <m:r>
                          <a:rPr lang="en-US" sz="2000" i="1">
                            <a:solidFill>
                              <a:srgbClr val="000000"/>
                            </a:solidFill>
                            <a:latin typeface="Cambria Math" panose="02040503050406030204" pitchFamily="18" charset="0"/>
                            <a:ea typeface="Cambria Math" panose="02040503050406030204" pitchFamily="18" charset="0"/>
                          </a:rPr>
                          <m:t>𝜋</m:t>
                        </m:r>
                        <m:sSup>
                          <m:sSupPr>
                            <m:ctrlPr>
                              <a:rPr lang="en-US" sz="2000" i="1">
                                <a:solidFill>
                                  <a:srgbClr val="000000"/>
                                </a:solidFill>
                                <a:latin typeface="Cambria Math" panose="02040503050406030204" pitchFamily="18" charset="0"/>
                                <a:ea typeface="Cambria Math" panose="02040503050406030204" pitchFamily="18" charset="0"/>
                              </a:rPr>
                            </m:ctrlPr>
                          </m:sSupPr>
                          <m:e>
                            <m:r>
                              <a:rPr lang="en-US" sz="2000" i="1">
                                <a:solidFill>
                                  <a:srgbClr val="000000"/>
                                </a:solidFill>
                                <a:latin typeface="Cambria Math" panose="02040503050406030204" pitchFamily="18" charset="0"/>
                                <a:ea typeface="Cambria Math" panose="02040503050406030204" pitchFamily="18" charset="0"/>
                              </a:rPr>
                              <m:t>𝑟</m:t>
                            </m:r>
                          </m:e>
                          <m:sup>
                            <m:r>
                              <a:rPr lang="en-US" sz="2000" i="1">
                                <a:solidFill>
                                  <a:srgbClr val="000000"/>
                                </a:solidFill>
                                <a:latin typeface="Cambria Math" panose="02040503050406030204" pitchFamily="18" charset="0"/>
                                <a:ea typeface="Cambria Math" panose="02040503050406030204" pitchFamily="18" charset="0"/>
                              </a:rPr>
                              <m:t>2</m:t>
                            </m:r>
                          </m:sup>
                        </m:sSup>
                      </m:den>
                    </m:f>
                  </m:oMath>
                </a14:m>
                <a:endParaRPr lang="en-US" sz="2000" dirty="0">
                  <a:solidFill>
                    <a:srgbClr val="000000"/>
                  </a:solidFill>
                  <a:ea typeface="Calibri"/>
                  <a:cs typeface="Calibri"/>
                  <a:sym typeface="Calibri"/>
                </a:endParaRPr>
              </a:p>
              <a:p>
                <a:pPr marL="285750" indent="-285750" hangingPunct="0">
                  <a:buFont typeface="Arial" panose="020B0604020202020204" pitchFamily="34" charset="0"/>
                  <a:buChar char="•"/>
                </a:pPr>
                <a:r>
                  <a:rPr lang="en-US" sz="2000" dirty="0">
                    <a:solidFill>
                      <a:srgbClr val="000000"/>
                    </a:solidFill>
                    <a:ea typeface="Calibri"/>
                    <a:cs typeface="Calibri"/>
                    <a:sym typeface="Calibri"/>
                  </a:rPr>
                  <a:t>Define </a:t>
                </a:r>
                <a14:m>
                  <m:oMath xmlns:m="http://schemas.openxmlformats.org/officeDocument/2006/math">
                    <m:r>
                      <a:rPr lang="en-US" sz="2000" i="1">
                        <a:solidFill>
                          <a:srgbClr val="000000"/>
                        </a:solidFill>
                        <a:latin typeface="Cambria Math" panose="02040503050406030204" pitchFamily="18" charset="0"/>
                        <a:ea typeface="Calibri"/>
                        <a:cs typeface="Calibri"/>
                        <a:sym typeface="Calibri"/>
                      </a:rPr>
                      <m:t>𝐺</m:t>
                    </m:r>
                    <m:d>
                      <m:dPr>
                        <m:ctrlPr>
                          <a:rPr lang="en-US" sz="2000" i="1">
                            <a:solidFill>
                              <a:srgbClr val="000000"/>
                            </a:solidFill>
                            <a:latin typeface="Cambria Math" panose="02040503050406030204" pitchFamily="18" charset="0"/>
                            <a:ea typeface="Cambria Math" panose="02040503050406030204" pitchFamily="18" charset="0"/>
                            <a:sym typeface="Calibri"/>
                          </a:rPr>
                        </m:ctrlPr>
                      </m:dPr>
                      <m:e>
                        <m:r>
                          <a:rPr lang="en-US" sz="2000" i="1">
                            <a:solidFill>
                              <a:srgbClr val="000000"/>
                            </a:solidFill>
                            <a:latin typeface="Cambria Math" panose="02040503050406030204" pitchFamily="18" charset="0"/>
                            <a:ea typeface="Cambria Math" panose="02040503050406030204" pitchFamily="18" charset="0"/>
                            <a:sym typeface="Calibri"/>
                          </a:rPr>
                          <m:t>𝜃</m:t>
                        </m:r>
                        <m:r>
                          <a:rPr lang="en-US" sz="2000" i="1">
                            <a:solidFill>
                              <a:srgbClr val="000000"/>
                            </a:solidFill>
                            <a:latin typeface="Cambria Math" panose="02040503050406030204" pitchFamily="18" charset="0"/>
                            <a:ea typeface="Cambria Math" panose="02040503050406030204" pitchFamily="18" charset="0"/>
                            <a:sym typeface="Calibri"/>
                          </a:rPr>
                          <m:t>,</m:t>
                        </m:r>
                        <m:r>
                          <a:rPr lang="en-US" sz="2000" i="1">
                            <a:solidFill>
                              <a:srgbClr val="000000"/>
                            </a:solidFill>
                            <a:latin typeface="Cambria Math" panose="02040503050406030204" pitchFamily="18" charset="0"/>
                            <a:ea typeface="Cambria Math" panose="02040503050406030204" pitchFamily="18" charset="0"/>
                            <a:sym typeface="Calibri"/>
                          </a:rPr>
                          <m:t>𝜙</m:t>
                        </m:r>
                      </m:e>
                    </m:d>
                    <m:r>
                      <a:rPr lang="en-US" sz="2000" i="1">
                        <a:solidFill>
                          <a:srgbClr val="000000"/>
                        </a:solidFill>
                        <a:latin typeface="Cambria Math" panose="02040503050406030204" pitchFamily="18" charset="0"/>
                        <a:ea typeface="Cambria Math" panose="02040503050406030204" pitchFamily="18" charset="0"/>
                        <a:sym typeface="Calibri"/>
                      </a:rPr>
                      <m:t>= </m:t>
                    </m:r>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r>
                          <a:rPr lang="en-US" sz="2000" i="1">
                            <a:solidFill>
                              <a:srgbClr val="000000"/>
                            </a:solidFill>
                            <a:latin typeface="Cambria Math" panose="02040503050406030204" pitchFamily="18" charset="0"/>
                            <a:ea typeface="Cambria Math" panose="02040503050406030204" pitchFamily="18" charset="0"/>
                            <a:sym typeface="Calibri"/>
                          </a:rPr>
                          <m:t>𝑆</m:t>
                        </m:r>
                        <m:r>
                          <a:rPr lang="en-US" sz="2000" i="1">
                            <a:solidFill>
                              <a:srgbClr val="000000"/>
                            </a:solidFill>
                            <a:latin typeface="Cambria Math" panose="02040503050406030204" pitchFamily="18" charset="0"/>
                            <a:ea typeface="Cambria Math" panose="02040503050406030204" pitchFamily="18" charset="0"/>
                            <a:sym typeface="Calibri"/>
                          </a:rPr>
                          <m:t>(</m:t>
                        </m:r>
                        <m:r>
                          <a:rPr lang="en-US" sz="2000" i="1">
                            <a:solidFill>
                              <a:srgbClr val="000000"/>
                            </a:solidFill>
                            <a:latin typeface="Cambria Math" panose="02040503050406030204" pitchFamily="18" charset="0"/>
                            <a:ea typeface="Cambria Math" panose="02040503050406030204" pitchFamily="18" charset="0"/>
                            <a:sym typeface="Calibri"/>
                          </a:rPr>
                          <m:t>𝜃</m:t>
                        </m:r>
                        <m:r>
                          <a:rPr lang="en-US" sz="2000" i="1">
                            <a:solidFill>
                              <a:srgbClr val="000000"/>
                            </a:solidFill>
                            <a:latin typeface="Cambria Math" panose="02040503050406030204" pitchFamily="18" charset="0"/>
                            <a:ea typeface="Cambria Math" panose="02040503050406030204" pitchFamily="18" charset="0"/>
                            <a:sym typeface="Calibri"/>
                          </a:rPr>
                          <m:t>,</m:t>
                        </m:r>
                        <m:r>
                          <a:rPr lang="en-US" sz="2000" i="1">
                            <a:solidFill>
                              <a:srgbClr val="000000"/>
                            </a:solidFill>
                            <a:latin typeface="Cambria Math" panose="02040503050406030204" pitchFamily="18" charset="0"/>
                            <a:ea typeface="Cambria Math" panose="02040503050406030204" pitchFamily="18" charset="0"/>
                            <a:sym typeface="Calibri"/>
                          </a:rPr>
                          <m:t>𝜙</m:t>
                        </m:r>
                        <m:r>
                          <a:rPr lang="en-US" sz="2000" i="1">
                            <a:solidFill>
                              <a:srgbClr val="000000"/>
                            </a:solidFill>
                            <a:latin typeface="Cambria Math" panose="02040503050406030204" pitchFamily="18" charset="0"/>
                            <a:ea typeface="Cambria Math" panose="02040503050406030204" pitchFamily="18" charset="0"/>
                            <a:sym typeface="Calibri"/>
                          </a:rPr>
                          <m:t>)</m:t>
                        </m:r>
                      </m:num>
                      <m:den>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𝑆</m:t>
                            </m:r>
                          </m:e>
                          <m:sub>
                            <m:r>
                              <a:rPr lang="en-US" sz="2000" b="0" i="1" smtClean="0">
                                <a:solidFill>
                                  <a:srgbClr val="000000"/>
                                </a:solidFill>
                                <a:latin typeface="Cambria Math" panose="02040503050406030204" pitchFamily="18" charset="0"/>
                                <a:ea typeface="Cambria Math" panose="02040503050406030204" pitchFamily="18" charset="0"/>
                                <a:sym typeface="Calibri"/>
                              </a:rPr>
                              <m:t>𝑖</m:t>
                            </m:r>
                          </m:sub>
                        </m:sSub>
                      </m:den>
                    </m:f>
                  </m:oMath>
                </a14:m>
                <a:r>
                  <a:rPr lang="en-US" sz="2000" dirty="0">
                    <a:solidFill>
                      <a:srgbClr val="000000"/>
                    </a:solidFill>
                    <a:ea typeface="Calibri"/>
                    <a:cs typeface="Calibri"/>
                    <a:sym typeface="Calibri"/>
                  </a:rPr>
                  <a:t>, </a:t>
                </a:r>
                <a14:m>
                  <m:oMath xmlns:m="http://schemas.openxmlformats.org/officeDocument/2006/math">
                    <m:r>
                      <a:rPr lang="en-US" sz="2000" i="1">
                        <a:solidFill>
                          <a:srgbClr val="000000"/>
                        </a:solidFill>
                        <a:latin typeface="Cambria Math" panose="02040503050406030204" pitchFamily="18" charset="0"/>
                        <a:ea typeface="Calibri"/>
                        <a:cs typeface="Calibri"/>
                        <a:sym typeface="Calibri"/>
                      </a:rPr>
                      <m:t>𝑆</m:t>
                    </m:r>
                    <m:d>
                      <m:dPr>
                        <m:ctrlPr>
                          <a:rPr lang="en-US" sz="2000" i="1">
                            <a:solidFill>
                              <a:srgbClr val="000000"/>
                            </a:solidFill>
                            <a:latin typeface="Cambria Math" panose="02040503050406030204" pitchFamily="18" charset="0"/>
                            <a:ea typeface="Cambria Math" panose="02040503050406030204" pitchFamily="18" charset="0"/>
                            <a:sym typeface="Calibri"/>
                          </a:rPr>
                        </m:ctrlPr>
                      </m:dPr>
                      <m:e>
                        <m:r>
                          <a:rPr lang="en-US" sz="2000" i="1">
                            <a:solidFill>
                              <a:srgbClr val="000000"/>
                            </a:solidFill>
                            <a:latin typeface="Cambria Math" panose="02040503050406030204" pitchFamily="18" charset="0"/>
                            <a:ea typeface="Cambria Math" panose="02040503050406030204" pitchFamily="18" charset="0"/>
                            <a:sym typeface="Calibri"/>
                          </a:rPr>
                          <m:t>𝜃</m:t>
                        </m:r>
                        <m:r>
                          <a:rPr lang="en-US" sz="2000" i="1">
                            <a:solidFill>
                              <a:srgbClr val="000000"/>
                            </a:solidFill>
                            <a:latin typeface="Cambria Math" panose="02040503050406030204" pitchFamily="18" charset="0"/>
                            <a:ea typeface="Cambria Math" panose="02040503050406030204" pitchFamily="18" charset="0"/>
                            <a:sym typeface="Calibri"/>
                          </a:rPr>
                          <m:t>,</m:t>
                        </m:r>
                        <m:r>
                          <a:rPr lang="en-US" sz="2000" i="1">
                            <a:solidFill>
                              <a:srgbClr val="000000"/>
                            </a:solidFill>
                            <a:latin typeface="Cambria Math" panose="02040503050406030204" pitchFamily="18" charset="0"/>
                            <a:ea typeface="Cambria Math" panose="02040503050406030204" pitchFamily="18" charset="0"/>
                            <a:sym typeface="Calibri"/>
                          </a:rPr>
                          <m:t>𝜙</m:t>
                        </m:r>
                      </m:e>
                    </m:d>
                  </m:oMath>
                </a14:m>
                <a:r>
                  <a:rPr lang="en-US" sz="2000" dirty="0">
                    <a:solidFill>
                      <a:srgbClr val="000000"/>
                    </a:solidFill>
                    <a:ea typeface="Calibri"/>
                    <a:cs typeface="Calibri"/>
                    <a:sym typeface="Calibri"/>
                  </a:rPr>
                  <a:t> is the Poynting vector.</a:t>
                </a:r>
                <a:endParaRPr lang="en-US" sz="2000" dirty="0">
                  <a:solidFill>
                    <a:srgbClr val="000000"/>
                  </a:solidFill>
                  <a:ea typeface="Cambria Math" panose="02040503050406030204" pitchFamily="18" charset="0"/>
                </a:endParaRPr>
              </a:p>
              <a:p>
                <a:pPr marL="285750" indent="-285750" defTabSz="457200" latinLnBrk="1" hangingPunct="0">
                  <a:buFont typeface="Arial" panose="020B0604020202020204" pitchFamily="34" charset="0"/>
                  <a:buChar char="•"/>
                </a:pPr>
                <a14:m>
                  <m:oMath xmlns:m="http://schemas.openxmlformats.org/officeDocument/2006/math">
                    <m:r>
                      <a:rPr lang="en-US" sz="2000" i="1">
                        <a:solidFill>
                          <a:srgbClr val="000000"/>
                        </a:solidFill>
                        <a:latin typeface="Cambria Math" panose="02040503050406030204" pitchFamily="18" charset="0"/>
                      </a:rPr>
                      <m:t>𝐺</m:t>
                    </m:r>
                    <m:d>
                      <m:dPr>
                        <m:ctrlPr>
                          <a:rPr lang="en-US" sz="2000" i="1">
                            <a:solidFill>
                              <a:srgbClr val="000000"/>
                            </a:solidFill>
                            <a:latin typeface="Cambria Math" panose="02040503050406030204" pitchFamily="18" charset="0"/>
                            <a:ea typeface="Cambria Math" panose="02040503050406030204" pitchFamily="18" charset="0"/>
                            <a:sym typeface="Calibri"/>
                          </a:rPr>
                        </m:ctrlPr>
                      </m:dPr>
                      <m:e>
                        <m:r>
                          <a:rPr lang="en-US" sz="2000" i="1">
                            <a:solidFill>
                              <a:srgbClr val="000000"/>
                            </a:solidFill>
                            <a:latin typeface="Cambria Math" panose="02040503050406030204" pitchFamily="18" charset="0"/>
                            <a:ea typeface="Cambria Math" panose="02040503050406030204" pitchFamily="18" charset="0"/>
                            <a:sym typeface="Calibri"/>
                          </a:rPr>
                          <m:t>𝜃</m:t>
                        </m:r>
                        <m:r>
                          <a:rPr lang="en-US" sz="2000" i="1">
                            <a:solidFill>
                              <a:srgbClr val="000000"/>
                            </a:solidFill>
                            <a:latin typeface="Cambria Math" panose="02040503050406030204" pitchFamily="18" charset="0"/>
                            <a:ea typeface="Cambria Math" panose="02040503050406030204" pitchFamily="18" charset="0"/>
                            <a:sym typeface="Calibri"/>
                          </a:rPr>
                          <m:t>,</m:t>
                        </m:r>
                        <m:r>
                          <a:rPr lang="en-US" sz="2000" i="1">
                            <a:solidFill>
                              <a:srgbClr val="000000"/>
                            </a:solidFill>
                            <a:latin typeface="Cambria Math" panose="02040503050406030204" pitchFamily="18" charset="0"/>
                            <a:ea typeface="Cambria Math" panose="02040503050406030204" pitchFamily="18" charset="0"/>
                            <a:sym typeface="Calibri"/>
                          </a:rPr>
                          <m:t>𝜙</m:t>
                        </m:r>
                      </m:e>
                    </m:d>
                    <m:r>
                      <a:rPr lang="en-US" sz="2000" i="1" smtClean="0">
                        <a:solidFill>
                          <a:srgbClr val="000000"/>
                        </a:solidFill>
                        <a:latin typeface="Cambria Math" panose="02040503050406030204" pitchFamily="18" charset="0"/>
                        <a:ea typeface="Cambria Math" panose="02040503050406030204" pitchFamily="18" charset="0"/>
                      </a:rPr>
                      <m:t>≡</m:t>
                    </m:r>
                    <m:f>
                      <m:fPr>
                        <m:ctrlPr>
                          <a:rPr lang="en-US" sz="2000" b="0" i="1" smtClean="0">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rPr>
                          <m:t>𝑆</m:t>
                        </m:r>
                        <m:d>
                          <m:dPr>
                            <m:ctrlPr>
                              <a:rPr lang="en-US" sz="2000" i="1">
                                <a:solidFill>
                                  <a:srgbClr val="000000"/>
                                </a:solidFill>
                                <a:latin typeface="Cambria Math" panose="02040503050406030204" pitchFamily="18" charset="0"/>
                                <a:ea typeface="Cambria Math" panose="02040503050406030204" pitchFamily="18" charset="0"/>
                                <a:sym typeface="Calibri"/>
                              </a:rPr>
                            </m:ctrlPr>
                          </m:dPr>
                          <m:e>
                            <m:r>
                              <a:rPr lang="en-US" sz="2000" i="1">
                                <a:solidFill>
                                  <a:srgbClr val="000000"/>
                                </a:solidFill>
                                <a:latin typeface="Cambria Math" panose="02040503050406030204" pitchFamily="18" charset="0"/>
                                <a:ea typeface="Cambria Math" panose="02040503050406030204" pitchFamily="18" charset="0"/>
                                <a:sym typeface="Calibri"/>
                              </a:rPr>
                              <m:t>𝜃</m:t>
                            </m:r>
                            <m:r>
                              <a:rPr lang="en-US" sz="2000" i="1">
                                <a:solidFill>
                                  <a:srgbClr val="000000"/>
                                </a:solidFill>
                                <a:latin typeface="Cambria Math" panose="02040503050406030204" pitchFamily="18" charset="0"/>
                                <a:ea typeface="Cambria Math" panose="02040503050406030204" pitchFamily="18" charset="0"/>
                                <a:sym typeface="Calibri"/>
                              </a:rPr>
                              <m:t>,</m:t>
                            </m:r>
                            <m:r>
                              <a:rPr lang="en-US" sz="2000" i="1">
                                <a:solidFill>
                                  <a:srgbClr val="000000"/>
                                </a:solidFill>
                                <a:latin typeface="Cambria Math" panose="02040503050406030204" pitchFamily="18" charset="0"/>
                                <a:ea typeface="Cambria Math" panose="02040503050406030204" pitchFamily="18" charset="0"/>
                                <a:sym typeface="Calibri"/>
                              </a:rPr>
                              <m:t>𝜙</m:t>
                            </m:r>
                          </m:e>
                        </m:d>
                      </m:num>
                      <m:den>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𝑆</m:t>
                            </m:r>
                          </m:e>
                          <m:sub>
                            <m:r>
                              <a:rPr lang="en-US" sz="2000" b="0" i="1" smtClean="0">
                                <a:solidFill>
                                  <a:srgbClr val="000000"/>
                                </a:solidFill>
                                <a:latin typeface="Cambria Math" panose="02040503050406030204" pitchFamily="18" charset="0"/>
                              </a:rPr>
                              <m:t>𝑖</m:t>
                            </m:r>
                          </m:sub>
                        </m:sSub>
                      </m:den>
                    </m:f>
                    <m:r>
                      <a:rPr lang="en-US" sz="2000" b="0" i="1" smtClean="0">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4</m:t>
                        </m:r>
                        <m:r>
                          <a:rPr lang="en-US" sz="2000" i="1">
                            <a:solidFill>
                              <a:srgbClr val="000000"/>
                            </a:solidFill>
                            <a:latin typeface="Cambria Math" panose="02040503050406030204" pitchFamily="18" charset="0"/>
                            <a:ea typeface="Cambria Math" panose="02040503050406030204" pitchFamily="18" charset="0"/>
                          </a:rPr>
                          <m:t>𝜋</m:t>
                        </m:r>
                        <m:sSup>
                          <m:sSupPr>
                            <m:ctrlPr>
                              <a:rPr lang="en-US" sz="2000" i="1">
                                <a:solidFill>
                                  <a:srgbClr val="000000"/>
                                </a:solidFill>
                                <a:latin typeface="Cambria Math" panose="02040503050406030204" pitchFamily="18" charset="0"/>
                                <a:ea typeface="Cambria Math" panose="02040503050406030204" pitchFamily="18" charset="0"/>
                              </a:rPr>
                            </m:ctrlPr>
                          </m:sSupPr>
                          <m:e>
                            <m:r>
                              <a:rPr lang="en-US" sz="2000" i="1">
                                <a:solidFill>
                                  <a:srgbClr val="000000"/>
                                </a:solidFill>
                                <a:latin typeface="Cambria Math" panose="02040503050406030204" pitchFamily="18" charset="0"/>
                                <a:ea typeface="Cambria Math" panose="02040503050406030204" pitchFamily="18" charset="0"/>
                              </a:rPr>
                              <m:t>𝑟</m:t>
                            </m:r>
                          </m:e>
                          <m:sup>
                            <m:r>
                              <a:rPr lang="en-US" sz="2000" i="1">
                                <a:solidFill>
                                  <a:srgbClr val="000000"/>
                                </a:solidFill>
                                <a:latin typeface="Cambria Math" panose="02040503050406030204" pitchFamily="18" charset="0"/>
                                <a:ea typeface="Cambria Math" panose="02040503050406030204" pitchFamily="18" charset="0"/>
                              </a:rPr>
                              <m:t>2</m:t>
                            </m:r>
                          </m:sup>
                        </m:sSup>
                        <m:r>
                          <a:rPr lang="en-US" sz="2000" i="1">
                            <a:solidFill>
                              <a:srgbClr val="000000"/>
                            </a:solidFill>
                            <a:latin typeface="Cambria Math" panose="02040503050406030204" pitchFamily="18" charset="0"/>
                            <a:ea typeface="Cambria Math" panose="02040503050406030204" pitchFamily="18" charset="0"/>
                          </a:rPr>
                          <m:t>𝑆</m:t>
                        </m:r>
                      </m:num>
                      <m:den>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𝑃</m:t>
                            </m:r>
                          </m:e>
                          <m:sub>
                            <m:r>
                              <a:rPr lang="en-US" sz="2000" i="1">
                                <a:solidFill>
                                  <a:srgbClr val="000000"/>
                                </a:solidFill>
                                <a:latin typeface="Cambria Math" panose="02040503050406030204" pitchFamily="18" charset="0"/>
                              </a:rPr>
                              <m:t>𝑡</m:t>
                            </m:r>
                          </m:sub>
                        </m:sSub>
                      </m:den>
                    </m:f>
                  </m:oMath>
                </a14:m>
                <a:r>
                  <a:rPr lang="en-US" sz="2000" dirty="0">
                    <a:solidFill>
                      <a:srgbClr val="000000"/>
                    </a:solidFill>
                    <a:ea typeface="Calibri"/>
                    <a:cs typeface="Calibri"/>
                    <a:sym typeface="Calibri"/>
                  </a:rPr>
                  <a:t>.  </a:t>
                </a:r>
              </a:p>
              <a:p>
                <a:pPr marL="285750" indent="-285750" defTabSz="457200" latinLnBrk="1" hangingPunct="0">
                  <a:buFont typeface="Arial" panose="020B0604020202020204" pitchFamily="34" charset="0"/>
                  <a:buChar char="•"/>
                </a:pPr>
                <a:r>
                  <a:rPr lang="en-US" sz="2000" dirty="0">
                    <a:solidFill>
                      <a:srgbClr val="000000"/>
                    </a:solidFill>
                    <a:ea typeface="Calibri"/>
                    <a:cs typeface="Calibri"/>
                    <a:sym typeface="Calibri"/>
                  </a:rPr>
                  <a:t>Since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𝑆</m:t>
                        </m:r>
                      </m:e>
                      <m:sub>
                        <m:r>
                          <m:rPr>
                            <m:sty m:val="p"/>
                          </m:rPr>
                          <a:rPr lang="el-GR" sz="2000" i="1" smtClean="0">
                            <a:solidFill>
                              <a:srgbClr val="000000"/>
                            </a:solidFill>
                            <a:latin typeface="Cambria Math" panose="02040503050406030204" pitchFamily="18" charset="0"/>
                            <a:ea typeface="Cambria Math" panose="02040503050406030204" pitchFamily="18" charset="0"/>
                            <a:cs typeface="Calibri"/>
                            <a:sym typeface="Calibri"/>
                          </a:rPr>
                          <m:t>Ω</m:t>
                        </m:r>
                      </m:sub>
                    </m:sSub>
                    <m:d>
                      <m:dPr>
                        <m:ctrlPr>
                          <a:rPr lang="en-US" sz="2000" i="1">
                            <a:solidFill>
                              <a:srgbClr val="000000"/>
                            </a:solidFill>
                            <a:latin typeface="Cambria Math" panose="02040503050406030204" pitchFamily="18" charset="0"/>
                            <a:ea typeface="Cambria Math" panose="02040503050406030204" pitchFamily="18" charset="0"/>
                            <a:sym typeface="Calibri"/>
                          </a:rPr>
                        </m:ctrlPr>
                      </m:dPr>
                      <m:e>
                        <m:r>
                          <a:rPr lang="en-US" sz="2000" i="1">
                            <a:solidFill>
                              <a:srgbClr val="000000"/>
                            </a:solidFill>
                            <a:latin typeface="Cambria Math" panose="02040503050406030204" pitchFamily="18" charset="0"/>
                            <a:ea typeface="Cambria Math" panose="02040503050406030204" pitchFamily="18" charset="0"/>
                            <a:sym typeface="Calibri"/>
                          </a:rPr>
                          <m:t>𝜃</m:t>
                        </m:r>
                        <m:r>
                          <a:rPr lang="en-US" sz="2000" i="1">
                            <a:solidFill>
                              <a:srgbClr val="000000"/>
                            </a:solidFill>
                            <a:latin typeface="Cambria Math" panose="02040503050406030204" pitchFamily="18" charset="0"/>
                            <a:ea typeface="Cambria Math" panose="02040503050406030204" pitchFamily="18" charset="0"/>
                            <a:sym typeface="Calibri"/>
                          </a:rPr>
                          <m:t>,</m:t>
                        </m:r>
                        <m:r>
                          <a:rPr lang="en-US" sz="2000" i="1">
                            <a:solidFill>
                              <a:srgbClr val="000000"/>
                            </a:solidFill>
                            <a:latin typeface="Cambria Math" panose="02040503050406030204" pitchFamily="18" charset="0"/>
                            <a:ea typeface="Cambria Math" panose="02040503050406030204" pitchFamily="18" charset="0"/>
                            <a:sym typeface="Calibri"/>
                          </a:rPr>
                          <m:t>𝜙</m:t>
                        </m:r>
                      </m:e>
                    </m:d>
                    <m:r>
                      <a:rPr lang="en-US" sz="2000" b="0" i="1" smtClean="0">
                        <a:solidFill>
                          <a:srgbClr val="000000"/>
                        </a:solidFill>
                        <a:latin typeface="Cambria Math" panose="02040503050406030204" pitchFamily="18" charset="0"/>
                        <a:ea typeface="Cambria Math" panose="02040503050406030204" pitchFamily="18" charset="0"/>
                        <a:sym typeface="Calibri"/>
                      </a:rPr>
                      <m:t>=</m:t>
                    </m:r>
                    <m:sSup>
                      <m:sSup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pPr>
                      <m:e>
                        <m:r>
                          <a:rPr lang="en-US" sz="2000" b="0" i="1" smtClean="0">
                            <a:solidFill>
                              <a:srgbClr val="000000"/>
                            </a:solidFill>
                            <a:latin typeface="Cambria Math" panose="02040503050406030204" pitchFamily="18" charset="0"/>
                            <a:ea typeface="Cambria Math" panose="02040503050406030204" pitchFamily="18" charset="0"/>
                            <a:sym typeface="Calibri"/>
                          </a:rPr>
                          <m:t>𝑟</m:t>
                        </m:r>
                      </m:e>
                      <m:sup>
                        <m:r>
                          <a:rPr lang="en-US" sz="2000" b="0" i="1" smtClean="0">
                            <a:solidFill>
                              <a:srgbClr val="000000"/>
                            </a:solidFill>
                            <a:latin typeface="Cambria Math" panose="02040503050406030204" pitchFamily="18" charset="0"/>
                            <a:ea typeface="Cambria Math" panose="02040503050406030204" pitchFamily="18" charset="0"/>
                            <a:sym typeface="Calibri"/>
                          </a:rPr>
                          <m:t>2</m:t>
                        </m:r>
                      </m:sup>
                    </m:sSup>
                    <m:r>
                      <a:rPr lang="en-US" sz="2000" b="0" i="1" smtClean="0">
                        <a:solidFill>
                          <a:srgbClr val="000000"/>
                        </a:solidFill>
                        <a:latin typeface="Cambria Math" panose="02040503050406030204" pitchFamily="18" charset="0"/>
                        <a:cs typeface="Calibri"/>
                        <a:sym typeface="Calibri"/>
                      </a:rPr>
                      <m:t>𝑆</m:t>
                    </m:r>
                    <m:d>
                      <m:dPr>
                        <m:ctrlPr>
                          <a:rPr lang="en-US" sz="2000" i="1">
                            <a:solidFill>
                              <a:srgbClr val="000000"/>
                            </a:solidFill>
                            <a:latin typeface="Cambria Math" panose="02040503050406030204" pitchFamily="18" charset="0"/>
                            <a:ea typeface="Cambria Math" panose="02040503050406030204" pitchFamily="18" charset="0"/>
                            <a:sym typeface="Calibri"/>
                          </a:rPr>
                        </m:ctrlPr>
                      </m:dPr>
                      <m:e>
                        <m:r>
                          <a:rPr lang="en-US" sz="2000" i="1">
                            <a:solidFill>
                              <a:srgbClr val="000000"/>
                            </a:solidFill>
                            <a:latin typeface="Cambria Math" panose="02040503050406030204" pitchFamily="18" charset="0"/>
                            <a:ea typeface="Cambria Math" panose="02040503050406030204" pitchFamily="18" charset="0"/>
                            <a:sym typeface="Calibri"/>
                          </a:rPr>
                          <m:t>𝜃</m:t>
                        </m:r>
                        <m:r>
                          <a:rPr lang="en-US" sz="2000" i="1">
                            <a:solidFill>
                              <a:srgbClr val="000000"/>
                            </a:solidFill>
                            <a:latin typeface="Cambria Math" panose="02040503050406030204" pitchFamily="18" charset="0"/>
                            <a:ea typeface="Cambria Math" panose="02040503050406030204" pitchFamily="18" charset="0"/>
                            <a:sym typeface="Calibri"/>
                          </a:rPr>
                          <m:t>,</m:t>
                        </m:r>
                        <m:r>
                          <a:rPr lang="en-US" sz="2000" i="1">
                            <a:solidFill>
                              <a:srgbClr val="000000"/>
                            </a:solidFill>
                            <a:latin typeface="Cambria Math" panose="02040503050406030204" pitchFamily="18" charset="0"/>
                            <a:ea typeface="Cambria Math" panose="02040503050406030204" pitchFamily="18" charset="0"/>
                            <a:sym typeface="Calibri"/>
                          </a:rPr>
                          <m:t>𝜙</m:t>
                        </m:r>
                      </m:e>
                    </m:d>
                  </m:oMath>
                </a14:m>
                <a:endParaRPr lang="en-US" sz="2000" dirty="0">
                  <a:solidFill>
                    <a:srgbClr val="000000"/>
                  </a:solidFill>
                  <a:ea typeface="Cambria Math" panose="02040503050406030204" pitchFamily="18" charset="0"/>
                  <a:sym typeface="Calibri"/>
                </a:endParaRPr>
              </a:p>
              <a:p>
                <a:pPr marL="285750" indent="-285750" defTabSz="457200" latinLnBrk="1" hangingPunct="0">
                  <a:buFont typeface="Arial" panose="020B0604020202020204" pitchFamily="34" charset="0"/>
                  <a:buChar char="•"/>
                </a:pPr>
                <a14:m>
                  <m:oMath xmlns:m="http://schemas.openxmlformats.org/officeDocument/2006/math">
                    <m:nary>
                      <m:naryPr>
                        <m:limLoc m:val="undOvr"/>
                        <m:subHide m:val="on"/>
                        <m:supHide m:val="on"/>
                        <m:ctrlPr>
                          <a:rPr lang="en-US" sz="2000" i="1" smtClean="0">
                            <a:solidFill>
                              <a:srgbClr val="000000"/>
                            </a:solidFill>
                            <a:latin typeface="Cambria Math" panose="02040503050406030204" pitchFamily="18" charset="0"/>
                            <a:cs typeface="Calibri"/>
                            <a:sym typeface="Calibri"/>
                          </a:rPr>
                        </m:ctrlPr>
                      </m:naryPr>
                      <m:sub/>
                      <m:sup/>
                      <m:e>
                        <m:r>
                          <a:rPr lang="en-US" sz="2000" i="1">
                            <a:solidFill>
                              <a:srgbClr val="000000"/>
                            </a:solidFill>
                            <a:latin typeface="Cambria Math" panose="02040503050406030204" pitchFamily="18" charset="0"/>
                          </a:rPr>
                          <m:t>𝐺</m:t>
                        </m:r>
                        <m:d>
                          <m:dPr>
                            <m:ctrlPr>
                              <a:rPr lang="en-US" sz="2000" i="1">
                                <a:solidFill>
                                  <a:srgbClr val="000000"/>
                                </a:solidFill>
                                <a:latin typeface="Cambria Math" panose="02040503050406030204" pitchFamily="18" charset="0"/>
                                <a:ea typeface="Cambria Math" panose="02040503050406030204" pitchFamily="18" charset="0"/>
                                <a:sym typeface="Calibri"/>
                              </a:rPr>
                            </m:ctrlPr>
                          </m:dPr>
                          <m:e>
                            <m:r>
                              <a:rPr lang="en-US" sz="2000" i="1">
                                <a:solidFill>
                                  <a:srgbClr val="000000"/>
                                </a:solidFill>
                                <a:latin typeface="Cambria Math" panose="02040503050406030204" pitchFamily="18" charset="0"/>
                                <a:ea typeface="Cambria Math" panose="02040503050406030204" pitchFamily="18" charset="0"/>
                                <a:sym typeface="Calibri"/>
                              </a:rPr>
                              <m:t>𝜃</m:t>
                            </m:r>
                            <m:r>
                              <a:rPr lang="en-US" sz="2000" i="1">
                                <a:solidFill>
                                  <a:srgbClr val="000000"/>
                                </a:solidFill>
                                <a:latin typeface="Cambria Math" panose="02040503050406030204" pitchFamily="18" charset="0"/>
                                <a:ea typeface="Cambria Math" panose="02040503050406030204" pitchFamily="18" charset="0"/>
                                <a:sym typeface="Calibri"/>
                              </a:rPr>
                              <m:t>,</m:t>
                            </m:r>
                            <m:r>
                              <a:rPr lang="en-US" sz="2000" i="1">
                                <a:solidFill>
                                  <a:srgbClr val="000000"/>
                                </a:solidFill>
                                <a:latin typeface="Cambria Math" panose="02040503050406030204" pitchFamily="18" charset="0"/>
                                <a:ea typeface="Cambria Math" panose="02040503050406030204" pitchFamily="18" charset="0"/>
                                <a:sym typeface="Calibri"/>
                              </a:rPr>
                              <m:t>𝜙</m:t>
                            </m:r>
                          </m:e>
                        </m:d>
                        <m:r>
                          <a:rPr lang="en-US" sz="2000" b="0" i="1" smtClean="0">
                            <a:solidFill>
                              <a:srgbClr val="000000"/>
                            </a:solidFill>
                            <a:latin typeface="Cambria Math" panose="02040503050406030204" pitchFamily="18" charset="0"/>
                            <a:ea typeface="Cambria Math" panose="02040503050406030204" pitchFamily="18" charset="0"/>
                            <a:sym typeface="Calibri"/>
                          </a:rPr>
                          <m:t> </m:t>
                        </m:r>
                        <m:r>
                          <a:rPr lang="en-US" sz="2000" b="0" i="1" smtClean="0">
                            <a:solidFill>
                              <a:srgbClr val="000000"/>
                            </a:solidFill>
                            <a:latin typeface="Cambria Math" panose="02040503050406030204" pitchFamily="18" charset="0"/>
                            <a:cs typeface="Calibri"/>
                            <a:sym typeface="Calibri"/>
                          </a:rPr>
                          <m:t>𝑑</m:t>
                        </m:r>
                        <m:r>
                          <m:rPr>
                            <m:sty m:val="p"/>
                          </m:rPr>
                          <a:rPr lang="el-GR" sz="2000" b="0" i="1" smtClean="0">
                            <a:solidFill>
                              <a:srgbClr val="000000"/>
                            </a:solidFill>
                            <a:latin typeface="Cambria Math" panose="02040503050406030204" pitchFamily="18" charset="0"/>
                            <a:ea typeface="Cambria Math" panose="02040503050406030204" pitchFamily="18" charset="0"/>
                            <a:cs typeface="Calibri"/>
                            <a:sym typeface="Calibri"/>
                          </a:rPr>
                          <m:t>Ω</m:t>
                        </m:r>
                      </m:e>
                    </m:nary>
                    <m:r>
                      <a:rPr lang="en-US" sz="2000" b="0" i="1" smtClean="0">
                        <a:solidFill>
                          <a:srgbClr val="000000"/>
                        </a:solidFill>
                        <a:latin typeface="Cambria Math" panose="02040503050406030204" pitchFamily="18" charset="0"/>
                      </a:rPr>
                      <m:t>=</m:t>
                    </m:r>
                    <m:nary>
                      <m:naryPr>
                        <m:limLoc m:val="undOvr"/>
                        <m:subHide m:val="on"/>
                        <m:supHide m:val="on"/>
                        <m:ctrlPr>
                          <a:rPr lang="en-US" sz="2000" i="1">
                            <a:solidFill>
                              <a:srgbClr val="000000"/>
                            </a:solidFill>
                            <a:latin typeface="Cambria Math" panose="02040503050406030204" pitchFamily="18" charset="0"/>
                            <a:cs typeface="Calibri"/>
                            <a:sym typeface="Calibri"/>
                          </a:rPr>
                        </m:ctrlPr>
                      </m:naryPr>
                      <m:sub/>
                      <m:sup/>
                      <m:e>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4</m:t>
                            </m:r>
                            <m:r>
                              <a:rPr lang="en-US" sz="2000" i="1">
                                <a:solidFill>
                                  <a:srgbClr val="000000"/>
                                </a:solidFill>
                                <a:latin typeface="Cambria Math" panose="02040503050406030204" pitchFamily="18" charset="0"/>
                                <a:ea typeface="Cambria Math" panose="02040503050406030204" pitchFamily="18" charset="0"/>
                              </a:rPr>
                              <m:t>𝜋</m:t>
                            </m:r>
                            <m:sSup>
                              <m:sSupPr>
                                <m:ctrlPr>
                                  <a:rPr lang="en-US" sz="2000" i="1">
                                    <a:solidFill>
                                      <a:srgbClr val="000000"/>
                                    </a:solidFill>
                                    <a:latin typeface="Cambria Math" panose="02040503050406030204" pitchFamily="18" charset="0"/>
                                    <a:ea typeface="Cambria Math" panose="02040503050406030204" pitchFamily="18" charset="0"/>
                                  </a:rPr>
                                </m:ctrlPr>
                              </m:sSupPr>
                              <m:e>
                                <m:r>
                                  <a:rPr lang="en-US" sz="2000" i="1">
                                    <a:solidFill>
                                      <a:srgbClr val="000000"/>
                                    </a:solidFill>
                                    <a:latin typeface="Cambria Math" panose="02040503050406030204" pitchFamily="18" charset="0"/>
                                    <a:ea typeface="Cambria Math" panose="02040503050406030204" pitchFamily="18" charset="0"/>
                                  </a:rPr>
                                  <m:t>𝑟</m:t>
                                </m:r>
                              </m:e>
                              <m:sup>
                                <m:r>
                                  <a:rPr lang="en-US" sz="2000" i="1">
                                    <a:solidFill>
                                      <a:srgbClr val="000000"/>
                                    </a:solidFill>
                                    <a:latin typeface="Cambria Math" panose="02040503050406030204" pitchFamily="18" charset="0"/>
                                    <a:ea typeface="Cambria Math" panose="02040503050406030204" pitchFamily="18" charset="0"/>
                                  </a:rPr>
                                  <m:t>2</m:t>
                                </m:r>
                              </m:sup>
                            </m:sSup>
                            <m:r>
                              <a:rPr lang="en-US" sz="2000" i="1">
                                <a:solidFill>
                                  <a:srgbClr val="000000"/>
                                </a:solidFill>
                                <a:latin typeface="Cambria Math" panose="02040503050406030204" pitchFamily="18" charset="0"/>
                                <a:ea typeface="Cambria Math" panose="02040503050406030204" pitchFamily="18" charset="0"/>
                              </a:rPr>
                              <m:t>𝑆</m:t>
                            </m:r>
                          </m:num>
                          <m:den>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𝑃</m:t>
                                </m:r>
                              </m:e>
                              <m:sub>
                                <m:r>
                                  <a:rPr lang="en-US" sz="2000" i="1">
                                    <a:solidFill>
                                      <a:srgbClr val="000000"/>
                                    </a:solidFill>
                                    <a:latin typeface="Cambria Math" panose="02040503050406030204" pitchFamily="18" charset="0"/>
                                  </a:rPr>
                                  <m:t>𝑡</m:t>
                                </m:r>
                              </m:sub>
                            </m:sSub>
                          </m:den>
                        </m:f>
                        <m:r>
                          <a:rPr lang="en-US" sz="2000" i="1">
                            <a:solidFill>
                              <a:srgbClr val="000000"/>
                            </a:solidFill>
                            <a:latin typeface="Cambria Math" panose="02040503050406030204" pitchFamily="18" charset="0"/>
                            <a:cs typeface="Calibri"/>
                            <a:sym typeface="Calibri"/>
                          </a:rPr>
                          <m:t>𝑑</m:t>
                        </m:r>
                        <m:r>
                          <m:rPr>
                            <m:sty m:val="p"/>
                          </m:rPr>
                          <a:rPr lang="el-GR" sz="2000" i="1">
                            <a:solidFill>
                              <a:srgbClr val="000000"/>
                            </a:solidFill>
                            <a:latin typeface="Cambria Math" panose="02040503050406030204" pitchFamily="18" charset="0"/>
                            <a:ea typeface="Cambria Math" panose="02040503050406030204" pitchFamily="18" charset="0"/>
                            <a:cs typeface="Calibri"/>
                            <a:sym typeface="Calibri"/>
                          </a:rPr>
                          <m:t>Ω</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4</m:t>
                            </m:r>
                            <m:r>
                              <a:rPr lang="en-US" sz="2000" i="1">
                                <a:solidFill>
                                  <a:srgbClr val="000000"/>
                                </a:solidFill>
                                <a:latin typeface="Cambria Math" panose="02040503050406030204" pitchFamily="18" charset="0"/>
                                <a:ea typeface="Cambria Math" panose="02040503050406030204" pitchFamily="18" charset="0"/>
                              </a:rPr>
                              <m:t>𝜋</m:t>
                            </m:r>
                          </m:num>
                          <m:den>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𝑃</m:t>
                                </m:r>
                              </m:e>
                              <m:sub>
                                <m:r>
                                  <a:rPr lang="en-US" sz="2000" i="1">
                                    <a:solidFill>
                                      <a:srgbClr val="000000"/>
                                    </a:solidFill>
                                    <a:latin typeface="Cambria Math" panose="02040503050406030204" pitchFamily="18" charset="0"/>
                                  </a:rPr>
                                  <m:t>𝑡</m:t>
                                </m:r>
                              </m:sub>
                            </m:sSub>
                          </m:den>
                        </m:f>
                        <m:nary>
                          <m:naryPr>
                            <m:limLoc m:val="undOvr"/>
                            <m:subHide m:val="on"/>
                            <m:supHide m:val="on"/>
                            <m:ctrlPr>
                              <a:rPr lang="en-US" sz="2000" i="1">
                                <a:solidFill>
                                  <a:srgbClr val="000000"/>
                                </a:solidFill>
                                <a:latin typeface="Cambria Math" panose="02040503050406030204" pitchFamily="18" charset="0"/>
                                <a:cs typeface="Calibri"/>
                                <a:sym typeface="Calibri"/>
                              </a:rPr>
                            </m:ctrlPr>
                          </m:naryPr>
                          <m:sub/>
                          <m:sup/>
                          <m:e>
                            <m:sSup>
                              <m:sSupPr>
                                <m:ctrlPr>
                                  <a:rPr lang="en-US" sz="2000" b="0" i="1" smtClean="0">
                                    <a:solidFill>
                                      <a:srgbClr val="000000"/>
                                    </a:solidFill>
                                    <a:latin typeface="Cambria Math" panose="02040503050406030204" pitchFamily="18" charset="0"/>
                                    <a:cs typeface="Calibri"/>
                                    <a:sym typeface="Calibri"/>
                                  </a:rPr>
                                </m:ctrlPr>
                              </m:sSupPr>
                              <m:e>
                                <m:r>
                                  <a:rPr lang="en-US" sz="2000" b="0" i="1" smtClean="0">
                                    <a:solidFill>
                                      <a:srgbClr val="000000"/>
                                    </a:solidFill>
                                    <a:latin typeface="Cambria Math" panose="02040503050406030204" pitchFamily="18" charset="0"/>
                                    <a:cs typeface="Calibri"/>
                                    <a:sym typeface="Calibri"/>
                                  </a:rPr>
                                  <m:t>𝑟</m:t>
                                </m:r>
                              </m:e>
                              <m:sup>
                                <m:r>
                                  <a:rPr lang="en-US" sz="2000" b="0" i="1" smtClean="0">
                                    <a:solidFill>
                                      <a:srgbClr val="000000"/>
                                    </a:solidFill>
                                    <a:latin typeface="Cambria Math" panose="02040503050406030204" pitchFamily="18" charset="0"/>
                                    <a:cs typeface="Calibri"/>
                                    <a:sym typeface="Calibri"/>
                                  </a:rPr>
                                  <m:t>2</m:t>
                                </m:r>
                              </m:sup>
                            </m:sSup>
                            <m:r>
                              <a:rPr lang="en-US" sz="2000" b="0" i="1" smtClean="0">
                                <a:solidFill>
                                  <a:srgbClr val="000000"/>
                                </a:solidFill>
                                <a:latin typeface="Cambria Math" panose="02040503050406030204" pitchFamily="18" charset="0"/>
                                <a:cs typeface="Calibri"/>
                                <a:sym typeface="Calibri"/>
                              </a:rPr>
                              <m:t>𝑆</m:t>
                            </m:r>
                            <m:r>
                              <a:rPr lang="en-US" sz="2000" i="1">
                                <a:solidFill>
                                  <a:srgbClr val="000000"/>
                                </a:solidFill>
                                <a:latin typeface="Cambria Math" panose="02040503050406030204" pitchFamily="18" charset="0"/>
                                <a:cs typeface="Calibri"/>
                                <a:sym typeface="Calibri"/>
                              </a:rPr>
                              <m:t>𝑑</m:t>
                            </m:r>
                            <m:r>
                              <m:rPr>
                                <m:sty m:val="p"/>
                              </m:rPr>
                              <a:rPr lang="el-GR" sz="2000" i="1">
                                <a:solidFill>
                                  <a:srgbClr val="000000"/>
                                </a:solidFill>
                                <a:latin typeface="Cambria Math" panose="02040503050406030204" pitchFamily="18" charset="0"/>
                                <a:ea typeface="Cambria Math" panose="02040503050406030204" pitchFamily="18" charset="0"/>
                                <a:cs typeface="Calibri"/>
                                <a:sym typeface="Calibri"/>
                              </a:rPr>
                              <m:t>Ω</m:t>
                            </m:r>
                          </m:e>
                        </m:nary>
                      </m:e>
                    </m:nary>
                    <m:r>
                      <a:rPr lang="en-US" sz="2000" b="0" i="1" smtClean="0">
                        <a:solidFill>
                          <a:srgbClr val="000000"/>
                        </a:solidFill>
                        <a:latin typeface="Cambria Math" panose="02040503050406030204" pitchFamily="18" charset="0"/>
                        <a:cs typeface="Calibri"/>
                        <a:sym typeface="Calibri"/>
                      </a:rPr>
                      <m:t>=4</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𝜋</m:t>
                    </m:r>
                  </m:oMath>
                </a14:m>
                <a:endParaRPr lang="en-US" sz="2000" dirty="0">
                  <a:solidFill>
                    <a:srgbClr val="000000"/>
                  </a:solidFill>
                  <a:ea typeface="Calibri"/>
                  <a:cs typeface="Calibri"/>
                  <a:sym typeface="Calibri"/>
                </a:endParaRPr>
              </a:p>
              <a:p>
                <a:pPr hangingPunct="0"/>
                <a:endParaRPr lang="en-US" dirty="0">
                  <a:solidFill>
                    <a:srgbClr val="000000"/>
                  </a:solidFill>
                  <a:ea typeface="Calibri"/>
                  <a:cs typeface="Calibri"/>
                  <a:sym typeface="Calibri"/>
                </a:endParaRPr>
              </a:p>
              <a:p>
                <a:pPr algn="l" rtl="0" latinLnBrk="1" hangingPunct="0"/>
                <a:endParaRPr lang="en-US" dirty="0">
                  <a:solidFill>
                    <a:srgbClr val="000000"/>
                  </a:solidFill>
                  <a:latin typeface="Calibri"/>
                  <a:ea typeface="Calibri"/>
                  <a:cs typeface="Calibri"/>
                  <a:sym typeface="Calibri"/>
                </a:endParaRPr>
              </a:p>
              <a:p>
                <a:pPr algn="l" rtl="0" latinLnBrk="1" hangingPunct="0"/>
                <a:endParaRPr lang="en-US" dirty="0">
                  <a:solidFill>
                    <a:srgbClr val="000000"/>
                  </a:solidFill>
                  <a:latin typeface="Calibri"/>
                  <a:ea typeface="Calibri"/>
                  <a:cs typeface="Calibri"/>
                  <a:sym typeface="Calibri"/>
                </a:endParaRP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528266" y="1874069"/>
                <a:ext cx="9358952" cy="4084998"/>
              </a:xfrm>
              <a:prstGeom prst="rect">
                <a:avLst/>
              </a:prstGeom>
              <a:blipFill>
                <a:blip r:embed="rId3"/>
                <a:stretch>
                  <a:fillRect l="-2439"/>
                </a:stretch>
              </a:blipFill>
              <a:ln w="12700" cap="flat">
                <a:noFill/>
                <a:miter lim="400000"/>
              </a:ln>
              <a:effectLst/>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F3EED66A-56F2-494C-BB12-2E8BBB011DE2}"/>
              </a:ext>
            </a:extLst>
          </p:cNvPr>
          <p:cNvSpPr>
            <a:spLocks noGrp="1"/>
          </p:cNvSpPr>
          <p:nvPr>
            <p:ph type="sldNum" sz="quarter" idx="2"/>
          </p:nvPr>
        </p:nvSpPr>
        <p:spPr>
          <a:xfrm>
            <a:off x="9734402" y="6435932"/>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8</a:t>
            </a:fld>
            <a:endParaRPr lang="en-US" dirty="0">
              <a:solidFill>
                <a:schemeClr val="tx1"/>
              </a:solidFill>
            </a:endParaRPr>
          </a:p>
        </p:txBody>
      </p:sp>
      <p:grpSp>
        <p:nvGrpSpPr>
          <p:cNvPr id="13" name="Group 12">
            <a:extLst>
              <a:ext uri="{FF2B5EF4-FFF2-40B4-BE49-F238E27FC236}">
                <a16:creationId xmlns:a16="http://schemas.microsoft.com/office/drawing/2014/main" id="{BCBE84BD-22B6-AD4C-8B78-71EA18AA6151}"/>
              </a:ext>
            </a:extLst>
          </p:cNvPr>
          <p:cNvGrpSpPr/>
          <p:nvPr/>
        </p:nvGrpSpPr>
        <p:grpSpPr>
          <a:xfrm>
            <a:off x="9627551" y="2490609"/>
            <a:ext cx="2354652" cy="1876782"/>
            <a:chOff x="9700180" y="1388726"/>
            <a:chExt cx="2354652" cy="1876782"/>
          </a:xfrm>
        </p:grpSpPr>
        <p:sp>
          <p:nvSpPr>
            <p:cNvPr id="9" name="TextBox 8">
              <a:extLst>
                <a:ext uri="{FF2B5EF4-FFF2-40B4-BE49-F238E27FC236}">
                  <a16:creationId xmlns:a16="http://schemas.microsoft.com/office/drawing/2014/main" id="{CD090DD9-FCE8-E541-B38B-623975622518}"/>
                </a:ext>
              </a:extLst>
            </p:cNvPr>
            <p:cNvSpPr txBox="1"/>
            <p:nvPr/>
          </p:nvSpPr>
          <p:spPr>
            <a:xfrm>
              <a:off x="10378770" y="1388726"/>
              <a:ext cx="242374" cy="369332"/>
            </a:xfrm>
            <a:prstGeom prst="rect">
              <a:avLst/>
            </a:prstGeom>
            <a:noFill/>
          </p:spPr>
          <p:txBody>
            <a:bodyPr wrap="none" rtlCol="0">
              <a:spAutoFit/>
            </a:bodyPr>
            <a:lstStyle/>
            <a:p>
              <a:r>
                <a:rPr lang="en-US" dirty="0"/>
                <a:t>I</a:t>
              </a:r>
            </a:p>
          </p:txBody>
        </p:sp>
        <p:sp>
          <p:nvSpPr>
            <p:cNvPr id="5" name="Rectangle 4">
              <a:extLst>
                <a:ext uri="{FF2B5EF4-FFF2-40B4-BE49-F238E27FC236}">
                  <a16:creationId xmlns:a16="http://schemas.microsoft.com/office/drawing/2014/main" id="{FFA6E90F-0EF9-5E40-9E8D-5404154222DE}"/>
                </a:ext>
              </a:extLst>
            </p:cNvPr>
            <p:cNvSpPr/>
            <p:nvPr/>
          </p:nvSpPr>
          <p:spPr>
            <a:xfrm>
              <a:off x="10829584" y="2101049"/>
              <a:ext cx="245806" cy="513546"/>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2BCCE597-1B40-6B42-B3E5-85980209A274}"/>
                </a:ext>
              </a:extLst>
            </p:cNvPr>
            <p:cNvSpPr txBox="1"/>
            <p:nvPr/>
          </p:nvSpPr>
          <p:spPr>
            <a:xfrm>
              <a:off x="10800073" y="2167232"/>
              <a:ext cx="253557" cy="369332"/>
            </a:xfrm>
            <a:prstGeom prst="rect">
              <a:avLst/>
            </a:prstGeom>
            <a:noFill/>
          </p:spPr>
          <p:txBody>
            <a:bodyPr wrap="square" rtlCol="0">
              <a:spAutoFit/>
            </a:bodyPr>
            <a:lstStyle/>
            <a:p>
              <a:r>
                <a:rPr lang="en-US" dirty="0"/>
                <a:t>Z</a:t>
              </a:r>
            </a:p>
          </p:txBody>
        </p:sp>
        <p:cxnSp>
          <p:nvCxnSpPr>
            <p:cNvPr id="27" name="Straight Connector 26">
              <a:extLst>
                <a:ext uri="{FF2B5EF4-FFF2-40B4-BE49-F238E27FC236}">
                  <a16:creationId xmlns:a16="http://schemas.microsoft.com/office/drawing/2014/main" id="{57158C40-9BEA-8441-978B-A5953A3CB455}"/>
                </a:ext>
              </a:extLst>
            </p:cNvPr>
            <p:cNvCxnSpPr>
              <a:cxnSpLocks/>
            </p:cNvCxnSpPr>
            <p:nvPr/>
          </p:nvCxnSpPr>
          <p:spPr>
            <a:xfrm>
              <a:off x="10160991" y="1690366"/>
              <a:ext cx="78166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4D827B8-5AB6-4F40-ABA5-F4B69DD317F6}"/>
                </a:ext>
              </a:extLst>
            </p:cNvPr>
            <p:cNvCxnSpPr>
              <a:cxnSpLocks/>
            </p:cNvCxnSpPr>
            <p:nvPr/>
          </p:nvCxnSpPr>
          <p:spPr>
            <a:xfrm>
              <a:off x="10937723" y="1690366"/>
              <a:ext cx="0" cy="39820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6" name="Group 13">
              <a:extLst>
                <a:ext uri="{FF2B5EF4-FFF2-40B4-BE49-F238E27FC236}">
                  <a16:creationId xmlns:a16="http://schemas.microsoft.com/office/drawing/2014/main" id="{EFF53BFC-8CF9-2045-A6E3-9B65CB33CBDF}"/>
                </a:ext>
              </a:extLst>
            </p:cNvPr>
            <p:cNvGrpSpPr>
              <a:grpSpLocks noChangeAspect="1"/>
            </p:cNvGrpSpPr>
            <p:nvPr/>
          </p:nvGrpSpPr>
          <p:grpSpPr bwMode="auto">
            <a:xfrm>
              <a:off x="10126572" y="1619071"/>
              <a:ext cx="152400" cy="152400"/>
              <a:chOff x="1344" y="2064"/>
              <a:chExt cx="192" cy="192"/>
            </a:xfrm>
          </p:grpSpPr>
          <p:sp>
            <p:nvSpPr>
              <p:cNvPr id="47" name="Oval 14">
                <a:extLst>
                  <a:ext uri="{FF2B5EF4-FFF2-40B4-BE49-F238E27FC236}">
                    <a16:creationId xmlns:a16="http://schemas.microsoft.com/office/drawing/2014/main" id="{31259E37-5983-A840-B409-0C93076E2DCA}"/>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48" name="Rectangle 15">
                <a:extLst>
                  <a:ext uri="{FF2B5EF4-FFF2-40B4-BE49-F238E27FC236}">
                    <a16:creationId xmlns:a16="http://schemas.microsoft.com/office/drawing/2014/main" id="{C9034A48-DBAF-FE40-959D-A0AB4C706978}"/>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49" name="Group 220">
              <a:extLst>
                <a:ext uri="{FF2B5EF4-FFF2-40B4-BE49-F238E27FC236}">
                  <a16:creationId xmlns:a16="http://schemas.microsoft.com/office/drawing/2014/main" id="{BB46F2B9-4CCF-D54C-86CC-2EAE0E9197A7}"/>
                </a:ext>
              </a:extLst>
            </p:cNvPr>
            <p:cNvGrpSpPr>
              <a:grpSpLocks/>
            </p:cNvGrpSpPr>
            <p:nvPr/>
          </p:nvGrpSpPr>
          <p:grpSpPr bwMode="auto">
            <a:xfrm>
              <a:off x="10873831" y="2624425"/>
              <a:ext cx="152400" cy="304800"/>
              <a:chOff x="3264" y="3072"/>
              <a:chExt cx="96" cy="192"/>
            </a:xfrm>
          </p:grpSpPr>
          <p:sp>
            <p:nvSpPr>
              <p:cNvPr id="51" name="Line 17">
                <a:extLst>
                  <a:ext uri="{FF2B5EF4-FFF2-40B4-BE49-F238E27FC236}">
                    <a16:creationId xmlns:a16="http://schemas.microsoft.com/office/drawing/2014/main" id="{EB769595-0B49-DA4A-80D1-023B9600B24D}"/>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 name="Freeform 18">
                <a:extLst>
                  <a:ext uri="{FF2B5EF4-FFF2-40B4-BE49-F238E27FC236}">
                    <a16:creationId xmlns:a16="http://schemas.microsoft.com/office/drawing/2014/main" id="{80859878-6FA3-654D-8312-B2AF21FA9D8E}"/>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53" name="TextBox 52">
              <a:extLst>
                <a:ext uri="{FF2B5EF4-FFF2-40B4-BE49-F238E27FC236}">
                  <a16:creationId xmlns:a16="http://schemas.microsoft.com/office/drawing/2014/main" id="{88667B84-F67F-F348-AC7D-8A2DB9093DBB}"/>
                </a:ext>
              </a:extLst>
            </p:cNvPr>
            <p:cNvSpPr txBox="1"/>
            <p:nvPr/>
          </p:nvSpPr>
          <p:spPr>
            <a:xfrm>
              <a:off x="9700180" y="2926954"/>
              <a:ext cx="2354652" cy="338554"/>
            </a:xfrm>
            <a:prstGeom prst="rect">
              <a:avLst/>
            </a:prstGeom>
            <a:noFill/>
          </p:spPr>
          <p:txBody>
            <a:bodyPr wrap="square" rtlCol="0">
              <a:spAutoFit/>
            </a:bodyPr>
            <a:lstStyle/>
            <a:p>
              <a:r>
                <a:rPr lang="en-US" sz="1600" dirty="0"/>
                <a:t>Transmitting Antenna</a:t>
              </a:r>
            </a:p>
          </p:txBody>
        </p:sp>
      </p:grpSp>
    </p:spTree>
    <p:extLst>
      <p:ext uri="{BB962C8B-B14F-4D97-AF65-F5344CB8AC3E}">
        <p14:creationId xmlns:p14="http://schemas.microsoft.com/office/powerpoint/2010/main" val="3147058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633185" y="256027"/>
            <a:ext cx="10438410"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Receiving Antenna</a:t>
            </a:r>
            <a:endParaRPr sz="44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450549" y="1717121"/>
                <a:ext cx="8299004" cy="459236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342900" lvl="7" indent="-342900" hangingPunct="0">
                  <a:spcBef>
                    <a:spcPts val="400"/>
                  </a:spcBef>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𝑉</m:t>
                        </m:r>
                      </m:e>
                      <m:sub>
                        <m:r>
                          <a:rPr lang="en-US" sz="2000" b="0" i="1" smtClean="0">
                            <a:solidFill>
                              <a:srgbClr val="000000"/>
                            </a:solidFill>
                            <a:latin typeface="Cambria Math" panose="02040503050406030204" pitchFamily="18" charset="0"/>
                            <a:ea typeface="Cambria Math" panose="02040503050406030204" pitchFamily="18" charset="0"/>
                          </a:rPr>
                          <m:t>𝑜</m:t>
                        </m:r>
                      </m:sub>
                    </m:sSub>
                    <m:r>
                      <a:rPr lang="en-US" sz="2000" i="1">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ℎ𝐸</m:t>
                    </m:r>
                  </m:oMath>
                </a14:m>
                <a:r>
                  <a:rPr lang="en-US" sz="2000" dirty="0">
                    <a:solidFill>
                      <a:srgbClr val="000000"/>
                    </a:solidFill>
                    <a:ea typeface="Cambria Math" panose="02040503050406030204" pitchFamily="18" charset="0"/>
                  </a:rPr>
                  <a:t>, </a:t>
                </a: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rPr>
                      <m:t>ℎ</m:t>
                    </m:r>
                  </m:oMath>
                </a14:m>
                <a:r>
                  <a:rPr lang="en-US" sz="2000" dirty="0">
                    <a:solidFill>
                      <a:srgbClr val="000000"/>
                    </a:solidFill>
                    <a:ea typeface="Cambria Math" panose="02040503050406030204" pitchFamily="18" charset="0"/>
                  </a:rPr>
                  <a:t> is effective antenna length (</a:t>
                </a: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rPr>
                      <m:t>ℎ</m:t>
                    </m:r>
                    <m:r>
                      <a:rPr lang="en-US" sz="2000" i="1">
                        <a:solidFill>
                          <a:srgbClr val="000000"/>
                        </a:solidFill>
                        <a:latin typeface="Cambria Math" panose="02040503050406030204" pitchFamily="18" charset="0"/>
                        <a:ea typeface="Cambria Math" panose="02040503050406030204" pitchFamily="18" charset="0"/>
                      </a:rPr>
                      <m:t>= </m:t>
                    </m:r>
                    <m:f>
                      <m:fPr>
                        <m:ctrlPr>
                          <a:rPr lang="en-US" sz="2000" i="1">
                            <a:solidFill>
                              <a:srgbClr val="000000"/>
                            </a:solidFill>
                            <a:latin typeface="Cambria Math" panose="02040503050406030204" pitchFamily="18" charset="0"/>
                            <a:ea typeface="Cambria Math" panose="02040503050406030204" pitchFamily="18" charset="0"/>
                          </a:rPr>
                        </m:ctrlPr>
                      </m:fPr>
                      <m:num>
                        <m:r>
                          <a:rPr lang="en-US" sz="2000" i="1">
                            <a:solidFill>
                              <a:srgbClr val="000000"/>
                            </a:solidFill>
                            <a:latin typeface="Cambria Math" panose="02040503050406030204" pitchFamily="18" charset="0"/>
                            <a:ea typeface="Cambria Math" panose="02040503050406030204" pitchFamily="18" charset="0"/>
                          </a:rPr>
                          <m:t>𝑙</m:t>
                        </m:r>
                      </m:num>
                      <m:den>
                        <m:r>
                          <a:rPr lang="en-US" sz="2000" i="1">
                            <a:solidFill>
                              <a:srgbClr val="000000"/>
                            </a:solidFill>
                            <a:latin typeface="Cambria Math" panose="02040503050406030204" pitchFamily="18" charset="0"/>
                            <a:ea typeface="Cambria Math" panose="02040503050406030204" pitchFamily="18" charset="0"/>
                          </a:rPr>
                          <m:t>2</m:t>
                        </m:r>
                      </m:den>
                    </m:f>
                  </m:oMath>
                </a14:m>
                <a:r>
                  <a:rPr lang="en-US" sz="2000" dirty="0">
                    <a:solidFill>
                      <a:srgbClr val="000000"/>
                    </a:solidFill>
                    <a:ea typeface="Cambria Math" panose="02040503050406030204" pitchFamily="18" charset="0"/>
                  </a:rPr>
                  <a:t> for short antenna),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𝑉</m:t>
                        </m:r>
                      </m:e>
                      <m:sub>
                        <m:r>
                          <a:rPr lang="en-US" sz="2000" i="1">
                            <a:solidFill>
                              <a:srgbClr val="000000"/>
                            </a:solidFill>
                            <a:latin typeface="Cambria Math" panose="02040503050406030204" pitchFamily="18" charset="0"/>
                            <a:ea typeface="Cambria Math" panose="02040503050406030204" pitchFamily="18" charset="0"/>
                          </a:rPr>
                          <m:t>𝑜</m:t>
                        </m:r>
                      </m:sub>
                    </m:sSub>
                  </m:oMath>
                </a14:m>
                <a:r>
                  <a:rPr lang="en-US" sz="2000" dirty="0">
                    <a:solidFill>
                      <a:srgbClr val="000000"/>
                    </a:solidFill>
                    <a:ea typeface="Cambria Math" panose="02040503050406030204" pitchFamily="18" charset="0"/>
                  </a:rPr>
                  <a:t> is open circuit Thevenin voltage.</a:t>
                </a:r>
              </a:p>
              <a:p>
                <a:pPr marL="342900" lvl="7" indent="-342900" hangingPunct="0">
                  <a:spcBef>
                    <a:spcPts val="400"/>
                  </a:spcBef>
                  <a:buFont typeface="Arial" panose="020B0604020202020204" pitchFamily="34" charset="0"/>
                  <a:buChar char="•"/>
                </a:pPr>
                <a:r>
                  <a:rPr lang="en-US" sz="2000" dirty="0">
                    <a:solidFill>
                      <a:srgbClr val="000000"/>
                    </a:solidFill>
                    <a:ea typeface="Cambria Math" panose="02040503050406030204" pitchFamily="18" charset="0"/>
                  </a:rPr>
                  <a:t>For dipole: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𝑉</m:t>
                        </m:r>
                      </m:e>
                      <m:sub>
                        <m:r>
                          <a:rPr lang="en-US" sz="2000" i="1">
                            <a:solidFill>
                              <a:srgbClr val="000000"/>
                            </a:solidFill>
                            <a:latin typeface="Cambria Math" panose="02040503050406030204" pitchFamily="18" charset="0"/>
                            <a:ea typeface="Cambria Math" panose="02040503050406030204" pitchFamily="18" charset="0"/>
                          </a:rPr>
                          <m:t>0</m:t>
                        </m:r>
                      </m:sub>
                    </m:sSub>
                    <m:r>
                      <a:rPr lang="en-US" sz="2000" i="1">
                        <a:solidFill>
                          <a:srgbClr val="000000"/>
                        </a:solidFill>
                        <a:latin typeface="Cambria Math" panose="02040503050406030204" pitchFamily="18" charset="0"/>
                        <a:ea typeface="Cambria Math" panose="02040503050406030204" pitchFamily="18" charset="0"/>
                      </a:rPr>
                      <m:t>=</m:t>
                    </m:r>
                    <m:f>
                      <m:fPr>
                        <m:ctrlPr>
                          <a:rPr lang="en-US" sz="2000" i="1">
                            <a:solidFill>
                              <a:srgbClr val="000000"/>
                            </a:solidFill>
                            <a:latin typeface="Cambria Math" panose="02040503050406030204" pitchFamily="18" charset="0"/>
                            <a:ea typeface="Cambria Math" panose="02040503050406030204" pitchFamily="18" charset="0"/>
                          </a:rPr>
                        </m:ctrlPr>
                      </m:fPr>
                      <m:num>
                        <m:r>
                          <a:rPr lang="en-US" sz="2000" i="1">
                            <a:solidFill>
                              <a:srgbClr val="000000"/>
                            </a:solidFill>
                            <a:latin typeface="Cambria Math" panose="02040503050406030204" pitchFamily="18" charset="0"/>
                            <a:ea typeface="Cambria Math" panose="02040503050406030204" pitchFamily="18" charset="0"/>
                          </a:rPr>
                          <m:t>𝑙</m:t>
                        </m:r>
                      </m:num>
                      <m:den>
                        <m:r>
                          <a:rPr lang="en-US" sz="2000" i="1">
                            <a:solidFill>
                              <a:srgbClr val="000000"/>
                            </a:solidFill>
                            <a:latin typeface="Cambria Math" panose="02040503050406030204" pitchFamily="18" charset="0"/>
                            <a:ea typeface="Cambria Math" panose="02040503050406030204" pitchFamily="18" charset="0"/>
                          </a:rPr>
                          <m:t>2</m:t>
                        </m:r>
                      </m:den>
                    </m:f>
                    <m:r>
                      <a:rPr lang="en-US" sz="2000" i="1">
                        <a:solidFill>
                          <a:srgbClr val="000000"/>
                        </a:solidFill>
                        <a:latin typeface="Cambria Math" panose="02040503050406030204" pitchFamily="18" charset="0"/>
                        <a:ea typeface="Cambria Math" panose="02040503050406030204" pitchFamily="18" charset="0"/>
                      </a:rPr>
                      <m:t> </m:t>
                    </m:r>
                    <m:r>
                      <a:rPr lang="en-US" sz="2000" i="1">
                        <a:solidFill>
                          <a:srgbClr val="000000"/>
                        </a:solidFill>
                        <a:latin typeface="Cambria Math" panose="02040503050406030204" pitchFamily="18" charset="0"/>
                        <a:ea typeface="Cambria Math" panose="02040503050406030204" pitchFamily="18" charset="0"/>
                      </a:rPr>
                      <m:t>𝐸</m:t>
                    </m:r>
                    <m:func>
                      <m:funcPr>
                        <m:ctrlPr>
                          <a:rPr lang="en-US" sz="2000">
                            <a:solidFill>
                              <a:srgbClr val="000000"/>
                            </a:solidFill>
                            <a:latin typeface="Cambria Math" panose="02040503050406030204" pitchFamily="18" charset="0"/>
                            <a:ea typeface="Cambria Math" panose="02040503050406030204" pitchFamily="18" charset="0"/>
                          </a:rPr>
                        </m:ctrlPr>
                      </m:funcPr>
                      <m:fName>
                        <m:r>
                          <m:rPr>
                            <m:sty m:val="p"/>
                          </m:rPr>
                          <a:rPr lang="en-US" sz="2000">
                            <a:solidFill>
                              <a:srgbClr val="000000"/>
                            </a:solidFill>
                            <a:latin typeface="Cambria Math" panose="02040503050406030204" pitchFamily="18" charset="0"/>
                            <a:ea typeface="Cambria Math" panose="02040503050406030204" pitchFamily="18" charset="0"/>
                          </a:rPr>
                          <m:t>sin</m:t>
                        </m:r>
                      </m:fName>
                      <m:e>
                        <m:d>
                          <m:dPr>
                            <m:ctrlPr>
                              <a:rPr lang="en-US" sz="2000" i="1">
                                <a:solidFill>
                                  <a:srgbClr val="000000"/>
                                </a:solidFill>
                                <a:latin typeface="Cambria Math" panose="02040503050406030204" pitchFamily="18" charset="0"/>
                                <a:ea typeface="Cambria Math" panose="02040503050406030204" pitchFamily="18" charset="0"/>
                              </a:rPr>
                            </m:ctrlPr>
                          </m:dPr>
                          <m:e>
                            <m:r>
                              <a:rPr lang="en-US" sz="2000" i="1">
                                <a:solidFill>
                                  <a:srgbClr val="000000"/>
                                </a:solidFill>
                                <a:latin typeface="Cambria Math" panose="02040503050406030204" pitchFamily="18" charset="0"/>
                                <a:ea typeface="Cambria Math" panose="02040503050406030204" pitchFamily="18" charset="0"/>
                              </a:rPr>
                              <m:t>𝜃</m:t>
                            </m:r>
                          </m:e>
                        </m:d>
                      </m:e>
                    </m:func>
                  </m:oMath>
                </a14:m>
                <a:r>
                  <a:rPr lang="en-US" sz="2000" dirty="0">
                    <a:solidFill>
                      <a:srgbClr val="000000"/>
                    </a:solidFill>
                    <a:ea typeface="Cambria Math" panose="02040503050406030204" pitchFamily="18" charset="0"/>
                  </a:rPr>
                  <a:t>, so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rPr>
                      <m:t>ℎ</m:t>
                    </m:r>
                    <m:r>
                      <a:rPr lang="en-US" sz="2000" b="0" i="1" smtClean="0">
                        <a:solidFill>
                          <a:srgbClr val="000000"/>
                        </a:solidFill>
                        <a:latin typeface="Cambria Math" panose="02040503050406030204" pitchFamily="18" charset="0"/>
                        <a:ea typeface="Cambria Math" panose="02040503050406030204" pitchFamily="18" charset="0"/>
                      </a:rPr>
                      <m:t>=</m:t>
                    </m:r>
                    <m:f>
                      <m:fPr>
                        <m:ctrlPr>
                          <a:rPr lang="en-US" sz="2000" i="1">
                            <a:solidFill>
                              <a:srgbClr val="000000"/>
                            </a:solidFill>
                            <a:latin typeface="Cambria Math" panose="02040503050406030204" pitchFamily="18" charset="0"/>
                            <a:ea typeface="Cambria Math" panose="02040503050406030204" pitchFamily="18" charset="0"/>
                          </a:rPr>
                        </m:ctrlPr>
                      </m:fPr>
                      <m:num>
                        <m:r>
                          <a:rPr lang="en-US" sz="2000" i="1">
                            <a:solidFill>
                              <a:srgbClr val="000000"/>
                            </a:solidFill>
                            <a:latin typeface="Cambria Math" panose="02040503050406030204" pitchFamily="18" charset="0"/>
                            <a:ea typeface="Cambria Math" panose="02040503050406030204" pitchFamily="18" charset="0"/>
                          </a:rPr>
                          <m:t>𝑙</m:t>
                        </m:r>
                      </m:num>
                      <m:den>
                        <m:r>
                          <a:rPr lang="en-US" sz="2000" i="1">
                            <a:solidFill>
                              <a:srgbClr val="000000"/>
                            </a:solidFill>
                            <a:latin typeface="Cambria Math" panose="02040503050406030204" pitchFamily="18" charset="0"/>
                            <a:ea typeface="Cambria Math" panose="02040503050406030204" pitchFamily="18" charset="0"/>
                          </a:rPr>
                          <m:t>2</m:t>
                        </m:r>
                      </m:den>
                    </m:f>
                    <m:r>
                      <m:rPr>
                        <m:sty m:val="p"/>
                      </m:rPr>
                      <a:rPr lang="en-US" sz="2000" b="0" i="0" smtClean="0">
                        <a:solidFill>
                          <a:srgbClr val="000000"/>
                        </a:solidFill>
                        <a:latin typeface="Cambria Math" panose="02040503050406030204" pitchFamily="18" charset="0"/>
                        <a:ea typeface="Cambria Math" panose="02040503050406030204" pitchFamily="18" charset="0"/>
                      </a:rPr>
                      <m:t>sin</m:t>
                    </m:r>
                    <m:r>
                      <a:rPr lang="en-US" sz="2000" b="0" i="1" smtClean="0">
                        <a:solidFill>
                          <a:srgbClr val="000000"/>
                        </a:solidFill>
                        <a:latin typeface="Cambria Math" panose="02040503050406030204" pitchFamily="18" charset="0"/>
                        <a:ea typeface="Cambria Math" panose="02040503050406030204" pitchFamily="18" charset="0"/>
                      </a:rPr>
                      <m:t>⁡(</m:t>
                    </m:r>
                    <m:r>
                      <a:rPr lang="en-US" sz="2000" b="0" i="1" smtClean="0">
                        <a:solidFill>
                          <a:srgbClr val="000000"/>
                        </a:solidFill>
                        <a:latin typeface="Cambria Math" panose="02040503050406030204" pitchFamily="18" charset="0"/>
                        <a:ea typeface="Cambria Math" panose="02040503050406030204" pitchFamily="18" charset="0"/>
                      </a:rPr>
                      <m:t>𝜃</m:t>
                    </m:r>
                    <m:r>
                      <a:rPr lang="en-US" sz="2000" b="0" i="1" smtClean="0">
                        <a:solidFill>
                          <a:srgbClr val="000000"/>
                        </a:solidFill>
                        <a:latin typeface="Cambria Math" panose="02040503050406030204" pitchFamily="18" charset="0"/>
                        <a:ea typeface="Cambria Math" panose="02040503050406030204" pitchFamily="18" charset="0"/>
                      </a:rPr>
                      <m:t>)</m:t>
                    </m:r>
                  </m:oMath>
                </a14:m>
                <a:r>
                  <a:rPr lang="en-US" sz="2000" dirty="0">
                    <a:solidFill>
                      <a:srgbClr val="000000"/>
                    </a:solidFill>
                    <a:ea typeface="Cambria Math" panose="02040503050406030204" pitchFamily="18" charset="0"/>
                  </a:rPr>
                  <a:t>.</a:t>
                </a:r>
              </a:p>
              <a:p>
                <a:pPr marL="342900" lvl="7" indent="-342900" hangingPunct="0">
                  <a:spcBef>
                    <a:spcPts val="400"/>
                  </a:spcBef>
                  <a:buFont typeface="Arial" panose="020B0604020202020204" pitchFamily="34" charset="0"/>
                  <a:buChar char="•"/>
                </a:pPr>
                <a:r>
                  <a:rPr lang="en-US" sz="2000" dirty="0">
                    <a:solidFill>
                      <a:srgbClr val="000000"/>
                    </a:solidFill>
                  </a:rPr>
                  <a:t>The effective area is </a:t>
                </a:r>
                <a14:m>
                  <m:oMath xmlns:m="http://schemas.openxmlformats.org/officeDocument/2006/math">
                    <m:r>
                      <a:rPr lang="en-US" sz="2000" i="1">
                        <a:solidFill>
                          <a:srgbClr val="000000"/>
                        </a:solidFill>
                        <a:latin typeface="Cambria Math" panose="02040503050406030204" pitchFamily="18" charset="0"/>
                      </a:rPr>
                      <m:t>𝐴</m:t>
                    </m:r>
                    <m:d>
                      <m:dPr>
                        <m:ctrlPr>
                          <a:rPr lang="en-US" sz="2000" i="1" dirty="0">
                            <a:solidFill>
                              <a:srgbClr val="000000"/>
                            </a:solidFill>
                            <a:latin typeface="Cambria Math" panose="02040503050406030204" pitchFamily="18" charset="0"/>
                            <a:ea typeface="Cambria Math" panose="02040503050406030204" pitchFamily="18" charset="0"/>
                          </a:rPr>
                        </m:ctrlPr>
                      </m:dPr>
                      <m:e>
                        <m:r>
                          <a:rPr lang="en-US" sz="2000" i="1" dirty="0">
                            <a:solidFill>
                              <a:srgbClr val="000000"/>
                            </a:solidFill>
                            <a:latin typeface="Cambria Math" panose="02040503050406030204" pitchFamily="18" charset="0"/>
                            <a:ea typeface="Cambria Math" panose="02040503050406030204" pitchFamily="18" charset="0"/>
                          </a:rPr>
                          <m:t>𝜃</m:t>
                        </m:r>
                        <m:r>
                          <a:rPr lang="en-US" sz="2000" i="1" dirty="0">
                            <a:solidFill>
                              <a:srgbClr val="000000"/>
                            </a:solidFill>
                            <a:latin typeface="Cambria Math" panose="02040503050406030204" pitchFamily="18" charset="0"/>
                            <a:ea typeface="Cambria Math" panose="02040503050406030204" pitchFamily="18" charset="0"/>
                          </a:rPr>
                          <m:t>, </m:t>
                        </m:r>
                        <m:r>
                          <a:rPr lang="en-US" sz="2000" i="1" dirty="0">
                            <a:solidFill>
                              <a:srgbClr val="000000"/>
                            </a:solidFill>
                            <a:latin typeface="Cambria Math" panose="02040503050406030204" pitchFamily="18" charset="0"/>
                            <a:ea typeface="Cambria Math" panose="02040503050406030204" pitchFamily="18" charset="0"/>
                          </a:rPr>
                          <m:t>𝜙</m:t>
                        </m:r>
                      </m:e>
                    </m:d>
                    <m:r>
                      <a:rPr lang="en-US" sz="2000" i="1" dirty="0" smtClean="0">
                        <a:solidFill>
                          <a:srgbClr val="000000"/>
                        </a:solidFill>
                        <a:latin typeface="Cambria Math" panose="02040503050406030204" pitchFamily="18" charset="0"/>
                        <a:ea typeface="Cambria Math" panose="02040503050406030204" pitchFamily="18" charset="0"/>
                      </a:rPr>
                      <m:t>≡</m:t>
                    </m:r>
                    <m:r>
                      <a:rPr lang="en-US" sz="2000" i="1" dirty="0">
                        <a:solidFill>
                          <a:srgbClr val="000000"/>
                        </a:solidFill>
                        <a:latin typeface="Cambria Math" panose="02040503050406030204" pitchFamily="18" charset="0"/>
                        <a:ea typeface="Cambria Math" panose="02040503050406030204" pitchFamily="18" charset="0"/>
                      </a:rPr>
                      <m:t> </m:t>
                    </m:r>
                    <m:f>
                      <m:fPr>
                        <m:ctrlPr>
                          <a:rPr lang="en-US" sz="2000" i="1" dirty="0">
                            <a:solidFill>
                              <a:srgbClr val="000000"/>
                            </a:solidFill>
                            <a:latin typeface="Cambria Math" panose="02040503050406030204" pitchFamily="18" charset="0"/>
                            <a:ea typeface="Cambria Math" panose="02040503050406030204" pitchFamily="18" charset="0"/>
                          </a:rPr>
                        </m:ctrlPr>
                      </m:fPr>
                      <m:num>
                        <m:sSub>
                          <m:sSubPr>
                            <m:ctrlPr>
                              <a:rPr lang="en-US" sz="2000" i="1" dirty="0">
                                <a:solidFill>
                                  <a:srgbClr val="000000"/>
                                </a:solidFill>
                                <a:latin typeface="Cambria Math" panose="02040503050406030204" pitchFamily="18" charset="0"/>
                                <a:ea typeface="Cambria Math" panose="02040503050406030204" pitchFamily="18" charset="0"/>
                              </a:rPr>
                            </m:ctrlPr>
                          </m:sSubPr>
                          <m:e>
                            <m:r>
                              <a:rPr lang="en-US" sz="2000" i="1" dirty="0">
                                <a:solidFill>
                                  <a:srgbClr val="000000"/>
                                </a:solidFill>
                                <a:latin typeface="Cambria Math" panose="02040503050406030204" pitchFamily="18" charset="0"/>
                                <a:ea typeface="Cambria Math" panose="02040503050406030204" pitchFamily="18" charset="0"/>
                              </a:rPr>
                              <m:t>𝑃</m:t>
                            </m:r>
                          </m:e>
                          <m:sub>
                            <m:r>
                              <a:rPr lang="en-US" sz="2000" i="1" dirty="0">
                                <a:solidFill>
                                  <a:srgbClr val="000000"/>
                                </a:solidFill>
                                <a:latin typeface="Cambria Math" panose="02040503050406030204" pitchFamily="18" charset="0"/>
                                <a:ea typeface="Cambria Math" panose="02040503050406030204" pitchFamily="18" charset="0"/>
                              </a:rPr>
                              <m:t>𝑟</m:t>
                            </m:r>
                          </m:sub>
                        </m:sSub>
                      </m:num>
                      <m:den>
                        <m:r>
                          <a:rPr lang="en-US" sz="2000" i="1" dirty="0">
                            <a:solidFill>
                              <a:srgbClr val="000000"/>
                            </a:solidFill>
                            <a:latin typeface="Cambria Math" panose="02040503050406030204" pitchFamily="18" charset="0"/>
                            <a:ea typeface="Cambria Math" panose="02040503050406030204" pitchFamily="18" charset="0"/>
                          </a:rPr>
                          <m:t>𝑆</m:t>
                        </m:r>
                        <m:r>
                          <a:rPr lang="en-US" sz="2000" i="1" dirty="0">
                            <a:solidFill>
                              <a:srgbClr val="000000"/>
                            </a:solidFill>
                            <a:latin typeface="Cambria Math" panose="02040503050406030204" pitchFamily="18" charset="0"/>
                            <a:ea typeface="Cambria Math" panose="02040503050406030204" pitchFamily="18" charset="0"/>
                          </a:rPr>
                          <m:t>(</m:t>
                        </m:r>
                        <m:r>
                          <a:rPr lang="en-US" sz="2000" i="1" dirty="0">
                            <a:solidFill>
                              <a:srgbClr val="000000"/>
                            </a:solidFill>
                            <a:latin typeface="Cambria Math" panose="02040503050406030204" pitchFamily="18" charset="0"/>
                            <a:ea typeface="Cambria Math" panose="02040503050406030204" pitchFamily="18" charset="0"/>
                          </a:rPr>
                          <m:t>𝜃</m:t>
                        </m:r>
                        <m:r>
                          <a:rPr lang="en-US" sz="2000" i="1" dirty="0">
                            <a:solidFill>
                              <a:srgbClr val="000000"/>
                            </a:solidFill>
                            <a:latin typeface="Cambria Math" panose="02040503050406030204" pitchFamily="18" charset="0"/>
                            <a:ea typeface="Cambria Math" panose="02040503050406030204" pitchFamily="18" charset="0"/>
                          </a:rPr>
                          <m:t>,</m:t>
                        </m:r>
                        <m:r>
                          <a:rPr lang="en-US" sz="2000" i="1" dirty="0">
                            <a:solidFill>
                              <a:srgbClr val="000000"/>
                            </a:solidFill>
                            <a:latin typeface="Cambria Math" panose="02040503050406030204" pitchFamily="18" charset="0"/>
                            <a:ea typeface="Cambria Math" panose="02040503050406030204" pitchFamily="18" charset="0"/>
                          </a:rPr>
                          <m:t>𝜙</m:t>
                        </m:r>
                        <m:r>
                          <a:rPr lang="en-US" sz="2000" i="1" dirty="0">
                            <a:solidFill>
                              <a:srgbClr val="000000"/>
                            </a:solidFill>
                            <a:latin typeface="Cambria Math" panose="02040503050406030204" pitchFamily="18" charset="0"/>
                            <a:ea typeface="Cambria Math" panose="02040503050406030204" pitchFamily="18" charset="0"/>
                          </a:rPr>
                          <m:t>)</m:t>
                        </m:r>
                      </m:den>
                    </m:f>
                  </m:oMath>
                </a14:m>
                <a:r>
                  <a:rPr lang="en-US" sz="2000" i="1" dirty="0">
                    <a:solidFill>
                      <a:srgbClr val="000000"/>
                    </a:solidFill>
                    <a:latin typeface="Cambria Math" panose="02040503050406030204" pitchFamily="18" charset="0"/>
                  </a:rPr>
                  <a:t> </a:t>
                </a:r>
                <a:endParaRPr lang="en-US" sz="2000" dirty="0">
                  <a:solidFill>
                    <a:srgbClr val="000000"/>
                  </a:solidFill>
                  <a:latin typeface="Calibri" panose="020F0502020204030204" pitchFamily="34" charset="0"/>
                  <a:cs typeface="Calibri" panose="020F0502020204030204" pitchFamily="34" charset="0"/>
                </a:endParaRPr>
              </a:p>
              <a:p>
                <a:pPr marL="342900" lvl="2" indent="-342900" hangingPunct="0">
                  <a:buFont typeface="Arial" panose="020B0604020202020204" pitchFamily="34" charset="0"/>
                  <a:buChar char="•"/>
                </a:pPr>
                <a:r>
                  <a:rPr lang="en-US" sz="2000" dirty="0">
                    <a:solidFill>
                      <a:srgbClr val="000000"/>
                    </a:solidFill>
                    <a:latin typeface="Calibri" panose="020F0502020204030204" pitchFamily="34" charset="0"/>
                    <a:cs typeface="Calibri" panose="020F0502020204030204" pitchFamily="34" charset="0"/>
                  </a:rPr>
                  <a:t>By reciprocity, </a:t>
                </a:r>
                <a14:m>
                  <m:oMath xmlns:m="http://schemas.openxmlformats.org/officeDocument/2006/math">
                    <m:r>
                      <a:rPr lang="en-US" sz="2000" i="1">
                        <a:solidFill>
                          <a:srgbClr val="000000"/>
                        </a:solidFill>
                        <a:latin typeface="Cambria Math" panose="02040503050406030204" pitchFamily="18" charset="0"/>
                        <a:cs typeface="Calibri" panose="020F0502020204030204" pitchFamily="34" charset="0"/>
                      </a:rPr>
                      <m:t>𝐴</m:t>
                    </m:r>
                    <m:d>
                      <m:dPr>
                        <m:ctrlPr>
                          <a:rPr lang="en-US" sz="2000" i="1" dirty="0">
                            <a:solidFill>
                              <a:srgbClr val="000000"/>
                            </a:solidFill>
                            <a:latin typeface="Cambria Math" panose="02040503050406030204" pitchFamily="18" charset="0"/>
                            <a:ea typeface="Cambria Math" panose="02040503050406030204" pitchFamily="18" charset="0"/>
                          </a:rPr>
                        </m:ctrlPr>
                      </m:dPr>
                      <m:e>
                        <m:r>
                          <a:rPr lang="en-US" sz="2000" i="1" dirty="0">
                            <a:solidFill>
                              <a:srgbClr val="000000"/>
                            </a:solidFill>
                            <a:latin typeface="Cambria Math" panose="02040503050406030204" pitchFamily="18" charset="0"/>
                            <a:ea typeface="Cambria Math" panose="02040503050406030204" pitchFamily="18" charset="0"/>
                          </a:rPr>
                          <m:t>𝜃</m:t>
                        </m:r>
                        <m:r>
                          <a:rPr lang="en-US" sz="2000" i="1" dirty="0">
                            <a:solidFill>
                              <a:srgbClr val="000000"/>
                            </a:solidFill>
                            <a:latin typeface="Cambria Math" panose="02040503050406030204" pitchFamily="18" charset="0"/>
                            <a:ea typeface="Cambria Math" panose="02040503050406030204" pitchFamily="18" charset="0"/>
                          </a:rPr>
                          <m:t>, </m:t>
                        </m:r>
                        <m:r>
                          <a:rPr lang="en-US" sz="2000" i="1" dirty="0">
                            <a:solidFill>
                              <a:srgbClr val="000000"/>
                            </a:solidFill>
                            <a:latin typeface="Cambria Math" panose="02040503050406030204" pitchFamily="18" charset="0"/>
                            <a:ea typeface="Cambria Math" panose="02040503050406030204" pitchFamily="18" charset="0"/>
                          </a:rPr>
                          <m:t>𝜙</m:t>
                        </m:r>
                      </m:e>
                    </m:d>
                    <m:r>
                      <a:rPr lang="en-US" sz="2000" i="1" dirty="0">
                        <a:solidFill>
                          <a:srgbClr val="000000"/>
                        </a:solidFill>
                        <a:latin typeface="Cambria Math" panose="02040503050406030204" pitchFamily="18" charset="0"/>
                        <a:ea typeface="Cambria Math" panose="02040503050406030204" pitchFamily="18" charset="0"/>
                      </a:rPr>
                      <m:t>= </m:t>
                    </m:r>
                    <m:f>
                      <m:fPr>
                        <m:ctrlPr>
                          <a:rPr lang="en-US" sz="2000" i="1" dirty="0">
                            <a:solidFill>
                              <a:srgbClr val="000000"/>
                            </a:solidFill>
                            <a:latin typeface="Cambria Math" panose="02040503050406030204" pitchFamily="18" charset="0"/>
                            <a:ea typeface="Cambria Math" panose="02040503050406030204" pitchFamily="18" charset="0"/>
                          </a:rPr>
                        </m:ctrlPr>
                      </m:fPr>
                      <m:num>
                        <m:sSup>
                          <m:sSupPr>
                            <m:ctrlPr>
                              <a:rPr lang="en-US" sz="2000" i="1" dirty="0">
                                <a:solidFill>
                                  <a:srgbClr val="000000"/>
                                </a:solidFill>
                                <a:latin typeface="Cambria Math" panose="02040503050406030204" pitchFamily="18" charset="0"/>
                                <a:ea typeface="Cambria Math" panose="02040503050406030204" pitchFamily="18" charset="0"/>
                              </a:rPr>
                            </m:ctrlPr>
                          </m:sSupPr>
                          <m:e>
                            <m:r>
                              <a:rPr lang="en-US" sz="2000" i="1" dirty="0">
                                <a:solidFill>
                                  <a:srgbClr val="000000"/>
                                </a:solidFill>
                                <a:latin typeface="Cambria Math" panose="02040503050406030204" pitchFamily="18" charset="0"/>
                                <a:ea typeface="Cambria Math" panose="02040503050406030204" pitchFamily="18" charset="0"/>
                              </a:rPr>
                              <m:t>𝜆</m:t>
                            </m:r>
                          </m:e>
                          <m:sup>
                            <m:r>
                              <a:rPr lang="en-US" sz="2000" i="1" dirty="0">
                                <a:solidFill>
                                  <a:srgbClr val="000000"/>
                                </a:solidFill>
                                <a:latin typeface="Cambria Math" panose="02040503050406030204" pitchFamily="18" charset="0"/>
                                <a:ea typeface="Cambria Math" panose="02040503050406030204" pitchFamily="18" charset="0"/>
                              </a:rPr>
                              <m:t>2</m:t>
                            </m:r>
                          </m:sup>
                        </m:sSup>
                      </m:num>
                      <m:den>
                        <m:r>
                          <a:rPr lang="en-US" sz="2000" i="1" dirty="0">
                            <a:solidFill>
                              <a:srgbClr val="000000"/>
                            </a:solidFill>
                            <a:latin typeface="Cambria Math" panose="02040503050406030204" pitchFamily="18" charset="0"/>
                            <a:ea typeface="Cambria Math" panose="02040503050406030204" pitchFamily="18" charset="0"/>
                          </a:rPr>
                          <m:t>4</m:t>
                        </m:r>
                        <m:r>
                          <a:rPr lang="en-US" sz="2000" i="1" dirty="0">
                            <a:solidFill>
                              <a:srgbClr val="000000"/>
                            </a:solidFill>
                            <a:latin typeface="Cambria Math" panose="02040503050406030204" pitchFamily="18" charset="0"/>
                            <a:ea typeface="Cambria Math" panose="02040503050406030204" pitchFamily="18" charset="0"/>
                          </a:rPr>
                          <m:t>𝜋</m:t>
                        </m:r>
                      </m:den>
                    </m:f>
                    <m:r>
                      <a:rPr lang="en-US" sz="2000" i="1" dirty="0">
                        <a:solidFill>
                          <a:srgbClr val="000000"/>
                        </a:solidFill>
                        <a:latin typeface="Cambria Math" panose="02040503050406030204" pitchFamily="18" charset="0"/>
                        <a:ea typeface="Cambria Math" panose="02040503050406030204" pitchFamily="18" charset="0"/>
                      </a:rPr>
                      <m:t>𝐺</m:t>
                    </m:r>
                    <m:d>
                      <m:dPr>
                        <m:ctrlPr>
                          <a:rPr lang="en-US" sz="2000" i="1" dirty="0">
                            <a:solidFill>
                              <a:srgbClr val="000000"/>
                            </a:solidFill>
                            <a:latin typeface="Cambria Math" panose="02040503050406030204" pitchFamily="18" charset="0"/>
                            <a:ea typeface="Cambria Math" panose="02040503050406030204" pitchFamily="18" charset="0"/>
                          </a:rPr>
                        </m:ctrlPr>
                      </m:dPr>
                      <m:e>
                        <m:r>
                          <a:rPr lang="en-US" sz="2000" i="1" dirty="0">
                            <a:solidFill>
                              <a:srgbClr val="000000"/>
                            </a:solidFill>
                            <a:latin typeface="Cambria Math" panose="02040503050406030204" pitchFamily="18" charset="0"/>
                            <a:ea typeface="Cambria Math" panose="02040503050406030204" pitchFamily="18" charset="0"/>
                          </a:rPr>
                          <m:t>𝜃</m:t>
                        </m:r>
                        <m:r>
                          <a:rPr lang="en-US" sz="2000" i="1" dirty="0">
                            <a:solidFill>
                              <a:srgbClr val="000000"/>
                            </a:solidFill>
                            <a:latin typeface="Cambria Math" panose="02040503050406030204" pitchFamily="18" charset="0"/>
                            <a:ea typeface="Cambria Math" panose="02040503050406030204" pitchFamily="18" charset="0"/>
                          </a:rPr>
                          <m:t>, </m:t>
                        </m:r>
                        <m:r>
                          <a:rPr lang="en-US" sz="2000" i="1" dirty="0">
                            <a:solidFill>
                              <a:srgbClr val="000000"/>
                            </a:solidFill>
                            <a:latin typeface="Cambria Math" panose="02040503050406030204" pitchFamily="18" charset="0"/>
                            <a:ea typeface="Cambria Math" panose="02040503050406030204" pitchFamily="18" charset="0"/>
                          </a:rPr>
                          <m:t>𝜙</m:t>
                        </m:r>
                      </m:e>
                    </m:d>
                  </m:oMath>
                </a14:m>
                <a:endParaRPr lang="en-US" sz="2000" dirty="0">
                  <a:solidFill>
                    <a:srgbClr val="000000"/>
                  </a:solidFill>
                  <a:latin typeface="Calibri" panose="020F0502020204030204" pitchFamily="34" charset="0"/>
                  <a:cs typeface="Calibri" panose="020F0502020204030204" pitchFamily="34" charset="0"/>
                </a:endParaRPr>
              </a:p>
              <a:p>
                <a:pPr marL="342900" lvl="2" indent="-342900" hangingPunct="0">
                  <a:buFont typeface="Arial" panose="020B0604020202020204" pitchFamily="34" charset="0"/>
                  <a:buChar char="•"/>
                </a:pPr>
                <a:r>
                  <a:rPr lang="en-US" sz="2000" dirty="0">
                    <a:solidFill>
                      <a:srgbClr val="000000"/>
                    </a:solidFill>
                    <a:cs typeface="Calibri" panose="020F0502020204030204" pitchFamily="34" charset="0"/>
                  </a:rPr>
                  <a:t>Thevenin equivalent relates effective area to effective length</a:t>
                </a:r>
              </a:p>
              <a:p>
                <a:pPr marL="342900" lvl="2" indent="-342900"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cs typeface="Calibri" panose="020F0502020204030204" pitchFamily="34" charset="0"/>
                          </a:rPr>
                        </m:ctrlPr>
                      </m:sSubPr>
                      <m:e>
                        <m:r>
                          <a:rPr lang="en-US" sz="2000" i="1">
                            <a:solidFill>
                              <a:srgbClr val="000000"/>
                            </a:solidFill>
                            <a:latin typeface="Cambria Math" panose="02040503050406030204" pitchFamily="18" charset="0"/>
                            <a:cs typeface="Calibri" panose="020F0502020204030204" pitchFamily="34" charset="0"/>
                          </a:rPr>
                          <m:t>𝑃</m:t>
                        </m:r>
                      </m:e>
                      <m:sub>
                        <m:r>
                          <a:rPr lang="en-US" sz="2000" i="1">
                            <a:solidFill>
                              <a:srgbClr val="000000"/>
                            </a:solidFill>
                            <a:latin typeface="Cambria Math" panose="02040503050406030204" pitchFamily="18" charset="0"/>
                            <a:cs typeface="Calibri" panose="020F0502020204030204" pitchFamily="34" charset="0"/>
                          </a:rPr>
                          <m:t>𝑟</m:t>
                        </m:r>
                      </m:sub>
                    </m:sSub>
                    <m:r>
                      <a:rPr lang="en-US" sz="2000" i="1">
                        <a:solidFill>
                          <a:srgbClr val="000000"/>
                        </a:solidFill>
                        <a:latin typeface="Cambria Math" panose="02040503050406030204" pitchFamily="18" charset="0"/>
                        <a:cs typeface="Calibri" panose="020F0502020204030204" pitchFamily="34" charset="0"/>
                      </a:rPr>
                      <m:t>=</m:t>
                    </m:r>
                    <m:f>
                      <m:fPr>
                        <m:ctrlPr>
                          <a:rPr lang="en-US" sz="2000" i="1">
                            <a:solidFill>
                              <a:srgbClr val="000000"/>
                            </a:solidFill>
                            <a:latin typeface="Cambria Math" panose="02040503050406030204" pitchFamily="18" charset="0"/>
                            <a:cs typeface="Calibri" panose="020F0502020204030204" pitchFamily="34" charset="0"/>
                          </a:rPr>
                        </m:ctrlPr>
                      </m:fPr>
                      <m:num>
                        <m:sSup>
                          <m:sSupPr>
                            <m:ctrlPr>
                              <a:rPr lang="en-US" sz="2000" i="1">
                                <a:solidFill>
                                  <a:srgbClr val="000000"/>
                                </a:solidFill>
                                <a:latin typeface="Cambria Math" panose="02040503050406030204" pitchFamily="18" charset="0"/>
                                <a:cs typeface="Calibri" panose="020F0502020204030204" pitchFamily="34" charset="0"/>
                              </a:rPr>
                            </m:ctrlPr>
                          </m:sSupPr>
                          <m:e>
                            <m:sSub>
                              <m:sSubPr>
                                <m:ctrlPr>
                                  <a:rPr lang="en-US" sz="2000" i="1">
                                    <a:solidFill>
                                      <a:srgbClr val="000000"/>
                                    </a:solidFill>
                                    <a:latin typeface="Cambria Math" panose="02040503050406030204" pitchFamily="18" charset="0"/>
                                    <a:cs typeface="Calibri" panose="020F0502020204030204" pitchFamily="34" charset="0"/>
                                  </a:rPr>
                                </m:ctrlPr>
                              </m:sSubPr>
                              <m:e>
                                <m:r>
                                  <a:rPr lang="en-US" sz="2000" i="1">
                                    <a:solidFill>
                                      <a:srgbClr val="000000"/>
                                    </a:solidFill>
                                    <a:latin typeface="Cambria Math" panose="02040503050406030204" pitchFamily="18" charset="0"/>
                                    <a:cs typeface="Calibri" panose="020F0502020204030204" pitchFamily="34" charset="0"/>
                                  </a:rPr>
                                  <m:t>|</m:t>
                                </m:r>
                                <m:r>
                                  <a:rPr lang="en-US" sz="2000" i="1">
                                    <a:solidFill>
                                      <a:srgbClr val="000000"/>
                                    </a:solidFill>
                                    <a:latin typeface="Cambria Math" panose="02040503050406030204" pitchFamily="18" charset="0"/>
                                    <a:cs typeface="Calibri" panose="020F0502020204030204" pitchFamily="34" charset="0"/>
                                  </a:rPr>
                                  <m:t>𝑉</m:t>
                                </m:r>
                              </m:e>
                              <m:sub>
                                <m:r>
                                  <a:rPr lang="en-US" sz="2000" i="1">
                                    <a:solidFill>
                                      <a:srgbClr val="000000"/>
                                    </a:solidFill>
                                    <a:latin typeface="Cambria Math" panose="02040503050406030204" pitchFamily="18" charset="0"/>
                                    <a:cs typeface="Calibri" panose="020F0502020204030204" pitchFamily="34" charset="0"/>
                                  </a:rPr>
                                  <m:t>0</m:t>
                                </m:r>
                              </m:sub>
                            </m:sSub>
                            <m:r>
                              <a:rPr lang="en-US" sz="2000" i="1">
                                <a:solidFill>
                                  <a:srgbClr val="000000"/>
                                </a:solidFill>
                                <a:latin typeface="Cambria Math" panose="02040503050406030204" pitchFamily="18" charset="0"/>
                                <a:cs typeface="Calibri" panose="020F0502020204030204" pitchFamily="34" charset="0"/>
                              </a:rPr>
                              <m:t>|</m:t>
                            </m:r>
                          </m:e>
                          <m:sup>
                            <m:r>
                              <a:rPr lang="en-US" sz="2000" i="1">
                                <a:solidFill>
                                  <a:srgbClr val="000000"/>
                                </a:solidFill>
                                <a:latin typeface="Cambria Math" panose="02040503050406030204" pitchFamily="18" charset="0"/>
                                <a:cs typeface="Calibri" panose="020F0502020204030204" pitchFamily="34" charset="0"/>
                              </a:rPr>
                              <m:t>2</m:t>
                            </m:r>
                          </m:sup>
                        </m:sSup>
                      </m:num>
                      <m:den>
                        <m:r>
                          <a:rPr lang="en-US" sz="2000" i="1">
                            <a:solidFill>
                              <a:srgbClr val="000000"/>
                            </a:solidFill>
                            <a:latin typeface="Cambria Math" panose="02040503050406030204" pitchFamily="18" charset="0"/>
                            <a:cs typeface="Calibri" panose="020F0502020204030204" pitchFamily="34" charset="0"/>
                          </a:rPr>
                          <m:t>8</m:t>
                        </m:r>
                        <m:sSub>
                          <m:sSubPr>
                            <m:ctrlPr>
                              <a:rPr lang="en-US" sz="2000" i="1">
                                <a:solidFill>
                                  <a:srgbClr val="000000"/>
                                </a:solidFill>
                                <a:latin typeface="Cambria Math" panose="02040503050406030204" pitchFamily="18" charset="0"/>
                                <a:cs typeface="Calibri" panose="020F0502020204030204" pitchFamily="34" charset="0"/>
                              </a:rPr>
                            </m:ctrlPr>
                          </m:sSubPr>
                          <m:e>
                            <m:r>
                              <a:rPr lang="en-US" sz="2000" i="1">
                                <a:solidFill>
                                  <a:srgbClr val="000000"/>
                                </a:solidFill>
                                <a:latin typeface="Cambria Math" panose="02040503050406030204" pitchFamily="18" charset="0"/>
                                <a:cs typeface="Calibri" panose="020F0502020204030204" pitchFamily="34" charset="0"/>
                              </a:rPr>
                              <m:t>𝑅</m:t>
                            </m:r>
                          </m:e>
                          <m:sub>
                            <m:r>
                              <a:rPr lang="en-US" sz="2000" i="1">
                                <a:solidFill>
                                  <a:srgbClr val="000000"/>
                                </a:solidFill>
                                <a:latin typeface="Cambria Math" panose="02040503050406030204" pitchFamily="18" charset="0"/>
                                <a:cs typeface="Calibri" panose="020F0502020204030204" pitchFamily="34" charset="0"/>
                              </a:rPr>
                              <m:t>𝑎</m:t>
                            </m:r>
                          </m:sub>
                        </m:sSub>
                      </m:den>
                    </m:f>
                    <m:r>
                      <a:rPr lang="en-US" sz="2000" i="1">
                        <a:solidFill>
                          <a:srgbClr val="000000"/>
                        </a:solidFill>
                        <a:latin typeface="Cambria Math" panose="02040503050406030204" pitchFamily="18" charset="0"/>
                        <a:cs typeface="Calibri" panose="020F0502020204030204" pitchFamily="34" charset="0"/>
                      </a:rPr>
                      <m:t>=</m:t>
                    </m:r>
                    <m:f>
                      <m:fPr>
                        <m:ctrlPr>
                          <a:rPr lang="en-US" sz="2000" i="1">
                            <a:solidFill>
                              <a:srgbClr val="000000"/>
                            </a:solidFill>
                            <a:latin typeface="Cambria Math" panose="02040503050406030204" pitchFamily="18" charset="0"/>
                            <a:cs typeface="Calibri" panose="020F0502020204030204" pitchFamily="34" charset="0"/>
                          </a:rPr>
                        </m:ctrlPr>
                      </m:fPr>
                      <m:num>
                        <m:sSup>
                          <m:sSupPr>
                            <m:ctrlPr>
                              <a:rPr lang="en-US" sz="2000" i="1">
                                <a:solidFill>
                                  <a:srgbClr val="000000"/>
                                </a:solidFill>
                                <a:latin typeface="Cambria Math" panose="02040503050406030204" pitchFamily="18" charset="0"/>
                                <a:cs typeface="Calibri" panose="020F0502020204030204" pitchFamily="34" charset="0"/>
                              </a:rPr>
                            </m:ctrlPr>
                          </m:sSupPr>
                          <m:e>
                            <m:r>
                              <a:rPr lang="en-US" sz="2000" i="1">
                                <a:solidFill>
                                  <a:srgbClr val="000000"/>
                                </a:solidFill>
                                <a:latin typeface="Cambria Math" panose="02040503050406030204" pitchFamily="18" charset="0"/>
                                <a:cs typeface="Calibri" panose="020F0502020204030204" pitchFamily="34" charset="0"/>
                              </a:rPr>
                              <m:t>|</m:t>
                            </m:r>
                            <m:r>
                              <a:rPr lang="en-US" sz="2000" i="1">
                                <a:solidFill>
                                  <a:srgbClr val="000000"/>
                                </a:solidFill>
                                <a:latin typeface="Cambria Math" panose="02040503050406030204" pitchFamily="18" charset="0"/>
                                <a:cs typeface="Calibri" panose="020F0502020204030204" pitchFamily="34" charset="0"/>
                              </a:rPr>
                              <m:t>ℎ𝐸</m:t>
                            </m:r>
                            <m:r>
                              <a:rPr lang="en-US" sz="2000" i="1">
                                <a:solidFill>
                                  <a:srgbClr val="000000"/>
                                </a:solidFill>
                                <a:latin typeface="Cambria Math" panose="02040503050406030204" pitchFamily="18" charset="0"/>
                                <a:cs typeface="Calibri" panose="020F0502020204030204" pitchFamily="34" charset="0"/>
                              </a:rPr>
                              <m:t>|</m:t>
                            </m:r>
                          </m:e>
                          <m:sup>
                            <m:r>
                              <a:rPr lang="en-US" sz="2000" i="1">
                                <a:solidFill>
                                  <a:srgbClr val="000000"/>
                                </a:solidFill>
                                <a:latin typeface="Cambria Math" panose="02040503050406030204" pitchFamily="18" charset="0"/>
                                <a:cs typeface="Calibri" panose="020F0502020204030204" pitchFamily="34" charset="0"/>
                              </a:rPr>
                              <m:t>2</m:t>
                            </m:r>
                          </m:sup>
                        </m:sSup>
                      </m:num>
                      <m:den>
                        <m:r>
                          <a:rPr lang="en-US" sz="2000" i="1">
                            <a:solidFill>
                              <a:srgbClr val="000000"/>
                            </a:solidFill>
                            <a:latin typeface="Cambria Math" panose="02040503050406030204" pitchFamily="18" charset="0"/>
                            <a:cs typeface="Calibri" panose="020F0502020204030204" pitchFamily="34" charset="0"/>
                          </a:rPr>
                          <m:t>8</m:t>
                        </m:r>
                        <m:sSub>
                          <m:sSubPr>
                            <m:ctrlPr>
                              <a:rPr lang="en-US" sz="2000" i="1">
                                <a:solidFill>
                                  <a:srgbClr val="000000"/>
                                </a:solidFill>
                                <a:latin typeface="Cambria Math" panose="02040503050406030204" pitchFamily="18" charset="0"/>
                                <a:cs typeface="Calibri" panose="020F0502020204030204" pitchFamily="34" charset="0"/>
                              </a:rPr>
                            </m:ctrlPr>
                          </m:sSubPr>
                          <m:e>
                            <m:r>
                              <a:rPr lang="en-US" sz="2000" i="1">
                                <a:solidFill>
                                  <a:srgbClr val="000000"/>
                                </a:solidFill>
                                <a:latin typeface="Cambria Math" panose="02040503050406030204" pitchFamily="18" charset="0"/>
                                <a:cs typeface="Calibri" panose="020F0502020204030204" pitchFamily="34" charset="0"/>
                              </a:rPr>
                              <m:t>𝑅</m:t>
                            </m:r>
                          </m:e>
                          <m:sub>
                            <m:r>
                              <a:rPr lang="en-US" sz="2000" i="1">
                                <a:solidFill>
                                  <a:srgbClr val="000000"/>
                                </a:solidFill>
                                <a:latin typeface="Cambria Math" panose="02040503050406030204" pitchFamily="18" charset="0"/>
                                <a:cs typeface="Calibri" panose="020F0502020204030204" pitchFamily="34" charset="0"/>
                              </a:rPr>
                              <m:t>𝑎</m:t>
                            </m:r>
                          </m:sub>
                        </m:sSub>
                      </m:den>
                    </m:f>
                  </m:oMath>
                </a14:m>
                <a:r>
                  <a:rPr lang="en-US" sz="2000" dirty="0">
                    <a:solidFill>
                      <a:srgbClr val="000000"/>
                    </a:solidFill>
                    <a:latin typeface="Calibri" panose="020F0502020204030204" pitchFamily="34" charset="0"/>
                    <a:cs typeface="Calibri" panose="020F0502020204030204" pitchFamily="34" charset="0"/>
                  </a:rPr>
                  <a:t>, so </a:t>
                </a:r>
                <a14:m>
                  <m:oMath xmlns:m="http://schemas.openxmlformats.org/officeDocument/2006/math">
                    <m:sSub>
                      <m:sSubPr>
                        <m:ctrlPr>
                          <a:rPr lang="en-US" sz="2000" i="1">
                            <a:solidFill>
                              <a:srgbClr val="000000"/>
                            </a:solidFill>
                            <a:latin typeface="Cambria Math" panose="02040503050406030204" pitchFamily="18" charset="0"/>
                            <a:cs typeface="Calibri" panose="020F0502020204030204" pitchFamily="34" charset="0"/>
                          </a:rPr>
                        </m:ctrlPr>
                      </m:sSubPr>
                      <m:e>
                        <m:r>
                          <a:rPr lang="en-US" sz="2000" i="1">
                            <a:solidFill>
                              <a:srgbClr val="000000"/>
                            </a:solidFill>
                            <a:latin typeface="Cambria Math" panose="02040503050406030204" pitchFamily="18" charset="0"/>
                            <a:cs typeface="Calibri" panose="020F0502020204030204" pitchFamily="34" charset="0"/>
                          </a:rPr>
                          <m:t>𝑃</m:t>
                        </m:r>
                      </m:e>
                      <m:sub>
                        <m:r>
                          <a:rPr lang="en-US" sz="2000" i="1">
                            <a:solidFill>
                              <a:srgbClr val="000000"/>
                            </a:solidFill>
                            <a:latin typeface="Cambria Math" panose="02040503050406030204" pitchFamily="18" charset="0"/>
                            <a:cs typeface="Calibri" panose="020F0502020204030204" pitchFamily="34" charset="0"/>
                          </a:rPr>
                          <m:t>𝑟</m:t>
                        </m:r>
                      </m:sub>
                    </m:sSub>
                    <m:r>
                      <a:rPr lang="en-US" sz="2000" i="1">
                        <a:solidFill>
                          <a:srgbClr val="000000"/>
                        </a:solidFill>
                        <a:latin typeface="Cambria Math" panose="02040503050406030204" pitchFamily="18" charset="0"/>
                        <a:cs typeface="Calibri" panose="020F0502020204030204" pitchFamily="34" charset="0"/>
                      </a:rPr>
                      <m:t>=</m:t>
                    </m:r>
                    <m:f>
                      <m:fPr>
                        <m:ctrlPr>
                          <a:rPr lang="en-US" sz="2000" i="1">
                            <a:solidFill>
                              <a:srgbClr val="000000"/>
                            </a:solidFill>
                            <a:latin typeface="Cambria Math" panose="02040503050406030204" pitchFamily="18" charset="0"/>
                            <a:cs typeface="Calibri" panose="020F0502020204030204" pitchFamily="34" charset="0"/>
                          </a:rPr>
                        </m:ctrlPr>
                      </m:fPr>
                      <m:num>
                        <m:sSup>
                          <m:sSupPr>
                            <m:ctrlPr>
                              <a:rPr lang="en-US" sz="2000" i="1">
                                <a:solidFill>
                                  <a:srgbClr val="000000"/>
                                </a:solidFill>
                                <a:latin typeface="Cambria Math" panose="02040503050406030204" pitchFamily="18" charset="0"/>
                                <a:cs typeface="Calibri" panose="020F0502020204030204" pitchFamily="34" charset="0"/>
                              </a:rPr>
                            </m:ctrlPr>
                          </m:sSupPr>
                          <m:e>
                            <m:r>
                              <a:rPr lang="en-US" sz="2000" i="1">
                                <a:solidFill>
                                  <a:srgbClr val="000000"/>
                                </a:solidFill>
                                <a:latin typeface="Cambria Math" panose="02040503050406030204" pitchFamily="18" charset="0"/>
                                <a:cs typeface="Calibri" panose="020F0502020204030204" pitchFamily="34" charset="0"/>
                              </a:rPr>
                              <m:t>ℎ</m:t>
                            </m:r>
                          </m:e>
                          <m:sup>
                            <m:r>
                              <a:rPr lang="en-US" sz="2000" i="1">
                                <a:solidFill>
                                  <a:srgbClr val="000000"/>
                                </a:solidFill>
                                <a:latin typeface="Cambria Math" panose="02040503050406030204" pitchFamily="18" charset="0"/>
                                <a:cs typeface="Calibri" panose="020F0502020204030204" pitchFamily="34" charset="0"/>
                              </a:rPr>
                              <m:t>2</m:t>
                            </m:r>
                          </m:sup>
                        </m:sSup>
                        <m:sSub>
                          <m:sSubPr>
                            <m:ctrlPr>
                              <a:rPr lang="en-US" sz="2000" i="1">
                                <a:solidFill>
                                  <a:srgbClr val="000000"/>
                                </a:solidFill>
                                <a:latin typeface="Cambria Math" panose="02040503050406030204" pitchFamily="18" charset="0"/>
                                <a:ea typeface="Cambria Math" panose="02040503050406030204" pitchFamily="18" charset="0"/>
                                <a:cs typeface="Calibri" panose="020F0502020204030204" pitchFamily="34" charset="0"/>
                              </a:rPr>
                            </m:ctrlPr>
                          </m:sSubPr>
                          <m:e>
                            <m:r>
                              <a:rPr lang="en-US" sz="2000" i="1">
                                <a:solidFill>
                                  <a:srgbClr val="000000"/>
                                </a:solidFill>
                                <a:latin typeface="Cambria Math" panose="02040503050406030204" pitchFamily="18" charset="0"/>
                                <a:ea typeface="Cambria Math" panose="02040503050406030204" pitchFamily="18" charset="0"/>
                                <a:cs typeface="Calibri" panose="020F0502020204030204" pitchFamily="34" charset="0"/>
                              </a:rPr>
                              <m:t>𝜂</m:t>
                            </m:r>
                          </m:e>
                          <m:sub>
                            <m:r>
                              <a:rPr lang="en-US" sz="2000" i="1">
                                <a:solidFill>
                                  <a:srgbClr val="000000"/>
                                </a:solidFill>
                                <a:latin typeface="Cambria Math" panose="02040503050406030204" pitchFamily="18" charset="0"/>
                                <a:cs typeface="Calibri" panose="020F0502020204030204" pitchFamily="34" charset="0"/>
                              </a:rPr>
                              <m:t>0</m:t>
                            </m:r>
                          </m:sub>
                        </m:sSub>
                      </m:num>
                      <m:den>
                        <m:r>
                          <a:rPr lang="en-US" sz="2000" i="1">
                            <a:solidFill>
                              <a:srgbClr val="000000"/>
                            </a:solidFill>
                            <a:latin typeface="Cambria Math" panose="02040503050406030204" pitchFamily="18" charset="0"/>
                            <a:cs typeface="Calibri" panose="020F0502020204030204" pitchFamily="34" charset="0"/>
                          </a:rPr>
                          <m:t>4</m:t>
                        </m:r>
                        <m:r>
                          <a:rPr lang="en-US" sz="2000" i="1">
                            <a:solidFill>
                              <a:srgbClr val="000000"/>
                            </a:solidFill>
                            <a:latin typeface="Cambria Math" panose="02040503050406030204" pitchFamily="18" charset="0"/>
                            <a:cs typeface="Calibri" panose="020F0502020204030204" pitchFamily="34" charset="0"/>
                          </a:rPr>
                          <m:t>𝑅</m:t>
                        </m:r>
                      </m:den>
                    </m:f>
                    <m:r>
                      <a:rPr lang="en-US" sz="2000" i="1">
                        <a:solidFill>
                          <a:srgbClr val="000000"/>
                        </a:solidFill>
                        <a:latin typeface="Cambria Math" panose="02040503050406030204" pitchFamily="18" charset="0"/>
                        <a:cs typeface="Calibri" panose="020F0502020204030204" pitchFamily="34" charset="0"/>
                      </a:rPr>
                      <m:t>𝑆</m:t>
                    </m:r>
                    <m:r>
                      <a:rPr lang="en-US" sz="2000" i="1" dirty="0">
                        <a:solidFill>
                          <a:srgbClr val="000000"/>
                        </a:solidFill>
                        <a:latin typeface="Cambria Math" panose="02040503050406030204" pitchFamily="18" charset="0"/>
                        <a:ea typeface="Cambria Math" panose="02040503050406030204" pitchFamily="18" charset="0"/>
                      </a:rPr>
                      <m:t>(</m:t>
                    </m:r>
                    <m:r>
                      <a:rPr lang="en-US" sz="2000" i="1" dirty="0">
                        <a:solidFill>
                          <a:srgbClr val="000000"/>
                        </a:solidFill>
                        <a:latin typeface="Cambria Math" panose="02040503050406030204" pitchFamily="18" charset="0"/>
                        <a:ea typeface="Cambria Math" panose="02040503050406030204" pitchFamily="18" charset="0"/>
                      </a:rPr>
                      <m:t>𝜃</m:t>
                    </m:r>
                    <m:r>
                      <a:rPr lang="en-US" sz="2000" i="1" dirty="0">
                        <a:solidFill>
                          <a:srgbClr val="000000"/>
                        </a:solidFill>
                        <a:latin typeface="Cambria Math" panose="02040503050406030204" pitchFamily="18" charset="0"/>
                        <a:ea typeface="Cambria Math" panose="02040503050406030204" pitchFamily="18" charset="0"/>
                      </a:rPr>
                      <m:t>,</m:t>
                    </m:r>
                    <m:r>
                      <a:rPr lang="en-US" sz="2000" i="1" dirty="0">
                        <a:solidFill>
                          <a:srgbClr val="000000"/>
                        </a:solidFill>
                        <a:latin typeface="Cambria Math" panose="02040503050406030204" pitchFamily="18" charset="0"/>
                        <a:ea typeface="Cambria Math" panose="02040503050406030204" pitchFamily="18" charset="0"/>
                      </a:rPr>
                      <m:t>𝜙</m:t>
                    </m:r>
                    <m:r>
                      <a:rPr lang="en-US" sz="2000" i="1" dirty="0">
                        <a:solidFill>
                          <a:srgbClr val="000000"/>
                        </a:solidFill>
                        <a:latin typeface="Cambria Math" panose="02040503050406030204" pitchFamily="18" charset="0"/>
                        <a:ea typeface="Cambria Math" panose="02040503050406030204" pitchFamily="18" charset="0"/>
                      </a:rPr>
                      <m:t>)</m:t>
                    </m:r>
                  </m:oMath>
                </a14:m>
                <a:r>
                  <a:rPr lang="en-US" sz="2000" dirty="0">
                    <a:solidFill>
                      <a:srgbClr val="000000"/>
                    </a:solidFill>
                    <a:latin typeface="Calibri" panose="020F0502020204030204" pitchFamily="34" charset="0"/>
                    <a:cs typeface="Calibri" panose="020F0502020204030204" pitchFamily="34" charset="0"/>
                  </a:rPr>
                  <a:t>, so  </a:t>
                </a:r>
                <a14:m>
                  <m:oMath xmlns:m="http://schemas.openxmlformats.org/officeDocument/2006/math">
                    <m:r>
                      <a:rPr lang="en-US" sz="2000" i="1">
                        <a:solidFill>
                          <a:srgbClr val="000000"/>
                        </a:solidFill>
                        <a:latin typeface="Cambria Math" panose="02040503050406030204" pitchFamily="18" charset="0"/>
                        <a:cs typeface="Calibri" panose="020F0502020204030204" pitchFamily="34" charset="0"/>
                      </a:rPr>
                      <m:t>𝐴</m:t>
                    </m:r>
                    <m:r>
                      <a:rPr lang="en-US" sz="2000" i="1">
                        <a:solidFill>
                          <a:srgbClr val="000000"/>
                        </a:solidFill>
                        <a:latin typeface="Cambria Math" panose="02040503050406030204" pitchFamily="18" charset="0"/>
                        <a:cs typeface="Calibri" panose="020F0502020204030204" pitchFamily="34" charset="0"/>
                      </a:rPr>
                      <m:t>=</m:t>
                    </m:r>
                    <m:f>
                      <m:fPr>
                        <m:ctrlPr>
                          <a:rPr lang="en-US" sz="2000" i="1">
                            <a:solidFill>
                              <a:srgbClr val="000000"/>
                            </a:solidFill>
                            <a:latin typeface="Cambria Math" panose="02040503050406030204" pitchFamily="18" charset="0"/>
                            <a:cs typeface="Calibri" panose="020F0502020204030204" pitchFamily="34" charset="0"/>
                          </a:rPr>
                        </m:ctrlPr>
                      </m:fPr>
                      <m:num>
                        <m:sSup>
                          <m:sSupPr>
                            <m:ctrlPr>
                              <a:rPr lang="en-US" sz="2000" i="1">
                                <a:solidFill>
                                  <a:srgbClr val="000000"/>
                                </a:solidFill>
                                <a:latin typeface="Cambria Math" panose="02040503050406030204" pitchFamily="18" charset="0"/>
                                <a:cs typeface="Calibri" panose="020F0502020204030204" pitchFamily="34" charset="0"/>
                              </a:rPr>
                            </m:ctrlPr>
                          </m:sSupPr>
                          <m:e>
                            <m:r>
                              <a:rPr lang="en-US" sz="2000" i="1">
                                <a:solidFill>
                                  <a:srgbClr val="000000"/>
                                </a:solidFill>
                                <a:latin typeface="Cambria Math" panose="02040503050406030204" pitchFamily="18" charset="0"/>
                                <a:cs typeface="Calibri" panose="020F0502020204030204" pitchFamily="34" charset="0"/>
                              </a:rPr>
                              <m:t>ℎ</m:t>
                            </m:r>
                          </m:e>
                          <m:sup>
                            <m:r>
                              <a:rPr lang="en-US" sz="2000" i="1">
                                <a:solidFill>
                                  <a:srgbClr val="000000"/>
                                </a:solidFill>
                                <a:latin typeface="Cambria Math" panose="02040503050406030204" pitchFamily="18" charset="0"/>
                                <a:cs typeface="Calibri" panose="020F0502020204030204" pitchFamily="34" charset="0"/>
                              </a:rPr>
                              <m:t>2</m:t>
                            </m:r>
                          </m:sup>
                        </m:sSup>
                        <m:sSub>
                          <m:sSubPr>
                            <m:ctrlPr>
                              <a:rPr lang="en-US" sz="2000" i="1">
                                <a:solidFill>
                                  <a:srgbClr val="000000"/>
                                </a:solidFill>
                                <a:latin typeface="Cambria Math" panose="02040503050406030204" pitchFamily="18" charset="0"/>
                                <a:ea typeface="Cambria Math" panose="02040503050406030204" pitchFamily="18" charset="0"/>
                                <a:cs typeface="Calibri" panose="020F0502020204030204" pitchFamily="34" charset="0"/>
                              </a:rPr>
                            </m:ctrlPr>
                          </m:sSubPr>
                          <m:e>
                            <m:r>
                              <a:rPr lang="en-US" sz="2000" i="1">
                                <a:solidFill>
                                  <a:srgbClr val="000000"/>
                                </a:solidFill>
                                <a:latin typeface="Cambria Math" panose="02040503050406030204" pitchFamily="18" charset="0"/>
                                <a:ea typeface="Cambria Math" panose="02040503050406030204" pitchFamily="18" charset="0"/>
                                <a:cs typeface="Calibri" panose="020F0502020204030204" pitchFamily="34" charset="0"/>
                              </a:rPr>
                              <m:t>𝜂</m:t>
                            </m:r>
                          </m:e>
                          <m:sub>
                            <m:r>
                              <a:rPr lang="en-US" sz="2000" i="1">
                                <a:solidFill>
                                  <a:srgbClr val="000000"/>
                                </a:solidFill>
                                <a:latin typeface="Cambria Math" panose="02040503050406030204" pitchFamily="18" charset="0"/>
                                <a:cs typeface="Calibri" panose="020F0502020204030204" pitchFamily="34" charset="0"/>
                              </a:rPr>
                              <m:t>0</m:t>
                            </m:r>
                          </m:sub>
                        </m:sSub>
                      </m:num>
                      <m:den>
                        <m:r>
                          <a:rPr lang="en-US" sz="2000" i="1">
                            <a:solidFill>
                              <a:srgbClr val="000000"/>
                            </a:solidFill>
                            <a:latin typeface="Cambria Math" panose="02040503050406030204" pitchFamily="18" charset="0"/>
                            <a:cs typeface="Calibri" panose="020F0502020204030204" pitchFamily="34" charset="0"/>
                          </a:rPr>
                          <m:t>4</m:t>
                        </m:r>
                        <m:r>
                          <a:rPr lang="en-US" sz="2000" i="1">
                            <a:solidFill>
                              <a:srgbClr val="000000"/>
                            </a:solidFill>
                            <a:latin typeface="Cambria Math" panose="02040503050406030204" pitchFamily="18" charset="0"/>
                            <a:cs typeface="Calibri" panose="020F0502020204030204" pitchFamily="34" charset="0"/>
                          </a:rPr>
                          <m:t>𝑅</m:t>
                        </m:r>
                      </m:den>
                    </m:f>
                  </m:oMath>
                </a14:m>
                <a:endParaRPr lang="en-US" sz="2000" dirty="0">
                  <a:solidFill>
                    <a:srgbClr val="000000"/>
                  </a:solidFill>
                  <a:latin typeface="Calibri" panose="020F0502020204030204" pitchFamily="34" charset="0"/>
                  <a:cs typeface="Calibri" panose="020F0502020204030204" pitchFamily="34" charset="0"/>
                </a:endParaRPr>
              </a:p>
              <a:p>
                <a:pPr algn="l" rtl="0" latinLnBrk="1" hangingPunct="0"/>
                <a:endParaRPr lang="en-US" dirty="0">
                  <a:solidFill>
                    <a:srgbClr val="000000"/>
                  </a:solidFill>
                </a:endParaRP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450549" y="1717121"/>
                <a:ext cx="8299004" cy="4592367"/>
              </a:xfrm>
              <a:prstGeom prst="rect">
                <a:avLst/>
              </a:prstGeom>
              <a:blipFill>
                <a:blip r:embed="rId3"/>
                <a:stretch>
                  <a:fillRect l="-1223" r="-917"/>
                </a:stretch>
              </a:blipFill>
              <a:ln w="12700" cap="flat">
                <a:noFill/>
                <a:miter lim="400000"/>
              </a:ln>
              <a:effectLst/>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F3EED66A-56F2-494C-BB12-2E8BBB011DE2}"/>
              </a:ext>
            </a:extLst>
          </p:cNvPr>
          <p:cNvSpPr>
            <a:spLocks noGrp="1"/>
          </p:cNvSpPr>
          <p:nvPr>
            <p:ph type="sldNum" sz="quarter" idx="2"/>
          </p:nvPr>
        </p:nvSpPr>
        <p:spPr>
          <a:xfrm>
            <a:off x="9664232" y="6385518"/>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9</a:t>
            </a:fld>
            <a:endParaRPr lang="en-US" dirty="0">
              <a:solidFill>
                <a:schemeClr val="tx1"/>
              </a:solidFill>
            </a:endParaRPr>
          </a:p>
        </p:txBody>
      </p:sp>
      <p:grpSp>
        <p:nvGrpSpPr>
          <p:cNvPr id="28" name="Group 27">
            <a:extLst>
              <a:ext uri="{FF2B5EF4-FFF2-40B4-BE49-F238E27FC236}">
                <a16:creationId xmlns:a16="http://schemas.microsoft.com/office/drawing/2014/main" id="{5D1A2021-B748-5447-99D2-8AB0BD33251A}"/>
              </a:ext>
            </a:extLst>
          </p:cNvPr>
          <p:cNvGrpSpPr/>
          <p:nvPr/>
        </p:nvGrpSpPr>
        <p:grpSpPr>
          <a:xfrm>
            <a:off x="9006559" y="3412503"/>
            <a:ext cx="2898575" cy="2737135"/>
            <a:chOff x="7887899" y="3028332"/>
            <a:chExt cx="3012620" cy="2737135"/>
          </a:xfrm>
        </p:grpSpPr>
        <p:sp>
          <p:nvSpPr>
            <p:cNvPr id="6" name="Rectangle 5">
              <a:extLst>
                <a:ext uri="{FF2B5EF4-FFF2-40B4-BE49-F238E27FC236}">
                  <a16:creationId xmlns:a16="http://schemas.microsoft.com/office/drawing/2014/main" id="{475F660F-D7A6-EB49-B742-88992D84BB2E}"/>
                </a:ext>
              </a:extLst>
            </p:cNvPr>
            <p:cNvSpPr/>
            <p:nvPr/>
          </p:nvSpPr>
          <p:spPr>
            <a:xfrm>
              <a:off x="7887899" y="5426913"/>
              <a:ext cx="3012620" cy="338554"/>
            </a:xfrm>
            <a:prstGeom prst="rect">
              <a:avLst/>
            </a:prstGeom>
          </p:spPr>
          <p:txBody>
            <a:bodyPr wrap="none">
              <a:spAutoFit/>
            </a:bodyPr>
            <a:lstStyle/>
            <a:p>
              <a:r>
                <a:rPr lang="en-US" sz="1600" dirty="0"/>
                <a:t>Dipole Thevenin equivalent circuit</a:t>
              </a:r>
            </a:p>
          </p:txBody>
        </p:sp>
        <p:grpSp>
          <p:nvGrpSpPr>
            <p:cNvPr id="8" name="Group 7">
              <a:extLst>
                <a:ext uri="{FF2B5EF4-FFF2-40B4-BE49-F238E27FC236}">
                  <a16:creationId xmlns:a16="http://schemas.microsoft.com/office/drawing/2014/main" id="{9BC82839-9604-5E40-A8B2-4BD475DCF5B3}"/>
                </a:ext>
              </a:extLst>
            </p:cNvPr>
            <p:cNvGrpSpPr/>
            <p:nvPr/>
          </p:nvGrpSpPr>
          <p:grpSpPr>
            <a:xfrm>
              <a:off x="8216695" y="4472532"/>
              <a:ext cx="543906" cy="523218"/>
              <a:chOff x="7097485" y="3674605"/>
              <a:chExt cx="548640" cy="548640"/>
            </a:xfrm>
          </p:grpSpPr>
          <p:sp>
            <p:nvSpPr>
              <p:cNvPr id="24" name="Freeform 23">
                <a:extLst>
                  <a:ext uri="{FF2B5EF4-FFF2-40B4-BE49-F238E27FC236}">
                    <a16:creationId xmlns:a16="http://schemas.microsoft.com/office/drawing/2014/main" id="{C38F432A-614E-F144-AFB5-DB8EE8BE7CC6}"/>
                  </a:ext>
                </a:extLst>
              </p:cNvPr>
              <p:cNvSpPr/>
              <p:nvPr/>
            </p:nvSpPr>
            <p:spPr>
              <a:xfrm>
                <a:off x="7196744" y="3814776"/>
                <a:ext cx="294626" cy="299873"/>
              </a:xfrm>
              <a:custGeom>
                <a:avLst/>
                <a:gdLst>
                  <a:gd name="connsiteX0" fmla="*/ 0 w 586788"/>
                  <a:gd name="connsiteY0" fmla="*/ 227323 h 399320"/>
                  <a:gd name="connsiteX1" fmla="*/ 255182 w 586788"/>
                  <a:gd name="connsiteY1" fmla="*/ 4039 h 399320"/>
                  <a:gd name="connsiteX2" fmla="*/ 361507 w 586788"/>
                  <a:gd name="connsiteY2" fmla="*/ 397443 h 399320"/>
                  <a:gd name="connsiteX3" fmla="*/ 574158 w 586788"/>
                  <a:gd name="connsiteY3" fmla="*/ 152895 h 399320"/>
                  <a:gd name="connsiteX4" fmla="*/ 563526 w 586788"/>
                  <a:gd name="connsiteY4" fmla="*/ 152895 h 399320"/>
                  <a:gd name="connsiteX5" fmla="*/ 563526 w 586788"/>
                  <a:gd name="connsiteY5" fmla="*/ 152895 h 399320"/>
                  <a:gd name="connsiteX6" fmla="*/ 574158 w 586788"/>
                  <a:gd name="connsiteY6" fmla="*/ 152895 h 399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6788" h="399320">
                    <a:moveTo>
                      <a:pt x="0" y="227323"/>
                    </a:moveTo>
                    <a:cubicBezTo>
                      <a:pt x="97465" y="101504"/>
                      <a:pt x="194931" y="-24314"/>
                      <a:pt x="255182" y="4039"/>
                    </a:cubicBezTo>
                    <a:cubicBezTo>
                      <a:pt x="315433" y="32392"/>
                      <a:pt x="308344" y="372634"/>
                      <a:pt x="361507" y="397443"/>
                    </a:cubicBezTo>
                    <a:cubicBezTo>
                      <a:pt x="414670" y="422252"/>
                      <a:pt x="540488" y="193653"/>
                      <a:pt x="574158" y="152895"/>
                    </a:cubicBezTo>
                    <a:cubicBezTo>
                      <a:pt x="607828" y="112137"/>
                      <a:pt x="563526" y="152895"/>
                      <a:pt x="563526" y="152895"/>
                    </a:cubicBezTo>
                    <a:lnTo>
                      <a:pt x="563526" y="152895"/>
                    </a:lnTo>
                    <a:lnTo>
                      <a:pt x="574158" y="152895"/>
                    </a:lnTo>
                  </a:path>
                </a:pathLst>
              </a:custGeom>
              <a:no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tlCol="0" anchor="ctr"/>
              <a:lstStyle/>
              <a:p>
                <a:pPr algn="ctr"/>
                <a:endParaRPr lang="en-US"/>
              </a:p>
            </p:txBody>
          </p:sp>
          <p:sp>
            <p:nvSpPr>
              <p:cNvPr id="25" name="Oval 24">
                <a:extLst>
                  <a:ext uri="{FF2B5EF4-FFF2-40B4-BE49-F238E27FC236}">
                    <a16:creationId xmlns:a16="http://schemas.microsoft.com/office/drawing/2014/main" id="{DC6EC889-30F5-E24C-8F53-402D928ACCA1}"/>
                  </a:ext>
                </a:extLst>
              </p:cNvPr>
              <p:cNvSpPr/>
              <p:nvPr/>
            </p:nvSpPr>
            <p:spPr>
              <a:xfrm>
                <a:off x="7097485" y="3674605"/>
                <a:ext cx="548640" cy="548640"/>
              </a:xfrm>
              <a:prstGeom prst="ellipse">
                <a:avLst/>
              </a:prstGeom>
              <a:no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a:solidFill>
                    <a:srgbClr val="000000"/>
                  </a:solidFill>
                  <a:latin typeface="Calibri"/>
                  <a:ea typeface="Calibri"/>
                  <a:cs typeface="Calibri"/>
                  <a:sym typeface="Calibri"/>
                </a:endParaRPr>
              </a:p>
            </p:txBody>
          </p:sp>
        </p:grpSp>
        <p:sp>
          <p:nvSpPr>
            <p:cNvPr id="9" name="Freeform 8">
              <a:extLst>
                <a:ext uri="{FF2B5EF4-FFF2-40B4-BE49-F238E27FC236}">
                  <a16:creationId xmlns:a16="http://schemas.microsoft.com/office/drawing/2014/main" id="{D80795F6-B2D6-9147-9730-6AA0B034C0D0}"/>
                </a:ext>
              </a:extLst>
            </p:cNvPr>
            <p:cNvSpPr>
              <a:spLocks noChangeAspect="1"/>
            </p:cNvSpPr>
            <p:nvPr/>
          </p:nvSpPr>
          <p:spPr bwMode="auto">
            <a:xfrm>
              <a:off x="8419048" y="3710532"/>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1" name="Group 210">
              <a:extLst>
                <a:ext uri="{FF2B5EF4-FFF2-40B4-BE49-F238E27FC236}">
                  <a16:creationId xmlns:a16="http://schemas.microsoft.com/office/drawing/2014/main" id="{CE80F29A-EBC9-D341-BEE0-A8F2D3F45D60}"/>
                </a:ext>
              </a:extLst>
            </p:cNvPr>
            <p:cNvGrpSpPr>
              <a:grpSpLocks/>
            </p:cNvGrpSpPr>
            <p:nvPr/>
          </p:nvGrpSpPr>
          <p:grpSpPr bwMode="auto">
            <a:xfrm>
              <a:off x="8342848" y="3088916"/>
              <a:ext cx="304800" cy="762000"/>
              <a:chOff x="3216" y="1728"/>
              <a:chExt cx="192" cy="480"/>
            </a:xfrm>
          </p:grpSpPr>
          <p:sp>
            <p:nvSpPr>
              <p:cNvPr id="20" name="Line 8">
                <a:extLst>
                  <a:ext uri="{FF2B5EF4-FFF2-40B4-BE49-F238E27FC236}">
                    <a16:creationId xmlns:a16="http://schemas.microsoft.com/office/drawing/2014/main" id="{05BAE519-0A74-244C-B54A-06086EF5288E}"/>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 name="Line 9">
                <a:extLst>
                  <a:ext uri="{FF2B5EF4-FFF2-40B4-BE49-F238E27FC236}">
                    <a16:creationId xmlns:a16="http://schemas.microsoft.com/office/drawing/2014/main" id="{07AAED18-4CDA-C548-A2F2-553476EEBCCD}"/>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 name="Line 10">
                <a:extLst>
                  <a:ext uri="{FF2B5EF4-FFF2-40B4-BE49-F238E27FC236}">
                    <a16:creationId xmlns:a16="http://schemas.microsoft.com/office/drawing/2014/main" id="{F25B6832-44AD-ED4B-92DA-775E11F91930}"/>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 name="Line 11">
                <a:extLst>
                  <a:ext uri="{FF2B5EF4-FFF2-40B4-BE49-F238E27FC236}">
                    <a16:creationId xmlns:a16="http://schemas.microsoft.com/office/drawing/2014/main" id="{389390C7-4F2B-A242-8C4D-56451EE93AF2}"/>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 name="TextBox 11">
              <a:extLst>
                <a:ext uri="{FF2B5EF4-FFF2-40B4-BE49-F238E27FC236}">
                  <a16:creationId xmlns:a16="http://schemas.microsoft.com/office/drawing/2014/main" id="{0A075D93-A97D-954B-9BE2-7F8035C9E5D6}"/>
                </a:ext>
              </a:extLst>
            </p:cNvPr>
            <p:cNvSpPr txBox="1"/>
            <p:nvPr/>
          </p:nvSpPr>
          <p:spPr>
            <a:xfrm>
              <a:off x="8723848" y="3306706"/>
              <a:ext cx="550848"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C</a:t>
              </a:r>
            </a:p>
          </p:txBody>
        </p:sp>
        <p:sp>
          <p:nvSpPr>
            <p:cNvPr id="13" name="TextBox 12">
              <a:extLst>
                <a:ext uri="{FF2B5EF4-FFF2-40B4-BE49-F238E27FC236}">
                  <a16:creationId xmlns:a16="http://schemas.microsoft.com/office/drawing/2014/main" id="{7E29A758-E96C-2F44-B0CB-6EAC3F210142}"/>
                </a:ext>
              </a:extLst>
            </p:cNvPr>
            <p:cNvSpPr txBox="1"/>
            <p:nvPr/>
          </p:nvSpPr>
          <p:spPr>
            <a:xfrm>
              <a:off x="8723848" y="3944511"/>
              <a:ext cx="550848"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R</a:t>
              </a:r>
              <a:endParaRPr lang="en-US" sz="1400" dirty="0">
                <a:solidFill>
                  <a:srgbClr val="000000"/>
                </a:solidFill>
                <a:latin typeface="Calibri"/>
                <a:ea typeface="Calibri"/>
                <a:cs typeface="Calibri"/>
                <a:sym typeface="Calibri"/>
              </a:endParaRPr>
            </a:p>
          </p:txBody>
        </p:sp>
        <p:cxnSp>
          <p:nvCxnSpPr>
            <p:cNvPr id="15" name="Straight Connector 14">
              <a:extLst>
                <a:ext uri="{FF2B5EF4-FFF2-40B4-BE49-F238E27FC236}">
                  <a16:creationId xmlns:a16="http://schemas.microsoft.com/office/drawing/2014/main" id="{49108D76-5E85-3543-ABB5-680E8E6E4112}"/>
                </a:ext>
              </a:extLst>
            </p:cNvPr>
            <p:cNvCxnSpPr>
              <a:cxnSpLocks/>
            </p:cNvCxnSpPr>
            <p:nvPr/>
          </p:nvCxnSpPr>
          <p:spPr>
            <a:xfrm flipH="1">
              <a:off x="8495250" y="5257883"/>
              <a:ext cx="1573310" cy="1"/>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7" name="Oval 16">
              <a:extLst>
                <a:ext uri="{FF2B5EF4-FFF2-40B4-BE49-F238E27FC236}">
                  <a16:creationId xmlns:a16="http://schemas.microsoft.com/office/drawing/2014/main" id="{87E6AD9A-AD9A-8545-877D-E4A834693F80}"/>
                </a:ext>
              </a:extLst>
            </p:cNvPr>
            <p:cNvSpPr/>
            <p:nvPr/>
          </p:nvSpPr>
          <p:spPr>
            <a:xfrm>
              <a:off x="10037087" y="5192412"/>
              <a:ext cx="137160" cy="13716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C8B3A8B-2829-6843-8AAC-FA6DEFA2E47B}"/>
                    </a:ext>
                  </a:extLst>
                </p:cNvPr>
                <p:cNvSpPr txBox="1"/>
                <p:nvPr/>
              </p:nvSpPr>
              <p:spPr>
                <a:xfrm>
                  <a:off x="8885735" y="4384366"/>
                  <a:ext cx="1721295" cy="83522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14:m>
                    <m:oMathPara xmlns:m="http://schemas.openxmlformats.org/officeDocument/2006/math">
                      <m:oMathParaPr>
                        <m:jc m:val="left"/>
                      </m:oMathParaPr>
                      <m:oMath>
                        <m:sSub>
                          <m:sSubPr>
                            <m:ctrlPr>
                              <a:rPr lang="en-US" sz="1600" i="1">
                                <a:solidFill>
                                  <a:srgbClr val="000000"/>
                                </a:solidFill>
                                <a:latin typeface="Cambria Math" panose="02040503050406030204" pitchFamily="18" charset="0"/>
                                <a:cs typeface="Calibri"/>
                                <a:sym typeface="Calibri"/>
                              </a:rPr>
                            </m:ctrlPr>
                          </m:sSubPr>
                          <m:e>
                            <m:r>
                              <a:rPr lang="en-US" sz="1600" i="1">
                                <a:solidFill>
                                  <a:srgbClr val="000000"/>
                                </a:solidFill>
                                <a:latin typeface="Cambria Math" panose="02040503050406030204" pitchFamily="18" charset="0"/>
                                <a:cs typeface="Calibri"/>
                                <a:sym typeface="Calibri"/>
                              </a:rPr>
                              <m:t>𝑉</m:t>
                            </m:r>
                          </m:e>
                          <m:sub>
                            <m:r>
                              <a:rPr lang="en-US" sz="1600" i="1">
                                <a:solidFill>
                                  <a:srgbClr val="000000"/>
                                </a:solidFill>
                                <a:latin typeface="Cambria Math" panose="02040503050406030204" pitchFamily="18" charset="0"/>
                                <a:cs typeface="Calibri"/>
                                <a:sym typeface="Calibri"/>
                              </a:rPr>
                              <m:t>0</m:t>
                            </m:r>
                          </m:sub>
                        </m:sSub>
                        <m:r>
                          <a:rPr lang="en-US" sz="1600" i="1">
                            <a:solidFill>
                              <a:srgbClr val="000000"/>
                            </a:solidFill>
                            <a:latin typeface="Cambria Math" panose="02040503050406030204" pitchFamily="18" charset="0"/>
                            <a:cs typeface="Calibri"/>
                            <a:sym typeface="Calibri"/>
                          </a:rPr>
                          <m:t>=</m:t>
                        </m:r>
                        <m:f>
                          <m:fPr>
                            <m:ctrlPr>
                              <a:rPr lang="en-US" sz="1600" i="1">
                                <a:solidFill>
                                  <a:srgbClr val="000000"/>
                                </a:solidFill>
                                <a:latin typeface="Cambria Math" panose="02040503050406030204" pitchFamily="18" charset="0"/>
                                <a:cs typeface="Calibri"/>
                                <a:sym typeface="Calibri"/>
                              </a:rPr>
                            </m:ctrlPr>
                          </m:fPr>
                          <m:num>
                            <m:r>
                              <a:rPr lang="en-US" sz="1600" i="1">
                                <a:solidFill>
                                  <a:srgbClr val="000000"/>
                                </a:solidFill>
                                <a:latin typeface="Cambria Math" panose="02040503050406030204" pitchFamily="18" charset="0"/>
                                <a:cs typeface="Calibri"/>
                                <a:sym typeface="Calibri"/>
                              </a:rPr>
                              <m:t>𝐸𝑙</m:t>
                            </m:r>
                          </m:num>
                          <m:den>
                            <m:r>
                              <a:rPr lang="en-US" sz="1600" i="1">
                                <a:solidFill>
                                  <a:srgbClr val="000000"/>
                                </a:solidFill>
                                <a:latin typeface="Cambria Math" panose="02040503050406030204" pitchFamily="18" charset="0"/>
                                <a:cs typeface="Calibri"/>
                                <a:sym typeface="Calibri"/>
                              </a:rPr>
                              <m:t>2</m:t>
                            </m:r>
                          </m:den>
                        </m:f>
                        <m:r>
                          <a:rPr lang="en-US" sz="1600" i="1">
                            <a:solidFill>
                              <a:srgbClr val="000000"/>
                            </a:solidFill>
                            <a:latin typeface="Cambria Math" panose="02040503050406030204" pitchFamily="18" charset="0"/>
                            <a:cs typeface="Calibri"/>
                            <a:sym typeface="Calibri"/>
                          </a:rPr>
                          <m:t> </m:t>
                        </m:r>
                        <m:r>
                          <m:rPr>
                            <m:sty m:val="p"/>
                          </m:rPr>
                          <a:rPr lang="en-US" sz="1600">
                            <a:solidFill>
                              <a:srgbClr val="000000"/>
                            </a:solidFill>
                            <a:latin typeface="Cambria Math" panose="02040503050406030204" pitchFamily="18" charset="0"/>
                            <a:cs typeface="Calibri"/>
                            <a:sym typeface="Calibri"/>
                          </a:rPr>
                          <m:t>sin</m:t>
                        </m:r>
                        <m:r>
                          <a:rPr lang="en-US" sz="1600" i="1">
                            <a:solidFill>
                              <a:srgbClr val="000000"/>
                            </a:solidFill>
                            <a:latin typeface="Cambria Math" panose="02040503050406030204" pitchFamily="18" charset="0"/>
                            <a:cs typeface="Calibri"/>
                            <a:sym typeface="Calibri"/>
                          </a:rPr>
                          <m:t>⁡(</m:t>
                        </m:r>
                        <m:r>
                          <a:rPr lang="en-US" sz="1600" i="1">
                            <a:solidFill>
                              <a:srgbClr val="000000"/>
                            </a:solidFill>
                            <a:latin typeface="Cambria Math" panose="02040503050406030204" pitchFamily="18" charset="0"/>
                            <a:ea typeface="Cambria Math" panose="02040503050406030204" pitchFamily="18" charset="0"/>
                            <a:sym typeface="Calibri"/>
                          </a:rPr>
                          <m:t>𝜃</m:t>
                        </m:r>
                        <m:r>
                          <a:rPr lang="en-US" sz="1600" i="1">
                            <a:solidFill>
                              <a:srgbClr val="000000"/>
                            </a:solidFill>
                            <a:latin typeface="Cambria Math" panose="02040503050406030204" pitchFamily="18" charset="0"/>
                            <a:ea typeface="Cambria Math" panose="02040503050406030204" pitchFamily="18" charset="0"/>
                            <a:sym typeface="Calibri"/>
                          </a:rPr>
                          <m:t>)</m:t>
                        </m:r>
                      </m:oMath>
                    </m:oMathPara>
                  </a14:m>
                  <a:endParaRPr lang="en-US" sz="1600" dirty="0">
                    <a:solidFill>
                      <a:srgbClr val="000000"/>
                    </a:solidFill>
                    <a:latin typeface="Calibri"/>
                    <a:ea typeface="Calibri"/>
                    <a:cs typeface="Calibri"/>
                    <a:sym typeface="Calibri"/>
                  </a:endParaRPr>
                </a:p>
                <a:p>
                  <a:pPr defTabSz="457200" latinLnBrk="1" hangingPunct="0"/>
                  <a:endParaRPr lang="en-US" sz="1600" dirty="0">
                    <a:solidFill>
                      <a:srgbClr val="000000"/>
                    </a:solidFill>
                    <a:latin typeface="Calibri"/>
                    <a:ea typeface="Calibri"/>
                    <a:cs typeface="Calibri"/>
                    <a:sym typeface="Calibri"/>
                  </a:endParaRPr>
                </a:p>
              </p:txBody>
            </p:sp>
          </mc:Choice>
          <mc:Fallback xmlns="">
            <p:sp>
              <p:nvSpPr>
                <p:cNvPr id="19" name="TextBox 18">
                  <a:extLst>
                    <a:ext uri="{FF2B5EF4-FFF2-40B4-BE49-F238E27FC236}">
                      <a16:creationId xmlns:a16="http://schemas.microsoft.com/office/drawing/2014/main" id="{8C8B3A8B-2829-6843-8AAC-FA6DEFA2E47B}"/>
                    </a:ext>
                  </a:extLst>
                </p:cNvPr>
                <p:cNvSpPr txBox="1">
                  <a:spLocks noRot="1" noChangeAspect="1" noMove="1" noResize="1" noEditPoints="1" noAdjustHandles="1" noChangeArrowheads="1" noChangeShapeType="1" noTextEdit="1"/>
                </p:cNvSpPr>
                <p:nvPr/>
              </p:nvSpPr>
              <p:spPr>
                <a:xfrm>
                  <a:off x="8885735" y="4384366"/>
                  <a:ext cx="1721295" cy="835227"/>
                </a:xfrm>
                <a:prstGeom prst="rect">
                  <a:avLst/>
                </a:prstGeom>
                <a:blipFill>
                  <a:blip r:embed="rId4"/>
                  <a:stretch>
                    <a:fillRect l="-758"/>
                  </a:stretch>
                </a:blipFill>
                <a:ln w="12700" cap="flat">
                  <a:noFill/>
                  <a:miter lim="400000"/>
                </a:ln>
                <a:effectLst/>
              </p:spPr>
              <p:txBody>
                <a:bodyPr/>
                <a:lstStyle/>
                <a:p>
                  <a:r>
                    <a:rPr lang="en-US">
                      <a:noFill/>
                    </a:rPr>
                    <a:t> </a:t>
                  </a:r>
                </a:p>
              </p:txBody>
            </p:sp>
          </mc:Fallback>
        </mc:AlternateContent>
        <p:cxnSp>
          <p:nvCxnSpPr>
            <p:cNvPr id="26" name="Straight Connector 25">
              <a:extLst>
                <a:ext uri="{FF2B5EF4-FFF2-40B4-BE49-F238E27FC236}">
                  <a16:creationId xmlns:a16="http://schemas.microsoft.com/office/drawing/2014/main" id="{8440D6E8-DE28-3F4D-8E42-AF1F02DD8918}"/>
                </a:ext>
              </a:extLst>
            </p:cNvPr>
            <p:cNvCxnSpPr>
              <a:cxnSpLocks/>
            </p:cNvCxnSpPr>
            <p:nvPr/>
          </p:nvCxnSpPr>
          <p:spPr>
            <a:xfrm flipH="1">
              <a:off x="8495248" y="4973427"/>
              <a:ext cx="1" cy="286453"/>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9" name="Straight Connector 28">
              <a:extLst>
                <a:ext uri="{FF2B5EF4-FFF2-40B4-BE49-F238E27FC236}">
                  <a16:creationId xmlns:a16="http://schemas.microsoft.com/office/drawing/2014/main" id="{D96D9EB8-E662-A04C-8BFA-411523104D07}"/>
                </a:ext>
              </a:extLst>
            </p:cNvPr>
            <p:cNvCxnSpPr>
              <a:cxnSpLocks/>
            </p:cNvCxnSpPr>
            <p:nvPr/>
          </p:nvCxnSpPr>
          <p:spPr>
            <a:xfrm flipH="1">
              <a:off x="8495250" y="3093803"/>
              <a:ext cx="1573310" cy="1"/>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30" name="Oval 29">
              <a:extLst>
                <a:ext uri="{FF2B5EF4-FFF2-40B4-BE49-F238E27FC236}">
                  <a16:creationId xmlns:a16="http://schemas.microsoft.com/office/drawing/2014/main" id="{15C5AABC-EE5F-FF4C-A262-77A668E542F2}"/>
                </a:ext>
              </a:extLst>
            </p:cNvPr>
            <p:cNvSpPr/>
            <p:nvPr/>
          </p:nvSpPr>
          <p:spPr>
            <a:xfrm>
              <a:off x="10037087" y="3028332"/>
              <a:ext cx="137160" cy="13716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3" name="Group 52">
            <a:extLst>
              <a:ext uri="{FF2B5EF4-FFF2-40B4-BE49-F238E27FC236}">
                <a16:creationId xmlns:a16="http://schemas.microsoft.com/office/drawing/2014/main" id="{7E06519E-90EF-104D-82EA-CCCD24043392}"/>
              </a:ext>
            </a:extLst>
          </p:cNvPr>
          <p:cNvGrpSpPr/>
          <p:nvPr/>
        </p:nvGrpSpPr>
        <p:grpSpPr>
          <a:xfrm>
            <a:off x="9472788" y="515920"/>
            <a:ext cx="1793872" cy="2696340"/>
            <a:chOff x="8977827" y="290426"/>
            <a:chExt cx="1793872" cy="2696340"/>
          </a:xfrm>
        </p:grpSpPr>
        <p:cxnSp>
          <p:nvCxnSpPr>
            <p:cNvPr id="14" name="Straight Connector 13">
              <a:extLst>
                <a:ext uri="{FF2B5EF4-FFF2-40B4-BE49-F238E27FC236}">
                  <a16:creationId xmlns:a16="http://schemas.microsoft.com/office/drawing/2014/main" id="{D652CC87-5BB9-2249-979F-71AA23F4A910}"/>
                </a:ext>
              </a:extLst>
            </p:cNvPr>
            <p:cNvCxnSpPr>
              <a:cxnSpLocks/>
            </p:cNvCxnSpPr>
            <p:nvPr/>
          </p:nvCxnSpPr>
          <p:spPr>
            <a:xfrm flipH="1">
              <a:off x="9882155" y="291132"/>
              <a:ext cx="2140" cy="96978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31" name="Oval 30">
              <a:extLst>
                <a:ext uri="{FF2B5EF4-FFF2-40B4-BE49-F238E27FC236}">
                  <a16:creationId xmlns:a16="http://schemas.microsoft.com/office/drawing/2014/main" id="{85D0FEF3-75D7-4E45-8370-2AA4B0E866DC}"/>
                </a:ext>
              </a:extLst>
            </p:cNvPr>
            <p:cNvSpPr/>
            <p:nvPr/>
          </p:nvSpPr>
          <p:spPr>
            <a:xfrm>
              <a:off x="9813566" y="1256984"/>
              <a:ext cx="137160" cy="13716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17E3CF02-4B14-BD49-8BD1-4AD56F1C60A7}"/>
                    </a:ext>
                  </a:extLst>
                </p:cNvPr>
                <p:cNvSpPr txBox="1"/>
                <p:nvPr/>
              </p:nvSpPr>
              <p:spPr>
                <a:xfrm>
                  <a:off x="9401679" y="1426820"/>
                  <a:ext cx="345262"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14:m>
                    <m:oMathPara xmlns:m="http://schemas.openxmlformats.org/officeDocument/2006/math">
                      <m:oMathParaPr>
                        <m:jc m:val="left"/>
                      </m:oMathParaPr>
                      <m:oMath>
                        <m:r>
                          <a:rPr lang="en-US" sz="1600" i="1">
                            <a:solidFill>
                              <a:srgbClr val="000000"/>
                            </a:solidFill>
                            <a:latin typeface="Cambria Math" panose="02040503050406030204" pitchFamily="18" charset="0"/>
                            <a:ea typeface="Calibri"/>
                            <a:cs typeface="Calibri"/>
                            <a:sym typeface="Calibri"/>
                          </a:rPr>
                          <m:t>𝑙</m:t>
                        </m:r>
                      </m:oMath>
                    </m:oMathPara>
                  </a14:m>
                  <a:endParaRPr lang="en-US" sz="1600" dirty="0">
                    <a:solidFill>
                      <a:srgbClr val="000000"/>
                    </a:solidFill>
                    <a:latin typeface="Calibri"/>
                    <a:ea typeface="Calibri"/>
                    <a:cs typeface="Calibri"/>
                    <a:sym typeface="Calibri"/>
                  </a:endParaRPr>
                </a:p>
              </p:txBody>
            </p:sp>
          </mc:Choice>
          <mc:Fallback xmlns="">
            <p:sp>
              <p:nvSpPr>
                <p:cNvPr id="32" name="TextBox 31">
                  <a:extLst>
                    <a:ext uri="{FF2B5EF4-FFF2-40B4-BE49-F238E27FC236}">
                      <a16:creationId xmlns:a16="http://schemas.microsoft.com/office/drawing/2014/main" id="{17E3CF02-4B14-BD49-8BD1-4AD56F1C60A7}"/>
                    </a:ext>
                  </a:extLst>
                </p:cNvPr>
                <p:cNvSpPr txBox="1">
                  <a:spLocks noRot="1" noChangeAspect="1" noMove="1" noResize="1" noEditPoints="1" noAdjustHandles="1" noChangeArrowheads="1" noChangeShapeType="1" noTextEdit="1"/>
                </p:cNvSpPr>
                <p:nvPr/>
              </p:nvSpPr>
              <p:spPr>
                <a:xfrm>
                  <a:off x="9401679" y="1426820"/>
                  <a:ext cx="345262" cy="338552"/>
                </a:xfrm>
                <a:prstGeom prst="rect">
                  <a:avLst/>
                </a:prstGeom>
                <a:blipFill>
                  <a:blip r:embed="rId5"/>
                  <a:stretch>
                    <a:fillRect l="-3448"/>
                  </a:stretch>
                </a:blipFill>
                <a:ln w="12700" cap="flat">
                  <a:noFill/>
                  <a:miter lim="400000"/>
                </a:ln>
                <a:effectLst/>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444F0DD5-C845-8048-94E7-874EAAC0E386}"/>
                </a:ext>
              </a:extLst>
            </p:cNvPr>
            <p:cNvCxnSpPr>
              <a:cxnSpLocks/>
            </p:cNvCxnSpPr>
            <p:nvPr/>
          </p:nvCxnSpPr>
          <p:spPr>
            <a:xfrm flipH="1">
              <a:off x="9892306" y="1540812"/>
              <a:ext cx="2149" cy="1147902"/>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35" name="Oval 34">
              <a:extLst>
                <a:ext uri="{FF2B5EF4-FFF2-40B4-BE49-F238E27FC236}">
                  <a16:creationId xmlns:a16="http://schemas.microsoft.com/office/drawing/2014/main" id="{0905DAC7-C1E5-A643-9E24-1148D63FF7B7}"/>
                </a:ext>
              </a:extLst>
            </p:cNvPr>
            <p:cNvSpPr/>
            <p:nvPr/>
          </p:nvSpPr>
          <p:spPr>
            <a:xfrm>
              <a:off x="9823726" y="1531304"/>
              <a:ext cx="137160" cy="13716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A5575155-A3F2-1D49-B1A3-1E719E954D19}"/>
                    </a:ext>
                  </a:extLst>
                </p:cNvPr>
                <p:cNvSpPr txBox="1"/>
                <p:nvPr/>
              </p:nvSpPr>
              <p:spPr>
                <a:xfrm>
                  <a:off x="9585611" y="1317516"/>
                  <a:ext cx="345262"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14:m>
                    <m:oMathPara xmlns:m="http://schemas.openxmlformats.org/officeDocument/2006/math">
                      <m:oMathParaPr>
                        <m:jc m:val="left"/>
                      </m:oMathParaPr>
                      <m:oMath>
                        <m:sSub>
                          <m:sSubPr>
                            <m:ctrlPr>
                              <a:rPr lang="en-US" sz="1600" b="0" i="1" smtClean="0">
                                <a:solidFill>
                                  <a:srgbClr val="000000"/>
                                </a:solidFill>
                                <a:latin typeface="Cambria Math" panose="02040503050406030204" pitchFamily="18" charset="0"/>
                                <a:cs typeface="Calibri"/>
                                <a:sym typeface="Calibri"/>
                              </a:rPr>
                            </m:ctrlPr>
                          </m:sSubPr>
                          <m:e>
                            <m:r>
                              <a:rPr lang="en-US" sz="1600" b="0" i="1" smtClean="0">
                                <a:solidFill>
                                  <a:srgbClr val="000000"/>
                                </a:solidFill>
                                <a:latin typeface="Cambria Math" panose="02040503050406030204" pitchFamily="18" charset="0"/>
                                <a:cs typeface="Calibri"/>
                                <a:sym typeface="Calibri"/>
                              </a:rPr>
                              <m:t>𝑉</m:t>
                            </m:r>
                          </m:e>
                          <m:sub>
                            <m:r>
                              <a:rPr lang="en-US" sz="1600" b="0" i="1" smtClean="0">
                                <a:solidFill>
                                  <a:srgbClr val="000000"/>
                                </a:solidFill>
                                <a:latin typeface="Cambria Math" panose="02040503050406030204" pitchFamily="18" charset="0"/>
                                <a:cs typeface="Calibri"/>
                                <a:sym typeface="Calibri"/>
                              </a:rPr>
                              <m:t>0</m:t>
                            </m:r>
                          </m:sub>
                        </m:sSub>
                      </m:oMath>
                    </m:oMathPara>
                  </a14:m>
                  <a:endParaRPr lang="en-US" sz="1600" dirty="0">
                    <a:solidFill>
                      <a:srgbClr val="000000"/>
                    </a:solidFill>
                    <a:latin typeface="Calibri"/>
                    <a:ea typeface="Calibri"/>
                    <a:cs typeface="Calibri"/>
                    <a:sym typeface="Calibri"/>
                  </a:endParaRPr>
                </a:p>
              </p:txBody>
            </p:sp>
          </mc:Choice>
          <mc:Fallback xmlns="">
            <p:sp>
              <p:nvSpPr>
                <p:cNvPr id="37" name="TextBox 36">
                  <a:extLst>
                    <a:ext uri="{FF2B5EF4-FFF2-40B4-BE49-F238E27FC236}">
                      <a16:creationId xmlns:a16="http://schemas.microsoft.com/office/drawing/2014/main" id="{A5575155-A3F2-1D49-B1A3-1E719E954D19}"/>
                    </a:ext>
                  </a:extLst>
                </p:cNvPr>
                <p:cNvSpPr txBox="1">
                  <a:spLocks noRot="1" noChangeAspect="1" noMove="1" noResize="1" noEditPoints="1" noAdjustHandles="1" noChangeArrowheads="1" noChangeShapeType="1" noTextEdit="1"/>
                </p:cNvSpPr>
                <p:nvPr/>
              </p:nvSpPr>
              <p:spPr>
                <a:xfrm>
                  <a:off x="9585611" y="1317516"/>
                  <a:ext cx="345262" cy="338552"/>
                </a:xfrm>
                <a:prstGeom prst="rect">
                  <a:avLst/>
                </a:prstGeom>
                <a:blipFill>
                  <a:blip r:embed="rId6"/>
                  <a:stretch>
                    <a:fillRect l="-7143"/>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B73AAAEF-EEB0-2A47-A420-576DBB6D3120}"/>
                    </a:ext>
                  </a:extLst>
                </p:cNvPr>
                <p:cNvSpPr txBox="1"/>
                <p:nvPr/>
              </p:nvSpPr>
              <p:spPr>
                <a:xfrm>
                  <a:off x="9934035" y="948948"/>
                  <a:ext cx="345262"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14:m>
                    <m:oMathPara xmlns:m="http://schemas.openxmlformats.org/officeDocument/2006/math">
                      <m:oMathParaPr>
                        <m:jc m:val="left"/>
                      </m:oMathParaPr>
                      <m:oMath>
                        <m:r>
                          <a:rPr lang="en-US" sz="1600" i="1" smtClean="0">
                            <a:solidFill>
                              <a:srgbClr val="000000"/>
                            </a:solidFill>
                            <a:latin typeface="Cambria Math" panose="02040503050406030204" pitchFamily="18" charset="0"/>
                            <a:ea typeface="Cambria Math" panose="02040503050406030204" pitchFamily="18" charset="0"/>
                            <a:cs typeface="Calibri"/>
                            <a:sym typeface="Calibri"/>
                          </a:rPr>
                          <m:t>𝜃</m:t>
                        </m:r>
                      </m:oMath>
                    </m:oMathPara>
                  </a14:m>
                  <a:endParaRPr lang="en-US" sz="1600" dirty="0">
                    <a:solidFill>
                      <a:srgbClr val="000000"/>
                    </a:solidFill>
                    <a:latin typeface="Calibri"/>
                    <a:ea typeface="Calibri"/>
                    <a:cs typeface="Calibri"/>
                    <a:sym typeface="Calibri"/>
                  </a:endParaRPr>
                </a:p>
              </p:txBody>
            </p:sp>
          </mc:Choice>
          <mc:Fallback xmlns="">
            <p:sp>
              <p:nvSpPr>
                <p:cNvPr id="38" name="TextBox 37">
                  <a:extLst>
                    <a:ext uri="{FF2B5EF4-FFF2-40B4-BE49-F238E27FC236}">
                      <a16:creationId xmlns:a16="http://schemas.microsoft.com/office/drawing/2014/main" id="{B73AAAEF-EEB0-2A47-A420-576DBB6D3120}"/>
                    </a:ext>
                  </a:extLst>
                </p:cNvPr>
                <p:cNvSpPr txBox="1">
                  <a:spLocks noRot="1" noChangeAspect="1" noMove="1" noResize="1" noEditPoints="1" noAdjustHandles="1" noChangeArrowheads="1" noChangeShapeType="1" noTextEdit="1"/>
                </p:cNvSpPr>
                <p:nvPr/>
              </p:nvSpPr>
              <p:spPr>
                <a:xfrm>
                  <a:off x="9934035" y="948948"/>
                  <a:ext cx="345262" cy="338552"/>
                </a:xfrm>
                <a:prstGeom prst="rect">
                  <a:avLst/>
                </a:prstGeom>
                <a:blipFill>
                  <a:blip r:embed="rId7"/>
                  <a:stretch>
                    <a:fillRect l="-10714"/>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D997CB02-29C4-4B46-9DB0-BD2ED283B22B}"/>
                    </a:ext>
                  </a:extLst>
                </p:cNvPr>
                <p:cNvSpPr txBox="1"/>
                <p:nvPr/>
              </p:nvSpPr>
              <p:spPr>
                <a:xfrm>
                  <a:off x="10426437" y="482868"/>
                  <a:ext cx="345262"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14:m>
                    <m:oMathPara xmlns:m="http://schemas.openxmlformats.org/officeDocument/2006/math">
                      <m:oMathParaPr>
                        <m:jc m:val="left"/>
                      </m:oMathParaPr>
                      <m:oMath>
                        <m:r>
                          <a:rPr lang="en-US" sz="1600" b="0" i="1" smtClean="0">
                            <a:solidFill>
                              <a:srgbClr val="000000"/>
                            </a:solidFill>
                            <a:latin typeface="Cambria Math" panose="02040503050406030204" pitchFamily="18" charset="0"/>
                            <a:ea typeface="Calibri"/>
                            <a:cs typeface="Calibri"/>
                            <a:sym typeface="Calibri"/>
                          </a:rPr>
                          <m:t>𝐸</m:t>
                        </m:r>
                      </m:oMath>
                    </m:oMathPara>
                  </a14:m>
                  <a:endParaRPr lang="en-US" sz="1600" dirty="0">
                    <a:solidFill>
                      <a:srgbClr val="000000"/>
                    </a:solidFill>
                    <a:latin typeface="Calibri"/>
                    <a:ea typeface="Calibri"/>
                    <a:cs typeface="Calibri"/>
                    <a:sym typeface="Calibri"/>
                  </a:endParaRPr>
                </a:p>
              </p:txBody>
            </p:sp>
          </mc:Choice>
          <mc:Fallback xmlns="">
            <p:sp>
              <p:nvSpPr>
                <p:cNvPr id="39" name="TextBox 38">
                  <a:extLst>
                    <a:ext uri="{FF2B5EF4-FFF2-40B4-BE49-F238E27FC236}">
                      <a16:creationId xmlns:a16="http://schemas.microsoft.com/office/drawing/2014/main" id="{D997CB02-29C4-4B46-9DB0-BD2ED283B22B}"/>
                    </a:ext>
                  </a:extLst>
                </p:cNvPr>
                <p:cNvSpPr txBox="1">
                  <a:spLocks noRot="1" noChangeAspect="1" noMove="1" noResize="1" noEditPoints="1" noAdjustHandles="1" noChangeArrowheads="1" noChangeShapeType="1" noTextEdit="1"/>
                </p:cNvSpPr>
                <p:nvPr/>
              </p:nvSpPr>
              <p:spPr>
                <a:xfrm>
                  <a:off x="10426437" y="482868"/>
                  <a:ext cx="345262" cy="338552"/>
                </a:xfrm>
                <a:prstGeom prst="rect">
                  <a:avLst/>
                </a:prstGeom>
                <a:blipFill>
                  <a:blip r:embed="rId8"/>
                  <a:stretch>
                    <a:fillRect l="-7143"/>
                  </a:stretch>
                </a:blipFill>
                <a:ln w="12700" cap="flat">
                  <a:noFill/>
                  <a:miter lim="400000"/>
                </a:ln>
                <a:effectLst/>
              </p:spPr>
              <p:txBody>
                <a:bodyPr/>
                <a:lstStyle/>
                <a:p>
                  <a:r>
                    <a:rPr lang="en-US">
                      <a:noFill/>
                    </a:rPr>
                    <a:t> </a:t>
                  </a:r>
                </a:p>
              </p:txBody>
            </p:sp>
          </mc:Fallback>
        </mc:AlternateContent>
        <p:cxnSp>
          <p:nvCxnSpPr>
            <p:cNvPr id="40" name="Straight Connector 39">
              <a:extLst>
                <a:ext uri="{FF2B5EF4-FFF2-40B4-BE49-F238E27FC236}">
                  <a16:creationId xmlns:a16="http://schemas.microsoft.com/office/drawing/2014/main" id="{43DA4CA5-1484-2A4D-A65A-D704609672B0}"/>
                </a:ext>
              </a:extLst>
            </p:cNvPr>
            <p:cNvCxnSpPr>
              <a:cxnSpLocks/>
            </p:cNvCxnSpPr>
            <p:nvPr/>
          </p:nvCxnSpPr>
          <p:spPr>
            <a:xfrm>
              <a:off x="10127755" y="444564"/>
              <a:ext cx="452980" cy="622223"/>
            </a:xfrm>
            <a:prstGeom prst="line">
              <a:avLst/>
            </a:prstGeom>
            <a:noFill/>
            <a:ln w="25400" cap="flat">
              <a:solidFill>
                <a:schemeClr val="tx1"/>
              </a:solidFill>
              <a:prstDash val="solid"/>
              <a:bevel/>
              <a:head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43" name="Straight Connector 42">
              <a:extLst>
                <a:ext uri="{FF2B5EF4-FFF2-40B4-BE49-F238E27FC236}">
                  <a16:creationId xmlns:a16="http://schemas.microsoft.com/office/drawing/2014/main" id="{D726DA30-3B9D-CA47-99EE-2A6EA52F56BD}"/>
                </a:ext>
              </a:extLst>
            </p:cNvPr>
            <p:cNvCxnSpPr>
              <a:cxnSpLocks/>
            </p:cNvCxnSpPr>
            <p:nvPr/>
          </p:nvCxnSpPr>
          <p:spPr>
            <a:xfrm flipV="1">
              <a:off x="10023754" y="1063895"/>
              <a:ext cx="557359" cy="388137"/>
            </a:xfrm>
            <a:prstGeom prst="line">
              <a:avLst/>
            </a:prstGeom>
            <a:noFill/>
            <a:ln w="25400" cap="flat">
              <a:solidFill>
                <a:schemeClr val="tx1"/>
              </a:solidFill>
              <a:prstDash val="solid"/>
              <a:bevel/>
              <a:head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46" name="Straight Connector 45">
              <a:extLst>
                <a:ext uri="{FF2B5EF4-FFF2-40B4-BE49-F238E27FC236}">
                  <a16:creationId xmlns:a16="http://schemas.microsoft.com/office/drawing/2014/main" id="{F0153F38-5730-BA40-81AC-B859754D815C}"/>
                </a:ext>
              </a:extLst>
            </p:cNvPr>
            <p:cNvCxnSpPr>
              <a:cxnSpLocks/>
            </p:cNvCxnSpPr>
            <p:nvPr/>
          </p:nvCxnSpPr>
          <p:spPr>
            <a:xfrm>
              <a:off x="9490554" y="290426"/>
              <a:ext cx="0" cy="1083844"/>
            </a:xfrm>
            <a:prstGeom prst="line">
              <a:avLst/>
            </a:prstGeom>
            <a:noFill/>
            <a:ln w="25400" cap="flat">
              <a:solidFill>
                <a:schemeClr val="tx1"/>
              </a:solidFill>
              <a:prstDash val="solid"/>
              <a:bevel/>
              <a:head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51" name="Straight Connector 50">
              <a:extLst>
                <a:ext uri="{FF2B5EF4-FFF2-40B4-BE49-F238E27FC236}">
                  <a16:creationId xmlns:a16="http://schemas.microsoft.com/office/drawing/2014/main" id="{0FE30DC5-F213-674B-95D3-0B26900A76FA}"/>
                </a:ext>
              </a:extLst>
            </p:cNvPr>
            <p:cNvCxnSpPr>
              <a:cxnSpLocks/>
            </p:cNvCxnSpPr>
            <p:nvPr/>
          </p:nvCxnSpPr>
          <p:spPr>
            <a:xfrm flipV="1">
              <a:off x="9490554" y="1744352"/>
              <a:ext cx="0" cy="944362"/>
            </a:xfrm>
            <a:prstGeom prst="line">
              <a:avLst/>
            </a:prstGeom>
            <a:noFill/>
            <a:ln w="25400" cap="flat">
              <a:solidFill>
                <a:schemeClr val="tx1"/>
              </a:solidFill>
              <a:prstDash val="solid"/>
              <a:bevel/>
              <a:head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54" name="Rectangle 53">
              <a:extLst>
                <a:ext uri="{FF2B5EF4-FFF2-40B4-BE49-F238E27FC236}">
                  <a16:creationId xmlns:a16="http://schemas.microsoft.com/office/drawing/2014/main" id="{2CBEE3B5-BEDB-7A47-B8CF-952C769162B8}"/>
                </a:ext>
              </a:extLst>
            </p:cNvPr>
            <p:cNvSpPr/>
            <p:nvPr/>
          </p:nvSpPr>
          <p:spPr>
            <a:xfrm>
              <a:off x="8977827" y="2648212"/>
              <a:ext cx="1540422" cy="338554"/>
            </a:xfrm>
            <a:prstGeom prst="rect">
              <a:avLst/>
            </a:prstGeom>
          </p:spPr>
          <p:txBody>
            <a:bodyPr wrap="none">
              <a:spAutoFit/>
            </a:bodyPr>
            <a:lstStyle/>
            <a:p>
              <a:r>
                <a:rPr lang="en-US" sz="1600" dirty="0"/>
                <a:t>Receiving dipole</a:t>
              </a:r>
            </a:p>
          </p:txBody>
        </p:sp>
      </p:grpSp>
    </p:spTree>
    <p:extLst>
      <p:ext uri="{BB962C8B-B14F-4D97-AF65-F5344CB8AC3E}">
        <p14:creationId xmlns:p14="http://schemas.microsoft.com/office/powerpoint/2010/main" val="31190063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605643" y="182199"/>
            <a:ext cx="10438410"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err="1">
                <a:latin typeface="Calibri" panose="020F0502020204030204" pitchFamily="34" charset="0"/>
                <a:cs typeface="Calibri" panose="020F0502020204030204" pitchFamily="34" charset="0"/>
              </a:rPr>
              <a:t>Friis</a:t>
            </a:r>
            <a:r>
              <a:rPr lang="en-US" sz="4400" dirty="0">
                <a:latin typeface="Calibri" panose="020F0502020204030204" pitchFamily="34" charset="0"/>
                <a:cs typeface="Calibri" panose="020F0502020204030204" pitchFamily="34" charset="0"/>
              </a:rPr>
              <a:t> formula </a:t>
            </a:r>
            <a:endParaRPr sz="44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963208" y="2005066"/>
                <a:ext cx="8671837" cy="244547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285750" indent="-285750" latinLnBrk="1" hangingPunct="0">
                  <a:buFont typeface="Arial" panose="020B0604020202020204" pitchFamily="34" charset="0"/>
                  <a:buChar char="•"/>
                </a:pPr>
                <a:r>
                  <a:rPr lang="en-US" sz="2000" dirty="0">
                    <a:solidFill>
                      <a:srgbClr val="000000"/>
                    </a:solidFill>
                  </a:rPr>
                  <a:t>Far field: </a:t>
                </a:r>
                <a14:m>
                  <m:oMath xmlns:m="http://schemas.openxmlformats.org/officeDocument/2006/math">
                    <m:r>
                      <a:rPr lang="en-US" sz="2000" i="1">
                        <a:solidFill>
                          <a:srgbClr val="000000"/>
                        </a:solidFill>
                        <a:latin typeface="Cambria Math" panose="02040503050406030204" pitchFamily="18" charset="0"/>
                        <a:cs typeface="Calibri" panose="020F0502020204030204" pitchFamily="34" charset="0"/>
                      </a:rPr>
                      <m:t>𝑆</m:t>
                    </m:r>
                    <m:r>
                      <a:rPr lang="en-US" sz="2000" i="1">
                        <a:solidFill>
                          <a:srgbClr val="000000"/>
                        </a:solidFill>
                        <a:latin typeface="Cambria Math" panose="02040503050406030204" pitchFamily="18" charset="0"/>
                        <a:cs typeface="Calibri" panose="020F0502020204030204" pitchFamily="34" charset="0"/>
                      </a:rPr>
                      <m:t>=</m:t>
                    </m:r>
                    <m:f>
                      <m:fPr>
                        <m:ctrlPr>
                          <a:rPr lang="en-US" sz="2000" i="1">
                            <a:solidFill>
                              <a:srgbClr val="000000"/>
                            </a:solidFill>
                            <a:latin typeface="Cambria Math" panose="02040503050406030204" pitchFamily="18" charset="0"/>
                            <a:cs typeface="Calibri" panose="020F0502020204030204" pitchFamily="34" charset="0"/>
                          </a:rPr>
                        </m:ctrlPr>
                      </m:fPr>
                      <m:num>
                        <m:sSub>
                          <m:sSubPr>
                            <m:ctrlPr>
                              <a:rPr lang="en-US" sz="2000" i="1">
                                <a:solidFill>
                                  <a:srgbClr val="000000"/>
                                </a:solidFill>
                                <a:latin typeface="Cambria Math" panose="02040503050406030204" pitchFamily="18" charset="0"/>
                                <a:cs typeface="Calibri" panose="020F0502020204030204" pitchFamily="34" charset="0"/>
                              </a:rPr>
                            </m:ctrlPr>
                          </m:sSubPr>
                          <m:e>
                            <m:r>
                              <a:rPr lang="en-US" sz="2000" i="1">
                                <a:solidFill>
                                  <a:srgbClr val="000000"/>
                                </a:solidFill>
                                <a:latin typeface="Cambria Math" panose="02040503050406030204" pitchFamily="18" charset="0"/>
                                <a:cs typeface="Calibri" panose="020F0502020204030204" pitchFamily="34" charset="0"/>
                              </a:rPr>
                              <m:t>𝑃</m:t>
                            </m:r>
                          </m:e>
                          <m:sub>
                            <m:r>
                              <a:rPr lang="en-US" sz="2000" i="1">
                                <a:solidFill>
                                  <a:srgbClr val="000000"/>
                                </a:solidFill>
                                <a:latin typeface="Cambria Math" panose="02040503050406030204" pitchFamily="18" charset="0"/>
                                <a:cs typeface="Calibri" panose="020F0502020204030204" pitchFamily="34" charset="0"/>
                              </a:rPr>
                              <m:t>𝑡</m:t>
                            </m:r>
                          </m:sub>
                        </m:sSub>
                        <m:sSub>
                          <m:sSubPr>
                            <m:ctrlPr>
                              <a:rPr lang="en-US" sz="2000" i="1">
                                <a:solidFill>
                                  <a:srgbClr val="000000"/>
                                </a:solidFill>
                                <a:latin typeface="Cambria Math" panose="02040503050406030204" pitchFamily="18" charset="0"/>
                                <a:cs typeface="Calibri" panose="020F0502020204030204" pitchFamily="34" charset="0"/>
                              </a:rPr>
                            </m:ctrlPr>
                          </m:sSubPr>
                          <m:e>
                            <m:r>
                              <a:rPr lang="en-US" sz="2000" i="1">
                                <a:solidFill>
                                  <a:srgbClr val="000000"/>
                                </a:solidFill>
                                <a:latin typeface="Cambria Math" panose="02040503050406030204" pitchFamily="18" charset="0"/>
                                <a:cs typeface="Calibri" panose="020F0502020204030204" pitchFamily="34" charset="0"/>
                              </a:rPr>
                              <m:t>𝐺</m:t>
                            </m:r>
                          </m:e>
                          <m:sub>
                            <m:r>
                              <a:rPr lang="en-US" sz="2000" i="1">
                                <a:solidFill>
                                  <a:srgbClr val="000000"/>
                                </a:solidFill>
                                <a:latin typeface="Cambria Math" panose="02040503050406030204" pitchFamily="18" charset="0"/>
                                <a:cs typeface="Calibri" panose="020F0502020204030204" pitchFamily="34" charset="0"/>
                              </a:rPr>
                              <m:t>1</m:t>
                            </m:r>
                          </m:sub>
                        </m:sSub>
                      </m:num>
                      <m:den>
                        <m:r>
                          <a:rPr lang="en-US" sz="2000" i="1">
                            <a:solidFill>
                              <a:srgbClr val="000000"/>
                            </a:solidFill>
                            <a:latin typeface="Cambria Math" panose="02040503050406030204" pitchFamily="18" charset="0"/>
                            <a:cs typeface="Calibri" panose="020F0502020204030204" pitchFamily="34" charset="0"/>
                          </a:rPr>
                          <m:t>4</m:t>
                        </m:r>
                        <m:r>
                          <a:rPr lang="en-US" sz="2000" i="1">
                            <a:solidFill>
                              <a:srgbClr val="000000"/>
                            </a:solidFill>
                            <a:latin typeface="Cambria Math" panose="02040503050406030204" pitchFamily="18" charset="0"/>
                            <a:ea typeface="Cambria Math" panose="02040503050406030204" pitchFamily="18" charset="0"/>
                            <a:cs typeface="Calibri" panose="020F0502020204030204" pitchFamily="34" charset="0"/>
                          </a:rPr>
                          <m:t>𝜋</m:t>
                        </m:r>
                        <m:sSup>
                          <m:sSupPr>
                            <m:ctrlPr>
                              <a:rPr lang="en-US" sz="2000" i="1">
                                <a:solidFill>
                                  <a:srgbClr val="000000"/>
                                </a:solidFill>
                                <a:latin typeface="Cambria Math" panose="02040503050406030204" pitchFamily="18" charset="0"/>
                                <a:ea typeface="Cambria Math" panose="02040503050406030204" pitchFamily="18" charset="0"/>
                                <a:cs typeface="Calibri" panose="020F0502020204030204" pitchFamily="34" charset="0"/>
                              </a:rPr>
                            </m:ctrlPr>
                          </m:sSupPr>
                          <m:e>
                            <m:r>
                              <a:rPr lang="en-US" sz="2000" i="1">
                                <a:solidFill>
                                  <a:srgbClr val="000000"/>
                                </a:solidFill>
                                <a:latin typeface="Cambria Math" panose="02040503050406030204" pitchFamily="18" charset="0"/>
                                <a:ea typeface="Cambria Math" panose="02040503050406030204" pitchFamily="18" charset="0"/>
                                <a:cs typeface="Calibri" panose="020F0502020204030204" pitchFamily="34" charset="0"/>
                              </a:rPr>
                              <m:t>𝑟</m:t>
                            </m:r>
                          </m:e>
                          <m:sup>
                            <m:r>
                              <a:rPr lang="en-US" sz="2000" i="1">
                                <a:solidFill>
                                  <a:srgbClr val="000000"/>
                                </a:solidFill>
                                <a:latin typeface="Cambria Math" panose="02040503050406030204" pitchFamily="18" charset="0"/>
                                <a:ea typeface="Cambria Math" panose="02040503050406030204" pitchFamily="18" charset="0"/>
                                <a:cs typeface="Calibri" panose="020F0502020204030204" pitchFamily="34" charset="0"/>
                              </a:rPr>
                              <m:t>2</m:t>
                            </m:r>
                          </m:sup>
                        </m:sSup>
                      </m:den>
                    </m:f>
                    <m:r>
                      <a:rPr lang="en-US" sz="2000" i="1">
                        <a:solidFill>
                          <a:srgbClr val="000000"/>
                        </a:solidFill>
                        <a:latin typeface="Cambria Math" panose="02040503050406030204" pitchFamily="18" charset="0"/>
                        <a:ea typeface="Cambria Math" panose="02040503050406030204" pitchFamily="18" charset="0"/>
                        <a:cs typeface="Calibri" panose="020F0502020204030204" pitchFamily="34" charset="0"/>
                      </a:rPr>
                      <m:t> </m:t>
                    </m:r>
                  </m:oMath>
                </a14:m>
                <a:r>
                  <a:rPr lang="en-US" sz="2000" dirty="0">
                    <a:solidFill>
                      <a:srgbClr val="000000"/>
                    </a:solidFill>
                  </a:rPr>
                  <a:t>, </a:t>
                </a:r>
                <a14:m>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𝑃</m:t>
                        </m:r>
                      </m:e>
                      <m:sub>
                        <m:r>
                          <a:rPr lang="en-US" sz="2000" b="0" i="1" smtClean="0">
                            <a:solidFill>
                              <a:srgbClr val="000000"/>
                            </a:solidFill>
                            <a:latin typeface="Cambria Math" panose="02040503050406030204" pitchFamily="18" charset="0"/>
                          </a:rPr>
                          <m:t>𝑟</m:t>
                        </m:r>
                      </m:sub>
                    </m:sSub>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𝑆</m:t>
                    </m:r>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𝐴</m:t>
                        </m:r>
                      </m:e>
                      <m:sub>
                        <m:r>
                          <a:rPr lang="en-US" sz="2000" b="0" i="1" smtClean="0">
                            <a:solidFill>
                              <a:srgbClr val="000000"/>
                            </a:solidFill>
                            <a:latin typeface="Cambria Math" panose="02040503050406030204" pitchFamily="18" charset="0"/>
                          </a:rPr>
                          <m:t>2</m:t>
                        </m:r>
                      </m:sub>
                    </m:sSub>
                  </m:oMath>
                </a14:m>
                <a:r>
                  <a:rPr lang="en-US" sz="2000" dirty="0">
                    <a:solidFill>
                      <a:srgbClr val="000000"/>
                    </a:solidFill>
                  </a:rPr>
                  <a:t>, so:</a:t>
                </a:r>
              </a:p>
              <a:p>
                <a:pPr marL="285750" indent="-285750" latinLnBrk="1" hangingPunct="0">
                  <a:buFont typeface="Arial" panose="020B0604020202020204" pitchFamily="34" charset="0"/>
                  <a:buChar char="•"/>
                </a:pPr>
                <a:r>
                  <a:rPr lang="en-US" sz="2000" dirty="0" err="1">
                    <a:solidFill>
                      <a:srgbClr val="000000"/>
                    </a:solidFill>
                  </a:rPr>
                  <a:t>Friis</a:t>
                </a:r>
                <a:r>
                  <a:rPr lang="en-US" sz="2000" dirty="0">
                    <a:solidFill>
                      <a:srgbClr val="000000"/>
                    </a:solidFill>
                  </a:rPr>
                  <a:t> radiation formula:  </a:t>
                </a:r>
                <a14:m>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𝑃</m:t>
                        </m:r>
                      </m:e>
                      <m:sub>
                        <m:r>
                          <a:rPr lang="en-US" sz="2000" b="0" i="1" smtClean="0">
                            <a:solidFill>
                              <a:srgbClr val="000000"/>
                            </a:solidFill>
                            <a:latin typeface="Cambria Math" panose="02040503050406030204" pitchFamily="18" charset="0"/>
                          </a:rPr>
                          <m:t>𝑟</m:t>
                        </m:r>
                      </m:sub>
                    </m:sSub>
                    <m:r>
                      <a:rPr lang="en-US" sz="2000" b="0" i="1" smtClean="0">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cs typeface="Calibri" panose="020F0502020204030204" pitchFamily="34" charset="0"/>
                          </a:rPr>
                        </m:ctrlPr>
                      </m:fPr>
                      <m:num>
                        <m:sSub>
                          <m:sSubPr>
                            <m:ctrlPr>
                              <a:rPr lang="en-US" sz="2000" i="1">
                                <a:solidFill>
                                  <a:srgbClr val="000000"/>
                                </a:solidFill>
                                <a:latin typeface="Cambria Math" panose="02040503050406030204" pitchFamily="18" charset="0"/>
                                <a:cs typeface="Calibri" panose="020F0502020204030204" pitchFamily="34" charset="0"/>
                              </a:rPr>
                            </m:ctrlPr>
                          </m:sSubPr>
                          <m:e>
                            <m:r>
                              <a:rPr lang="en-US" sz="2000" i="1">
                                <a:solidFill>
                                  <a:srgbClr val="000000"/>
                                </a:solidFill>
                                <a:latin typeface="Cambria Math" panose="02040503050406030204" pitchFamily="18" charset="0"/>
                                <a:cs typeface="Calibri" panose="020F0502020204030204" pitchFamily="34" charset="0"/>
                              </a:rPr>
                              <m:t>𝑃</m:t>
                            </m:r>
                          </m:e>
                          <m:sub>
                            <m:r>
                              <a:rPr lang="en-US" sz="2000" i="1">
                                <a:solidFill>
                                  <a:srgbClr val="000000"/>
                                </a:solidFill>
                                <a:latin typeface="Cambria Math" panose="02040503050406030204" pitchFamily="18" charset="0"/>
                                <a:cs typeface="Calibri" panose="020F0502020204030204" pitchFamily="34" charset="0"/>
                              </a:rPr>
                              <m:t>𝑡</m:t>
                            </m:r>
                          </m:sub>
                        </m:sSub>
                      </m:num>
                      <m:den>
                        <m:r>
                          <a:rPr lang="en-US" sz="2000" i="1">
                            <a:solidFill>
                              <a:srgbClr val="000000"/>
                            </a:solidFill>
                            <a:latin typeface="Cambria Math" panose="02040503050406030204" pitchFamily="18" charset="0"/>
                            <a:cs typeface="Calibri" panose="020F0502020204030204" pitchFamily="34" charset="0"/>
                          </a:rPr>
                          <m:t>4</m:t>
                        </m:r>
                        <m:r>
                          <a:rPr lang="en-US" sz="2000" i="1">
                            <a:solidFill>
                              <a:srgbClr val="000000"/>
                            </a:solidFill>
                            <a:latin typeface="Cambria Math" panose="02040503050406030204" pitchFamily="18" charset="0"/>
                            <a:ea typeface="Cambria Math" panose="02040503050406030204" pitchFamily="18" charset="0"/>
                            <a:cs typeface="Calibri" panose="020F0502020204030204" pitchFamily="34" charset="0"/>
                          </a:rPr>
                          <m:t>𝜋</m:t>
                        </m:r>
                        <m:sSup>
                          <m:sSupPr>
                            <m:ctrlPr>
                              <a:rPr lang="en-US" sz="2000" i="1">
                                <a:solidFill>
                                  <a:srgbClr val="000000"/>
                                </a:solidFill>
                                <a:latin typeface="Cambria Math" panose="02040503050406030204" pitchFamily="18" charset="0"/>
                                <a:ea typeface="Cambria Math" panose="02040503050406030204" pitchFamily="18" charset="0"/>
                                <a:cs typeface="Calibri" panose="020F0502020204030204" pitchFamily="34" charset="0"/>
                              </a:rPr>
                            </m:ctrlPr>
                          </m:sSupPr>
                          <m:e>
                            <m:r>
                              <a:rPr lang="en-US" sz="2000" i="1">
                                <a:solidFill>
                                  <a:srgbClr val="000000"/>
                                </a:solidFill>
                                <a:latin typeface="Cambria Math" panose="02040503050406030204" pitchFamily="18" charset="0"/>
                                <a:ea typeface="Cambria Math" panose="02040503050406030204" pitchFamily="18" charset="0"/>
                                <a:cs typeface="Calibri" panose="020F0502020204030204" pitchFamily="34" charset="0"/>
                              </a:rPr>
                              <m:t>𝑟</m:t>
                            </m:r>
                          </m:e>
                          <m:sup>
                            <m:r>
                              <a:rPr lang="en-US" sz="2000" i="1">
                                <a:solidFill>
                                  <a:srgbClr val="000000"/>
                                </a:solidFill>
                                <a:latin typeface="Cambria Math" panose="02040503050406030204" pitchFamily="18" charset="0"/>
                                <a:ea typeface="Cambria Math" panose="02040503050406030204" pitchFamily="18" charset="0"/>
                                <a:cs typeface="Calibri" panose="020F0502020204030204" pitchFamily="34" charset="0"/>
                              </a:rPr>
                              <m:t>2</m:t>
                            </m:r>
                          </m:sup>
                        </m:sSup>
                      </m:den>
                    </m:f>
                    <m:sSub>
                      <m:sSubPr>
                        <m:ctrlPr>
                          <a:rPr lang="en-US" sz="2000" i="1">
                            <a:solidFill>
                              <a:srgbClr val="000000"/>
                            </a:solidFill>
                            <a:latin typeface="Cambria Math" panose="02040503050406030204" pitchFamily="18" charset="0"/>
                            <a:cs typeface="Calibri" panose="020F0502020204030204" pitchFamily="34" charset="0"/>
                          </a:rPr>
                        </m:ctrlPr>
                      </m:sSubPr>
                      <m:e>
                        <m:r>
                          <a:rPr lang="en-US" sz="2000" i="1">
                            <a:solidFill>
                              <a:srgbClr val="000000"/>
                            </a:solidFill>
                            <a:latin typeface="Cambria Math" panose="02040503050406030204" pitchFamily="18" charset="0"/>
                            <a:cs typeface="Calibri" panose="020F0502020204030204" pitchFamily="34" charset="0"/>
                          </a:rPr>
                          <m:t>𝐺</m:t>
                        </m:r>
                      </m:e>
                      <m:sub>
                        <m:r>
                          <a:rPr lang="en-US" sz="2000" i="1">
                            <a:solidFill>
                              <a:srgbClr val="000000"/>
                            </a:solidFill>
                            <a:latin typeface="Cambria Math" panose="02040503050406030204" pitchFamily="18" charset="0"/>
                            <a:cs typeface="Calibri" panose="020F0502020204030204" pitchFamily="34" charset="0"/>
                          </a:rPr>
                          <m:t>1</m:t>
                        </m:r>
                      </m:sub>
                    </m:sSub>
                    <m:sSub>
                      <m:sSubPr>
                        <m:ctrlPr>
                          <a:rPr lang="en-US" sz="2000" i="1">
                            <a:solidFill>
                              <a:srgbClr val="000000"/>
                            </a:solidFill>
                            <a:latin typeface="Cambria Math" panose="02040503050406030204" pitchFamily="18" charset="0"/>
                            <a:cs typeface="Calibri" panose="020F0502020204030204" pitchFamily="34" charset="0"/>
                          </a:rPr>
                        </m:ctrlPr>
                      </m:sSubPr>
                      <m:e>
                        <m:r>
                          <a:rPr lang="en-US" sz="2000" i="1">
                            <a:solidFill>
                              <a:srgbClr val="000000"/>
                            </a:solidFill>
                            <a:latin typeface="Cambria Math" panose="02040503050406030204" pitchFamily="18" charset="0"/>
                            <a:cs typeface="Calibri" panose="020F0502020204030204" pitchFamily="34" charset="0"/>
                          </a:rPr>
                          <m:t>𝐴</m:t>
                        </m:r>
                      </m:e>
                      <m:sub>
                        <m:r>
                          <a:rPr lang="en-US" sz="2000" b="0" i="1" smtClean="0">
                            <a:solidFill>
                              <a:srgbClr val="000000"/>
                            </a:solidFill>
                            <a:latin typeface="Cambria Math" panose="02040503050406030204" pitchFamily="18" charset="0"/>
                            <a:cs typeface="Calibri" panose="020F0502020204030204" pitchFamily="34" charset="0"/>
                          </a:rPr>
                          <m:t>2</m:t>
                        </m:r>
                      </m:sub>
                    </m:sSub>
                  </m:oMath>
                </a14:m>
                <a:endParaRPr lang="en-US" sz="2000" dirty="0">
                  <a:solidFill>
                    <a:srgbClr val="000000"/>
                  </a:solidFill>
                </a:endParaRPr>
              </a:p>
              <a:p>
                <a:pPr marL="342900" lvl="2" indent="-342900" latinLnBrk="1" hangingPunct="0">
                  <a:buFont typeface="Arial" panose="020B0604020202020204" pitchFamily="34" charset="0"/>
                  <a:buChar char="•"/>
                </a:pPr>
                <a:r>
                  <a:rPr lang="en-US" sz="2000" dirty="0">
                    <a:solidFill>
                      <a:srgbClr val="000000"/>
                    </a:solidFill>
                    <a:latin typeface="Calibri" panose="020F0502020204030204" pitchFamily="34" charset="0"/>
                    <a:cs typeface="Calibri" panose="020F0502020204030204" pitchFamily="34" charset="0"/>
                  </a:rPr>
                  <a:t>For us, </a:t>
                </a:r>
                <a14:m>
                  <m:oMath xmlns:m="http://schemas.openxmlformats.org/officeDocument/2006/math">
                    <m:sSub>
                      <m:sSubPr>
                        <m:ctrlPr>
                          <a:rPr lang="en-US" sz="2000" b="0" i="1" smtClean="0">
                            <a:solidFill>
                              <a:srgbClr val="000000"/>
                            </a:solidFill>
                            <a:latin typeface="Cambria Math" panose="02040503050406030204" pitchFamily="18" charset="0"/>
                            <a:cs typeface="Calibri" panose="020F0502020204030204" pitchFamily="34" charset="0"/>
                          </a:rPr>
                        </m:ctrlPr>
                      </m:sSubPr>
                      <m:e>
                        <m:r>
                          <a:rPr lang="en-US" sz="2000" b="0" i="1" smtClean="0">
                            <a:solidFill>
                              <a:srgbClr val="000000"/>
                            </a:solidFill>
                            <a:latin typeface="Cambria Math" panose="02040503050406030204" pitchFamily="18" charset="0"/>
                            <a:cs typeface="Calibri" panose="020F0502020204030204" pitchFamily="34" charset="0"/>
                          </a:rPr>
                          <m:t>𝐺</m:t>
                        </m:r>
                      </m:e>
                      <m:sub>
                        <m:r>
                          <a:rPr lang="en-US" sz="2000" b="0" i="1" smtClean="0">
                            <a:solidFill>
                              <a:srgbClr val="000000"/>
                            </a:solidFill>
                            <a:latin typeface="Cambria Math" panose="02040503050406030204" pitchFamily="18" charset="0"/>
                            <a:cs typeface="Calibri" panose="020F0502020204030204" pitchFamily="34" charset="0"/>
                          </a:rPr>
                          <m:t>1</m:t>
                        </m:r>
                      </m:sub>
                    </m:sSub>
                    <m:r>
                      <a:rPr lang="en-US" sz="2000" i="1">
                        <a:solidFill>
                          <a:srgbClr val="000000"/>
                        </a:solidFill>
                        <a:latin typeface="Cambria Math" panose="02040503050406030204" pitchFamily="18" charset="0"/>
                        <a:cs typeface="Calibri" panose="020F0502020204030204" pitchFamily="34" charset="0"/>
                      </a:rPr>
                      <m:t>=1, </m:t>
                    </m:r>
                    <m:r>
                      <a:rPr lang="en-US" sz="2000" b="0" i="1" smtClean="0">
                        <a:solidFill>
                          <a:srgbClr val="000000"/>
                        </a:solidFill>
                        <a:latin typeface="Cambria Math" panose="02040503050406030204" pitchFamily="18" charset="0"/>
                        <a:cs typeface="Calibri" panose="020F0502020204030204" pitchFamily="34" charset="0"/>
                      </a:rPr>
                      <m:t> </m:t>
                    </m:r>
                    <m:sSub>
                      <m:sSubPr>
                        <m:ctrlPr>
                          <a:rPr lang="en-US" sz="2000" b="0" i="1" smtClean="0">
                            <a:solidFill>
                              <a:srgbClr val="000000"/>
                            </a:solidFill>
                            <a:latin typeface="Cambria Math" panose="02040503050406030204" pitchFamily="18" charset="0"/>
                            <a:cs typeface="Calibri" panose="020F0502020204030204" pitchFamily="34" charset="0"/>
                          </a:rPr>
                        </m:ctrlPr>
                      </m:sSubPr>
                      <m:e>
                        <m:r>
                          <a:rPr lang="en-US" sz="2000" b="0" i="1" smtClean="0">
                            <a:solidFill>
                              <a:srgbClr val="000000"/>
                            </a:solidFill>
                            <a:latin typeface="Cambria Math" panose="02040503050406030204" pitchFamily="18" charset="0"/>
                            <a:cs typeface="Calibri" panose="020F0502020204030204" pitchFamily="34" charset="0"/>
                          </a:rPr>
                          <m:t>𝐴</m:t>
                        </m:r>
                      </m:e>
                      <m:sub>
                        <m:r>
                          <a:rPr lang="en-US" sz="2000" b="0" i="1" smtClean="0">
                            <a:solidFill>
                              <a:srgbClr val="000000"/>
                            </a:solidFill>
                            <a:latin typeface="Cambria Math" panose="02040503050406030204" pitchFamily="18" charset="0"/>
                            <a:cs typeface="Calibri" panose="020F0502020204030204" pitchFamily="34" charset="0"/>
                          </a:rPr>
                          <m:t>2</m:t>
                        </m:r>
                      </m:sub>
                    </m:sSub>
                    <m:r>
                      <a:rPr lang="en-US" sz="2000" i="1">
                        <a:solidFill>
                          <a:srgbClr val="000000"/>
                        </a:solidFill>
                        <a:latin typeface="Cambria Math" panose="02040503050406030204" pitchFamily="18" charset="0"/>
                        <a:cs typeface="Calibri" panose="020F0502020204030204" pitchFamily="34" charset="0"/>
                      </a:rPr>
                      <m:t>=150 </m:t>
                    </m:r>
                    <m:sSup>
                      <m:sSupPr>
                        <m:ctrlPr>
                          <a:rPr lang="en-US" sz="2000" i="1">
                            <a:solidFill>
                              <a:srgbClr val="000000"/>
                            </a:solidFill>
                            <a:latin typeface="Cambria Math" panose="02040503050406030204" pitchFamily="18" charset="0"/>
                            <a:cs typeface="Calibri" panose="020F0502020204030204" pitchFamily="34" charset="0"/>
                          </a:rPr>
                        </m:ctrlPr>
                      </m:sSupPr>
                      <m:e>
                        <m:r>
                          <a:rPr lang="en-US" sz="2000" i="1">
                            <a:solidFill>
                              <a:srgbClr val="000000"/>
                            </a:solidFill>
                            <a:latin typeface="Cambria Math" panose="02040503050406030204" pitchFamily="18" charset="0"/>
                            <a:cs typeface="Calibri" panose="020F0502020204030204" pitchFamily="34" charset="0"/>
                          </a:rPr>
                          <m:t>𝑚</m:t>
                        </m:r>
                      </m:e>
                      <m:sup>
                        <m:r>
                          <a:rPr lang="en-US" sz="2000" i="1">
                            <a:solidFill>
                              <a:srgbClr val="000000"/>
                            </a:solidFill>
                            <a:latin typeface="Cambria Math" panose="02040503050406030204" pitchFamily="18" charset="0"/>
                            <a:cs typeface="Calibri" panose="020F0502020204030204" pitchFamily="34" charset="0"/>
                          </a:rPr>
                          <m:t>2</m:t>
                        </m:r>
                      </m:sup>
                    </m:sSup>
                    <m:r>
                      <a:rPr lang="en-US" sz="2000" i="1">
                        <a:solidFill>
                          <a:srgbClr val="000000"/>
                        </a:solidFill>
                        <a:latin typeface="Cambria Math" panose="02040503050406030204" pitchFamily="18" charset="0"/>
                        <a:cs typeface="Calibri" panose="020F0502020204030204" pitchFamily="34" charset="0"/>
                      </a:rPr>
                      <m:t>, </m:t>
                    </m:r>
                    <m:r>
                      <a:rPr lang="en-US" sz="2000" i="1">
                        <a:solidFill>
                          <a:srgbClr val="000000"/>
                        </a:solidFill>
                        <a:latin typeface="Cambria Math" panose="02040503050406030204" pitchFamily="18" charset="0"/>
                        <a:cs typeface="Calibri" panose="020F0502020204030204" pitchFamily="34" charset="0"/>
                      </a:rPr>
                      <m:t>𝑟</m:t>
                    </m:r>
                    <m:r>
                      <a:rPr lang="en-US" sz="2000" i="1">
                        <a:solidFill>
                          <a:srgbClr val="000000"/>
                        </a:solidFill>
                        <a:latin typeface="Cambria Math" panose="02040503050406030204" pitchFamily="18" charset="0"/>
                        <a:cs typeface="Calibri" panose="020F0502020204030204" pitchFamily="34" charset="0"/>
                      </a:rPr>
                      <m:t>=2000</m:t>
                    </m:r>
                    <m:r>
                      <a:rPr lang="en-US" sz="2000" i="1">
                        <a:solidFill>
                          <a:srgbClr val="000000"/>
                        </a:solidFill>
                        <a:latin typeface="Cambria Math" panose="02040503050406030204" pitchFamily="18" charset="0"/>
                        <a:cs typeface="Calibri" panose="020F0502020204030204" pitchFamily="34" charset="0"/>
                      </a:rPr>
                      <m:t>𝑘𝑚</m:t>
                    </m:r>
                    <m:r>
                      <a:rPr lang="en-US" sz="2000">
                        <a:solidFill>
                          <a:srgbClr val="000000"/>
                        </a:solidFill>
                        <a:latin typeface="Cambria Math" panose="02040503050406030204" pitchFamily="18" charset="0"/>
                        <a:cs typeface="Calibri" panose="020F0502020204030204" pitchFamily="34" charset="0"/>
                      </a:rPr>
                      <m:t>, </m:t>
                    </m:r>
                    <m:sSub>
                      <m:sSubPr>
                        <m:ctrlPr>
                          <a:rPr lang="en-US" sz="2000" i="1">
                            <a:solidFill>
                              <a:srgbClr val="000000"/>
                            </a:solidFill>
                            <a:latin typeface="Cambria Math" panose="02040503050406030204" pitchFamily="18" charset="0"/>
                            <a:cs typeface="Calibri" panose="020F0502020204030204" pitchFamily="34" charset="0"/>
                          </a:rPr>
                        </m:ctrlPr>
                      </m:sSubPr>
                      <m:e>
                        <m:r>
                          <a:rPr lang="en-US" sz="2000" i="1">
                            <a:solidFill>
                              <a:srgbClr val="000000"/>
                            </a:solidFill>
                            <a:latin typeface="Cambria Math" panose="02040503050406030204" pitchFamily="18" charset="0"/>
                            <a:cs typeface="Calibri" panose="020F0502020204030204" pitchFamily="34" charset="0"/>
                          </a:rPr>
                          <m:t>𝑃</m:t>
                        </m:r>
                      </m:e>
                      <m:sub>
                        <m:r>
                          <a:rPr lang="en-US" sz="2000" i="1">
                            <a:solidFill>
                              <a:srgbClr val="000000"/>
                            </a:solidFill>
                            <a:latin typeface="Cambria Math" panose="02040503050406030204" pitchFamily="18" charset="0"/>
                            <a:cs typeface="Calibri" panose="020F0502020204030204" pitchFamily="34" charset="0"/>
                          </a:rPr>
                          <m:t>𝑡</m:t>
                        </m:r>
                      </m:sub>
                    </m:sSub>
                    <m:r>
                      <a:rPr lang="en-US" sz="2000" i="1">
                        <a:solidFill>
                          <a:srgbClr val="000000"/>
                        </a:solidFill>
                        <a:latin typeface="Cambria Math" panose="02040503050406030204" pitchFamily="18" charset="0"/>
                        <a:cs typeface="Calibri" panose="020F0502020204030204" pitchFamily="34" charset="0"/>
                      </a:rPr>
                      <m:t>=2</m:t>
                    </m:r>
                    <m:r>
                      <a:rPr lang="en-US" sz="2000" i="1">
                        <a:solidFill>
                          <a:srgbClr val="000000"/>
                        </a:solidFill>
                        <a:latin typeface="Cambria Math" panose="02040503050406030204" pitchFamily="18" charset="0"/>
                        <a:cs typeface="Calibri" panose="020F0502020204030204" pitchFamily="34" charset="0"/>
                      </a:rPr>
                      <m:t>𝑊</m:t>
                    </m:r>
                  </m:oMath>
                </a14:m>
                <a:endParaRPr lang="en-US" sz="2000" dirty="0">
                  <a:solidFill>
                    <a:srgbClr val="000000"/>
                  </a:solidFill>
                  <a:latin typeface="Calibri" panose="020F0502020204030204" pitchFamily="34" charset="0"/>
                  <a:cs typeface="Calibri" panose="020F0502020204030204" pitchFamily="34" charset="0"/>
                </a:endParaRPr>
              </a:p>
              <a:p>
                <a:pPr marL="342900" lvl="2" indent="-342900" latinLnBrk="1"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cs typeface="Calibri" panose="020F0502020204030204" pitchFamily="34" charset="0"/>
                          </a:rPr>
                        </m:ctrlPr>
                      </m:sSubPr>
                      <m:e>
                        <m:r>
                          <a:rPr lang="en-US" sz="2000" i="1">
                            <a:solidFill>
                              <a:srgbClr val="000000"/>
                            </a:solidFill>
                            <a:latin typeface="Cambria Math" panose="02040503050406030204" pitchFamily="18" charset="0"/>
                            <a:cs typeface="Calibri" panose="020F0502020204030204" pitchFamily="34" charset="0"/>
                          </a:rPr>
                          <m:t>𝑃</m:t>
                        </m:r>
                      </m:e>
                      <m:sub>
                        <m:r>
                          <a:rPr lang="en-US" sz="2000" i="1">
                            <a:solidFill>
                              <a:srgbClr val="000000"/>
                            </a:solidFill>
                            <a:latin typeface="Cambria Math" panose="02040503050406030204" pitchFamily="18" charset="0"/>
                            <a:cs typeface="Calibri" panose="020F0502020204030204" pitchFamily="34" charset="0"/>
                          </a:rPr>
                          <m:t>𝑟</m:t>
                        </m:r>
                      </m:sub>
                    </m:sSub>
                    <m:r>
                      <a:rPr lang="en-US" sz="2000" i="1">
                        <a:solidFill>
                          <a:srgbClr val="000000"/>
                        </a:solidFill>
                        <a:latin typeface="Cambria Math" panose="02040503050406030204" pitchFamily="18" charset="0"/>
                        <a:cs typeface="Calibri" panose="020F0502020204030204" pitchFamily="34" charset="0"/>
                      </a:rPr>
                      <m:t>=6</m:t>
                    </m:r>
                    <m:r>
                      <a:rPr lang="en-US" sz="2000" i="1">
                        <a:solidFill>
                          <a:srgbClr val="000000"/>
                        </a:solidFill>
                        <a:latin typeface="Cambria Math" panose="02040503050406030204" pitchFamily="18" charset="0"/>
                        <a:cs typeface="Calibri" panose="020F0502020204030204" pitchFamily="34" charset="0"/>
                      </a:rPr>
                      <m:t>𝑝𝑊</m:t>
                    </m:r>
                  </m:oMath>
                </a14:m>
                <a:endParaRPr lang="en-US" sz="2000" dirty="0">
                  <a:solidFill>
                    <a:srgbClr val="000000"/>
                  </a:solidFill>
                  <a:latin typeface="Calibri" panose="020F0502020204030204" pitchFamily="34" charset="0"/>
                  <a:cs typeface="Calibri" panose="020F0502020204030204" pitchFamily="34" charset="0"/>
                </a:endParaRPr>
              </a:p>
              <a:p>
                <a:pPr latinLnBrk="1" hangingPunct="0"/>
                <a:endParaRPr lang="en-US" sz="2000" dirty="0">
                  <a:solidFill>
                    <a:srgbClr val="000000"/>
                  </a:solidFill>
                </a:endParaRPr>
              </a:p>
              <a:p>
                <a:pPr latinLnBrk="1" hangingPunct="0"/>
                <a:endParaRPr lang="en-US" dirty="0">
                  <a:solidFill>
                    <a:srgbClr val="000000"/>
                  </a:solidFill>
                </a:endParaRPr>
              </a:p>
              <a:p>
                <a:pPr algn="l" rtl="0" latinLnBrk="1" hangingPunct="0"/>
                <a:endParaRPr lang="en-US" dirty="0">
                  <a:solidFill>
                    <a:srgbClr val="000000"/>
                  </a:solidFill>
                </a:endParaRP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963208" y="2005066"/>
                <a:ext cx="8671837" cy="2445476"/>
              </a:xfrm>
              <a:prstGeom prst="rect">
                <a:avLst/>
              </a:prstGeom>
              <a:blipFill>
                <a:blip r:embed="rId3"/>
                <a:stretch>
                  <a:fillRect l="-1023"/>
                </a:stretch>
              </a:blipFill>
              <a:ln w="12700" cap="flat">
                <a:noFill/>
                <a:miter lim="400000"/>
              </a:ln>
              <a:effectLst/>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F3EED66A-56F2-494C-BB12-2E8BBB011DE2}"/>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10</a:t>
            </a:fld>
            <a:endParaRPr lang="en-US" dirty="0">
              <a:solidFill>
                <a:schemeClr val="tx1"/>
              </a:solidFill>
            </a:endParaRPr>
          </a:p>
        </p:txBody>
      </p:sp>
      <p:grpSp>
        <p:nvGrpSpPr>
          <p:cNvPr id="24" name="Group 23">
            <a:extLst>
              <a:ext uri="{FF2B5EF4-FFF2-40B4-BE49-F238E27FC236}">
                <a16:creationId xmlns:a16="http://schemas.microsoft.com/office/drawing/2014/main" id="{825F5A69-5FC1-D246-822B-5A3516FF0AD7}"/>
              </a:ext>
            </a:extLst>
          </p:cNvPr>
          <p:cNvGrpSpPr/>
          <p:nvPr/>
        </p:nvGrpSpPr>
        <p:grpSpPr>
          <a:xfrm>
            <a:off x="6379029" y="4411012"/>
            <a:ext cx="5381501" cy="1691842"/>
            <a:chOff x="6239944" y="4531819"/>
            <a:chExt cx="5381501" cy="1691842"/>
          </a:xfrm>
        </p:grpSpPr>
        <p:sp>
          <p:nvSpPr>
            <p:cNvPr id="26" name="TextBox 25">
              <a:extLst>
                <a:ext uri="{FF2B5EF4-FFF2-40B4-BE49-F238E27FC236}">
                  <a16:creationId xmlns:a16="http://schemas.microsoft.com/office/drawing/2014/main" id="{3E491D30-0334-1844-A592-B182F1E4AD65}"/>
                </a:ext>
              </a:extLst>
            </p:cNvPr>
            <p:cNvSpPr txBox="1"/>
            <p:nvPr/>
          </p:nvSpPr>
          <p:spPr>
            <a:xfrm>
              <a:off x="6239944" y="4531819"/>
              <a:ext cx="5381501" cy="1691842"/>
            </a:xfrm>
            <a:prstGeom prst="rect">
              <a:avLst/>
            </a:prstGeom>
            <a:noFill/>
            <a:ln w="25400" cap="flat">
              <a:solidFill>
                <a:schemeClr val="accent1"/>
              </a:solid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endParaRPr lang="en-US" dirty="0">
                <a:solidFill>
                  <a:srgbClr val="000000"/>
                </a:solidFill>
                <a:latin typeface="Calibri"/>
                <a:ea typeface="Calibri"/>
                <a:cs typeface="Calibri"/>
                <a:sym typeface="Calibri"/>
              </a:endParaRPr>
            </a:p>
          </p:txBody>
        </p:sp>
        <p:cxnSp>
          <p:nvCxnSpPr>
            <p:cNvPr id="29" name="Straight Connector 28">
              <a:extLst>
                <a:ext uri="{FF2B5EF4-FFF2-40B4-BE49-F238E27FC236}">
                  <a16:creationId xmlns:a16="http://schemas.microsoft.com/office/drawing/2014/main" id="{B57F9D7E-4753-1143-9E4F-A5F800978C87}"/>
                </a:ext>
              </a:extLst>
            </p:cNvPr>
            <p:cNvCxnSpPr/>
            <p:nvPr/>
          </p:nvCxnSpPr>
          <p:spPr>
            <a:xfrm>
              <a:off x="7385106" y="5077137"/>
              <a:ext cx="109728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30" name="Straight Connector 29">
              <a:extLst>
                <a:ext uri="{FF2B5EF4-FFF2-40B4-BE49-F238E27FC236}">
                  <a16:creationId xmlns:a16="http://schemas.microsoft.com/office/drawing/2014/main" id="{7D5A8BFA-FF09-D842-AD23-61980ECFF2A0}"/>
                </a:ext>
              </a:extLst>
            </p:cNvPr>
            <p:cNvCxnSpPr/>
            <p:nvPr/>
          </p:nvCxnSpPr>
          <p:spPr>
            <a:xfrm>
              <a:off x="7379328" y="5351712"/>
              <a:ext cx="109728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31" name="Straight Connector 30">
              <a:extLst>
                <a:ext uri="{FF2B5EF4-FFF2-40B4-BE49-F238E27FC236}">
                  <a16:creationId xmlns:a16="http://schemas.microsoft.com/office/drawing/2014/main" id="{50BFA398-9929-6041-A95F-2A6BC9A2E3F9}"/>
                </a:ext>
              </a:extLst>
            </p:cNvPr>
            <p:cNvCxnSpPr>
              <a:cxnSpLocks noChangeAspect="1"/>
            </p:cNvCxnSpPr>
            <p:nvPr/>
          </p:nvCxnSpPr>
          <p:spPr>
            <a:xfrm flipV="1">
              <a:off x="8483529" y="4711377"/>
              <a:ext cx="447166" cy="36576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32" name="Straight Connector 31">
              <a:extLst>
                <a:ext uri="{FF2B5EF4-FFF2-40B4-BE49-F238E27FC236}">
                  <a16:creationId xmlns:a16="http://schemas.microsoft.com/office/drawing/2014/main" id="{906AEA73-7046-3942-9B63-CDECCBB16AEE}"/>
                </a:ext>
              </a:extLst>
            </p:cNvPr>
            <p:cNvCxnSpPr>
              <a:cxnSpLocks noChangeAspect="1"/>
            </p:cNvCxnSpPr>
            <p:nvPr/>
          </p:nvCxnSpPr>
          <p:spPr>
            <a:xfrm>
              <a:off x="8281096" y="5290749"/>
              <a:ext cx="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33" name="Straight Connector 32">
              <a:extLst>
                <a:ext uri="{FF2B5EF4-FFF2-40B4-BE49-F238E27FC236}">
                  <a16:creationId xmlns:a16="http://schemas.microsoft.com/office/drawing/2014/main" id="{6C02F4C1-2364-AF4A-B75B-D7382D4C394C}"/>
                </a:ext>
              </a:extLst>
            </p:cNvPr>
            <p:cNvCxnSpPr>
              <a:cxnSpLocks/>
            </p:cNvCxnSpPr>
            <p:nvPr/>
          </p:nvCxnSpPr>
          <p:spPr>
            <a:xfrm>
              <a:off x="8477706" y="5342921"/>
              <a:ext cx="469002" cy="375139"/>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34" name="TextBox 33">
              <a:extLst>
                <a:ext uri="{FF2B5EF4-FFF2-40B4-BE49-F238E27FC236}">
                  <a16:creationId xmlns:a16="http://schemas.microsoft.com/office/drawing/2014/main" id="{E5C440AE-1E81-564F-B1C7-FA75454718D9}"/>
                </a:ext>
              </a:extLst>
            </p:cNvPr>
            <p:cNvSpPr txBox="1"/>
            <p:nvPr/>
          </p:nvSpPr>
          <p:spPr>
            <a:xfrm>
              <a:off x="7418132" y="5418762"/>
              <a:ext cx="1063105"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dirty="0">
                  <a:solidFill>
                    <a:srgbClr val="000000"/>
                  </a:solidFill>
                  <a:latin typeface="Calibri"/>
                  <a:ea typeface="Calibri"/>
                  <a:cs typeface="Calibri"/>
                  <a:sym typeface="Calibri"/>
                </a:rPr>
                <a:t>G</a:t>
              </a:r>
              <a:r>
                <a:rPr lang="en-US" baseline="-25000" dirty="0">
                  <a:solidFill>
                    <a:srgbClr val="000000"/>
                  </a:solidFill>
                  <a:latin typeface="Calibri"/>
                  <a:ea typeface="Calibri"/>
                  <a:cs typeface="Calibri"/>
                  <a:sym typeface="Calibri"/>
                </a:rPr>
                <a:t>1</a:t>
              </a:r>
              <a:r>
                <a:rPr lang="en-US" dirty="0">
                  <a:solidFill>
                    <a:srgbClr val="000000"/>
                  </a:solidFill>
                  <a:latin typeface="Calibri"/>
                  <a:ea typeface="Calibri"/>
                  <a:cs typeface="Calibri"/>
                  <a:sym typeface="Calibri"/>
                </a:rPr>
                <a:t>, A</a:t>
              </a:r>
              <a:r>
                <a:rPr lang="en-US" baseline="-25000" dirty="0">
                  <a:solidFill>
                    <a:srgbClr val="000000"/>
                  </a:solidFill>
                  <a:latin typeface="Calibri"/>
                  <a:ea typeface="Calibri"/>
                  <a:cs typeface="Calibri"/>
                  <a:sym typeface="Calibri"/>
                </a:rPr>
                <a:t>1</a:t>
              </a:r>
              <a:r>
                <a:rPr lang="en-US" dirty="0">
                  <a:solidFill>
                    <a:srgbClr val="000000"/>
                  </a:solidFill>
                  <a:latin typeface="Calibri"/>
                  <a:ea typeface="Calibri"/>
                  <a:cs typeface="Calibri"/>
                  <a:sym typeface="Calibri"/>
                </a:rPr>
                <a:t>, R</a:t>
              </a:r>
              <a:r>
                <a:rPr lang="en-US" baseline="-25000" dirty="0">
                  <a:solidFill>
                    <a:srgbClr val="000000"/>
                  </a:solidFill>
                  <a:latin typeface="Calibri"/>
                  <a:ea typeface="Calibri"/>
                  <a:cs typeface="Calibri"/>
                  <a:sym typeface="Calibri"/>
                </a:rPr>
                <a:t>1</a:t>
              </a:r>
            </a:p>
          </p:txBody>
        </p:sp>
        <p:cxnSp>
          <p:nvCxnSpPr>
            <p:cNvPr id="35" name="Straight Connector 34">
              <a:extLst>
                <a:ext uri="{FF2B5EF4-FFF2-40B4-BE49-F238E27FC236}">
                  <a16:creationId xmlns:a16="http://schemas.microsoft.com/office/drawing/2014/main" id="{FDB1D2FA-681F-CF47-8A09-E113EDF9D0DD}"/>
                </a:ext>
              </a:extLst>
            </p:cNvPr>
            <p:cNvCxnSpPr>
              <a:cxnSpLocks/>
            </p:cNvCxnSpPr>
            <p:nvPr/>
          </p:nvCxnSpPr>
          <p:spPr>
            <a:xfrm>
              <a:off x="6905591" y="4842921"/>
              <a:ext cx="50468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36" name="Straight Connector 35">
              <a:extLst>
                <a:ext uri="{FF2B5EF4-FFF2-40B4-BE49-F238E27FC236}">
                  <a16:creationId xmlns:a16="http://schemas.microsoft.com/office/drawing/2014/main" id="{5F754BCB-8E41-C743-BEA1-BDBD2DFFDBD4}"/>
                </a:ext>
              </a:extLst>
            </p:cNvPr>
            <p:cNvCxnSpPr>
              <a:cxnSpLocks/>
            </p:cNvCxnSpPr>
            <p:nvPr/>
          </p:nvCxnSpPr>
          <p:spPr>
            <a:xfrm>
              <a:off x="7397747" y="4831995"/>
              <a:ext cx="0" cy="23357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37" name="Straight Connector 36">
              <a:extLst>
                <a:ext uri="{FF2B5EF4-FFF2-40B4-BE49-F238E27FC236}">
                  <a16:creationId xmlns:a16="http://schemas.microsoft.com/office/drawing/2014/main" id="{B728F0AB-A84C-AC4D-AAF6-A32179015E17}"/>
                </a:ext>
              </a:extLst>
            </p:cNvPr>
            <p:cNvCxnSpPr>
              <a:cxnSpLocks/>
            </p:cNvCxnSpPr>
            <p:nvPr/>
          </p:nvCxnSpPr>
          <p:spPr>
            <a:xfrm>
              <a:off x="6899390" y="5588941"/>
              <a:ext cx="50468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38" name="Straight Connector 37">
              <a:extLst>
                <a:ext uri="{FF2B5EF4-FFF2-40B4-BE49-F238E27FC236}">
                  <a16:creationId xmlns:a16="http://schemas.microsoft.com/office/drawing/2014/main" id="{7A02C3F5-7400-FE4E-8E13-7CAAC110BF0D}"/>
                </a:ext>
              </a:extLst>
            </p:cNvPr>
            <p:cNvCxnSpPr>
              <a:cxnSpLocks/>
            </p:cNvCxnSpPr>
            <p:nvPr/>
          </p:nvCxnSpPr>
          <p:spPr>
            <a:xfrm>
              <a:off x="7393391" y="5350158"/>
              <a:ext cx="0" cy="23357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39" name="Group 203">
              <a:extLst>
                <a:ext uri="{FF2B5EF4-FFF2-40B4-BE49-F238E27FC236}">
                  <a16:creationId xmlns:a16="http://schemas.microsoft.com/office/drawing/2014/main" id="{C72E6F08-1175-8745-A8C4-DBC8BEB414B2}"/>
                </a:ext>
              </a:extLst>
            </p:cNvPr>
            <p:cNvGrpSpPr>
              <a:grpSpLocks/>
            </p:cNvGrpSpPr>
            <p:nvPr/>
          </p:nvGrpSpPr>
          <p:grpSpPr bwMode="auto">
            <a:xfrm rot="10800000">
              <a:off x="6753191" y="4842921"/>
              <a:ext cx="304800" cy="762000"/>
              <a:chOff x="3216" y="2400"/>
              <a:chExt cx="192" cy="480"/>
            </a:xfrm>
          </p:grpSpPr>
          <p:sp>
            <p:nvSpPr>
              <p:cNvPr id="47" name="Line 46">
                <a:extLst>
                  <a:ext uri="{FF2B5EF4-FFF2-40B4-BE49-F238E27FC236}">
                    <a16:creationId xmlns:a16="http://schemas.microsoft.com/office/drawing/2014/main" id="{F62BB1ED-6512-A648-B5A8-9B951F10D5A6}"/>
                  </a:ext>
                </a:extLst>
              </p:cNvPr>
              <p:cNvSpPr>
                <a:spLocks noChangeAspect="1" noChangeShapeType="1"/>
              </p:cNvSpPr>
              <p:nvPr/>
            </p:nvSpPr>
            <p:spPr bwMode="auto">
              <a:xfrm flipV="1">
                <a:off x="3312" y="2400"/>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 name="Line 47">
                <a:extLst>
                  <a:ext uri="{FF2B5EF4-FFF2-40B4-BE49-F238E27FC236}">
                    <a16:creationId xmlns:a16="http://schemas.microsoft.com/office/drawing/2014/main" id="{0F8DCFDA-39DA-F645-8A85-8951302B21DF}"/>
                  </a:ext>
                </a:extLst>
              </p:cNvPr>
              <p:cNvSpPr>
                <a:spLocks noChangeAspect="1" noChangeShapeType="1"/>
              </p:cNvSpPr>
              <p:nvPr/>
            </p:nvSpPr>
            <p:spPr bwMode="auto">
              <a:xfrm flipV="1">
                <a:off x="3312" y="2784"/>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 name="Line 48">
                <a:extLst>
                  <a:ext uri="{FF2B5EF4-FFF2-40B4-BE49-F238E27FC236}">
                    <a16:creationId xmlns:a16="http://schemas.microsoft.com/office/drawing/2014/main" id="{860BAD56-B15F-E54C-BE0D-AB29D0FFDB5F}"/>
                  </a:ext>
                </a:extLst>
              </p:cNvPr>
              <p:cNvSpPr>
                <a:spLocks noChangeAspect="1" noChangeShapeType="1"/>
              </p:cNvSpPr>
              <p:nvPr/>
            </p:nvSpPr>
            <p:spPr bwMode="auto">
              <a:xfrm>
                <a:off x="3312" y="2568"/>
                <a:ext cx="0" cy="120"/>
              </a:xfrm>
              <a:prstGeom prst="line">
                <a:avLst/>
              </a:prstGeom>
              <a:noFill/>
              <a:ln w="25400">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en-US"/>
              </a:p>
            </p:txBody>
          </p:sp>
          <p:sp>
            <p:nvSpPr>
              <p:cNvPr id="51" name="Freeform 49">
                <a:extLst>
                  <a:ext uri="{FF2B5EF4-FFF2-40B4-BE49-F238E27FC236}">
                    <a16:creationId xmlns:a16="http://schemas.microsoft.com/office/drawing/2014/main" id="{89174501-5719-FD4A-9BC0-3513116931B5}"/>
                  </a:ext>
                </a:extLst>
              </p:cNvPr>
              <p:cNvSpPr>
                <a:spLocks noChangeAspect="1"/>
              </p:cNvSpPr>
              <p:nvPr/>
            </p:nvSpPr>
            <p:spPr bwMode="auto">
              <a:xfrm rot="5400000" flipH="1">
                <a:off x="3288" y="2664"/>
                <a:ext cx="48" cy="48"/>
              </a:xfrm>
              <a:custGeom>
                <a:avLst/>
                <a:gdLst>
                  <a:gd name="T0" fmla="*/ 0 w 96"/>
                  <a:gd name="T1" fmla="*/ 1 h 96"/>
                  <a:gd name="T2" fmla="*/ 2 w 96"/>
                  <a:gd name="T3" fmla="*/ 0 h 96"/>
                  <a:gd name="T4" fmla="*/ 2 w 96"/>
                  <a:gd name="T5" fmla="*/ 2 h 96"/>
                  <a:gd name="T6" fmla="*/ 0 w 96"/>
                  <a:gd name="T7" fmla="*/ 1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48"/>
                    </a:moveTo>
                    <a:lnTo>
                      <a:pt x="96" y="0"/>
                    </a:lnTo>
                    <a:lnTo>
                      <a:pt x="96" y="96"/>
                    </a:lnTo>
                    <a:lnTo>
                      <a:pt x="0" y="48"/>
                    </a:lnTo>
                    <a:close/>
                  </a:path>
                </a:pathLst>
              </a:custGeom>
              <a:solidFill>
                <a:schemeClr val="tx1"/>
              </a:solidFill>
              <a:ln w="25400">
                <a:solidFill>
                  <a:schemeClr val="tx1"/>
                </a:solidFill>
                <a:round/>
                <a:headEnd/>
                <a:tailEnd/>
              </a:ln>
            </p:spPr>
            <p:txBody>
              <a:bodyPr/>
              <a:lstStyle/>
              <a:p>
                <a:endParaRPr lang="en-US"/>
              </a:p>
            </p:txBody>
          </p:sp>
          <p:sp>
            <p:nvSpPr>
              <p:cNvPr id="52" name="Freeform 50">
                <a:extLst>
                  <a:ext uri="{FF2B5EF4-FFF2-40B4-BE49-F238E27FC236}">
                    <a16:creationId xmlns:a16="http://schemas.microsoft.com/office/drawing/2014/main" id="{D22C1508-65FB-B64B-B86C-03AC840567B3}"/>
                  </a:ext>
                </a:extLst>
              </p:cNvPr>
              <p:cNvSpPr>
                <a:spLocks noChangeAspect="1"/>
              </p:cNvSpPr>
              <p:nvPr/>
            </p:nvSpPr>
            <p:spPr bwMode="auto">
              <a:xfrm>
                <a:off x="3216" y="2496"/>
                <a:ext cx="192" cy="288"/>
              </a:xfrm>
              <a:custGeom>
                <a:avLst/>
                <a:gdLst>
                  <a:gd name="T0" fmla="*/ 3 w 384"/>
                  <a:gd name="T1" fmla="*/ 0 h 576"/>
                  <a:gd name="T2" fmla="*/ 0 w 384"/>
                  <a:gd name="T3" fmla="*/ 5 h 576"/>
                  <a:gd name="T4" fmla="*/ 3 w 384"/>
                  <a:gd name="T5" fmla="*/ 9 h 576"/>
                  <a:gd name="T6" fmla="*/ 6 w 384"/>
                  <a:gd name="T7" fmla="*/ 5 h 576"/>
                  <a:gd name="T8" fmla="*/ 3 w 384"/>
                  <a:gd name="T9" fmla="*/ 0 h 576"/>
                  <a:gd name="T10" fmla="*/ 0 60000 65536"/>
                  <a:gd name="T11" fmla="*/ 0 60000 65536"/>
                  <a:gd name="T12" fmla="*/ 0 60000 65536"/>
                  <a:gd name="T13" fmla="*/ 0 60000 65536"/>
                  <a:gd name="T14" fmla="*/ 0 60000 65536"/>
                  <a:gd name="T15" fmla="*/ 0 w 384"/>
                  <a:gd name="T16" fmla="*/ 0 h 576"/>
                  <a:gd name="T17" fmla="*/ 384 w 384"/>
                  <a:gd name="T18" fmla="*/ 576 h 576"/>
                </a:gdLst>
                <a:ahLst/>
                <a:cxnLst>
                  <a:cxn ang="T10">
                    <a:pos x="T0" y="T1"/>
                  </a:cxn>
                  <a:cxn ang="T11">
                    <a:pos x="T2" y="T3"/>
                  </a:cxn>
                  <a:cxn ang="T12">
                    <a:pos x="T4" y="T5"/>
                  </a:cxn>
                  <a:cxn ang="T13">
                    <a:pos x="T6" y="T7"/>
                  </a:cxn>
                  <a:cxn ang="T14">
                    <a:pos x="T8" y="T9"/>
                  </a:cxn>
                </a:cxnLst>
                <a:rect l="T15" t="T16" r="T17" b="T18"/>
                <a:pathLst>
                  <a:path w="384" h="576">
                    <a:moveTo>
                      <a:pt x="192" y="0"/>
                    </a:moveTo>
                    <a:lnTo>
                      <a:pt x="0" y="288"/>
                    </a:lnTo>
                    <a:lnTo>
                      <a:pt x="192" y="576"/>
                    </a:lnTo>
                    <a:lnTo>
                      <a:pt x="384" y="288"/>
                    </a:lnTo>
                    <a:lnTo>
                      <a:pt x="192"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cxnSp>
          <p:nvCxnSpPr>
            <p:cNvPr id="40" name="Straight Connector 39">
              <a:extLst>
                <a:ext uri="{FF2B5EF4-FFF2-40B4-BE49-F238E27FC236}">
                  <a16:creationId xmlns:a16="http://schemas.microsoft.com/office/drawing/2014/main" id="{D3EC621D-D56C-F34C-B466-7764A9661E78}"/>
                </a:ext>
              </a:extLst>
            </p:cNvPr>
            <p:cNvCxnSpPr>
              <a:cxnSpLocks/>
            </p:cNvCxnSpPr>
            <p:nvPr/>
          </p:nvCxnSpPr>
          <p:spPr>
            <a:xfrm>
              <a:off x="9148738" y="4691140"/>
              <a:ext cx="469002" cy="375139"/>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41" name="Straight Connector 40">
              <a:extLst>
                <a:ext uri="{FF2B5EF4-FFF2-40B4-BE49-F238E27FC236}">
                  <a16:creationId xmlns:a16="http://schemas.microsoft.com/office/drawing/2014/main" id="{2FA8B3F5-0BB4-4E43-9306-2DE24BC457A0}"/>
                </a:ext>
              </a:extLst>
            </p:cNvPr>
            <p:cNvCxnSpPr/>
            <p:nvPr/>
          </p:nvCxnSpPr>
          <p:spPr>
            <a:xfrm>
              <a:off x="9607107" y="5066504"/>
              <a:ext cx="109728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42" name="Straight Connector 41">
              <a:extLst>
                <a:ext uri="{FF2B5EF4-FFF2-40B4-BE49-F238E27FC236}">
                  <a16:creationId xmlns:a16="http://schemas.microsoft.com/office/drawing/2014/main" id="{6A39D429-B4EA-F94C-8636-ACE31EBC97E9}"/>
                </a:ext>
              </a:extLst>
            </p:cNvPr>
            <p:cNvCxnSpPr>
              <a:cxnSpLocks noChangeAspect="1"/>
            </p:cNvCxnSpPr>
            <p:nvPr/>
          </p:nvCxnSpPr>
          <p:spPr>
            <a:xfrm flipV="1">
              <a:off x="9170574" y="5377740"/>
              <a:ext cx="447166" cy="36576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43" name="Straight Connector 42">
              <a:extLst>
                <a:ext uri="{FF2B5EF4-FFF2-40B4-BE49-F238E27FC236}">
                  <a16:creationId xmlns:a16="http://schemas.microsoft.com/office/drawing/2014/main" id="{4CBE0502-007E-2346-9C99-28FE86AA418E}"/>
                </a:ext>
              </a:extLst>
            </p:cNvPr>
            <p:cNvCxnSpPr/>
            <p:nvPr/>
          </p:nvCxnSpPr>
          <p:spPr>
            <a:xfrm>
              <a:off x="9617740" y="5377740"/>
              <a:ext cx="109728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44" name="TextBox 43">
              <a:extLst>
                <a:ext uri="{FF2B5EF4-FFF2-40B4-BE49-F238E27FC236}">
                  <a16:creationId xmlns:a16="http://schemas.microsoft.com/office/drawing/2014/main" id="{62477A6E-F5B2-514D-A032-DDB6351BEB2A}"/>
                </a:ext>
              </a:extLst>
            </p:cNvPr>
            <p:cNvSpPr txBox="1"/>
            <p:nvPr/>
          </p:nvSpPr>
          <p:spPr>
            <a:xfrm>
              <a:off x="9617740" y="4662811"/>
              <a:ext cx="1063105"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dirty="0">
                  <a:solidFill>
                    <a:srgbClr val="000000"/>
                  </a:solidFill>
                  <a:latin typeface="Calibri"/>
                  <a:ea typeface="Calibri"/>
                  <a:cs typeface="Calibri"/>
                  <a:sym typeface="Calibri"/>
                </a:rPr>
                <a:t>G</a:t>
              </a:r>
              <a:r>
                <a:rPr lang="en-US" baseline="-25000" dirty="0">
                  <a:solidFill>
                    <a:srgbClr val="000000"/>
                  </a:solidFill>
                  <a:latin typeface="Calibri"/>
                  <a:ea typeface="Calibri"/>
                  <a:cs typeface="Calibri"/>
                  <a:sym typeface="Calibri"/>
                </a:rPr>
                <a:t>2</a:t>
              </a:r>
              <a:r>
                <a:rPr lang="en-US" dirty="0">
                  <a:solidFill>
                    <a:srgbClr val="000000"/>
                  </a:solidFill>
                  <a:latin typeface="Calibri"/>
                  <a:ea typeface="Calibri"/>
                  <a:cs typeface="Calibri"/>
                  <a:sym typeface="Calibri"/>
                </a:rPr>
                <a:t>, A</a:t>
              </a:r>
              <a:r>
                <a:rPr lang="en-US" baseline="-25000" dirty="0">
                  <a:solidFill>
                    <a:srgbClr val="000000"/>
                  </a:solidFill>
                  <a:latin typeface="Calibri"/>
                  <a:ea typeface="Calibri"/>
                  <a:cs typeface="Calibri"/>
                  <a:sym typeface="Calibri"/>
                </a:rPr>
                <a:t>2</a:t>
              </a:r>
              <a:r>
                <a:rPr lang="en-US" dirty="0">
                  <a:solidFill>
                    <a:srgbClr val="000000"/>
                  </a:solidFill>
                  <a:latin typeface="Calibri"/>
                  <a:ea typeface="Calibri"/>
                  <a:cs typeface="Calibri"/>
                  <a:sym typeface="Calibri"/>
                </a:rPr>
                <a:t>, R</a:t>
              </a:r>
              <a:r>
                <a:rPr lang="en-US" baseline="-25000" dirty="0">
                  <a:solidFill>
                    <a:srgbClr val="000000"/>
                  </a:solidFill>
                  <a:latin typeface="Calibri"/>
                  <a:ea typeface="Calibri"/>
                  <a:cs typeface="Calibri"/>
                  <a:sym typeface="Calibri"/>
                </a:rPr>
                <a:t>2</a:t>
              </a:r>
            </a:p>
          </p:txBody>
        </p:sp>
        <p:sp>
          <p:nvSpPr>
            <p:cNvPr id="45" name="TextBox 44">
              <a:extLst>
                <a:ext uri="{FF2B5EF4-FFF2-40B4-BE49-F238E27FC236}">
                  <a16:creationId xmlns:a16="http://schemas.microsoft.com/office/drawing/2014/main" id="{C169B03C-E4BF-0846-A722-B2D0C8BE39B5}"/>
                </a:ext>
              </a:extLst>
            </p:cNvPr>
            <p:cNvSpPr txBox="1"/>
            <p:nvPr/>
          </p:nvSpPr>
          <p:spPr>
            <a:xfrm>
              <a:off x="10775832" y="5032141"/>
              <a:ext cx="418438"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dirty="0">
                  <a:solidFill>
                    <a:srgbClr val="000000"/>
                  </a:solidFill>
                  <a:latin typeface="Calibri"/>
                  <a:ea typeface="Calibri"/>
                  <a:cs typeface="Calibri"/>
                  <a:sym typeface="Calibri"/>
                </a:rPr>
                <a:t>V</a:t>
              </a:r>
              <a:endParaRPr lang="en-US" baseline="-25000" dirty="0">
                <a:solidFill>
                  <a:srgbClr val="000000"/>
                </a:solidFill>
                <a:latin typeface="Calibri"/>
                <a:ea typeface="Calibri"/>
                <a:cs typeface="Calibri"/>
                <a:sym typeface="Calibri"/>
              </a:endParaRPr>
            </a:p>
          </p:txBody>
        </p:sp>
        <p:sp>
          <p:nvSpPr>
            <p:cNvPr id="46" name="TextBox 45">
              <a:extLst>
                <a:ext uri="{FF2B5EF4-FFF2-40B4-BE49-F238E27FC236}">
                  <a16:creationId xmlns:a16="http://schemas.microsoft.com/office/drawing/2014/main" id="{D769DE9F-4412-FA4F-A25E-D8D5CD2589B3}"/>
                </a:ext>
              </a:extLst>
            </p:cNvPr>
            <p:cNvSpPr txBox="1"/>
            <p:nvPr/>
          </p:nvSpPr>
          <p:spPr>
            <a:xfrm>
              <a:off x="6460740" y="5077137"/>
              <a:ext cx="418438"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dirty="0">
                  <a:solidFill>
                    <a:srgbClr val="000000"/>
                  </a:solidFill>
                  <a:latin typeface="Calibri"/>
                  <a:ea typeface="Calibri"/>
                  <a:cs typeface="Calibri"/>
                  <a:sym typeface="Calibri"/>
                </a:rPr>
                <a:t>I</a:t>
              </a:r>
            </a:p>
          </p:txBody>
        </p:sp>
      </p:grpSp>
    </p:spTree>
    <p:extLst>
      <p:ext uri="{BB962C8B-B14F-4D97-AF65-F5344CB8AC3E}">
        <p14:creationId xmlns:p14="http://schemas.microsoft.com/office/powerpoint/2010/main" val="136897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605643" y="182199"/>
            <a:ext cx="10438410"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Antenna Theorem</a:t>
            </a:r>
            <a:endParaRPr sz="44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511058" y="1841246"/>
                <a:ext cx="11169884" cy="417845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285750" indent="-285750" hangingPunct="0">
                  <a:buFont typeface="Arial" panose="020B0604020202020204" pitchFamily="34" charset="0"/>
                  <a:buChar char="•"/>
                </a:pPr>
                <a:r>
                  <a:rPr lang="en-US" sz="2000" dirty="0">
                    <a:solidFill>
                      <a:srgbClr val="000000"/>
                    </a:solidFill>
                  </a:rPr>
                  <a:t>Antenna theorem: </a:t>
                </a:r>
                <a14:m>
                  <m:oMath xmlns:m="http://schemas.openxmlformats.org/officeDocument/2006/math">
                    <m:nary>
                      <m:naryPr>
                        <m:chr m:val="∮"/>
                        <m:limLoc m:val="undOvr"/>
                        <m:subHide m:val="on"/>
                        <m:supHide m:val="on"/>
                        <m:ctrlPr>
                          <a:rPr lang="en-US" sz="2000" i="1">
                            <a:solidFill>
                              <a:srgbClr val="000000"/>
                            </a:solidFill>
                            <a:latin typeface="Cambria Math" panose="02040503050406030204" pitchFamily="18" charset="0"/>
                          </a:rPr>
                        </m:ctrlPr>
                      </m:naryPr>
                      <m:sub/>
                      <m:sup/>
                      <m:e>
                        <m:r>
                          <a:rPr lang="en-US" sz="2000" i="1">
                            <a:solidFill>
                              <a:srgbClr val="000000"/>
                            </a:solidFill>
                            <a:latin typeface="Cambria Math" panose="02040503050406030204" pitchFamily="18" charset="0"/>
                          </a:rPr>
                          <m:t>𝐴</m:t>
                        </m:r>
                        <m:d>
                          <m:dPr>
                            <m:ctrlPr>
                              <a:rPr lang="en-US" sz="2000" i="1" dirty="0">
                                <a:solidFill>
                                  <a:srgbClr val="000000"/>
                                </a:solidFill>
                                <a:latin typeface="Cambria Math" panose="02040503050406030204" pitchFamily="18" charset="0"/>
                                <a:ea typeface="Cambria Math" panose="02040503050406030204" pitchFamily="18" charset="0"/>
                              </a:rPr>
                            </m:ctrlPr>
                          </m:dPr>
                          <m:e>
                            <m:r>
                              <a:rPr lang="en-US" sz="2000" i="1" dirty="0">
                                <a:solidFill>
                                  <a:srgbClr val="000000"/>
                                </a:solidFill>
                                <a:latin typeface="Cambria Math" panose="02040503050406030204" pitchFamily="18" charset="0"/>
                                <a:ea typeface="Cambria Math" panose="02040503050406030204" pitchFamily="18" charset="0"/>
                              </a:rPr>
                              <m:t>𝜃</m:t>
                            </m:r>
                            <m:r>
                              <a:rPr lang="en-US" sz="2000" i="1" dirty="0">
                                <a:solidFill>
                                  <a:srgbClr val="000000"/>
                                </a:solidFill>
                                <a:latin typeface="Cambria Math" panose="02040503050406030204" pitchFamily="18" charset="0"/>
                                <a:ea typeface="Cambria Math" panose="02040503050406030204" pitchFamily="18" charset="0"/>
                              </a:rPr>
                              <m:t>, </m:t>
                            </m:r>
                            <m:r>
                              <a:rPr lang="en-US" sz="2000" i="1" dirty="0">
                                <a:solidFill>
                                  <a:srgbClr val="000000"/>
                                </a:solidFill>
                                <a:latin typeface="Cambria Math" panose="02040503050406030204" pitchFamily="18" charset="0"/>
                                <a:ea typeface="Cambria Math" panose="02040503050406030204" pitchFamily="18" charset="0"/>
                              </a:rPr>
                              <m:t>𝜙</m:t>
                            </m:r>
                          </m:e>
                        </m:d>
                        <m:r>
                          <a:rPr lang="en-US" sz="2000" i="1">
                            <a:solidFill>
                              <a:srgbClr val="000000"/>
                            </a:solidFill>
                            <a:latin typeface="Cambria Math" panose="02040503050406030204" pitchFamily="18" charset="0"/>
                          </a:rPr>
                          <m:t>𝑑</m:t>
                        </m:r>
                        <m:r>
                          <m:rPr>
                            <m:sty m:val="p"/>
                          </m:rPr>
                          <a:rPr lang="el-GR" sz="2000" i="1">
                            <a:solidFill>
                              <a:srgbClr val="000000"/>
                            </a:solidFill>
                            <a:latin typeface="Cambria Math" panose="02040503050406030204" pitchFamily="18" charset="0"/>
                            <a:ea typeface="Cambria Math" panose="02040503050406030204" pitchFamily="18" charset="0"/>
                          </a:rPr>
                          <m:t>Ω</m:t>
                        </m:r>
                        <m:r>
                          <a:rPr lang="en-US" sz="2000" i="1">
                            <a:solidFill>
                              <a:srgbClr val="000000"/>
                            </a:solidFill>
                            <a:latin typeface="Cambria Math" panose="02040503050406030204" pitchFamily="18" charset="0"/>
                            <a:ea typeface="Cambria Math" panose="02040503050406030204" pitchFamily="18" charset="0"/>
                          </a:rPr>
                          <m:t>=</m:t>
                        </m:r>
                        <m:sSup>
                          <m:sSupPr>
                            <m:ctrlPr>
                              <a:rPr lang="en-US" sz="2000" i="1">
                                <a:solidFill>
                                  <a:srgbClr val="000000"/>
                                </a:solidFill>
                                <a:latin typeface="Cambria Math" panose="02040503050406030204" pitchFamily="18" charset="0"/>
                                <a:ea typeface="Cambria Math" panose="02040503050406030204" pitchFamily="18" charset="0"/>
                              </a:rPr>
                            </m:ctrlPr>
                          </m:sSupPr>
                          <m:e>
                            <m:r>
                              <a:rPr lang="en-US" sz="2000" i="1">
                                <a:solidFill>
                                  <a:srgbClr val="000000"/>
                                </a:solidFill>
                                <a:latin typeface="Cambria Math" panose="02040503050406030204" pitchFamily="18" charset="0"/>
                                <a:ea typeface="Cambria Math" panose="02040503050406030204" pitchFamily="18" charset="0"/>
                              </a:rPr>
                              <m:t>𝜆</m:t>
                            </m:r>
                          </m:e>
                          <m:sup>
                            <m:r>
                              <a:rPr lang="en-US" sz="2000" i="1">
                                <a:solidFill>
                                  <a:srgbClr val="000000"/>
                                </a:solidFill>
                                <a:latin typeface="Cambria Math" panose="02040503050406030204" pitchFamily="18" charset="0"/>
                                <a:ea typeface="Cambria Math" panose="02040503050406030204" pitchFamily="18" charset="0"/>
                              </a:rPr>
                              <m:t>2</m:t>
                            </m:r>
                          </m:sup>
                        </m:sSup>
                      </m:e>
                    </m:nary>
                    <m:r>
                      <a:rPr lang="en-US" sz="2000" i="1">
                        <a:solidFill>
                          <a:srgbClr val="000000"/>
                        </a:solidFill>
                        <a:latin typeface="Cambria Math" panose="02040503050406030204" pitchFamily="18" charset="0"/>
                        <a:ea typeface="Cambria Math" panose="02040503050406030204" pitchFamily="18" charset="0"/>
                      </a:rPr>
                      <m:t> </m:t>
                    </m:r>
                  </m:oMath>
                </a14:m>
                <a:endParaRPr lang="en-US" sz="2000" dirty="0">
                  <a:solidFill>
                    <a:srgbClr val="000000"/>
                  </a:solidFill>
                </a:endParaRPr>
              </a:p>
              <a:p>
                <a:pPr marL="285750" indent="-285750" hangingPunct="0">
                  <a:buFont typeface="Arial" panose="020B0604020202020204" pitchFamily="34" charset="0"/>
                  <a:buChar char="•"/>
                </a:pPr>
                <a:r>
                  <a:rPr lang="en-US" sz="2000" dirty="0">
                    <a:solidFill>
                      <a:srgbClr val="000000"/>
                    </a:solidFill>
                  </a:rPr>
                  <a:t>Proof:</a:t>
                </a:r>
              </a:p>
              <a:p>
                <a:pPr marL="742950" lvl="1" indent="-285750" hangingPunct="0">
                  <a:buFont typeface="Arial" panose="020B0604020202020204" pitchFamily="34" charset="0"/>
                  <a:buChar char="•"/>
                </a:pPr>
                <a:r>
                  <a:rPr lang="en-US" sz="2000" dirty="0">
                    <a:solidFill>
                      <a:srgbClr val="000000"/>
                    </a:solidFill>
                  </a:rPr>
                  <a:t>For cavity on right, T is constant at thermodynamic equilibrium and the same power is emitted and  absorbed, the Johnson noise is </a:t>
                </a:r>
                <a14:m>
                  <m:oMath xmlns:m="http://schemas.openxmlformats.org/officeDocument/2006/math">
                    <m:r>
                      <a:rPr lang="en-US" sz="2000" i="1">
                        <a:solidFill>
                          <a:srgbClr val="000000"/>
                        </a:solidFill>
                        <a:latin typeface="Cambria Math" panose="02040503050406030204" pitchFamily="18" charset="0"/>
                      </a:rPr>
                      <m:t>𝑘𝑇</m:t>
                    </m:r>
                  </m:oMath>
                </a14:m>
                <a:r>
                  <a:rPr lang="en-US" sz="2000" dirty="0">
                    <a:solidFill>
                      <a:srgbClr val="000000"/>
                    </a:solidFill>
                  </a:rPr>
                  <a:t>.</a:t>
                </a:r>
              </a:p>
              <a:p>
                <a:pPr marL="742950" lvl="1" indent="-285750" hangingPunct="0">
                  <a:buFont typeface="Arial" panose="020B0604020202020204" pitchFamily="34" charset="0"/>
                  <a:buChar char="•"/>
                </a:pPr>
                <a:r>
                  <a:rPr lang="en-US" sz="2000" dirty="0">
                    <a:solidFill>
                      <a:srgbClr val="000000"/>
                    </a:solidFill>
                  </a:rPr>
                  <a:t>The energy received is</a:t>
                </a:r>
              </a:p>
              <a:p>
                <a:pPr marL="1257300" lvl="2" indent="-342900" hangingPunct="0">
                  <a:buFont typeface="Arial" panose="020B0604020202020204" pitchFamily="34" charset="0"/>
                  <a:buChar char="•"/>
                </a:pPr>
                <a:r>
                  <a:rPr lang="en-US" sz="2000" dirty="0">
                    <a:solidFill>
                      <a:srgbClr val="000000"/>
                    </a:solidFill>
                  </a:rPr>
                  <a:t> </a:t>
                </a:r>
                <a14:m>
                  <m:oMath xmlns:m="http://schemas.openxmlformats.org/officeDocument/2006/math">
                    <m:r>
                      <a:rPr lang="en-US" sz="2000" i="1">
                        <a:solidFill>
                          <a:srgbClr val="000000"/>
                        </a:solidFill>
                        <a:latin typeface="Cambria Math" panose="02040503050406030204" pitchFamily="18" charset="0"/>
                      </a:rPr>
                      <m:t>𝐸</m:t>
                    </m:r>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4</m:t>
                        </m:r>
                        <m:r>
                          <a:rPr lang="en-US" sz="2000" i="1">
                            <a:solidFill>
                              <a:srgbClr val="000000"/>
                            </a:solidFill>
                            <a:latin typeface="Cambria Math" panose="02040503050406030204" pitchFamily="18" charset="0"/>
                            <a:ea typeface="Cambria Math" panose="02040503050406030204" pitchFamily="18" charset="0"/>
                          </a:rPr>
                          <m:t>𝜋</m:t>
                        </m:r>
                        <m:r>
                          <a:rPr lang="en-US" sz="2000" i="1">
                            <a:solidFill>
                              <a:srgbClr val="000000"/>
                            </a:solidFill>
                            <a:latin typeface="Cambria Math" panose="02040503050406030204" pitchFamily="18" charset="0"/>
                            <a:ea typeface="Cambria Math" panose="02040503050406030204" pitchFamily="18" charset="0"/>
                          </a:rPr>
                          <m:t>𝑘𝑇</m:t>
                        </m:r>
                      </m:num>
                      <m:den>
                        <m:r>
                          <a:rPr lang="en-US" sz="2000" i="1">
                            <a:solidFill>
                              <a:srgbClr val="000000"/>
                            </a:solidFill>
                            <a:latin typeface="Cambria Math" panose="02040503050406030204" pitchFamily="18" charset="0"/>
                          </a:rPr>
                          <m:t>𝑐</m:t>
                        </m:r>
                        <m:sSup>
                          <m:sSupPr>
                            <m:ctrlPr>
                              <a:rPr lang="en-US" sz="2000" i="1">
                                <a:solidFill>
                                  <a:srgbClr val="000000"/>
                                </a:solidFill>
                                <a:latin typeface="Cambria Math" panose="02040503050406030204" pitchFamily="18" charset="0"/>
                                <a:ea typeface="Cambria Math" panose="02040503050406030204" pitchFamily="18" charset="0"/>
                              </a:rPr>
                            </m:ctrlPr>
                          </m:sSupPr>
                          <m:e>
                            <m:r>
                              <a:rPr lang="en-US" sz="2000" i="1">
                                <a:solidFill>
                                  <a:srgbClr val="000000"/>
                                </a:solidFill>
                                <a:latin typeface="Cambria Math" panose="02040503050406030204" pitchFamily="18" charset="0"/>
                                <a:ea typeface="Cambria Math" panose="02040503050406030204" pitchFamily="18" charset="0"/>
                              </a:rPr>
                              <m:t>𝜆</m:t>
                            </m:r>
                          </m:e>
                          <m:sup>
                            <m:r>
                              <a:rPr lang="en-US" sz="2000" i="1">
                                <a:solidFill>
                                  <a:srgbClr val="000000"/>
                                </a:solidFill>
                                <a:latin typeface="Cambria Math" panose="02040503050406030204" pitchFamily="18" charset="0"/>
                              </a:rPr>
                              <m:t>2</m:t>
                            </m:r>
                          </m:sup>
                        </m:sSup>
                      </m:den>
                    </m:f>
                  </m:oMath>
                </a14:m>
                <a:r>
                  <a:rPr lang="en-US" sz="2000" dirty="0">
                    <a:solidFill>
                      <a:srgbClr val="000000"/>
                    </a:solidFill>
                  </a:rPr>
                  <a:t>.  </a:t>
                </a:r>
              </a:p>
              <a:p>
                <a:pPr marL="1257300" lvl="2" indent="-342900" hangingPunct="0">
                  <a:buFont typeface="Arial" panose="020B0604020202020204" pitchFamily="34" charset="0"/>
                  <a:buChar char="•"/>
                </a:pPr>
                <a:r>
                  <a:rPr lang="en-US" sz="2000" dirty="0">
                    <a:solidFill>
                      <a:srgbClr val="000000"/>
                    </a:solidFill>
                  </a:rPr>
                  <a:t>Set </a:t>
                </a:r>
                <a14:m>
                  <m:oMath xmlns:m="http://schemas.openxmlformats.org/officeDocument/2006/math">
                    <m:r>
                      <a:rPr lang="en-US" sz="2000" i="1">
                        <a:solidFill>
                          <a:srgbClr val="000000"/>
                        </a:solidFill>
                        <a:latin typeface="Cambria Math" panose="02040503050406030204" pitchFamily="18" charset="0"/>
                      </a:rPr>
                      <m:t>𝐵</m:t>
                    </m:r>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𝑘𝑇</m:t>
                        </m:r>
                      </m:num>
                      <m:den>
                        <m:sSup>
                          <m:sSupPr>
                            <m:ctrlPr>
                              <a:rPr lang="en-US" sz="2000" i="1">
                                <a:solidFill>
                                  <a:srgbClr val="000000"/>
                                </a:solidFill>
                                <a:latin typeface="Cambria Math" panose="02040503050406030204" pitchFamily="18" charset="0"/>
                                <a:ea typeface="Cambria Math" panose="02040503050406030204" pitchFamily="18" charset="0"/>
                              </a:rPr>
                            </m:ctrlPr>
                          </m:sSupPr>
                          <m:e>
                            <m:r>
                              <a:rPr lang="en-US" sz="2000" i="1">
                                <a:solidFill>
                                  <a:srgbClr val="000000"/>
                                </a:solidFill>
                                <a:latin typeface="Cambria Math" panose="02040503050406030204" pitchFamily="18" charset="0"/>
                                <a:ea typeface="Cambria Math" panose="02040503050406030204" pitchFamily="18" charset="0"/>
                              </a:rPr>
                              <m:t>𝜆</m:t>
                            </m:r>
                          </m:e>
                          <m:sup>
                            <m:r>
                              <a:rPr lang="en-US" sz="2000" i="1">
                                <a:solidFill>
                                  <a:srgbClr val="000000"/>
                                </a:solidFill>
                                <a:latin typeface="Cambria Math" panose="02040503050406030204" pitchFamily="18" charset="0"/>
                              </a:rPr>
                              <m:t>2</m:t>
                            </m:r>
                          </m:sup>
                        </m:sSup>
                      </m:den>
                    </m:f>
                  </m:oMath>
                </a14:m>
                <a:r>
                  <a:rPr lang="en-US" sz="2000" dirty="0">
                    <a:solidFill>
                      <a:srgbClr val="000000"/>
                    </a:solidFill>
                  </a:rPr>
                  <a:t>.  </a:t>
                </a:r>
                <a:endParaRPr lang="en-US" sz="2000" i="1" dirty="0">
                  <a:solidFill>
                    <a:srgbClr val="000000"/>
                  </a:solidFill>
                  <a:latin typeface="Cambria Math" panose="02040503050406030204" pitchFamily="18" charset="0"/>
                </a:endParaRPr>
              </a:p>
              <a:p>
                <a:pPr marL="1257300" lvl="2" indent="-342900" hangingPunct="0">
                  <a:buFont typeface="Arial" panose="020B0604020202020204" pitchFamily="34" charset="0"/>
                  <a:buChar char="•"/>
                </a:pPr>
                <a14:m>
                  <m:oMath xmlns:m="http://schemas.openxmlformats.org/officeDocument/2006/math">
                    <m:r>
                      <a:rPr lang="en-US" sz="2000" i="1">
                        <a:solidFill>
                          <a:srgbClr val="000000"/>
                        </a:solidFill>
                        <a:latin typeface="Cambria Math" panose="02040503050406030204" pitchFamily="18" charset="0"/>
                      </a:rPr>
                      <m:t>𝑘𝑇</m:t>
                    </m:r>
                    <m:r>
                      <a:rPr lang="en-US" sz="2000" i="1">
                        <a:solidFill>
                          <a:srgbClr val="000000"/>
                        </a:solidFill>
                        <a:latin typeface="Cambria Math" panose="02040503050406030204" pitchFamily="18" charset="0"/>
                      </a:rPr>
                      <m:t>=</m:t>
                    </m:r>
                    <m:nary>
                      <m:naryPr>
                        <m:chr m:val="∮"/>
                        <m:limLoc m:val="undOvr"/>
                        <m:subHide m:val="on"/>
                        <m:supHide m:val="on"/>
                        <m:ctrlPr>
                          <a:rPr lang="en-US" sz="2000" i="1">
                            <a:solidFill>
                              <a:srgbClr val="000000"/>
                            </a:solidFill>
                            <a:latin typeface="Cambria Math" panose="02040503050406030204" pitchFamily="18" charset="0"/>
                          </a:rPr>
                        </m:ctrlPr>
                      </m:naryPr>
                      <m:sub/>
                      <m:sup/>
                      <m:e>
                        <m:r>
                          <a:rPr lang="en-US" sz="2000" i="1">
                            <a:solidFill>
                              <a:srgbClr val="000000"/>
                            </a:solidFill>
                            <a:latin typeface="Cambria Math" panose="02040503050406030204" pitchFamily="18" charset="0"/>
                          </a:rPr>
                          <m:t>𝐵𝐴</m:t>
                        </m:r>
                        <m:r>
                          <a:rPr lang="en-US" sz="2000" i="1">
                            <a:solidFill>
                              <a:srgbClr val="000000"/>
                            </a:solidFill>
                            <a:latin typeface="Cambria Math" panose="02040503050406030204" pitchFamily="18" charset="0"/>
                          </a:rPr>
                          <m:t> </m:t>
                        </m:r>
                        <m:r>
                          <a:rPr lang="en-US" sz="2000" i="1">
                            <a:solidFill>
                              <a:srgbClr val="000000"/>
                            </a:solidFill>
                            <a:latin typeface="Cambria Math" panose="02040503050406030204" pitchFamily="18" charset="0"/>
                          </a:rPr>
                          <m:t>𝑑</m:t>
                        </m:r>
                        <m:r>
                          <m:rPr>
                            <m:sty m:val="p"/>
                          </m:rPr>
                          <a:rPr lang="el-GR" sz="2000" i="1">
                            <a:solidFill>
                              <a:srgbClr val="000000"/>
                            </a:solidFill>
                            <a:latin typeface="Cambria Math" panose="02040503050406030204" pitchFamily="18" charset="0"/>
                            <a:ea typeface="Cambria Math" panose="02040503050406030204" pitchFamily="18" charset="0"/>
                          </a:rPr>
                          <m:t>Ω</m:t>
                        </m:r>
                        <m:r>
                          <a:rPr lang="en-US" sz="2000" i="1">
                            <a:solidFill>
                              <a:srgbClr val="000000"/>
                            </a:solidFill>
                            <a:latin typeface="Cambria Math" panose="02040503050406030204" pitchFamily="18" charset="0"/>
                            <a:ea typeface="Cambria Math" panose="02040503050406030204" pitchFamily="18" charset="0"/>
                          </a:rPr>
                          <m:t>=</m:t>
                        </m:r>
                      </m:e>
                    </m:nary>
                    <m:nary>
                      <m:naryPr>
                        <m:chr m:val="∮"/>
                        <m:limLoc m:val="undOvr"/>
                        <m:subHide m:val="on"/>
                        <m:supHide m:val="on"/>
                        <m:ctrlPr>
                          <a:rPr lang="en-US" sz="2000" i="1">
                            <a:solidFill>
                              <a:srgbClr val="000000"/>
                            </a:solidFill>
                            <a:latin typeface="Cambria Math" panose="02040503050406030204" pitchFamily="18" charset="0"/>
                          </a:rPr>
                        </m:ctrlPr>
                      </m:naryPr>
                      <m:sub/>
                      <m:sup/>
                      <m:e>
                        <m:r>
                          <a:rPr lang="en-US" sz="2000" i="1">
                            <a:solidFill>
                              <a:srgbClr val="000000"/>
                            </a:solidFill>
                            <a:latin typeface="Cambria Math" panose="02040503050406030204" pitchFamily="18" charset="0"/>
                          </a:rPr>
                          <m:t>𝐴</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𝑘𝑇</m:t>
                            </m:r>
                          </m:num>
                          <m:den>
                            <m:sSup>
                              <m:sSupPr>
                                <m:ctrlPr>
                                  <a:rPr lang="en-US" sz="2000" i="1">
                                    <a:solidFill>
                                      <a:srgbClr val="000000"/>
                                    </a:solidFill>
                                    <a:latin typeface="Cambria Math" panose="02040503050406030204" pitchFamily="18" charset="0"/>
                                    <a:ea typeface="Cambria Math" panose="02040503050406030204" pitchFamily="18" charset="0"/>
                                  </a:rPr>
                                </m:ctrlPr>
                              </m:sSupPr>
                              <m:e>
                                <m:r>
                                  <a:rPr lang="en-US" sz="2000" i="1">
                                    <a:solidFill>
                                      <a:srgbClr val="000000"/>
                                    </a:solidFill>
                                    <a:latin typeface="Cambria Math" panose="02040503050406030204" pitchFamily="18" charset="0"/>
                                    <a:ea typeface="Cambria Math" panose="02040503050406030204" pitchFamily="18" charset="0"/>
                                  </a:rPr>
                                  <m:t>𝜆</m:t>
                                </m:r>
                              </m:e>
                              <m:sup>
                                <m:r>
                                  <a:rPr lang="en-US" sz="2000" i="1">
                                    <a:solidFill>
                                      <a:srgbClr val="000000"/>
                                    </a:solidFill>
                                    <a:latin typeface="Cambria Math" panose="02040503050406030204" pitchFamily="18" charset="0"/>
                                  </a:rPr>
                                  <m:t>2</m:t>
                                </m:r>
                              </m:sup>
                            </m:sSup>
                          </m:den>
                        </m:f>
                        <m:r>
                          <m:rPr>
                            <m:nor/>
                          </m:rPr>
                          <a:rPr lang="en-US" sz="2000" i="0">
                            <a:solidFill>
                              <a:srgbClr val="000000"/>
                            </a:solidFill>
                            <a:latin typeface="Cambria Math" panose="02040503050406030204" pitchFamily="18" charset="0"/>
                          </a:rPr>
                          <m:t> </m:t>
                        </m:r>
                        <m:r>
                          <a:rPr lang="en-US" sz="2000" i="1">
                            <a:solidFill>
                              <a:srgbClr val="000000"/>
                            </a:solidFill>
                            <a:latin typeface="Cambria Math" panose="02040503050406030204" pitchFamily="18" charset="0"/>
                          </a:rPr>
                          <m:t>𝑑</m:t>
                        </m:r>
                        <m:r>
                          <m:rPr>
                            <m:sty m:val="p"/>
                          </m:rPr>
                          <a:rPr lang="el-GR" sz="2000" i="1">
                            <a:solidFill>
                              <a:srgbClr val="000000"/>
                            </a:solidFill>
                            <a:latin typeface="Cambria Math" panose="02040503050406030204" pitchFamily="18" charset="0"/>
                            <a:ea typeface="Cambria Math" panose="02040503050406030204" pitchFamily="18" charset="0"/>
                          </a:rPr>
                          <m:t>Ω</m:t>
                        </m:r>
                      </m:e>
                    </m:nary>
                    <m:r>
                      <a:rPr lang="en-US" sz="2000">
                        <a:solidFill>
                          <a:srgbClr val="000000"/>
                        </a:solidFill>
                        <a:latin typeface="Cambria Math" panose="02040503050406030204" pitchFamily="18" charset="0"/>
                        <a:ea typeface="Cambria Math" panose="02040503050406030204" pitchFamily="18" charset="0"/>
                      </a:rPr>
                      <m:t>, </m:t>
                    </m:r>
                    <m:r>
                      <m:rPr>
                        <m:sty m:val="p"/>
                      </m:rPr>
                      <a:rPr lang="en-US" sz="2000" b="0" i="0" smtClean="0">
                        <a:solidFill>
                          <a:srgbClr val="000000"/>
                        </a:solidFill>
                        <a:latin typeface="Cambria Math" panose="02040503050406030204" pitchFamily="18" charset="0"/>
                        <a:ea typeface="Cambria Math" panose="02040503050406030204" pitchFamily="18" charset="0"/>
                      </a:rPr>
                      <m:t>giving</m:t>
                    </m:r>
                    <m:r>
                      <a:rPr lang="en-US" sz="2000" b="0" i="0" smtClean="0">
                        <a:solidFill>
                          <a:srgbClr val="000000"/>
                        </a:solidFill>
                        <a:latin typeface="Cambria Math" panose="02040503050406030204" pitchFamily="18" charset="0"/>
                        <a:ea typeface="Cambria Math" panose="02040503050406030204" pitchFamily="18" charset="0"/>
                      </a:rPr>
                      <m:t> </m:t>
                    </m:r>
                  </m:oMath>
                </a14:m>
                <a:r>
                  <a:rPr lang="en-US" sz="2000" dirty="0">
                    <a:solidFill>
                      <a:srgbClr val="000000"/>
                    </a:solidFill>
                  </a:rPr>
                  <a:t>the antenna theorem</a:t>
                </a:r>
              </a:p>
              <a:p>
                <a:pPr marL="342900" lvl="2" indent="-342900" latinLnBrk="1" hangingPunct="0">
                  <a:buFont typeface="Arial" panose="020B0604020202020204" pitchFamily="34" charset="0"/>
                  <a:buChar char="•"/>
                </a:pPr>
                <a:endParaRPr lang="en-US" sz="2000" dirty="0">
                  <a:solidFill>
                    <a:srgbClr val="000000"/>
                  </a:solidFill>
                  <a:latin typeface="Calibri" panose="020F0502020204030204" pitchFamily="34" charset="0"/>
                  <a:cs typeface="Calibri" panose="020F0502020204030204" pitchFamily="34" charset="0"/>
                </a:endParaRPr>
              </a:p>
              <a:p>
                <a:pPr latinLnBrk="1" hangingPunct="0"/>
                <a:endParaRPr lang="en-US" sz="2000" dirty="0">
                  <a:solidFill>
                    <a:srgbClr val="000000"/>
                  </a:solidFill>
                </a:endParaRPr>
              </a:p>
              <a:p>
                <a:pPr marL="285750" indent="-285750" latinLnBrk="1" hangingPunct="0">
                  <a:buFont typeface="Arial" panose="020B0604020202020204" pitchFamily="34" charset="0"/>
                  <a:buChar char="•"/>
                </a:pPr>
                <a:endParaRPr lang="en-US" dirty="0">
                  <a:solidFill>
                    <a:srgbClr val="000000"/>
                  </a:solidFill>
                </a:endParaRPr>
              </a:p>
              <a:p>
                <a:pPr algn="l" rtl="0" latinLnBrk="1" hangingPunct="0"/>
                <a:endParaRPr lang="en-US" dirty="0">
                  <a:solidFill>
                    <a:srgbClr val="000000"/>
                  </a:solidFill>
                </a:endParaRP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511058" y="1841246"/>
                <a:ext cx="11169884" cy="4178450"/>
              </a:xfrm>
              <a:prstGeom prst="rect">
                <a:avLst/>
              </a:prstGeom>
              <a:blipFill>
                <a:blip r:embed="rId3"/>
                <a:stretch>
                  <a:fillRect l="-909" t="-14848" r="-682"/>
                </a:stretch>
              </a:blipFill>
              <a:ln w="12700" cap="flat">
                <a:noFill/>
                <a:miter lim="400000"/>
              </a:ln>
              <a:effectLst/>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F3EED66A-56F2-494C-BB12-2E8BBB011DE2}"/>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11</a:t>
            </a:fld>
            <a:endParaRPr lang="en-US" dirty="0">
              <a:solidFill>
                <a:schemeClr val="tx1"/>
              </a:solidFill>
            </a:endParaRPr>
          </a:p>
        </p:txBody>
      </p:sp>
      <p:grpSp>
        <p:nvGrpSpPr>
          <p:cNvPr id="7" name="Group 6">
            <a:extLst>
              <a:ext uri="{FF2B5EF4-FFF2-40B4-BE49-F238E27FC236}">
                <a16:creationId xmlns:a16="http://schemas.microsoft.com/office/drawing/2014/main" id="{BCB87EA0-B78D-244F-831C-2AAA9E6DA09A}"/>
              </a:ext>
            </a:extLst>
          </p:cNvPr>
          <p:cNvGrpSpPr/>
          <p:nvPr/>
        </p:nvGrpSpPr>
        <p:grpSpPr>
          <a:xfrm>
            <a:off x="8428517" y="4308494"/>
            <a:ext cx="3136070" cy="2061172"/>
            <a:chOff x="8417631" y="4352038"/>
            <a:chExt cx="3136070" cy="2061172"/>
          </a:xfrm>
        </p:grpSpPr>
        <p:sp>
          <p:nvSpPr>
            <p:cNvPr id="4" name="TextBox 3">
              <a:extLst>
                <a:ext uri="{FF2B5EF4-FFF2-40B4-BE49-F238E27FC236}">
                  <a16:creationId xmlns:a16="http://schemas.microsoft.com/office/drawing/2014/main" id="{E17A6243-ADC1-9644-9879-CD023C0C0FF6}"/>
                </a:ext>
              </a:extLst>
            </p:cNvPr>
            <p:cNvSpPr txBox="1"/>
            <p:nvPr/>
          </p:nvSpPr>
          <p:spPr>
            <a:xfrm>
              <a:off x="9188630" y="6043880"/>
              <a:ext cx="1550294"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defTabSz="457200" latinLnBrk="1" hangingPunct="0"/>
              <a:r>
                <a:rPr lang="en-US" dirty="0">
                  <a:solidFill>
                    <a:srgbClr val="000000"/>
                  </a:solidFill>
                  <a:latin typeface="Calibri"/>
                  <a:ea typeface="Calibri"/>
                  <a:cs typeface="Calibri"/>
                  <a:sym typeface="Calibri"/>
                </a:rPr>
                <a:t>Insulated cavity</a:t>
              </a:r>
            </a:p>
          </p:txBody>
        </p:sp>
        <p:sp>
          <p:nvSpPr>
            <p:cNvPr id="2" name="TextBox 1">
              <a:extLst>
                <a:ext uri="{FF2B5EF4-FFF2-40B4-BE49-F238E27FC236}">
                  <a16:creationId xmlns:a16="http://schemas.microsoft.com/office/drawing/2014/main" id="{844AA9EC-F500-A840-BCF7-8A00E5F2240C}"/>
                </a:ext>
              </a:extLst>
            </p:cNvPr>
            <p:cNvSpPr txBox="1"/>
            <p:nvPr/>
          </p:nvSpPr>
          <p:spPr>
            <a:xfrm>
              <a:off x="8417631" y="4352038"/>
              <a:ext cx="3136070" cy="1691842"/>
            </a:xfrm>
            <a:prstGeom prst="rect">
              <a:avLst/>
            </a:prstGeom>
            <a:noFill/>
            <a:ln w="25400" cap="flat">
              <a:solidFill>
                <a:schemeClr val="accent1"/>
              </a:solid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endParaRPr lang="en-US" dirty="0">
                <a:solidFill>
                  <a:srgbClr val="000000"/>
                </a:solidFill>
                <a:latin typeface="Calibri"/>
                <a:ea typeface="Calibri"/>
                <a:cs typeface="Calibri"/>
                <a:sym typeface="Calibri"/>
              </a:endParaRPr>
            </a:p>
          </p:txBody>
        </p:sp>
        <p:sp>
          <p:nvSpPr>
            <p:cNvPr id="8" name="Freeform 7">
              <a:extLst>
                <a:ext uri="{FF2B5EF4-FFF2-40B4-BE49-F238E27FC236}">
                  <a16:creationId xmlns:a16="http://schemas.microsoft.com/office/drawing/2014/main" id="{B46CB157-BA48-3E4E-A36B-F48752EC700F}"/>
                </a:ext>
              </a:extLst>
            </p:cNvPr>
            <p:cNvSpPr>
              <a:spLocks noChangeAspect="1"/>
            </p:cNvSpPr>
            <p:nvPr/>
          </p:nvSpPr>
          <p:spPr bwMode="auto">
            <a:xfrm>
              <a:off x="8862868" y="4821226"/>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6" name="Straight Connector 5">
              <a:extLst>
                <a:ext uri="{FF2B5EF4-FFF2-40B4-BE49-F238E27FC236}">
                  <a16:creationId xmlns:a16="http://schemas.microsoft.com/office/drawing/2014/main" id="{50B8A2C1-EABA-D44C-81E0-A46AD8D278D8}"/>
                </a:ext>
              </a:extLst>
            </p:cNvPr>
            <p:cNvCxnSpPr/>
            <p:nvPr/>
          </p:nvCxnSpPr>
          <p:spPr>
            <a:xfrm>
              <a:off x="9428330" y="5066368"/>
              <a:ext cx="949569"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1" name="Straight Connector 10">
              <a:extLst>
                <a:ext uri="{FF2B5EF4-FFF2-40B4-BE49-F238E27FC236}">
                  <a16:creationId xmlns:a16="http://schemas.microsoft.com/office/drawing/2014/main" id="{B2E1A1E4-D408-5E4D-A610-91DBC4ADB35E}"/>
                </a:ext>
              </a:extLst>
            </p:cNvPr>
            <p:cNvCxnSpPr/>
            <p:nvPr/>
          </p:nvCxnSpPr>
          <p:spPr>
            <a:xfrm>
              <a:off x="9422552" y="5340943"/>
              <a:ext cx="949569"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2" name="Straight Connector 11">
              <a:extLst>
                <a:ext uri="{FF2B5EF4-FFF2-40B4-BE49-F238E27FC236}">
                  <a16:creationId xmlns:a16="http://schemas.microsoft.com/office/drawing/2014/main" id="{58DC63D0-D5A0-EE45-9FD2-B8EBD5D665D1}"/>
                </a:ext>
              </a:extLst>
            </p:cNvPr>
            <p:cNvCxnSpPr>
              <a:cxnSpLocks noChangeAspect="1"/>
            </p:cNvCxnSpPr>
            <p:nvPr/>
          </p:nvCxnSpPr>
          <p:spPr>
            <a:xfrm flipV="1">
              <a:off x="10377898" y="4700608"/>
              <a:ext cx="447166" cy="36576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4" name="Straight Connector 13">
              <a:extLst>
                <a:ext uri="{FF2B5EF4-FFF2-40B4-BE49-F238E27FC236}">
                  <a16:creationId xmlns:a16="http://schemas.microsoft.com/office/drawing/2014/main" id="{FE51FDF8-BFD3-4448-ACEE-BCFC8378992C}"/>
                </a:ext>
              </a:extLst>
            </p:cNvPr>
            <p:cNvCxnSpPr>
              <a:cxnSpLocks noChangeAspect="1"/>
            </p:cNvCxnSpPr>
            <p:nvPr/>
          </p:nvCxnSpPr>
          <p:spPr>
            <a:xfrm>
              <a:off x="10324319" y="5279980"/>
              <a:ext cx="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6" name="Straight Connector 15">
              <a:extLst>
                <a:ext uri="{FF2B5EF4-FFF2-40B4-BE49-F238E27FC236}">
                  <a16:creationId xmlns:a16="http://schemas.microsoft.com/office/drawing/2014/main" id="{90F87B74-BE8E-0A47-AE7C-51592359CA54}"/>
                </a:ext>
              </a:extLst>
            </p:cNvPr>
            <p:cNvCxnSpPr>
              <a:cxnSpLocks/>
            </p:cNvCxnSpPr>
            <p:nvPr/>
          </p:nvCxnSpPr>
          <p:spPr>
            <a:xfrm>
              <a:off x="10372067" y="5332152"/>
              <a:ext cx="469002" cy="375139"/>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9" name="TextBox 18">
              <a:extLst>
                <a:ext uri="{FF2B5EF4-FFF2-40B4-BE49-F238E27FC236}">
                  <a16:creationId xmlns:a16="http://schemas.microsoft.com/office/drawing/2014/main" id="{3EDFE8F1-C2F5-E34D-98C4-488EDE42E13F}"/>
                </a:ext>
              </a:extLst>
            </p:cNvPr>
            <p:cNvSpPr txBox="1"/>
            <p:nvPr/>
          </p:nvSpPr>
          <p:spPr>
            <a:xfrm>
              <a:off x="8527176" y="4990602"/>
              <a:ext cx="501162"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dirty="0">
                  <a:solidFill>
                    <a:srgbClr val="000000"/>
                  </a:solidFill>
                </a:rPr>
                <a:t>T</a:t>
              </a:r>
              <a:endParaRPr lang="en-US" dirty="0">
                <a:solidFill>
                  <a:srgbClr val="000000"/>
                </a:solidFill>
                <a:latin typeface="Calibri"/>
                <a:ea typeface="Calibri"/>
                <a:cs typeface="Calibri"/>
                <a:sym typeface="Calibri"/>
              </a:endParaRPr>
            </a:p>
          </p:txBody>
        </p:sp>
        <p:sp>
          <p:nvSpPr>
            <p:cNvPr id="22" name="TextBox 21">
              <a:extLst>
                <a:ext uri="{FF2B5EF4-FFF2-40B4-BE49-F238E27FC236}">
                  <a16:creationId xmlns:a16="http://schemas.microsoft.com/office/drawing/2014/main" id="{A558DFB8-9F77-7B4C-ACEA-68BBBF5E997F}"/>
                </a:ext>
              </a:extLst>
            </p:cNvPr>
            <p:cNvSpPr txBox="1"/>
            <p:nvPr/>
          </p:nvSpPr>
          <p:spPr>
            <a:xfrm>
              <a:off x="10690799" y="4984134"/>
              <a:ext cx="501162"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dirty="0">
                  <a:solidFill>
                    <a:srgbClr val="000000"/>
                  </a:solidFill>
                  <a:latin typeface="Calibri"/>
                  <a:ea typeface="Calibri"/>
                  <a:cs typeface="Calibri"/>
                  <a:sym typeface="Calibri"/>
                </a:rPr>
                <a:t>A</a:t>
              </a:r>
            </a:p>
          </p:txBody>
        </p:sp>
        <p:cxnSp>
          <p:nvCxnSpPr>
            <p:cNvPr id="23" name="Straight Connector 22">
              <a:extLst>
                <a:ext uri="{FF2B5EF4-FFF2-40B4-BE49-F238E27FC236}">
                  <a16:creationId xmlns:a16="http://schemas.microsoft.com/office/drawing/2014/main" id="{E2BA28FE-6F9D-3E46-8366-1E2102348616}"/>
                </a:ext>
              </a:extLst>
            </p:cNvPr>
            <p:cNvCxnSpPr>
              <a:cxnSpLocks/>
            </p:cNvCxnSpPr>
            <p:nvPr/>
          </p:nvCxnSpPr>
          <p:spPr>
            <a:xfrm>
              <a:off x="8936290" y="4826880"/>
              <a:ext cx="50468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5" name="Straight Connector 24">
              <a:extLst>
                <a:ext uri="{FF2B5EF4-FFF2-40B4-BE49-F238E27FC236}">
                  <a16:creationId xmlns:a16="http://schemas.microsoft.com/office/drawing/2014/main" id="{C81D39F4-ACBA-914E-B6DC-254D6813A0AF}"/>
                </a:ext>
              </a:extLst>
            </p:cNvPr>
            <p:cNvCxnSpPr>
              <a:cxnSpLocks/>
            </p:cNvCxnSpPr>
            <p:nvPr/>
          </p:nvCxnSpPr>
          <p:spPr>
            <a:xfrm>
              <a:off x="9440970" y="4821226"/>
              <a:ext cx="0" cy="23357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7" name="Straight Connector 26">
              <a:extLst>
                <a:ext uri="{FF2B5EF4-FFF2-40B4-BE49-F238E27FC236}">
                  <a16:creationId xmlns:a16="http://schemas.microsoft.com/office/drawing/2014/main" id="{8DB0642D-FE68-3445-8EDC-AAD4BEDF32D0}"/>
                </a:ext>
              </a:extLst>
            </p:cNvPr>
            <p:cNvCxnSpPr>
              <a:cxnSpLocks/>
            </p:cNvCxnSpPr>
            <p:nvPr/>
          </p:nvCxnSpPr>
          <p:spPr>
            <a:xfrm>
              <a:off x="8936290" y="5576356"/>
              <a:ext cx="50468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8" name="Straight Connector 27">
              <a:extLst>
                <a:ext uri="{FF2B5EF4-FFF2-40B4-BE49-F238E27FC236}">
                  <a16:creationId xmlns:a16="http://schemas.microsoft.com/office/drawing/2014/main" id="{3EE61A41-8559-8F4B-BC4D-6F5A1C5763EE}"/>
                </a:ext>
              </a:extLst>
            </p:cNvPr>
            <p:cNvCxnSpPr>
              <a:cxnSpLocks/>
            </p:cNvCxnSpPr>
            <p:nvPr/>
          </p:nvCxnSpPr>
          <p:spPr>
            <a:xfrm>
              <a:off x="9436614" y="5339389"/>
              <a:ext cx="0" cy="23357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spTree>
    <p:extLst>
      <p:ext uri="{BB962C8B-B14F-4D97-AF65-F5344CB8AC3E}">
        <p14:creationId xmlns:p14="http://schemas.microsoft.com/office/powerpoint/2010/main" val="857089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48525"/>
            <a:ext cx="11201400" cy="982810"/>
          </a:xfrm>
        </p:spPr>
        <p:txBody>
          <a:bodyPr>
            <a:normAutofit/>
          </a:bodyPr>
          <a:lstStyle/>
          <a:p>
            <a:pPr algn="ctr"/>
            <a:r>
              <a:rPr lang="en-US" sz="4400" dirty="0">
                <a:latin typeface="Calibri" panose="020F0502020204030204" pitchFamily="34" charset="0"/>
                <a:cs typeface="Calibri" panose="020F0502020204030204" pitchFamily="34" charset="0"/>
              </a:rPr>
              <a:t>Antenna aperture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14579" y="1557148"/>
                <a:ext cx="8072028" cy="4905375"/>
              </a:xfrm>
            </p:spPr>
            <p:txBody>
              <a:bodyPr>
                <a:normAutofit/>
              </a:bodyPr>
              <a:lstStyle/>
              <a:p>
                <a:pPr marL="342900" indent="-342900" algn="l">
                  <a:lnSpc>
                    <a:spcPct val="120000"/>
                  </a:lnSpc>
                  <a:spcBef>
                    <a:spcPts val="400"/>
                  </a:spcBef>
                  <a:buFont typeface="Arial" panose="020B0604020202020204" pitchFamily="34" charset="0"/>
                  <a:buChar char="•"/>
                </a:pPr>
                <a:r>
                  <a:rPr lang="en-US" sz="2000" dirty="0">
                    <a:cs typeface="Arial" panose="020B0604020202020204" pitchFamily="34" charset="0"/>
                  </a:rPr>
                  <a:t>Deriving antenna aperture uses thermodynamic argument: black body equilibrium</a:t>
                </a:r>
              </a:p>
              <a:p>
                <a:pPr algn="l">
                  <a:lnSpc>
                    <a:spcPct val="120000"/>
                  </a:lnSpc>
                  <a:spcBef>
                    <a:spcPts val="400"/>
                  </a:spcBef>
                </a:pPr>
                <a:endParaRPr lang="en-US" sz="2000" dirty="0">
                  <a:cs typeface="Arial" panose="020B0604020202020204" pitchFamily="34" charset="0"/>
                </a:endParaRPr>
              </a:p>
              <a:p>
                <a:pPr marL="342900" indent="-342900" algn="l">
                  <a:lnSpc>
                    <a:spcPct val="120000"/>
                  </a:lnSpc>
                  <a:spcBef>
                    <a:spcPts val="0"/>
                  </a:spcBef>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𝑃</m:t>
                        </m:r>
                      </m:e>
                      <m:sub>
                        <m:r>
                          <a:rPr lang="en-US" sz="2000" b="0" i="1" smtClean="0">
                            <a:latin typeface="Cambria Math" panose="02040503050406030204" pitchFamily="18" charset="0"/>
                            <a:cs typeface="Arial" panose="020B0604020202020204" pitchFamily="34" charset="0"/>
                          </a:rPr>
                          <m:t>𝐴</m:t>
                        </m:r>
                      </m:sub>
                    </m:sSub>
                    <m:r>
                      <a:rPr lang="en-US" sz="2000" b="0" i="1" smtClean="0">
                        <a:latin typeface="Cambria Math" panose="02040503050406030204" pitchFamily="18" charset="0"/>
                        <a:cs typeface="Arial" panose="020B0604020202020204" pitchFamily="34" charset="0"/>
                      </a:rPr>
                      <m:t>=</m:t>
                    </m:r>
                    <m:r>
                      <a:rPr lang="en-US" sz="2000" b="0" i="0" smtClean="0">
                        <a:latin typeface="Cambria Math" panose="02040503050406030204" pitchFamily="18" charset="0"/>
                        <a:cs typeface="Arial" panose="020B0604020202020204" pitchFamily="34" charset="0"/>
                      </a:rPr>
                      <m:t> </m:t>
                    </m:r>
                    <m:f>
                      <m:fPr>
                        <m:ctrlPr>
                          <a:rPr lang="en-US" sz="2000" b="0" i="1" smtClean="0">
                            <a:latin typeface="Cambria Math" panose="02040503050406030204" pitchFamily="18" charset="0"/>
                            <a:cs typeface="Arial" panose="020B0604020202020204" pitchFamily="34" charset="0"/>
                          </a:rPr>
                        </m:ctrlPr>
                      </m:fPr>
                      <m:num>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𝐴</m:t>
                            </m:r>
                          </m:e>
                          <m:sub>
                            <m:r>
                              <a:rPr lang="en-US" sz="2000" b="0" i="1" smtClean="0">
                                <a:latin typeface="Cambria Math" panose="02040503050406030204" pitchFamily="18" charset="0"/>
                                <a:cs typeface="Arial" panose="020B0604020202020204" pitchFamily="34" charset="0"/>
                              </a:rPr>
                              <m:t>𝑒</m:t>
                            </m:r>
                          </m:sub>
                        </m:sSub>
                      </m:num>
                      <m:den>
                        <m:r>
                          <a:rPr lang="en-US" sz="2000" b="0" i="1" smtClean="0">
                            <a:latin typeface="Cambria Math" panose="02040503050406030204" pitchFamily="18" charset="0"/>
                            <a:cs typeface="Arial" panose="020B0604020202020204" pitchFamily="34" charset="0"/>
                          </a:rPr>
                          <m:t>2</m:t>
                        </m:r>
                      </m:den>
                    </m:f>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𝐵</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𝜐</m:t>
                        </m:r>
                      </m:sub>
                    </m:sSub>
                    <m:r>
                      <m:rPr>
                        <m:sty m:val="p"/>
                      </m:rPr>
                      <a:rPr lang="el-GR" sz="2000" b="0" i="1" smtClean="0">
                        <a:latin typeface="Cambria Math" panose="02040503050406030204" pitchFamily="18" charset="0"/>
                        <a:ea typeface="Cambria Math" panose="02040503050406030204" pitchFamily="18" charset="0"/>
                        <a:cs typeface="Arial" panose="020B0604020202020204" pitchFamily="34" charset="0"/>
                      </a:rPr>
                      <m:t>Δ</m:t>
                    </m:r>
                    <m:r>
                      <a:rPr lang="el-GR" sz="2000" b="0" i="1" smtClean="0">
                        <a:latin typeface="Cambria Math" panose="02040503050406030204" pitchFamily="18" charset="0"/>
                        <a:ea typeface="Cambria Math" panose="02040503050406030204" pitchFamily="18" charset="0"/>
                        <a:cs typeface="Arial" panose="020B0604020202020204" pitchFamily="34" charset="0"/>
                      </a:rPr>
                      <m:t>𝜈</m:t>
                    </m:r>
                    <m:sSub>
                      <m:sSubPr>
                        <m:ctrlPr>
                          <a:rPr lang="el-GR"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l-GR" sz="2000" b="0" i="1" smtClean="0">
                            <a:latin typeface="Cambria Math" panose="02040503050406030204" pitchFamily="18" charset="0"/>
                            <a:ea typeface="Cambria Math" panose="02040503050406030204" pitchFamily="18" charset="0"/>
                            <a:cs typeface="Arial" panose="020B0604020202020204" pitchFamily="34" charset="0"/>
                          </a:rPr>
                          <m:t>∫</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[0,4</m:t>
                        </m:r>
                        <m:r>
                          <a:rPr lang="en-US" sz="2000" b="0" i="1" smtClean="0">
                            <a:latin typeface="Cambria Math" panose="02040503050406030204" pitchFamily="18" charset="0"/>
                            <a:ea typeface="Cambria Math" panose="02040503050406030204" pitchFamily="18" charset="0"/>
                            <a:cs typeface="Arial" panose="020B0604020202020204" pitchFamily="34" charset="0"/>
                          </a:rPr>
                          <m:t>𝜋</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 </m:t>
                    </m:r>
                    <m:r>
                      <a:rPr lang="en-US" sz="2000" b="0" i="1" smtClean="0">
                        <a:latin typeface="Cambria Math" panose="02040503050406030204" pitchFamily="18" charset="0"/>
                        <a:ea typeface="Cambria Math" panose="02040503050406030204" pitchFamily="18" charset="0"/>
                        <a:cs typeface="Arial" panose="020B0604020202020204" pitchFamily="34" charset="0"/>
                      </a:rPr>
                      <m:t>𝑑</m:t>
                    </m:r>
                    <m:r>
                      <m:rPr>
                        <m:sty m:val="p"/>
                      </m:rPr>
                      <a:rPr lang="el-GR" sz="2000" b="0" i="1" smtClean="0">
                        <a:latin typeface="Cambria Math" panose="02040503050406030204" pitchFamily="18" charset="0"/>
                        <a:ea typeface="Cambria Math" panose="02040503050406030204" pitchFamily="18" charset="0"/>
                        <a:cs typeface="Arial" panose="020B0604020202020204" pitchFamily="34" charset="0"/>
                      </a:rPr>
                      <m:t>Ω</m:t>
                    </m:r>
                    <m:r>
                      <a:rPr lang="en-US" sz="2000" b="0" i="1" smtClean="0">
                        <a:latin typeface="Cambria Math" panose="02040503050406030204" pitchFamily="18" charset="0"/>
                        <a:ea typeface="Cambria Math" panose="02040503050406030204" pitchFamily="18" charset="0"/>
                        <a:cs typeface="Arial" panose="020B0604020202020204" pitchFamily="34" charset="0"/>
                      </a:rPr>
                      <m:t>=2</m:t>
                    </m:r>
                    <m:r>
                      <a:rPr lang="en-US" sz="2000" b="0" i="1" smtClean="0">
                        <a:latin typeface="Cambria Math" panose="02040503050406030204" pitchFamily="18" charset="0"/>
                        <a:ea typeface="Cambria Math" panose="02040503050406030204" pitchFamily="18" charset="0"/>
                        <a:cs typeface="Arial" panose="020B0604020202020204" pitchFamily="34" charset="0"/>
                      </a:rPr>
                      <m:t>𝜋</m:t>
                    </m:r>
                    <m:r>
                      <a:rPr lang="en-US" sz="2000" b="0" i="1" smtClean="0">
                        <a:latin typeface="Cambria Math" panose="02040503050406030204" pitchFamily="18" charset="0"/>
                        <a:ea typeface="Cambria Math" panose="02040503050406030204" pitchFamily="18" charset="0"/>
                        <a:cs typeface="Arial" panose="020B0604020202020204" pitchFamily="34" charset="0"/>
                      </a:rPr>
                      <m:t> </m:t>
                    </m:r>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𝐴</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𝑒</m:t>
                        </m:r>
                      </m:sub>
                    </m:sSub>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𝐵</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𝜐</m:t>
                        </m:r>
                      </m:sub>
                    </m:sSub>
                    <m:r>
                      <m:rPr>
                        <m:sty m:val="p"/>
                      </m:rPr>
                      <a:rPr lang="el-GR" sz="2000" i="1">
                        <a:latin typeface="Cambria Math" panose="02040503050406030204" pitchFamily="18" charset="0"/>
                        <a:ea typeface="Cambria Math" panose="02040503050406030204" pitchFamily="18" charset="0"/>
                        <a:cs typeface="Arial" panose="020B0604020202020204" pitchFamily="34" charset="0"/>
                      </a:rPr>
                      <m:t>Δ</m:t>
                    </m:r>
                    <m:r>
                      <a:rPr lang="el-GR" sz="2000" i="1">
                        <a:latin typeface="Cambria Math" panose="02040503050406030204" pitchFamily="18" charset="0"/>
                        <a:ea typeface="Cambria Math" panose="02040503050406030204" pitchFamily="18" charset="0"/>
                        <a:cs typeface="Arial" panose="020B0604020202020204" pitchFamily="34" charset="0"/>
                      </a:rPr>
                      <m:t>𝜈</m:t>
                    </m:r>
                  </m:oMath>
                </a14:m>
                <a:endParaRPr lang="en-US" sz="2000" dirty="0">
                  <a:cs typeface="Arial" panose="020B0604020202020204" pitchFamily="34" charset="0"/>
                </a:endParaRPr>
              </a:p>
              <a:p>
                <a:pPr marL="342900" indent="-342900" algn="l">
                  <a:lnSpc>
                    <a:spcPct val="120000"/>
                  </a:lnSpc>
                  <a:spcBef>
                    <a:spcPts val="0"/>
                  </a:spcBef>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𝐵</m:t>
                        </m:r>
                      </m:e>
                      <m:sub>
                        <m:r>
                          <a:rPr lang="en-US" sz="2000" i="1" smtClean="0">
                            <a:latin typeface="Cambria Math" panose="02040503050406030204" pitchFamily="18" charset="0"/>
                            <a:ea typeface="Cambria Math" panose="02040503050406030204" pitchFamily="18" charset="0"/>
                            <a:cs typeface="Arial" panose="020B0604020202020204" pitchFamily="34" charset="0"/>
                          </a:rPr>
                          <m:t>𝜐</m:t>
                        </m:r>
                      </m:sub>
                    </m:sSub>
                    <m:r>
                      <a:rPr lang="en-US" sz="2000" b="0" i="1" smtClean="0">
                        <a:latin typeface="Cambria Math" panose="02040503050406030204" pitchFamily="18" charset="0"/>
                        <a:cs typeface="Arial" panose="020B0604020202020204" pitchFamily="34" charset="0"/>
                      </a:rPr>
                      <m:t>= </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2</m:t>
                        </m:r>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𝜈</m:t>
                            </m:r>
                          </m:e>
                          <m:sup>
                            <m:r>
                              <a:rPr lang="en-US" sz="2000" b="0" i="1" smtClean="0">
                                <a:latin typeface="Cambria Math" panose="02040503050406030204" pitchFamily="18" charset="0"/>
                                <a:cs typeface="Arial" panose="020B0604020202020204" pitchFamily="34" charset="0"/>
                              </a:rPr>
                              <m:t>2</m:t>
                            </m:r>
                          </m:sup>
                        </m:sSup>
                        <m:r>
                          <a:rPr lang="en-US" sz="2000" b="0" i="1" smtClean="0">
                            <a:latin typeface="Cambria Math" panose="02040503050406030204" pitchFamily="18" charset="0"/>
                            <a:cs typeface="Arial" panose="020B0604020202020204" pitchFamily="34" charset="0"/>
                          </a:rPr>
                          <m:t>𝑘𝑇</m:t>
                        </m:r>
                      </m:num>
                      <m:den>
                        <m:sSup>
                          <m:sSupPr>
                            <m:ctrlPr>
                              <a:rPr lang="en-US" sz="2000" b="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𝑐</m:t>
                            </m:r>
                          </m:e>
                          <m:sup>
                            <m:r>
                              <a:rPr lang="en-US" sz="2000" b="0" i="1" smtClean="0">
                                <a:latin typeface="Cambria Math" panose="02040503050406030204" pitchFamily="18" charset="0"/>
                                <a:cs typeface="Arial" panose="020B0604020202020204" pitchFamily="34" charset="0"/>
                              </a:rPr>
                              <m:t>2</m:t>
                            </m:r>
                          </m:sup>
                        </m:sSup>
                      </m:den>
                    </m:f>
                    <m:r>
                      <a:rPr lang="en-US" sz="2000" b="0" i="1" smtClean="0">
                        <a:latin typeface="Cambria Math" panose="02040503050406030204" pitchFamily="18" charset="0"/>
                        <a:cs typeface="Arial" panose="020B0604020202020204" pitchFamily="34" charset="0"/>
                      </a:rPr>
                      <m:t>= </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2</m:t>
                        </m:r>
                        <m:r>
                          <a:rPr lang="en-US" sz="2000" b="0" i="1" smtClean="0">
                            <a:latin typeface="Cambria Math" panose="02040503050406030204" pitchFamily="18" charset="0"/>
                            <a:cs typeface="Arial" panose="020B0604020202020204" pitchFamily="34" charset="0"/>
                          </a:rPr>
                          <m:t>𝑘𝑇</m:t>
                        </m:r>
                      </m:num>
                      <m:den>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𝜆</m:t>
                            </m:r>
                          </m:e>
                          <m:sup>
                            <m:r>
                              <a:rPr lang="en-US" sz="2000" b="0" i="1" smtClean="0">
                                <a:latin typeface="Cambria Math" panose="02040503050406030204" pitchFamily="18" charset="0"/>
                                <a:cs typeface="Arial" panose="020B0604020202020204" pitchFamily="34" charset="0"/>
                              </a:rPr>
                              <m:t>2</m:t>
                            </m:r>
                          </m:sup>
                        </m:sSup>
                      </m:den>
                    </m:f>
                  </m:oMath>
                </a14:m>
                <a:r>
                  <a:rPr lang="en-US" sz="2000" dirty="0">
                    <a:cs typeface="Arial" panose="020B0604020202020204" pitchFamily="34" charset="0"/>
                  </a:rPr>
                  <a:t>  (Rayleigh-Jeans)</a:t>
                </a:r>
              </a:p>
              <a:p>
                <a:pPr marL="342900" indent="-342900" algn="l">
                  <a:lnSpc>
                    <a:spcPct val="120000"/>
                  </a:lnSpc>
                  <a:spcBef>
                    <a:spcPts val="0"/>
                  </a:spcBef>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𝑃</m:t>
                        </m:r>
                      </m:e>
                      <m:sub>
                        <m:r>
                          <a:rPr lang="en-US" sz="2000" b="0" i="1" smtClean="0">
                            <a:latin typeface="Cambria Math" panose="02040503050406030204" pitchFamily="18" charset="0"/>
                            <a:cs typeface="Arial" panose="020B0604020202020204" pitchFamily="34" charset="0"/>
                          </a:rPr>
                          <m:t>𝑅</m:t>
                        </m:r>
                      </m:sub>
                    </m:sSub>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𝑘𝑇</m:t>
                    </m:r>
                    <m:r>
                      <m:rPr>
                        <m:sty m:val="p"/>
                      </m:rPr>
                      <a:rPr lang="el-GR" sz="2000" i="1">
                        <a:latin typeface="Cambria Math" panose="02040503050406030204" pitchFamily="18" charset="0"/>
                        <a:ea typeface="Cambria Math" panose="02040503050406030204" pitchFamily="18" charset="0"/>
                        <a:cs typeface="Arial" panose="020B0604020202020204" pitchFamily="34" charset="0"/>
                      </a:rPr>
                      <m:t>Δ</m:t>
                    </m:r>
                    <m:r>
                      <a:rPr lang="el-GR" sz="2000" i="1">
                        <a:latin typeface="Cambria Math" panose="02040503050406030204" pitchFamily="18" charset="0"/>
                        <a:ea typeface="Cambria Math" panose="02040503050406030204" pitchFamily="18" charset="0"/>
                        <a:cs typeface="Arial" panose="020B0604020202020204" pitchFamily="34" charset="0"/>
                      </a:rPr>
                      <m:t>𝜈</m:t>
                    </m:r>
                  </m:oMath>
                </a14:m>
                <a:endParaRPr lang="en-US" sz="2000" dirty="0">
                  <a:cs typeface="Arial" panose="020B0604020202020204" pitchFamily="34" charset="0"/>
                </a:endParaRPr>
              </a:p>
              <a:p>
                <a:pPr marL="342900" indent="-342900" algn="l">
                  <a:lnSpc>
                    <a:spcPct val="120000"/>
                  </a:lnSpc>
                  <a:spcBef>
                    <a:spcPts val="0"/>
                  </a:spcBef>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𝑃</m:t>
                        </m:r>
                      </m:e>
                      <m:sub>
                        <m:r>
                          <a:rPr lang="en-US" sz="2000" b="0" i="1" smtClean="0">
                            <a:latin typeface="Cambria Math" panose="02040503050406030204" pitchFamily="18" charset="0"/>
                            <a:cs typeface="Arial" panose="020B0604020202020204" pitchFamily="34" charset="0"/>
                          </a:rPr>
                          <m:t>𝐴</m:t>
                        </m:r>
                      </m:sub>
                    </m:sSub>
                    <m:r>
                      <a:rPr lang="en-US" sz="2000" b="0" i="1" smtClean="0">
                        <a:latin typeface="Cambria Math" panose="02040503050406030204" pitchFamily="18" charset="0"/>
                        <a:cs typeface="Arial" panose="020B0604020202020204" pitchFamily="34" charset="0"/>
                      </a:rPr>
                      <m:t>=</m:t>
                    </m:r>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𝑃</m:t>
                        </m:r>
                      </m:e>
                      <m:sub>
                        <m:r>
                          <a:rPr lang="en-US" sz="2000" b="0" i="1" smtClean="0">
                            <a:latin typeface="Cambria Math" panose="02040503050406030204" pitchFamily="18" charset="0"/>
                            <a:cs typeface="Arial" panose="020B0604020202020204" pitchFamily="34" charset="0"/>
                          </a:rPr>
                          <m:t>𝑅</m:t>
                        </m:r>
                      </m:sub>
                    </m:sSub>
                  </m:oMath>
                </a14:m>
                <a:endParaRPr lang="en-US" sz="2000" dirty="0">
                  <a:cs typeface="Arial" panose="020B0604020202020204" pitchFamily="34" charset="0"/>
                </a:endParaRPr>
              </a:p>
              <a:p>
                <a:pPr marL="342900" indent="-342900" algn="l">
                  <a:lnSpc>
                    <a:spcPct val="120000"/>
                  </a:lnSpc>
                  <a:spcBef>
                    <a:spcPts val="0"/>
                  </a:spcBef>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𝐴</m:t>
                        </m:r>
                      </m:e>
                      <m:sub>
                        <m:r>
                          <a:rPr lang="en-US" sz="2000" b="0" i="1" smtClean="0">
                            <a:latin typeface="Cambria Math" panose="02040503050406030204" pitchFamily="18" charset="0"/>
                            <a:cs typeface="Arial" panose="020B0604020202020204" pitchFamily="34" charset="0"/>
                          </a:rPr>
                          <m:t>𝑒</m:t>
                        </m:r>
                      </m:sub>
                    </m:sSub>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𝜆</m:t>
                            </m:r>
                          </m:e>
                          <m:sup>
                            <m:r>
                              <a:rPr lang="en-US" sz="2000" b="0" i="1" smtClean="0">
                                <a:latin typeface="Cambria Math" panose="02040503050406030204" pitchFamily="18" charset="0"/>
                                <a:cs typeface="Arial" panose="020B0604020202020204" pitchFamily="34" charset="0"/>
                              </a:rPr>
                              <m:t>2</m:t>
                            </m:r>
                          </m:sup>
                        </m:sSup>
                      </m:num>
                      <m:den>
                        <m:r>
                          <a:rPr lang="en-US" sz="2000" b="0" i="1" smtClean="0">
                            <a:latin typeface="Cambria Math" panose="02040503050406030204" pitchFamily="18" charset="0"/>
                            <a:cs typeface="Arial" panose="020B0604020202020204" pitchFamily="34" charset="0"/>
                          </a:rPr>
                          <m:t>4</m:t>
                        </m:r>
                        <m:r>
                          <a:rPr lang="en-US" sz="2000" b="0" i="1" smtClean="0">
                            <a:latin typeface="Cambria Math" panose="02040503050406030204" pitchFamily="18" charset="0"/>
                            <a:ea typeface="Cambria Math" panose="02040503050406030204" pitchFamily="18" charset="0"/>
                            <a:cs typeface="Arial" panose="020B0604020202020204" pitchFamily="34" charset="0"/>
                          </a:rPr>
                          <m:t>𝜋</m:t>
                        </m:r>
                      </m:den>
                    </m:f>
                  </m:oMath>
                </a14:m>
                <a:endParaRPr lang="en-US" sz="2000" dirty="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14579" y="1557148"/>
                <a:ext cx="8072028" cy="4905375"/>
              </a:xfrm>
              <a:blipFill>
                <a:blip r:embed="rId2"/>
                <a:stretch>
                  <a:fillRect l="-628"/>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7A91E16D-0EAD-4D3D-AC22-65013F654EE2}" type="slidenum">
              <a:rPr lang="en-US" altLang="en-US" smtClean="0"/>
              <a:pPr>
                <a:defRPr/>
              </a:pPr>
              <a:t>12</a:t>
            </a:fld>
            <a:endParaRPr lang="en-US" altLang="en-US"/>
          </a:p>
        </p:txBody>
      </p:sp>
      <p:grpSp>
        <p:nvGrpSpPr>
          <p:cNvPr id="13" name="Group 12">
            <a:extLst>
              <a:ext uri="{FF2B5EF4-FFF2-40B4-BE49-F238E27FC236}">
                <a16:creationId xmlns:a16="http://schemas.microsoft.com/office/drawing/2014/main" id="{DFBE61C4-0DCD-E440-8B29-B19E29543210}"/>
              </a:ext>
            </a:extLst>
          </p:cNvPr>
          <p:cNvGrpSpPr/>
          <p:nvPr/>
        </p:nvGrpSpPr>
        <p:grpSpPr>
          <a:xfrm>
            <a:off x="6960292" y="3429000"/>
            <a:ext cx="4393508" cy="2381707"/>
            <a:chOff x="7467110" y="2160683"/>
            <a:chExt cx="4393508" cy="2381707"/>
          </a:xfrm>
        </p:grpSpPr>
        <p:sp>
          <p:nvSpPr>
            <p:cNvPr id="5" name="Rectangle 4">
              <a:extLst>
                <a:ext uri="{FF2B5EF4-FFF2-40B4-BE49-F238E27FC236}">
                  <a16:creationId xmlns:a16="http://schemas.microsoft.com/office/drawing/2014/main" id="{D17739D5-1A6C-4440-8F72-EAB691A5BDCC}"/>
                </a:ext>
              </a:extLst>
            </p:cNvPr>
            <p:cNvSpPr/>
            <p:nvPr/>
          </p:nvSpPr>
          <p:spPr>
            <a:xfrm>
              <a:off x="7498566" y="2749491"/>
              <a:ext cx="1093410" cy="1417562"/>
            </a:xfrm>
            <a:prstGeom prst="rect">
              <a:avLst/>
            </a:prstGeom>
            <a:solidFill>
              <a:schemeClr val="bg1">
                <a:lumMod val="75000"/>
              </a:schemeClr>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665B099-E5F7-C541-8256-5625AD6267FB}"/>
                </a:ext>
              </a:extLst>
            </p:cNvPr>
            <p:cNvSpPr/>
            <p:nvPr/>
          </p:nvSpPr>
          <p:spPr>
            <a:xfrm>
              <a:off x="10726056" y="2749494"/>
              <a:ext cx="1093410" cy="1417320"/>
            </a:xfrm>
            <a:prstGeom prst="rect">
              <a:avLst/>
            </a:prstGeom>
            <a:solidFill>
              <a:schemeClr val="bg1">
                <a:lumMod val="75000"/>
              </a:schemeClr>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defTabSz="914400" rtl="0" eaLnBrk="1" latinLnBrk="0" hangingPunct="1"/>
              <a:endParaRPr lang="en-US"/>
            </a:p>
          </p:txBody>
        </p:sp>
        <p:sp>
          <p:nvSpPr>
            <p:cNvPr id="7" name="Rectangle 6">
              <a:extLst>
                <a:ext uri="{FF2B5EF4-FFF2-40B4-BE49-F238E27FC236}">
                  <a16:creationId xmlns:a16="http://schemas.microsoft.com/office/drawing/2014/main" id="{19AAADDE-B6B7-924C-8798-A9ED77626A8B}"/>
                </a:ext>
              </a:extLst>
            </p:cNvPr>
            <p:cNvSpPr/>
            <p:nvPr/>
          </p:nvSpPr>
          <p:spPr>
            <a:xfrm>
              <a:off x="9444446" y="3040551"/>
              <a:ext cx="483325" cy="982810"/>
            </a:xfrm>
            <a:prstGeom prst="rect">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12">
              <a:extLst>
                <a:ext uri="{FF2B5EF4-FFF2-40B4-BE49-F238E27FC236}">
                  <a16:creationId xmlns:a16="http://schemas.microsoft.com/office/drawing/2014/main" id="{2BBF2B68-67D5-2140-B8E1-F013F54B32AC}"/>
                </a:ext>
              </a:extLst>
            </p:cNvPr>
            <p:cNvSpPr>
              <a:spLocks noChangeAspect="1"/>
            </p:cNvSpPr>
            <p:nvPr/>
          </p:nvSpPr>
          <p:spPr bwMode="auto">
            <a:xfrm>
              <a:off x="11399738" y="3196842"/>
              <a:ext cx="91440" cy="457200"/>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cxnSp>
          <p:nvCxnSpPr>
            <p:cNvPr id="10" name="Straight Connector 9">
              <a:extLst>
                <a:ext uri="{FF2B5EF4-FFF2-40B4-BE49-F238E27FC236}">
                  <a16:creationId xmlns:a16="http://schemas.microsoft.com/office/drawing/2014/main" id="{FB25B27B-CB94-9A47-8515-8C0D9CACD551}"/>
                </a:ext>
              </a:extLst>
            </p:cNvPr>
            <p:cNvCxnSpPr/>
            <p:nvPr/>
          </p:nvCxnSpPr>
          <p:spPr>
            <a:xfrm>
              <a:off x="8045271" y="2922210"/>
              <a:ext cx="0" cy="45720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CC3318F-3B9F-9E49-9DCF-792D2735FA95}"/>
                </a:ext>
              </a:extLst>
            </p:cNvPr>
            <p:cNvCxnSpPr/>
            <p:nvPr/>
          </p:nvCxnSpPr>
          <p:spPr>
            <a:xfrm>
              <a:off x="8045274" y="3514876"/>
              <a:ext cx="0" cy="45720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886D54B-796F-164C-97A1-7CDFFCBD56FD}"/>
                </a:ext>
              </a:extLst>
            </p:cNvPr>
            <p:cNvCxnSpPr>
              <a:cxnSpLocks/>
            </p:cNvCxnSpPr>
            <p:nvPr/>
          </p:nvCxnSpPr>
          <p:spPr>
            <a:xfrm flipH="1">
              <a:off x="8045271" y="3379410"/>
              <a:ext cx="307509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88F4115C-23AB-3443-8D7B-B902504F147E}"/>
                </a:ext>
              </a:extLst>
            </p:cNvPr>
            <p:cNvCxnSpPr>
              <a:cxnSpLocks/>
            </p:cNvCxnSpPr>
            <p:nvPr/>
          </p:nvCxnSpPr>
          <p:spPr>
            <a:xfrm flipH="1">
              <a:off x="8028341" y="3531810"/>
              <a:ext cx="307509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25924209-D81D-2246-8C17-374A8E331940}"/>
                </a:ext>
              </a:extLst>
            </p:cNvPr>
            <p:cNvCxnSpPr/>
            <p:nvPr/>
          </p:nvCxnSpPr>
          <p:spPr>
            <a:xfrm>
              <a:off x="11106823" y="3066381"/>
              <a:ext cx="0" cy="32004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E936E4AF-4400-684D-8F78-030F4ABA86B1}"/>
                </a:ext>
              </a:extLst>
            </p:cNvPr>
            <p:cNvCxnSpPr/>
            <p:nvPr/>
          </p:nvCxnSpPr>
          <p:spPr>
            <a:xfrm>
              <a:off x="11106825" y="3506646"/>
              <a:ext cx="0" cy="32004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DC2A75D6-2ECD-A241-8F87-22E274A775C5}"/>
                </a:ext>
              </a:extLst>
            </p:cNvPr>
            <p:cNvCxnSpPr>
              <a:cxnSpLocks/>
            </p:cNvCxnSpPr>
            <p:nvPr/>
          </p:nvCxnSpPr>
          <p:spPr>
            <a:xfrm>
              <a:off x="11087216" y="3076542"/>
              <a:ext cx="37109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F6D7B3D-3D7B-254F-AB00-3B2654E2A747}"/>
                </a:ext>
              </a:extLst>
            </p:cNvPr>
            <p:cNvCxnSpPr>
              <a:cxnSpLocks/>
            </p:cNvCxnSpPr>
            <p:nvPr/>
          </p:nvCxnSpPr>
          <p:spPr>
            <a:xfrm>
              <a:off x="11087219" y="3821606"/>
              <a:ext cx="37109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47F544C1-5DCF-844C-8685-1C588D718164}"/>
                </a:ext>
              </a:extLst>
            </p:cNvPr>
            <p:cNvCxnSpPr/>
            <p:nvPr/>
          </p:nvCxnSpPr>
          <p:spPr>
            <a:xfrm>
              <a:off x="11445490" y="3066384"/>
              <a:ext cx="0" cy="22860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F5E31593-3D0C-BD40-84B2-57C312420432}"/>
                </a:ext>
              </a:extLst>
            </p:cNvPr>
            <p:cNvCxnSpPr/>
            <p:nvPr/>
          </p:nvCxnSpPr>
          <p:spPr>
            <a:xfrm>
              <a:off x="11445240" y="3601476"/>
              <a:ext cx="0" cy="22860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0C7D98F3-4EE6-554A-A383-CEB731828892}"/>
                </a:ext>
              </a:extLst>
            </p:cNvPr>
            <p:cNvSpPr txBox="1"/>
            <p:nvPr/>
          </p:nvSpPr>
          <p:spPr>
            <a:xfrm>
              <a:off x="11507895" y="3136045"/>
              <a:ext cx="283057" cy="369332"/>
            </a:xfrm>
            <a:prstGeom prst="rect">
              <a:avLst/>
            </a:prstGeom>
            <a:noFill/>
          </p:spPr>
          <p:txBody>
            <a:bodyPr wrap="square" rtlCol="0">
              <a:spAutoFit/>
            </a:bodyPr>
            <a:lstStyle/>
            <a:p>
              <a:pPr algn="r"/>
              <a:r>
                <a:rPr lang="en-US"/>
                <a:t>R</a:t>
              </a:r>
            </a:p>
          </p:txBody>
        </p:sp>
        <p:sp>
          <p:nvSpPr>
            <p:cNvPr id="24" name="TextBox 23">
              <a:extLst>
                <a:ext uri="{FF2B5EF4-FFF2-40B4-BE49-F238E27FC236}">
                  <a16:creationId xmlns:a16="http://schemas.microsoft.com/office/drawing/2014/main" id="{59DA47B5-F158-DF4D-93F6-18FAC582B770}"/>
                </a:ext>
              </a:extLst>
            </p:cNvPr>
            <p:cNvSpPr txBox="1"/>
            <p:nvPr/>
          </p:nvSpPr>
          <p:spPr>
            <a:xfrm>
              <a:off x="7467110" y="3810959"/>
              <a:ext cx="283057" cy="369332"/>
            </a:xfrm>
            <a:prstGeom prst="rect">
              <a:avLst/>
            </a:prstGeom>
            <a:noFill/>
          </p:spPr>
          <p:txBody>
            <a:bodyPr wrap="square" rtlCol="0">
              <a:spAutoFit/>
            </a:bodyPr>
            <a:lstStyle/>
            <a:p>
              <a:pPr algn="r"/>
              <a:r>
                <a:rPr lang="en-US"/>
                <a:t>T</a:t>
              </a:r>
            </a:p>
          </p:txBody>
        </p:sp>
        <p:sp>
          <p:nvSpPr>
            <p:cNvPr id="25" name="TextBox 24">
              <a:extLst>
                <a:ext uri="{FF2B5EF4-FFF2-40B4-BE49-F238E27FC236}">
                  <a16:creationId xmlns:a16="http://schemas.microsoft.com/office/drawing/2014/main" id="{9A53CD26-2F94-8C40-ABA9-CC9822AEFB4C}"/>
                </a:ext>
              </a:extLst>
            </p:cNvPr>
            <p:cNvSpPr txBox="1"/>
            <p:nvPr/>
          </p:nvSpPr>
          <p:spPr>
            <a:xfrm>
              <a:off x="11577561" y="3845793"/>
              <a:ext cx="283057" cy="369332"/>
            </a:xfrm>
            <a:prstGeom prst="rect">
              <a:avLst/>
            </a:prstGeom>
            <a:noFill/>
          </p:spPr>
          <p:txBody>
            <a:bodyPr wrap="square" rtlCol="0">
              <a:spAutoFit/>
            </a:bodyPr>
            <a:lstStyle/>
            <a:p>
              <a:pPr algn="r"/>
              <a:r>
                <a:rPr lang="en-US"/>
                <a:t>T</a:t>
              </a:r>
            </a:p>
          </p:txBody>
        </p:sp>
        <p:sp>
          <p:nvSpPr>
            <p:cNvPr id="26" name="TextBox 25">
              <a:extLst>
                <a:ext uri="{FF2B5EF4-FFF2-40B4-BE49-F238E27FC236}">
                  <a16:creationId xmlns:a16="http://schemas.microsoft.com/office/drawing/2014/main" id="{8BAFE2B1-19FF-8643-949C-8A45DF4FC4B1}"/>
                </a:ext>
              </a:extLst>
            </p:cNvPr>
            <p:cNvSpPr txBox="1"/>
            <p:nvPr/>
          </p:nvSpPr>
          <p:spPr>
            <a:xfrm>
              <a:off x="9461373" y="2160683"/>
              <a:ext cx="483326" cy="369332"/>
            </a:xfrm>
            <a:prstGeom prst="rect">
              <a:avLst/>
            </a:prstGeom>
            <a:noFill/>
          </p:spPr>
          <p:txBody>
            <a:bodyPr wrap="square" rtlCol="0">
              <a:spAutoFit/>
            </a:bodyPr>
            <a:lstStyle/>
            <a:p>
              <a:pPr algn="r"/>
              <a:r>
                <a:rPr lang="en-US"/>
                <a:t>P</a:t>
              </a:r>
              <a:r>
                <a:rPr lang="en-US" baseline="-25000"/>
                <a:t>A</a:t>
              </a:r>
            </a:p>
          </p:txBody>
        </p:sp>
        <p:sp>
          <p:nvSpPr>
            <p:cNvPr id="27" name="TextBox 26">
              <a:extLst>
                <a:ext uri="{FF2B5EF4-FFF2-40B4-BE49-F238E27FC236}">
                  <a16:creationId xmlns:a16="http://schemas.microsoft.com/office/drawing/2014/main" id="{711AA0E9-4738-874F-BE9D-C38E3F06BCF6}"/>
                </a:ext>
              </a:extLst>
            </p:cNvPr>
            <p:cNvSpPr txBox="1"/>
            <p:nvPr/>
          </p:nvSpPr>
          <p:spPr>
            <a:xfrm>
              <a:off x="9457022" y="2691910"/>
              <a:ext cx="483326" cy="369332"/>
            </a:xfrm>
            <a:prstGeom prst="rect">
              <a:avLst/>
            </a:prstGeom>
            <a:noFill/>
          </p:spPr>
          <p:txBody>
            <a:bodyPr wrap="square" rtlCol="0">
              <a:spAutoFit/>
            </a:bodyPr>
            <a:lstStyle/>
            <a:p>
              <a:pPr algn="r"/>
              <a:r>
                <a:rPr lang="en-US"/>
                <a:t>P</a:t>
              </a:r>
              <a:r>
                <a:rPr lang="en-US" baseline="-25000"/>
                <a:t>R</a:t>
              </a:r>
            </a:p>
          </p:txBody>
        </p:sp>
        <p:cxnSp>
          <p:nvCxnSpPr>
            <p:cNvPr id="29" name="Straight Arrow Connector 28">
              <a:extLst>
                <a:ext uri="{FF2B5EF4-FFF2-40B4-BE49-F238E27FC236}">
                  <a16:creationId xmlns:a16="http://schemas.microsoft.com/office/drawing/2014/main" id="{64C63981-5E3F-5B47-BD9D-309EF3050E93}"/>
                </a:ext>
              </a:extLst>
            </p:cNvPr>
            <p:cNvCxnSpPr/>
            <p:nvPr/>
          </p:nvCxnSpPr>
          <p:spPr>
            <a:xfrm>
              <a:off x="9470574" y="2540483"/>
              <a:ext cx="535577" cy="0"/>
            </a:xfrm>
            <a:prstGeom prst="straightConnector1">
              <a:avLst/>
            </a:prstGeom>
            <a:ln w="254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9FE6E1C2-7183-EF41-8957-36AE62A37502}"/>
                </a:ext>
              </a:extLst>
            </p:cNvPr>
            <p:cNvCxnSpPr>
              <a:cxnSpLocks/>
            </p:cNvCxnSpPr>
            <p:nvPr/>
          </p:nvCxnSpPr>
          <p:spPr>
            <a:xfrm flipH="1">
              <a:off x="9427518" y="2686104"/>
              <a:ext cx="578633" cy="0"/>
            </a:xfrm>
            <a:prstGeom prst="straightConnector1">
              <a:avLst/>
            </a:prstGeom>
            <a:ln w="25400">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40A72297-91A2-0642-B8DB-D2A9F3041587}"/>
                    </a:ext>
                  </a:extLst>
                </p:cNvPr>
                <p:cNvSpPr txBox="1"/>
                <p:nvPr/>
              </p:nvSpPr>
              <p:spPr>
                <a:xfrm>
                  <a:off x="9060794" y="4173058"/>
                  <a:ext cx="1733954" cy="369332"/>
                </a:xfrm>
                <a:prstGeom prst="rect">
                  <a:avLst/>
                </a:prstGeom>
                <a:noFill/>
              </p:spPr>
              <p:txBody>
                <a:bodyPr wrap="square" rtlCol="0">
                  <a:spAutoFit/>
                </a:bodyPr>
                <a:lstStyle/>
                <a:p>
                  <a:r>
                    <a:rPr lang="en-US" dirty="0"/>
                    <a:t>Filter[</a:t>
                  </a:r>
                  <a14:m>
                    <m:oMath xmlns:m="http://schemas.openxmlformats.org/officeDocument/2006/math">
                      <m:r>
                        <a:rPr lang="en-US" i="1" smtClean="0">
                          <a:latin typeface="Cambria Math" panose="02040503050406030204" pitchFamily="18" charset="0"/>
                          <a:ea typeface="Cambria Math" panose="02040503050406030204" pitchFamily="18" charset="0"/>
                        </a:rPr>
                        <m:t>𝜈</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𝜈</m:t>
                      </m:r>
                    </m:oMath>
                  </a14:m>
                  <a:r>
                    <a:rPr lang="en-US" dirty="0"/>
                    <a:t>+</a:t>
                  </a:r>
                  <a:r>
                    <a:rPr lang="en-US" dirty="0">
                      <a:ea typeface="Cambria Math" panose="02040503050406030204" pitchFamily="18" charset="0"/>
                    </a:rPr>
                    <a:t>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Δ</m:t>
                      </m:r>
                      <m:r>
                        <a:rPr lang="en-US" i="1">
                          <a:latin typeface="Cambria Math" panose="02040503050406030204" pitchFamily="18" charset="0"/>
                          <a:ea typeface="Cambria Math" panose="02040503050406030204" pitchFamily="18" charset="0"/>
                        </a:rPr>
                        <m:t>𝜈</m:t>
                      </m:r>
                      <m:r>
                        <a:rPr lang="en-US" b="0" i="1" smtClean="0">
                          <a:latin typeface="Cambria Math" panose="02040503050406030204" pitchFamily="18" charset="0"/>
                          <a:ea typeface="Cambria Math" panose="02040503050406030204" pitchFamily="18" charset="0"/>
                        </a:rPr>
                        <m:t>]</m:t>
                      </m:r>
                    </m:oMath>
                  </a14:m>
                  <a:endParaRPr lang="en-US" dirty="0"/>
                </a:p>
              </p:txBody>
            </p:sp>
          </mc:Choice>
          <mc:Fallback xmlns="">
            <p:sp>
              <p:nvSpPr>
                <p:cNvPr id="33" name="TextBox 32">
                  <a:extLst>
                    <a:ext uri="{FF2B5EF4-FFF2-40B4-BE49-F238E27FC236}">
                      <a16:creationId xmlns:a16="http://schemas.microsoft.com/office/drawing/2014/main" id="{40A72297-91A2-0642-B8DB-D2A9F3041587}"/>
                    </a:ext>
                  </a:extLst>
                </p:cNvPr>
                <p:cNvSpPr txBox="1">
                  <a:spLocks noRot="1" noChangeAspect="1" noMove="1" noResize="1" noEditPoints="1" noAdjustHandles="1" noChangeArrowheads="1" noChangeShapeType="1" noTextEdit="1"/>
                </p:cNvSpPr>
                <p:nvPr/>
              </p:nvSpPr>
              <p:spPr>
                <a:xfrm>
                  <a:off x="9060794" y="4173058"/>
                  <a:ext cx="1733954" cy="369332"/>
                </a:xfrm>
                <a:prstGeom prst="rect">
                  <a:avLst/>
                </a:prstGeom>
                <a:blipFill>
                  <a:blip r:embed="rId3"/>
                  <a:stretch>
                    <a:fillRect l="-2899" t="-6667" b="-26667"/>
                  </a:stretch>
                </a:blipFill>
              </p:spPr>
              <p:txBody>
                <a:bodyPr/>
                <a:lstStyle/>
                <a:p>
                  <a:r>
                    <a:rPr lang="en-US">
                      <a:noFill/>
                    </a:rPr>
                    <a:t> </a:t>
                  </a:r>
                </a:p>
              </p:txBody>
            </p:sp>
          </mc:Fallback>
        </mc:AlternateContent>
        <p:sp>
          <p:nvSpPr>
            <p:cNvPr id="34" name="TextBox 33">
              <a:extLst>
                <a:ext uri="{FF2B5EF4-FFF2-40B4-BE49-F238E27FC236}">
                  <a16:creationId xmlns:a16="http://schemas.microsoft.com/office/drawing/2014/main" id="{F874AB11-5C6D-2243-9955-5B3A31019B7E}"/>
                </a:ext>
              </a:extLst>
            </p:cNvPr>
            <p:cNvSpPr txBox="1"/>
            <p:nvPr/>
          </p:nvSpPr>
          <p:spPr>
            <a:xfrm>
              <a:off x="7582934" y="3097727"/>
              <a:ext cx="283057" cy="369332"/>
            </a:xfrm>
            <a:prstGeom prst="rect">
              <a:avLst/>
            </a:prstGeom>
            <a:noFill/>
          </p:spPr>
          <p:txBody>
            <a:bodyPr wrap="square" rtlCol="0">
              <a:spAutoFit/>
            </a:bodyPr>
            <a:lstStyle/>
            <a:p>
              <a:pPr algn="r"/>
              <a:r>
                <a:rPr lang="en-US"/>
                <a:t>A</a:t>
              </a:r>
            </a:p>
          </p:txBody>
        </p:sp>
      </p:grpSp>
    </p:spTree>
    <p:extLst>
      <p:ext uri="{BB962C8B-B14F-4D97-AF65-F5344CB8AC3E}">
        <p14:creationId xmlns:p14="http://schemas.microsoft.com/office/powerpoint/2010/main" val="3202239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2932"/>
            <a:ext cx="12039600" cy="982810"/>
          </a:xfrm>
        </p:spPr>
        <p:txBody>
          <a:bodyPr>
            <a:normAutofit/>
          </a:bodyPr>
          <a:lstStyle/>
          <a:p>
            <a:pPr algn="ctr"/>
            <a:r>
              <a:rPr lang="en-US" sz="4400" dirty="0">
                <a:latin typeface="Calibri" panose="020F0502020204030204" pitchFamily="34" charset="0"/>
                <a:cs typeface="Calibri" panose="020F0502020204030204" pitchFamily="34" charset="0"/>
              </a:rPr>
              <a:t>Radiation loss and antenna aperture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40488" y="1816099"/>
                <a:ext cx="11375388" cy="4905375"/>
              </a:xfrm>
            </p:spPr>
            <p:txBody>
              <a:bodyPr>
                <a:normAutofit/>
              </a:bodyPr>
              <a:lstStyle/>
              <a:p>
                <a:pPr marL="342900" indent="-342900" algn="l">
                  <a:lnSpc>
                    <a:spcPct val="120000"/>
                  </a:lnSpc>
                  <a:buFont typeface="Arial" panose="020B0604020202020204" pitchFamily="34" charset="0"/>
                  <a:buChar char="•"/>
                </a:pPr>
                <a:r>
                  <a:rPr lang="en-US" sz="2000" dirty="0">
                    <a:latin typeface="Calibri" panose="020F0502020204030204" pitchFamily="34" charset="0"/>
                    <a:cs typeface="Calibri" panose="020F0502020204030204" pitchFamily="34" charset="0"/>
                  </a:rPr>
                  <a:t>Spreading loss: </a:t>
                </a:r>
                <a14:m>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𝐿</m:t>
                        </m:r>
                      </m:e>
                      <m:sub>
                        <m:r>
                          <a:rPr lang="en-US" sz="2000" b="0" i="1" smtClean="0">
                            <a:latin typeface="Cambria Math" panose="02040503050406030204" pitchFamily="18" charset="0"/>
                            <a:cs typeface="Arial" panose="020B0604020202020204" pitchFamily="34" charset="0"/>
                          </a:rPr>
                          <m:t>𝑠</m:t>
                        </m:r>
                      </m:sub>
                    </m:sSub>
                    <m:r>
                      <a:rPr lang="en-US" sz="2000" b="0" i="1" smtClean="0">
                        <a:latin typeface="Cambria Math" panose="02040503050406030204" pitchFamily="18" charset="0"/>
                        <a:cs typeface="Arial" panose="020B0604020202020204" pitchFamily="34" charset="0"/>
                      </a:rPr>
                      <m:t>=</m:t>
                    </m:r>
                    <m:r>
                      <a:rPr lang="en-US" sz="2000" b="0" i="0" smtClean="0">
                        <a:latin typeface="Cambria Math" panose="02040503050406030204" pitchFamily="18" charset="0"/>
                        <a:cs typeface="Arial" panose="020B0604020202020204" pitchFamily="34" charset="0"/>
                      </a:rPr>
                      <m:t>32+</m:t>
                    </m:r>
                    <m:r>
                      <m:rPr>
                        <m:sty m:val="p"/>
                      </m:rPr>
                      <a:rPr lang="en-US" sz="2000" b="0" i="0" smtClean="0">
                        <a:latin typeface="Cambria Math" panose="02040503050406030204" pitchFamily="18" charset="0"/>
                        <a:cs typeface="Arial" panose="020B0604020202020204" pitchFamily="34" charset="0"/>
                      </a:rPr>
                      <m:t>log</m:t>
                    </m:r>
                    <m:d>
                      <m:dPr>
                        <m:ctrlPr>
                          <a:rPr lang="en-US" sz="2000" b="0" i="0" smtClean="0">
                            <a:latin typeface="Cambria Math" panose="02040503050406030204" pitchFamily="18" charset="0"/>
                            <a:cs typeface="Arial" panose="020B0604020202020204" pitchFamily="34" charset="0"/>
                          </a:rPr>
                        </m:ctrlPr>
                      </m:dPr>
                      <m:e>
                        <m:r>
                          <m:rPr>
                            <m:sty m:val="p"/>
                          </m:rPr>
                          <a:rPr lang="en-US" sz="2000" b="0" i="0" smtClean="0">
                            <a:latin typeface="Cambria Math" panose="02040503050406030204" pitchFamily="18" charset="0"/>
                            <a:cs typeface="Arial" panose="020B0604020202020204" pitchFamily="34" charset="0"/>
                          </a:rPr>
                          <m:t>d</m:t>
                        </m:r>
                      </m:e>
                    </m:d>
                    <m:r>
                      <a:rPr lang="en-US" sz="2000" b="0" i="0" smtClean="0">
                        <a:latin typeface="Cambria Math" panose="02040503050406030204" pitchFamily="18" charset="0"/>
                        <a:cs typeface="Arial" panose="020B0604020202020204" pitchFamily="34" charset="0"/>
                      </a:rPr>
                      <m:t>+20 </m:t>
                    </m:r>
                    <m:r>
                      <m:rPr>
                        <m:sty m:val="p"/>
                      </m:rPr>
                      <a:rPr lang="en-US" sz="2000" b="0" i="0" smtClean="0">
                        <a:latin typeface="Cambria Math" panose="02040503050406030204" pitchFamily="18" charset="0"/>
                        <a:cs typeface="Arial" panose="020B0604020202020204" pitchFamily="34" charset="0"/>
                      </a:rPr>
                      <m:t>log</m:t>
                    </m:r>
                    <m:d>
                      <m:dPr>
                        <m:ctrlPr>
                          <a:rPr lang="en-US" sz="2000" b="0" i="0" smtClean="0">
                            <a:latin typeface="Cambria Math" panose="02040503050406030204" pitchFamily="18" charset="0"/>
                            <a:cs typeface="Arial" panose="020B0604020202020204" pitchFamily="34" charset="0"/>
                          </a:rPr>
                        </m:ctrlPr>
                      </m:dPr>
                      <m:e>
                        <m:r>
                          <m:rPr>
                            <m:sty m:val="p"/>
                          </m:rPr>
                          <a:rPr lang="en-US" sz="2000" b="0" i="0" smtClean="0">
                            <a:latin typeface="Cambria Math" panose="02040503050406030204" pitchFamily="18" charset="0"/>
                            <a:cs typeface="Arial" panose="020B0604020202020204" pitchFamily="34" charset="0"/>
                          </a:rPr>
                          <m:t>f</m:t>
                        </m:r>
                      </m:e>
                    </m:d>
                  </m:oMath>
                </a14:m>
                <a:endParaRPr lang="en-US" sz="2000" b="0" dirty="0">
                  <a:latin typeface="Calibri" panose="020F0502020204030204" pitchFamily="34" charset="0"/>
                  <a:cs typeface="Calibri" panose="020F0502020204030204" pitchFamily="34" charset="0"/>
                </a:endParaRPr>
              </a:p>
              <a:p>
                <a:pPr marL="800100" lvl="1" indent="-342900" algn="l">
                  <a:lnSpc>
                    <a:spcPct val="100000"/>
                  </a:lnSpc>
                  <a:spcBef>
                    <a:spcPts val="0"/>
                  </a:spcBef>
                  <a:buFont typeface="Arial" panose="020B0604020202020204" pitchFamily="34" charset="0"/>
                  <a:buChar char="•"/>
                </a:pPr>
                <a:r>
                  <a:rPr lang="en-US" sz="2000" dirty="0">
                    <a:latin typeface="Calibri" panose="020F0502020204030204" pitchFamily="34" charset="0"/>
                    <a:cs typeface="Calibri" panose="020F0502020204030204" pitchFamily="34" charset="0"/>
                  </a:rPr>
                  <a:t>d in kilometers</a:t>
                </a:r>
              </a:p>
              <a:p>
                <a:pPr marL="800100" lvl="1" indent="-342900" algn="l">
                  <a:lnSpc>
                    <a:spcPct val="100000"/>
                  </a:lnSpc>
                  <a:spcBef>
                    <a:spcPts val="0"/>
                  </a:spcBef>
                  <a:buFont typeface="Arial" panose="020B0604020202020204" pitchFamily="34" charset="0"/>
                  <a:buChar char="•"/>
                </a:pPr>
                <a:r>
                  <a:rPr lang="en-US" sz="2000" dirty="0">
                    <a:latin typeface="Calibri" panose="020F0502020204030204" pitchFamily="34" charset="0"/>
                    <a:cs typeface="Calibri" panose="020F0502020204030204" pitchFamily="34" charset="0"/>
                  </a:rPr>
                  <a:t>F in megahertz</a:t>
                </a:r>
              </a:p>
              <a:p>
                <a:pPr marL="342900" indent="-342900" algn="l">
                  <a:lnSpc>
                    <a:spcPct val="100000"/>
                  </a:lnSpc>
                  <a:spcBef>
                    <a:spcPts val="0"/>
                  </a:spcBef>
                  <a:buFont typeface="Arial" panose="020B0604020202020204" pitchFamily="34" charset="0"/>
                  <a:buChar char="•"/>
                </a:pPr>
                <a14:m>
                  <m:oMath xmlns:m="http://schemas.openxmlformats.org/officeDocument/2006/math">
                    <m:r>
                      <a:rPr lang="en-US" sz="2000" b="0" i="1" smtClean="0">
                        <a:latin typeface="Cambria Math" panose="02040503050406030204" pitchFamily="18" charset="0"/>
                        <a:cs typeface="Arial" panose="020B0604020202020204" pitchFamily="34" charset="0"/>
                      </a:rPr>
                      <m:t>𝑊</m:t>
                    </m:r>
                    <m:r>
                      <a:rPr lang="en-US" sz="2000" b="0" i="1" smtClean="0">
                        <a:latin typeface="Cambria Math" panose="02040503050406030204" pitchFamily="18" charset="0"/>
                        <a:cs typeface="Arial" panose="020B0604020202020204" pitchFamily="34" charset="0"/>
                      </a:rPr>
                      <m:t>= </m:t>
                    </m:r>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𝐴</m:t>
                        </m:r>
                      </m:e>
                      <m:sub>
                        <m:r>
                          <a:rPr lang="en-US" sz="2000" b="0" i="1" smtClean="0">
                            <a:latin typeface="Cambria Math" panose="02040503050406030204" pitchFamily="18" charset="0"/>
                            <a:cs typeface="Arial" panose="020B0604020202020204" pitchFamily="34" charset="0"/>
                          </a:rPr>
                          <m:t>𝑒</m:t>
                        </m:r>
                      </m:sub>
                    </m:sSub>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𝑃</m:t>
                        </m:r>
                      </m:e>
                      <m:sub>
                        <m:r>
                          <a:rPr lang="en-US" sz="2000" b="0" i="1" smtClean="0">
                            <a:latin typeface="Cambria Math" panose="02040503050406030204" pitchFamily="18" charset="0"/>
                            <a:cs typeface="Arial" panose="020B0604020202020204" pitchFamily="34" charset="0"/>
                          </a:rPr>
                          <m:t>𝑒</m:t>
                        </m:r>
                      </m:sub>
                    </m:sSub>
                  </m:oMath>
                </a14:m>
                <a:r>
                  <a:rPr lang="en-US" sz="2000" dirty="0">
                    <a:latin typeface="Calibri" panose="020F0502020204030204" pitchFamily="34" charset="0"/>
                    <a:cs typeface="Calibri" panose="020F0502020204030204" pitchFamily="34" charset="0"/>
                  </a:rPr>
                  <a:t>, </a:t>
                </a:r>
                <a14:m>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𝐴</m:t>
                        </m:r>
                      </m:e>
                      <m:sub>
                        <m:r>
                          <a:rPr lang="en-US" sz="2000" b="0" i="1" smtClean="0">
                            <a:latin typeface="Cambria Math" panose="02040503050406030204" pitchFamily="18" charset="0"/>
                            <a:cs typeface="Arial" panose="020B0604020202020204" pitchFamily="34" charset="0"/>
                          </a:rPr>
                          <m:t>𝑒</m:t>
                        </m:r>
                      </m:sub>
                    </m:sSub>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𝜆</m:t>
                            </m:r>
                          </m:e>
                          <m:sup>
                            <m:r>
                              <a:rPr lang="en-US" sz="2000" b="0" i="1" smtClean="0">
                                <a:latin typeface="Cambria Math" panose="02040503050406030204" pitchFamily="18" charset="0"/>
                                <a:cs typeface="Arial" panose="020B0604020202020204" pitchFamily="34" charset="0"/>
                              </a:rPr>
                              <m:t>2</m:t>
                            </m:r>
                          </m:sup>
                        </m:sSup>
                      </m:num>
                      <m:den>
                        <m:r>
                          <a:rPr lang="en-US" sz="2000" b="0" i="1" smtClean="0">
                            <a:latin typeface="Cambria Math" panose="02040503050406030204" pitchFamily="18" charset="0"/>
                            <a:cs typeface="Arial" panose="020B0604020202020204" pitchFamily="34" charset="0"/>
                          </a:rPr>
                          <m:t>4</m:t>
                        </m:r>
                        <m:r>
                          <a:rPr lang="en-US" sz="2000" b="0" i="1" smtClean="0">
                            <a:latin typeface="Cambria Math" panose="02040503050406030204" pitchFamily="18" charset="0"/>
                            <a:ea typeface="Cambria Math" panose="02040503050406030204" pitchFamily="18" charset="0"/>
                            <a:cs typeface="Arial" panose="020B0604020202020204" pitchFamily="34" charset="0"/>
                          </a:rPr>
                          <m:t>𝜋</m:t>
                        </m:r>
                      </m:den>
                    </m:f>
                  </m:oMath>
                </a14:m>
                <a:endParaRPr lang="en-US" sz="2000" dirty="0">
                  <a:latin typeface="Calibri" panose="020F0502020204030204" pitchFamily="34" charset="0"/>
                  <a:cs typeface="Calibri" panose="020F0502020204030204" pitchFamily="34" charset="0"/>
                </a:endParaRPr>
              </a:p>
              <a:p>
                <a:pPr marL="0" indent="0" algn="l">
                  <a:lnSpc>
                    <a:spcPct val="100000"/>
                  </a:lnSpc>
                  <a:spcBef>
                    <a:spcPts val="0"/>
                  </a:spcBef>
                  <a:buNone/>
                </a:pPr>
                <a:endParaRPr lang="en-US" sz="2000" dirty="0">
                  <a:latin typeface="Calibri" panose="020F0502020204030204" pitchFamily="34" charset="0"/>
                  <a:cs typeface="Calibri" panose="020F050202020403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40488" y="1816099"/>
                <a:ext cx="11375388" cy="4905375"/>
              </a:xfrm>
              <a:blipFill>
                <a:blip r:embed="rId2"/>
                <a:stretch>
                  <a:fillRect l="-446"/>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7A91E16D-0EAD-4D3D-AC22-65013F654EE2}" type="slidenum">
              <a:rPr lang="en-US" altLang="en-US" smtClean="0"/>
              <a:pPr>
                <a:defRPr/>
              </a:pPr>
              <a:t>13</a:t>
            </a:fld>
            <a:endParaRPr lang="en-US" altLang="en-US"/>
          </a:p>
        </p:txBody>
      </p:sp>
    </p:spTree>
    <p:extLst>
      <p:ext uri="{BB962C8B-B14F-4D97-AF65-F5344CB8AC3E}">
        <p14:creationId xmlns:p14="http://schemas.microsoft.com/office/powerpoint/2010/main" val="15107953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605643" y="182199"/>
            <a:ext cx="10438410"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Reciprocity</a:t>
            </a:r>
            <a:endParaRPr sz="44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605643" y="1363822"/>
                <a:ext cx="11015802" cy="494701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285750" indent="-285750" hangingPunct="0">
                  <a:buFont typeface="Arial" panose="020B0604020202020204" pitchFamily="34" charset="0"/>
                  <a:buChar char="•"/>
                </a:pPr>
                <a:r>
                  <a:rPr lang="en-US" sz="2000" i="1" dirty="0">
                    <a:solidFill>
                      <a:srgbClr val="000000"/>
                    </a:solidFill>
                    <a:latin typeface="Calibri" panose="020F0502020204030204" pitchFamily="34" charset="0"/>
                    <a:cs typeface="Calibri" panose="020F0502020204030204" pitchFamily="34" charset="0"/>
                  </a:rPr>
                  <a:t>Reciprocity: </a:t>
                </a:r>
                <a:r>
                  <a:rPr lang="en-US" sz="2000" dirty="0">
                    <a:solidFill>
                      <a:srgbClr val="000000"/>
                    </a:solidFill>
                    <a:latin typeface="Calibri" panose="020F0502020204030204" pitchFamily="34" charset="0"/>
                    <a:cs typeface="Calibri" panose="020F0502020204030204" pitchFamily="34" charset="0"/>
                  </a:rPr>
                  <a:t>The position of an ideal voltmeter and ideal current source can be interchanged without changing the voltmeter reading.</a:t>
                </a:r>
              </a:p>
              <a:p>
                <a:pPr marL="342900" indent="-342900"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𝑃</m:t>
                        </m:r>
                      </m:e>
                      <m:sub>
                        <m:r>
                          <a:rPr lang="en-US" sz="2000" i="1">
                            <a:solidFill>
                              <a:srgbClr val="000000"/>
                            </a:solidFill>
                            <a:latin typeface="Cambria Math" panose="02040503050406030204" pitchFamily="18" charset="0"/>
                            <a:ea typeface="Cambria Math" panose="02040503050406030204" pitchFamily="18" charset="0"/>
                          </a:rPr>
                          <m:t>𝑡</m:t>
                        </m:r>
                      </m:sub>
                    </m:sSub>
                    <m:r>
                      <a:rPr lang="en-US" sz="2000" i="1">
                        <a:solidFill>
                          <a:srgbClr val="000000"/>
                        </a:solidFill>
                        <a:latin typeface="Cambria Math" panose="02040503050406030204" pitchFamily="18" charset="0"/>
                        <a:ea typeface="Cambria Math" panose="02040503050406030204" pitchFamily="18" charset="0"/>
                      </a:rPr>
                      <m:t>=</m:t>
                    </m:r>
                    <m:sSup>
                      <m:sSupPr>
                        <m:ctrlPr>
                          <a:rPr lang="en-US" sz="2000" i="1">
                            <a:solidFill>
                              <a:srgbClr val="000000"/>
                            </a:solidFill>
                            <a:latin typeface="Cambria Math" panose="02040503050406030204" pitchFamily="18" charset="0"/>
                            <a:ea typeface="Cambria Math" panose="02040503050406030204" pitchFamily="18" charset="0"/>
                          </a:rPr>
                        </m:ctrlPr>
                      </m:sSupPr>
                      <m:e>
                        <m:r>
                          <a:rPr lang="en-US" sz="2000" i="1">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𝐼</m:t>
                        </m:r>
                        <m:r>
                          <a:rPr lang="en-US" sz="2000" i="1">
                            <a:solidFill>
                              <a:srgbClr val="000000"/>
                            </a:solidFill>
                            <a:latin typeface="Cambria Math" panose="02040503050406030204" pitchFamily="18" charset="0"/>
                            <a:ea typeface="Cambria Math" panose="02040503050406030204" pitchFamily="18" charset="0"/>
                          </a:rPr>
                          <m:t>|</m:t>
                        </m:r>
                      </m:e>
                      <m:sup>
                        <m:r>
                          <a:rPr lang="en-US" sz="2000" i="1">
                            <a:solidFill>
                              <a:srgbClr val="000000"/>
                            </a:solidFill>
                            <a:latin typeface="Cambria Math" panose="02040503050406030204" pitchFamily="18" charset="0"/>
                            <a:ea typeface="Cambria Math" panose="02040503050406030204" pitchFamily="18" charset="0"/>
                          </a:rPr>
                          <m:t>2</m:t>
                        </m:r>
                      </m:sup>
                    </m:sSup>
                    <m:f>
                      <m:fPr>
                        <m:ctrlPr>
                          <a:rPr lang="en-US" sz="2000" i="1">
                            <a:solidFill>
                              <a:srgbClr val="000000"/>
                            </a:solidFill>
                            <a:latin typeface="Cambria Math" panose="02040503050406030204" pitchFamily="18" charset="0"/>
                            <a:ea typeface="Cambria Math" panose="02040503050406030204" pitchFamily="18" charset="0"/>
                          </a:rPr>
                        </m:ctrlPr>
                      </m:fPr>
                      <m:num>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𝑅</m:t>
                            </m:r>
                          </m:e>
                          <m:sub>
                            <m:r>
                              <a:rPr lang="en-US" sz="2000" i="1">
                                <a:solidFill>
                                  <a:srgbClr val="000000"/>
                                </a:solidFill>
                                <a:latin typeface="Cambria Math" panose="02040503050406030204" pitchFamily="18" charset="0"/>
                                <a:ea typeface="Cambria Math" panose="02040503050406030204" pitchFamily="18" charset="0"/>
                              </a:rPr>
                              <m:t>1</m:t>
                            </m:r>
                          </m:sub>
                        </m:sSub>
                      </m:num>
                      <m:den>
                        <m:r>
                          <a:rPr lang="en-US" sz="2000" i="1">
                            <a:solidFill>
                              <a:srgbClr val="000000"/>
                            </a:solidFill>
                            <a:latin typeface="Cambria Math" panose="02040503050406030204" pitchFamily="18" charset="0"/>
                            <a:ea typeface="Cambria Math" panose="02040503050406030204" pitchFamily="18" charset="0"/>
                          </a:rPr>
                          <m:t>2</m:t>
                        </m:r>
                      </m:den>
                    </m:f>
                  </m:oMath>
                </a14:m>
                <a:endParaRPr lang="en-US" sz="2000" i="1" dirty="0">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a:p>
                <a:pPr marL="342900" indent="-342900"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𝑃</m:t>
                        </m:r>
                      </m:e>
                      <m:sub>
                        <m:r>
                          <a:rPr lang="en-US" sz="2000" b="0" i="1" smtClean="0">
                            <a:solidFill>
                              <a:srgbClr val="000000"/>
                            </a:solidFill>
                            <a:latin typeface="Cambria Math" panose="02040503050406030204" pitchFamily="18" charset="0"/>
                            <a:ea typeface="Cambria Math" panose="02040503050406030204" pitchFamily="18" charset="0"/>
                          </a:rPr>
                          <m:t>𝑟</m:t>
                        </m:r>
                      </m:sub>
                    </m:sSub>
                    <m:r>
                      <a:rPr lang="en-US" sz="2000" i="1">
                        <a:solidFill>
                          <a:srgbClr val="000000"/>
                        </a:solidFill>
                        <a:latin typeface="Cambria Math" panose="02040503050406030204" pitchFamily="18" charset="0"/>
                        <a:ea typeface="Cambria Math" panose="02040503050406030204" pitchFamily="18" charset="0"/>
                      </a:rPr>
                      <m:t>=</m:t>
                    </m:r>
                    <m:f>
                      <m:fPr>
                        <m:ctrlPr>
                          <a:rPr lang="en-US" sz="2000" i="1" smtClean="0">
                            <a:solidFill>
                              <a:srgbClr val="000000"/>
                            </a:solidFill>
                            <a:latin typeface="Cambria Math" panose="02040503050406030204" pitchFamily="18" charset="0"/>
                            <a:ea typeface="Cambria Math" panose="02040503050406030204" pitchFamily="18" charset="0"/>
                          </a:rPr>
                        </m:ctrlPr>
                      </m:fPr>
                      <m:num>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𝑃</m:t>
                            </m:r>
                          </m:e>
                          <m:sub>
                            <m:r>
                              <a:rPr lang="en-US" sz="2000" b="0" i="1" smtClean="0">
                                <a:solidFill>
                                  <a:srgbClr val="000000"/>
                                </a:solidFill>
                                <a:latin typeface="Cambria Math" panose="02040503050406030204" pitchFamily="18" charset="0"/>
                                <a:ea typeface="Cambria Math" panose="02040503050406030204" pitchFamily="18" charset="0"/>
                              </a:rPr>
                              <m:t>𝑡</m:t>
                            </m:r>
                          </m:sub>
                        </m:sSub>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𝐺</m:t>
                            </m:r>
                          </m:e>
                          <m:sub>
                            <m:r>
                              <a:rPr lang="en-US" sz="2000" b="0" i="1" smtClean="0">
                                <a:solidFill>
                                  <a:srgbClr val="000000"/>
                                </a:solidFill>
                                <a:latin typeface="Cambria Math" panose="02040503050406030204" pitchFamily="18" charset="0"/>
                                <a:ea typeface="Cambria Math" panose="02040503050406030204" pitchFamily="18" charset="0"/>
                              </a:rPr>
                              <m:t>1</m:t>
                            </m:r>
                          </m:sub>
                        </m:sSub>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𝐴</m:t>
                            </m:r>
                          </m:e>
                          <m:sub>
                            <m:r>
                              <a:rPr lang="en-US" sz="2000" b="0" i="1" smtClean="0">
                                <a:solidFill>
                                  <a:srgbClr val="000000"/>
                                </a:solidFill>
                                <a:latin typeface="Cambria Math" panose="02040503050406030204" pitchFamily="18" charset="0"/>
                                <a:ea typeface="Cambria Math" panose="02040503050406030204" pitchFamily="18" charset="0"/>
                              </a:rPr>
                              <m:t>2</m:t>
                            </m:r>
                          </m:sub>
                        </m:sSub>
                      </m:num>
                      <m:den>
                        <m:r>
                          <a:rPr lang="en-US" sz="2000" b="0" i="1" smtClean="0">
                            <a:solidFill>
                              <a:srgbClr val="000000"/>
                            </a:solidFill>
                            <a:latin typeface="Cambria Math" panose="02040503050406030204" pitchFamily="18" charset="0"/>
                            <a:ea typeface="Cambria Math" panose="02040503050406030204" pitchFamily="18" charset="0"/>
                          </a:rPr>
                          <m:t>4</m:t>
                        </m:r>
                        <m:r>
                          <a:rPr lang="en-US" sz="2000" b="0" i="1" smtClean="0">
                            <a:solidFill>
                              <a:srgbClr val="000000"/>
                            </a:solidFill>
                            <a:latin typeface="Cambria Math" panose="02040503050406030204" pitchFamily="18" charset="0"/>
                            <a:ea typeface="Cambria Math" panose="02040503050406030204" pitchFamily="18" charset="0"/>
                          </a:rPr>
                          <m:t>𝜋</m:t>
                        </m:r>
                        <m:sSup>
                          <m:sSupPr>
                            <m:ctrlPr>
                              <a:rPr lang="en-US" sz="2000" b="0" i="1" smtClean="0">
                                <a:solidFill>
                                  <a:srgbClr val="000000"/>
                                </a:solidFill>
                                <a:latin typeface="Cambria Math" panose="02040503050406030204" pitchFamily="18" charset="0"/>
                                <a:ea typeface="Cambria Math" panose="02040503050406030204" pitchFamily="18" charset="0"/>
                              </a:rPr>
                            </m:ctrlPr>
                          </m:sSupPr>
                          <m:e>
                            <m:r>
                              <a:rPr lang="en-US" sz="2000" b="0" i="1" smtClean="0">
                                <a:solidFill>
                                  <a:srgbClr val="000000"/>
                                </a:solidFill>
                                <a:latin typeface="Cambria Math" panose="02040503050406030204" pitchFamily="18" charset="0"/>
                                <a:ea typeface="Cambria Math" panose="02040503050406030204" pitchFamily="18" charset="0"/>
                              </a:rPr>
                              <m:t>𝑟</m:t>
                            </m:r>
                          </m:e>
                          <m:sup>
                            <m:r>
                              <a:rPr lang="en-US" sz="2000" b="0" i="1" smtClean="0">
                                <a:solidFill>
                                  <a:srgbClr val="000000"/>
                                </a:solidFill>
                                <a:latin typeface="Cambria Math" panose="02040503050406030204" pitchFamily="18" charset="0"/>
                                <a:ea typeface="Cambria Math" panose="02040503050406030204" pitchFamily="18" charset="0"/>
                              </a:rPr>
                              <m:t>2</m:t>
                            </m:r>
                          </m:sup>
                        </m:sSup>
                      </m:den>
                    </m:f>
                  </m:oMath>
                </a14:m>
                <a:r>
                  <a:rPr lang="en-US" sz="2000" i="1"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a:t>
                </a:r>
                <a:r>
                  <a:rPr lang="en-US" sz="2000" i="1" dirty="0">
                    <a:solidFill>
                      <a:srgbClr val="000000"/>
                    </a:solidFill>
                    <a:latin typeface="Calibri" panose="020F0502020204030204" pitchFamily="34" charset="0"/>
                    <a:ea typeface="Cambria Math" panose="02040503050406030204" pitchFamily="18" charset="0"/>
                    <a:cs typeface="Calibri" panose="020F0502020204030204" pitchFamily="34" charset="0"/>
                  </a:rPr>
                  <a:t>by </a:t>
                </a:r>
                <a:r>
                  <a:rPr lang="en-US" sz="2000" i="1" dirty="0" err="1">
                    <a:solidFill>
                      <a:srgbClr val="000000"/>
                    </a:solidFill>
                    <a:latin typeface="Calibri" panose="020F0502020204030204" pitchFamily="34" charset="0"/>
                    <a:ea typeface="Cambria Math" panose="02040503050406030204" pitchFamily="18" charset="0"/>
                    <a:cs typeface="Calibri" panose="020F0502020204030204" pitchFamily="34" charset="0"/>
                  </a:rPr>
                  <a:t>Friis</a:t>
                </a:r>
                <a:endParaRPr lang="en-US" sz="2000" b="1" i="1" dirty="0">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a:p>
                <a:pPr marL="342900" indent="-342900"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𝑃</m:t>
                        </m:r>
                      </m:e>
                      <m:sub>
                        <m:r>
                          <a:rPr lang="en-US" sz="2000" i="1">
                            <a:solidFill>
                              <a:srgbClr val="000000"/>
                            </a:solidFill>
                            <a:latin typeface="Cambria Math" panose="02040503050406030204" pitchFamily="18" charset="0"/>
                            <a:ea typeface="Cambria Math" panose="02040503050406030204" pitchFamily="18" charset="0"/>
                          </a:rPr>
                          <m:t>𝑟</m:t>
                        </m:r>
                      </m:sub>
                    </m:sSub>
                    <m:r>
                      <a:rPr lang="en-US" sz="2000" i="1">
                        <a:solidFill>
                          <a:srgbClr val="000000"/>
                        </a:solidFill>
                        <a:latin typeface="Cambria Math" panose="02040503050406030204" pitchFamily="18" charset="0"/>
                        <a:ea typeface="Cambria Math" panose="02040503050406030204" pitchFamily="18" charset="0"/>
                      </a:rPr>
                      <m:t>=</m:t>
                    </m:r>
                    <m:f>
                      <m:fPr>
                        <m:ctrlPr>
                          <a:rPr lang="en-US" sz="2000" i="1" smtClean="0">
                            <a:solidFill>
                              <a:srgbClr val="000000"/>
                            </a:solidFill>
                            <a:latin typeface="Cambria Math" panose="02040503050406030204" pitchFamily="18" charset="0"/>
                            <a:ea typeface="Cambria Math" panose="02040503050406030204" pitchFamily="18" charset="0"/>
                          </a:rPr>
                        </m:ctrlPr>
                      </m:fPr>
                      <m:num>
                        <m:sSup>
                          <m:sSupPr>
                            <m:ctrlPr>
                              <a:rPr lang="en-US" sz="2000" b="0" i="1" smtClean="0">
                                <a:solidFill>
                                  <a:srgbClr val="000000"/>
                                </a:solidFill>
                                <a:latin typeface="Cambria Math" panose="02040503050406030204" pitchFamily="18" charset="0"/>
                                <a:ea typeface="Cambria Math" panose="02040503050406030204" pitchFamily="18" charset="0"/>
                              </a:rPr>
                            </m:ctrlPr>
                          </m:sSupPr>
                          <m:e>
                            <m:r>
                              <a:rPr lang="en-US" sz="2000" b="0" i="1" smtClean="0">
                                <a:solidFill>
                                  <a:srgbClr val="000000"/>
                                </a:solidFill>
                                <a:latin typeface="Cambria Math" panose="02040503050406030204" pitchFamily="18" charset="0"/>
                                <a:ea typeface="Cambria Math" panose="02040503050406030204" pitchFamily="18" charset="0"/>
                              </a:rPr>
                              <m:t>|</m:t>
                            </m:r>
                            <m:r>
                              <a:rPr lang="en-US" sz="2000" b="0" i="1" smtClean="0">
                                <a:solidFill>
                                  <a:srgbClr val="000000"/>
                                </a:solidFill>
                                <a:latin typeface="Cambria Math" panose="02040503050406030204" pitchFamily="18" charset="0"/>
                                <a:ea typeface="Cambria Math" panose="02040503050406030204" pitchFamily="18" charset="0"/>
                              </a:rPr>
                              <m:t>𝑉</m:t>
                            </m:r>
                            <m:r>
                              <a:rPr lang="en-US" sz="2000" b="0" i="1" smtClean="0">
                                <a:solidFill>
                                  <a:srgbClr val="000000"/>
                                </a:solidFill>
                                <a:latin typeface="Cambria Math" panose="02040503050406030204" pitchFamily="18" charset="0"/>
                                <a:ea typeface="Cambria Math" panose="02040503050406030204" pitchFamily="18" charset="0"/>
                              </a:rPr>
                              <m:t>|</m:t>
                            </m:r>
                          </m:e>
                          <m:sup>
                            <m:r>
                              <a:rPr lang="en-US" sz="2000" b="0" i="1" smtClean="0">
                                <a:solidFill>
                                  <a:srgbClr val="000000"/>
                                </a:solidFill>
                                <a:latin typeface="Cambria Math" panose="02040503050406030204" pitchFamily="18" charset="0"/>
                                <a:ea typeface="Cambria Math" panose="02040503050406030204" pitchFamily="18" charset="0"/>
                              </a:rPr>
                              <m:t>2</m:t>
                            </m:r>
                          </m:sup>
                        </m:sSup>
                      </m:num>
                      <m:den>
                        <m:r>
                          <a:rPr lang="en-US" sz="2000" b="0" i="1" smtClean="0">
                            <a:solidFill>
                              <a:srgbClr val="000000"/>
                            </a:solidFill>
                            <a:latin typeface="Cambria Math" panose="02040503050406030204" pitchFamily="18" charset="0"/>
                            <a:ea typeface="Cambria Math" panose="02040503050406030204" pitchFamily="18" charset="0"/>
                          </a:rPr>
                          <m:t>8</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𝑅</m:t>
                            </m:r>
                          </m:e>
                          <m:sub>
                            <m:r>
                              <a:rPr lang="en-US" sz="2000" b="0" i="1" smtClean="0">
                                <a:solidFill>
                                  <a:srgbClr val="000000"/>
                                </a:solidFill>
                                <a:latin typeface="Cambria Math" panose="02040503050406030204" pitchFamily="18" charset="0"/>
                                <a:ea typeface="Cambria Math" panose="02040503050406030204" pitchFamily="18" charset="0"/>
                              </a:rPr>
                              <m:t>2</m:t>
                            </m:r>
                          </m:sub>
                        </m:sSub>
                      </m:den>
                    </m:f>
                  </m:oMath>
                </a14:m>
                <a:endParaRPr lang="en-US" sz="2000" b="1" i="1" dirty="0">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a:p>
                <a:pPr marL="342900" indent="-342900" hangingPunct="0">
                  <a:buFont typeface="Arial" panose="020B0604020202020204" pitchFamily="34" charset="0"/>
                  <a:buChar char="•"/>
                </a:pPr>
                <a14:m>
                  <m:oMath xmlns:m="http://schemas.openxmlformats.org/officeDocument/2006/math">
                    <m:f>
                      <m:fPr>
                        <m:ctrlPr>
                          <a:rPr lang="en-US" sz="2000" i="1">
                            <a:solidFill>
                              <a:srgbClr val="000000"/>
                            </a:solidFill>
                            <a:latin typeface="Cambria Math" panose="02040503050406030204" pitchFamily="18" charset="0"/>
                            <a:ea typeface="Cambria Math" panose="02040503050406030204" pitchFamily="18" charset="0"/>
                          </a:rPr>
                        </m:ctrlPr>
                      </m:fPr>
                      <m:num>
                        <m:sSup>
                          <m:sSupPr>
                            <m:ctrlPr>
                              <a:rPr lang="en-US" sz="2000" i="1">
                                <a:solidFill>
                                  <a:srgbClr val="000000"/>
                                </a:solidFill>
                                <a:latin typeface="Cambria Math" panose="02040503050406030204" pitchFamily="18" charset="0"/>
                                <a:ea typeface="Cambria Math" panose="02040503050406030204" pitchFamily="18" charset="0"/>
                              </a:rPr>
                            </m:ctrlPr>
                          </m:sSupPr>
                          <m:e>
                            <m:r>
                              <a:rPr lang="en-US" sz="2000" i="1">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𝑉</m:t>
                            </m:r>
                            <m:r>
                              <a:rPr lang="en-US" sz="2000" i="1">
                                <a:solidFill>
                                  <a:srgbClr val="000000"/>
                                </a:solidFill>
                                <a:latin typeface="Cambria Math" panose="02040503050406030204" pitchFamily="18" charset="0"/>
                                <a:ea typeface="Cambria Math" panose="02040503050406030204" pitchFamily="18" charset="0"/>
                              </a:rPr>
                              <m:t>|</m:t>
                            </m:r>
                          </m:e>
                          <m:sup>
                            <m:r>
                              <a:rPr lang="en-US" sz="2000" i="1">
                                <a:solidFill>
                                  <a:srgbClr val="000000"/>
                                </a:solidFill>
                                <a:latin typeface="Cambria Math" panose="02040503050406030204" pitchFamily="18" charset="0"/>
                                <a:ea typeface="Cambria Math" panose="02040503050406030204" pitchFamily="18" charset="0"/>
                              </a:rPr>
                              <m:t>2</m:t>
                            </m:r>
                          </m:sup>
                        </m:sSup>
                      </m:num>
                      <m:den>
                        <m:r>
                          <a:rPr lang="en-US" sz="2000" i="1">
                            <a:solidFill>
                              <a:srgbClr val="000000"/>
                            </a:solidFill>
                            <a:latin typeface="Cambria Math" panose="02040503050406030204" pitchFamily="18" charset="0"/>
                            <a:ea typeface="Cambria Math" panose="02040503050406030204" pitchFamily="18" charset="0"/>
                          </a:rPr>
                          <m:t>8</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𝑅</m:t>
                            </m:r>
                          </m:e>
                          <m:sub>
                            <m:r>
                              <a:rPr lang="en-US" sz="2000" i="1">
                                <a:solidFill>
                                  <a:srgbClr val="000000"/>
                                </a:solidFill>
                                <a:latin typeface="Cambria Math" panose="02040503050406030204" pitchFamily="18" charset="0"/>
                                <a:ea typeface="Cambria Math" panose="02040503050406030204" pitchFamily="18" charset="0"/>
                              </a:rPr>
                              <m:t>2</m:t>
                            </m:r>
                          </m:sub>
                        </m:sSub>
                      </m:den>
                    </m:f>
                    <m:r>
                      <a:rPr lang="en-US" sz="2000" b="0" i="1" smtClean="0">
                        <a:solidFill>
                          <a:srgbClr val="000000"/>
                        </a:solidFill>
                        <a:latin typeface="Cambria Math" panose="02040503050406030204" pitchFamily="18" charset="0"/>
                        <a:ea typeface="Cambria Math" panose="02040503050406030204" pitchFamily="18" charset="0"/>
                      </a:rPr>
                      <m:t>= </m:t>
                    </m:r>
                    <m:f>
                      <m:fPr>
                        <m:ctrlPr>
                          <a:rPr lang="en-US" sz="2000" i="1">
                            <a:solidFill>
                              <a:srgbClr val="000000"/>
                            </a:solidFill>
                            <a:latin typeface="Cambria Math" panose="02040503050406030204" pitchFamily="18" charset="0"/>
                            <a:ea typeface="Cambria Math" panose="02040503050406030204" pitchFamily="18" charset="0"/>
                          </a:rPr>
                        </m:ctrlPr>
                      </m:fPr>
                      <m:num>
                        <m:sSup>
                          <m:sSupPr>
                            <m:ctrlPr>
                              <a:rPr lang="en-US" sz="2000" i="1">
                                <a:solidFill>
                                  <a:srgbClr val="000000"/>
                                </a:solidFill>
                                <a:latin typeface="Cambria Math" panose="02040503050406030204" pitchFamily="18" charset="0"/>
                                <a:ea typeface="Cambria Math" panose="02040503050406030204" pitchFamily="18" charset="0"/>
                              </a:rPr>
                            </m:ctrlPr>
                          </m:sSupPr>
                          <m:e>
                            <m:r>
                              <a:rPr lang="en-US" sz="2000" i="1">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𝐼</m:t>
                            </m:r>
                            <m:r>
                              <a:rPr lang="en-US" sz="2000" i="1">
                                <a:solidFill>
                                  <a:srgbClr val="000000"/>
                                </a:solidFill>
                                <a:latin typeface="Cambria Math" panose="02040503050406030204" pitchFamily="18" charset="0"/>
                                <a:ea typeface="Cambria Math" panose="02040503050406030204" pitchFamily="18" charset="0"/>
                              </a:rPr>
                              <m:t>|</m:t>
                            </m:r>
                          </m:e>
                          <m:sup>
                            <m:r>
                              <a:rPr lang="en-US" sz="2000" i="1">
                                <a:solidFill>
                                  <a:srgbClr val="000000"/>
                                </a:solidFill>
                                <a:latin typeface="Cambria Math" panose="02040503050406030204" pitchFamily="18" charset="0"/>
                                <a:ea typeface="Cambria Math" panose="02040503050406030204" pitchFamily="18" charset="0"/>
                              </a:rPr>
                              <m:t>2</m:t>
                            </m:r>
                          </m:sup>
                        </m:sSup>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𝑅</m:t>
                            </m:r>
                          </m:e>
                          <m:sub>
                            <m:r>
                              <a:rPr lang="en-US" sz="2000" b="0" i="1" smtClean="0">
                                <a:solidFill>
                                  <a:srgbClr val="000000"/>
                                </a:solidFill>
                                <a:latin typeface="Cambria Math" panose="02040503050406030204" pitchFamily="18" charset="0"/>
                                <a:ea typeface="Cambria Math" panose="02040503050406030204" pitchFamily="18" charset="0"/>
                              </a:rPr>
                              <m:t>1</m:t>
                            </m:r>
                          </m:sub>
                        </m:sSub>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𝐺</m:t>
                            </m:r>
                          </m:e>
                          <m:sub>
                            <m:r>
                              <a:rPr lang="en-US" sz="2000" i="1">
                                <a:solidFill>
                                  <a:srgbClr val="000000"/>
                                </a:solidFill>
                                <a:latin typeface="Cambria Math" panose="02040503050406030204" pitchFamily="18" charset="0"/>
                                <a:ea typeface="Cambria Math" panose="02040503050406030204" pitchFamily="18" charset="0"/>
                              </a:rPr>
                              <m:t>1</m:t>
                            </m:r>
                          </m:sub>
                        </m:sSub>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𝐴</m:t>
                            </m:r>
                          </m:e>
                          <m:sub>
                            <m:r>
                              <a:rPr lang="en-US" sz="2000" i="1">
                                <a:solidFill>
                                  <a:srgbClr val="000000"/>
                                </a:solidFill>
                                <a:latin typeface="Cambria Math" panose="02040503050406030204" pitchFamily="18" charset="0"/>
                                <a:ea typeface="Cambria Math" panose="02040503050406030204" pitchFamily="18" charset="0"/>
                              </a:rPr>
                              <m:t>2</m:t>
                            </m:r>
                          </m:sub>
                        </m:sSub>
                      </m:num>
                      <m:den>
                        <m:r>
                          <a:rPr lang="en-US" sz="2000" b="0" i="1" smtClean="0">
                            <a:solidFill>
                              <a:srgbClr val="000000"/>
                            </a:solidFill>
                            <a:latin typeface="Cambria Math" panose="02040503050406030204" pitchFamily="18" charset="0"/>
                            <a:ea typeface="Cambria Math" panose="02040503050406030204" pitchFamily="18" charset="0"/>
                          </a:rPr>
                          <m:t>8</m:t>
                        </m:r>
                        <m:r>
                          <a:rPr lang="en-US" sz="2000" b="0" i="1" smtClean="0">
                            <a:solidFill>
                              <a:srgbClr val="000000"/>
                            </a:solidFill>
                            <a:latin typeface="Cambria Math" panose="02040503050406030204" pitchFamily="18" charset="0"/>
                            <a:ea typeface="Cambria Math" panose="02040503050406030204" pitchFamily="18" charset="0"/>
                          </a:rPr>
                          <m:t>𝜋</m:t>
                        </m:r>
                        <m:sSup>
                          <m:sSupPr>
                            <m:ctrlPr>
                              <a:rPr lang="en-US" sz="2000" b="0" i="1" smtClean="0">
                                <a:solidFill>
                                  <a:srgbClr val="000000"/>
                                </a:solidFill>
                                <a:latin typeface="Cambria Math" panose="02040503050406030204" pitchFamily="18" charset="0"/>
                                <a:ea typeface="Cambria Math" panose="02040503050406030204" pitchFamily="18" charset="0"/>
                              </a:rPr>
                            </m:ctrlPr>
                          </m:sSupPr>
                          <m:e>
                            <m:r>
                              <a:rPr lang="en-US" sz="2000" b="0" i="1" smtClean="0">
                                <a:solidFill>
                                  <a:srgbClr val="000000"/>
                                </a:solidFill>
                                <a:latin typeface="Cambria Math" panose="02040503050406030204" pitchFamily="18" charset="0"/>
                                <a:ea typeface="Cambria Math" panose="02040503050406030204" pitchFamily="18" charset="0"/>
                              </a:rPr>
                              <m:t>𝑟</m:t>
                            </m:r>
                          </m:e>
                          <m:sup>
                            <m:r>
                              <a:rPr lang="en-US" sz="2000" b="0" i="1" smtClean="0">
                                <a:solidFill>
                                  <a:srgbClr val="000000"/>
                                </a:solidFill>
                                <a:latin typeface="Cambria Math" panose="02040503050406030204" pitchFamily="18" charset="0"/>
                                <a:ea typeface="Cambria Math" panose="02040503050406030204" pitchFamily="18" charset="0"/>
                              </a:rPr>
                              <m:t>2</m:t>
                            </m:r>
                          </m:sup>
                        </m:sSup>
                      </m:den>
                    </m:f>
                  </m:oMath>
                </a14:m>
                <a:endParaRPr lang="en-US" sz="2000" b="1" i="1" dirty="0">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a:p>
                <a:pPr marL="342900" indent="-342900" hangingPunct="0">
                  <a:buFont typeface="Arial" panose="020B0604020202020204" pitchFamily="34" charset="0"/>
                  <a:buChar char="•"/>
                </a:pPr>
                <a14:m>
                  <m:oMath xmlns:m="http://schemas.openxmlformats.org/officeDocument/2006/math">
                    <m:f>
                      <m:fPr>
                        <m:ctrlPr>
                          <a:rPr lang="en-US" sz="2000" i="1">
                            <a:solidFill>
                              <a:srgbClr val="000000"/>
                            </a:solidFill>
                            <a:latin typeface="Cambria Math" panose="02040503050406030204" pitchFamily="18" charset="0"/>
                            <a:ea typeface="Cambria Math" panose="02040503050406030204" pitchFamily="18" charset="0"/>
                          </a:rPr>
                        </m:ctrlPr>
                      </m:fPr>
                      <m:num>
                        <m:sSup>
                          <m:sSupPr>
                            <m:ctrlPr>
                              <a:rPr lang="en-US" sz="2000" i="1">
                                <a:solidFill>
                                  <a:srgbClr val="000000"/>
                                </a:solidFill>
                                <a:latin typeface="Cambria Math" panose="02040503050406030204" pitchFamily="18" charset="0"/>
                                <a:ea typeface="Cambria Math" panose="02040503050406030204" pitchFamily="18" charset="0"/>
                              </a:rPr>
                            </m:ctrlPr>
                          </m:sSupPr>
                          <m:e>
                            <m:r>
                              <a:rPr lang="en-US" sz="2000" i="1">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𝑉</m:t>
                            </m:r>
                            <m:r>
                              <a:rPr lang="en-US" sz="2000" i="1">
                                <a:solidFill>
                                  <a:srgbClr val="000000"/>
                                </a:solidFill>
                                <a:latin typeface="Cambria Math" panose="02040503050406030204" pitchFamily="18" charset="0"/>
                                <a:ea typeface="Cambria Math" panose="02040503050406030204" pitchFamily="18" charset="0"/>
                              </a:rPr>
                              <m:t>|</m:t>
                            </m:r>
                          </m:e>
                          <m:sup>
                            <m:r>
                              <a:rPr lang="en-US" sz="2000" i="1">
                                <a:solidFill>
                                  <a:srgbClr val="000000"/>
                                </a:solidFill>
                                <a:latin typeface="Cambria Math" panose="02040503050406030204" pitchFamily="18" charset="0"/>
                                <a:ea typeface="Cambria Math" panose="02040503050406030204" pitchFamily="18" charset="0"/>
                              </a:rPr>
                              <m:t>2</m:t>
                            </m:r>
                          </m:sup>
                        </m:sSup>
                        <m:r>
                          <a:rPr lang="en-US" sz="2000" i="1">
                            <a:solidFill>
                              <a:srgbClr val="000000"/>
                            </a:solidFill>
                            <a:latin typeface="Cambria Math" panose="02040503050406030204" pitchFamily="18" charset="0"/>
                            <a:ea typeface="Cambria Math" panose="02040503050406030204" pitchFamily="18" charset="0"/>
                          </a:rPr>
                          <m:t>𝜋</m:t>
                        </m:r>
                        <m:sSup>
                          <m:sSupPr>
                            <m:ctrlPr>
                              <a:rPr lang="en-US" sz="2000" i="1">
                                <a:solidFill>
                                  <a:srgbClr val="000000"/>
                                </a:solidFill>
                                <a:latin typeface="Cambria Math" panose="02040503050406030204" pitchFamily="18" charset="0"/>
                                <a:ea typeface="Cambria Math" panose="02040503050406030204" pitchFamily="18" charset="0"/>
                              </a:rPr>
                            </m:ctrlPr>
                          </m:sSupPr>
                          <m:e>
                            <m:r>
                              <a:rPr lang="en-US" sz="2000" i="1">
                                <a:solidFill>
                                  <a:srgbClr val="000000"/>
                                </a:solidFill>
                                <a:latin typeface="Cambria Math" panose="02040503050406030204" pitchFamily="18" charset="0"/>
                                <a:ea typeface="Cambria Math" panose="02040503050406030204" pitchFamily="18" charset="0"/>
                              </a:rPr>
                              <m:t>𝑟</m:t>
                            </m:r>
                          </m:e>
                          <m:sup>
                            <m:r>
                              <a:rPr lang="en-US" sz="2000" i="1">
                                <a:solidFill>
                                  <a:srgbClr val="000000"/>
                                </a:solidFill>
                                <a:latin typeface="Cambria Math" panose="02040503050406030204" pitchFamily="18" charset="0"/>
                                <a:ea typeface="Cambria Math" panose="02040503050406030204" pitchFamily="18" charset="0"/>
                              </a:rPr>
                              <m:t>2</m:t>
                            </m:r>
                          </m:sup>
                        </m:sSup>
                      </m:num>
                      <m:den>
                        <m:sSup>
                          <m:sSupPr>
                            <m:ctrlPr>
                              <a:rPr lang="en-US" sz="2000" i="1">
                                <a:solidFill>
                                  <a:srgbClr val="000000"/>
                                </a:solidFill>
                                <a:latin typeface="Cambria Math" panose="02040503050406030204" pitchFamily="18" charset="0"/>
                                <a:ea typeface="Cambria Math" panose="02040503050406030204" pitchFamily="18" charset="0"/>
                              </a:rPr>
                            </m:ctrlPr>
                          </m:sSupPr>
                          <m:e>
                            <m:r>
                              <a:rPr lang="en-US" sz="2000" i="1">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𝐼</m:t>
                            </m:r>
                            <m:r>
                              <a:rPr lang="en-US" sz="2000" i="1">
                                <a:solidFill>
                                  <a:srgbClr val="000000"/>
                                </a:solidFill>
                                <a:latin typeface="Cambria Math" panose="02040503050406030204" pitchFamily="18" charset="0"/>
                                <a:ea typeface="Cambria Math" panose="02040503050406030204" pitchFamily="18" charset="0"/>
                              </a:rPr>
                              <m:t>|</m:t>
                            </m:r>
                          </m:e>
                          <m:sup>
                            <m:r>
                              <a:rPr lang="en-US" sz="2000" i="1">
                                <a:solidFill>
                                  <a:srgbClr val="000000"/>
                                </a:solidFill>
                                <a:latin typeface="Cambria Math" panose="02040503050406030204" pitchFamily="18" charset="0"/>
                                <a:ea typeface="Cambria Math" panose="02040503050406030204" pitchFamily="18" charset="0"/>
                              </a:rPr>
                              <m:t>2</m:t>
                            </m:r>
                          </m:sup>
                        </m:sSup>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𝑅</m:t>
                            </m:r>
                          </m:e>
                          <m:sub>
                            <m:r>
                              <a:rPr lang="en-US" sz="2000" i="1">
                                <a:solidFill>
                                  <a:srgbClr val="000000"/>
                                </a:solidFill>
                                <a:latin typeface="Cambria Math" panose="02040503050406030204" pitchFamily="18" charset="0"/>
                                <a:ea typeface="Cambria Math" panose="02040503050406030204" pitchFamily="18" charset="0"/>
                              </a:rPr>
                              <m:t>1</m:t>
                            </m:r>
                          </m:sub>
                        </m:sSub>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𝑅</m:t>
                            </m:r>
                          </m:e>
                          <m:sub>
                            <m:r>
                              <a:rPr lang="en-US" sz="2000" b="0" i="1" smtClean="0">
                                <a:solidFill>
                                  <a:srgbClr val="000000"/>
                                </a:solidFill>
                                <a:latin typeface="Cambria Math" panose="02040503050406030204" pitchFamily="18" charset="0"/>
                                <a:ea typeface="Cambria Math" panose="02040503050406030204" pitchFamily="18" charset="0"/>
                              </a:rPr>
                              <m:t>2</m:t>
                            </m:r>
                          </m:sub>
                        </m:sSub>
                      </m:den>
                    </m:f>
                    <m:r>
                      <a:rPr lang="en-US" sz="2000" b="0" i="1" smtClean="0">
                        <a:solidFill>
                          <a:srgbClr val="000000"/>
                        </a:solidFill>
                        <a:latin typeface="Cambria Math" panose="02040503050406030204" pitchFamily="18" charset="0"/>
                        <a:ea typeface="Cambria Math" panose="02040503050406030204" pitchFamily="18" charset="0"/>
                      </a:rPr>
                      <m:t>= </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𝐺</m:t>
                        </m:r>
                      </m:e>
                      <m:sub>
                        <m:r>
                          <a:rPr lang="en-US" sz="2000" b="0" i="1" smtClean="0">
                            <a:solidFill>
                              <a:srgbClr val="000000"/>
                            </a:solidFill>
                            <a:latin typeface="Cambria Math" panose="02040503050406030204" pitchFamily="18" charset="0"/>
                            <a:ea typeface="Cambria Math" panose="02040503050406030204" pitchFamily="18" charset="0"/>
                          </a:rPr>
                          <m:t>1</m:t>
                        </m:r>
                      </m:sub>
                    </m:sSub>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𝐴</m:t>
                        </m:r>
                      </m:e>
                      <m:sub>
                        <m:r>
                          <a:rPr lang="en-US" sz="2000" b="0" i="1" smtClean="0">
                            <a:solidFill>
                              <a:srgbClr val="000000"/>
                            </a:solidFill>
                            <a:latin typeface="Cambria Math" panose="02040503050406030204" pitchFamily="18" charset="0"/>
                            <a:ea typeface="Cambria Math" panose="02040503050406030204" pitchFamily="18" charset="0"/>
                          </a:rPr>
                          <m:t>2</m:t>
                        </m:r>
                      </m:sub>
                    </m:sSub>
                  </m:oMath>
                </a14:m>
                <a:r>
                  <a:rPr lang="en-US" sz="2000" dirty="0">
                    <a:solidFill>
                      <a:srgbClr val="000000"/>
                    </a:solidFill>
                    <a:ea typeface="Cambria Math" panose="02040503050406030204" pitchFamily="18" charset="0"/>
                    <a:cs typeface="Calibri" panose="020F0502020204030204" pitchFamily="34" charset="0"/>
                  </a:rPr>
                  <a:t>, so</a:t>
                </a:r>
              </a:p>
              <a:p>
                <a:pPr marL="342900" indent="-342900"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𝐺</m:t>
                        </m:r>
                      </m:e>
                      <m:sub>
                        <m:r>
                          <a:rPr lang="en-US" sz="2000" i="1">
                            <a:solidFill>
                              <a:srgbClr val="000000"/>
                            </a:solidFill>
                            <a:latin typeface="Cambria Math" panose="02040503050406030204" pitchFamily="18" charset="0"/>
                            <a:ea typeface="Cambria Math" panose="02040503050406030204" pitchFamily="18" charset="0"/>
                          </a:rPr>
                          <m:t>1</m:t>
                        </m:r>
                      </m:sub>
                    </m:sSub>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𝐴</m:t>
                        </m:r>
                      </m:e>
                      <m:sub>
                        <m:r>
                          <a:rPr lang="en-US" sz="2000" i="1">
                            <a:solidFill>
                              <a:srgbClr val="000000"/>
                            </a:solidFill>
                            <a:latin typeface="Cambria Math" panose="02040503050406030204" pitchFamily="18" charset="0"/>
                            <a:ea typeface="Cambria Math" panose="02040503050406030204" pitchFamily="18" charset="0"/>
                          </a:rPr>
                          <m:t>2</m:t>
                        </m:r>
                      </m:sub>
                    </m:sSub>
                    <m:r>
                      <a:rPr lang="en-US" sz="2000" b="0" i="1" smtClean="0">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𝐺</m:t>
                        </m:r>
                      </m:e>
                      <m:sub>
                        <m:r>
                          <a:rPr lang="en-US" sz="2000" b="0" i="1" smtClean="0">
                            <a:solidFill>
                              <a:srgbClr val="000000"/>
                            </a:solidFill>
                            <a:latin typeface="Cambria Math" panose="02040503050406030204" pitchFamily="18" charset="0"/>
                            <a:ea typeface="Cambria Math" panose="02040503050406030204" pitchFamily="18" charset="0"/>
                          </a:rPr>
                          <m:t>2</m:t>
                        </m:r>
                      </m:sub>
                    </m:sSub>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𝐴</m:t>
                        </m:r>
                      </m:e>
                      <m:sub>
                        <m:r>
                          <a:rPr lang="en-US" sz="2000" b="0" i="1" smtClean="0">
                            <a:solidFill>
                              <a:srgbClr val="000000"/>
                            </a:solidFill>
                            <a:latin typeface="Cambria Math" panose="02040503050406030204" pitchFamily="18" charset="0"/>
                            <a:ea typeface="Cambria Math" panose="02040503050406030204" pitchFamily="18" charset="0"/>
                          </a:rPr>
                          <m:t>1</m:t>
                        </m:r>
                      </m:sub>
                    </m:sSub>
                  </m:oMath>
                </a14:m>
                <a:r>
                  <a:rPr lang="en-US" sz="2000" dirty="0">
                    <a:solidFill>
                      <a:srgbClr val="000000"/>
                    </a:solidFill>
                    <a:ea typeface="Cambria Math" panose="02040503050406030204" pitchFamily="18" charset="0"/>
                    <a:cs typeface="Calibri" panose="020F0502020204030204" pitchFamily="34" charset="0"/>
                  </a:rPr>
                  <a:t> or </a:t>
                </a:r>
                <a14:m>
                  <m:oMath xmlns:m="http://schemas.openxmlformats.org/officeDocument/2006/math">
                    <m:f>
                      <m:fPr>
                        <m:ctrlPr>
                          <a:rPr lang="en-US" sz="2000" i="1">
                            <a:solidFill>
                              <a:srgbClr val="000000"/>
                            </a:solidFill>
                            <a:latin typeface="Cambria Math" panose="02040503050406030204" pitchFamily="18" charset="0"/>
                            <a:ea typeface="Cambria Math" panose="02040503050406030204" pitchFamily="18" charset="0"/>
                          </a:rPr>
                        </m:ctrlPr>
                      </m:fPr>
                      <m:num>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𝐺</m:t>
                            </m:r>
                          </m:e>
                          <m:sub>
                            <m:r>
                              <a:rPr lang="en-US" sz="2000" i="1">
                                <a:solidFill>
                                  <a:srgbClr val="000000"/>
                                </a:solidFill>
                                <a:latin typeface="Cambria Math" panose="02040503050406030204" pitchFamily="18" charset="0"/>
                                <a:ea typeface="Cambria Math" panose="02040503050406030204" pitchFamily="18" charset="0"/>
                              </a:rPr>
                              <m:t>1</m:t>
                            </m:r>
                          </m:sub>
                        </m:sSub>
                      </m:num>
                      <m:den>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𝐴</m:t>
                            </m:r>
                          </m:e>
                          <m:sub>
                            <m:r>
                              <a:rPr lang="en-US" sz="2000" i="1">
                                <a:solidFill>
                                  <a:srgbClr val="000000"/>
                                </a:solidFill>
                                <a:latin typeface="Cambria Math" panose="02040503050406030204" pitchFamily="18" charset="0"/>
                                <a:ea typeface="Cambria Math" panose="02040503050406030204" pitchFamily="18" charset="0"/>
                              </a:rPr>
                              <m:t>1</m:t>
                            </m:r>
                          </m:sub>
                        </m:sSub>
                      </m:den>
                    </m:f>
                    <m:r>
                      <a:rPr lang="en-US" sz="2000" i="1">
                        <a:solidFill>
                          <a:srgbClr val="000000"/>
                        </a:solidFill>
                        <a:latin typeface="Cambria Math" panose="02040503050406030204" pitchFamily="18" charset="0"/>
                        <a:ea typeface="Cambria Math" panose="02040503050406030204" pitchFamily="18" charset="0"/>
                      </a:rPr>
                      <m:t>=</m:t>
                    </m:r>
                    <m:f>
                      <m:fPr>
                        <m:ctrlPr>
                          <a:rPr lang="en-US" sz="2000" i="1">
                            <a:solidFill>
                              <a:srgbClr val="000000"/>
                            </a:solidFill>
                            <a:latin typeface="Cambria Math" panose="02040503050406030204" pitchFamily="18" charset="0"/>
                            <a:ea typeface="Cambria Math" panose="02040503050406030204" pitchFamily="18" charset="0"/>
                          </a:rPr>
                        </m:ctrlPr>
                      </m:fPr>
                      <m:num>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𝐺</m:t>
                            </m:r>
                          </m:e>
                          <m:sub>
                            <m:r>
                              <a:rPr lang="en-US" sz="2000" i="1">
                                <a:solidFill>
                                  <a:srgbClr val="000000"/>
                                </a:solidFill>
                                <a:latin typeface="Cambria Math" panose="02040503050406030204" pitchFamily="18" charset="0"/>
                                <a:ea typeface="Cambria Math" panose="02040503050406030204" pitchFamily="18" charset="0"/>
                              </a:rPr>
                              <m:t>2</m:t>
                            </m:r>
                          </m:sub>
                        </m:sSub>
                      </m:num>
                      <m:den>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𝐴</m:t>
                            </m:r>
                          </m:e>
                          <m:sub>
                            <m:r>
                              <a:rPr lang="en-US" sz="2000" i="1">
                                <a:solidFill>
                                  <a:srgbClr val="000000"/>
                                </a:solidFill>
                                <a:latin typeface="Cambria Math" panose="02040503050406030204" pitchFamily="18" charset="0"/>
                                <a:ea typeface="Cambria Math" panose="02040503050406030204" pitchFamily="18" charset="0"/>
                              </a:rPr>
                              <m:t>2</m:t>
                            </m:r>
                          </m:sub>
                        </m:sSub>
                      </m:den>
                    </m:f>
                    <m:r>
                      <a:rPr lang="en-US" sz="2000" b="0" i="0" smtClean="0">
                        <a:solidFill>
                          <a:srgbClr val="000000"/>
                        </a:solidFill>
                        <a:latin typeface="Cambria Math" panose="02040503050406030204" pitchFamily="18" charset="0"/>
                        <a:ea typeface="Cambria Math" panose="02040503050406030204" pitchFamily="18" charset="0"/>
                      </a:rPr>
                      <m:t>=</m:t>
                    </m:r>
                    <m:f>
                      <m:fPr>
                        <m:ctrlPr>
                          <a:rPr lang="en-US" sz="2000" b="0" i="1" smtClean="0">
                            <a:solidFill>
                              <a:srgbClr val="000000"/>
                            </a:solidFill>
                            <a:latin typeface="Cambria Math" panose="02040503050406030204" pitchFamily="18" charset="0"/>
                            <a:ea typeface="Cambria Math" panose="02040503050406030204" pitchFamily="18" charset="0"/>
                          </a:rPr>
                        </m:ctrlPr>
                      </m:fPr>
                      <m:num>
                        <m:r>
                          <a:rPr lang="en-US" sz="2000" b="0" i="1" smtClean="0">
                            <a:solidFill>
                              <a:srgbClr val="000000"/>
                            </a:solidFill>
                            <a:latin typeface="Cambria Math" panose="02040503050406030204" pitchFamily="18" charset="0"/>
                            <a:ea typeface="Cambria Math" panose="02040503050406030204" pitchFamily="18" charset="0"/>
                          </a:rPr>
                          <m:t>𝐺</m:t>
                        </m:r>
                      </m:num>
                      <m:den>
                        <m:r>
                          <a:rPr lang="en-US" sz="2000" b="0" i="1" smtClean="0">
                            <a:solidFill>
                              <a:srgbClr val="000000"/>
                            </a:solidFill>
                            <a:latin typeface="Cambria Math" panose="02040503050406030204" pitchFamily="18" charset="0"/>
                            <a:ea typeface="Cambria Math" panose="02040503050406030204" pitchFamily="18" charset="0"/>
                          </a:rPr>
                          <m:t>𝐴</m:t>
                        </m:r>
                      </m:den>
                    </m:f>
                  </m:oMath>
                </a14:m>
                <a:endParaRPr lang="en-US" sz="2000" dirty="0">
                  <a:solidFill>
                    <a:srgbClr val="000000"/>
                  </a:solidFill>
                  <a:latin typeface="Cambria Math" panose="02040503050406030204" pitchFamily="18" charset="0"/>
                  <a:ea typeface="Cambria Math" panose="02040503050406030204" pitchFamily="18" charset="0"/>
                </a:endParaRPr>
              </a:p>
              <a:p>
                <a:pPr marL="285750" indent="-285750" latinLnBrk="1" hangingPunct="0">
                  <a:buFont typeface="Arial" panose="020B0604020202020204" pitchFamily="34" charset="0"/>
                  <a:buChar char="•"/>
                </a:pPr>
                <a14:m>
                  <m:oMath xmlns:m="http://schemas.openxmlformats.org/officeDocument/2006/math">
                    <m:nary>
                      <m:naryPr>
                        <m:limLoc m:val="undOvr"/>
                        <m:subHide m:val="on"/>
                        <m:supHide m:val="on"/>
                        <m:ctrlPr>
                          <a:rPr lang="en-US" sz="2000" i="1" smtClean="0">
                            <a:solidFill>
                              <a:srgbClr val="000000"/>
                            </a:solidFill>
                            <a:latin typeface="Cambria Math" panose="02040503050406030204" pitchFamily="18" charset="0"/>
                            <a:ea typeface="Cambria Math" panose="02040503050406030204" pitchFamily="18" charset="0"/>
                          </a:rPr>
                        </m:ctrlPr>
                      </m:naryPr>
                      <m:sub/>
                      <m:sup/>
                      <m:e>
                        <m:r>
                          <a:rPr lang="en-US" sz="2000" b="0" i="1" smtClean="0">
                            <a:solidFill>
                              <a:srgbClr val="000000"/>
                            </a:solidFill>
                            <a:latin typeface="Cambria Math" panose="02040503050406030204" pitchFamily="18" charset="0"/>
                            <a:ea typeface="Cambria Math" panose="02040503050406030204" pitchFamily="18" charset="0"/>
                          </a:rPr>
                          <m:t>𝐺</m:t>
                        </m:r>
                        <m:r>
                          <a:rPr lang="en-US" sz="2000" i="1" dirty="0">
                            <a:solidFill>
                              <a:srgbClr val="000000"/>
                            </a:solidFill>
                            <a:latin typeface="Cambria Math" panose="02040503050406030204" pitchFamily="18" charset="0"/>
                            <a:ea typeface="Cambria Math" panose="02040503050406030204" pitchFamily="18" charset="0"/>
                          </a:rPr>
                          <m:t>(</m:t>
                        </m:r>
                        <m:r>
                          <a:rPr lang="en-US" sz="2000" i="1" dirty="0">
                            <a:solidFill>
                              <a:srgbClr val="000000"/>
                            </a:solidFill>
                            <a:latin typeface="Cambria Math" panose="02040503050406030204" pitchFamily="18" charset="0"/>
                            <a:ea typeface="Cambria Math" panose="02040503050406030204" pitchFamily="18" charset="0"/>
                          </a:rPr>
                          <m:t>𝜃</m:t>
                        </m:r>
                        <m:r>
                          <a:rPr lang="en-US" sz="2000" i="1" dirty="0">
                            <a:solidFill>
                              <a:srgbClr val="000000"/>
                            </a:solidFill>
                            <a:latin typeface="Cambria Math" panose="02040503050406030204" pitchFamily="18" charset="0"/>
                            <a:ea typeface="Cambria Math" panose="02040503050406030204" pitchFamily="18" charset="0"/>
                          </a:rPr>
                          <m:t>,</m:t>
                        </m:r>
                        <m:r>
                          <a:rPr lang="en-US" sz="2000" i="1" dirty="0">
                            <a:solidFill>
                              <a:srgbClr val="000000"/>
                            </a:solidFill>
                            <a:latin typeface="Cambria Math" panose="02040503050406030204" pitchFamily="18" charset="0"/>
                            <a:ea typeface="Cambria Math" panose="02040503050406030204" pitchFamily="18" charset="0"/>
                          </a:rPr>
                          <m:t>𝜙</m:t>
                        </m:r>
                        <m:r>
                          <a:rPr lang="en-US" sz="2000" i="1" dirty="0">
                            <a:solidFill>
                              <a:srgbClr val="000000"/>
                            </a:solidFill>
                            <a:latin typeface="Cambria Math" panose="02040503050406030204" pitchFamily="18" charset="0"/>
                            <a:ea typeface="Cambria Math" panose="02040503050406030204" pitchFamily="18" charset="0"/>
                          </a:rPr>
                          <m:t>)</m:t>
                        </m:r>
                        <m:r>
                          <a:rPr lang="en-US" sz="2000" b="0" i="1" smtClean="0">
                            <a:solidFill>
                              <a:srgbClr val="000000"/>
                            </a:solidFill>
                            <a:latin typeface="Cambria Math" panose="02040503050406030204" pitchFamily="18" charset="0"/>
                            <a:ea typeface="Cambria Math" panose="02040503050406030204" pitchFamily="18" charset="0"/>
                          </a:rPr>
                          <m:t>𝑑</m:t>
                        </m:r>
                        <m:r>
                          <m:rPr>
                            <m:sty m:val="p"/>
                          </m:rPr>
                          <a:rPr lang="el-GR" sz="2000" b="0" i="1" smtClean="0">
                            <a:solidFill>
                              <a:srgbClr val="000000"/>
                            </a:solidFill>
                            <a:latin typeface="Cambria Math" panose="02040503050406030204" pitchFamily="18" charset="0"/>
                            <a:ea typeface="Cambria Math" panose="02040503050406030204" pitchFamily="18" charset="0"/>
                          </a:rPr>
                          <m:t>Ω</m:t>
                        </m:r>
                      </m:e>
                    </m:nary>
                    <m:r>
                      <a:rPr lang="en-US" sz="2000" b="0" i="1" smtClean="0">
                        <a:solidFill>
                          <a:srgbClr val="000000"/>
                        </a:solidFill>
                        <a:latin typeface="Cambria Math" panose="02040503050406030204" pitchFamily="18" charset="0"/>
                        <a:ea typeface="Cambria Math" panose="02040503050406030204" pitchFamily="18" charset="0"/>
                      </a:rPr>
                      <m:t>=4</m:t>
                    </m:r>
                    <m:r>
                      <a:rPr lang="en-US" sz="2000" b="0" i="1" smtClean="0">
                        <a:solidFill>
                          <a:srgbClr val="000000"/>
                        </a:solidFill>
                        <a:latin typeface="Cambria Math" panose="02040503050406030204" pitchFamily="18" charset="0"/>
                        <a:ea typeface="Cambria Math" panose="02040503050406030204" pitchFamily="18" charset="0"/>
                      </a:rPr>
                      <m:t>𝜋</m:t>
                    </m:r>
                  </m:oMath>
                </a14:m>
                <a:r>
                  <a:rPr lang="en-US" sz="2000" dirty="0">
                    <a:solidFill>
                      <a:srgbClr val="000000"/>
                    </a:solidFill>
                    <a:latin typeface="Cambria Math" panose="02040503050406030204" pitchFamily="18" charset="0"/>
                    <a:ea typeface="Cambria Math" panose="02040503050406030204" pitchFamily="18" charset="0"/>
                  </a:rPr>
                  <a:t> </a:t>
                </a:r>
                <a:r>
                  <a:rPr lang="en-US" sz="2000" dirty="0">
                    <a:solidFill>
                      <a:srgbClr val="000000"/>
                    </a:solidFill>
                    <a:ea typeface="Cambria Math" panose="02040503050406030204" pitchFamily="18" charset="0"/>
                  </a:rPr>
                  <a:t>and by the antenna theorem, </a:t>
                </a:r>
                <a14:m>
                  <m:oMath xmlns:m="http://schemas.openxmlformats.org/officeDocument/2006/math">
                    <m:nary>
                      <m:naryPr>
                        <m:limLoc m:val="undOvr"/>
                        <m:subHide m:val="on"/>
                        <m:supHide m:val="on"/>
                        <m:ctrlPr>
                          <a:rPr lang="en-US" sz="2000" i="1">
                            <a:solidFill>
                              <a:srgbClr val="000000"/>
                            </a:solidFill>
                            <a:latin typeface="Cambria Math" panose="02040503050406030204" pitchFamily="18" charset="0"/>
                            <a:ea typeface="Cambria Math" panose="02040503050406030204" pitchFamily="18" charset="0"/>
                          </a:rPr>
                        </m:ctrlPr>
                      </m:naryPr>
                      <m:sub/>
                      <m:sup/>
                      <m:e>
                        <m:r>
                          <a:rPr lang="en-US" sz="2000" b="0" i="1" smtClean="0">
                            <a:solidFill>
                              <a:srgbClr val="000000"/>
                            </a:solidFill>
                            <a:latin typeface="Cambria Math" panose="02040503050406030204" pitchFamily="18" charset="0"/>
                            <a:ea typeface="Cambria Math" panose="02040503050406030204" pitchFamily="18" charset="0"/>
                          </a:rPr>
                          <m:t>𝐴</m:t>
                        </m:r>
                        <m:r>
                          <a:rPr lang="en-US" sz="2000" i="1" dirty="0">
                            <a:solidFill>
                              <a:srgbClr val="000000"/>
                            </a:solidFill>
                            <a:latin typeface="Cambria Math" panose="02040503050406030204" pitchFamily="18" charset="0"/>
                            <a:ea typeface="Cambria Math" panose="02040503050406030204" pitchFamily="18" charset="0"/>
                          </a:rPr>
                          <m:t>(</m:t>
                        </m:r>
                        <m:r>
                          <a:rPr lang="en-US" sz="2000" i="1" dirty="0">
                            <a:solidFill>
                              <a:srgbClr val="000000"/>
                            </a:solidFill>
                            <a:latin typeface="Cambria Math" panose="02040503050406030204" pitchFamily="18" charset="0"/>
                            <a:ea typeface="Cambria Math" panose="02040503050406030204" pitchFamily="18" charset="0"/>
                          </a:rPr>
                          <m:t>𝜃</m:t>
                        </m:r>
                        <m:r>
                          <a:rPr lang="en-US" sz="2000" i="1" dirty="0">
                            <a:solidFill>
                              <a:srgbClr val="000000"/>
                            </a:solidFill>
                            <a:latin typeface="Cambria Math" panose="02040503050406030204" pitchFamily="18" charset="0"/>
                            <a:ea typeface="Cambria Math" panose="02040503050406030204" pitchFamily="18" charset="0"/>
                          </a:rPr>
                          <m:t>,</m:t>
                        </m:r>
                        <m:r>
                          <a:rPr lang="en-US" sz="2000" i="1" dirty="0">
                            <a:solidFill>
                              <a:srgbClr val="000000"/>
                            </a:solidFill>
                            <a:latin typeface="Cambria Math" panose="02040503050406030204" pitchFamily="18" charset="0"/>
                            <a:ea typeface="Cambria Math" panose="02040503050406030204" pitchFamily="18" charset="0"/>
                          </a:rPr>
                          <m:t>𝜙</m:t>
                        </m:r>
                        <m:r>
                          <a:rPr lang="en-US" sz="2000" i="1" dirty="0">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𝑑</m:t>
                        </m:r>
                        <m:r>
                          <m:rPr>
                            <m:sty m:val="p"/>
                          </m:rPr>
                          <a:rPr lang="el-GR" sz="2000" i="1">
                            <a:solidFill>
                              <a:srgbClr val="000000"/>
                            </a:solidFill>
                            <a:latin typeface="Cambria Math" panose="02040503050406030204" pitchFamily="18" charset="0"/>
                            <a:ea typeface="Cambria Math" panose="02040503050406030204" pitchFamily="18" charset="0"/>
                          </a:rPr>
                          <m:t>Ω</m:t>
                        </m:r>
                      </m:e>
                    </m:nary>
                    <m:r>
                      <a:rPr lang="en-US" sz="2000" i="1">
                        <a:solidFill>
                          <a:srgbClr val="000000"/>
                        </a:solidFill>
                        <a:latin typeface="Cambria Math" panose="02040503050406030204" pitchFamily="18" charset="0"/>
                        <a:ea typeface="Cambria Math" panose="02040503050406030204" pitchFamily="18" charset="0"/>
                      </a:rPr>
                      <m:t>=</m:t>
                    </m:r>
                    <m:sSup>
                      <m:sSupPr>
                        <m:ctrlPr>
                          <a:rPr lang="en-US" sz="2000" i="1" smtClean="0">
                            <a:solidFill>
                              <a:srgbClr val="000000"/>
                            </a:solidFill>
                            <a:latin typeface="Cambria Math" panose="02040503050406030204" pitchFamily="18" charset="0"/>
                            <a:ea typeface="Cambria Math" panose="02040503050406030204" pitchFamily="18" charset="0"/>
                          </a:rPr>
                        </m:ctrlPr>
                      </m:sSupPr>
                      <m:e>
                        <m:r>
                          <a:rPr lang="en-US" sz="2000" i="1" smtClean="0">
                            <a:solidFill>
                              <a:srgbClr val="000000"/>
                            </a:solidFill>
                            <a:latin typeface="Cambria Math" panose="02040503050406030204" pitchFamily="18" charset="0"/>
                            <a:ea typeface="Cambria Math" panose="02040503050406030204" pitchFamily="18" charset="0"/>
                          </a:rPr>
                          <m:t>𝜆</m:t>
                        </m:r>
                      </m:e>
                      <m:sup>
                        <m:r>
                          <a:rPr lang="en-US" sz="2000" b="0" i="1" smtClean="0">
                            <a:solidFill>
                              <a:srgbClr val="000000"/>
                            </a:solidFill>
                            <a:latin typeface="Cambria Math" panose="02040503050406030204" pitchFamily="18" charset="0"/>
                            <a:ea typeface="Cambria Math" panose="02040503050406030204" pitchFamily="18" charset="0"/>
                          </a:rPr>
                          <m:t>2</m:t>
                        </m:r>
                      </m:sup>
                    </m:sSup>
                  </m:oMath>
                </a14:m>
                <a:r>
                  <a:rPr lang="en-US" sz="2000" dirty="0">
                    <a:solidFill>
                      <a:srgbClr val="000000"/>
                    </a:solidFill>
                    <a:latin typeface="Cambria Math" panose="02040503050406030204" pitchFamily="18" charset="0"/>
                    <a:ea typeface="Cambria Math" panose="02040503050406030204" pitchFamily="18" charset="0"/>
                  </a:rPr>
                  <a:t> , and </a:t>
                </a:r>
                <a14:m>
                  <m:oMath xmlns:m="http://schemas.openxmlformats.org/officeDocument/2006/math">
                    <m:f>
                      <m:fPr>
                        <m:ctrlPr>
                          <a:rPr lang="en-US" sz="2000" i="1">
                            <a:solidFill>
                              <a:srgbClr val="000000"/>
                            </a:solidFill>
                            <a:latin typeface="Cambria Math" panose="02040503050406030204" pitchFamily="18" charset="0"/>
                            <a:ea typeface="Cambria Math" panose="02040503050406030204" pitchFamily="18" charset="0"/>
                          </a:rPr>
                        </m:ctrlPr>
                      </m:fPr>
                      <m:num>
                        <m:r>
                          <a:rPr lang="en-US" sz="2000" i="1">
                            <a:solidFill>
                              <a:srgbClr val="000000"/>
                            </a:solidFill>
                            <a:latin typeface="Cambria Math" panose="02040503050406030204" pitchFamily="18" charset="0"/>
                            <a:ea typeface="Cambria Math" panose="02040503050406030204" pitchFamily="18" charset="0"/>
                          </a:rPr>
                          <m:t>𝐺</m:t>
                        </m:r>
                      </m:num>
                      <m:den>
                        <m:r>
                          <a:rPr lang="en-US" sz="2000" i="1">
                            <a:solidFill>
                              <a:srgbClr val="000000"/>
                            </a:solidFill>
                            <a:latin typeface="Cambria Math" panose="02040503050406030204" pitchFamily="18" charset="0"/>
                            <a:ea typeface="Cambria Math" panose="02040503050406030204" pitchFamily="18" charset="0"/>
                          </a:rPr>
                          <m:t>𝐴</m:t>
                        </m:r>
                      </m:den>
                    </m:f>
                    <m:r>
                      <a:rPr lang="en-US" sz="2000" i="1">
                        <a:solidFill>
                          <a:srgbClr val="000000"/>
                        </a:solidFill>
                        <a:latin typeface="Cambria Math" panose="02040503050406030204" pitchFamily="18" charset="0"/>
                        <a:ea typeface="Cambria Math" panose="02040503050406030204" pitchFamily="18" charset="0"/>
                      </a:rPr>
                      <m:t>=</m:t>
                    </m:r>
                    <m:f>
                      <m:fPr>
                        <m:ctrlPr>
                          <a:rPr lang="en-US" sz="2000" i="1">
                            <a:solidFill>
                              <a:srgbClr val="000000"/>
                            </a:solidFill>
                            <a:latin typeface="Cambria Math" panose="02040503050406030204" pitchFamily="18" charset="0"/>
                            <a:ea typeface="Cambria Math" panose="02040503050406030204" pitchFamily="18" charset="0"/>
                          </a:rPr>
                        </m:ctrlPr>
                      </m:fPr>
                      <m:num>
                        <m:r>
                          <a:rPr lang="en-US" sz="2000" i="1">
                            <a:solidFill>
                              <a:srgbClr val="000000"/>
                            </a:solidFill>
                            <a:latin typeface="Cambria Math" panose="02040503050406030204" pitchFamily="18" charset="0"/>
                            <a:ea typeface="Cambria Math" panose="02040503050406030204" pitchFamily="18" charset="0"/>
                          </a:rPr>
                          <m:t>4</m:t>
                        </m:r>
                        <m:r>
                          <a:rPr lang="en-US" sz="2000" i="1">
                            <a:solidFill>
                              <a:srgbClr val="000000"/>
                            </a:solidFill>
                            <a:latin typeface="Cambria Math" panose="02040503050406030204" pitchFamily="18" charset="0"/>
                            <a:ea typeface="Cambria Math" panose="02040503050406030204" pitchFamily="18" charset="0"/>
                          </a:rPr>
                          <m:t>𝜋</m:t>
                        </m:r>
                      </m:num>
                      <m:den>
                        <m:sSup>
                          <m:sSupPr>
                            <m:ctrlPr>
                              <a:rPr lang="en-US" sz="2000" i="1">
                                <a:solidFill>
                                  <a:srgbClr val="000000"/>
                                </a:solidFill>
                                <a:latin typeface="Cambria Math" panose="02040503050406030204" pitchFamily="18" charset="0"/>
                                <a:ea typeface="Cambria Math" panose="02040503050406030204" pitchFamily="18" charset="0"/>
                              </a:rPr>
                            </m:ctrlPr>
                          </m:sSupPr>
                          <m:e>
                            <m:r>
                              <a:rPr lang="en-US" sz="2000" i="1">
                                <a:solidFill>
                                  <a:srgbClr val="000000"/>
                                </a:solidFill>
                                <a:latin typeface="Cambria Math" panose="02040503050406030204" pitchFamily="18" charset="0"/>
                                <a:ea typeface="Cambria Math" panose="02040503050406030204" pitchFamily="18" charset="0"/>
                              </a:rPr>
                              <m:t>𝜆</m:t>
                            </m:r>
                          </m:e>
                          <m:sup>
                            <m:r>
                              <a:rPr lang="en-US" sz="2000" i="1">
                                <a:solidFill>
                                  <a:srgbClr val="000000"/>
                                </a:solidFill>
                                <a:latin typeface="Cambria Math" panose="02040503050406030204" pitchFamily="18" charset="0"/>
                                <a:ea typeface="Cambria Math" panose="02040503050406030204" pitchFamily="18" charset="0"/>
                              </a:rPr>
                              <m:t>2</m:t>
                            </m:r>
                          </m:sup>
                        </m:sSup>
                      </m:den>
                    </m:f>
                  </m:oMath>
                </a14:m>
                <a:endParaRPr lang="en-US" sz="2000" dirty="0">
                  <a:solidFill>
                    <a:srgbClr val="000000"/>
                  </a:solidFill>
                  <a:latin typeface="Cambria Math" panose="02040503050406030204" pitchFamily="18" charset="0"/>
                  <a:ea typeface="Cambria Math" panose="02040503050406030204" pitchFamily="18" charset="0"/>
                </a:endParaRPr>
              </a:p>
              <a:p>
                <a:pPr algn="l" rtl="0" latinLnBrk="1" hangingPunct="0"/>
                <a:endParaRPr lang="en-US" dirty="0">
                  <a:solidFill>
                    <a:srgbClr val="000000"/>
                  </a:solidFill>
                </a:endParaRP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605643" y="1363822"/>
                <a:ext cx="11015802" cy="4947019"/>
              </a:xfrm>
              <a:prstGeom prst="rect">
                <a:avLst/>
              </a:prstGeom>
              <a:blipFill>
                <a:blip r:embed="rId3"/>
                <a:stretch>
                  <a:fillRect l="-2074" t="-769"/>
                </a:stretch>
              </a:blipFill>
              <a:ln w="12700" cap="flat">
                <a:noFill/>
                <a:miter lim="400000"/>
              </a:ln>
              <a:effectLst/>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F3EED66A-56F2-494C-BB12-2E8BBB011DE2}"/>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14</a:t>
            </a:fld>
            <a:endParaRPr lang="en-US" dirty="0">
              <a:solidFill>
                <a:schemeClr val="tx1"/>
              </a:solidFill>
            </a:endParaRPr>
          </a:p>
        </p:txBody>
      </p:sp>
      <p:grpSp>
        <p:nvGrpSpPr>
          <p:cNvPr id="7" name="Group 6">
            <a:extLst>
              <a:ext uri="{FF2B5EF4-FFF2-40B4-BE49-F238E27FC236}">
                <a16:creationId xmlns:a16="http://schemas.microsoft.com/office/drawing/2014/main" id="{0AE9E033-B682-DD42-A043-E6D3043566BD}"/>
              </a:ext>
            </a:extLst>
          </p:cNvPr>
          <p:cNvGrpSpPr/>
          <p:nvPr/>
        </p:nvGrpSpPr>
        <p:grpSpPr>
          <a:xfrm>
            <a:off x="6113544" y="2713789"/>
            <a:ext cx="5381501" cy="1691842"/>
            <a:chOff x="6239944" y="4531819"/>
            <a:chExt cx="5381501" cy="1691842"/>
          </a:xfrm>
        </p:grpSpPr>
        <p:sp>
          <p:nvSpPr>
            <p:cNvPr id="2" name="TextBox 1">
              <a:extLst>
                <a:ext uri="{FF2B5EF4-FFF2-40B4-BE49-F238E27FC236}">
                  <a16:creationId xmlns:a16="http://schemas.microsoft.com/office/drawing/2014/main" id="{844AA9EC-F500-A840-BCF7-8A00E5F2240C}"/>
                </a:ext>
              </a:extLst>
            </p:cNvPr>
            <p:cNvSpPr txBox="1"/>
            <p:nvPr/>
          </p:nvSpPr>
          <p:spPr>
            <a:xfrm>
              <a:off x="6239944" y="4531819"/>
              <a:ext cx="5381501" cy="1691842"/>
            </a:xfrm>
            <a:prstGeom prst="rect">
              <a:avLst/>
            </a:prstGeom>
            <a:noFill/>
            <a:ln w="25400" cap="flat">
              <a:solidFill>
                <a:schemeClr val="accent1"/>
              </a:solid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endParaRPr lang="en-US" dirty="0">
                <a:solidFill>
                  <a:srgbClr val="000000"/>
                </a:solidFill>
                <a:latin typeface="Calibri"/>
                <a:ea typeface="Calibri"/>
                <a:cs typeface="Calibri"/>
                <a:sym typeface="Calibri"/>
              </a:endParaRPr>
            </a:p>
          </p:txBody>
        </p:sp>
        <p:cxnSp>
          <p:nvCxnSpPr>
            <p:cNvPr id="6" name="Straight Connector 5">
              <a:extLst>
                <a:ext uri="{FF2B5EF4-FFF2-40B4-BE49-F238E27FC236}">
                  <a16:creationId xmlns:a16="http://schemas.microsoft.com/office/drawing/2014/main" id="{50B8A2C1-EABA-D44C-81E0-A46AD8D278D8}"/>
                </a:ext>
              </a:extLst>
            </p:cNvPr>
            <p:cNvCxnSpPr/>
            <p:nvPr/>
          </p:nvCxnSpPr>
          <p:spPr>
            <a:xfrm>
              <a:off x="7385106" y="5077137"/>
              <a:ext cx="109728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1" name="Straight Connector 10">
              <a:extLst>
                <a:ext uri="{FF2B5EF4-FFF2-40B4-BE49-F238E27FC236}">
                  <a16:creationId xmlns:a16="http://schemas.microsoft.com/office/drawing/2014/main" id="{B2E1A1E4-D408-5E4D-A610-91DBC4ADB35E}"/>
                </a:ext>
              </a:extLst>
            </p:cNvPr>
            <p:cNvCxnSpPr/>
            <p:nvPr/>
          </p:nvCxnSpPr>
          <p:spPr>
            <a:xfrm>
              <a:off x="7379328" y="5351712"/>
              <a:ext cx="109728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2" name="Straight Connector 11">
              <a:extLst>
                <a:ext uri="{FF2B5EF4-FFF2-40B4-BE49-F238E27FC236}">
                  <a16:creationId xmlns:a16="http://schemas.microsoft.com/office/drawing/2014/main" id="{58DC63D0-D5A0-EE45-9FD2-B8EBD5D665D1}"/>
                </a:ext>
              </a:extLst>
            </p:cNvPr>
            <p:cNvCxnSpPr>
              <a:cxnSpLocks noChangeAspect="1"/>
            </p:cNvCxnSpPr>
            <p:nvPr/>
          </p:nvCxnSpPr>
          <p:spPr>
            <a:xfrm flipV="1">
              <a:off x="8483529" y="4711377"/>
              <a:ext cx="447166" cy="36576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4" name="Straight Connector 13">
              <a:extLst>
                <a:ext uri="{FF2B5EF4-FFF2-40B4-BE49-F238E27FC236}">
                  <a16:creationId xmlns:a16="http://schemas.microsoft.com/office/drawing/2014/main" id="{FE51FDF8-BFD3-4448-ACEE-BCFC8378992C}"/>
                </a:ext>
              </a:extLst>
            </p:cNvPr>
            <p:cNvCxnSpPr>
              <a:cxnSpLocks noChangeAspect="1"/>
            </p:cNvCxnSpPr>
            <p:nvPr/>
          </p:nvCxnSpPr>
          <p:spPr>
            <a:xfrm>
              <a:off x="8281096" y="5290749"/>
              <a:ext cx="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6" name="Straight Connector 15">
              <a:extLst>
                <a:ext uri="{FF2B5EF4-FFF2-40B4-BE49-F238E27FC236}">
                  <a16:creationId xmlns:a16="http://schemas.microsoft.com/office/drawing/2014/main" id="{90F87B74-BE8E-0A47-AE7C-51592359CA54}"/>
                </a:ext>
              </a:extLst>
            </p:cNvPr>
            <p:cNvCxnSpPr>
              <a:cxnSpLocks/>
            </p:cNvCxnSpPr>
            <p:nvPr/>
          </p:nvCxnSpPr>
          <p:spPr>
            <a:xfrm>
              <a:off x="8477706" y="5342921"/>
              <a:ext cx="469002" cy="375139"/>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22" name="TextBox 21">
              <a:extLst>
                <a:ext uri="{FF2B5EF4-FFF2-40B4-BE49-F238E27FC236}">
                  <a16:creationId xmlns:a16="http://schemas.microsoft.com/office/drawing/2014/main" id="{A558DFB8-9F77-7B4C-ACEA-68BBBF5E997F}"/>
                </a:ext>
              </a:extLst>
            </p:cNvPr>
            <p:cNvSpPr txBox="1"/>
            <p:nvPr/>
          </p:nvSpPr>
          <p:spPr>
            <a:xfrm>
              <a:off x="7418132" y="5418762"/>
              <a:ext cx="1063105"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dirty="0">
                  <a:solidFill>
                    <a:srgbClr val="000000"/>
                  </a:solidFill>
                  <a:latin typeface="Calibri"/>
                  <a:ea typeface="Calibri"/>
                  <a:cs typeface="Calibri"/>
                  <a:sym typeface="Calibri"/>
                </a:rPr>
                <a:t>G</a:t>
              </a:r>
              <a:r>
                <a:rPr lang="en-US" baseline="-25000" dirty="0">
                  <a:solidFill>
                    <a:srgbClr val="000000"/>
                  </a:solidFill>
                  <a:latin typeface="Calibri"/>
                  <a:ea typeface="Calibri"/>
                  <a:cs typeface="Calibri"/>
                  <a:sym typeface="Calibri"/>
                </a:rPr>
                <a:t>1</a:t>
              </a:r>
              <a:r>
                <a:rPr lang="en-US" dirty="0">
                  <a:solidFill>
                    <a:srgbClr val="000000"/>
                  </a:solidFill>
                  <a:latin typeface="Calibri"/>
                  <a:ea typeface="Calibri"/>
                  <a:cs typeface="Calibri"/>
                  <a:sym typeface="Calibri"/>
                </a:rPr>
                <a:t>, A</a:t>
              </a:r>
              <a:r>
                <a:rPr lang="en-US" baseline="-25000" dirty="0">
                  <a:solidFill>
                    <a:srgbClr val="000000"/>
                  </a:solidFill>
                  <a:latin typeface="Calibri"/>
                  <a:ea typeface="Calibri"/>
                  <a:cs typeface="Calibri"/>
                  <a:sym typeface="Calibri"/>
                </a:rPr>
                <a:t>1</a:t>
              </a:r>
              <a:r>
                <a:rPr lang="en-US" dirty="0">
                  <a:solidFill>
                    <a:srgbClr val="000000"/>
                  </a:solidFill>
                  <a:latin typeface="Calibri"/>
                  <a:ea typeface="Calibri"/>
                  <a:cs typeface="Calibri"/>
                  <a:sym typeface="Calibri"/>
                </a:rPr>
                <a:t>, R</a:t>
              </a:r>
              <a:r>
                <a:rPr lang="en-US" baseline="-25000" dirty="0">
                  <a:solidFill>
                    <a:srgbClr val="000000"/>
                  </a:solidFill>
                  <a:latin typeface="Calibri"/>
                  <a:ea typeface="Calibri"/>
                  <a:cs typeface="Calibri"/>
                  <a:sym typeface="Calibri"/>
                </a:rPr>
                <a:t>1</a:t>
              </a:r>
            </a:p>
          </p:txBody>
        </p:sp>
        <p:cxnSp>
          <p:nvCxnSpPr>
            <p:cNvPr id="23" name="Straight Connector 22">
              <a:extLst>
                <a:ext uri="{FF2B5EF4-FFF2-40B4-BE49-F238E27FC236}">
                  <a16:creationId xmlns:a16="http://schemas.microsoft.com/office/drawing/2014/main" id="{E2BA28FE-6F9D-3E46-8366-1E2102348616}"/>
                </a:ext>
              </a:extLst>
            </p:cNvPr>
            <p:cNvCxnSpPr>
              <a:cxnSpLocks/>
            </p:cNvCxnSpPr>
            <p:nvPr/>
          </p:nvCxnSpPr>
          <p:spPr>
            <a:xfrm>
              <a:off x="6905591" y="4842921"/>
              <a:ext cx="50468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5" name="Straight Connector 24">
              <a:extLst>
                <a:ext uri="{FF2B5EF4-FFF2-40B4-BE49-F238E27FC236}">
                  <a16:creationId xmlns:a16="http://schemas.microsoft.com/office/drawing/2014/main" id="{C81D39F4-ACBA-914E-B6DC-254D6813A0AF}"/>
                </a:ext>
              </a:extLst>
            </p:cNvPr>
            <p:cNvCxnSpPr>
              <a:cxnSpLocks/>
            </p:cNvCxnSpPr>
            <p:nvPr/>
          </p:nvCxnSpPr>
          <p:spPr>
            <a:xfrm>
              <a:off x="7397747" y="4831995"/>
              <a:ext cx="0" cy="23357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7" name="Straight Connector 26">
              <a:extLst>
                <a:ext uri="{FF2B5EF4-FFF2-40B4-BE49-F238E27FC236}">
                  <a16:creationId xmlns:a16="http://schemas.microsoft.com/office/drawing/2014/main" id="{8DB0642D-FE68-3445-8EDC-AAD4BEDF32D0}"/>
                </a:ext>
              </a:extLst>
            </p:cNvPr>
            <p:cNvCxnSpPr>
              <a:cxnSpLocks/>
            </p:cNvCxnSpPr>
            <p:nvPr/>
          </p:nvCxnSpPr>
          <p:spPr>
            <a:xfrm>
              <a:off x="6899390" y="5588941"/>
              <a:ext cx="50468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8" name="Straight Connector 27">
              <a:extLst>
                <a:ext uri="{FF2B5EF4-FFF2-40B4-BE49-F238E27FC236}">
                  <a16:creationId xmlns:a16="http://schemas.microsoft.com/office/drawing/2014/main" id="{3EE61A41-8559-8F4B-BC4D-6F5A1C5763EE}"/>
                </a:ext>
              </a:extLst>
            </p:cNvPr>
            <p:cNvCxnSpPr>
              <a:cxnSpLocks/>
            </p:cNvCxnSpPr>
            <p:nvPr/>
          </p:nvCxnSpPr>
          <p:spPr>
            <a:xfrm>
              <a:off x="7393391" y="5350158"/>
              <a:ext cx="0" cy="23357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21" name="Group 203">
              <a:extLst>
                <a:ext uri="{FF2B5EF4-FFF2-40B4-BE49-F238E27FC236}">
                  <a16:creationId xmlns:a16="http://schemas.microsoft.com/office/drawing/2014/main" id="{D49DE4F6-74F7-2E48-A280-F5D76EE549C4}"/>
                </a:ext>
              </a:extLst>
            </p:cNvPr>
            <p:cNvGrpSpPr>
              <a:grpSpLocks/>
            </p:cNvGrpSpPr>
            <p:nvPr/>
          </p:nvGrpSpPr>
          <p:grpSpPr bwMode="auto">
            <a:xfrm rot="10800000">
              <a:off x="6753191" y="4842921"/>
              <a:ext cx="304800" cy="762000"/>
              <a:chOff x="3216" y="2400"/>
              <a:chExt cx="192" cy="480"/>
            </a:xfrm>
          </p:grpSpPr>
          <p:sp>
            <p:nvSpPr>
              <p:cNvPr id="24" name="Line 46">
                <a:extLst>
                  <a:ext uri="{FF2B5EF4-FFF2-40B4-BE49-F238E27FC236}">
                    <a16:creationId xmlns:a16="http://schemas.microsoft.com/office/drawing/2014/main" id="{C5782981-AAED-4748-A397-ADF4AAB86DFE}"/>
                  </a:ext>
                </a:extLst>
              </p:cNvPr>
              <p:cNvSpPr>
                <a:spLocks noChangeAspect="1" noChangeShapeType="1"/>
              </p:cNvSpPr>
              <p:nvPr/>
            </p:nvSpPr>
            <p:spPr bwMode="auto">
              <a:xfrm flipV="1">
                <a:off x="3312" y="2400"/>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 name="Line 47">
                <a:extLst>
                  <a:ext uri="{FF2B5EF4-FFF2-40B4-BE49-F238E27FC236}">
                    <a16:creationId xmlns:a16="http://schemas.microsoft.com/office/drawing/2014/main" id="{4020A69D-C660-FA4E-A5DA-424D188BBF66}"/>
                  </a:ext>
                </a:extLst>
              </p:cNvPr>
              <p:cNvSpPr>
                <a:spLocks noChangeAspect="1" noChangeShapeType="1"/>
              </p:cNvSpPr>
              <p:nvPr/>
            </p:nvSpPr>
            <p:spPr bwMode="auto">
              <a:xfrm flipV="1">
                <a:off x="3312" y="2784"/>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 name="Line 48">
                <a:extLst>
                  <a:ext uri="{FF2B5EF4-FFF2-40B4-BE49-F238E27FC236}">
                    <a16:creationId xmlns:a16="http://schemas.microsoft.com/office/drawing/2014/main" id="{CAC71A65-B5F2-AC4E-9BF2-494467BD9AB6}"/>
                  </a:ext>
                </a:extLst>
              </p:cNvPr>
              <p:cNvSpPr>
                <a:spLocks noChangeAspect="1" noChangeShapeType="1"/>
              </p:cNvSpPr>
              <p:nvPr/>
            </p:nvSpPr>
            <p:spPr bwMode="auto">
              <a:xfrm>
                <a:off x="3312" y="2568"/>
                <a:ext cx="0" cy="120"/>
              </a:xfrm>
              <a:prstGeom prst="line">
                <a:avLst/>
              </a:prstGeom>
              <a:noFill/>
              <a:ln w="25400">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en-US"/>
              </a:p>
            </p:txBody>
          </p:sp>
          <p:sp>
            <p:nvSpPr>
              <p:cNvPr id="30" name="Freeform 49">
                <a:extLst>
                  <a:ext uri="{FF2B5EF4-FFF2-40B4-BE49-F238E27FC236}">
                    <a16:creationId xmlns:a16="http://schemas.microsoft.com/office/drawing/2014/main" id="{80378638-C3B8-D944-8567-079F70C5FCB7}"/>
                  </a:ext>
                </a:extLst>
              </p:cNvPr>
              <p:cNvSpPr>
                <a:spLocks noChangeAspect="1"/>
              </p:cNvSpPr>
              <p:nvPr/>
            </p:nvSpPr>
            <p:spPr bwMode="auto">
              <a:xfrm rot="5400000" flipH="1">
                <a:off x="3288" y="2664"/>
                <a:ext cx="48" cy="48"/>
              </a:xfrm>
              <a:custGeom>
                <a:avLst/>
                <a:gdLst>
                  <a:gd name="T0" fmla="*/ 0 w 96"/>
                  <a:gd name="T1" fmla="*/ 1 h 96"/>
                  <a:gd name="T2" fmla="*/ 2 w 96"/>
                  <a:gd name="T3" fmla="*/ 0 h 96"/>
                  <a:gd name="T4" fmla="*/ 2 w 96"/>
                  <a:gd name="T5" fmla="*/ 2 h 96"/>
                  <a:gd name="T6" fmla="*/ 0 w 96"/>
                  <a:gd name="T7" fmla="*/ 1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48"/>
                    </a:moveTo>
                    <a:lnTo>
                      <a:pt x="96" y="0"/>
                    </a:lnTo>
                    <a:lnTo>
                      <a:pt x="96" y="96"/>
                    </a:lnTo>
                    <a:lnTo>
                      <a:pt x="0" y="48"/>
                    </a:lnTo>
                    <a:close/>
                  </a:path>
                </a:pathLst>
              </a:custGeom>
              <a:solidFill>
                <a:schemeClr val="tx1"/>
              </a:solidFill>
              <a:ln w="25400">
                <a:solidFill>
                  <a:schemeClr val="tx1"/>
                </a:solidFill>
                <a:round/>
                <a:headEnd/>
                <a:tailEnd/>
              </a:ln>
            </p:spPr>
            <p:txBody>
              <a:bodyPr/>
              <a:lstStyle/>
              <a:p>
                <a:endParaRPr lang="en-US"/>
              </a:p>
            </p:txBody>
          </p:sp>
          <p:sp>
            <p:nvSpPr>
              <p:cNvPr id="31" name="Freeform 50">
                <a:extLst>
                  <a:ext uri="{FF2B5EF4-FFF2-40B4-BE49-F238E27FC236}">
                    <a16:creationId xmlns:a16="http://schemas.microsoft.com/office/drawing/2014/main" id="{C98D23DB-FDEA-0841-9D77-3AC59DA9565E}"/>
                  </a:ext>
                </a:extLst>
              </p:cNvPr>
              <p:cNvSpPr>
                <a:spLocks noChangeAspect="1"/>
              </p:cNvSpPr>
              <p:nvPr/>
            </p:nvSpPr>
            <p:spPr bwMode="auto">
              <a:xfrm>
                <a:off x="3216" y="2496"/>
                <a:ext cx="192" cy="288"/>
              </a:xfrm>
              <a:custGeom>
                <a:avLst/>
                <a:gdLst>
                  <a:gd name="T0" fmla="*/ 3 w 384"/>
                  <a:gd name="T1" fmla="*/ 0 h 576"/>
                  <a:gd name="T2" fmla="*/ 0 w 384"/>
                  <a:gd name="T3" fmla="*/ 5 h 576"/>
                  <a:gd name="T4" fmla="*/ 3 w 384"/>
                  <a:gd name="T5" fmla="*/ 9 h 576"/>
                  <a:gd name="T6" fmla="*/ 6 w 384"/>
                  <a:gd name="T7" fmla="*/ 5 h 576"/>
                  <a:gd name="T8" fmla="*/ 3 w 384"/>
                  <a:gd name="T9" fmla="*/ 0 h 576"/>
                  <a:gd name="T10" fmla="*/ 0 60000 65536"/>
                  <a:gd name="T11" fmla="*/ 0 60000 65536"/>
                  <a:gd name="T12" fmla="*/ 0 60000 65536"/>
                  <a:gd name="T13" fmla="*/ 0 60000 65536"/>
                  <a:gd name="T14" fmla="*/ 0 60000 65536"/>
                  <a:gd name="T15" fmla="*/ 0 w 384"/>
                  <a:gd name="T16" fmla="*/ 0 h 576"/>
                  <a:gd name="T17" fmla="*/ 384 w 384"/>
                  <a:gd name="T18" fmla="*/ 576 h 576"/>
                </a:gdLst>
                <a:ahLst/>
                <a:cxnLst>
                  <a:cxn ang="T10">
                    <a:pos x="T0" y="T1"/>
                  </a:cxn>
                  <a:cxn ang="T11">
                    <a:pos x="T2" y="T3"/>
                  </a:cxn>
                  <a:cxn ang="T12">
                    <a:pos x="T4" y="T5"/>
                  </a:cxn>
                  <a:cxn ang="T13">
                    <a:pos x="T6" y="T7"/>
                  </a:cxn>
                  <a:cxn ang="T14">
                    <a:pos x="T8" y="T9"/>
                  </a:cxn>
                </a:cxnLst>
                <a:rect l="T15" t="T16" r="T17" b="T18"/>
                <a:pathLst>
                  <a:path w="384" h="576">
                    <a:moveTo>
                      <a:pt x="192" y="0"/>
                    </a:moveTo>
                    <a:lnTo>
                      <a:pt x="0" y="288"/>
                    </a:lnTo>
                    <a:lnTo>
                      <a:pt x="192" y="576"/>
                    </a:lnTo>
                    <a:lnTo>
                      <a:pt x="384" y="288"/>
                    </a:lnTo>
                    <a:lnTo>
                      <a:pt x="192"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cxnSp>
          <p:nvCxnSpPr>
            <p:cNvPr id="32" name="Straight Connector 31">
              <a:extLst>
                <a:ext uri="{FF2B5EF4-FFF2-40B4-BE49-F238E27FC236}">
                  <a16:creationId xmlns:a16="http://schemas.microsoft.com/office/drawing/2014/main" id="{58E8BED2-4B1E-974F-BFCF-5699F313F9DC}"/>
                </a:ext>
              </a:extLst>
            </p:cNvPr>
            <p:cNvCxnSpPr>
              <a:cxnSpLocks/>
            </p:cNvCxnSpPr>
            <p:nvPr/>
          </p:nvCxnSpPr>
          <p:spPr>
            <a:xfrm>
              <a:off x="9148738" y="4691140"/>
              <a:ext cx="469002" cy="375139"/>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33" name="Straight Connector 32">
              <a:extLst>
                <a:ext uri="{FF2B5EF4-FFF2-40B4-BE49-F238E27FC236}">
                  <a16:creationId xmlns:a16="http://schemas.microsoft.com/office/drawing/2014/main" id="{438D1D5C-EF27-7648-AD77-6918B4A45646}"/>
                </a:ext>
              </a:extLst>
            </p:cNvPr>
            <p:cNvCxnSpPr/>
            <p:nvPr/>
          </p:nvCxnSpPr>
          <p:spPr>
            <a:xfrm>
              <a:off x="9617740" y="5055871"/>
              <a:ext cx="109728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34" name="Straight Connector 33">
              <a:extLst>
                <a:ext uri="{FF2B5EF4-FFF2-40B4-BE49-F238E27FC236}">
                  <a16:creationId xmlns:a16="http://schemas.microsoft.com/office/drawing/2014/main" id="{63DA9BED-07A4-3B4F-B756-75766C38CC63}"/>
                </a:ext>
              </a:extLst>
            </p:cNvPr>
            <p:cNvCxnSpPr>
              <a:cxnSpLocks noChangeAspect="1"/>
            </p:cNvCxnSpPr>
            <p:nvPr/>
          </p:nvCxnSpPr>
          <p:spPr>
            <a:xfrm flipV="1">
              <a:off x="9170574" y="5377740"/>
              <a:ext cx="447166" cy="36576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35" name="Straight Connector 34">
              <a:extLst>
                <a:ext uri="{FF2B5EF4-FFF2-40B4-BE49-F238E27FC236}">
                  <a16:creationId xmlns:a16="http://schemas.microsoft.com/office/drawing/2014/main" id="{67D3E102-2369-6B41-85D3-40C8CE0E7E0B}"/>
                </a:ext>
              </a:extLst>
            </p:cNvPr>
            <p:cNvCxnSpPr/>
            <p:nvPr/>
          </p:nvCxnSpPr>
          <p:spPr>
            <a:xfrm>
              <a:off x="9617740" y="5377740"/>
              <a:ext cx="109728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36" name="TextBox 35">
              <a:extLst>
                <a:ext uri="{FF2B5EF4-FFF2-40B4-BE49-F238E27FC236}">
                  <a16:creationId xmlns:a16="http://schemas.microsoft.com/office/drawing/2014/main" id="{EA6CB36E-D26C-614B-A623-6C1A151F073F}"/>
                </a:ext>
              </a:extLst>
            </p:cNvPr>
            <p:cNvSpPr txBox="1"/>
            <p:nvPr/>
          </p:nvSpPr>
          <p:spPr>
            <a:xfrm>
              <a:off x="9617740" y="4662811"/>
              <a:ext cx="1063105"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dirty="0">
                  <a:solidFill>
                    <a:srgbClr val="000000"/>
                  </a:solidFill>
                  <a:latin typeface="Calibri"/>
                  <a:ea typeface="Calibri"/>
                  <a:cs typeface="Calibri"/>
                  <a:sym typeface="Calibri"/>
                </a:rPr>
                <a:t>G</a:t>
              </a:r>
              <a:r>
                <a:rPr lang="en-US" baseline="-25000" dirty="0">
                  <a:solidFill>
                    <a:srgbClr val="000000"/>
                  </a:solidFill>
                  <a:latin typeface="Calibri"/>
                  <a:ea typeface="Calibri"/>
                  <a:cs typeface="Calibri"/>
                  <a:sym typeface="Calibri"/>
                </a:rPr>
                <a:t>2</a:t>
              </a:r>
              <a:r>
                <a:rPr lang="en-US" dirty="0">
                  <a:solidFill>
                    <a:srgbClr val="000000"/>
                  </a:solidFill>
                  <a:latin typeface="Calibri"/>
                  <a:ea typeface="Calibri"/>
                  <a:cs typeface="Calibri"/>
                  <a:sym typeface="Calibri"/>
                </a:rPr>
                <a:t>, A</a:t>
              </a:r>
              <a:r>
                <a:rPr lang="en-US" baseline="-25000" dirty="0">
                  <a:solidFill>
                    <a:srgbClr val="000000"/>
                  </a:solidFill>
                  <a:latin typeface="Calibri"/>
                  <a:ea typeface="Calibri"/>
                  <a:cs typeface="Calibri"/>
                  <a:sym typeface="Calibri"/>
                </a:rPr>
                <a:t>2</a:t>
              </a:r>
              <a:r>
                <a:rPr lang="en-US" dirty="0">
                  <a:solidFill>
                    <a:srgbClr val="000000"/>
                  </a:solidFill>
                  <a:latin typeface="Calibri"/>
                  <a:ea typeface="Calibri"/>
                  <a:cs typeface="Calibri"/>
                  <a:sym typeface="Calibri"/>
                </a:rPr>
                <a:t>, R</a:t>
              </a:r>
              <a:r>
                <a:rPr lang="en-US" baseline="-25000" dirty="0">
                  <a:solidFill>
                    <a:srgbClr val="000000"/>
                  </a:solidFill>
                  <a:latin typeface="Calibri"/>
                  <a:ea typeface="Calibri"/>
                  <a:cs typeface="Calibri"/>
                  <a:sym typeface="Calibri"/>
                </a:rPr>
                <a:t>2</a:t>
              </a:r>
            </a:p>
          </p:txBody>
        </p:sp>
        <p:sp>
          <p:nvSpPr>
            <p:cNvPr id="37" name="TextBox 36">
              <a:extLst>
                <a:ext uri="{FF2B5EF4-FFF2-40B4-BE49-F238E27FC236}">
                  <a16:creationId xmlns:a16="http://schemas.microsoft.com/office/drawing/2014/main" id="{70E07DD6-1264-FB4B-AD58-B95080C936B8}"/>
                </a:ext>
              </a:extLst>
            </p:cNvPr>
            <p:cNvSpPr txBox="1"/>
            <p:nvPr/>
          </p:nvSpPr>
          <p:spPr>
            <a:xfrm>
              <a:off x="10775832" y="5032141"/>
              <a:ext cx="418438"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dirty="0">
                  <a:solidFill>
                    <a:srgbClr val="000000"/>
                  </a:solidFill>
                  <a:latin typeface="Calibri"/>
                  <a:ea typeface="Calibri"/>
                  <a:cs typeface="Calibri"/>
                  <a:sym typeface="Calibri"/>
                </a:rPr>
                <a:t>V</a:t>
              </a:r>
              <a:endParaRPr lang="en-US" baseline="-25000" dirty="0">
                <a:solidFill>
                  <a:srgbClr val="000000"/>
                </a:solidFill>
                <a:latin typeface="Calibri"/>
                <a:ea typeface="Calibri"/>
                <a:cs typeface="Calibri"/>
                <a:sym typeface="Calibri"/>
              </a:endParaRPr>
            </a:p>
          </p:txBody>
        </p:sp>
        <p:sp>
          <p:nvSpPr>
            <p:cNvPr id="38" name="TextBox 37">
              <a:extLst>
                <a:ext uri="{FF2B5EF4-FFF2-40B4-BE49-F238E27FC236}">
                  <a16:creationId xmlns:a16="http://schemas.microsoft.com/office/drawing/2014/main" id="{581A9F37-181E-5147-9E0A-9253283B619B}"/>
                </a:ext>
              </a:extLst>
            </p:cNvPr>
            <p:cNvSpPr txBox="1"/>
            <p:nvPr/>
          </p:nvSpPr>
          <p:spPr>
            <a:xfrm>
              <a:off x="6460740" y="5077137"/>
              <a:ext cx="418438"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dirty="0">
                  <a:solidFill>
                    <a:srgbClr val="000000"/>
                  </a:solidFill>
                  <a:latin typeface="Calibri"/>
                  <a:ea typeface="Calibri"/>
                  <a:cs typeface="Calibri"/>
                  <a:sym typeface="Calibri"/>
                </a:rPr>
                <a:t>I</a:t>
              </a:r>
            </a:p>
          </p:txBody>
        </p:sp>
      </p:grpSp>
    </p:spTree>
    <p:extLst>
      <p:ext uri="{BB962C8B-B14F-4D97-AF65-F5344CB8AC3E}">
        <p14:creationId xmlns:p14="http://schemas.microsoft.com/office/powerpoint/2010/main" val="36618511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270427" y="290664"/>
            <a:ext cx="11234056" cy="675825"/>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Dipoles</a:t>
            </a:r>
            <a:endParaRPr sz="44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350876" y="1300148"/>
                <a:ext cx="8790794" cy="462892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285750" indent="-285750" hangingPunct="0">
                  <a:buFont typeface="Arial" panose="020B0604020202020204" pitchFamily="34" charset="0"/>
                  <a:buChar char="•"/>
                </a:pPr>
                <a:r>
                  <a:rPr lang="en-US" sz="2000" dirty="0">
                    <a:solidFill>
                      <a:srgbClr val="000000"/>
                    </a:solidFill>
                  </a:rPr>
                  <a:t>For dipole, </a:t>
                </a:r>
                <a14:m>
                  <m:oMath xmlns:m="http://schemas.openxmlformats.org/officeDocument/2006/math">
                    <m:r>
                      <a:rPr lang="en-US" sz="2000" b="0" i="1" smtClean="0">
                        <a:solidFill>
                          <a:srgbClr val="000000"/>
                        </a:solidFill>
                        <a:latin typeface="Cambria Math" panose="02040503050406030204" pitchFamily="18" charset="0"/>
                        <a:ea typeface="Calibri"/>
                        <a:cs typeface="Calibri"/>
                        <a:sym typeface="Calibri"/>
                      </a:rPr>
                      <m:t>ℎ</m:t>
                    </m:r>
                    <m:r>
                      <a:rPr lang="en-US" sz="2000" b="0" i="1" smtClean="0">
                        <a:solidFill>
                          <a:srgbClr val="000000"/>
                        </a:solidFill>
                        <a:latin typeface="Cambria Math" panose="02040503050406030204" pitchFamily="18" charset="0"/>
                        <a:ea typeface="Calibri"/>
                        <a:cs typeface="Calibri"/>
                        <a:sym typeface="Calibri"/>
                      </a:rPr>
                      <m:t>=</m:t>
                    </m:r>
                    <m:f>
                      <m:fPr>
                        <m:ctrlPr>
                          <a:rPr lang="en-US" sz="2000" b="0" i="1" smtClean="0">
                            <a:solidFill>
                              <a:srgbClr val="000000"/>
                            </a:solidFill>
                            <a:latin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cs typeface="Calibri"/>
                            <a:sym typeface="Calibri"/>
                          </a:rPr>
                          <m:t>𝑙</m:t>
                        </m:r>
                      </m:num>
                      <m:den>
                        <m:r>
                          <a:rPr lang="en-US" sz="2000" b="0" i="1" smtClean="0">
                            <a:solidFill>
                              <a:srgbClr val="000000"/>
                            </a:solidFill>
                            <a:latin typeface="Cambria Math" panose="02040503050406030204" pitchFamily="18" charset="0"/>
                            <a:cs typeface="Calibri"/>
                            <a:sym typeface="Calibri"/>
                          </a:rPr>
                          <m:t>2</m:t>
                        </m:r>
                      </m:den>
                    </m:f>
                    <m:func>
                      <m:funcPr>
                        <m:ctrlPr>
                          <a:rPr lang="en-US" sz="2000" b="0" i="0" smtClean="0">
                            <a:solidFill>
                              <a:srgbClr val="000000"/>
                            </a:solidFill>
                            <a:latin typeface="Cambria Math" panose="02040503050406030204" pitchFamily="18" charset="0"/>
                            <a:cs typeface="Calibri"/>
                            <a:sym typeface="Calibri"/>
                          </a:rPr>
                        </m:ctrlPr>
                      </m:funcPr>
                      <m:fName>
                        <m:r>
                          <m:rPr>
                            <m:sty m:val="p"/>
                          </m:rPr>
                          <a:rPr lang="en-US" sz="2000" b="0" i="0" smtClean="0">
                            <a:solidFill>
                              <a:srgbClr val="000000"/>
                            </a:solidFill>
                            <a:latin typeface="Cambria Math" panose="02040503050406030204" pitchFamily="18" charset="0"/>
                            <a:cs typeface="Calibri"/>
                            <a:sym typeface="Calibri"/>
                          </a:rPr>
                          <m:t>sin</m:t>
                        </m:r>
                      </m:fName>
                      <m:e>
                        <m:d>
                          <m:d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dPr>
                          <m:e>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𝜃</m:t>
                            </m:r>
                          </m:e>
                        </m:d>
                      </m:e>
                    </m:func>
                  </m:oMath>
                </a14:m>
                <a:r>
                  <a:rPr lang="en-US" sz="2000" dirty="0">
                    <a:solidFill>
                      <a:srgbClr val="000000"/>
                    </a:solidFill>
                  </a:rPr>
                  <a:t>.  Assume dipole is lossless so </a:t>
                </a:r>
                <a14:m>
                  <m:oMath xmlns:m="http://schemas.openxmlformats.org/officeDocument/2006/math">
                    <m:r>
                      <a:rPr lang="en-US" sz="2000" b="0" i="1" smtClean="0">
                        <a:solidFill>
                          <a:srgbClr val="000000"/>
                        </a:solidFill>
                        <a:latin typeface="Cambria Math" panose="02040503050406030204" pitchFamily="18" charset="0"/>
                      </a:rPr>
                      <m:t>𝑅</m:t>
                    </m:r>
                    <m:r>
                      <a:rPr lang="en-US" sz="2000" b="0" i="1" smtClean="0">
                        <a:solidFill>
                          <a:srgbClr val="000000"/>
                        </a:solidFill>
                        <a:latin typeface="Cambria Math" panose="02040503050406030204" pitchFamily="18" charset="0"/>
                      </a:rPr>
                      <m:t>=</m:t>
                    </m:r>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𝑅</m:t>
                        </m:r>
                      </m:e>
                      <m:sub>
                        <m:r>
                          <a:rPr lang="en-US" sz="2000" b="0" i="1" smtClean="0">
                            <a:solidFill>
                              <a:srgbClr val="000000"/>
                            </a:solidFill>
                            <a:latin typeface="Cambria Math" panose="02040503050406030204" pitchFamily="18" charset="0"/>
                          </a:rPr>
                          <m:t>𝑟</m:t>
                        </m:r>
                      </m:sub>
                    </m:sSub>
                  </m:oMath>
                </a14:m>
                <a:r>
                  <a:rPr lang="en-US" sz="2000" dirty="0">
                    <a:solidFill>
                      <a:srgbClr val="000000"/>
                    </a:solidFill>
                  </a:rPr>
                  <a:t>, </a:t>
                </a:r>
                <a14:m>
                  <m:oMath xmlns:m="http://schemas.openxmlformats.org/officeDocument/2006/math">
                    <m:r>
                      <a:rPr lang="en-US" sz="2000" i="1" smtClean="0">
                        <a:solidFill>
                          <a:srgbClr val="000000"/>
                        </a:solidFill>
                        <a:latin typeface="Cambria Math" panose="02040503050406030204" pitchFamily="18" charset="0"/>
                        <a:ea typeface="Cambria Math" panose="02040503050406030204" pitchFamily="18" charset="0"/>
                      </a:rPr>
                      <m:t>𝜂</m:t>
                    </m:r>
                    <m:r>
                      <a:rPr lang="en-US" sz="2000" b="0" i="1" smtClean="0">
                        <a:solidFill>
                          <a:srgbClr val="000000"/>
                        </a:solidFill>
                        <a:latin typeface="Cambria Math" panose="02040503050406030204" pitchFamily="18" charset="0"/>
                        <a:ea typeface="Cambria Math" panose="02040503050406030204" pitchFamily="18" charset="0"/>
                      </a:rPr>
                      <m:t>=1</m:t>
                    </m:r>
                  </m:oMath>
                </a14:m>
                <a:r>
                  <a:rPr lang="en-US" sz="2000" dirty="0">
                    <a:solidFill>
                      <a:srgbClr val="000000"/>
                    </a:solidFill>
                  </a:rPr>
                  <a:t>.</a:t>
                </a:r>
              </a:p>
              <a:p>
                <a:pPr marL="285750" indent="-285750" hangingPunct="0">
                  <a:buFont typeface="Arial" panose="020B0604020202020204" pitchFamily="34" charset="0"/>
                  <a:buChar char="•"/>
                </a:pPr>
                <a:r>
                  <a:rPr lang="en-US" sz="2000" dirty="0">
                    <a:solidFill>
                      <a:srgbClr val="000000"/>
                    </a:solidFill>
                  </a:rPr>
                  <a:t>Remember </a:t>
                </a:r>
                <a14:m>
                  <m:oMath xmlns:m="http://schemas.openxmlformats.org/officeDocument/2006/math">
                    <m:r>
                      <a:rPr lang="en-US" sz="2000" i="1" smtClean="0">
                        <a:solidFill>
                          <a:srgbClr val="000000"/>
                        </a:solidFill>
                        <a:latin typeface="Cambria Math" panose="02040503050406030204" pitchFamily="18" charset="0"/>
                        <a:ea typeface="Cambria Math" panose="02040503050406030204" pitchFamily="18" charset="0"/>
                      </a:rPr>
                      <m:t>𝜂</m:t>
                    </m:r>
                    <m:r>
                      <a:rPr lang="en-US" sz="2000" b="0" i="1" smtClean="0">
                        <a:solidFill>
                          <a:srgbClr val="000000"/>
                        </a:solidFill>
                        <a:latin typeface="Cambria Math" panose="02040503050406030204" pitchFamily="18" charset="0"/>
                        <a:ea typeface="Cambria Math" panose="02040503050406030204" pitchFamily="18" charset="0"/>
                      </a:rPr>
                      <m:t>=</m:t>
                    </m:r>
                    <m:f>
                      <m:fPr>
                        <m:ctrlPr>
                          <a:rPr lang="en-US" sz="2000" b="0" i="1" smtClean="0">
                            <a:solidFill>
                              <a:srgbClr val="000000"/>
                            </a:solidFill>
                            <a:latin typeface="Cambria Math" panose="02040503050406030204" pitchFamily="18" charset="0"/>
                            <a:ea typeface="Cambria Math" panose="02040503050406030204" pitchFamily="18" charset="0"/>
                          </a:rPr>
                        </m:ctrlPr>
                      </m:fPr>
                      <m:num>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𝑅</m:t>
                            </m:r>
                          </m:e>
                          <m:sub>
                            <m:r>
                              <a:rPr lang="en-US" sz="2000" b="0" i="1" smtClean="0">
                                <a:solidFill>
                                  <a:srgbClr val="000000"/>
                                </a:solidFill>
                                <a:latin typeface="Cambria Math" panose="02040503050406030204" pitchFamily="18" charset="0"/>
                                <a:ea typeface="Cambria Math" panose="02040503050406030204" pitchFamily="18" charset="0"/>
                              </a:rPr>
                              <m:t>𝑟</m:t>
                            </m:r>
                          </m:sub>
                        </m:sSub>
                      </m:num>
                      <m:den>
                        <m:r>
                          <a:rPr lang="en-US" sz="2000" b="0" i="1" smtClean="0">
                            <a:solidFill>
                              <a:srgbClr val="000000"/>
                            </a:solidFill>
                            <a:latin typeface="Cambria Math" panose="02040503050406030204" pitchFamily="18" charset="0"/>
                            <a:ea typeface="Cambria Math" panose="02040503050406030204" pitchFamily="18" charset="0"/>
                          </a:rPr>
                          <m:t>𝑅</m:t>
                        </m:r>
                      </m:den>
                    </m:f>
                    <m:r>
                      <a:rPr lang="en-US" sz="2000" b="0" i="1" smtClean="0">
                        <a:solidFill>
                          <a:srgbClr val="000000"/>
                        </a:solidFill>
                        <a:latin typeface="Cambria Math" panose="02040503050406030204" pitchFamily="18" charset="0"/>
                        <a:ea typeface="Cambria Math" panose="02040503050406030204" pitchFamily="18" charset="0"/>
                      </a:rPr>
                      <m:t> (=1)</m:t>
                    </m:r>
                  </m:oMath>
                </a14:m>
                <a:r>
                  <a:rPr lang="en-US" sz="2000" dirty="0">
                    <a:solidFill>
                      <a:srgbClr val="000000"/>
                    </a:solidFill>
                  </a:rPr>
                  <a:t>, </a:t>
                </a:r>
                <a14:m>
                  <m:oMath xmlns:m="http://schemas.openxmlformats.org/officeDocument/2006/math">
                    <m:r>
                      <a:rPr lang="en-US" sz="2000" b="0" i="1" smtClean="0">
                        <a:solidFill>
                          <a:srgbClr val="000000"/>
                        </a:solidFill>
                        <a:latin typeface="Cambria Math" panose="02040503050406030204" pitchFamily="18" charset="0"/>
                      </a:rPr>
                      <m:t>𝑑</m:t>
                    </m:r>
                    <m:r>
                      <m:rPr>
                        <m:sty m:val="p"/>
                      </m:rPr>
                      <a:rPr lang="el-GR" sz="2000" b="0" i="1" smtClean="0">
                        <a:solidFill>
                          <a:srgbClr val="000000"/>
                        </a:solidFill>
                        <a:latin typeface="Cambria Math" panose="02040503050406030204" pitchFamily="18" charset="0"/>
                        <a:ea typeface="Cambria Math" panose="02040503050406030204" pitchFamily="18" charset="0"/>
                      </a:rPr>
                      <m:t>Ω</m:t>
                    </m:r>
                    <m:r>
                      <a:rPr lang="en-US" sz="2000" b="0" i="1" smtClean="0">
                        <a:solidFill>
                          <a:srgbClr val="000000"/>
                        </a:solidFill>
                        <a:latin typeface="Cambria Math" panose="02040503050406030204" pitchFamily="18" charset="0"/>
                        <a:ea typeface="Cambria Math" panose="02040503050406030204" pitchFamily="18" charset="0"/>
                      </a:rPr>
                      <m:t>=</m:t>
                    </m:r>
                    <m:func>
                      <m:funcPr>
                        <m:ctrlPr>
                          <a:rPr lang="en-US" sz="2000" b="0" i="0" smtClean="0">
                            <a:solidFill>
                              <a:srgbClr val="000000"/>
                            </a:solidFill>
                            <a:latin typeface="Cambria Math" panose="02040503050406030204" pitchFamily="18" charset="0"/>
                            <a:ea typeface="Cambria Math" panose="02040503050406030204" pitchFamily="18" charset="0"/>
                          </a:rPr>
                        </m:ctrlPr>
                      </m:funcPr>
                      <m:fName>
                        <m:r>
                          <m:rPr>
                            <m:sty m:val="p"/>
                          </m:rPr>
                          <a:rPr lang="en-US" sz="2000" b="0" i="0" smtClean="0">
                            <a:solidFill>
                              <a:srgbClr val="000000"/>
                            </a:solidFill>
                            <a:latin typeface="Cambria Math" panose="02040503050406030204" pitchFamily="18" charset="0"/>
                            <a:ea typeface="Cambria Math" panose="02040503050406030204" pitchFamily="18" charset="0"/>
                          </a:rPr>
                          <m:t>sin</m:t>
                        </m:r>
                      </m:fName>
                      <m:e>
                        <m:d>
                          <m:dPr>
                            <m:ctrlPr>
                              <a:rPr lang="en-US" sz="2000" b="0" i="1" smtClean="0">
                                <a:solidFill>
                                  <a:srgbClr val="000000"/>
                                </a:solidFill>
                                <a:latin typeface="Cambria Math" panose="02040503050406030204" pitchFamily="18" charset="0"/>
                                <a:ea typeface="Cambria Math" panose="02040503050406030204" pitchFamily="18" charset="0"/>
                              </a:rPr>
                            </m:ctrlPr>
                          </m:dPr>
                          <m:e>
                            <m:r>
                              <a:rPr lang="en-US" sz="2000" b="0" i="1" smtClean="0">
                                <a:solidFill>
                                  <a:srgbClr val="000000"/>
                                </a:solidFill>
                                <a:latin typeface="Cambria Math" panose="02040503050406030204" pitchFamily="18" charset="0"/>
                                <a:ea typeface="Cambria Math" panose="02040503050406030204" pitchFamily="18" charset="0"/>
                              </a:rPr>
                              <m:t>𝜃</m:t>
                            </m:r>
                          </m:e>
                        </m:d>
                      </m:e>
                    </m:func>
                    <m:r>
                      <a:rPr lang="en-US" sz="2000" b="0" i="1" smtClean="0">
                        <a:solidFill>
                          <a:srgbClr val="000000"/>
                        </a:solidFill>
                        <a:latin typeface="Cambria Math" panose="02040503050406030204" pitchFamily="18" charset="0"/>
                        <a:ea typeface="Cambria Math" panose="02040503050406030204" pitchFamily="18" charset="0"/>
                      </a:rPr>
                      <m:t>𝑑</m:t>
                    </m:r>
                    <m:r>
                      <a:rPr lang="en-US" sz="2000" b="0" i="1" smtClean="0">
                        <a:solidFill>
                          <a:srgbClr val="000000"/>
                        </a:solidFill>
                        <a:latin typeface="Cambria Math" panose="02040503050406030204" pitchFamily="18" charset="0"/>
                        <a:ea typeface="Cambria Math" panose="02040503050406030204" pitchFamily="18" charset="0"/>
                      </a:rPr>
                      <m:t>𝜃</m:t>
                    </m:r>
                    <m:r>
                      <a:rPr lang="en-US" sz="2000" b="0" i="1" smtClean="0">
                        <a:solidFill>
                          <a:srgbClr val="000000"/>
                        </a:solidFill>
                        <a:latin typeface="Cambria Math" panose="02040503050406030204" pitchFamily="18" charset="0"/>
                        <a:ea typeface="Cambria Math" panose="02040503050406030204" pitchFamily="18" charset="0"/>
                      </a:rPr>
                      <m:t>𝑑</m:t>
                    </m:r>
                    <m:r>
                      <a:rPr lang="en-US" sz="2000" b="0" i="1" smtClean="0">
                        <a:solidFill>
                          <a:srgbClr val="000000"/>
                        </a:solidFill>
                        <a:latin typeface="Cambria Math" panose="02040503050406030204" pitchFamily="18" charset="0"/>
                        <a:ea typeface="Cambria Math" panose="02040503050406030204" pitchFamily="18" charset="0"/>
                      </a:rPr>
                      <m:t>𝜙</m:t>
                    </m:r>
                  </m:oMath>
                </a14:m>
                <a:r>
                  <a:rPr lang="en-US" sz="2000" dirty="0">
                    <a:solidFill>
                      <a:srgbClr val="000000"/>
                    </a:solidFill>
                  </a:rPr>
                  <a:t> and  </a:t>
                </a:r>
                <a14:m>
                  <m:oMath xmlns:m="http://schemas.openxmlformats.org/officeDocument/2006/math">
                    <m:r>
                      <a:rPr lang="en-US" sz="2000" i="1">
                        <a:solidFill>
                          <a:srgbClr val="000000"/>
                        </a:solidFill>
                        <a:latin typeface="Cambria Math" panose="02040503050406030204" pitchFamily="18" charset="0"/>
                        <a:cs typeface="Calibri" panose="020F0502020204030204" pitchFamily="34" charset="0"/>
                      </a:rPr>
                      <m:t>𝐴</m:t>
                    </m:r>
                    <m:r>
                      <a:rPr lang="en-US" sz="2000" i="1">
                        <a:solidFill>
                          <a:srgbClr val="000000"/>
                        </a:solidFill>
                        <a:latin typeface="Cambria Math" panose="02040503050406030204" pitchFamily="18" charset="0"/>
                        <a:cs typeface="Calibri" panose="020F0502020204030204" pitchFamily="34" charset="0"/>
                      </a:rPr>
                      <m:t>=</m:t>
                    </m:r>
                    <m:f>
                      <m:fPr>
                        <m:ctrlPr>
                          <a:rPr lang="en-US" sz="2000" i="1">
                            <a:solidFill>
                              <a:srgbClr val="000000"/>
                            </a:solidFill>
                            <a:latin typeface="Cambria Math" panose="02040503050406030204" pitchFamily="18" charset="0"/>
                            <a:cs typeface="Calibri" panose="020F0502020204030204" pitchFamily="34" charset="0"/>
                          </a:rPr>
                        </m:ctrlPr>
                      </m:fPr>
                      <m:num>
                        <m:sSup>
                          <m:sSupPr>
                            <m:ctrlPr>
                              <a:rPr lang="en-US" sz="2000" i="1">
                                <a:solidFill>
                                  <a:srgbClr val="000000"/>
                                </a:solidFill>
                                <a:latin typeface="Cambria Math" panose="02040503050406030204" pitchFamily="18" charset="0"/>
                                <a:cs typeface="Calibri" panose="020F0502020204030204" pitchFamily="34" charset="0"/>
                              </a:rPr>
                            </m:ctrlPr>
                          </m:sSupPr>
                          <m:e>
                            <m:r>
                              <a:rPr lang="en-US" sz="2000" i="1">
                                <a:solidFill>
                                  <a:srgbClr val="000000"/>
                                </a:solidFill>
                                <a:latin typeface="Cambria Math" panose="02040503050406030204" pitchFamily="18" charset="0"/>
                                <a:cs typeface="Calibri" panose="020F0502020204030204" pitchFamily="34" charset="0"/>
                              </a:rPr>
                              <m:t>ℎ</m:t>
                            </m:r>
                          </m:e>
                          <m:sup>
                            <m:r>
                              <a:rPr lang="en-US" sz="2000" i="1">
                                <a:solidFill>
                                  <a:srgbClr val="000000"/>
                                </a:solidFill>
                                <a:latin typeface="Cambria Math" panose="02040503050406030204" pitchFamily="18" charset="0"/>
                                <a:cs typeface="Calibri" panose="020F0502020204030204" pitchFamily="34" charset="0"/>
                              </a:rPr>
                              <m:t>2</m:t>
                            </m:r>
                          </m:sup>
                        </m:sSup>
                        <m:sSub>
                          <m:sSubPr>
                            <m:ctrlPr>
                              <a:rPr lang="en-US" sz="2000" i="1">
                                <a:solidFill>
                                  <a:srgbClr val="000000"/>
                                </a:solidFill>
                                <a:latin typeface="Cambria Math" panose="02040503050406030204" pitchFamily="18" charset="0"/>
                                <a:ea typeface="Cambria Math" panose="02040503050406030204" pitchFamily="18" charset="0"/>
                                <a:cs typeface="Calibri" panose="020F0502020204030204" pitchFamily="34" charset="0"/>
                              </a:rPr>
                            </m:ctrlPr>
                          </m:sSubPr>
                          <m:e>
                            <m:r>
                              <a:rPr lang="en-US" sz="2000" i="1">
                                <a:solidFill>
                                  <a:srgbClr val="000000"/>
                                </a:solidFill>
                                <a:latin typeface="Cambria Math" panose="02040503050406030204" pitchFamily="18" charset="0"/>
                                <a:ea typeface="Cambria Math" panose="02040503050406030204" pitchFamily="18" charset="0"/>
                                <a:cs typeface="Calibri" panose="020F0502020204030204" pitchFamily="34" charset="0"/>
                              </a:rPr>
                              <m:t>𝜂</m:t>
                            </m:r>
                          </m:e>
                          <m:sub>
                            <m:r>
                              <a:rPr lang="en-US" sz="2000" i="1">
                                <a:solidFill>
                                  <a:srgbClr val="000000"/>
                                </a:solidFill>
                                <a:latin typeface="Cambria Math" panose="02040503050406030204" pitchFamily="18" charset="0"/>
                                <a:cs typeface="Calibri" panose="020F0502020204030204" pitchFamily="34" charset="0"/>
                              </a:rPr>
                              <m:t>0</m:t>
                            </m:r>
                          </m:sub>
                        </m:sSub>
                      </m:num>
                      <m:den>
                        <m:r>
                          <a:rPr lang="en-US" sz="2000" i="1">
                            <a:solidFill>
                              <a:srgbClr val="000000"/>
                            </a:solidFill>
                            <a:latin typeface="Cambria Math" panose="02040503050406030204" pitchFamily="18" charset="0"/>
                            <a:cs typeface="Calibri" panose="020F0502020204030204" pitchFamily="34" charset="0"/>
                          </a:rPr>
                          <m:t>4</m:t>
                        </m:r>
                        <m:r>
                          <a:rPr lang="en-US" sz="2000" i="1">
                            <a:solidFill>
                              <a:srgbClr val="000000"/>
                            </a:solidFill>
                            <a:latin typeface="Cambria Math" panose="02040503050406030204" pitchFamily="18" charset="0"/>
                            <a:cs typeface="Calibri" panose="020F0502020204030204" pitchFamily="34" charset="0"/>
                          </a:rPr>
                          <m:t>𝑅</m:t>
                        </m:r>
                      </m:den>
                    </m:f>
                  </m:oMath>
                </a14:m>
                <a:endParaRPr lang="en-US" sz="2000" i="1" dirty="0">
                  <a:solidFill>
                    <a:srgbClr val="000000"/>
                  </a:solidFill>
                  <a:latin typeface="Cambria Math" panose="02040503050406030204" pitchFamily="18" charset="0"/>
                  <a:cs typeface="Calibri"/>
                  <a:sym typeface="Calibri"/>
                </a:endParaRPr>
              </a:p>
              <a:p>
                <a:pPr marL="285750" indent="-285750" hangingPunct="0">
                  <a:buFont typeface="Arial" panose="020B0604020202020204" pitchFamily="34" charset="0"/>
                  <a:buChar char="•"/>
                </a:pPr>
                <a14:m>
                  <m:oMath xmlns:m="http://schemas.openxmlformats.org/officeDocument/2006/math">
                    <m:sSup>
                      <m:sSupPr>
                        <m:ctrlPr>
                          <a:rPr lang="en-US" sz="2000" i="1">
                            <a:solidFill>
                              <a:srgbClr val="000000"/>
                            </a:solidFill>
                            <a:latin typeface="Cambria Math" panose="02040503050406030204" pitchFamily="18" charset="0"/>
                            <a:ea typeface="Cambria Math" panose="02040503050406030204" pitchFamily="18" charset="0"/>
                            <a:sym typeface="Calibri"/>
                          </a:rPr>
                        </m:ctrlPr>
                      </m:sSupPr>
                      <m:e>
                        <m:r>
                          <a:rPr lang="en-US" sz="2000" i="1">
                            <a:solidFill>
                              <a:srgbClr val="000000"/>
                            </a:solidFill>
                            <a:latin typeface="Cambria Math" panose="02040503050406030204" pitchFamily="18" charset="0"/>
                            <a:ea typeface="Cambria Math" panose="02040503050406030204" pitchFamily="18" charset="0"/>
                            <a:sym typeface="Calibri"/>
                          </a:rPr>
                          <m:t>𝜆</m:t>
                        </m:r>
                      </m:e>
                      <m:sup>
                        <m:r>
                          <a:rPr lang="en-US" sz="2000" i="1">
                            <a:solidFill>
                              <a:srgbClr val="000000"/>
                            </a:solidFill>
                            <a:latin typeface="Cambria Math" panose="02040503050406030204" pitchFamily="18" charset="0"/>
                            <a:cs typeface="Calibri"/>
                            <a:sym typeface="Calibri"/>
                          </a:rPr>
                          <m:t>2</m:t>
                        </m:r>
                      </m:sup>
                    </m:sSup>
                    <m:r>
                      <a:rPr lang="en-US" sz="2000" i="1">
                        <a:solidFill>
                          <a:srgbClr val="000000"/>
                        </a:solidFill>
                        <a:latin typeface="Cambria Math" panose="02040503050406030204" pitchFamily="18" charset="0"/>
                        <a:cs typeface="Calibri"/>
                        <a:sym typeface="Calibri"/>
                      </a:rPr>
                      <m:t>= </m:t>
                    </m:r>
                    <m:nary>
                      <m:naryPr>
                        <m:limLoc m:val="undOvr"/>
                        <m:subHide m:val="on"/>
                        <m:supHide m:val="on"/>
                        <m:ctrlPr>
                          <a:rPr lang="en-US" sz="2000" i="1">
                            <a:solidFill>
                              <a:srgbClr val="000000"/>
                            </a:solidFill>
                            <a:latin typeface="Cambria Math" panose="02040503050406030204" pitchFamily="18" charset="0"/>
                            <a:cs typeface="Calibri"/>
                            <a:sym typeface="Calibri"/>
                          </a:rPr>
                        </m:ctrlPr>
                      </m:naryPr>
                      <m:sub/>
                      <m:sup/>
                      <m:e>
                        <m:r>
                          <a:rPr lang="en-US" sz="2000" i="1">
                            <a:solidFill>
                              <a:srgbClr val="000000"/>
                            </a:solidFill>
                            <a:latin typeface="Cambria Math" panose="02040503050406030204" pitchFamily="18" charset="0"/>
                            <a:cs typeface="Calibri"/>
                            <a:sym typeface="Calibri"/>
                          </a:rPr>
                          <m:t>𝐴</m:t>
                        </m:r>
                        <m:d>
                          <m:dPr>
                            <m:ctrlPr>
                              <a:rPr lang="en-US" sz="2000" i="1" dirty="0">
                                <a:solidFill>
                                  <a:srgbClr val="000000"/>
                                </a:solidFill>
                                <a:latin typeface="Cambria Math" panose="02040503050406030204" pitchFamily="18" charset="0"/>
                                <a:ea typeface="Cambria Math" panose="02040503050406030204" pitchFamily="18" charset="0"/>
                              </a:rPr>
                            </m:ctrlPr>
                          </m:dPr>
                          <m:e>
                            <m:r>
                              <a:rPr lang="en-US" sz="2000" i="1" dirty="0">
                                <a:solidFill>
                                  <a:srgbClr val="000000"/>
                                </a:solidFill>
                                <a:latin typeface="Cambria Math" panose="02040503050406030204" pitchFamily="18" charset="0"/>
                                <a:ea typeface="Cambria Math" panose="02040503050406030204" pitchFamily="18" charset="0"/>
                              </a:rPr>
                              <m:t>𝜃</m:t>
                            </m:r>
                            <m:r>
                              <a:rPr lang="en-US" sz="2000" i="1" dirty="0">
                                <a:solidFill>
                                  <a:srgbClr val="000000"/>
                                </a:solidFill>
                                <a:latin typeface="Cambria Math" panose="02040503050406030204" pitchFamily="18" charset="0"/>
                                <a:ea typeface="Cambria Math" panose="02040503050406030204" pitchFamily="18" charset="0"/>
                              </a:rPr>
                              <m:t>, </m:t>
                            </m:r>
                            <m:r>
                              <a:rPr lang="en-US" sz="2000" i="1" dirty="0">
                                <a:solidFill>
                                  <a:srgbClr val="000000"/>
                                </a:solidFill>
                                <a:latin typeface="Cambria Math" panose="02040503050406030204" pitchFamily="18" charset="0"/>
                                <a:ea typeface="Cambria Math" panose="02040503050406030204" pitchFamily="18" charset="0"/>
                              </a:rPr>
                              <m:t>𝜙</m:t>
                            </m:r>
                          </m:e>
                        </m:d>
                        <m:r>
                          <a:rPr lang="en-US" sz="2000" i="1">
                            <a:solidFill>
                              <a:srgbClr val="000000"/>
                            </a:solidFill>
                            <a:latin typeface="Cambria Math" panose="02040503050406030204" pitchFamily="18" charset="0"/>
                            <a:cs typeface="Calibri"/>
                            <a:sym typeface="Calibri"/>
                          </a:rPr>
                          <m:t>𝑑</m:t>
                        </m:r>
                        <m:r>
                          <m:rPr>
                            <m:sty m:val="p"/>
                          </m:rPr>
                          <a:rPr lang="el-GR" sz="2000" i="1">
                            <a:solidFill>
                              <a:srgbClr val="000000"/>
                            </a:solidFill>
                            <a:latin typeface="Cambria Math" panose="02040503050406030204" pitchFamily="18" charset="0"/>
                            <a:ea typeface="Cambria Math" panose="02040503050406030204" pitchFamily="18" charset="0"/>
                            <a:sym typeface="Calibri"/>
                          </a:rPr>
                          <m:t>Ω</m:t>
                        </m:r>
                        <m:r>
                          <a:rPr lang="en-US" sz="2000" i="1">
                            <a:solidFill>
                              <a:srgbClr val="000000"/>
                            </a:solidFill>
                            <a:latin typeface="Cambria Math" panose="02040503050406030204" pitchFamily="18" charset="0"/>
                            <a:ea typeface="Cambria Math" panose="02040503050406030204" pitchFamily="18" charset="0"/>
                            <a:sym typeface="Calibri"/>
                          </a:rPr>
                          <m:t>=</m:t>
                        </m:r>
                        <m:nary>
                          <m:naryPr>
                            <m:limLoc m:val="undOvr"/>
                            <m:subHide m:val="on"/>
                            <m:supHide m:val="on"/>
                            <m:ctrlPr>
                              <a:rPr lang="en-US" sz="2000" i="1">
                                <a:solidFill>
                                  <a:srgbClr val="000000"/>
                                </a:solidFill>
                                <a:latin typeface="Cambria Math" panose="02040503050406030204" pitchFamily="18" charset="0"/>
                                <a:ea typeface="Cambria Math" panose="02040503050406030204" pitchFamily="18" charset="0"/>
                                <a:sym typeface="Calibri"/>
                              </a:rPr>
                            </m:ctrlPr>
                          </m:naryPr>
                          <m:sub/>
                          <m:sup/>
                          <m:e>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sSup>
                                  <m:sSupPr>
                                    <m:ctrlPr>
                                      <a:rPr lang="en-US" sz="2000" i="1">
                                        <a:solidFill>
                                          <a:srgbClr val="000000"/>
                                        </a:solidFill>
                                        <a:latin typeface="Cambria Math" panose="02040503050406030204" pitchFamily="18" charset="0"/>
                                        <a:ea typeface="Cambria Math" panose="02040503050406030204" pitchFamily="18" charset="0"/>
                                        <a:sym typeface="Calibri"/>
                                      </a:rPr>
                                    </m:ctrlPr>
                                  </m:sSupPr>
                                  <m:e>
                                    <m:r>
                                      <a:rPr lang="en-US" sz="2000" i="1">
                                        <a:solidFill>
                                          <a:srgbClr val="000000"/>
                                        </a:solidFill>
                                        <a:latin typeface="Cambria Math" panose="02040503050406030204" pitchFamily="18" charset="0"/>
                                        <a:ea typeface="Cambria Math" panose="02040503050406030204" pitchFamily="18" charset="0"/>
                                        <a:sym typeface="Calibri"/>
                                      </a:rPr>
                                      <m:t>ℎ</m:t>
                                    </m:r>
                                  </m:e>
                                  <m:sup>
                                    <m:r>
                                      <a:rPr lang="en-US" sz="2000" i="1">
                                        <a:solidFill>
                                          <a:srgbClr val="000000"/>
                                        </a:solidFill>
                                        <a:latin typeface="Cambria Math" panose="02040503050406030204" pitchFamily="18" charset="0"/>
                                        <a:ea typeface="Cambria Math" panose="02040503050406030204" pitchFamily="18" charset="0"/>
                                        <a:sym typeface="Calibri"/>
                                      </a:rPr>
                                      <m:t>2</m:t>
                                    </m:r>
                                  </m:sup>
                                </m:sSup>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𝜂</m:t>
                                    </m:r>
                                  </m:e>
                                  <m:sub>
                                    <m:r>
                                      <a:rPr lang="en-US" sz="2000" i="1">
                                        <a:solidFill>
                                          <a:srgbClr val="000000"/>
                                        </a:solidFill>
                                        <a:latin typeface="Cambria Math" panose="02040503050406030204" pitchFamily="18" charset="0"/>
                                        <a:ea typeface="Cambria Math" panose="02040503050406030204" pitchFamily="18" charset="0"/>
                                        <a:sym typeface="Calibri"/>
                                      </a:rPr>
                                      <m:t>0</m:t>
                                    </m:r>
                                  </m:sub>
                                </m:sSub>
                              </m:num>
                              <m:den>
                                <m:r>
                                  <a:rPr lang="en-US" sz="2000" i="1">
                                    <a:solidFill>
                                      <a:srgbClr val="000000"/>
                                    </a:solidFill>
                                    <a:latin typeface="Cambria Math" panose="02040503050406030204" pitchFamily="18" charset="0"/>
                                    <a:ea typeface="Cambria Math" panose="02040503050406030204" pitchFamily="18" charset="0"/>
                                    <a:sym typeface="Calibri"/>
                                  </a:rPr>
                                  <m:t>4</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𝑅</m:t>
                                    </m:r>
                                  </m:e>
                                  <m:sub>
                                    <m:r>
                                      <a:rPr lang="en-US" sz="2000" i="1">
                                        <a:solidFill>
                                          <a:srgbClr val="000000"/>
                                        </a:solidFill>
                                        <a:latin typeface="Cambria Math" panose="02040503050406030204" pitchFamily="18" charset="0"/>
                                        <a:ea typeface="Cambria Math" panose="02040503050406030204" pitchFamily="18" charset="0"/>
                                        <a:sym typeface="Calibri"/>
                                      </a:rPr>
                                      <m:t>𝑟</m:t>
                                    </m:r>
                                  </m:sub>
                                </m:sSub>
                              </m:den>
                            </m:f>
                            <m:r>
                              <a:rPr lang="en-US" sz="2000" i="1">
                                <a:solidFill>
                                  <a:srgbClr val="000000"/>
                                </a:solidFill>
                                <a:latin typeface="Cambria Math" panose="02040503050406030204" pitchFamily="18" charset="0"/>
                                <a:ea typeface="Cambria Math" panose="02040503050406030204" pitchFamily="18" charset="0"/>
                                <a:sym typeface="Calibri"/>
                              </a:rPr>
                              <m:t> </m:t>
                            </m:r>
                            <m:r>
                              <a:rPr lang="en-US" sz="2000" i="1">
                                <a:solidFill>
                                  <a:srgbClr val="000000"/>
                                </a:solidFill>
                                <a:latin typeface="Cambria Math" panose="02040503050406030204" pitchFamily="18" charset="0"/>
                              </a:rPr>
                              <m:t>𝑑</m:t>
                            </m:r>
                            <m:r>
                              <m:rPr>
                                <m:sty m:val="p"/>
                              </m:rPr>
                              <a:rPr lang="el-GR" sz="2000" i="1">
                                <a:solidFill>
                                  <a:srgbClr val="000000"/>
                                </a:solidFill>
                                <a:latin typeface="Cambria Math" panose="02040503050406030204" pitchFamily="18" charset="0"/>
                                <a:ea typeface="Cambria Math" panose="02040503050406030204" pitchFamily="18" charset="0"/>
                              </a:rPr>
                              <m:t>Ω</m:t>
                            </m:r>
                          </m:e>
                        </m:nary>
                      </m:e>
                    </m:nary>
                  </m:oMath>
                </a14:m>
                <a:r>
                  <a:rPr lang="en-US" sz="2000" dirty="0">
                    <a:solidFill>
                      <a:srgbClr val="000000"/>
                    </a:solidFill>
                    <a:latin typeface="Calibri"/>
                    <a:ea typeface="Calibri"/>
                    <a:cs typeface="Calibri"/>
                    <a:sym typeface="Calibri"/>
                  </a:rPr>
                  <a:t>, so</a:t>
                </a:r>
              </a:p>
              <a:p>
                <a:pPr marL="285750" indent="-285750"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𝑅</m:t>
                        </m:r>
                      </m:e>
                      <m:sub>
                        <m:r>
                          <a:rPr lang="en-US" sz="2000" i="1">
                            <a:solidFill>
                              <a:srgbClr val="000000"/>
                            </a:solidFill>
                            <a:latin typeface="Cambria Math" panose="02040503050406030204" pitchFamily="18" charset="0"/>
                            <a:cs typeface="Calibri"/>
                            <a:sym typeface="Calibri"/>
                          </a:rPr>
                          <m:t>𝑟</m:t>
                        </m:r>
                      </m:sub>
                    </m:sSub>
                    <m:r>
                      <a:rPr lang="en-US" sz="2000" i="1">
                        <a:solidFill>
                          <a:srgbClr val="000000"/>
                        </a:solidFill>
                        <a:latin typeface="Cambria Math" panose="02040503050406030204" pitchFamily="18" charset="0"/>
                        <a:cs typeface="Calibri"/>
                        <a:sym typeface="Calibri"/>
                      </a:rPr>
                      <m:t>=</m:t>
                    </m:r>
                    <m:f>
                      <m:fPr>
                        <m:ctrlPr>
                          <a:rPr lang="en-US" sz="2000" i="1">
                            <a:solidFill>
                              <a:srgbClr val="000000"/>
                            </a:solidFill>
                            <a:latin typeface="Cambria Math" panose="02040503050406030204" pitchFamily="18" charset="0"/>
                            <a:ea typeface="Cambria Math" panose="02040503050406030204" pitchFamily="18" charset="0"/>
                          </a:rPr>
                        </m:ctrlPr>
                      </m:fPr>
                      <m:num>
                        <m:sSup>
                          <m:sSupPr>
                            <m:ctrlPr>
                              <a:rPr lang="en-US" sz="2000" i="1">
                                <a:solidFill>
                                  <a:srgbClr val="000000"/>
                                </a:solidFill>
                                <a:latin typeface="Cambria Math" panose="02040503050406030204" pitchFamily="18" charset="0"/>
                                <a:ea typeface="Cambria Math" panose="02040503050406030204" pitchFamily="18" charset="0"/>
                              </a:rPr>
                            </m:ctrlPr>
                          </m:sSupPr>
                          <m:e>
                            <m:r>
                              <a:rPr lang="en-US" sz="2000" i="1">
                                <a:solidFill>
                                  <a:srgbClr val="000000"/>
                                </a:solidFill>
                                <a:latin typeface="Cambria Math" panose="02040503050406030204" pitchFamily="18" charset="0"/>
                                <a:ea typeface="Cambria Math" panose="02040503050406030204" pitchFamily="18" charset="0"/>
                              </a:rPr>
                              <m:t>𝑙</m:t>
                            </m:r>
                          </m:e>
                          <m:sup>
                            <m:r>
                              <a:rPr lang="en-US" sz="2000" i="1">
                                <a:solidFill>
                                  <a:srgbClr val="000000"/>
                                </a:solidFill>
                                <a:latin typeface="Cambria Math" panose="02040503050406030204" pitchFamily="18" charset="0"/>
                                <a:ea typeface="Cambria Math" panose="02040503050406030204" pitchFamily="18" charset="0"/>
                              </a:rPr>
                              <m:t>2</m:t>
                            </m:r>
                          </m:sup>
                        </m:sSup>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𝜂</m:t>
                            </m:r>
                          </m:e>
                          <m:sub>
                            <m:r>
                              <a:rPr lang="en-US" sz="2000" i="1">
                                <a:solidFill>
                                  <a:srgbClr val="000000"/>
                                </a:solidFill>
                                <a:latin typeface="Cambria Math" panose="02040503050406030204" pitchFamily="18" charset="0"/>
                                <a:ea typeface="Cambria Math" panose="02040503050406030204" pitchFamily="18" charset="0"/>
                              </a:rPr>
                              <m:t>0</m:t>
                            </m:r>
                          </m:sub>
                        </m:sSub>
                      </m:num>
                      <m:den>
                        <m:r>
                          <a:rPr lang="en-US" sz="2000" i="1">
                            <a:solidFill>
                              <a:srgbClr val="000000"/>
                            </a:solidFill>
                            <a:latin typeface="Cambria Math" panose="02040503050406030204" pitchFamily="18" charset="0"/>
                            <a:cs typeface="Calibri"/>
                            <a:sym typeface="Calibri"/>
                          </a:rPr>
                          <m:t>16</m:t>
                        </m:r>
                        <m:sSup>
                          <m:sSupPr>
                            <m:ctrlPr>
                              <a:rPr lang="en-US" sz="2000" i="1">
                                <a:solidFill>
                                  <a:srgbClr val="000000"/>
                                </a:solidFill>
                                <a:latin typeface="Cambria Math" panose="02040503050406030204" pitchFamily="18" charset="0"/>
                                <a:ea typeface="Cambria Math" panose="02040503050406030204" pitchFamily="18" charset="0"/>
                                <a:sym typeface="Calibri"/>
                              </a:rPr>
                            </m:ctrlPr>
                          </m:sSupPr>
                          <m:e>
                            <m:r>
                              <a:rPr lang="en-US" sz="2000" i="1">
                                <a:solidFill>
                                  <a:srgbClr val="000000"/>
                                </a:solidFill>
                                <a:latin typeface="Cambria Math" panose="02040503050406030204" pitchFamily="18" charset="0"/>
                                <a:ea typeface="Cambria Math" panose="02040503050406030204" pitchFamily="18" charset="0"/>
                                <a:sym typeface="Calibri"/>
                              </a:rPr>
                              <m:t>𝜆</m:t>
                            </m:r>
                          </m:e>
                          <m:sup>
                            <m:r>
                              <a:rPr lang="en-US" sz="2000" i="1">
                                <a:solidFill>
                                  <a:srgbClr val="000000"/>
                                </a:solidFill>
                                <a:latin typeface="Cambria Math" panose="02040503050406030204" pitchFamily="18" charset="0"/>
                                <a:cs typeface="Calibri"/>
                                <a:sym typeface="Calibri"/>
                              </a:rPr>
                              <m:t>2</m:t>
                            </m:r>
                          </m:sup>
                        </m:sSup>
                        <m:r>
                          <a:rPr lang="en-US" sz="2000" i="1">
                            <a:solidFill>
                              <a:srgbClr val="000000"/>
                            </a:solidFill>
                            <a:latin typeface="Cambria Math" panose="02040503050406030204" pitchFamily="18" charset="0"/>
                            <a:cs typeface="Calibri"/>
                            <a:sym typeface="Calibri"/>
                          </a:rPr>
                          <m:t> </m:t>
                        </m:r>
                      </m:den>
                    </m:f>
                    <m:r>
                      <a:rPr lang="en-US" sz="2000" i="1">
                        <a:solidFill>
                          <a:srgbClr val="000000"/>
                        </a:solidFill>
                        <a:latin typeface="Cambria Math" panose="02040503050406030204" pitchFamily="18" charset="0"/>
                        <a:cs typeface="Calibri"/>
                        <a:sym typeface="Calibri"/>
                      </a:rPr>
                      <m:t> </m:t>
                    </m:r>
                    <m:nary>
                      <m:naryPr>
                        <m:limLoc m:val="undOvr"/>
                        <m:subHide m:val="on"/>
                        <m:supHide m:val="on"/>
                        <m:ctrlPr>
                          <a:rPr lang="en-US" sz="2000" i="1">
                            <a:solidFill>
                              <a:srgbClr val="000000"/>
                            </a:solidFill>
                            <a:latin typeface="Cambria Math" panose="02040503050406030204" pitchFamily="18" charset="0"/>
                            <a:cs typeface="Calibri"/>
                            <a:sym typeface="Calibri"/>
                          </a:rPr>
                        </m:ctrlPr>
                      </m:naryPr>
                      <m:sub/>
                      <m:sup/>
                      <m:e>
                        <m:sSup>
                          <m:sSupPr>
                            <m:ctrlPr>
                              <a:rPr lang="en-US" sz="2000" i="1">
                                <a:solidFill>
                                  <a:srgbClr val="000000"/>
                                </a:solidFill>
                                <a:latin typeface="Cambria Math" panose="02040503050406030204" pitchFamily="18" charset="0"/>
                                <a:cs typeface="Calibri"/>
                                <a:sym typeface="Calibri"/>
                              </a:rPr>
                            </m:ctrlPr>
                          </m:sSupPr>
                          <m:e>
                            <m:r>
                              <a:rPr lang="en-US" sz="2000" i="1">
                                <a:solidFill>
                                  <a:srgbClr val="000000"/>
                                </a:solidFill>
                                <a:latin typeface="Cambria Math" panose="02040503050406030204" pitchFamily="18" charset="0"/>
                                <a:cs typeface="Calibri"/>
                                <a:sym typeface="Calibri"/>
                              </a:rPr>
                              <m:t>𝑠𝑖𝑛</m:t>
                            </m:r>
                          </m:e>
                          <m:sup>
                            <m:r>
                              <a:rPr lang="en-US" sz="2000" i="1">
                                <a:solidFill>
                                  <a:srgbClr val="000000"/>
                                </a:solidFill>
                                <a:latin typeface="Cambria Math" panose="02040503050406030204" pitchFamily="18" charset="0"/>
                                <a:cs typeface="Calibri"/>
                                <a:sym typeface="Calibri"/>
                              </a:rPr>
                              <m:t>2</m:t>
                            </m:r>
                          </m:sup>
                        </m:sSup>
                        <m:d>
                          <m:dPr>
                            <m:ctrlPr>
                              <a:rPr lang="en-US" sz="2000" i="1">
                                <a:solidFill>
                                  <a:srgbClr val="000000"/>
                                </a:solidFill>
                                <a:latin typeface="Cambria Math" panose="02040503050406030204" pitchFamily="18" charset="0"/>
                                <a:ea typeface="Cambria Math" panose="02040503050406030204" pitchFamily="18" charset="0"/>
                                <a:sym typeface="Calibri"/>
                              </a:rPr>
                            </m:ctrlPr>
                          </m:dPr>
                          <m:e>
                            <m:r>
                              <a:rPr lang="en-US" sz="2000" i="1">
                                <a:solidFill>
                                  <a:srgbClr val="000000"/>
                                </a:solidFill>
                                <a:latin typeface="Cambria Math" panose="02040503050406030204" pitchFamily="18" charset="0"/>
                                <a:ea typeface="Cambria Math" panose="02040503050406030204" pitchFamily="18" charset="0"/>
                                <a:sym typeface="Calibri"/>
                              </a:rPr>
                              <m:t>𝜃</m:t>
                            </m:r>
                          </m:e>
                        </m:d>
                        <m:r>
                          <a:rPr lang="en-US" sz="2000" i="1">
                            <a:solidFill>
                              <a:srgbClr val="000000"/>
                            </a:solidFill>
                            <a:latin typeface="Cambria Math" panose="02040503050406030204" pitchFamily="18" charset="0"/>
                          </a:rPr>
                          <m:t>𝑑</m:t>
                        </m:r>
                        <m:r>
                          <m:rPr>
                            <m:sty m:val="p"/>
                          </m:rPr>
                          <a:rPr lang="el-GR" sz="2000" i="1">
                            <a:solidFill>
                              <a:srgbClr val="000000"/>
                            </a:solidFill>
                            <a:latin typeface="Cambria Math" panose="02040503050406030204" pitchFamily="18" charset="0"/>
                            <a:ea typeface="Cambria Math" panose="02040503050406030204" pitchFamily="18" charset="0"/>
                          </a:rPr>
                          <m:t>Ω</m:t>
                        </m:r>
                        <m:r>
                          <a:rPr lang="en-US" sz="2000" i="1">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𝜂</m:t>
                            </m:r>
                          </m:e>
                          <m:sub>
                            <m:r>
                              <a:rPr lang="en-US" sz="2000" i="1">
                                <a:solidFill>
                                  <a:srgbClr val="000000"/>
                                </a:solidFill>
                                <a:latin typeface="Cambria Math" panose="02040503050406030204" pitchFamily="18" charset="0"/>
                                <a:ea typeface="Cambria Math" panose="02040503050406030204" pitchFamily="18" charset="0"/>
                              </a:rPr>
                              <m:t>0</m:t>
                            </m:r>
                          </m:sub>
                        </m:sSub>
                        <m:f>
                          <m:fPr>
                            <m:ctrlPr>
                              <a:rPr lang="en-US" sz="2000" i="1">
                                <a:solidFill>
                                  <a:srgbClr val="000000"/>
                                </a:solidFill>
                                <a:latin typeface="Cambria Math" panose="02040503050406030204" pitchFamily="18" charset="0"/>
                                <a:ea typeface="Cambria Math" panose="02040503050406030204" pitchFamily="18" charset="0"/>
                              </a:rPr>
                            </m:ctrlPr>
                          </m:fPr>
                          <m:num>
                            <m:r>
                              <a:rPr lang="en-US" sz="2000" i="1">
                                <a:solidFill>
                                  <a:srgbClr val="000000"/>
                                </a:solidFill>
                                <a:latin typeface="Cambria Math" panose="02040503050406030204" pitchFamily="18" charset="0"/>
                                <a:ea typeface="Cambria Math" panose="02040503050406030204" pitchFamily="18" charset="0"/>
                              </a:rPr>
                              <m:t>𝜋</m:t>
                            </m:r>
                          </m:num>
                          <m:den>
                            <m:r>
                              <a:rPr lang="en-US" sz="2000" i="1">
                                <a:solidFill>
                                  <a:srgbClr val="000000"/>
                                </a:solidFill>
                                <a:latin typeface="Cambria Math" panose="02040503050406030204" pitchFamily="18" charset="0"/>
                                <a:ea typeface="Cambria Math" panose="02040503050406030204" pitchFamily="18" charset="0"/>
                              </a:rPr>
                              <m:t>6</m:t>
                            </m:r>
                          </m:den>
                        </m:f>
                      </m:e>
                    </m:nary>
                    <m:r>
                      <a:rPr lang="en-US" sz="2000" i="1">
                        <a:solidFill>
                          <a:srgbClr val="000000"/>
                        </a:solidFill>
                        <a:latin typeface="Cambria Math" panose="02040503050406030204" pitchFamily="18" charset="0"/>
                        <a:cs typeface="Calibri"/>
                        <a:sym typeface="Calibri"/>
                      </a:rPr>
                      <m:t> </m:t>
                    </m:r>
                    <m:sSup>
                      <m:sSupPr>
                        <m:ctrlPr>
                          <a:rPr lang="en-US" sz="2000" i="1">
                            <a:solidFill>
                              <a:srgbClr val="000000"/>
                            </a:solidFill>
                            <a:latin typeface="Cambria Math" panose="02040503050406030204" pitchFamily="18" charset="0"/>
                            <a:cs typeface="Calibri"/>
                            <a:sym typeface="Calibri"/>
                          </a:rPr>
                        </m:ctrlPr>
                      </m:sSupPr>
                      <m:e>
                        <m:r>
                          <a:rPr lang="en-US" sz="2000" i="1">
                            <a:solidFill>
                              <a:srgbClr val="000000"/>
                            </a:solidFill>
                            <a:latin typeface="Cambria Math" panose="02040503050406030204" pitchFamily="18" charset="0"/>
                            <a:cs typeface="Calibri"/>
                            <a:sym typeface="Calibri"/>
                          </a:rPr>
                          <m:t>(</m:t>
                        </m:r>
                        <m:f>
                          <m:fPr>
                            <m:ctrlPr>
                              <a:rPr lang="en-US" sz="2000" i="1">
                                <a:solidFill>
                                  <a:srgbClr val="000000"/>
                                </a:solidFill>
                                <a:latin typeface="Cambria Math" panose="02040503050406030204" pitchFamily="18" charset="0"/>
                                <a:cs typeface="Calibri"/>
                                <a:sym typeface="Calibri"/>
                              </a:rPr>
                            </m:ctrlPr>
                          </m:fPr>
                          <m:num>
                            <m:r>
                              <a:rPr lang="en-US" sz="2000" i="1">
                                <a:solidFill>
                                  <a:srgbClr val="000000"/>
                                </a:solidFill>
                                <a:latin typeface="Cambria Math" panose="02040503050406030204" pitchFamily="18" charset="0"/>
                                <a:cs typeface="Calibri"/>
                                <a:sym typeface="Calibri"/>
                              </a:rPr>
                              <m:t>𝑙</m:t>
                            </m:r>
                          </m:num>
                          <m:den>
                            <m:r>
                              <a:rPr lang="en-US" sz="2000" i="1">
                                <a:solidFill>
                                  <a:srgbClr val="000000"/>
                                </a:solidFill>
                                <a:latin typeface="Cambria Math" panose="02040503050406030204" pitchFamily="18" charset="0"/>
                                <a:ea typeface="Cambria Math" panose="02040503050406030204" pitchFamily="18" charset="0"/>
                                <a:sym typeface="Calibri"/>
                              </a:rPr>
                              <m:t>𝜆</m:t>
                            </m:r>
                          </m:den>
                        </m:f>
                        <m:r>
                          <a:rPr lang="en-US" sz="2000" i="1">
                            <a:solidFill>
                              <a:srgbClr val="000000"/>
                            </a:solidFill>
                            <a:latin typeface="Cambria Math" panose="02040503050406030204" pitchFamily="18" charset="0"/>
                            <a:cs typeface="Calibri"/>
                            <a:sym typeface="Calibri"/>
                          </a:rPr>
                          <m:t>)</m:t>
                        </m:r>
                      </m:e>
                      <m:sup>
                        <m:r>
                          <a:rPr lang="en-US" sz="2000" i="1">
                            <a:solidFill>
                              <a:srgbClr val="000000"/>
                            </a:solidFill>
                            <a:latin typeface="Cambria Math" panose="02040503050406030204" pitchFamily="18" charset="0"/>
                            <a:cs typeface="Calibri"/>
                            <a:sym typeface="Calibri"/>
                          </a:rPr>
                          <m:t>2</m:t>
                        </m:r>
                      </m:sup>
                    </m:sSup>
                  </m:oMath>
                </a14:m>
                <a:endParaRPr lang="en-US" sz="2000" dirty="0">
                  <a:solidFill>
                    <a:srgbClr val="000000"/>
                  </a:solidFill>
                  <a:latin typeface="Calibri"/>
                  <a:ea typeface="Calibri"/>
                  <a:cs typeface="Calibri"/>
                  <a:sym typeface="Calibri"/>
                </a:endParaRPr>
              </a:p>
              <a:p>
                <a:pPr marL="285750" indent="-285750" hangingPunct="0">
                  <a:buFont typeface="Arial" panose="020B0604020202020204" pitchFamily="34" charset="0"/>
                  <a:buChar char="•"/>
                </a:pPr>
                <a14:m>
                  <m:oMath xmlns:m="http://schemas.openxmlformats.org/officeDocument/2006/math">
                    <m:sSub>
                      <m:sSubPr>
                        <m:ctrlPr>
                          <a:rPr lang="en-US" sz="200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sz="2000" i="1" smtClean="0">
                            <a:solidFill>
                              <a:srgbClr val="000000"/>
                            </a:solidFill>
                            <a:latin typeface="Cambria Math" panose="02040503050406030204" pitchFamily="18" charset="0"/>
                            <a:ea typeface="Cambria Math" panose="02040503050406030204" pitchFamily="18" charset="0"/>
                            <a:cs typeface="Calibri"/>
                            <a:sym typeface="Calibri"/>
                          </a:rPr>
                          <m:t>𝜂</m:t>
                        </m:r>
                      </m:e>
                      <m:sub>
                        <m:r>
                          <a:rPr lang="en-US" sz="2000" b="0" i="1" smtClean="0">
                            <a:solidFill>
                              <a:srgbClr val="000000"/>
                            </a:solidFill>
                            <a:latin typeface="Cambria Math" panose="02040503050406030204" pitchFamily="18" charset="0"/>
                            <a:cs typeface="Calibri"/>
                            <a:sym typeface="Calibri"/>
                          </a:rPr>
                          <m:t>0</m:t>
                        </m:r>
                      </m:sub>
                    </m:sSub>
                    <m:r>
                      <a:rPr lang="en-US" sz="2000" b="0" i="1" smtClean="0">
                        <a:solidFill>
                          <a:srgbClr val="000000"/>
                        </a:solidFill>
                        <a:latin typeface="Cambria Math" panose="02040503050406030204" pitchFamily="18" charset="0"/>
                        <a:cs typeface="Calibri"/>
                        <a:sym typeface="Calibri"/>
                      </a:rPr>
                      <m:t>=120</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𝜋</m:t>
                    </m:r>
                  </m:oMath>
                </a14:m>
                <a:r>
                  <a:rPr lang="en-US" sz="2000" dirty="0">
                    <a:solidFill>
                      <a:srgbClr val="000000"/>
                    </a:solidFill>
                    <a:latin typeface="Calibri"/>
                    <a:ea typeface="Calibri"/>
                    <a:cs typeface="Calibri"/>
                    <a:sym typeface="Calibri"/>
                  </a:rPr>
                  <a:t> so for half-wave dipole, </a:t>
                </a:r>
                <a14:m>
                  <m:oMath xmlns:m="http://schemas.openxmlformats.org/officeDocument/2006/math">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𝑅</m:t>
                        </m:r>
                      </m:e>
                      <m:sub>
                        <m:r>
                          <a:rPr lang="en-US" sz="2000" i="1">
                            <a:solidFill>
                              <a:srgbClr val="000000"/>
                            </a:solidFill>
                            <a:latin typeface="Cambria Math" panose="02040503050406030204" pitchFamily="18" charset="0"/>
                            <a:cs typeface="Calibri"/>
                            <a:sym typeface="Calibri"/>
                          </a:rPr>
                          <m:t>𝑟</m:t>
                        </m:r>
                      </m:sub>
                    </m:sSub>
                    <m:r>
                      <a:rPr lang="en-US" sz="200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20</m:t>
                    </m:r>
                    <m:sSup>
                      <m:sSup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𝜋</m:t>
                        </m:r>
                      </m:e>
                      <m:sup>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2</m:t>
                        </m:r>
                      </m:sup>
                    </m:sSup>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≈49</m:t>
                    </m:r>
                    <m:r>
                      <m:rPr>
                        <m:sty m:val="p"/>
                      </m:rPr>
                      <a:rPr lang="el-GR" sz="2000" b="0" i="1" smtClean="0">
                        <a:solidFill>
                          <a:srgbClr val="000000"/>
                        </a:solidFill>
                        <a:latin typeface="Cambria Math" panose="02040503050406030204" pitchFamily="18" charset="0"/>
                        <a:ea typeface="Cambria Math" panose="02040503050406030204" pitchFamily="18" charset="0"/>
                        <a:cs typeface="Calibri"/>
                        <a:sym typeface="Calibri"/>
                      </a:rPr>
                      <m:t>Ω</m:t>
                    </m:r>
                  </m:oMath>
                </a14:m>
                <a:r>
                  <a:rPr lang="en-US" sz="2000" dirty="0">
                    <a:solidFill>
                      <a:srgbClr val="000000"/>
                    </a:solidFill>
                    <a:latin typeface="Calibri"/>
                    <a:ea typeface="Calibri"/>
                    <a:cs typeface="Calibri"/>
                    <a:sym typeface="Calibri"/>
                  </a:rPr>
                  <a:t> (It’s closer to </a:t>
                </a:r>
                <a14:m>
                  <m:oMath xmlns:m="http://schemas.openxmlformats.org/officeDocument/2006/math">
                    <m:r>
                      <a:rPr lang="en-US" sz="2000" b="0" i="1" smtClean="0">
                        <a:solidFill>
                          <a:srgbClr val="000000"/>
                        </a:solidFill>
                        <a:latin typeface="Cambria Math" panose="02040503050406030204" pitchFamily="18" charset="0"/>
                        <a:ea typeface="Calibri"/>
                        <a:cs typeface="Calibri"/>
                        <a:sym typeface="Calibri"/>
                      </a:rPr>
                      <m:t>73</m:t>
                    </m:r>
                    <m:r>
                      <m:rPr>
                        <m:sty m:val="p"/>
                      </m:rPr>
                      <a:rPr lang="el-GR" sz="2000" b="0" i="1" smtClean="0">
                        <a:solidFill>
                          <a:srgbClr val="000000"/>
                        </a:solidFill>
                        <a:latin typeface="Cambria Math" panose="02040503050406030204" pitchFamily="18" charset="0"/>
                        <a:ea typeface="Cambria Math" panose="02040503050406030204" pitchFamily="18" charset="0"/>
                        <a:cs typeface="Calibri"/>
                        <a:sym typeface="Calibri"/>
                      </a:rPr>
                      <m:t>Ω</m:t>
                    </m:r>
                  </m:oMath>
                </a14:m>
                <a:r>
                  <a:rPr lang="en-US" sz="2000" dirty="0">
                    <a:solidFill>
                      <a:srgbClr val="000000"/>
                    </a:solidFill>
                    <a:latin typeface="Calibri"/>
                    <a:ea typeface="Calibri"/>
                    <a:cs typeface="Calibri"/>
                    <a:sym typeface="Calibri"/>
                  </a:rPr>
                  <a:t>) </a:t>
                </a:r>
              </a:p>
              <a:p>
                <a:pPr marL="742950" lvl="1" indent="-285750" hangingPunct="0">
                  <a:buFont typeface="Arial" panose="020B0604020202020204" pitchFamily="34" charset="0"/>
                  <a:buChar char="•"/>
                </a:pPr>
                <a:r>
                  <a:rPr lang="en-US" sz="2000" dirty="0">
                    <a:solidFill>
                      <a:srgbClr val="000000"/>
                    </a:solidFill>
                    <a:latin typeface="Calibri"/>
                    <a:ea typeface="Calibri"/>
                    <a:cs typeface="Calibri"/>
                    <a:sym typeface="Calibri"/>
                  </a:rPr>
                  <a:t>This explains the  customary </a:t>
                </a:r>
                <a14:m>
                  <m:oMath xmlns:m="http://schemas.openxmlformats.org/officeDocument/2006/math">
                    <m:r>
                      <a:rPr lang="en-US" sz="2000" i="1">
                        <a:solidFill>
                          <a:srgbClr val="000000"/>
                        </a:solidFill>
                        <a:latin typeface="Cambria Math" panose="02040503050406030204" pitchFamily="18" charset="0"/>
                        <a:ea typeface="Calibri"/>
                        <a:cs typeface="Calibri"/>
                        <a:sym typeface="Calibri"/>
                      </a:rPr>
                      <m:t>73</m:t>
                    </m:r>
                    <m:r>
                      <m:rPr>
                        <m:sty m:val="p"/>
                      </m:rPr>
                      <a:rPr lang="el-GR" sz="2000" i="1">
                        <a:solidFill>
                          <a:srgbClr val="000000"/>
                        </a:solidFill>
                        <a:latin typeface="Cambria Math" panose="02040503050406030204" pitchFamily="18" charset="0"/>
                        <a:ea typeface="Cambria Math" panose="02040503050406030204" pitchFamily="18" charset="0"/>
                        <a:cs typeface="Calibri"/>
                        <a:sym typeface="Calibri"/>
                      </a:rPr>
                      <m:t>Ω</m:t>
                    </m:r>
                  </m:oMath>
                </a14:m>
                <a:r>
                  <a:rPr lang="en-US" sz="2000" dirty="0">
                    <a:solidFill>
                      <a:srgbClr val="000000"/>
                    </a:solidFill>
                    <a:latin typeface="Calibri"/>
                    <a:ea typeface="Calibri"/>
                    <a:cs typeface="Calibri"/>
                    <a:sym typeface="Calibri"/>
                  </a:rPr>
                  <a:t> or </a:t>
                </a:r>
                <a14:m>
                  <m:oMath xmlns:m="http://schemas.openxmlformats.org/officeDocument/2006/math">
                    <m:r>
                      <a:rPr lang="en-US" sz="2000" i="1">
                        <a:solidFill>
                          <a:srgbClr val="000000"/>
                        </a:solidFill>
                        <a:latin typeface="Cambria Math" panose="02040503050406030204" pitchFamily="18" charset="0"/>
                        <a:ea typeface="Calibri"/>
                        <a:cs typeface="Calibri"/>
                        <a:sym typeface="Calibri"/>
                      </a:rPr>
                      <m:t>73</m:t>
                    </m:r>
                    <m:r>
                      <m:rPr>
                        <m:sty m:val="p"/>
                      </m:rPr>
                      <a:rPr lang="el-GR" sz="2000" i="1">
                        <a:solidFill>
                          <a:srgbClr val="000000"/>
                        </a:solidFill>
                        <a:latin typeface="Cambria Math" panose="02040503050406030204" pitchFamily="18" charset="0"/>
                        <a:ea typeface="Cambria Math" panose="02040503050406030204" pitchFamily="18" charset="0"/>
                        <a:cs typeface="Calibri"/>
                        <a:sym typeface="Calibri"/>
                      </a:rPr>
                      <m:t>Ω</m:t>
                    </m:r>
                  </m:oMath>
                </a14:m>
                <a:r>
                  <a:rPr lang="en-US" sz="2000" dirty="0">
                    <a:solidFill>
                      <a:srgbClr val="000000"/>
                    </a:solidFill>
                    <a:latin typeface="Calibri"/>
                    <a:ea typeface="Calibri"/>
                    <a:cs typeface="Calibri"/>
                    <a:sym typeface="Calibri"/>
                  </a:rPr>
                  <a:t> coax impedance</a:t>
                </a:r>
              </a:p>
              <a:p>
                <a:pPr marL="285750" indent="-285750" hangingPunct="0">
                  <a:buFont typeface="Arial" panose="020B0604020202020204" pitchFamily="34" charset="0"/>
                  <a:buChar char="•"/>
                </a:pPr>
                <a:r>
                  <a:rPr lang="en-US" sz="2000" dirty="0">
                    <a:solidFill>
                      <a:srgbClr val="000000"/>
                    </a:solidFill>
                    <a:ea typeface="Calibri"/>
                    <a:cs typeface="Calibri"/>
                    <a:sym typeface="Calibri"/>
                  </a:rPr>
                  <a:t>Since </a:t>
                </a:r>
                <a:r>
                  <a:rPr lang="en-US" sz="2000" dirty="0">
                    <a:solidFill>
                      <a:srgbClr val="000000"/>
                    </a:solidFill>
                    <a:latin typeface="Calibri" panose="020F0502020204030204" pitchFamily="34" charset="0"/>
                    <a:cs typeface="Calibri" panose="020F0502020204030204" pitchFamily="34" charset="0"/>
                  </a:rPr>
                  <a:t> </a:t>
                </a:r>
                <a14:m>
                  <m:oMath xmlns:m="http://schemas.openxmlformats.org/officeDocument/2006/math">
                    <m:r>
                      <a:rPr lang="en-US" sz="2000" i="1">
                        <a:solidFill>
                          <a:srgbClr val="000000"/>
                        </a:solidFill>
                        <a:latin typeface="Cambria Math" panose="02040503050406030204" pitchFamily="18" charset="0"/>
                        <a:cs typeface="Calibri" panose="020F0502020204030204" pitchFamily="34" charset="0"/>
                      </a:rPr>
                      <m:t>𝐴</m:t>
                    </m:r>
                    <m:r>
                      <a:rPr lang="en-US" sz="2000" i="1">
                        <a:solidFill>
                          <a:srgbClr val="000000"/>
                        </a:solidFill>
                        <a:latin typeface="Cambria Math" panose="02040503050406030204" pitchFamily="18" charset="0"/>
                        <a:cs typeface="Calibri" panose="020F0502020204030204" pitchFamily="34" charset="0"/>
                      </a:rPr>
                      <m:t>=</m:t>
                    </m:r>
                    <m:f>
                      <m:fPr>
                        <m:ctrlPr>
                          <a:rPr lang="en-US" sz="2000" i="1">
                            <a:solidFill>
                              <a:srgbClr val="000000"/>
                            </a:solidFill>
                            <a:latin typeface="Cambria Math" panose="02040503050406030204" pitchFamily="18" charset="0"/>
                            <a:cs typeface="Calibri" panose="020F0502020204030204" pitchFamily="34" charset="0"/>
                          </a:rPr>
                        </m:ctrlPr>
                      </m:fPr>
                      <m:num>
                        <m:sSup>
                          <m:sSupPr>
                            <m:ctrlPr>
                              <a:rPr lang="en-US" sz="2000" i="1">
                                <a:solidFill>
                                  <a:srgbClr val="000000"/>
                                </a:solidFill>
                                <a:latin typeface="Cambria Math" panose="02040503050406030204" pitchFamily="18" charset="0"/>
                                <a:cs typeface="Calibri" panose="020F0502020204030204" pitchFamily="34" charset="0"/>
                              </a:rPr>
                            </m:ctrlPr>
                          </m:sSupPr>
                          <m:e>
                            <m:r>
                              <a:rPr lang="en-US" sz="2000" i="1">
                                <a:solidFill>
                                  <a:srgbClr val="000000"/>
                                </a:solidFill>
                                <a:latin typeface="Cambria Math" panose="02040503050406030204" pitchFamily="18" charset="0"/>
                                <a:cs typeface="Calibri" panose="020F0502020204030204" pitchFamily="34" charset="0"/>
                              </a:rPr>
                              <m:t>ℎ</m:t>
                            </m:r>
                          </m:e>
                          <m:sup>
                            <m:r>
                              <a:rPr lang="en-US" sz="2000" i="1">
                                <a:solidFill>
                                  <a:srgbClr val="000000"/>
                                </a:solidFill>
                                <a:latin typeface="Cambria Math" panose="02040503050406030204" pitchFamily="18" charset="0"/>
                                <a:cs typeface="Calibri" panose="020F0502020204030204" pitchFamily="34" charset="0"/>
                              </a:rPr>
                              <m:t>2</m:t>
                            </m:r>
                          </m:sup>
                        </m:sSup>
                        <m:sSub>
                          <m:sSubPr>
                            <m:ctrlPr>
                              <a:rPr lang="en-US" sz="2000" i="1">
                                <a:solidFill>
                                  <a:srgbClr val="000000"/>
                                </a:solidFill>
                                <a:latin typeface="Cambria Math" panose="02040503050406030204" pitchFamily="18" charset="0"/>
                                <a:ea typeface="Cambria Math" panose="02040503050406030204" pitchFamily="18" charset="0"/>
                                <a:cs typeface="Calibri" panose="020F0502020204030204" pitchFamily="34" charset="0"/>
                              </a:rPr>
                            </m:ctrlPr>
                          </m:sSubPr>
                          <m:e>
                            <m:r>
                              <a:rPr lang="en-US" sz="2000" i="1">
                                <a:solidFill>
                                  <a:srgbClr val="000000"/>
                                </a:solidFill>
                                <a:latin typeface="Cambria Math" panose="02040503050406030204" pitchFamily="18" charset="0"/>
                                <a:ea typeface="Cambria Math" panose="02040503050406030204" pitchFamily="18" charset="0"/>
                                <a:cs typeface="Calibri" panose="020F0502020204030204" pitchFamily="34" charset="0"/>
                              </a:rPr>
                              <m:t>𝜂</m:t>
                            </m:r>
                          </m:e>
                          <m:sub>
                            <m:r>
                              <a:rPr lang="en-US" sz="2000" i="1">
                                <a:solidFill>
                                  <a:srgbClr val="000000"/>
                                </a:solidFill>
                                <a:latin typeface="Cambria Math" panose="02040503050406030204" pitchFamily="18" charset="0"/>
                                <a:cs typeface="Calibri" panose="020F0502020204030204" pitchFamily="34" charset="0"/>
                              </a:rPr>
                              <m:t>0</m:t>
                            </m:r>
                          </m:sub>
                        </m:sSub>
                      </m:num>
                      <m:den>
                        <m:r>
                          <a:rPr lang="en-US" sz="2000" i="1">
                            <a:solidFill>
                              <a:srgbClr val="000000"/>
                            </a:solidFill>
                            <a:latin typeface="Cambria Math" panose="02040503050406030204" pitchFamily="18" charset="0"/>
                            <a:cs typeface="Calibri" panose="020F0502020204030204" pitchFamily="34" charset="0"/>
                          </a:rPr>
                          <m:t>4</m:t>
                        </m:r>
                        <m:r>
                          <a:rPr lang="en-US" sz="2000" i="1">
                            <a:solidFill>
                              <a:srgbClr val="000000"/>
                            </a:solidFill>
                            <a:latin typeface="Cambria Math" panose="02040503050406030204" pitchFamily="18" charset="0"/>
                            <a:cs typeface="Calibri" panose="020F0502020204030204" pitchFamily="34" charset="0"/>
                          </a:rPr>
                          <m:t>𝑅</m:t>
                        </m:r>
                      </m:den>
                    </m:f>
                  </m:oMath>
                </a14:m>
                <a:r>
                  <a:rPr lang="en-US" sz="2000" dirty="0">
                    <a:solidFill>
                      <a:srgbClr val="000000"/>
                    </a:solidFill>
                    <a:ea typeface="Calibri"/>
                    <a:cs typeface="Calibri"/>
                    <a:sym typeface="Calibri"/>
                  </a:rPr>
                  <a:t>, </a:t>
                </a:r>
                <a14:m>
                  <m:oMath xmlns:m="http://schemas.openxmlformats.org/officeDocument/2006/math">
                    <m:r>
                      <a:rPr lang="en-US" sz="2000" i="1">
                        <a:solidFill>
                          <a:srgbClr val="000000"/>
                        </a:solidFill>
                        <a:latin typeface="Cambria Math" panose="02040503050406030204" pitchFamily="18" charset="0"/>
                        <a:ea typeface="Calibri"/>
                        <a:cs typeface="Calibri"/>
                        <a:sym typeface="Calibri"/>
                      </a:rPr>
                      <m:t>𝐴</m:t>
                    </m:r>
                    <m:r>
                      <a:rPr lang="en-US" sz="2000" i="1">
                        <a:solidFill>
                          <a:srgbClr val="000000"/>
                        </a:solidFill>
                        <a:latin typeface="Cambria Math" panose="02040503050406030204" pitchFamily="18" charset="0"/>
                        <a:ea typeface="Calibri"/>
                        <a:cs typeface="Calibri"/>
                        <a:sym typeface="Calibri"/>
                      </a:rPr>
                      <m:t>= </m:t>
                    </m:r>
                    <m:f>
                      <m:fPr>
                        <m:ctrlPr>
                          <a:rPr lang="en-US" sz="2000" i="1">
                            <a:solidFill>
                              <a:srgbClr val="000000"/>
                            </a:solidFill>
                            <a:latin typeface="Cambria Math" panose="02040503050406030204" pitchFamily="18" charset="0"/>
                            <a:cs typeface="Calibri"/>
                            <a:sym typeface="Calibri"/>
                          </a:rPr>
                        </m:ctrlPr>
                      </m:fPr>
                      <m:num>
                        <m:r>
                          <a:rPr lang="en-US" sz="2000" i="1">
                            <a:solidFill>
                              <a:srgbClr val="000000"/>
                            </a:solidFill>
                            <a:latin typeface="Cambria Math" panose="02040503050406030204" pitchFamily="18" charset="0"/>
                            <a:cs typeface="Calibri"/>
                            <a:sym typeface="Calibri"/>
                          </a:rPr>
                          <m:t>3</m:t>
                        </m:r>
                        <m:sSup>
                          <m:sSupPr>
                            <m:ctrlPr>
                              <a:rPr lang="en-US" sz="2000" i="1">
                                <a:solidFill>
                                  <a:srgbClr val="000000"/>
                                </a:solidFill>
                                <a:latin typeface="Cambria Math" panose="02040503050406030204" pitchFamily="18" charset="0"/>
                                <a:ea typeface="Cambria Math" panose="02040503050406030204" pitchFamily="18" charset="0"/>
                                <a:sym typeface="Calibri"/>
                              </a:rPr>
                            </m:ctrlPr>
                          </m:sSupPr>
                          <m:e>
                            <m:r>
                              <a:rPr lang="en-US" sz="2000" i="1">
                                <a:solidFill>
                                  <a:srgbClr val="000000"/>
                                </a:solidFill>
                                <a:latin typeface="Cambria Math" panose="02040503050406030204" pitchFamily="18" charset="0"/>
                                <a:ea typeface="Cambria Math" panose="02040503050406030204" pitchFamily="18" charset="0"/>
                                <a:sym typeface="Calibri"/>
                              </a:rPr>
                              <m:t>𝜆</m:t>
                            </m:r>
                          </m:e>
                          <m:sup>
                            <m:r>
                              <a:rPr lang="en-US" sz="2000" i="1">
                                <a:solidFill>
                                  <a:srgbClr val="000000"/>
                                </a:solidFill>
                                <a:latin typeface="Cambria Math" panose="02040503050406030204" pitchFamily="18" charset="0"/>
                                <a:cs typeface="Calibri"/>
                                <a:sym typeface="Calibri"/>
                              </a:rPr>
                              <m:t>2</m:t>
                            </m:r>
                          </m:sup>
                        </m:sSup>
                      </m:num>
                      <m:den>
                        <m:r>
                          <a:rPr lang="en-US" sz="2000" i="1">
                            <a:solidFill>
                              <a:srgbClr val="000000"/>
                            </a:solidFill>
                            <a:latin typeface="Cambria Math" panose="02040503050406030204" pitchFamily="18" charset="0"/>
                            <a:cs typeface="Calibri"/>
                            <a:sym typeface="Calibri"/>
                          </a:rPr>
                          <m:t>8</m:t>
                        </m:r>
                        <m:r>
                          <a:rPr lang="en-US" sz="2000" i="1">
                            <a:solidFill>
                              <a:srgbClr val="000000"/>
                            </a:solidFill>
                            <a:latin typeface="Cambria Math" panose="02040503050406030204" pitchFamily="18" charset="0"/>
                            <a:ea typeface="Cambria Math" panose="02040503050406030204" pitchFamily="18" charset="0"/>
                            <a:sym typeface="Calibri"/>
                          </a:rPr>
                          <m:t>𝜋</m:t>
                        </m:r>
                      </m:den>
                    </m:f>
                    <m:r>
                      <a:rPr lang="en-US" sz="2000" i="1">
                        <a:solidFill>
                          <a:srgbClr val="000000"/>
                        </a:solidFill>
                        <a:latin typeface="Cambria Math" panose="02040503050406030204" pitchFamily="18" charset="0"/>
                        <a:cs typeface="Calibri"/>
                        <a:sym typeface="Calibri"/>
                      </a:rPr>
                      <m:t> </m:t>
                    </m:r>
                    <m:sSup>
                      <m:sSupPr>
                        <m:ctrlPr>
                          <a:rPr lang="en-US" sz="2000" i="1">
                            <a:solidFill>
                              <a:srgbClr val="000000"/>
                            </a:solidFill>
                            <a:latin typeface="Cambria Math" panose="02040503050406030204" pitchFamily="18" charset="0"/>
                            <a:cs typeface="Calibri"/>
                            <a:sym typeface="Calibri"/>
                          </a:rPr>
                        </m:ctrlPr>
                      </m:sSupPr>
                      <m:e>
                        <m:r>
                          <a:rPr lang="en-US" sz="2000" i="1">
                            <a:solidFill>
                              <a:srgbClr val="000000"/>
                            </a:solidFill>
                            <a:latin typeface="Cambria Math" panose="02040503050406030204" pitchFamily="18" charset="0"/>
                            <a:cs typeface="Calibri"/>
                            <a:sym typeface="Calibri"/>
                          </a:rPr>
                          <m:t>𝑠𝑖𝑛</m:t>
                        </m:r>
                      </m:e>
                      <m:sup>
                        <m:r>
                          <a:rPr lang="en-US" sz="2000" i="1">
                            <a:solidFill>
                              <a:srgbClr val="000000"/>
                            </a:solidFill>
                            <a:latin typeface="Cambria Math" panose="02040503050406030204" pitchFamily="18" charset="0"/>
                            <a:cs typeface="Calibri"/>
                            <a:sym typeface="Calibri"/>
                          </a:rPr>
                          <m:t>2</m:t>
                        </m:r>
                      </m:sup>
                    </m:sSup>
                    <m:r>
                      <a:rPr lang="en-US" sz="2000" i="1">
                        <a:solidFill>
                          <a:srgbClr val="000000"/>
                        </a:solidFill>
                        <a:latin typeface="Cambria Math" panose="02040503050406030204" pitchFamily="18" charset="0"/>
                        <a:cs typeface="Calibri"/>
                        <a:sym typeface="Calibri"/>
                      </a:rPr>
                      <m:t>(</m:t>
                    </m:r>
                    <m:r>
                      <a:rPr lang="en-US" sz="2000" i="1">
                        <a:solidFill>
                          <a:srgbClr val="000000"/>
                        </a:solidFill>
                        <a:latin typeface="Cambria Math" panose="02040503050406030204" pitchFamily="18" charset="0"/>
                        <a:ea typeface="Cambria Math" panose="02040503050406030204" pitchFamily="18" charset="0"/>
                        <a:sym typeface="Calibri"/>
                      </a:rPr>
                      <m:t>𝜃</m:t>
                    </m:r>
                    <m:r>
                      <a:rPr lang="en-US" sz="2000" i="1">
                        <a:solidFill>
                          <a:srgbClr val="000000"/>
                        </a:solidFill>
                        <a:latin typeface="Cambria Math" panose="02040503050406030204" pitchFamily="18" charset="0"/>
                        <a:cs typeface="Calibri"/>
                        <a:sym typeface="Calibri"/>
                      </a:rPr>
                      <m:t>)</m:t>
                    </m:r>
                  </m:oMath>
                </a14:m>
                <a:r>
                  <a:rPr lang="en-US" sz="2000" dirty="0">
                    <a:solidFill>
                      <a:srgbClr val="000000"/>
                    </a:solidFill>
                    <a:latin typeface="Calibri"/>
                    <a:ea typeface="Calibri"/>
                    <a:cs typeface="Calibri"/>
                    <a:sym typeface="Calibri"/>
                  </a:rPr>
                  <a:t> </a:t>
                </a:r>
              </a:p>
              <a:p>
                <a:pPr marL="285750" indent="-285750" hangingPunct="0">
                  <a:buFont typeface="Arial" panose="020B0604020202020204" pitchFamily="34" charset="0"/>
                  <a:buChar char="•"/>
                </a:pPr>
                <a:r>
                  <a:rPr lang="en-US" sz="2000" dirty="0">
                    <a:solidFill>
                      <a:srgbClr val="000000"/>
                    </a:solidFill>
                    <a:ea typeface="Calibri"/>
                    <a:cs typeface="Calibri"/>
                    <a:sym typeface="Calibri"/>
                  </a:rPr>
                  <a:t>Since </a:t>
                </a:r>
                <a14:m>
                  <m:oMath xmlns:m="http://schemas.openxmlformats.org/officeDocument/2006/math">
                    <m:f>
                      <m:fPr>
                        <m:ctrlPr>
                          <a:rPr lang="en-US" sz="2000" i="1">
                            <a:solidFill>
                              <a:srgbClr val="000000"/>
                            </a:solidFill>
                            <a:latin typeface="Cambria Math" panose="02040503050406030204" pitchFamily="18" charset="0"/>
                            <a:ea typeface="Cambria Math" panose="02040503050406030204" pitchFamily="18" charset="0"/>
                          </a:rPr>
                        </m:ctrlPr>
                      </m:fPr>
                      <m:num>
                        <m:r>
                          <a:rPr lang="en-US" sz="2000" i="1">
                            <a:solidFill>
                              <a:srgbClr val="000000"/>
                            </a:solidFill>
                            <a:latin typeface="Cambria Math" panose="02040503050406030204" pitchFamily="18" charset="0"/>
                            <a:ea typeface="Cambria Math" panose="02040503050406030204" pitchFamily="18" charset="0"/>
                          </a:rPr>
                          <m:t>𝐺</m:t>
                        </m:r>
                      </m:num>
                      <m:den>
                        <m:r>
                          <a:rPr lang="en-US" sz="2000" i="1">
                            <a:solidFill>
                              <a:srgbClr val="000000"/>
                            </a:solidFill>
                            <a:latin typeface="Cambria Math" panose="02040503050406030204" pitchFamily="18" charset="0"/>
                            <a:ea typeface="Cambria Math" panose="02040503050406030204" pitchFamily="18" charset="0"/>
                          </a:rPr>
                          <m:t>𝐴</m:t>
                        </m:r>
                      </m:den>
                    </m:f>
                    <m:r>
                      <a:rPr lang="en-US" sz="2000" i="1">
                        <a:solidFill>
                          <a:srgbClr val="000000"/>
                        </a:solidFill>
                        <a:latin typeface="Cambria Math" panose="02040503050406030204" pitchFamily="18" charset="0"/>
                        <a:ea typeface="Cambria Math" panose="02040503050406030204" pitchFamily="18" charset="0"/>
                      </a:rPr>
                      <m:t>=</m:t>
                    </m:r>
                    <m:f>
                      <m:fPr>
                        <m:ctrlPr>
                          <a:rPr lang="en-US" sz="2000" i="1">
                            <a:solidFill>
                              <a:srgbClr val="000000"/>
                            </a:solidFill>
                            <a:latin typeface="Cambria Math" panose="02040503050406030204" pitchFamily="18" charset="0"/>
                            <a:ea typeface="Cambria Math" panose="02040503050406030204" pitchFamily="18" charset="0"/>
                          </a:rPr>
                        </m:ctrlPr>
                      </m:fPr>
                      <m:num>
                        <m:r>
                          <a:rPr lang="en-US" sz="2000" i="1">
                            <a:solidFill>
                              <a:srgbClr val="000000"/>
                            </a:solidFill>
                            <a:latin typeface="Cambria Math" panose="02040503050406030204" pitchFamily="18" charset="0"/>
                            <a:ea typeface="Cambria Math" panose="02040503050406030204" pitchFamily="18" charset="0"/>
                          </a:rPr>
                          <m:t>4</m:t>
                        </m:r>
                        <m:r>
                          <a:rPr lang="en-US" sz="2000" i="1">
                            <a:solidFill>
                              <a:srgbClr val="000000"/>
                            </a:solidFill>
                            <a:latin typeface="Cambria Math" panose="02040503050406030204" pitchFamily="18" charset="0"/>
                            <a:ea typeface="Cambria Math" panose="02040503050406030204" pitchFamily="18" charset="0"/>
                          </a:rPr>
                          <m:t>𝜋</m:t>
                        </m:r>
                      </m:num>
                      <m:den>
                        <m:sSup>
                          <m:sSupPr>
                            <m:ctrlPr>
                              <a:rPr lang="en-US" sz="2000" i="1">
                                <a:solidFill>
                                  <a:srgbClr val="000000"/>
                                </a:solidFill>
                                <a:latin typeface="Cambria Math" panose="02040503050406030204" pitchFamily="18" charset="0"/>
                                <a:ea typeface="Cambria Math" panose="02040503050406030204" pitchFamily="18" charset="0"/>
                              </a:rPr>
                            </m:ctrlPr>
                          </m:sSupPr>
                          <m:e>
                            <m:r>
                              <a:rPr lang="en-US" sz="2000" i="1">
                                <a:solidFill>
                                  <a:srgbClr val="000000"/>
                                </a:solidFill>
                                <a:latin typeface="Cambria Math" panose="02040503050406030204" pitchFamily="18" charset="0"/>
                                <a:ea typeface="Cambria Math" panose="02040503050406030204" pitchFamily="18" charset="0"/>
                              </a:rPr>
                              <m:t>𝜆</m:t>
                            </m:r>
                          </m:e>
                          <m:sup>
                            <m:r>
                              <a:rPr lang="en-US" sz="2000" i="1">
                                <a:solidFill>
                                  <a:srgbClr val="000000"/>
                                </a:solidFill>
                                <a:latin typeface="Cambria Math" panose="02040503050406030204" pitchFamily="18" charset="0"/>
                                <a:ea typeface="Cambria Math" panose="02040503050406030204" pitchFamily="18" charset="0"/>
                              </a:rPr>
                              <m:t>2</m:t>
                            </m:r>
                          </m:sup>
                        </m:sSup>
                      </m:den>
                    </m:f>
                    <m:r>
                      <a:rPr lang="en-US" sz="2000" i="1">
                        <a:solidFill>
                          <a:srgbClr val="000000"/>
                        </a:solidFill>
                        <a:latin typeface="Cambria Math" panose="02040503050406030204" pitchFamily="18" charset="0"/>
                        <a:ea typeface="Cambria Math" panose="02040503050406030204" pitchFamily="18" charset="0"/>
                      </a:rPr>
                      <m:t> </m:t>
                    </m:r>
                  </m:oMath>
                </a14:m>
                <a:r>
                  <a:rPr lang="en-US" sz="2000" i="1" dirty="0">
                    <a:solidFill>
                      <a:srgbClr val="000000"/>
                    </a:solidFill>
                    <a:latin typeface="Cambria Math" panose="02040503050406030204" pitchFamily="18" charset="0"/>
                    <a:ea typeface="Cambria Math" panose="02040503050406030204" pitchFamily="18" charset="0"/>
                  </a:rPr>
                  <a:t>, </a:t>
                </a:r>
                <a14:m>
                  <m:oMath xmlns:m="http://schemas.openxmlformats.org/officeDocument/2006/math">
                    <m:r>
                      <a:rPr lang="en-US" sz="2000" i="1">
                        <a:solidFill>
                          <a:srgbClr val="000000"/>
                        </a:solidFill>
                        <a:latin typeface="Cambria Math" panose="02040503050406030204" pitchFamily="18" charset="0"/>
                        <a:ea typeface="Calibri"/>
                        <a:cs typeface="Calibri"/>
                        <a:sym typeface="Calibri"/>
                      </a:rPr>
                      <m:t>𝐺</m:t>
                    </m:r>
                    <m:r>
                      <a:rPr lang="en-US" sz="2000" i="1">
                        <a:solidFill>
                          <a:srgbClr val="000000"/>
                        </a:solidFill>
                        <a:latin typeface="Cambria Math" panose="02040503050406030204" pitchFamily="18" charset="0"/>
                        <a:ea typeface="Calibri"/>
                        <a:cs typeface="Calibri"/>
                        <a:sym typeface="Calibri"/>
                      </a:rPr>
                      <m:t>=</m:t>
                    </m:r>
                    <m:f>
                      <m:fPr>
                        <m:ctrlPr>
                          <a:rPr lang="en-US" sz="2000" b="0" i="1" smtClean="0">
                            <a:solidFill>
                              <a:srgbClr val="000000"/>
                            </a:solidFill>
                            <a:latin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cs typeface="Calibri"/>
                            <a:sym typeface="Calibri"/>
                          </a:rPr>
                          <m:t>3</m:t>
                        </m:r>
                      </m:num>
                      <m:den>
                        <m:r>
                          <a:rPr lang="en-US" sz="2000" b="0" i="1" smtClean="0">
                            <a:solidFill>
                              <a:srgbClr val="000000"/>
                            </a:solidFill>
                            <a:latin typeface="Cambria Math" panose="02040503050406030204" pitchFamily="18" charset="0"/>
                            <a:cs typeface="Calibri"/>
                            <a:sym typeface="Calibri"/>
                          </a:rPr>
                          <m:t>2</m:t>
                        </m:r>
                      </m:den>
                    </m:f>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 </m:t>
                        </m:r>
                        <m:r>
                          <a:rPr lang="en-US" sz="2000" i="1">
                            <a:solidFill>
                              <a:srgbClr val="000000"/>
                            </a:solidFill>
                            <a:latin typeface="Cambria Math" panose="02040503050406030204" pitchFamily="18" charset="0"/>
                          </a:rPr>
                          <m:t>𝑠𝑖𝑛</m:t>
                        </m:r>
                      </m:e>
                      <m:sup>
                        <m:r>
                          <a:rPr lang="en-US" sz="2000" i="1">
                            <a:solidFill>
                              <a:srgbClr val="000000"/>
                            </a:solidFill>
                            <a:latin typeface="Cambria Math" panose="02040503050406030204" pitchFamily="18" charset="0"/>
                          </a:rPr>
                          <m:t>2</m:t>
                        </m:r>
                      </m:sup>
                    </m:sSup>
                    <m:d>
                      <m:dPr>
                        <m:ctrlPr>
                          <a:rPr lang="en-US" sz="2000" i="1">
                            <a:solidFill>
                              <a:srgbClr val="000000"/>
                            </a:solidFill>
                            <a:latin typeface="Cambria Math" panose="02040503050406030204" pitchFamily="18" charset="0"/>
                            <a:ea typeface="Cambria Math" panose="02040503050406030204" pitchFamily="18" charset="0"/>
                          </a:rPr>
                        </m:ctrlPr>
                      </m:dPr>
                      <m:e>
                        <m:r>
                          <a:rPr lang="en-US" sz="2000" i="1">
                            <a:solidFill>
                              <a:srgbClr val="000000"/>
                            </a:solidFill>
                            <a:latin typeface="Cambria Math" panose="02040503050406030204" pitchFamily="18" charset="0"/>
                            <a:ea typeface="Cambria Math" panose="02040503050406030204" pitchFamily="18" charset="0"/>
                          </a:rPr>
                          <m:t>𝜃</m:t>
                        </m:r>
                      </m:e>
                    </m:d>
                    <m:r>
                      <a:rPr lang="en-US" sz="2000">
                        <a:solidFill>
                          <a:srgbClr val="000000"/>
                        </a:solidFill>
                        <a:latin typeface="Cambria Math" panose="02040503050406030204" pitchFamily="18" charset="0"/>
                        <a:ea typeface="Cambria Math" panose="02040503050406030204" pitchFamily="18" charset="0"/>
                      </a:rPr>
                      <m:t>.</m:t>
                    </m:r>
                  </m:oMath>
                </a14:m>
                <a:r>
                  <a:rPr lang="en-US" sz="2000" dirty="0">
                    <a:solidFill>
                      <a:srgbClr val="000000"/>
                    </a:solidFill>
                    <a:latin typeface="Calibri"/>
                  </a:rPr>
                  <a:t> </a:t>
                </a:r>
                <a:r>
                  <a:rPr lang="en-US" sz="2000" dirty="0">
                    <a:solidFill>
                      <a:srgbClr val="000000"/>
                    </a:solidFill>
                  </a:rPr>
                  <a:t>  </a:t>
                </a:r>
              </a:p>
              <a:p>
                <a:pPr marL="285750" indent="-285750" hangingPunct="0">
                  <a:buFont typeface="Arial" panose="020B0604020202020204" pitchFamily="34" charset="0"/>
                  <a:buChar char="•"/>
                </a:pPr>
                <a:endParaRPr lang="en-US" sz="2000" dirty="0">
                  <a:solidFill>
                    <a:srgbClr val="000000"/>
                  </a:solidFill>
                </a:endParaRPr>
              </a:p>
              <a:p>
                <a:pPr marL="285750" indent="-285750" hangingPunct="0">
                  <a:buFont typeface="Arial" panose="020B0604020202020204" pitchFamily="34" charset="0"/>
                  <a:buChar char="•"/>
                </a:pPr>
                <a:r>
                  <a:rPr lang="en-US" sz="2000" dirty="0">
                    <a:solidFill>
                      <a:srgbClr val="000000"/>
                    </a:solidFill>
                  </a:rPr>
                  <a:t>For loaded whip: </a:t>
                </a:r>
                <a14:m>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𝑅</m:t>
                        </m:r>
                      </m:e>
                      <m:sub>
                        <m:r>
                          <a:rPr lang="en-US" sz="2000" b="0" i="1" smtClean="0">
                            <a:solidFill>
                              <a:srgbClr val="000000"/>
                            </a:solidFill>
                            <a:latin typeface="Cambria Math" panose="02040503050406030204" pitchFamily="18" charset="0"/>
                          </a:rPr>
                          <m:t>𝑟</m:t>
                        </m:r>
                      </m:sub>
                    </m:sSub>
                    <m:r>
                      <a:rPr lang="en-US" sz="2000" b="0" i="1" smtClean="0">
                        <a:solidFill>
                          <a:srgbClr val="000000"/>
                        </a:solidFill>
                        <a:latin typeface="Cambria Math" panose="02040503050406030204" pitchFamily="18" charset="0"/>
                      </a:rPr>
                      <m:t>=160</m:t>
                    </m:r>
                    <m:sSup>
                      <m:sSupPr>
                        <m:ctrlPr>
                          <a:rPr lang="en-US" sz="2000" b="0" i="1" smtClean="0">
                            <a:solidFill>
                              <a:srgbClr val="000000"/>
                            </a:solidFill>
                            <a:latin typeface="Cambria Math" panose="02040503050406030204" pitchFamily="18" charset="0"/>
                            <a:ea typeface="Cambria Math" panose="02040503050406030204" pitchFamily="18" charset="0"/>
                          </a:rPr>
                        </m:ctrlPr>
                      </m:sSupPr>
                      <m:e>
                        <m:r>
                          <a:rPr lang="en-US" sz="2000" b="0" i="1" smtClean="0">
                            <a:solidFill>
                              <a:srgbClr val="000000"/>
                            </a:solidFill>
                            <a:latin typeface="Cambria Math" panose="02040503050406030204" pitchFamily="18" charset="0"/>
                            <a:ea typeface="Cambria Math" panose="02040503050406030204" pitchFamily="18" charset="0"/>
                          </a:rPr>
                          <m:t>𝜋</m:t>
                        </m:r>
                      </m:e>
                      <m:sup>
                        <m:r>
                          <a:rPr lang="en-US" sz="2000" b="0" i="1" smtClean="0">
                            <a:solidFill>
                              <a:srgbClr val="000000"/>
                            </a:solidFill>
                            <a:latin typeface="Cambria Math" panose="02040503050406030204" pitchFamily="18" charset="0"/>
                          </a:rPr>
                          <m:t>2</m:t>
                        </m:r>
                      </m:sup>
                    </m:sSup>
                    <m:sSup>
                      <m:sSupPr>
                        <m:ctrlPr>
                          <a:rPr lang="en-US" sz="2000" b="0" i="1" smtClean="0">
                            <a:solidFill>
                              <a:srgbClr val="000000"/>
                            </a:solidFill>
                            <a:latin typeface="Cambria Math" panose="02040503050406030204" pitchFamily="18" charset="0"/>
                          </a:rPr>
                        </m:ctrlPr>
                      </m:sSupPr>
                      <m:e>
                        <m:r>
                          <a:rPr lang="en-US" sz="2000" b="0" i="1" smtClean="0">
                            <a:solidFill>
                              <a:srgbClr val="000000"/>
                            </a:solidFill>
                            <a:latin typeface="Cambria Math" panose="02040503050406030204" pitchFamily="18" charset="0"/>
                          </a:rPr>
                          <m:t>(</m:t>
                        </m:r>
                        <m:f>
                          <m:fPr>
                            <m:ctrlPr>
                              <a:rPr lang="en-US" sz="2000" b="0" i="1" smtClean="0">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rPr>
                              <m:t>𝑙</m:t>
                            </m:r>
                          </m:num>
                          <m:den>
                            <m:r>
                              <a:rPr lang="en-US" sz="2000" b="0" i="1" smtClean="0">
                                <a:solidFill>
                                  <a:srgbClr val="000000"/>
                                </a:solidFill>
                                <a:latin typeface="Cambria Math" panose="02040503050406030204" pitchFamily="18" charset="0"/>
                                <a:ea typeface="Cambria Math" panose="02040503050406030204" pitchFamily="18" charset="0"/>
                              </a:rPr>
                              <m:t>𝜆</m:t>
                            </m:r>
                          </m:den>
                        </m:f>
                        <m:r>
                          <a:rPr lang="en-US" sz="2000" b="0" i="1" smtClean="0">
                            <a:solidFill>
                              <a:srgbClr val="000000"/>
                            </a:solidFill>
                            <a:latin typeface="Cambria Math" panose="02040503050406030204" pitchFamily="18" charset="0"/>
                          </a:rPr>
                          <m:t>)</m:t>
                        </m:r>
                      </m:e>
                      <m:sup>
                        <m:r>
                          <a:rPr lang="en-US" sz="2000" b="0" i="1" smtClean="0">
                            <a:solidFill>
                              <a:srgbClr val="000000"/>
                            </a:solidFill>
                            <a:latin typeface="Cambria Math" panose="02040503050406030204" pitchFamily="18" charset="0"/>
                          </a:rPr>
                          <m:t>2</m:t>
                        </m:r>
                      </m:sup>
                    </m:sSup>
                  </m:oMath>
                </a14:m>
                <a:endParaRPr lang="en-US" sz="2000" dirty="0">
                  <a:solidFill>
                    <a:srgbClr val="000000"/>
                  </a:solidFill>
                </a:endParaRPr>
              </a:p>
              <a:p>
                <a:pPr marL="285750" indent="-285750" hangingPunct="0">
                  <a:buFont typeface="Arial" panose="020B0604020202020204" pitchFamily="34" charset="0"/>
                  <a:buChar char="•"/>
                </a:pPr>
                <a:r>
                  <a:rPr lang="en-US" sz="2000" dirty="0">
                    <a:solidFill>
                      <a:srgbClr val="000000"/>
                    </a:solidFill>
                  </a:rPr>
                  <a:t>For Yagi: </a:t>
                </a:r>
                <a14:m>
                  <m:oMath xmlns:m="http://schemas.openxmlformats.org/officeDocument/2006/math">
                    <m:r>
                      <a:rPr lang="en-US" sz="2000" b="0" i="1" smtClean="0">
                        <a:solidFill>
                          <a:srgbClr val="000000"/>
                        </a:solidFill>
                        <a:latin typeface="Cambria Math" panose="02040503050406030204" pitchFamily="18" charset="0"/>
                      </a:rPr>
                      <m:t>𝐺</m:t>
                    </m:r>
                    <m:r>
                      <a:rPr lang="en-US" sz="2000" b="0" i="1" smtClean="0">
                        <a:solidFill>
                          <a:srgbClr val="000000"/>
                        </a:solidFill>
                        <a:latin typeface="Cambria Math" panose="02040503050406030204" pitchFamily="18" charset="0"/>
                      </a:rPr>
                      <m:t>=12</m:t>
                    </m:r>
                    <m:r>
                      <a:rPr lang="en-US" sz="2000" b="0" i="1" smtClean="0">
                        <a:solidFill>
                          <a:srgbClr val="000000"/>
                        </a:solidFill>
                        <a:latin typeface="Cambria Math" panose="02040503050406030204" pitchFamily="18" charset="0"/>
                      </a:rPr>
                      <m:t>𝑑𝐵</m:t>
                    </m:r>
                  </m:oMath>
                </a14:m>
                <a:r>
                  <a:rPr lang="en-US" sz="2000" dirty="0">
                    <a:solidFill>
                      <a:srgbClr val="000000"/>
                    </a:solidFill>
                  </a:rPr>
                  <a:t>, peak patters is at 27 degrees for 7MHz</a:t>
                </a: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350876" y="1300148"/>
                <a:ext cx="8790794" cy="4628921"/>
              </a:xfrm>
              <a:prstGeom prst="rect">
                <a:avLst/>
              </a:prstGeom>
              <a:blipFill>
                <a:blip r:embed="rId3"/>
                <a:stretch>
                  <a:fillRect l="-1010" b="-820"/>
                </a:stretch>
              </a:blipFill>
              <a:ln w="12700" cap="flat">
                <a:noFill/>
                <a:miter lim="400000"/>
              </a:ln>
              <a:effectLst/>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F3EED66A-56F2-494C-BB12-2E8BBB011DE2}"/>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15</a:t>
            </a:fld>
            <a:endParaRPr lang="en-US" dirty="0">
              <a:solidFill>
                <a:schemeClr val="tx1"/>
              </a:solidFill>
            </a:endParaRPr>
          </a:p>
        </p:txBody>
      </p:sp>
      <p:grpSp>
        <p:nvGrpSpPr>
          <p:cNvPr id="6" name="Group 5">
            <a:extLst>
              <a:ext uri="{FF2B5EF4-FFF2-40B4-BE49-F238E27FC236}">
                <a16:creationId xmlns:a16="http://schemas.microsoft.com/office/drawing/2014/main" id="{90E1CDE6-540A-734B-ADF7-843EF1C90CA6}"/>
              </a:ext>
            </a:extLst>
          </p:cNvPr>
          <p:cNvGrpSpPr/>
          <p:nvPr/>
        </p:nvGrpSpPr>
        <p:grpSpPr>
          <a:xfrm>
            <a:off x="8987030" y="3572353"/>
            <a:ext cx="2898575" cy="2737135"/>
            <a:chOff x="7887899" y="3028332"/>
            <a:chExt cx="3012620" cy="2737135"/>
          </a:xfrm>
        </p:grpSpPr>
        <p:sp>
          <p:nvSpPr>
            <p:cNvPr id="7" name="Rectangle 6">
              <a:extLst>
                <a:ext uri="{FF2B5EF4-FFF2-40B4-BE49-F238E27FC236}">
                  <a16:creationId xmlns:a16="http://schemas.microsoft.com/office/drawing/2014/main" id="{BECAF6B4-2CF9-0B40-878C-453AE0A3B309}"/>
                </a:ext>
              </a:extLst>
            </p:cNvPr>
            <p:cNvSpPr/>
            <p:nvPr/>
          </p:nvSpPr>
          <p:spPr>
            <a:xfrm>
              <a:off x="7887899" y="5426913"/>
              <a:ext cx="3012620" cy="338554"/>
            </a:xfrm>
            <a:prstGeom prst="rect">
              <a:avLst/>
            </a:prstGeom>
          </p:spPr>
          <p:txBody>
            <a:bodyPr wrap="none">
              <a:spAutoFit/>
            </a:bodyPr>
            <a:lstStyle/>
            <a:p>
              <a:r>
                <a:rPr lang="en-US" sz="1600" dirty="0"/>
                <a:t>Dipole Thevenin equivalent circuit</a:t>
              </a:r>
            </a:p>
          </p:txBody>
        </p:sp>
        <p:grpSp>
          <p:nvGrpSpPr>
            <p:cNvPr id="8" name="Group 7">
              <a:extLst>
                <a:ext uri="{FF2B5EF4-FFF2-40B4-BE49-F238E27FC236}">
                  <a16:creationId xmlns:a16="http://schemas.microsoft.com/office/drawing/2014/main" id="{60756450-FFB0-9A4A-88C1-20296D202452}"/>
                </a:ext>
              </a:extLst>
            </p:cNvPr>
            <p:cNvGrpSpPr/>
            <p:nvPr/>
          </p:nvGrpSpPr>
          <p:grpSpPr>
            <a:xfrm>
              <a:off x="8216695" y="4472532"/>
              <a:ext cx="543906" cy="523218"/>
              <a:chOff x="7097485" y="3674605"/>
              <a:chExt cx="548640" cy="548640"/>
            </a:xfrm>
          </p:grpSpPr>
          <p:sp>
            <p:nvSpPr>
              <p:cNvPr id="24" name="Freeform 23">
                <a:extLst>
                  <a:ext uri="{FF2B5EF4-FFF2-40B4-BE49-F238E27FC236}">
                    <a16:creationId xmlns:a16="http://schemas.microsoft.com/office/drawing/2014/main" id="{4DCC0FCF-C5CD-564F-825B-8EEEDA8E71CC}"/>
                  </a:ext>
                </a:extLst>
              </p:cNvPr>
              <p:cNvSpPr/>
              <p:nvPr/>
            </p:nvSpPr>
            <p:spPr>
              <a:xfrm>
                <a:off x="7196744" y="3814776"/>
                <a:ext cx="294626" cy="299873"/>
              </a:xfrm>
              <a:custGeom>
                <a:avLst/>
                <a:gdLst>
                  <a:gd name="connsiteX0" fmla="*/ 0 w 586788"/>
                  <a:gd name="connsiteY0" fmla="*/ 227323 h 399320"/>
                  <a:gd name="connsiteX1" fmla="*/ 255182 w 586788"/>
                  <a:gd name="connsiteY1" fmla="*/ 4039 h 399320"/>
                  <a:gd name="connsiteX2" fmla="*/ 361507 w 586788"/>
                  <a:gd name="connsiteY2" fmla="*/ 397443 h 399320"/>
                  <a:gd name="connsiteX3" fmla="*/ 574158 w 586788"/>
                  <a:gd name="connsiteY3" fmla="*/ 152895 h 399320"/>
                  <a:gd name="connsiteX4" fmla="*/ 563526 w 586788"/>
                  <a:gd name="connsiteY4" fmla="*/ 152895 h 399320"/>
                  <a:gd name="connsiteX5" fmla="*/ 563526 w 586788"/>
                  <a:gd name="connsiteY5" fmla="*/ 152895 h 399320"/>
                  <a:gd name="connsiteX6" fmla="*/ 574158 w 586788"/>
                  <a:gd name="connsiteY6" fmla="*/ 152895 h 399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6788" h="399320">
                    <a:moveTo>
                      <a:pt x="0" y="227323"/>
                    </a:moveTo>
                    <a:cubicBezTo>
                      <a:pt x="97465" y="101504"/>
                      <a:pt x="194931" y="-24314"/>
                      <a:pt x="255182" y="4039"/>
                    </a:cubicBezTo>
                    <a:cubicBezTo>
                      <a:pt x="315433" y="32392"/>
                      <a:pt x="308344" y="372634"/>
                      <a:pt x="361507" y="397443"/>
                    </a:cubicBezTo>
                    <a:cubicBezTo>
                      <a:pt x="414670" y="422252"/>
                      <a:pt x="540488" y="193653"/>
                      <a:pt x="574158" y="152895"/>
                    </a:cubicBezTo>
                    <a:cubicBezTo>
                      <a:pt x="607828" y="112137"/>
                      <a:pt x="563526" y="152895"/>
                      <a:pt x="563526" y="152895"/>
                    </a:cubicBezTo>
                    <a:lnTo>
                      <a:pt x="563526" y="152895"/>
                    </a:lnTo>
                    <a:lnTo>
                      <a:pt x="574158" y="152895"/>
                    </a:lnTo>
                  </a:path>
                </a:pathLst>
              </a:custGeom>
              <a:no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tlCol="0" anchor="ctr"/>
              <a:lstStyle/>
              <a:p>
                <a:pPr algn="ctr"/>
                <a:endParaRPr lang="en-US"/>
              </a:p>
            </p:txBody>
          </p:sp>
          <p:sp>
            <p:nvSpPr>
              <p:cNvPr id="25" name="Oval 24">
                <a:extLst>
                  <a:ext uri="{FF2B5EF4-FFF2-40B4-BE49-F238E27FC236}">
                    <a16:creationId xmlns:a16="http://schemas.microsoft.com/office/drawing/2014/main" id="{5FFC631C-CF14-8F47-ACA4-061353A618BD}"/>
                  </a:ext>
                </a:extLst>
              </p:cNvPr>
              <p:cNvSpPr/>
              <p:nvPr/>
            </p:nvSpPr>
            <p:spPr>
              <a:xfrm>
                <a:off x="7097485" y="3674605"/>
                <a:ext cx="548640" cy="548640"/>
              </a:xfrm>
              <a:prstGeom prst="ellipse">
                <a:avLst/>
              </a:prstGeom>
              <a:no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a:solidFill>
                    <a:srgbClr val="000000"/>
                  </a:solidFill>
                  <a:latin typeface="Calibri"/>
                  <a:ea typeface="Calibri"/>
                  <a:cs typeface="Calibri"/>
                  <a:sym typeface="Calibri"/>
                </a:endParaRPr>
              </a:p>
            </p:txBody>
          </p:sp>
        </p:grpSp>
        <p:sp>
          <p:nvSpPr>
            <p:cNvPr id="9" name="Freeform 8">
              <a:extLst>
                <a:ext uri="{FF2B5EF4-FFF2-40B4-BE49-F238E27FC236}">
                  <a16:creationId xmlns:a16="http://schemas.microsoft.com/office/drawing/2014/main" id="{367EBEBC-C601-8148-902F-65BAF8BA9FF4}"/>
                </a:ext>
              </a:extLst>
            </p:cNvPr>
            <p:cNvSpPr>
              <a:spLocks noChangeAspect="1"/>
            </p:cNvSpPr>
            <p:nvPr/>
          </p:nvSpPr>
          <p:spPr bwMode="auto">
            <a:xfrm>
              <a:off x="8419048" y="3710532"/>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1" name="Group 210">
              <a:extLst>
                <a:ext uri="{FF2B5EF4-FFF2-40B4-BE49-F238E27FC236}">
                  <a16:creationId xmlns:a16="http://schemas.microsoft.com/office/drawing/2014/main" id="{D669B808-9E94-954D-B3C3-FBAEAA8CEAEA}"/>
                </a:ext>
              </a:extLst>
            </p:cNvPr>
            <p:cNvGrpSpPr>
              <a:grpSpLocks/>
            </p:cNvGrpSpPr>
            <p:nvPr/>
          </p:nvGrpSpPr>
          <p:grpSpPr bwMode="auto">
            <a:xfrm>
              <a:off x="8342848" y="3088916"/>
              <a:ext cx="304800" cy="762000"/>
              <a:chOff x="3216" y="1728"/>
              <a:chExt cx="192" cy="480"/>
            </a:xfrm>
          </p:grpSpPr>
          <p:sp>
            <p:nvSpPr>
              <p:cNvPr id="20" name="Line 8">
                <a:extLst>
                  <a:ext uri="{FF2B5EF4-FFF2-40B4-BE49-F238E27FC236}">
                    <a16:creationId xmlns:a16="http://schemas.microsoft.com/office/drawing/2014/main" id="{3F5A8638-300A-7143-815D-B1A4887E2BFF}"/>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 name="Line 9">
                <a:extLst>
                  <a:ext uri="{FF2B5EF4-FFF2-40B4-BE49-F238E27FC236}">
                    <a16:creationId xmlns:a16="http://schemas.microsoft.com/office/drawing/2014/main" id="{A6192BC8-F1DD-9042-ABB1-18118D03AE14}"/>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 name="Line 10">
                <a:extLst>
                  <a:ext uri="{FF2B5EF4-FFF2-40B4-BE49-F238E27FC236}">
                    <a16:creationId xmlns:a16="http://schemas.microsoft.com/office/drawing/2014/main" id="{3F8ACA89-9340-5244-A082-4574F03CB47C}"/>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 name="Line 11">
                <a:extLst>
                  <a:ext uri="{FF2B5EF4-FFF2-40B4-BE49-F238E27FC236}">
                    <a16:creationId xmlns:a16="http://schemas.microsoft.com/office/drawing/2014/main" id="{408027D9-760B-A04F-BD24-AE59FB9FB412}"/>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 name="TextBox 11">
              <a:extLst>
                <a:ext uri="{FF2B5EF4-FFF2-40B4-BE49-F238E27FC236}">
                  <a16:creationId xmlns:a16="http://schemas.microsoft.com/office/drawing/2014/main" id="{8032A10D-2F51-D34F-8A59-55DE4CD1FABF}"/>
                </a:ext>
              </a:extLst>
            </p:cNvPr>
            <p:cNvSpPr txBox="1"/>
            <p:nvPr/>
          </p:nvSpPr>
          <p:spPr>
            <a:xfrm>
              <a:off x="8723848" y="3306706"/>
              <a:ext cx="550848"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C</a:t>
              </a:r>
            </a:p>
          </p:txBody>
        </p:sp>
        <p:sp>
          <p:nvSpPr>
            <p:cNvPr id="13" name="TextBox 12">
              <a:extLst>
                <a:ext uri="{FF2B5EF4-FFF2-40B4-BE49-F238E27FC236}">
                  <a16:creationId xmlns:a16="http://schemas.microsoft.com/office/drawing/2014/main" id="{6C167BE7-B994-C04A-8552-AB02946EC649}"/>
                </a:ext>
              </a:extLst>
            </p:cNvPr>
            <p:cNvSpPr txBox="1"/>
            <p:nvPr/>
          </p:nvSpPr>
          <p:spPr>
            <a:xfrm>
              <a:off x="8723848" y="3944511"/>
              <a:ext cx="550848"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R</a:t>
              </a:r>
              <a:endParaRPr lang="en-US" sz="1400" dirty="0">
                <a:solidFill>
                  <a:srgbClr val="000000"/>
                </a:solidFill>
                <a:latin typeface="Calibri"/>
                <a:ea typeface="Calibri"/>
                <a:cs typeface="Calibri"/>
                <a:sym typeface="Calibri"/>
              </a:endParaRPr>
            </a:p>
          </p:txBody>
        </p:sp>
        <p:cxnSp>
          <p:nvCxnSpPr>
            <p:cNvPr id="14" name="Straight Connector 13">
              <a:extLst>
                <a:ext uri="{FF2B5EF4-FFF2-40B4-BE49-F238E27FC236}">
                  <a16:creationId xmlns:a16="http://schemas.microsoft.com/office/drawing/2014/main" id="{07541558-8E0C-524A-B1F8-BFA579F8D3FE}"/>
                </a:ext>
              </a:extLst>
            </p:cNvPr>
            <p:cNvCxnSpPr>
              <a:cxnSpLocks/>
            </p:cNvCxnSpPr>
            <p:nvPr/>
          </p:nvCxnSpPr>
          <p:spPr>
            <a:xfrm flipH="1">
              <a:off x="8495250" y="5257883"/>
              <a:ext cx="1573310" cy="1"/>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5" name="Oval 14">
              <a:extLst>
                <a:ext uri="{FF2B5EF4-FFF2-40B4-BE49-F238E27FC236}">
                  <a16:creationId xmlns:a16="http://schemas.microsoft.com/office/drawing/2014/main" id="{2952DEC7-337D-F340-BCB1-576B25530C67}"/>
                </a:ext>
              </a:extLst>
            </p:cNvPr>
            <p:cNvSpPr/>
            <p:nvPr/>
          </p:nvSpPr>
          <p:spPr>
            <a:xfrm>
              <a:off x="10037087" y="5192412"/>
              <a:ext cx="137160" cy="13716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5095248-0EB1-5A46-BB93-7CB545E9D52D}"/>
                    </a:ext>
                  </a:extLst>
                </p:cNvPr>
                <p:cNvSpPr txBox="1"/>
                <p:nvPr/>
              </p:nvSpPr>
              <p:spPr>
                <a:xfrm>
                  <a:off x="8885735" y="4384366"/>
                  <a:ext cx="1721295" cy="83522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14:m>
                    <m:oMathPara xmlns:m="http://schemas.openxmlformats.org/officeDocument/2006/math">
                      <m:oMathParaPr>
                        <m:jc m:val="left"/>
                      </m:oMathParaPr>
                      <m:oMath>
                        <m:sSub>
                          <m:sSubPr>
                            <m:ctrlPr>
                              <a:rPr lang="en-US" sz="1600" i="1">
                                <a:solidFill>
                                  <a:srgbClr val="000000"/>
                                </a:solidFill>
                                <a:latin typeface="Cambria Math" panose="02040503050406030204" pitchFamily="18" charset="0"/>
                                <a:cs typeface="Calibri"/>
                                <a:sym typeface="Calibri"/>
                              </a:rPr>
                            </m:ctrlPr>
                          </m:sSubPr>
                          <m:e>
                            <m:r>
                              <a:rPr lang="en-US" sz="1600" i="1">
                                <a:solidFill>
                                  <a:srgbClr val="000000"/>
                                </a:solidFill>
                                <a:latin typeface="Cambria Math" panose="02040503050406030204" pitchFamily="18" charset="0"/>
                                <a:cs typeface="Calibri"/>
                                <a:sym typeface="Calibri"/>
                              </a:rPr>
                              <m:t>𝑉</m:t>
                            </m:r>
                          </m:e>
                          <m:sub>
                            <m:r>
                              <a:rPr lang="en-US" sz="1600" b="0" i="1" smtClean="0">
                                <a:solidFill>
                                  <a:srgbClr val="000000"/>
                                </a:solidFill>
                                <a:latin typeface="Cambria Math" panose="02040503050406030204" pitchFamily="18" charset="0"/>
                                <a:cs typeface="Calibri"/>
                                <a:sym typeface="Calibri"/>
                              </a:rPr>
                              <m:t>𝑜</m:t>
                            </m:r>
                          </m:sub>
                        </m:sSub>
                        <m:r>
                          <a:rPr lang="en-US" sz="1600" i="1">
                            <a:solidFill>
                              <a:srgbClr val="000000"/>
                            </a:solidFill>
                            <a:latin typeface="Cambria Math" panose="02040503050406030204" pitchFamily="18" charset="0"/>
                            <a:cs typeface="Calibri"/>
                            <a:sym typeface="Calibri"/>
                          </a:rPr>
                          <m:t>=</m:t>
                        </m:r>
                        <m:f>
                          <m:fPr>
                            <m:ctrlPr>
                              <a:rPr lang="en-US" sz="1600" i="1">
                                <a:solidFill>
                                  <a:srgbClr val="000000"/>
                                </a:solidFill>
                                <a:latin typeface="Cambria Math" panose="02040503050406030204" pitchFamily="18" charset="0"/>
                                <a:cs typeface="Calibri"/>
                                <a:sym typeface="Calibri"/>
                              </a:rPr>
                            </m:ctrlPr>
                          </m:fPr>
                          <m:num>
                            <m:r>
                              <a:rPr lang="en-US" sz="1600" i="1">
                                <a:solidFill>
                                  <a:srgbClr val="000000"/>
                                </a:solidFill>
                                <a:latin typeface="Cambria Math" panose="02040503050406030204" pitchFamily="18" charset="0"/>
                                <a:cs typeface="Calibri"/>
                                <a:sym typeface="Calibri"/>
                              </a:rPr>
                              <m:t>𝐸𝑙</m:t>
                            </m:r>
                          </m:num>
                          <m:den>
                            <m:r>
                              <a:rPr lang="en-US" sz="1600" i="1">
                                <a:solidFill>
                                  <a:srgbClr val="000000"/>
                                </a:solidFill>
                                <a:latin typeface="Cambria Math" panose="02040503050406030204" pitchFamily="18" charset="0"/>
                                <a:cs typeface="Calibri"/>
                                <a:sym typeface="Calibri"/>
                              </a:rPr>
                              <m:t>2</m:t>
                            </m:r>
                          </m:den>
                        </m:f>
                        <m:r>
                          <a:rPr lang="en-US" sz="1600" i="1">
                            <a:solidFill>
                              <a:srgbClr val="000000"/>
                            </a:solidFill>
                            <a:latin typeface="Cambria Math" panose="02040503050406030204" pitchFamily="18" charset="0"/>
                            <a:cs typeface="Calibri"/>
                            <a:sym typeface="Calibri"/>
                          </a:rPr>
                          <m:t> </m:t>
                        </m:r>
                        <m:r>
                          <m:rPr>
                            <m:sty m:val="p"/>
                          </m:rPr>
                          <a:rPr lang="en-US" sz="1600">
                            <a:solidFill>
                              <a:srgbClr val="000000"/>
                            </a:solidFill>
                            <a:latin typeface="Cambria Math" panose="02040503050406030204" pitchFamily="18" charset="0"/>
                            <a:cs typeface="Calibri"/>
                            <a:sym typeface="Calibri"/>
                          </a:rPr>
                          <m:t>sin</m:t>
                        </m:r>
                        <m:r>
                          <a:rPr lang="en-US" sz="1600" i="1">
                            <a:solidFill>
                              <a:srgbClr val="000000"/>
                            </a:solidFill>
                            <a:latin typeface="Cambria Math" panose="02040503050406030204" pitchFamily="18" charset="0"/>
                            <a:cs typeface="Calibri"/>
                            <a:sym typeface="Calibri"/>
                          </a:rPr>
                          <m:t>⁡(</m:t>
                        </m:r>
                        <m:r>
                          <a:rPr lang="en-US" sz="1600" i="1">
                            <a:solidFill>
                              <a:srgbClr val="000000"/>
                            </a:solidFill>
                            <a:latin typeface="Cambria Math" panose="02040503050406030204" pitchFamily="18" charset="0"/>
                            <a:ea typeface="Cambria Math" panose="02040503050406030204" pitchFamily="18" charset="0"/>
                            <a:sym typeface="Calibri"/>
                          </a:rPr>
                          <m:t>𝜃</m:t>
                        </m:r>
                        <m:r>
                          <a:rPr lang="en-US" sz="1600" i="1">
                            <a:solidFill>
                              <a:srgbClr val="000000"/>
                            </a:solidFill>
                            <a:latin typeface="Cambria Math" panose="02040503050406030204" pitchFamily="18" charset="0"/>
                            <a:ea typeface="Cambria Math" panose="02040503050406030204" pitchFamily="18" charset="0"/>
                            <a:sym typeface="Calibri"/>
                          </a:rPr>
                          <m:t>)</m:t>
                        </m:r>
                      </m:oMath>
                    </m:oMathPara>
                  </a14:m>
                  <a:endParaRPr lang="en-US" sz="1600" dirty="0">
                    <a:solidFill>
                      <a:srgbClr val="000000"/>
                    </a:solidFill>
                    <a:latin typeface="Calibri"/>
                    <a:ea typeface="Calibri"/>
                    <a:cs typeface="Calibri"/>
                    <a:sym typeface="Calibri"/>
                  </a:endParaRPr>
                </a:p>
                <a:p>
                  <a:pPr defTabSz="457200" latinLnBrk="1" hangingPunct="0"/>
                  <a:endParaRPr lang="en-US" sz="1600" dirty="0">
                    <a:solidFill>
                      <a:srgbClr val="000000"/>
                    </a:solidFill>
                    <a:latin typeface="Calibri"/>
                    <a:ea typeface="Calibri"/>
                    <a:cs typeface="Calibri"/>
                    <a:sym typeface="Calibri"/>
                  </a:endParaRPr>
                </a:p>
              </p:txBody>
            </p:sp>
          </mc:Choice>
          <mc:Fallback xmlns="">
            <p:sp>
              <p:nvSpPr>
                <p:cNvPr id="16" name="TextBox 15">
                  <a:extLst>
                    <a:ext uri="{FF2B5EF4-FFF2-40B4-BE49-F238E27FC236}">
                      <a16:creationId xmlns:a16="http://schemas.microsoft.com/office/drawing/2014/main" id="{55095248-0EB1-5A46-BB93-7CB545E9D52D}"/>
                    </a:ext>
                  </a:extLst>
                </p:cNvPr>
                <p:cNvSpPr txBox="1">
                  <a:spLocks noRot="1" noChangeAspect="1" noMove="1" noResize="1" noEditPoints="1" noAdjustHandles="1" noChangeArrowheads="1" noChangeShapeType="1" noTextEdit="1"/>
                </p:cNvSpPr>
                <p:nvPr/>
              </p:nvSpPr>
              <p:spPr>
                <a:xfrm>
                  <a:off x="8885735" y="4384366"/>
                  <a:ext cx="1721295" cy="835227"/>
                </a:xfrm>
                <a:prstGeom prst="rect">
                  <a:avLst/>
                </a:prstGeom>
                <a:blipFill>
                  <a:blip r:embed="rId4"/>
                  <a:stretch>
                    <a:fillRect l="-758"/>
                  </a:stretch>
                </a:blipFill>
                <a:ln w="12700" cap="flat">
                  <a:noFill/>
                  <a:miter lim="400000"/>
                </a:ln>
                <a:effectLst/>
              </p:spPr>
              <p:txBody>
                <a:bodyPr/>
                <a:lstStyle/>
                <a:p>
                  <a:r>
                    <a:rPr lang="en-US">
                      <a:noFill/>
                    </a:rPr>
                    <a:t> </a:t>
                  </a:r>
                </a:p>
              </p:txBody>
            </p:sp>
          </mc:Fallback>
        </mc:AlternateContent>
        <p:cxnSp>
          <p:nvCxnSpPr>
            <p:cNvPr id="17" name="Straight Connector 16">
              <a:extLst>
                <a:ext uri="{FF2B5EF4-FFF2-40B4-BE49-F238E27FC236}">
                  <a16:creationId xmlns:a16="http://schemas.microsoft.com/office/drawing/2014/main" id="{052727DE-BFA0-1541-8AE0-16D9666410CE}"/>
                </a:ext>
              </a:extLst>
            </p:cNvPr>
            <p:cNvCxnSpPr>
              <a:cxnSpLocks/>
            </p:cNvCxnSpPr>
            <p:nvPr/>
          </p:nvCxnSpPr>
          <p:spPr>
            <a:xfrm flipH="1">
              <a:off x="8495248" y="4973427"/>
              <a:ext cx="1" cy="286453"/>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5D4E1E6F-3AFA-E741-A251-08C76B494BF1}"/>
                </a:ext>
              </a:extLst>
            </p:cNvPr>
            <p:cNvCxnSpPr>
              <a:cxnSpLocks/>
            </p:cNvCxnSpPr>
            <p:nvPr/>
          </p:nvCxnSpPr>
          <p:spPr>
            <a:xfrm flipH="1">
              <a:off x="8495250" y="3093803"/>
              <a:ext cx="1573310" cy="1"/>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9" name="Oval 18">
              <a:extLst>
                <a:ext uri="{FF2B5EF4-FFF2-40B4-BE49-F238E27FC236}">
                  <a16:creationId xmlns:a16="http://schemas.microsoft.com/office/drawing/2014/main" id="{FE23A1C3-BFB3-3F47-A347-24B436562711}"/>
                </a:ext>
              </a:extLst>
            </p:cNvPr>
            <p:cNvSpPr/>
            <p:nvPr/>
          </p:nvSpPr>
          <p:spPr>
            <a:xfrm>
              <a:off x="10037087" y="3028332"/>
              <a:ext cx="137160" cy="13716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6" name="Group 25">
            <a:extLst>
              <a:ext uri="{FF2B5EF4-FFF2-40B4-BE49-F238E27FC236}">
                <a16:creationId xmlns:a16="http://schemas.microsoft.com/office/drawing/2014/main" id="{B0F0F946-90DB-314D-A2F8-8C917E9DB8DA}"/>
              </a:ext>
            </a:extLst>
          </p:cNvPr>
          <p:cNvGrpSpPr/>
          <p:nvPr/>
        </p:nvGrpSpPr>
        <p:grpSpPr>
          <a:xfrm>
            <a:off x="9718019" y="523836"/>
            <a:ext cx="1793872" cy="2696340"/>
            <a:chOff x="8977827" y="290426"/>
            <a:chExt cx="1793872" cy="2696340"/>
          </a:xfrm>
        </p:grpSpPr>
        <p:cxnSp>
          <p:nvCxnSpPr>
            <p:cNvPr id="27" name="Straight Connector 26">
              <a:extLst>
                <a:ext uri="{FF2B5EF4-FFF2-40B4-BE49-F238E27FC236}">
                  <a16:creationId xmlns:a16="http://schemas.microsoft.com/office/drawing/2014/main" id="{D4C8FFE4-4159-E949-B1C8-F652DFBF039C}"/>
                </a:ext>
              </a:extLst>
            </p:cNvPr>
            <p:cNvCxnSpPr>
              <a:cxnSpLocks/>
            </p:cNvCxnSpPr>
            <p:nvPr/>
          </p:nvCxnSpPr>
          <p:spPr>
            <a:xfrm flipH="1">
              <a:off x="9882155" y="291132"/>
              <a:ext cx="2140" cy="96978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28" name="Oval 27">
              <a:extLst>
                <a:ext uri="{FF2B5EF4-FFF2-40B4-BE49-F238E27FC236}">
                  <a16:creationId xmlns:a16="http://schemas.microsoft.com/office/drawing/2014/main" id="{DAFBA69D-EC2B-914C-9B4E-9945D91D2835}"/>
                </a:ext>
              </a:extLst>
            </p:cNvPr>
            <p:cNvSpPr/>
            <p:nvPr/>
          </p:nvSpPr>
          <p:spPr>
            <a:xfrm>
              <a:off x="9813566" y="1256984"/>
              <a:ext cx="137160" cy="13716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E167DA8F-AAD6-C649-9ED2-1BE508EADB5C}"/>
                    </a:ext>
                  </a:extLst>
                </p:cNvPr>
                <p:cNvSpPr txBox="1"/>
                <p:nvPr/>
              </p:nvSpPr>
              <p:spPr>
                <a:xfrm>
                  <a:off x="9401679" y="1426820"/>
                  <a:ext cx="345262"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14:m>
                    <m:oMathPara xmlns:m="http://schemas.openxmlformats.org/officeDocument/2006/math">
                      <m:oMathParaPr>
                        <m:jc m:val="left"/>
                      </m:oMathParaPr>
                      <m:oMath>
                        <m:r>
                          <a:rPr lang="en-US" sz="1600" i="1">
                            <a:solidFill>
                              <a:srgbClr val="000000"/>
                            </a:solidFill>
                            <a:latin typeface="Cambria Math" panose="02040503050406030204" pitchFamily="18" charset="0"/>
                            <a:ea typeface="Calibri"/>
                            <a:cs typeface="Calibri"/>
                            <a:sym typeface="Calibri"/>
                          </a:rPr>
                          <m:t>𝑙</m:t>
                        </m:r>
                      </m:oMath>
                    </m:oMathPara>
                  </a14:m>
                  <a:endParaRPr lang="en-US" sz="1600" dirty="0">
                    <a:solidFill>
                      <a:srgbClr val="000000"/>
                    </a:solidFill>
                    <a:latin typeface="Calibri"/>
                    <a:ea typeface="Calibri"/>
                    <a:cs typeface="Calibri"/>
                    <a:sym typeface="Calibri"/>
                  </a:endParaRPr>
                </a:p>
              </p:txBody>
            </p:sp>
          </mc:Choice>
          <mc:Fallback xmlns="">
            <p:sp>
              <p:nvSpPr>
                <p:cNvPr id="32" name="TextBox 31">
                  <a:extLst>
                    <a:ext uri="{FF2B5EF4-FFF2-40B4-BE49-F238E27FC236}">
                      <a16:creationId xmlns:a16="http://schemas.microsoft.com/office/drawing/2014/main" id="{17E3CF02-4B14-BD49-8BD1-4AD56F1C60A7}"/>
                    </a:ext>
                  </a:extLst>
                </p:cNvPr>
                <p:cNvSpPr txBox="1">
                  <a:spLocks noRot="1" noChangeAspect="1" noMove="1" noResize="1" noEditPoints="1" noAdjustHandles="1" noChangeArrowheads="1" noChangeShapeType="1" noTextEdit="1"/>
                </p:cNvSpPr>
                <p:nvPr/>
              </p:nvSpPr>
              <p:spPr>
                <a:xfrm>
                  <a:off x="9401679" y="1426820"/>
                  <a:ext cx="345262" cy="338552"/>
                </a:xfrm>
                <a:prstGeom prst="rect">
                  <a:avLst/>
                </a:prstGeom>
                <a:blipFill>
                  <a:blip r:embed="rId5"/>
                  <a:stretch>
                    <a:fillRect l="-3448"/>
                  </a:stretch>
                </a:blipFill>
                <a:ln w="12700" cap="flat">
                  <a:noFill/>
                  <a:miter lim="400000"/>
                </a:ln>
                <a:effectLst/>
              </p:spPr>
              <p:txBody>
                <a:bodyPr/>
                <a:lstStyle/>
                <a:p>
                  <a:r>
                    <a:rPr lang="en-US">
                      <a:noFill/>
                    </a:rPr>
                    <a:t> </a:t>
                  </a:r>
                </a:p>
              </p:txBody>
            </p:sp>
          </mc:Fallback>
        </mc:AlternateContent>
        <p:cxnSp>
          <p:nvCxnSpPr>
            <p:cNvPr id="30" name="Straight Connector 29">
              <a:extLst>
                <a:ext uri="{FF2B5EF4-FFF2-40B4-BE49-F238E27FC236}">
                  <a16:creationId xmlns:a16="http://schemas.microsoft.com/office/drawing/2014/main" id="{70029B0C-5043-2F4A-8340-B60ACE5E4E48}"/>
                </a:ext>
              </a:extLst>
            </p:cNvPr>
            <p:cNvCxnSpPr>
              <a:cxnSpLocks/>
            </p:cNvCxnSpPr>
            <p:nvPr/>
          </p:nvCxnSpPr>
          <p:spPr>
            <a:xfrm flipH="1">
              <a:off x="9892306" y="1563672"/>
              <a:ext cx="2149" cy="1147902"/>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31" name="Oval 30">
              <a:extLst>
                <a:ext uri="{FF2B5EF4-FFF2-40B4-BE49-F238E27FC236}">
                  <a16:creationId xmlns:a16="http://schemas.microsoft.com/office/drawing/2014/main" id="{DF245F3D-6CAD-2E49-B393-0579A266E68A}"/>
                </a:ext>
              </a:extLst>
            </p:cNvPr>
            <p:cNvSpPr/>
            <p:nvPr/>
          </p:nvSpPr>
          <p:spPr>
            <a:xfrm>
              <a:off x="9823726" y="1531304"/>
              <a:ext cx="137160" cy="13716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73B1E7D0-F0F9-C848-A12E-0AD92E31E6D9}"/>
                    </a:ext>
                  </a:extLst>
                </p:cNvPr>
                <p:cNvSpPr txBox="1"/>
                <p:nvPr/>
              </p:nvSpPr>
              <p:spPr>
                <a:xfrm>
                  <a:off x="9585611" y="1317516"/>
                  <a:ext cx="345262"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14:m>
                    <m:oMathPara xmlns:m="http://schemas.openxmlformats.org/officeDocument/2006/math">
                      <m:oMathParaPr>
                        <m:jc m:val="left"/>
                      </m:oMathParaPr>
                      <m:oMath>
                        <m:sSub>
                          <m:sSubPr>
                            <m:ctrlPr>
                              <a:rPr lang="en-US" sz="1600" b="0" i="1" smtClean="0">
                                <a:solidFill>
                                  <a:srgbClr val="000000"/>
                                </a:solidFill>
                                <a:latin typeface="Cambria Math" panose="02040503050406030204" pitchFamily="18" charset="0"/>
                                <a:cs typeface="Calibri"/>
                                <a:sym typeface="Calibri"/>
                              </a:rPr>
                            </m:ctrlPr>
                          </m:sSubPr>
                          <m:e>
                            <m:r>
                              <a:rPr lang="en-US" sz="1600" b="0" i="1" smtClean="0">
                                <a:solidFill>
                                  <a:srgbClr val="000000"/>
                                </a:solidFill>
                                <a:latin typeface="Cambria Math" panose="02040503050406030204" pitchFamily="18" charset="0"/>
                                <a:cs typeface="Calibri"/>
                                <a:sym typeface="Calibri"/>
                              </a:rPr>
                              <m:t>𝑉</m:t>
                            </m:r>
                          </m:e>
                          <m:sub>
                            <m:r>
                              <a:rPr lang="en-US" sz="1600" b="0" i="1" smtClean="0">
                                <a:solidFill>
                                  <a:srgbClr val="000000"/>
                                </a:solidFill>
                                <a:latin typeface="Cambria Math" panose="02040503050406030204" pitchFamily="18" charset="0"/>
                                <a:cs typeface="Calibri"/>
                                <a:sym typeface="Calibri"/>
                              </a:rPr>
                              <m:t>𝑜</m:t>
                            </m:r>
                          </m:sub>
                        </m:sSub>
                      </m:oMath>
                    </m:oMathPara>
                  </a14:m>
                  <a:endParaRPr lang="en-US" sz="1600" dirty="0">
                    <a:solidFill>
                      <a:srgbClr val="000000"/>
                    </a:solidFill>
                    <a:latin typeface="Calibri"/>
                    <a:ea typeface="Calibri"/>
                    <a:cs typeface="Calibri"/>
                    <a:sym typeface="Calibri"/>
                  </a:endParaRPr>
                </a:p>
              </p:txBody>
            </p:sp>
          </mc:Choice>
          <mc:Fallback xmlns="">
            <p:sp>
              <p:nvSpPr>
                <p:cNvPr id="32" name="TextBox 31">
                  <a:extLst>
                    <a:ext uri="{FF2B5EF4-FFF2-40B4-BE49-F238E27FC236}">
                      <a16:creationId xmlns:a16="http://schemas.microsoft.com/office/drawing/2014/main" id="{73B1E7D0-F0F9-C848-A12E-0AD92E31E6D9}"/>
                    </a:ext>
                  </a:extLst>
                </p:cNvPr>
                <p:cNvSpPr txBox="1">
                  <a:spLocks noRot="1" noChangeAspect="1" noMove="1" noResize="1" noEditPoints="1" noAdjustHandles="1" noChangeArrowheads="1" noChangeShapeType="1" noTextEdit="1"/>
                </p:cNvSpPr>
                <p:nvPr/>
              </p:nvSpPr>
              <p:spPr>
                <a:xfrm>
                  <a:off x="9585611" y="1317516"/>
                  <a:ext cx="345262" cy="338552"/>
                </a:xfrm>
                <a:prstGeom prst="rect">
                  <a:avLst/>
                </a:prstGeom>
                <a:blipFill>
                  <a:blip r:embed="rId6"/>
                  <a:stretch>
                    <a:fillRect l="-7143"/>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1FA1B66-9277-FD4D-9491-5445B5ECC10E}"/>
                    </a:ext>
                  </a:extLst>
                </p:cNvPr>
                <p:cNvSpPr txBox="1"/>
                <p:nvPr/>
              </p:nvSpPr>
              <p:spPr>
                <a:xfrm>
                  <a:off x="9934035" y="948948"/>
                  <a:ext cx="345262"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14:m>
                    <m:oMathPara xmlns:m="http://schemas.openxmlformats.org/officeDocument/2006/math">
                      <m:oMathParaPr>
                        <m:jc m:val="left"/>
                      </m:oMathParaPr>
                      <m:oMath>
                        <m:r>
                          <a:rPr lang="en-US" sz="1600" i="1" smtClean="0">
                            <a:solidFill>
                              <a:srgbClr val="000000"/>
                            </a:solidFill>
                            <a:latin typeface="Cambria Math" panose="02040503050406030204" pitchFamily="18" charset="0"/>
                            <a:ea typeface="Cambria Math" panose="02040503050406030204" pitchFamily="18" charset="0"/>
                            <a:cs typeface="Calibri"/>
                            <a:sym typeface="Calibri"/>
                          </a:rPr>
                          <m:t>𝜃</m:t>
                        </m:r>
                      </m:oMath>
                    </m:oMathPara>
                  </a14:m>
                  <a:endParaRPr lang="en-US" sz="1600" dirty="0">
                    <a:solidFill>
                      <a:srgbClr val="000000"/>
                    </a:solidFill>
                    <a:latin typeface="Calibri"/>
                    <a:ea typeface="Calibri"/>
                    <a:cs typeface="Calibri"/>
                    <a:sym typeface="Calibri"/>
                  </a:endParaRPr>
                </a:p>
              </p:txBody>
            </p:sp>
          </mc:Choice>
          <mc:Fallback xmlns="">
            <p:sp>
              <p:nvSpPr>
                <p:cNvPr id="38" name="TextBox 37">
                  <a:extLst>
                    <a:ext uri="{FF2B5EF4-FFF2-40B4-BE49-F238E27FC236}">
                      <a16:creationId xmlns:a16="http://schemas.microsoft.com/office/drawing/2014/main" id="{B73AAAEF-EEB0-2A47-A420-576DBB6D3120}"/>
                    </a:ext>
                  </a:extLst>
                </p:cNvPr>
                <p:cNvSpPr txBox="1">
                  <a:spLocks noRot="1" noChangeAspect="1" noMove="1" noResize="1" noEditPoints="1" noAdjustHandles="1" noChangeArrowheads="1" noChangeShapeType="1" noTextEdit="1"/>
                </p:cNvSpPr>
                <p:nvPr/>
              </p:nvSpPr>
              <p:spPr>
                <a:xfrm>
                  <a:off x="9934035" y="948948"/>
                  <a:ext cx="345262" cy="338552"/>
                </a:xfrm>
                <a:prstGeom prst="rect">
                  <a:avLst/>
                </a:prstGeom>
                <a:blipFill>
                  <a:blip r:embed="rId7"/>
                  <a:stretch>
                    <a:fillRect l="-10714"/>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44AE47BC-F692-CA4D-B1D6-A4CDDEF117B5}"/>
                    </a:ext>
                  </a:extLst>
                </p:cNvPr>
                <p:cNvSpPr txBox="1"/>
                <p:nvPr/>
              </p:nvSpPr>
              <p:spPr>
                <a:xfrm>
                  <a:off x="10426437" y="482868"/>
                  <a:ext cx="345262"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14:m>
                    <m:oMathPara xmlns:m="http://schemas.openxmlformats.org/officeDocument/2006/math">
                      <m:oMathParaPr>
                        <m:jc m:val="left"/>
                      </m:oMathParaPr>
                      <m:oMath>
                        <m:r>
                          <a:rPr lang="en-US" sz="1600" b="0" i="1" smtClean="0">
                            <a:solidFill>
                              <a:srgbClr val="000000"/>
                            </a:solidFill>
                            <a:latin typeface="Cambria Math" panose="02040503050406030204" pitchFamily="18" charset="0"/>
                            <a:ea typeface="Calibri"/>
                            <a:cs typeface="Calibri"/>
                            <a:sym typeface="Calibri"/>
                          </a:rPr>
                          <m:t>𝐸</m:t>
                        </m:r>
                      </m:oMath>
                    </m:oMathPara>
                  </a14:m>
                  <a:endParaRPr lang="en-US" sz="1600" dirty="0">
                    <a:solidFill>
                      <a:srgbClr val="000000"/>
                    </a:solidFill>
                    <a:latin typeface="Calibri"/>
                    <a:ea typeface="Calibri"/>
                    <a:cs typeface="Calibri"/>
                    <a:sym typeface="Calibri"/>
                  </a:endParaRPr>
                </a:p>
              </p:txBody>
            </p:sp>
          </mc:Choice>
          <mc:Fallback xmlns="">
            <p:sp>
              <p:nvSpPr>
                <p:cNvPr id="39" name="TextBox 38">
                  <a:extLst>
                    <a:ext uri="{FF2B5EF4-FFF2-40B4-BE49-F238E27FC236}">
                      <a16:creationId xmlns:a16="http://schemas.microsoft.com/office/drawing/2014/main" id="{D997CB02-29C4-4B46-9DB0-BD2ED283B22B}"/>
                    </a:ext>
                  </a:extLst>
                </p:cNvPr>
                <p:cNvSpPr txBox="1">
                  <a:spLocks noRot="1" noChangeAspect="1" noMove="1" noResize="1" noEditPoints="1" noAdjustHandles="1" noChangeArrowheads="1" noChangeShapeType="1" noTextEdit="1"/>
                </p:cNvSpPr>
                <p:nvPr/>
              </p:nvSpPr>
              <p:spPr>
                <a:xfrm>
                  <a:off x="10426437" y="482868"/>
                  <a:ext cx="345262" cy="338552"/>
                </a:xfrm>
                <a:prstGeom prst="rect">
                  <a:avLst/>
                </a:prstGeom>
                <a:blipFill>
                  <a:blip r:embed="rId8"/>
                  <a:stretch>
                    <a:fillRect l="-7143"/>
                  </a:stretch>
                </a:blipFill>
                <a:ln w="12700" cap="flat">
                  <a:noFill/>
                  <a:miter lim="400000"/>
                </a:ln>
                <a:effectLst/>
              </p:spPr>
              <p:txBody>
                <a:bodyPr/>
                <a:lstStyle/>
                <a:p>
                  <a:r>
                    <a:rPr lang="en-US">
                      <a:noFill/>
                    </a:rPr>
                    <a:t> </a:t>
                  </a:r>
                </a:p>
              </p:txBody>
            </p:sp>
          </mc:Fallback>
        </mc:AlternateContent>
        <p:cxnSp>
          <p:nvCxnSpPr>
            <p:cNvPr id="35" name="Straight Connector 34">
              <a:extLst>
                <a:ext uri="{FF2B5EF4-FFF2-40B4-BE49-F238E27FC236}">
                  <a16:creationId xmlns:a16="http://schemas.microsoft.com/office/drawing/2014/main" id="{BFBE11BB-5D26-E541-BB86-53073242DE2D}"/>
                </a:ext>
              </a:extLst>
            </p:cNvPr>
            <p:cNvCxnSpPr>
              <a:cxnSpLocks/>
            </p:cNvCxnSpPr>
            <p:nvPr/>
          </p:nvCxnSpPr>
          <p:spPr>
            <a:xfrm>
              <a:off x="10127755" y="444564"/>
              <a:ext cx="452980" cy="622223"/>
            </a:xfrm>
            <a:prstGeom prst="line">
              <a:avLst/>
            </a:prstGeom>
            <a:noFill/>
            <a:ln w="25400" cap="flat">
              <a:solidFill>
                <a:schemeClr val="tx1"/>
              </a:solidFill>
              <a:prstDash val="solid"/>
              <a:bevel/>
              <a:head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36" name="Straight Connector 35">
              <a:extLst>
                <a:ext uri="{FF2B5EF4-FFF2-40B4-BE49-F238E27FC236}">
                  <a16:creationId xmlns:a16="http://schemas.microsoft.com/office/drawing/2014/main" id="{9FA64947-662C-B04E-AB09-A8247485A89B}"/>
                </a:ext>
              </a:extLst>
            </p:cNvPr>
            <p:cNvCxnSpPr>
              <a:cxnSpLocks/>
            </p:cNvCxnSpPr>
            <p:nvPr/>
          </p:nvCxnSpPr>
          <p:spPr>
            <a:xfrm flipV="1">
              <a:off x="10023754" y="1063895"/>
              <a:ext cx="557359" cy="388137"/>
            </a:xfrm>
            <a:prstGeom prst="line">
              <a:avLst/>
            </a:prstGeom>
            <a:noFill/>
            <a:ln w="25400" cap="flat">
              <a:solidFill>
                <a:schemeClr val="tx1"/>
              </a:solidFill>
              <a:prstDash val="solid"/>
              <a:bevel/>
              <a:head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37" name="Straight Connector 36">
              <a:extLst>
                <a:ext uri="{FF2B5EF4-FFF2-40B4-BE49-F238E27FC236}">
                  <a16:creationId xmlns:a16="http://schemas.microsoft.com/office/drawing/2014/main" id="{1020DF8B-B797-6744-8F7B-8C6451D17315}"/>
                </a:ext>
              </a:extLst>
            </p:cNvPr>
            <p:cNvCxnSpPr>
              <a:cxnSpLocks/>
            </p:cNvCxnSpPr>
            <p:nvPr/>
          </p:nvCxnSpPr>
          <p:spPr>
            <a:xfrm>
              <a:off x="9490554" y="290426"/>
              <a:ext cx="0" cy="1083844"/>
            </a:xfrm>
            <a:prstGeom prst="line">
              <a:avLst/>
            </a:prstGeom>
            <a:noFill/>
            <a:ln w="25400" cap="flat">
              <a:solidFill>
                <a:schemeClr val="tx1"/>
              </a:solidFill>
              <a:prstDash val="solid"/>
              <a:bevel/>
              <a:head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38" name="Straight Connector 37">
              <a:extLst>
                <a:ext uri="{FF2B5EF4-FFF2-40B4-BE49-F238E27FC236}">
                  <a16:creationId xmlns:a16="http://schemas.microsoft.com/office/drawing/2014/main" id="{5F70F22C-F619-5447-83B3-E99EFE661CEE}"/>
                </a:ext>
              </a:extLst>
            </p:cNvPr>
            <p:cNvCxnSpPr>
              <a:cxnSpLocks/>
            </p:cNvCxnSpPr>
            <p:nvPr/>
          </p:nvCxnSpPr>
          <p:spPr>
            <a:xfrm flipV="1">
              <a:off x="9490554" y="1744352"/>
              <a:ext cx="0" cy="944362"/>
            </a:xfrm>
            <a:prstGeom prst="line">
              <a:avLst/>
            </a:prstGeom>
            <a:noFill/>
            <a:ln w="25400" cap="flat">
              <a:solidFill>
                <a:schemeClr val="tx1"/>
              </a:solidFill>
              <a:prstDash val="solid"/>
              <a:bevel/>
              <a:head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39" name="Rectangle 38">
              <a:extLst>
                <a:ext uri="{FF2B5EF4-FFF2-40B4-BE49-F238E27FC236}">
                  <a16:creationId xmlns:a16="http://schemas.microsoft.com/office/drawing/2014/main" id="{0AF60C9A-73C6-7A4E-B495-D33A01C1E11B}"/>
                </a:ext>
              </a:extLst>
            </p:cNvPr>
            <p:cNvSpPr/>
            <p:nvPr/>
          </p:nvSpPr>
          <p:spPr>
            <a:xfrm>
              <a:off x="8977827" y="2648212"/>
              <a:ext cx="1540422" cy="338554"/>
            </a:xfrm>
            <a:prstGeom prst="rect">
              <a:avLst/>
            </a:prstGeom>
          </p:spPr>
          <p:txBody>
            <a:bodyPr wrap="none">
              <a:spAutoFit/>
            </a:bodyPr>
            <a:lstStyle/>
            <a:p>
              <a:r>
                <a:rPr lang="en-US" sz="1600" dirty="0"/>
                <a:t>Receiving dipole</a:t>
              </a:r>
            </a:p>
          </p:txBody>
        </p:sp>
      </p:grpSp>
    </p:spTree>
    <p:extLst>
      <p:ext uri="{BB962C8B-B14F-4D97-AF65-F5344CB8AC3E}">
        <p14:creationId xmlns:p14="http://schemas.microsoft.com/office/powerpoint/2010/main" val="15336005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720458" y="198885"/>
            <a:ext cx="10515600" cy="869909"/>
          </a:xfrm>
        </p:spPr>
        <p:txBody>
          <a:bodyPr/>
          <a:lstStyle/>
          <a:p>
            <a:pPr algn="ctr"/>
            <a:r>
              <a:rPr lang="en-US" dirty="0">
                <a:latin typeface="Calibri" panose="020F0502020204030204" pitchFamily="34" charset="0"/>
                <a:cs typeface="Calibri" panose="020F0502020204030204" pitchFamily="34" charset="0"/>
              </a:rPr>
              <a:t>Another antenna model</a:t>
            </a:r>
          </a:p>
        </p:txBody>
      </p:sp>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16</a:t>
            </a:fld>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753BD47-7B0F-4141-B946-BD16449FE8C1}"/>
                  </a:ext>
                </a:extLst>
              </p:cNvPr>
              <p:cNvSpPr txBox="1"/>
              <p:nvPr/>
            </p:nvSpPr>
            <p:spPr>
              <a:xfrm>
                <a:off x="5484872" y="1756987"/>
                <a:ext cx="5998501" cy="912376"/>
              </a:xfrm>
              <a:prstGeom prst="rect">
                <a:avLst/>
              </a:prstGeom>
              <a:noFill/>
            </p:spPr>
            <p:txBody>
              <a:bodyPr wrap="square" rtlCol="0">
                <a:noAutofit/>
              </a:bodyPr>
              <a:lstStyle/>
              <a:p>
                <a:pPr marL="285750" indent="-285750">
                  <a:buFont typeface="Arial" panose="020B0604020202020204" pitchFamily="34" charset="0"/>
                  <a:buChar char="•"/>
                </a:pPr>
                <a14:m>
                  <m:oMath xmlns:m="http://schemas.openxmlformats.org/officeDocument/2006/math">
                    <m:r>
                      <a:rPr lang="en-US" i="1" smtClean="0">
                        <a:latin typeface="Cambria Math" panose="02040503050406030204" pitchFamily="18" charset="0"/>
                      </a:rPr>
                      <m:t>𝐸</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𝜔𝜇</m:t>
                        </m:r>
                      </m:num>
                      <m:den>
                        <m:r>
                          <a:rPr lang="en-US" b="0" i="1" smtClean="0">
                            <a:latin typeface="Cambria Math" panose="02040503050406030204" pitchFamily="18" charset="0"/>
                          </a:rPr>
                          <m:t>4</m:t>
                        </m:r>
                        <m:r>
                          <a:rPr lang="en-US" b="0" i="1" smtClean="0">
                            <a:latin typeface="Cambria Math" panose="02040503050406030204" pitchFamily="18" charset="0"/>
                            <a:ea typeface="Cambria Math" panose="02040503050406030204" pitchFamily="18" charset="0"/>
                          </a:rPr>
                          <m:t>𝜋</m:t>
                        </m:r>
                      </m:den>
                    </m:f>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𝑚</m:t>
                        </m:r>
                      </m:sub>
                    </m:sSub>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𝑟</m:t>
                            </m:r>
                          </m:sup>
                        </m:sSup>
                      </m:num>
                      <m:den>
                        <m:r>
                          <a:rPr lang="en-US" b="0" i="1" smtClean="0">
                            <a:latin typeface="Cambria Math" panose="02040503050406030204" pitchFamily="18" charset="0"/>
                          </a:rPr>
                          <m:t>𝑟</m:t>
                        </m:r>
                      </m:den>
                    </m:f>
                  </m:oMath>
                </a14:m>
                <a:endParaRPr lang="en-US" b="0" dirty="0"/>
              </a:p>
              <a:p>
                <a:pPr marL="285750" indent="-28575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𝑅</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𝐵</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𝐴</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𝐵</m:t>
                        </m:r>
                      </m:sub>
                    </m:sSub>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f>
                          <m:fPr>
                            <m:ctrlPr>
                              <a:rPr lang="el-GR" b="0" i="1" smtClean="0">
                                <a:latin typeface="Cambria Math" panose="02040503050406030204" pitchFamily="18" charset="0"/>
                                <a:ea typeface="Cambria Math" panose="02040503050406030204" pitchFamily="18" charset="0"/>
                              </a:rPr>
                            </m:ctrlPr>
                          </m:fPr>
                          <m:num>
                            <m:r>
                              <a:rPr lang="el-GR" b="0" i="1" smtClean="0">
                                <a:latin typeface="Cambria Math" panose="02040503050406030204" pitchFamily="18" charset="0"/>
                                <a:ea typeface="Cambria Math" panose="02040503050406030204" pitchFamily="18" charset="0"/>
                              </a:rPr>
                              <m:t>𝜆</m:t>
                            </m:r>
                          </m:num>
                          <m:den>
                            <m:r>
                              <a:rPr lang="en-US" b="0" i="1" smtClean="0">
                                <a:latin typeface="Cambria Math" panose="02040503050406030204" pitchFamily="18" charset="0"/>
                                <a:ea typeface="Cambria Math" panose="02040503050406030204" pitchFamily="18" charset="0"/>
                              </a:rPr>
                              <m:t>4</m:t>
                            </m:r>
                            <m:r>
                              <a:rPr lang="en-US" b="0" i="1" smtClean="0">
                                <a:latin typeface="Cambria Math" panose="02040503050406030204" pitchFamily="18" charset="0"/>
                                <a:ea typeface="Cambria Math" panose="02040503050406030204" pitchFamily="18" charset="0"/>
                              </a:rPr>
                              <m:t>𝜋</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𝐴𝐵</m:t>
                                </m:r>
                              </m:sub>
                            </m:sSub>
                          </m:den>
                        </m:f>
                        <m:r>
                          <a:rPr lang="en-US" b="0" i="1" smtClean="0">
                            <a:latin typeface="Cambria Math" panose="02040503050406030204" pitchFamily="18" charset="0"/>
                          </a:rPr>
                          <m:t>)</m:t>
                        </m:r>
                      </m:e>
                      <m:sup>
                        <m:r>
                          <a:rPr lang="en-US" b="0" i="1" smtClean="0">
                            <a:latin typeface="Cambria Math" panose="02040503050406030204" pitchFamily="18" charset="0"/>
                          </a:rPr>
                          <m:t>2</m:t>
                        </m:r>
                      </m:sup>
                    </m:sSup>
                  </m:oMath>
                </a14:m>
                <a:endParaRPr lang="en-US" dirty="0"/>
              </a:p>
            </p:txBody>
          </p:sp>
        </mc:Choice>
        <mc:Fallback xmlns="">
          <p:sp>
            <p:nvSpPr>
              <p:cNvPr id="7" name="TextBox 6">
                <a:extLst>
                  <a:ext uri="{FF2B5EF4-FFF2-40B4-BE49-F238E27FC236}">
                    <a16:creationId xmlns:a16="http://schemas.microsoft.com/office/drawing/2014/main" id="{D753BD47-7B0F-4141-B946-BD16449FE8C1}"/>
                  </a:ext>
                </a:extLst>
              </p:cNvPr>
              <p:cNvSpPr txBox="1">
                <a:spLocks noRot="1" noChangeAspect="1" noMove="1" noResize="1" noEditPoints="1" noAdjustHandles="1" noChangeArrowheads="1" noChangeShapeType="1" noTextEdit="1"/>
              </p:cNvSpPr>
              <p:nvPr/>
            </p:nvSpPr>
            <p:spPr>
              <a:xfrm>
                <a:off x="5484872" y="1756987"/>
                <a:ext cx="5998501" cy="912376"/>
              </a:xfrm>
              <a:prstGeom prst="rect">
                <a:avLst/>
              </a:prstGeom>
              <a:blipFill>
                <a:blip r:embed="rId3"/>
                <a:stretch>
                  <a:fillRect l="-846" b="-6849"/>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9644B55F-2FE6-66B9-4F73-32C8F0B1481E}"/>
              </a:ext>
            </a:extLst>
          </p:cNvPr>
          <p:cNvGrpSpPr/>
          <p:nvPr/>
        </p:nvGrpSpPr>
        <p:grpSpPr>
          <a:xfrm>
            <a:off x="1042299" y="1756987"/>
            <a:ext cx="3779438" cy="3764280"/>
            <a:chOff x="1042299" y="1756987"/>
            <a:chExt cx="3779438" cy="3764280"/>
          </a:xfrm>
        </p:grpSpPr>
        <p:grpSp>
          <p:nvGrpSpPr>
            <p:cNvPr id="687" name="Group 210">
              <a:extLst>
                <a:ext uri="{FF2B5EF4-FFF2-40B4-BE49-F238E27FC236}">
                  <a16:creationId xmlns:a16="http://schemas.microsoft.com/office/drawing/2014/main" id="{B538BCA2-9066-0B4D-B7EB-394950435983}"/>
                </a:ext>
              </a:extLst>
            </p:cNvPr>
            <p:cNvGrpSpPr>
              <a:grpSpLocks/>
            </p:cNvGrpSpPr>
            <p:nvPr/>
          </p:nvGrpSpPr>
          <p:grpSpPr bwMode="auto">
            <a:xfrm>
              <a:off x="1758601" y="3289770"/>
              <a:ext cx="304800" cy="762000"/>
              <a:chOff x="3216" y="1728"/>
              <a:chExt cx="192" cy="480"/>
            </a:xfrm>
          </p:grpSpPr>
          <p:sp>
            <p:nvSpPr>
              <p:cNvPr id="712" name="Line 8">
                <a:extLst>
                  <a:ext uri="{FF2B5EF4-FFF2-40B4-BE49-F238E27FC236}">
                    <a16:creationId xmlns:a16="http://schemas.microsoft.com/office/drawing/2014/main" id="{6C77E5EE-3079-4944-9BA3-D2D355A4AB18}"/>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3" name="Line 9">
                <a:extLst>
                  <a:ext uri="{FF2B5EF4-FFF2-40B4-BE49-F238E27FC236}">
                    <a16:creationId xmlns:a16="http://schemas.microsoft.com/office/drawing/2014/main" id="{B50DD889-2ABC-704E-92F2-D95035108911}"/>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4" name="Line 10">
                <a:extLst>
                  <a:ext uri="{FF2B5EF4-FFF2-40B4-BE49-F238E27FC236}">
                    <a16:creationId xmlns:a16="http://schemas.microsoft.com/office/drawing/2014/main" id="{8E62A679-E34B-974F-8FA4-C6F322B2432F}"/>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5" name="Line 11">
                <a:extLst>
                  <a:ext uri="{FF2B5EF4-FFF2-40B4-BE49-F238E27FC236}">
                    <a16:creationId xmlns:a16="http://schemas.microsoft.com/office/drawing/2014/main" id="{21AB4D70-3BE4-A645-837B-ADF452B1C374}"/>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70" name="Group 210">
              <a:extLst>
                <a:ext uri="{FF2B5EF4-FFF2-40B4-BE49-F238E27FC236}">
                  <a16:creationId xmlns:a16="http://schemas.microsoft.com/office/drawing/2014/main" id="{72878ABD-34A4-C648-9870-DB237EECA62F}"/>
                </a:ext>
              </a:extLst>
            </p:cNvPr>
            <p:cNvGrpSpPr>
              <a:grpSpLocks/>
            </p:cNvGrpSpPr>
            <p:nvPr/>
          </p:nvGrpSpPr>
          <p:grpSpPr bwMode="auto">
            <a:xfrm>
              <a:off x="3384640" y="3296397"/>
              <a:ext cx="304800" cy="762000"/>
              <a:chOff x="3216" y="1728"/>
              <a:chExt cx="192" cy="480"/>
            </a:xfrm>
          </p:grpSpPr>
          <p:sp>
            <p:nvSpPr>
              <p:cNvPr id="271" name="Line 8">
                <a:extLst>
                  <a:ext uri="{FF2B5EF4-FFF2-40B4-BE49-F238E27FC236}">
                    <a16:creationId xmlns:a16="http://schemas.microsoft.com/office/drawing/2014/main" id="{DC61C338-AAC2-F940-B84A-7BB24FF43399}"/>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2" name="Line 9">
                <a:extLst>
                  <a:ext uri="{FF2B5EF4-FFF2-40B4-BE49-F238E27FC236}">
                    <a16:creationId xmlns:a16="http://schemas.microsoft.com/office/drawing/2014/main" id="{6130B9E9-7191-7147-B828-D88650DDC5D4}"/>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3" name="Line 10">
                <a:extLst>
                  <a:ext uri="{FF2B5EF4-FFF2-40B4-BE49-F238E27FC236}">
                    <a16:creationId xmlns:a16="http://schemas.microsoft.com/office/drawing/2014/main" id="{6AE23AA6-5ACA-5E49-9C57-364D52002DFC}"/>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4" name="Line 11">
                <a:extLst>
                  <a:ext uri="{FF2B5EF4-FFF2-40B4-BE49-F238E27FC236}">
                    <a16:creationId xmlns:a16="http://schemas.microsoft.com/office/drawing/2014/main" id="{3720A286-93F1-BF4F-9A93-FF0FC5A81F8B}"/>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84" name="Oval 283">
              <a:extLst>
                <a:ext uri="{FF2B5EF4-FFF2-40B4-BE49-F238E27FC236}">
                  <a16:creationId xmlns:a16="http://schemas.microsoft.com/office/drawing/2014/main" id="{16FB2294-0844-E047-B491-1148A71B7B19}"/>
                </a:ext>
              </a:extLst>
            </p:cNvPr>
            <p:cNvSpPr>
              <a:spLocks noChangeAspect="1" noChangeArrowheads="1"/>
            </p:cNvSpPr>
            <p:nvPr/>
          </p:nvSpPr>
          <p:spPr bwMode="auto">
            <a:xfrm>
              <a:off x="3468507" y="3238315"/>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31" name="Oval 130">
              <a:extLst>
                <a:ext uri="{FF2B5EF4-FFF2-40B4-BE49-F238E27FC236}">
                  <a16:creationId xmlns:a16="http://schemas.microsoft.com/office/drawing/2014/main" id="{4B752AA2-C393-1746-A327-5DAB4FCF82E3}"/>
                </a:ext>
              </a:extLst>
            </p:cNvPr>
            <p:cNvSpPr>
              <a:spLocks noChangeAspect="1" noChangeArrowheads="1"/>
            </p:cNvSpPr>
            <p:nvPr/>
          </p:nvSpPr>
          <p:spPr bwMode="auto">
            <a:xfrm>
              <a:off x="1840875" y="3256603"/>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32" name="Oval 131">
              <a:extLst>
                <a:ext uri="{FF2B5EF4-FFF2-40B4-BE49-F238E27FC236}">
                  <a16:creationId xmlns:a16="http://schemas.microsoft.com/office/drawing/2014/main" id="{CD0877DB-6C2F-854F-A7B8-24A6C747CB58}"/>
                </a:ext>
              </a:extLst>
            </p:cNvPr>
            <p:cNvSpPr>
              <a:spLocks noChangeAspect="1" noChangeArrowheads="1"/>
            </p:cNvSpPr>
            <p:nvPr/>
          </p:nvSpPr>
          <p:spPr bwMode="auto">
            <a:xfrm>
              <a:off x="1042299" y="3238315"/>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134" name="Group 210">
              <a:extLst>
                <a:ext uri="{FF2B5EF4-FFF2-40B4-BE49-F238E27FC236}">
                  <a16:creationId xmlns:a16="http://schemas.microsoft.com/office/drawing/2014/main" id="{7E98CA95-C6D0-514E-82FC-38D79EA4C37F}"/>
                </a:ext>
              </a:extLst>
            </p:cNvPr>
            <p:cNvGrpSpPr>
              <a:grpSpLocks/>
            </p:cNvGrpSpPr>
            <p:nvPr/>
          </p:nvGrpSpPr>
          <p:grpSpPr bwMode="auto">
            <a:xfrm>
              <a:off x="2593753" y="3283674"/>
              <a:ext cx="304800" cy="762000"/>
              <a:chOff x="3216" y="1728"/>
              <a:chExt cx="192" cy="480"/>
            </a:xfrm>
          </p:grpSpPr>
          <p:sp>
            <p:nvSpPr>
              <p:cNvPr id="135" name="Line 8">
                <a:extLst>
                  <a:ext uri="{FF2B5EF4-FFF2-40B4-BE49-F238E27FC236}">
                    <a16:creationId xmlns:a16="http://schemas.microsoft.com/office/drawing/2014/main" id="{CA0BA6CA-D3D6-FD4A-9F59-1679E4C24639}"/>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 name="Line 9">
                <a:extLst>
                  <a:ext uri="{FF2B5EF4-FFF2-40B4-BE49-F238E27FC236}">
                    <a16:creationId xmlns:a16="http://schemas.microsoft.com/office/drawing/2014/main" id="{4D2120A1-EDDE-724C-8711-9E9BA3DE9E6D}"/>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 name="Line 10">
                <a:extLst>
                  <a:ext uri="{FF2B5EF4-FFF2-40B4-BE49-F238E27FC236}">
                    <a16:creationId xmlns:a16="http://schemas.microsoft.com/office/drawing/2014/main" id="{75A311D2-025D-D74B-AB5B-9A2937DD02C0}"/>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8" name="Line 11">
                <a:extLst>
                  <a:ext uri="{FF2B5EF4-FFF2-40B4-BE49-F238E27FC236}">
                    <a16:creationId xmlns:a16="http://schemas.microsoft.com/office/drawing/2014/main" id="{C617EE80-9AC5-0B4C-A272-6F3FC38885F8}"/>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39" name="Oval 138">
              <a:extLst>
                <a:ext uri="{FF2B5EF4-FFF2-40B4-BE49-F238E27FC236}">
                  <a16:creationId xmlns:a16="http://schemas.microsoft.com/office/drawing/2014/main" id="{DD9B761D-B3CE-064D-9551-50B6A62B2299}"/>
                </a:ext>
              </a:extLst>
            </p:cNvPr>
            <p:cNvSpPr>
              <a:spLocks noChangeAspect="1" noChangeArrowheads="1"/>
            </p:cNvSpPr>
            <p:nvPr/>
          </p:nvSpPr>
          <p:spPr bwMode="auto">
            <a:xfrm>
              <a:off x="2676027" y="3250507"/>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41" name="Oval 140">
              <a:extLst>
                <a:ext uri="{FF2B5EF4-FFF2-40B4-BE49-F238E27FC236}">
                  <a16:creationId xmlns:a16="http://schemas.microsoft.com/office/drawing/2014/main" id="{BBC807D3-B7FD-8448-9FF5-D2EDF7C2A5C4}"/>
                </a:ext>
              </a:extLst>
            </p:cNvPr>
            <p:cNvSpPr>
              <a:spLocks noChangeAspect="1" noChangeArrowheads="1"/>
            </p:cNvSpPr>
            <p:nvPr/>
          </p:nvSpPr>
          <p:spPr bwMode="auto">
            <a:xfrm>
              <a:off x="3474603" y="2464123"/>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152" name="Group 209">
              <a:extLst>
                <a:ext uri="{FF2B5EF4-FFF2-40B4-BE49-F238E27FC236}">
                  <a16:creationId xmlns:a16="http://schemas.microsoft.com/office/drawing/2014/main" id="{B0994363-6533-8446-9EB2-1AAAE5CFA2BF}"/>
                </a:ext>
              </a:extLst>
            </p:cNvPr>
            <p:cNvGrpSpPr>
              <a:grpSpLocks/>
            </p:cNvGrpSpPr>
            <p:nvPr/>
          </p:nvGrpSpPr>
          <p:grpSpPr bwMode="auto">
            <a:xfrm>
              <a:off x="3471366" y="4024250"/>
              <a:ext cx="152400" cy="762000"/>
              <a:chOff x="3935" y="1728"/>
              <a:chExt cx="96" cy="480"/>
            </a:xfrm>
          </p:grpSpPr>
          <p:sp>
            <p:nvSpPr>
              <p:cNvPr id="153" name="Arc 59">
                <a:extLst>
                  <a:ext uri="{FF2B5EF4-FFF2-40B4-BE49-F238E27FC236}">
                    <a16:creationId xmlns:a16="http://schemas.microsoft.com/office/drawing/2014/main" id="{A41AD314-0733-5345-AB56-6808EA285E08}"/>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4" name="Arc 60">
                <a:extLst>
                  <a:ext uri="{FF2B5EF4-FFF2-40B4-BE49-F238E27FC236}">
                    <a16:creationId xmlns:a16="http://schemas.microsoft.com/office/drawing/2014/main" id="{608BC6ED-9759-FE46-A652-ABC05A2F9703}"/>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5" name="Arc 61">
                <a:extLst>
                  <a:ext uri="{FF2B5EF4-FFF2-40B4-BE49-F238E27FC236}">
                    <a16:creationId xmlns:a16="http://schemas.microsoft.com/office/drawing/2014/main" id="{FBDE98F6-DC44-C74B-8D2C-4A075F5E7F6F}"/>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6" name="Arc 62">
                <a:extLst>
                  <a:ext uri="{FF2B5EF4-FFF2-40B4-BE49-F238E27FC236}">
                    <a16:creationId xmlns:a16="http://schemas.microsoft.com/office/drawing/2014/main" id="{BB65F7B8-9813-6941-BF56-A4B2FA58E1B6}"/>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8" name="Line 63">
                <a:extLst>
                  <a:ext uri="{FF2B5EF4-FFF2-40B4-BE49-F238E27FC236}">
                    <a16:creationId xmlns:a16="http://schemas.microsoft.com/office/drawing/2014/main" id="{BE035A65-E458-FE49-B19B-37F0763E2810}"/>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9" name="Line 64">
                <a:extLst>
                  <a:ext uri="{FF2B5EF4-FFF2-40B4-BE49-F238E27FC236}">
                    <a16:creationId xmlns:a16="http://schemas.microsoft.com/office/drawing/2014/main" id="{C4F4087A-8179-8A47-9673-F1E15966420C}"/>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0" name="Arc 65">
                <a:extLst>
                  <a:ext uri="{FF2B5EF4-FFF2-40B4-BE49-F238E27FC236}">
                    <a16:creationId xmlns:a16="http://schemas.microsoft.com/office/drawing/2014/main" id="{826AE264-35EA-7044-8B7D-50B36063442D}"/>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1" name="Arc 66">
                <a:extLst>
                  <a:ext uri="{FF2B5EF4-FFF2-40B4-BE49-F238E27FC236}">
                    <a16:creationId xmlns:a16="http://schemas.microsoft.com/office/drawing/2014/main" id="{518F8203-BDD3-8845-8198-2707B5976F5E}"/>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5" name="Arc 67">
                <a:extLst>
                  <a:ext uri="{FF2B5EF4-FFF2-40B4-BE49-F238E27FC236}">
                    <a16:creationId xmlns:a16="http://schemas.microsoft.com/office/drawing/2014/main" id="{BAF5317C-A90C-FB49-B6E3-EDA3CB2492B3}"/>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2" name="Arc 68">
                <a:extLst>
                  <a:ext uri="{FF2B5EF4-FFF2-40B4-BE49-F238E27FC236}">
                    <a16:creationId xmlns:a16="http://schemas.microsoft.com/office/drawing/2014/main" id="{7905486E-4151-A04E-9F50-15C3A4F0C5B4}"/>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4" name="Arc 69">
                <a:extLst>
                  <a:ext uri="{FF2B5EF4-FFF2-40B4-BE49-F238E27FC236}">
                    <a16:creationId xmlns:a16="http://schemas.microsoft.com/office/drawing/2014/main" id="{8FCD2291-7AE0-4D42-986F-C0E98C527857}"/>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1" name="Arc 70">
                <a:extLst>
                  <a:ext uri="{FF2B5EF4-FFF2-40B4-BE49-F238E27FC236}">
                    <a16:creationId xmlns:a16="http://schemas.microsoft.com/office/drawing/2014/main" id="{92ED4BBA-A938-9748-AE20-18D42C6D8B84}"/>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2" name="Arc 71">
                <a:extLst>
                  <a:ext uri="{FF2B5EF4-FFF2-40B4-BE49-F238E27FC236}">
                    <a16:creationId xmlns:a16="http://schemas.microsoft.com/office/drawing/2014/main" id="{18416BDB-EBE3-C54E-B69D-2F0F69329D8D}"/>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91" name="Group 209">
              <a:extLst>
                <a:ext uri="{FF2B5EF4-FFF2-40B4-BE49-F238E27FC236}">
                  <a16:creationId xmlns:a16="http://schemas.microsoft.com/office/drawing/2014/main" id="{AE6EBDA7-7C83-B842-9E87-8C7E95B1733F}"/>
                </a:ext>
              </a:extLst>
            </p:cNvPr>
            <p:cNvGrpSpPr>
              <a:grpSpLocks/>
            </p:cNvGrpSpPr>
            <p:nvPr/>
          </p:nvGrpSpPr>
          <p:grpSpPr bwMode="auto">
            <a:xfrm rot="16200000">
              <a:off x="1447683" y="2925106"/>
              <a:ext cx="152400" cy="762000"/>
              <a:chOff x="3935" y="1728"/>
              <a:chExt cx="96" cy="480"/>
            </a:xfrm>
          </p:grpSpPr>
          <p:sp>
            <p:nvSpPr>
              <p:cNvPr id="192" name="Arc 59">
                <a:extLst>
                  <a:ext uri="{FF2B5EF4-FFF2-40B4-BE49-F238E27FC236}">
                    <a16:creationId xmlns:a16="http://schemas.microsoft.com/office/drawing/2014/main" id="{500BAD65-E9B7-B540-B739-F9ECEA63FB79}"/>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3" name="Arc 60">
                <a:extLst>
                  <a:ext uri="{FF2B5EF4-FFF2-40B4-BE49-F238E27FC236}">
                    <a16:creationId xmlns:a16="http://schemas.microsoft.com/office/drawing/2014/main" id="{BBBB2137-7615-BD4D-8A6D-16C89019CA9A}"/>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4" name="Arc 61">
                <a:extLst>
                  <a:ext uri="{FF2B5EF4-FFF2-40B4-BE49-F238E27FC236}">
                    <a16:creationId xmlns:a16="http://schemas.microsoft.com/office/drawing/2014/main" id="{038694FF-5AA1-AD43-A7C4-CAC2D6CB73C6}"/>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8" name="Arc 62">
                <a:extLst>
                  <a:ext uri="{FF2B5EF4-FFF2-40B4-BE49-F238E27FC236}">
                    <a16:creationId xmlns:a16="http://schemas.microsoft.com/office/drawing/2014/main" id="{4099B642-3C86-564E-A4B3-0981B2AA433F}"/>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12" name="Line 63">
                <a:extLst>
                  <a:ext uri="{FF2B5EF4-FFF2-40B4-BE49-F238E27FC236}">
                    <a16:creationId xmlns:a16="http://schemas.microsoft.com/office/drawing/2014/main" id="{0B7FC4C5-53CE-714B-88C4-54A55F3D643B}"/>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3" name="Line 64">
                <a:extLst>
                  <a:ext uri="{FF2B5EF4-FFF2-40B4-BE49-F238E27FC236}">
                    <a16:creationId xmlns:a16="http://schemas.microsoft.com/office/drawing/2014/main" id="{FCCBD944-9CB2-1C4D-AB31-BA544C0EE641}"/>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4" name="Arc 65">
                <a:extLst>
                  <a:ext uri="{FF2B5EF4-FFF2-40B4-BE49-F238E27FC236}">
                    <a16:creationId xmlns:a16="http://schemas.microsoft.com/office/drawing/2014/main" id="{978EDDE2-0A49-C84B-A4E0-C29C2E8C4674}"/>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15" name="Arc 66">
                <a:extLst>
                  <a:ext uri="{FF2B5EF4-FFF2-40B4-BE49-F238E27FC236}">
                    <a16:creationId xmlns:a16="http://schemas.microsoft.com/office/drawing/2014/main" id="{3DBB201F-2C22-0E4F-ADC0-7D7754F55E30}"/>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16" name="Arc 67">
                <a:extLst>
                  <a:ext uri="{FF2B5EF4-FFF2-40B4-BE49-F238E27FC236}">
                    <a16:creationId xmlns:a16="http://schemas.microsoft.com/office/drawing/2014/main" id="{144B2BDA-4580-F042-84E2-D5A3A7D9B11D}"/>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19" name="Arc 68">
                <a:extLst>
                  <a:ext uri="{FF2B5EF4-FFF2-40B4-BE49-F238E27FC236}">
                    <a16:creationId xmlns:a16="http://schemas.microsoft.com/office/drawing/2014/main" id="{52619F70-4B3D-0541-952C-268C71BB97A0}"/>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6" name="Arc 69">
                <a:extLst>
                  <a:ext uri="{FF2B5EF4-FFF2-40B4-BE49-F238E27FC236}">
                    <a16:creationId xmlns:a16="http://schemas.microsoft.com/office/drawing/2014/main" id="{7E90EC37-748A-FE4C-8741-F2F53207D7B2}"/>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9" name="Arc 70">
                <a:extLst>
                  <a:ext uri="{FF2B5EF4-FFF2-40B4-BE49-F238E27FC236}">
                    <a16:creationId xmlns:a16="http://schemas.microsoft.com/office/drawing/2014/main" id="{E5BB0804-7233-0F46-ABCD-360FF436D445}"/>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30" name="Arc 71">
                <a:extLst>
                  <a:ext uri="{FF2B5EF4-FFF2-40B4-BE49-F238E27FC236}">
                    <a16:creationId xmlns:a16="http://schemas.microsoft.com/office/drawing/2014/main" id="{135D5468-495D-0D4A-9B03-3113EC28C01D}"/>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266" name="Group 209">
              <a:extLst>
                <a:ext uri="{FF2B5EF4-FFF2-40B4-BE49-F238E27FC236}">
                  <a16:creationId xmlns:a16="http://schemas.microsoft.com/office/drawing/2014/main" id="{9AC6F6B3-2F49-DB44-9A05-0181769D7405}"/>
                </a:ext>
              </a:extLst>
            </p:cNvPr>
            <p:cNvGrpSpPr>
              <a:grpSpLocks/>
            </p:cNvGrpSpPr>
            <p:nvPr/>
          </p:nvGrpSpPr>
          <p:grpSpPr bwMode="auto">
            <a:xfrm>
              <a:off x="3464477" y="2506648"/>
              <a:ext cx="152400" cy="762000"/>
              <a:chOff x="3935" y="1728"/>
              <a:chExt cx="96" cy="480"/>
            </a:xfrm>
          </p:grpSpPr>
          <p:sp>
            <p:nvSpPr>
              <p:cNvPr id="269" name="Arc 59">
                <a:extLst>
                  <a:ext uri="{FF2B5EF4-FFF2-40B4-BE49-F238E27FC236}">
                    <a16:creationId xmlns:a16="http://schemas.microsoft.com/office/drawing/2014/main" id="{DC1B922F-520C-1244-AD95-E1BD1D2313D7}"/>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5" name="Arc 60">
                <a:extLst>
                  <a:ext uri="{FF2B5EF4-FFF2-40B4-BE49-F238E27FC236}">
                    <a16:creationId xmlns:a16="http://schemas.microsoft.com/office/drawing/2014/main" id="{A96266EC-40F1-BF44-A23C-6789AD6BC600}"/>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6" name="Arc 61">
                <a:extLst>
                  <a:ext uri="{FF2B5EF4-FFF2-40B4-BE49-F238E27FC236}">
                    <a16:creationId xmlns:a16="http://schemas.microsoft.com/office/drawing/2014/main" id="{417272BF-E94C-A549-A258-FA5B170A4922}"/>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7" name="Arc 62">
                <a:extLst>
                  <a:ext uri="{FF2B5EF4-FFF2-40B4-BE49-F238E27FC236}">
                    <a16:creationId xmlns:a16="http://schemas.microsoft.com/office/drawing/2014/main" id="{EDFE25B9-82D7-CA46-A042-C2DDA63C7C84}"/>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8" name="Line 63">
                <a:extLst>
                  <a:ext uri="{FF2B5EF4-FFF2-40B4-BE49-F238E27FC236}">
                    <a16:creationId xmlns:a16="http://schemas.microsoft.com/office/drawing/2014/main" id="{786E52AD-33EA-F241-B230-7AA8720B0666}"/>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9" name="Line 64">
                <a:extLst>
                  <a:ext uri="{FF2B5EF4-FFF2-40B4-BE49-F238E27FC236}">
                    <a16:creationId xmlns:a16="http://schemas.microsoft.com/office/drawing/2014/main" id="{E7CF5F1B-364B-1A48-9E04-25ED0BB5B5C3}"/>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0" name="Arc 65">
                <a:extLst>
                  <a:ext uri="{FF2B5EF4-FFF2-40B4-BE49-F238E27FC236}">
                    <a16:creationId xmlns:a16="http://schemas.microsoft.com/office/drawing/2014/main" id="{6DBABD44-D12B-7548-A31F-BE20434095F4}"/>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1" name="Arc 66">
                <a:extLst>
                  <a:ext uri="{FF2B5EF4-FFF2-40B4-BE49-F238E27FC236}">
                    <a16:creationId xmlns:a16="http://schemas.microsoft.com/office/drawing/2014/main" id="{78D813CB-DB54-C14F-ADCC-B317958D1375}"/>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9" name="Arc 67">
                <a:extLst>
                  <a:ext uri="{FF2B5EF4-FFF2-40B4-BE49-F238E27FC236}">
                    <a16:creationId xmlns:a16="http://schemas.microsoft.com/office/drawing/2014/main" id="{71A1F54B-1AAF-DA4A-8A51-C31E6E789EAD}"/>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0" name="Arc 68">
                <a:extLst>
                  <a:ext uri="{FF2B5EF4-FFF2-40B4-BE49-F238E27FC236}">
                    <a16:creationId xmlns:a16="http://schemas.microsoft.com/office/drawing/2014/main" id="{15A30F6A-BAE7-DE4D-947C-5944D02AE810}"/>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1" name="Arc 69">
                <a:extLst>
                  <a:ext uri="{FF2B5EF4-FFF2-40B4-BE49-F238E27FC236}">
                    <a16:creationId xmlns:a16="http://schemas.microsoft.com/office/drawing/2014/main" id="{F3D5FB50-F08E-A044-8358-26F43E804438}"/>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2" name="Arc 70">
                <a:extLst>
                  <a:ext uri="{FF2B5EF4-FFF2-40B4-BE49-F238E27FC236}">
                    <a16:creationId xmlns:a16="http://schemas.microsoft.com/office/drawing/2014/main" id="{4630A65A-D809-AC41-AE00-0A00248ED726}"/>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3" name="Arc 71">
                <a:extLst>
                  <a:ext uri="{FF2B5EF4-FFF2-40B4-BE49-F238E27FC236}">
                    <a16:creationId xmlns:a16="http://schemas.microsoft.com/office/drawing/2014/main" id="{ACEFCB94-60AE-684E-98D8-3A680E54DDDF}"/>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294" name="Group 209">
              <a:extLst>
                <a:ext uri="{FF2B5EF4-FFF2-40B4-BE49-F238E27FC236}">
                  <a16:creationId xmlns:a16="http://schemas.microsoft.com/office/drawing/2014/main" id="{840A337B-9C9C-8D4E-B5A7-B34334E7DFDF}"/>
                </a:ext>
              </a:extLst>
            </p:cNvPr>
            <p:cNvGrpSpPr>
              <a:grpSpLocks/>
            </p:cNvGrpSpPr>
            <p:nvPr/>
          </p:nvGrpSpPr>
          <p:grpSpPr bwMode="auto">
            <a:xfrm rot="16200000">
              <a:off x="2246253" y="2955726"/>
              <a:ext cx="152400" cy="762000"/>
              <a:chOff x="3935" y="1728"/>
              <a:chExt cx="96" cy="480"/>
            </a:xfrm>
          </p:grpSpPr>
          <p:sp>
            <p:nvSpPr>
              <p:cNvPr id="295" name="Arc 59">
                <a:extLst>
                  <a:ext uri="{FF2B5EF4-FFF2-40B4-BE49-F238E27FC236}">
                    <a16:creationId xmlns:a16="http://schemas.microsoft.com/office/drawing/2014/main" id="{CAAAC54C-7F6C-6245-AD41-748D03A0E43E}"/>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6" name="Arc 60">
                <a:extLst>
                  <a:ext uri="{FF2B5EF4-FFF2-40B4-BE49-F238E27FC236}">
                    <a16:creationId xmlns:a16="http://schemas.microsoft.com/office/drawing/2014/main" id="{6521DA22-4014-F34D-93EA-98AC2F2B0054}"/>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7" name="Arc 61">
                <a:extLst>
                  <a:ext uri="{FF2B5EF4-FFF2-40B4-BE49-F238E27FC236}">
                    <a16:creationId xmlns:a16="http://schemas.microsoft.com/office/drawing/2014/main" id="{05D09E8C-BF4F-6A46-AC17-CC68DDF8767C}"/>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8" name="Arc 62">
                <a:extLst>
                  <a:ext uri="{FF2B5EF4-FFF2-40B4-BE49-F238E27FC236}">
                    <a16:creationId xmlns:a16="http://schemas.microsoft.com/office/drawing/2014/main" id="{FE793421-2F36-714E-B312-98F937F46189}"/>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9" name="Line 63">
                <a:extLst>
                  <a:ext uri="{FF2B5EF4-FFF2-40B4-BE49-F238E27FC236}">
                    <a16:creationId xmlns:a16="http://schemas.microsoft.com/office/drawing/2014/main" id="{70E7AD4A-94AF-CE4B-ABED-8E012CA68CCE}"/>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0" name="Line 64">
                <a:extLst>
                  <a:ext uri="{FF2B5EF4-FFF2-40B4-BE49-F238E27FC236}">
                    <a16:creationId xmlns:a16="http://schemas.microsoft.com/office/drawing/2014/main" id="{A76E17CC-1113-304B-A18A-BE6D5ACB8323}"/>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1" name="Arc 65">
                <a:extLst>
                  <a:ext uri="{FF2B5EF4-FFF2-40B4-BE49-F238E27FC236}">
                    <a16:creationId xmlns:a16="http://schemas.microsoft.com/office/drawing/2014/main" id="{7D4772A0-38D2-6D41-9D91-0F75D548D96F}"/>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2" name="Arc 66">
                <a:extLst>
                  <a:ext uri="{FF2B5EF4-FFF2-40B4-BE49-F238E27FC236}">
                    <a16:creationId xmlns:a16="http://schemas.microsoft.com/office/drawing/2014/main" id="{67151A0E-82CD-B64B-ADE9-DAB0E8D7BE9C}"/>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3" name="Arc 67">
                <a:extLst>
                  <a:ext uri="{FF2B5EF4-FFF2-40B4-BE49-F238E27FC236}">
                    <a16:creationId xmlns:a16="http://schemas.microsoft.com/office/drawing/2014/main" id="{F5523D5E-AAE7-E748-8434-3AA8BCD3DE10}"/>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4" name="Arc 68">
                <a:extLst>
                  <a:ext uri="{FF2B5EF4-FFF2-40B4-BE49-F238E27FC236}">
                    <a16:creationId xmlns:a16="http://schemas.microsoft.com/office/drawing/2014/main" id="{7493483A-2104-AE4E-AAA7-AA80A7CB2F08}"/>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5" name="Arc 69">
                <a:extLst>
                  <a:ext uri="{FF2B5EF4-FFF2-40B4-BE49-F238E27FC236}">
                    <a16:creationId xmlns:a16="http://schemas.microsoft.com/office/drawing/2014/main" id="{93F6CF8D-B55F-884C-9720-3BD86B2ABAE6}"/>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6" name="Arc 70">
                <a:extLst>
                  <a:ext uri="{FF2B5EF4-FFF2-40B4-BE49-F238E27FC236}">
                    <a16:creationId xmlns:a16="http://schemas.microsoft.com/office/drawing/2014/main" id="{86C496E1-CBA7-B64C-8609-FB57A6BE0862}"/>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7" name="Arc 71">
                <a:extLst>
                  <a:ext uri="{FF2B5EF4-FFF2-40B4-BE49-F238E27FC236}">
                    <a16:creationId xmlns:a16="http://schemas.microsoft.com/office/drawing/2014/main" id="{20FE45E4-677C-5346-904F-F2BF85C316A8}"/>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308" name="Group 209">
              <a:extLst>
                <a:ext uri="{FF2B5EF4-FFF2-40B4-BE49-F238E27FC236}">
                  <a16:creationId xmlns:a16="http://schemas.microsoft.com/office/drawing/2014/main" id="{CF877765-0A62-AA4E-BF09-1D0D7A707CB0}"/>
                </a:ext>
              </a:extLst>
            </p:cNvPr>
            <p:cNvGrpSpPr>
              <a:grpSpLocks/>
            </p:cNvGrpSpPr>
            <p:nvPr/>
          </p:nvGrpSpPr>
          <p:grpSpPr bwMode="auto">
            <a:xfrm rot="16200000">
              <a:off x="3058299" y="2937535"/>
              <a:ext cx="152400" cy="762000"/>
              <a:chOff x="3935" y="1728"/>
              <a:chExt cx="96" cy="480"/>
            </a:xfrm>
          </p:grpSpPr>
          <p:sp>
            <p:nvSpPr>
              <p:cNvPr id="309" name="Arc 59">
                <a:extLst>
                  <a:ext uri="{FF2B5EF4-FFF2-40B4-BE49-F238E27FC236}">
                    <a16:creationId xmlns:a16="http://schemas.microsoft.com/office/drawing/2014/main" id="{BBB2EFF7-16F3-704B-9669-A31916546BE0}"/>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0" name="Arc 60">
                <a:extLst>
                  <a:ext uri="{FF2B5EF4-FFF2-40B4-BE49-F238E27FC236}">
                    <a16:creationId xmlns:a16="http://schemas.microsoft.com/office/drawing/2014/main" id="{4EAC10FF-3855-8F46-BD02-0DA6A6FC7A0D}"/>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1" name="Arc 61">
                <a:extLst>
                  <a:ext uri="{FF2B5EF4-FFF2-40B4-BE49-F238E27FC236}">
                    <a16:creationId xmlns:a16="http://schemas.microsoft.com/office/drawing/2014/main" id="{5FAFC161-98BF-FA42-9EE7-B25D72401684}"/>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2" name="Arc 62">
                <a:extLst>
                  <a:ext uri="{FF2B5EF4-FFF2-40B4-BE49-F238E27FC236}">
                    <a16:creationId xmlns:a16="http://schemas.microsoft.com/office/drawing/2014/main" id="{F8A6866C-FC66-E448-8657-0822898ED5BD}"/>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3" name="Line 63">
                <a:extLst>
                  <a:ext uri="{FF2B5EF4-FFF2-40B4-BE49-F238E27FC236}">
                    <a16:creationId xmlns:a16="http://schemas.microsoft.com/office/drawing/2014/main" id="{8A2E7897-CF52-AC40-A62B-B879B880E406}"/>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4" name="Line 64">
                <a:extLst>
                  <a:ext uri="{FF2B5EF4-FFF2-40B4-BE49-F238E27FC236}">
                    <a16:creationId xmlns:a16="http://schemas.microsoft.com/office/drawing/2014/main" id="{F5AB0794-3828-694B-BC43-2AE32B3532DC}"/>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5" name="Arc 65">
                <a:extLst>
                  <a:ext uri="{FF2B5EF4-FFF2-40B4-BE49-F238E27FC236}">
                    <a16:creationId xmlns:a16="http://schemas.microsoft.com/office/drawing/2014/main" id="{B2F506AE-3D5A-AD49-9503-31BB992947FE}"/>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6" name="Arc 66">
                <a:extLst>
                  <a:ext uri="{FF2B5EF4-FFF2-40B4-BE49-F238E27FC236}">
                    <a16:creationId xmlns:a16="http://schemas.microsoft.com/office/drawing/2014/main" id="{B1BBCBA2-8C69-D745-A38F-3A4BE4D8523D}"/>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7" name="Arc 67">
                <a:extLst>
                  <a:ext uri="{FF2B5EF4-FFF2-40B4-BE49-F238E27FC236}">
                    <a16:creationId xmlns:a16="http://schemas.microsoft.com/office/drawing/2014/main" id="{EAD2310D-F3AD-1A41-9EB9-F735B5CC146F}"/>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8" name="Arc 68">
                <a:extLst>
                  <a:ext uri="{FF2B5EF4-FFF2-40B4-BE49-F238E27FC236}">
                    <a16:creationId xmlns:a16="http://schemas.microsoft.com/office/drawing/2014/main" id="{70D953AB-54FF-1648-9C88-5371F4FF3D79}"/>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9" name="Arc 69">
                <a:extLst>
                  <a:ext uri="{FF2B5EF4-FFF2-40B4-BE49-F238E27FC236}">
                    <a16:creationId xmlns:a16="http://schemas.microsoft.com/office/drawing/2014/main" id="{7B76FBAD-94DC-0B46-9CE1-755C80AF7C94}"/>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0" name="Arc 70">
                <a:extLst>
                  <a:ext uri="{FF2B5EF4-FFF2-40B4-BE49-F238E27FC236}">
                    <a16:creationId xmlns:a16="http://schemas.microsoft.com/office/drawing/2014/main" id="{EA06E1F0-3773-104A-A83B-795E2C053A99}"/>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1" name="Arc 71">
                <a:extLst>
                  <a:ext uri="{FF2B5EF4-FFF2-40B4-BE49-F238E27FC236}">
                    <a16:creationId xmlns:a16="http://schemas.microsoft.com/office/drawing/2014/main" id="{1C0F7D89-51DC-FB4C-9457-338EE3CF4E51}"/>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322" name="Oval 321">
              <a:extLst>
                <a:ext uri="{FF2B5EF4-FFF2-40B4-BE49-F238E27FC236}">
                  <a16:creationId xmlns:a16="http://schemas.microsoft.com/office/drawing/2014/main" id="{653B9798-0654-5242-8D8E-30C1A2F8BD1E}"/>
                </a:ext>
              </a:extLst>
            </p:cNvPr>
            <p:cNvSpPr>
              <a:spLocks noChangeAspect="1" noChangeArrowheads="1"/>
            </p:cNvSpPr>
            <p:nvPr/>
          </p:nvSpPr>
          <p:spPr bwMode="auto">
            <a:xfrm>
              <a:off x="1846971" y="3969835"/>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323" name="Oval 322">
              <a:extLst>
                <a:ext uri="{FF2B5EF4-FFF2-40B4-BE49-F238E27FC236}">
                  <a16:creationId xmlns:a16="http://schemas.microsoft.com/office/drawing/2014/main" id="{8934BF31-3517-DD44-9690-9C94A0AD4D73}"/>
                </a:ext>
              </a:extLst>
            </p:cNvPr>
            <p:cNvSpPr>
              <a:spLocks noChangeAspect="1" noChangeArrowheads="1"/>
            </p:cNvSpPr>
            <p:nvPr/>
          </p:nvSpPr>
          <p:spPr bwMode="auto">
            <a:xfrm>
              <a:off x="1048395" y="3951547"/>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324" name="Oval 323">
              <a:extLst>
                <a:ext uri="{FF2B5EF4-FFF2-40B4-BE49-F238E27FC236}">
                  <a16:creationId xmlns:a16="http://schemas.microsoft.com/office/drawing/2014/main" id="{BF0A2012-0A85-584D-A539-41CD2A6A1A40}"/>
                </a:ext>
              </a:extLst>
            </p:cNvPr>
            <p:cNvSpPr>
              <a:spLocks noChangeAspect="1" noChangeArrowheads="1"/>
            </p:cNvSpPr>
            <p:nvPr/>
          </p:nvSpPr>
          <p:spPr bwMode="auto">
            <a:xfrm>
              <a:off x="2682123" y="3963739"/>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327" name="Group 209">
              <a:extLst>
                <a:ext uri="{FF2B5EF4-FFF2-40B4-BE49-F238E27FC236}">
                  <a16:creationId xmlns:a16="http://schemas.microsoft.com/office/drawing/2014/main" id="{5ADCA0A2-2FE6-194F-96D6-3EAD6A372D93}"/>
                </a:ext>
              </a:extLst>
            </p:cNvPr>
            <p:cNvGrpSpPr>
              <a:grpSpLocks/>
            </p:cNvGrpSpPr>
            <p:nvPr/>
          </p:nvGrpSpPr>
          <p:grpSpPr bwMode="auto">
            <a:xfrm rot="16200000">
              <a:off x="1453779" y="3638338"/>
              <a:ext cx="152400" cy="762000"/>
              <a:chOff x="3935" y="1728"/>
              <a:chExt cx="96" cy="480"/>
            </a:xfrm>
          </p:grpSpPr>
          <p:sp>
            <p:nvSpPr>
              <p:cNvPr id="328" name="Arc 59">
                <a:extLst>
                  <a:ext uri="{FF2B5EF4-FFF2-40B4-BE49-F238E27FC236}">
                    <a16:creationId xmlns:a16="http://schemas.microsoft.com/office/drawing/2014/main" id="{01F3E71A-8150-F041-AFFB-8061F34C08F9}"/>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9" name="Arc 60">
                <a:extLst>
                  <a:ext uri="{FF2B5EF4-FFF2-40B4-BE49-F238E27FC236}">
                    <a16:creationId xmlns:a16="http://schemas.microsoft.com/office/drawing/2014/main" id="{A5EEEAAE-A061-7649-8EFF-D55C022B9D31}"/>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30" name="Arc 61">
                <a:extLst>
                  <a:ext uri="{FF2B5EF4-FFF2-40B4-BE49-F238E27FC236}">
                    <a16:creationId xmlns:a16="http://schemas.microsoft.com/office/drawing/2014/main" id="{3AFE451C-1491-FD45-8C90-05118C26E765}"/>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31" name="Arc 62">
                <a:extLst>
                  <a:ext uri="{FF2B5EF4-FFF2-40B4-BE49-F238E27FC236}">
                    <a16:creationId xmlns:a16="http://schemas.microsoft.com/office/drawing/2014/main" id="{AD91E125-6B24-5B43-B3B0-ED42CB85D089}"/>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32" name="Line 63">
                <a:extLst>
                  <a:ext uri="{FF2B5EF4-FFF2-40B4-BE49-F238E27FC236}">
                    <a16:creationId xmlns:a16="http://schemas.microsoft.com/office/drawing/2014/main" id="{B5C935E1-D703-8241-943B-3BBC86A9D98C}"/>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3" name="Line 64">
                <a:extLst>
                  <a:ext uri="{FF2B5EF4-FFF2-40B4-BE49-F238E27FC236}">
                    <a16:creationId xmlns:a16="http://schemas.microsoft.com/office/drawing/2014/main" id="{28DA166C-3CDB-9E4D-A11C-EDFAABAEED53}"/>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4" name="Arc 65">
                <a:extLst>
                  <a:ext uri="{FF2B5EF4-FFF2-40B4-BE49-F238E27FC236}">
                    <a16:creationId xmlns:a16="http://schemas.microsoft.com/office/drawing/2014/main" id="{71E48371-BA67-254D-8784-2142DBABA734}"/>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35" name="Arc 66">
                <a:extLst>
                  <a:ext uri="{FF2B5EF4-FFF2-40B4-BE49-F238E27FC236}">
                    <a16:creationId xmlns:a16="http://schemas.microsoft.com/office/drawing/2014/main" id="{6FF662E7-92CC-C943-A5A1-7E6CF7679E20}"/>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36" name="Arc 67">
                <a:extLst>
                  <a:ext uri="{FF2B5EF4-FFF2-40B4-BE49-F238E27FC236}">
                    <a16:creationId xmlns:a16="http://schemas.microsoft.com/office/drawing/2014/main" id="{EE004C99-D6E9-8341-8BA9-D34B688C9998}"/>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37" name="Arc 68">
                <a:extLst>
                  <a:ext uri="{FF2B5EF4-FFF2-40B4-BE49-F238E27FC236}">
                    <a16:creationId xmlns:a16="http://schemas.microsoft.com/office/drawing/2014/main" id="{41C992BC-CFC0-014F-8C4D-C7B00BA244FF}"/>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38" name="Arc 69">
                <a:extLst>
                  <a:ext uri="{FF2B5EF4-FFF2-40B4-BE49-F238E27FC236}">
                    <a16:creationId xmlns:a16="http://schemas.microsoft.com/office/drawing/2014/main" id="{3AF11D72-B168-814E-A174-C9F5931A7A6A}"/>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39" name="Arc 70">
                <a:extLst>
                  <a:ext uri="{FF2B5EF4-FFF2-40B4-BE49-F238E27FC236}">
                    <a16:creationId xmlns:a16="http://schemas.microsoft.com/office/drawing/2014/main" id="{2E1E5F47-46AB-C44D-881B-A559AFE7B0A3}"/>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40" name="Arc 71">
                <a:extLst>
                  <a:ext uri="{FF2B5EF4-FFF2-40B4-BE49-F238E27FC236}">
                    <a16:creationId xmlns:a16="http://schemas.microsoft.com/office/drawing/2014/main" id="{16BA8508-656F-934F-9C1F-BEF961A5F04C}"/>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341" name="Group 209">
              <a:extLst>
                <a:ext uri="{FF2B5EF4-FFF2-40B4-BE49-F238E27FC236}">
                  <a16:creationId xmlns:a16="http://schemas.microsoft.com/office/drawing/2014/main" id="{965F36C1-FADC-C941-940E-4A48EDED1EBE}"/>
                </a:ext>
              </a:extLst>
            </p:cNvPr>
            <p:cNvGrpSpPr>
              <a:grpSpLocks/>
            </p:cNvGrpSpPr>
            <p:nvPr/>
          </p:nvGrpSpPr>
          <p:grpSpPr bwMode="auto">
            <a:xfrm rot="16200000">
              <a:off x="2252349" y="3668958"/>
              <a:ext cx="152400" cy="762000"/>
              <a:chOff x="3935" y="1728"/>
              <a:chExt cx="96" cy="480"/>
            </a:xfrm>
          </p:grpSpPr>
          <p:sp>
            <p:nvSpPr>
              <p:cNvPr id="342" name="Arc 59">
                <a:extLst>
                  <a:ext uri="{FF2B5EF4-FFF2-40B4-BE49-F238E27FC236}">
                    <a16:creationId xmlns:a16="http://schemas.microsoft.com/office/drawing/2014/main" id="{1675D74C-DDFA-874A-8731-B0D9E6483984}"/>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44" name="Arc 60">
                <a:extLst>
                  <a:ext uri="{FF2B5EF4-FFF2-40B4-BE49-F238E27FC236}">
                    <a16:creationId xmlns:a16="http://schemas.microsoft.com/office/drawing/2014/main" id="{C516E984-9060-CF48-9631-3BCB07E0DDC6}"/>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45" name="Arc 61">
                <a:extLst>
                  <a:ext uri="{FF2B5EF4-FFF2-40B4-BE49-F238E27FC236}">
                    <a16:creationId xmlns:a16="http://schemas.microsoft.com/office/drawing/2014/main" id="{1424014B-AA81-1B41-94A4-2485B4F2B492}"/>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46" name="Arc 62">
                <a:extLst>
                  <a:ext uri="{FF2B5EF4-FFF2-40B4-BE49-F238E27FC236}">
                    <a16:creationId xmlns:a16="http://schemas.microsoft.com/office/drawing/2014/main" id="{BEA290AE-AB16-654F-9645-8143CFA8BF7A}"/>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47" name="Line 63">
                <a:extLst>
                  <a:ext uri="{FF2B5EF4-FFF2-40B4-BE49-F238E27FC236}">
                    <a16:creationId xmlns:a16="http://schemas.microsoft.com/office/drawing/2014/main" id="{EF9EE2C5-23C7-1D45-BCE5-977478DA7BFE}"/>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 name="Line 64">
                <a:extLst>
                  <a:ext uri="{FF2B5EF4-FFF2-40B4-BE49-F238E27FC236}">
                    <a16:creationId xmlns:a16="http://schemas.microsoft.com/office/drawing/2014/main" id="{05866989-E0B4-D742-9C0B-31FCDFEA8BD2}"/>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 name="Arc 65">
                <a:extLst>
                  <a:ext uri="{FF2B5EF4-FFF2-40B4-BE49-F238E27FC236}">
                    <a16:creationId xmlns:a16="http://schemas.microsoft.com/office/drawing/2014/main" id="{C883D4B7-88B4-B743-8F27-C436BD117CE0}"/>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50" name="Arc 66">
                <a:extLst>
                  <a:ext uri="{FF2B5EF4-FFF2-40B4-BE49-F238E27FC236}">
                    <a16:creationId xmlns:a16="http://schemas.microsoft.com/office/drawing/2014/main" id="{F825D8C3-CB64-FD4D-9B13-5029FD6758EF}"/>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51" name="Arc 67">
                <a:extLst>
                  <a:ext uri="{FF2B5EF4-FFF2-40B4-BE49-F238E27FC236}">
                    <a16:creationId xmlns:a16="http://schemas.microsoft.com/office/drawing/2014/main" id="{E0A5B196-CD51-5E4E-A8D9-8A69E4B966D8}"/>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52" name="Arc 68">
                <a:extLst>
                  <a:ext uri="{FF2B5EF4-FFF2-40B4-BE49-F238E27FC236}">
                    <a16:creationId xmlns:a16="http://schemas.microsoft.com/office/drawing/2014/main" id="{051661AB-BFCF-AB44-9D6F-B63E5ABFEE97}"/>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53" name="Arc 69">
                <a:extLst>
                  <a:ext uri="{FF2B5EF4-FFF2-40B4-BE49-F238E27FC236}">
                    <a16:creationId xmlns:a16="http://schemas.microsoft.com/office/drawing/2014/main" id="{9A4F9041-6EE9-824D-8598-A7D40200EE73}"/>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54" name="Arc 70">
                <a:extLst>
                  <a:ext uri="{FF2B5EF4-FFF2-40B4-BE49-F238E27FC236}">
                    <a16:creationId xmlns:a16="http://schemas.microsoft.com/office/drawing/2014/main" id="{0C9846A2-BFE3-7C4F-AF25-69C72C3F66F0}"/>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55" name="Arc 71">
                <a:extLst>
                  <a:ext uri="{FF2B5EF4-FFF2-40B4-BE49-F238E27FC236}">
                    <a16:creationId xmlns:a16="http://schemas.microsoft.com/office/drawing/2014/main" id="{88F4D9E1-EAAD-2A4D-BC7A-0FF2680F0E25}"/>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356" name="Group 209">
              <a:extLst>
                <a:ext uri="{FF2B5EF4-FFF2-40B4-BE49-F238E27FC236}">
                  <a16:creationId xmlns:a16="http://schemas.microsoft.com/office/drawing/2014/main" id="{5B5793DD-773A-3B40-9A4D-5846F45CF714}"/>
                </a:ext>
              </a:extLst>
            </p:cNvPr>
            <p:cNvGrpSpPr>
              <a:grpSpLocks/>
            </p:cNvGrpSpPr>
            <p:nvPr/>
          </p:nvGrpSpPr>
          <p:grpSpPr bwMode="auto">
            <a:xfrm rot="16200000">
              <a:off x="3064395" y="3650767"/>
              <a:ext cx="152400" cy="762000"/>
              <a:chOff x="3935" y="1728"/>
              <a:chExt cx="96" cy="480"/>
            </a:xfrm>
          </p:grpSpPr>
          <p:sp>
            <p:nvSpPr>
              <p:cNvPr id="357" name="Arc 59">
                <a:extLst>
                  <a:ext uri="{FF2B5EF4-FFF2-40B4-BE49-F238E27FC236}">
                    <a16:creationId xmlns:a16="http://schemas.microsoft.com/office/drawing/2014/main" id="{CA3A2C36-954E-6D41-A7D9-62E35781493B}"/>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58" name="Arc 60">
                <a:extLst>
                  <a:ext uri="{FF2B5EF4-FFF2-40B4-BE49-F238E27FC236}">
                    <a16:creationId xmlns:a16="http://schemas.microsoft.com/office/drawing/2014/main" id="{9709B0E6-8EA7-2143-B861-2BEFDAE06671}"/>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59" name="Arc 61">
                <a:extLst>
                  <a:ext uri="{FF2B5EF4-FFF2-40B4-BE49-F238E27FC236}">
                    <a16:creationId xmlns:a16="http://schemas.microsoft.com/office/drawing/2014/main" id="{CDA21744-46D2-D247-B906-6EBDBCC3CB75}"/>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60" name="Arc 62">
                <a:extLst>
                  <a:ext uri="{FF2B5EF4-FFF2-40B4-BE49-F238E27FC236}">
                    <a16:creationId xmlns:a16="http://schemas.microsoft.com/office/drawing/2014/main" id="{67FB556E-3509-F34A-AF07-9A623AABC498}"/>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61" name="Line 63">
                <a:extLst>
                  <a:ext uri="{FF2B5EF4-FFF2-40B4-BE49-F238E27FC236}">
                    <a16:creationId xmlns:a16="http://schemas.microsoft.com/office/drawing/2014/main" id="{D2BB88FA-9FA1-D147-9616-5C8188BC7ADF}"/>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2" name="Line 64">
                <a:extLst>
                  <a:ext uri="{FF2B5EF4-FFF2-40B4-BE49-F238E27FC236}">
                    <a16:creationId xmlns:a16="http://schemas.microsoft.com/office/drawing/2014/main" id="{14423E80-0C34-0741-BD16-31575818BECE}"/>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3" name="Arc 65">
                <a:extLst>
                  <a:ext uri="{FF2B5EF4-FFF2-40B4-BE49-F238E27FC236}">
                    <a16:creationId xmlns:a16="http://schemas.microsoft.com/office/drawing/2014/main" id="{304124A3-2268-EB4A-B75B-0E821D815C1B}"/>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64" name="Arc 66">
                <a:extLst>
                  <a:ext uri="{FF2B5EF4-FFF2-40B4-BE49-F238E27FC236}">
                    <a16:creationId xmlns:a16="http://schemas.microsoft.com/office/drawing/2014/main" id="{549C980C-3B95-A249-94FE-D5C8BEBC6A05}"/>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65" name="Arc 67">
                <a:extLst>
                  <a:ext uri="{FF2B5EF4-FFF2-40B4-BE49-F238E27FC236}">
                    <a16:creationId xmlns:a16="http://schemas.microsoft.com/office/drawing/2014/main" id="{6A0DB99F-8F5B-684E-A249-CD2A1EE45E5D}"/>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66" name="Arc 68">
                <a:extLst>
                  <a:ext uri="{FF2B5EF4-FFF2-40B4-BE49-F238E27FC236}">
                    <a16:creationId xmlns:a16="http://schemas.microsoft.com/office/drawing/2014/main" id="{6FC634B5-FE5C-1B4C-94D4-678FA2B41A7D}"/>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67" name="Arc 69">
                <a:extLst>
                  <a:ext uri="{FF2B5EF4-FFF2-40B4-BE49-F238E27FC236}">
                    <a16:creationId xmlns:a16="http://schemas.microsoft.com/office/drawing/2014/main" id="{A332D61C-793D-F845-88DA-8D4EF50A41E9}"/>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68" name="Arc 70">
                <a:extLst>
                  <a:ext uri="{FF2B5EF4-FFF2-40B4-BE49-F238E27FC236}">
                    <a16:creationId xmlns:a16="http://schemas.microsoft.com/office/drawing/2014/main" id="{B30ABF93-B2B2-E545-A920-1A0ED149E8A0}"/>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69" name="Arc 71">
                <a:extLst>
                  <a:ext uri="{FF2B5EF4-FFF2-40B4-BE49-F238E27FC236}">
                    <a16:creationId xmlns:a16="http://schemas.microsoft.com/office/drawing/2014/main" id="{1B387BB2-195F-664F-967F-8FE4FC9E2636}"/>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370" name="Oval 369">
              <a:extLst>
                <a:ext uri="{FF2B5EF4-FFF2-40B4-BE49-F238E27FC236}">
                  <a16:creationId xmlns:a16="http://schemas.microsoft.com/office/drawing/2014/main" id="{8C6AF4B4-E3FB-7246-BA34-FAC75AD050D2}"/>
                </a:ext>
              </a:extLst>
            </p:cNvPr>
            <p:cNvSpPr>
              <a:spLocks noChangeAspect="1" noChangeArrowheads="1"/>
            </p:cNvSpPr>
            <p:nvPr/>
          </p:nvSpPr>
          <p:spPr bwMode="auto">
            <a:xfrm>
              <a:off x="3468507" y="3969835"/>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371" name="Group 209">
              <a:extLst>
                <a:ext uri="{FF2B5EF4-FFF2-40B4-BE49-F238E27FC236}">
                  <a16:creationId xmlns:a16="http://schemas.microsoft.com/office/drawing/2014/main" id="{0D2D0118-9B5C-A344-9193-42212C13CA3E}"/>
                </a:ext>
              </a:extLst>
            </p:cNvPr>
            <p:cNvGrpSpPr>
              <a:grpSpLocks/>
            </p:cNvGrpSpPr>
            <p:nvPr/>
          </p:nvGrpSpPr>
          <p:grpSpPr bwMode="auto">
            <a:xfrm>
              <a:off x="3476077" y="4715006"/>
              <a:ext cx="152400" cy="762000"/>
              <a:chOff x="3935" y="1728"/>
              <a:chExt cx="96" cy="480"/>
            </a:xfrm>
          </p:grpSpPr>
          <p:sp>
            <p:nvSpPr>
              <p:cNvPr id="372" name="Arc 59">
                <a:extLst>
                  <a:ext uri="{FF2B5EF4-FFF2-40B4-BE49-F238E27FC236}">
                    <a16:creationId xmlns:a16="http://schemas.microsoft.com/office/drawing/2014/main" id="{68B69180-D135-EA4E-8870-C19F09EB1CB7}"/>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73" name="Arc 60">
                <a:extLst>
                  <a:ext uri="{FF2B5EF4-FFF2-40B4-BE49-F238E27FC236}">
                    <a16:creationId xmlns:a16="http://schemas.microsoft.com/office/drawing/2014/main" id="{A6F52AAB-FAF9-5E40-A7D1-ED92BB2B352E}"/>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74" name="Arc 61">
                <a:extLst>
                  <a:ext uri="{FF2B5EF4-FFF2-40B4-BE49-F238E27FC236}">
                    <a16:creationId xmlns:a16="http://schemas.microsoft.com/office/drawing/2014/main" id="{60F36E4A-05C4-D743-8670-0DCA1C696886}"/>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75" name="Arc 62">
                <a:extLst>
                  <a:ext uri="{FF2B5EF4-FFF2-40B4-BE49-F238E27FC236}">
                    <a16:creationId xmlns:a16="http://schemas.microsoft.com/office/drawing/2014/main" id="{C1DC106F-5716-C847-9802-2F2B7EDAA6D3}"/>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76" name="Line 63">
                <a:extLst>
                  <a:ext uri="{FF2B5EF4-FFF2-40B4-BE49-F238E27FC236}">
                    <a16:creationId xmlns:a16="http://schemas.microsoft.com/office/drawing/2014/main" id="{63397E4C-B757-444C-A098-518F1DCAB063}"/>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7" name="Line 64">
                <a:extLst>
                  <a:ext uri="{FF2B5EF4-FFF2-40B4-BE49-F238E27FC236}">
                    <a16:creationId xmlns:a16="http://schemas.microsoft.com/office/drawing/2014/main" id="{A6D1B843-CDF3-9046-A730-B45CB46790D0}"/>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8" name="Arc 65">
                <a:extLst>
                  <a:ext uri="{FF2B5EF4-FFF2-40B4-BE49-F238E27FC236}">
                    <a16:creationId xmlns:a16="http://schemas.microsoft.com/office/drawing/2014/main" id="{F6776A04-0585-E347-BF60-37E68F2E0212}"/>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79" name="Arc 66">
                <a:extLst>
                  <a:ext uri="{FF2B5EF4-FFF2-40B4-BE49-F238E27FC236}">
                    <a16:creationId xmlns:a16="http://schemas.microsoft.com/office/drawing/2014/main" id="{B5D676C9-A2C7-0F4E-868D-0E8C8D386429}"/>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80" name="Arc 67">
                <a:extLst>
                  <a:ext uri="{FF2B5EF4-FFF2-40B4-BE49-F238E27FC236}">
                    <a16:creationId xmlns:a16="http://schemas.microsoft.com/office/drawing/2014/main" id="{A2C1CE22-C3B2-704C-A28D-2BE8D909F62A}"/>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81" name="Arc 68">
                <a:extLst>
                  <a:ext uri="{FF2B5EF4-FFF2-40B4-BE49-F238E27FC236}">
                    <a16:creationId xmlns:a16="http://schemas.microsoft.com/office/drawing/2014/main" id="{453CB3A2-654F-6A4F-927C-E80AF962CBCA}"/>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82" name="Arc 69">
                <a:extLst>
                  <a:ext uri="{FF2B5EF4-FFF2-40B4-BE49-F238E27FC236}">
                    <a16:creationId xmlns:a16="http://schemas.microsoft.com/office/drawing/2014/main" id="{862584D2-C06F-C645-BBA1-89137AD4C2C8}"/>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83" name="Arc 70">
                <a:extLst>
                  <a:ext uri="{FF2B5EF4-FFF2-40B4-BE49-F238E27FC236}">
                    <a16:creationId xmlns:a16="http://schemas.microsoft.com/office/drawing/2014/main" id="{A9DF4E35-FA17-DA40-A534-8A97582E174A}"/>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84" name="Arc 71">
                <a:extLst>
                  <a:ext uri="{FF2B5EF4-FFF2-40B4-BE49-F238E27FC236}">
                    <a16:creationId xmlns:a16="http://schemas.microsoft.com/office/drawing/2014/main" id="{49702ACE-BAF1-284A-99A2-D421A8FEBAB9}"/>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385" name="Group 209">
              <a:extLst>
                <a:ext uri="{FF2B5EF4-FFF2-40B4-BE49-F238E27FC236}">
                  <a16:creationId xmlns:a16="http://schemas.microsoft.com/office/drawing/2014/main" id="{4F2A27EB-9BDA-724B-A617-59EF3484B400}"/>
                </a:ext>
              </a:extLst>
            </p:cNvPr>
            <p:cNvGrpSpPr>
              <a:grpSpLocks/>
            </p:cNvGrpSpPr>
            <p:nvPr/>
          </p:nvGrpSpPr>
          <p:grpSpPr bwMode="auto">
            <a:xfrm>
              <a:off x="3465459" y="1798232"/>
              <a:ext cx="152400" cy="762000"/>
              <a:chOff x="3935" y="1728"/>
              <a:chExt cx="96" cy="480"/>
            </a:xfrm>
          </p:grpSpPr>
          <p:sp>
            <p:nvSpPr>
              <p:cNvPr id="386" name="Arc 59">
                <a:extLst>
                  <a:ext uri="{FF2B5EF4-FFF2-40B4-BE49-F238E27FC236}">
                    <a16:creationId xmlns:a16="http://schemas.microsoft.com/office/drawing/2014/main" id="{7976D0E4-DCBD-6D48-A529-427A6406F11E}"/>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87" name="Arc 60">
                <a:extLst>
                  <a:ext uri="{FF2B5EF4-FFF2-40B4-BE49-F238E27FC236}">
                    <a16:creationId xmlns:a16="http://schemas.microsoft.com/office/drawing/2014/main" id="{8050112B-6525-1640-BA50-D7E6108EF799}"/>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88" name="Arc 61">
                <a:extLst>
                  <a:ext uri="{FF2B5EF4-FFF2-40B4-BE49-F238E27FC236}">
                    <a16:creationId xmlns:a16="http://schemas.microsoft.com/office/drawing/2014/main" id="{A9CB905F-78BF-584A-B8C3-CFC8B275765E}"/>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89" name="Arc 62">
                <a:extLst>
                  <a:ext uri="{FF2B5EF4-FFF2-40B4-BE49-F238E27FC236}">
                    <a16:creationId xmlns:a16="http://schemas.microsoft.com/office/drawing/2014/main" id="{DEE73A13-5F8D-0545-A076-331B243E4AC0}"/>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0" name="Line 63">
                <a:extLst>
                  <a:ext uri="{FF2B5EF4-FFF2-40B4-BE49-F238E27FC236}">
                    <a16:creationId xmlns:a16="http://schemas.microsoft.com/office/drawing/2014/main" id="{E6CE4442-828B-2A4D-9062-5E01027532C1}"/>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 name="Line 64">
                <a:extLst>
                  <a:ext uri="{FF2B5EF4-FFF2-40B4-BE49-F238E27FC236}">
                    <a16:creationId xmlns:a16="http://schemas.microsoft.com/office/drawing/2014/main" id="{E5773B49-1A80-634D-9667-5719221659A0}"/>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2" name="Arc 65">
                <a:extLst>
                  <a:ext uri="{FF2B5EF4-FFF2-40B4-BE49-F238E27FC236}">
                    <a16:creationId xmlns:a16="http://schemas.microsoft.com/office/drawing/2014/main" id="{7E5F15CC-F4FD-5741-A044-8A24AD64E0A8}"/>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3" name="Arc 66">
                <a:extLst>
                  <a:ext uri="{FF2B5EF4-FFF2-40B4-BE49-F238E27FC236}">
                    <a16:creationId xmlns:a16="http://schemas.microsoft.com/office/drawing/2014/main" id="{EE225C8D-4C3D-4B48-A395-1AC7353D75D9}"/>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4" name="Arc 67">
                <a:extLst>
                  <a:ext uri="{FF2B5EF4-FFF2-40B4-BE49-F238E27FC236}">
                    <a16:creationId xmlns:a16="http://schemas.microsoft.com/office/drawing/2014/main" id="{309B4C60-0CAB-1243-98E8-B8110F45D456}"/>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5" name="Arc 68">
                <a:extLst>
                  <a:ext uri="{FF2B5EF4-FFF2-40B4-BE49-F238E27FC236}">
                    <a16:creationId xmlns:a16="http://schemas.microsoft.com/office/drawing/2014/main" id="{EBDFDAB7-73C6-DC48-B8CF-B942CD89D336}"/>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6" name="Arc 69">
                <a:extLst>
                  <a:ext uri="{FF2B5EF4-FFF2-40B4-BE49-F238E27FC236}">
                    <a16:creationId xmlns:a16="http://schemas.microsoft.com/office/drawing/2014/main" id="{02FB44A1-03B1-3448-8167-C549D908D099}"/>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7" name="Arc 70">
                <a:extLst>
                  <a:ext uri="{FF2B5EF4-FFF2-40B4-BE49-F238E27FC236}">
                    <a16:creationId xmlns:a16="http://schemas.microsoft.com/office/drawing/2014/main" id="{1A802044-D339-E84A-AF18-5F813B5C7ABC}"/>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8" name="Arc 71">
                <a:extLst>
                  <a:ext uri="{FF2B5EF4-FFF2-40B4-BE49-F238E27FC236}">
                    <a16:creationId xmlns:a16="http://schemas.microsoft.com/office/drawing/2014/main" id="{054BA1FA-430B-9647-9D53-151D70FD720F}"/>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399" name="Oval 398">
              <a:extLst>
                <a:ext uri="{FF2B5EF4-FFF2-40B4-BE49-F238E27FC236}">
                  <a16:creationId xmlns:a16="http://schemas.microsoft.com/office/drawing/2014/main" id="{92FC2D4D-116C-FB43-8794-88B565759788}"/>
                </a:ext>
              </a:extLst>
            </p:cNvPr>
            <p:cNvSpPr>
              <a:spLocks noChangeAspect="1" noChangeArrowheads="1"/>
            </p:cNvSpPr>
            <p:nvPr/>
          </p:nvSpPr>
          <p:spPr bwMode="auto">
            <a:xfrm>
              <a:off x="3480699" y="4664779"/>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400" name="Group 210">
              <a:extLst>
                <a:ext uri="{FF2B5EF4-FFF2-40B4-BE49-F238E27FC236}">
                  <a16:creationId xmlns:a16="http://schemas.microsoft.com/office/drawing/2014/main" id="{0E73DBF4-60A9-A449-8837-399D48FFCD8A}"/>
                </a:ext>
              </a:extLst>
            </p:cNvPr>
            <p:cNvGrpSpPr>
              <a:grpSpLocks/>
            </p:cNvGrpSpPr>
            <p:nvPr/>
          </p:nvGrpSpPr>
          <p:grpSpPr bwMode="auto">
            <a:xfrm>
              <a:off x="3927184" y="3302493"/>
              <a:ext cx="304800" cy="762000"/>
              <a:chOff x="3216" y="1728"/>
              <a:chExt cx="192" cy="480"/>
            </a:xfrm>
          </p:grpSpPr>
          <p:sp>
            <p:nvSpPr>
              <p:cNvPr id="401" name="Line 8">
                <a:extLst>
                  <a:ext uri="{FF2B5EF4-FFF2-40B4-BE49-F238E27FC236}">
                    <a16:creationId xmlns:a16="http://schemas.microsoft.com/office/drawing/2014/main" id="{2C088ECF-AB94-484C-BEF0-411483F693EF}"/>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2" name="Line 9">
                <a:extLst>
                  <a:ext uri="{FF2B5EF4-FFF2-40B4-BE49-F238E27FC236}">
                    <a16:creationId xmlns:a16="http://schemas.microsoft.com/office/drawing/2014/main" id="{996A055E-4524-4242-BD63-930757D57EA8}"/>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3" name="Line 10">
                <a:extLst>
                  <a:ext uri="{FF2B5EF4-FFF2-40B4-BE49-F238E27FC236}">
                    <a16:creationId xmlns:a16="http://schemas.microsoft.com/office/drawing/2014/main" id="{A5265671-5E28-CD4E-BBD3-705BD6A818CE}"/>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4" name="Line 11">
                <a:extLst>
                  <a:ext uri="{FF2B5EF4-FFF2-40B4-BE49-F238E27FC236}">
                    <a16:creationId xmlns:a16="http://schemas.microsoft.com/office/drawing/2014/main" id="{BB27164A-1D08-914E-83E6-AA46E0D4DFEF}"/>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05" name="Group 210">
              <a:extLst>
                <a:ext uri="{FF2B5EF4-FFF2-40B4-BE49-F238E27FC236}">
                  <a16:creationId xmlns:a16="http://schemas.microsoft.com/office/drawing/2014/main" id="{DBC2CE2C-8603-DA45-A99E-202E1E04975B}"/>
                </a:ext>
              </a:extLst>
            </p:cNvPr>
            <p:cNvGrpSpPr>
              <a:grpSpLocks/>
            </p:cNvGrpSpPr>
            <p:nvPr/>
          </p:nvGrpSpPr>
          <p:grpSpPr bwMode="auto">
            <a:xfrm>
              <a:off x="4516937" y="3284205"/>
              <a:ext cx="304800" cy="762000"/>
              <a:chOff x="3216" y="1728"/>
              <a:chExt cx="192" cy="480"/>
            </a:xfrm>
          </p:grpSpPr>
          <p:sp>
            <p:nvSpPr>
              <p:cNvPr id="406" name="Line 8">
                <a:extLst>
                  <a:ext uri="{FF2B5EF4-FFF2-40B4-BE49-F238E27FC236}">
                    <a16:creationId xmlns:a16="http://schemas.microsoft.com/office/drawing/2014/main" id="{93CA0E30-7C70-F646-8B74-5F0551F175B4}"/>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7" name="Line 9">
                <a:extLst>
                  <a:ext uri="{FF2B5EF4-FFF2-40B4-BE49-F238E27FC236}">
                    <a16:creationId xmlns:a16="http://schemas.microsoft.com/office/drawing/2014/main" id="{319E6BB5-B50C-BF45-8241-53AE23082522}"/>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8" name="Line 10">
                <a:extLst>
                  <a:ext uri="{FF2B5EF4-FFF2-40B4-BE49-F238E27FC236}">
                    <a16:creationId xmlns:a16="http://schemas.microsoft.com/office/drawing/2014/main" id="{D6C253C4-4448-7345-9F10-D9E10119FBD6}"/>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 name="Line 11">
                <a:extLst>
                  <a:ext uri="{FF2B5EF4-FFF2-40B4-BE49-F238E27FC236}">
                    <a16:creationId xmlns:a16="http://schemas.microsoft.com/office/drawing/2014/main" id="{3813BADD-2801-6C4B-BC2A-BF563105989D}"/>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410" name="Straight Connector 409">
              <a:extLst>
                <a:ext uri="{FF2B5EF4-FFF2-40B4-BE49-F238E27FC236}">
                  <a16:creationId xmlns:a16="http://schemas.microsoft.com/office/drawing/2014/main" id="{43C97811-9DC8-1A41-A39E-616A48F1EA8B}"/>
                </a:ext>
              </a:extLst>
            </p:cNvPr>
            <p:cNvCxnSpPr>
              <a:cxnSpLocks/>
            </p:cNvCxnSpPr>
            <p:nvPr/>
          </p:nvCxnSpPr>
          <p:spPr>
            <a:xfrm>
              <a:off x="3571105" y="1824969"/>
              <a:ext cx="10972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1" name="Straight Connector 410">
              <a:extLst>
                <a:ext uri="{FF2B5EF4-FFF2-40B4-BE49-F238E27FC236}">
                  <a16:creationId xmlns:a16="http://schemas.microsoft.com/office/drawing/2014/main" id="{B95C23D5-CC33-5048-9E1D-63D62A6B7310}"/>
                </a:ext>
              </a:extLst>
            </p:cNvPr>
            <p:cNvCxnSpPr>
              <a:cxnSpLocks/>
            </p:cNvCxnSpPr>
            <p:nvPr/>
          </p:nvCxnSpPr>
          <p:spPr>
            <a:xfrm>
              <a:off x="3571949" y="2538201"/>
              <a:ext cx="51290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12" name="Oval 411">
              <a:extLst>
                <a:ext uri="{FF2B5EF4-FFF2-40B4-BE49-F238E27FC236}">
                  <a16:creationId xmlns:a16="http://schemas.microsoft.com/office/drawing/2014/main" id="{6A05A895-B99C-A940-BE6F-3DA125BD8399}"/>
                </a:ext>
              </a:extLst>
            </p:cNvPr>
            <p:cNvSpPr>
              <a:spLocks noChangeAspect="1" noChangeArrowheads="1"/>
            </p:cNvSpPr>
            <p:nvPr/>
          </p:nvSpPr>
          <p:spPr bwMode="auto">
            <a:xfrm>
              <a:off x="3474603" y="1756987"/>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cxnSp>
          <p:nvCxnSpPr>
            <p:cNvPr id="413" name="Straight Connector 412">
              <a:extLst>
                <a:ext uri="{FF2B5EF4-FFF2-40B4-BE49-F238E27FC236}">
                  <a16:creationId xmlns:a16="http://schemas.microsoft.com/office/drawing/2014/main" id="{8C36B6C8-E887-5C4B-8C98-DE7C92BF84F3}"/>
                </a:ext>
              </a:extLst>
            </p:cNvPr>
            <p:cNvCxnSpPr>
              <a:cxnSpLocks/>
            </p:cNvCxnSpPr>
            <p:nvPr/>
          </p:nvCxnSpPr>
          <p:spPr>
            <a:xfrm>
              <a:off x="3565010" y="4744953"/>
              <a:ext cx="51290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4" name="Straight Connector 413">
              <a:extLst>
                <a:ext uri="{FF2B5EF4-FFF2-40B4-BE49-F238E27FC236}">
                  <a16:creationId xmlns:a16="http://schemas.microsoft.com/office/drawing/2014/main" id="{05BAEDD1-21B0-D44A-BBCF-6892EDF9CEE1}"/>
                </a:ext>
              </a:extLst>
            </p:cNvPr>
            <p:cNvCxnSpPr>
              <a:cxnSpLocks/>
            </p:cNvCxnSpPr>
            <p:nvPr/>
          </p:nvCxnSpPr>
          <p:spPr>
            <a:xfrm>
              <a:off x="3541468" y="5458185"/>
              <a:ext cx="112521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15" name="Oval 414">
              <a:extLst>
                <a:ext uri="{FF2B5EF4-FFF2-40B4-BE49-F238E27FC236}">
                  <a16:creationId xmlns:a16="http://schemas.microsoft.com/office/drawing/2014/main" id="{E837B69B-9EBF-8444-80B7-A58D054ECDC9}"/>
                </a:ext>
              </a:extLst>
            </p:cNvPr>
            <p:cNvSpPr>
              <a:spLocks noChangeAspect="1" noChangeArrowheads="1"/>
            </p:cNvSpPr>
            <p:nvPr/>
          </p:nvSpPr>
          <p:spPr bwMode="auto">
            <a:xfrm>
              <a:off x="3480699" y="5384107"/>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cxnSp>
          <p:nvCxnSpPr>
            <p:cNvPr id="416" name="Straight Connector 415">
              <a:extLst>
                <a:ext uri="{FF2B5EF4-FFF2-40B4-BE49-F238E27FC236}">
                  <a16:creationId xmlns:a16="http://schemas.microsoft.com/office/drawing/2014/main" id="{69F6F53F-085E-9741-99C0-6EEB40937962}"/>
                </a:ext>
              </a:extLst>
            </p:cNvPr>
            <p:cNvCxnSpPr>
              <a:cxnSpLocks/>
            </p:cNvCxnSpPr>
            <p:nvPr/>
          </p:nvCxnSpPr>
          <p:spPr>
            <a:xfrm>
              <a:off x="4078760" y="2538201"/>
              <a:ext cx="0" cy="87453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7" name="Straight Connector 416">
              <a:extLst>
                <a:ext uri="{FF2B5EF4-FFF2-40B4-BE49-F238E27FC236}">
                  <a16:creationId xmlns:a16="http://schemas.microsoft.com/office/drawing/2014/main" id="{2DD29B45-9BE0-8C4B-9A44-88FB25E6336E}"/>
                </a:ext>
              </a:extLst>
            </p:cNvPr>
            <p:cNvCxnSpPr>
              <a:cxnSpLocks/>
            </p:cNvCxnSpPr>
            <p:nvPr/>
          </p:nvCxnSpPr>
          <p:spPr>
            <a:xfrm>
              <a:off x="4083297" y="3883858"/>
              <a:ext cx="0" cy="87453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8" name="Straight Connector 417">
              <a:extLst>
                <a:ext uri="{FF2B5EF4-FFF2-40B4-BE49-F238E27FC236}">
                  <a16:creationId xmlns:a16="http://schemas.microsoft.com/office/drawing/2014/main" id="{CE527FF3-0634-1349-B29E-B16DD262E490}"/>
                </a:ext>
              </a:extLst>
            </p:cNvPr>
            <p:cNvCxnSpPr>
              <a:cxnSpLocks/>
            </p:cNvCxnSpPr>
            <p:nvPr/>
          </p:nvCxnSpPr>
          <p:spPr>
            <a:xfrm>
              <a:off x="4667501" y="1812776"/>
              <a:ext cx="0" cy="16459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9" name="Straight Connector 418">
              <a:extLst>
                <a:ext uri="{FF2B5EF4-FFF2-40B4-BE49-F238E27FC236}">
                  <a16:creationId xmlns:a16="http://schemas.microsoft.com/office/drawing/2014/main" id="{1ABCFE15-2EE5-4344-92B5-16203BF14597}"/>
                </a:ext>
              </a:extLst>
            </p:cNvPr>
            <p:cNvCxnSpPr>
              <a:cxnSpLocks/>
            </p:cNvCxnSpPr>
            <p:nvPr/>
          </p:nvCxnSpPr>
          <p:spPr>
            <a:xfrm>
              <a:off x="4666687" y="3812265"/>
              <a:ext cx="0" cy="16459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441012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719447" y="136525"/>
            <a:ext cx="10515600" cy="869909"/>
          </a:xfrm>
        </p:spPr>
        <p:txBody>
          <a:bodyPr/>
          <a:lstStyle/>
          <a:p>
            <a:pPr algn="ctr"/>
            <a:r>
              <a:rPr lang="en-US" dirty="0">
                <a:latin typeface="Calibri" panose="020F0502020204030204" pitchFamily="34" charset="0"/>
                <a:cs typeface="Calibri" panose="020F0502020204030204" pitchFamily="34" charset="0"/>
              </a:rPr>
              <a:t>Direct conversion and </a:t>
            </a:r>
            <a:r>
              <a:rPr lang="en-US" dirty="0" err="1">
                <a:latin typeface="Calibri" panose="020F0502020204030204" pitchFamily="34" charset="0"/>
                <a:cs typeface="Calibri" panose="020F0502020204030204" pitchFamily="34" charset="0"/>
              </a:rPr>
              <a:t>superhet</a:t>
            </a:r>
            <a:r>
              <a:rPr lang="en-US" dirty="0">
                <a:latin typeface="Calibri" panose="020F0502020204030204" pitchFamily="34" charset="0"/>
                <a:cs typeface="Calibri" panose="020F0502020204030204" pitchFamily="34" charset="0"/>
              </a:rPr>
              <a:t> receivers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ACD2D8-4F2D-FC44-B0CE-A312E10A4599}"/>
                  </a:ext>
                </a:extLst>
              </p:cNvPr>
              <p:cNvSpPr>
                <a:spLocks noGrp="1"/>
              </p:cNvSpPr>
              <p:nvPr>
                <p:ph idx="1"/>
              </p:nvPr>
            </p:nvSpPr>
            <p:spPr>
              <a:xfrm>
                <a:off x="1111814" y="1698939"/>
                <a:ext cx="6751693" cy="4351338"/>
              </a:xfrm>
            </p:spPr>
            <p:txBody>
              <a:bodyPr/>
              <a:lstStyle/>
              <a:p>
                <a:r>
                  <a:rPr lang="en-US" sz="2000" dirty="0"/>
                  <a:t>Image frequency</a:t>
                </a:r>
              </a:p>
              <a:p>
                <a:pPr lvl="1"/>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𝑟𝑓</m:t>
                        </m:r>
                      </m:sub>
                    </m:sSub>
                    <m:r>
                      <a:rPr lang="en-US" sz="2000" b="0" i="1" smtClean="0">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𝐿𝑂</m:t>
                        </m:r>
                      </m:sub>
                    </m:sSub>
                    <m:r>
                      <a:rPr lang="en-US" sz="2000" b="0" i="1" smtClean="0">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𝑎</m:t>
                        </m:r>
                      </m:sub>
                    </m:sSub>
                  </m:oMath>
                </a14:m>
                <a:endParaRPr lang="en-US" sz="2000" dirty="0"/>
              </a:p>
              <a:p>
                <a:pPr lvl="1"/>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𝑖</m:t>
                        </m:r>
                      </m:sub>
                    </m:sSub>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rPr>
                          <m:t>𝐿𝑂</m:t>
                        </m:r>
                      </m:sub>
                    </m:sSub>
                    <m:r>
                      <a:rPr lang="en-US" sz="2000" b="0" i="1" smtClean="0">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rPr>
                          <m:t>𝑎</m:t>
                        </m:r>
                      </m:sub>
                    </m:sSub>
                  </m:oMath>
                </a14:m>
                <a:endParaRPr lang="en-US" sz="1600" dirty="0"/>
              </a:p>
              <a:p>
                <a:r>
                  <a:rPr lang="en-US" sz="2000" dirty="0"/>
                  <a:t>Superheterodyne designs</a:t>
                </a:r>
              </a:p>
              <a:p>
                <a:pPr lvl="1"/>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rPr>
                          <m:t>𝑟𝑓</m:t>
                        </m:r>
                      </m:sub>
                    </m:sSub>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𝐼𝐹</m:t>
                        </m:r>
                      </m:sub>
                    </m:sSub>
                    <m:r>
                      <a:rPr lang="en-US" sz="2000" b="0" i="1" smtClean="0">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ea typeface="Cambria Math" panose="02040503050406030204" pitchFamily="18" charset="0"/>
                          </a:rPr>
                          <m:t>𝑉𝐹𝑂</m:t>
                        </m:r>
                      </m:sub>
                    </m:sSub>
                  </m:oMath>
                </a14:m>
                <a:endParaRPr lang="en-US" sz="2000" dirty="0"/>
              </a:p>
              <a:p>
                <a:pPr lvl="1"/>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ea typeface="Cambria Math" panose="02040503050406030204" pitchFamily="18" charset="0"/>
                          </a:rPr>
                          <m:t>𝑣𝑖</m:t>
                        </m:r>
                      </m:sub>
                    </m:sSub>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ea typeface="Cambria Math" panose="02040503050406030204" pitchFamily="18" charset="0"/>
                          </a:rPr>
                          <m:t>𝐼𝐹</m:t>
                        </m:r>
                      </m:sub>
                    </m:sSub>
                    <m:r>
                      <a:rPr lang="en-US" sz="2000" b="0" i="1" smtClean="0">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ea typeface="Cambria Math" panose="02040503050406030204" pitchFamily="18" charset="0"/>
                          </a:rPr>
                          <m:t>𝑉𝐹𝑂</m:t>
                        </m:r>
                      </m:sub>
                    </m:sSub>
                  </m:oMath>
                </a14:m>
                <a:endParaRPr lang="en-US" sz="1600" dirty="0"/>
              </a:p>
              <a:p>
                <a:pPr lvl="1"/>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ea typeface="Cambria Math" panose="02040503050406030204" pitchFamily="18" charset="0"/>
                          </a:rPr>
                          <m:t>𝐼𝐹</m:t>
                        </m:r>
                      </m:sub>
                    </m:sSub>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𝐵𝐹𝑂</m:t>
                        </m:r>
                      </m:sub>
                    </m:sSub>
                    <m:r>
                      <a:rPr lang="en-US" sz="2000" b="0" i="1" smtClean="0">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ea typeface="Cambria Math" panose="02040503050406030204" pitchFamily="18" charset="0"/>
                          </a:rPr>
                          <m:t>𝑎</m:t>
                        </m:r>
                      </m:sub>
                    </m:sSub>
                  </m:oMath>
                </a14:m>
                <a:endParaRPr lang="en-US" sz="2000" dirty="0"/>
              </a:p>
              <a:p>
                <a:pPr lvl="1"/>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ea typeface="Cambria Math" panose="02040503050406030204" pitchFamily="18" charset="0"/>
                          </a:rPr>
                          <m:t>𝑏𝑖</m:t>
                        </m:r>
                      </m:sub>
                    </m:sSub>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ea typeface="Cambria Math" panose="02040503050406030204" pitchFamily="18" charset="0"/>
                          </a:rPr>
                          <m:t>𝐵𝐹𝑂</m:t>
                        </m:r>
                      </m:sub>
                    </m:sSub>
                    <m:r>
                      <a:rPr lang="en-US" sz="2000" b="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ea typeface="Cambria Math" panose="02040503050406030204" pitchFamily="18" charset="0"/>
                          </a:rPr>
                          <m:t>𝑎</m:t>
                        </m:r>
                      </m:sub>
                    </m:sSub>
                  </m:oMath>
                </a14:m>
                <a:endParaRPr lang="en-US" sz="1600" dirty="0"/>
              </a:p>
              <a:p>
                <a:pPr lvl="1"/>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ea typeface="Cambria Math" panose="02040503050406030204" pitchFamily="18" charset="0"/>
                          </a:rPr>
                          <m:t>𝑢𝑠𝑏</m:t>
                        </m:r>
                      </m:sub>
                    </m:sSub>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ea typeface="Cambria Math" panose="02040503050406030204" pitchFamily="18" charset="0"/>
                          </a:rPr>
                          <m:t>𝑉𝐹𝑂</m:t>
                        </m:r>
                      </m:sub>
                    </m:sSub>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ea typeface="Cambria Math" panose="02040503050406030204" pitchFamily="18" charset="0"/>
                          </a:rPr>
                          <m:t>𝐵</m:t>
                        </m:r>
                        <m:r>
                          <a:rPr lang="en-US" sz="2000" i="1">
                            <a:latin typeface="Cambria Math" panose="02040503050406030204" pitchFamily="18" charset="0"/>
                            <a:ea typeface="Cambria Math" panose="02040503050406030204" pitchFamily="18" charset="0"/>
                          </a:rPr>
                          <m:t>𝐹𝑂</m:t>
                        </m:r>
                      </m:sub>
                    </m:sSub>
                    <m:r>
                      <a:rPr lang="en-US" sz="2000" b="0" i="1" smtClean="0">
                        <a:latin typeface="Cambria Math" panose="02040503050406030204" pitchFamily="18" charset="0"/>
                        <a:ea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ea typeface="Cambria Math" panose="02040503050406030204" pitchFamily="18" charset="0"/>
                          </a:rPr>
                          <m:t>𝑎</m:t>
                        </m:r>
                      </m:sub>
                    </m:sSub>
                  </m:oMath>
                </a14:m>
                <a:endParaRPr lang="en-US" sz="2000" dirty="0"/>
              </a:p>
              <a:p>
                <a:pPr lvl="1"/>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ea typeface="Cambria Math" panose="02040503050406030204" pitchFamily="18" charset="0"/>
                          </a:rPr>
                          <m:t>𝑙</m:t>
                        </m:r>
                        <m:r>
                          <a:rPr lang="en-US" sz="2000" i="1">
                            <a:latin typeface="Cambria Math" panose="02040503050406030204" pitchFamily="18" charset="0"/>
                            <a:ea typeface="Cambria Math" panose="02040503050406030204" pitchFamily="18" charset="0"/>
                          </a:rPr>
                          <m:t>𝑠𝑏</m:t>
                        </m:r>
                      </m:sub>
                    </m:sSub>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ea typeface="Cambria Math" panose="02040503050406030204" pitchFamily="18" charset="0"/>
                          </a:rPr>
                          <m:t>𝑉𝐹𝑂</m:t>
                        </m:r>
                      </m:sub>
                    </m:sSub>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ea typeface="Cambria Math" panose="02040503050406030204" pitchFamily="18" charset="0"/>
                          </a:rPr>
                          <m:t>𝐵𝐹𝑂</m:t>
                        </m:r>
                      </m:sub>
                    </m:sSub>
                    <m:r>
                      <a:rPr lang="en-US" sz="2000" b="0" i="1" smtClean="0">
                        <a:latin typeface="Cambria Math" panose="02040503050406030204" pitchFamily="18" charset="0"/>
                        <a:ea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ea typeface="Cambria Math" panose="02040503050406030204" pitchFamily="18" charset="0"/>
                          </a:rPr>
                          <m:t>𝑎</m:t>
                        </m:r>
                      </m:sub>
                    </m:sSub>
                  </m:oMath>
                </a14:m>
                <a:endParaRPr lang="en-US" sz="2000"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D5ACD2D8-4F2D-FC44-B0CE-A312E10A4599}"/>
                  </a:ext>
                </a:extLst>
              </p:cNvPr>
              <p:cNvSpPr>
                <a:spLocks noGrp="1" noRot="1" noChangeAspect="1" noMove="1" noResize="1" noEditPoints="1" noAdjustHandles="1" noChangeArrowheads="1" noChangeShapeType="1" noTextEdit="1"/>
              </p:cNvSpPr>
              <p:nvPr>
                <p:ph idx="1"/>
              </p:nvPr>
            </p:nvSpPr>
            <p:spPr>
              <a:xfrm>
                <a:off x="1111814" y="1698939"/>
                <a:ext cx="6751693" cy="4351338"/>
              </a:xfrm>
              <a:blipFill>
                <a:blip r:embed="rId2"/>
                <a:stretch>
                  <a:fillRect l="-750" t="-1453"/>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17</a:t>
            </a:fld>
            <a:endParaRPr lang="en-US"/>
          </a:p>
        </p:txBody>
      </p:sp>
      <p:grpSp>
        <p:nvGrpSpPr>
          <p:cNvPr id="4" name="Group 3">
            <a:extLst>
              <a:ext uri="{FF2B5EF4-FFF2-40B4-BE49-F238E27FC236}">
                <a16:creationId xmlns:a16="http://schemas.microsoft.com/office/drawing/2014/main" id="{FD9BB4D6-5376-1A4C-AB66-6DC389DD5154}"/>
              </a:ext>
            </a:extLst>
          </p:cNvPr>
          <p:cNvGrpSpPr/>
          <p:nvPr/>
        </p:nvGrpSpPr>
        <p:grpSpPr>
          <a:xfrm>
            <a:off x="8252913" y="1698939"/>
            <a:ext cx="2827273" cy="4247370"/>
            <a:chOff x="7862651" y="1741469"/>
            <a:chExt cx="2827273" cy="4247370"/>
          </a:xfrm>
        </p:grpSpPr>
        <p:sp>
          <p:nvSpPr>
            <p:cNvPr id="69" name="TextBox 68">
              <a:extLst>
                <a:ext uri="{FF2B5EF4-FFF2-40B4-BE49-F238E27FC236}">
                  <a16:creationId xmlns:a16="http://schemas.microsoft.com/office/drawing/2014/main" id="{8D9438CD-11E8-8342-B69E-40AA624B3EDD}"/>
                </a:ext>
              </a:extLst>
            </p:cNvPr>
            <p:cNvSpPr txBox="1"/>
            <p:nvPr/>
          </p:nvSpPr>
          <p:spPr>
            <a:xfrm>
              <a:off x="9750432" y="3996970"/>
              <a:ext cx="939492" cy="5389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latin typeface="Calibri"/>
                  <a:ea typeface="Calibri"/>
                  <a:cs typeface="Calibri"/>
                  <a:sym typeface="Calibri"/>
                </a:rPr>
                <a:t>Audio</a:t>
              </a:r>
            </a:p>
            <a:p>
              <a:pPr defTabSz="457200" latinLnBrk="1" hangingPunct="0"/>
              <a:r>
                <a:rPr lang="en-US" sz="1600" dirty="0">
                  <a:solidFill>
                    <a:srgbClr val="000000"/>
                  </a:solidFill>
                </a:rPr>
                <a:t>Amp</a:t>
              </a:r>
              <a:endParaRPr lang="en-US" sz="1600" dirty="0">
                <a:solidFill>
                  <a:srgbClr val="000000"/>
                </a:solidFill>
                <a:latin typeface="Calibri"/>
                <a:ea typeface="Calibri"/>
                <a:cs typeface="Calibri"/>
                <a:sym typeface="Calibri"/>
              </a:endParaRPr>
            </a:p>
          </p:txBody>
        </p:sp>
        <p:grpSp>
          <p:nvGrpSpPr>
            <p:cNvPr id="7" name="Group 864">
              <a:extLst>
                <a:ext uri="{FF2B5EF4-FFF2-40B4-BE49-F238E27FC236}">
                  <a16:creationId xmlns:a16="http://schemas.microsoft.com/office/drawing/2014/main" id="{429F6B8A-3E9E-984D-AF51-53568C258492}"/>
                </a:ext>
              </a:extLst>
            </p:cNvPr>
            <p:cNvGrpSpPr>
              <a:grpSpLocks/>
            </p:cNvGrpSpPr>
            <p:nvPr/>
          </p:nvGrpSpPr>
          <p:grpSpPr bwMode="auto">
            <a:xfrm rot="5400000">
              <a:off x="8822616" y="4184113"/>
              <a:ext cx="756736" cy="558800"/>
              <a:chOff x="1843" y="1698"/>
              <a:chExt cx="576" cy="462"/>
            </a:xfrm>
          </p:grpSpPr>
          <p:grpSp>
            <p:nvGrpSpPr>
              <p:cNvPr id="106" name="Group 60">
                <a:extLst>
                  <a:ext uri="{FF2B5EF4-FFF2-40B4-BE49-F238E27FC236}">
                    <a16:creationId xmlns:a16="http://schemas.microsoft.com/office/drawing/2014/main" id="{9616C590-012C-384F-8FD3-822E09BAE160}"/>
                  </a:ext>
                </a:extLst>
              </p:cNvPr>
              <p:cNvGrpSpPr>
                <a:grpSpLocks/>
              </p:cNvGrpSpPr>
              <p:nvPr/>
            </p:nvGrpSpPr>
            <p:grpSpPr bwMode="auto">
              <a:xfrm>
                <a:off x="1843" y="1698"/>
                <a:ext cx="576" cy="461"/>
                <a:chOff x="3456" y="3427"/>
                <a:chExt cx="576" cy="461"/>
              </a:xfrm>
            </p:grpSpPr>
            <p:sp>
              <p:nvSpPr>
                <p:cNvPr id="108" name="Line 55">
                  <a:extLst>
                    <a:ext uri="{FF2B5EF4-FFF2-40B4-BE49-F238E27FC236}">
                      <a16:creationId xmlns:a16="http://schemas.microsoft.com/office/drawing/2014/main" id="{AFEA0063-20AB-4D43-A0FE-64A49FB81567}"/>
                    </a:ext>
                  </a:extLst>
                </p:cNvPr>
                <p:cNvSpPr>
                  <a:spLocks noChangeShapeType="1"/>
                </p:cNvSpPr>
                <p:nvPr/>
              </p:nvSpPr>
              <p:spPr bwMode="auto">
                <a:xfrm>
                  <a:off x="3456" y="3658"/>
                  <a:ext cx="5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 name="AutoShape 56">
                  <a:extLst>
                    <a:ext uri="{FF2B5EF4-FFF2-40B4-BE49-F238E27FC236}">
                      <a16:creationId xmlns:a16="http://schemas.microsoft.com/office/drawing/2014/main" id="{8119C49B-3561-474C-A4DB-8E515C159AA9}"/>
                    </a:ext>
                  </a:extLst>
                </p:cNvPr>
                <p:cNvSpPr>
                  <a:spLocks noChangeArrowheads="1"/>
                </p:cNvSpPr>
                <p:nvPr/>
              </p:nvSpPr>
              <p:spPr bwMode="auto">
                <a:xfrm rot="5400000">
                  <a:off x="3525" y="3497"/>
                  <a:ext cx="461" cy="322"/>
                </a:xfrm>
                <a:prstGeom prst="triangle">
                  <a:avLst>
                    <a:gd name="adj" fmla="val 50000"/>
                  </a:avLst>
                </a:prstGeom>
                <a:solidFill>
                  <a:schemeClr val="bg1"/>
                </a:solidFill>
                <a:ln w="25400">
                  <a:solidFill>
                    <a:schemeClr val="tx1"/>
                  </a:solidFill>
                  <a:miter lim="800000"/>
                  <a:headEnd/>
                  <a:tailEnd/>
                </a:ln>
              </p:spPr>
              <p:txBody>
                <a:bodyPr rot="10800000" vert="eaVert"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07" name="Freeform 863">
                <a:extLst>
                  <a:ext uri="{FF2B5EF4-FFF2-40B4-BE49-F238E27FC236}">
                    <a16:creationId xmlns:a16="http://schemas.microsoft.com/office/drawing/2014/main" id="{CAC8C8B6-5FA2-E543-9A46-41F391624640}"/>
                  </a:ext>
                </a:extLst>
              </p:cNvPr>
              <p:cNvSpPr>
                <a:spLocks/>
              </p:cNvSpPr>
              <p:nvPr/>
            </p:nvSpPr>
            <p:spPr bwMode="auto">
              <a:xfrm>
                <a:off x="1843" y="1699"/>
                <a:ext cx="576" cy="461"/>
              </a:xfrm>
              <a:custGeom>
                <a:avLst/>
                <a:gdLst>
                  <a:gd name="T0" fmla="*/ 0 w 576"/>
                  <a:gd name="T1" fmla="*/ 231 h 461"/>
                  <a:gd name="T2" fmla="*/ 115 w 576"/>
                  <a:gd name="T3" fmla="*/ 461 h 461"/>
                  <a:gd name="T4" fmla="*/ 576 w 576"/>
                  <a:gd name="T5" fmla="*/ 231 h 461"/>
                  <a:gd name="T6" fmla="*/ 115 w 576"/>
                  <a:gd name="T7" fmla="*/ 0 h 461"/>
                  <a:gd name="T8" fmla="*/ 0 w 576"/>
                  <a:gd name="T9" fmla="*/ 231 h 461"/>
                  <a:gd name="T10" fmla="*/ 0 60000 65536"/>
                  <a:gd name="T11" fmla="*/ 0 60000 65536"/>
                  <a:gd name="T12" fmla="*/ 0 60000 65536"/>
                  <a:gd name="T13" fmla="*/ 0 60000 65536"/>
                  <a:gd name="T14" fmla="*/ 0 60000 65536"/>
                  <a:gd name="T15" fmla="*/ 0 w 576"/>
                  <a:gd name="T16" fmla="*/ 0 h 461"/>
                  <a:gd name="T17" fmla="*/ 576 w 576"/>
                  <a:gd name="T18" fmla="*/ 461 h 461"/>
                </a:gdLst>
                <a:ahLst/>
                <a:cxnLst>
                  <a:cxn ang="T10">
                    <a:pos x="T0" y="T1"/>
                  </a:cxn>
                  <a:cxn ang="T11">
                    <a:pos x="T2" y="T3"/>
                  </a:cxn>
                  <a:cxn ang="T12">
                    <a:pos x="T4" y="T5"/>
                  </a:cxn>
                  <a:cxn ang="T13">
                    <a:pos x="T6" y="T7"/>
                  </a:cxn>
                  <a:cxn ang="T14">
                    <a:pos x="T8" y="T9"/>
                  </a:cxn>
                </a:cxnLst>
                <a:rect l="T15" t="T16" r="T17" b="T18"/>
                <a:pathLst>
                  <a:path w="576" h="461">
                    <a:moveTo>
                      <a:pt x="0" y="231"/>
                    </a:moveTo>
                    <a:lnTo>
                      <a:pt x="115" y="461"/>
                    </a:lnTo>
                    <a:lnTo>
                      <a:pt x="576" y="231"/>
                    </a:lnTo>
                    <a:lnTo>
                      <a:pt x="115" y="0"/>
                    </a:lnTo>
                    <a:lnTo>
                      <a:pt x="0" y="231"/>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4473012-1761-E145-9EF0-3C5940E3DD50}"/>
                    </a:ext>
                  </a:extLst>
                </p:cNvPr>
                <p:cNvSpPr txBox="1"/>
                <p:nvPr/>
              </p:nvSpPr>
              <p:spPr>
                <a:xfrm>
                  <a:off x="8552000" y="2872691"/>
                  <a:ext cx="1285045" cy="7659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14:m>
                    <m:oMathPara xmlns:m="http://schemas.openxmlformats.org/officeDocument/2006/math">
                      <m:oMath>
                        <m:r>
                          <a:rPr lang="en-US" sz="4800" i="1">
                            <a:solidFill>
                              <a:srgbClr val="000000"/>
                            </a:solidFill>
                            <a:latin typeface="Cambria Math" panose="02040503050406030204" pitchFamily="18" charset="0"/>
                            <a:ea typeface="Cambria Math" panose="02040503050406030204" pitchFamily="18" charset="0"/>
                            <a:sym typeface="Calibri"/>
                          </a:rPr>
                          <m:t>⊗</m:t>
                        </m:r>
                      </m:oMath>
                    </m:oMathPara>
                  </a14:m>
                  <a:endParaRPr lang="en-US" dirty="0">
                    <a:solidFill>
                      <a:srgbClr val="000000"/>
                    </a:solidFill>
                    <a:latin typeface="Calibri"/>
                    <a:ea typeface="Calibri"/>
                    <a:cs typeface="Calibri"/>
                    <a:sym typeface="Calibri"/>
                  </a:endParaRPr>
                </a:p>
              </p:txBody>
            </p:sp>
          </mc:Choice>
          <mc:Fallback xmlns="">
            <p:sp>
              <p:nvSpPr>
                <p:cNvPr id="8" name="TextBox 7">
                  <a:extLst>
                    <a:ext uri="{FF2B5EF4-FFF2-40B4-BE49-F238E27FC236}">
                      <a16:creationId xmlns:a16="http://schemas.microsoft.com/office/drawing/2014/main" id="{14473012-1761-E145-9EF0-3C5940E3DD50}"/>
                    </a:ext>
                  </a:extLst>
                </p:cNvPr>
                <p:cNvSpPr txBox="1">
                  <a:spLocks noRot="1" noChangeAspect="1" noMove="1" noResize="1" noEditPoints="1" noAdjustHandles="1" noChangeArrowheads="1" noChangeShapeType="1" noTextEdit="1"/>
                </p:cNvSpPr>
                <p:nvPr/>
              </p:nvSpPr>
              <p:spPr>
                <a:xfrm>
                  <a:off x="8552000" y="2872691"/>
                  <a:ext cx="1285045" cy="765904"/>
                </a:xfrm>
                <a:prstGeom prst="rect">
                  <a:avLst/>
                </a:prstGeom>
                <a:blipFill>
                  <a:blip r:embed="rId3"/>
                  <a:stretch>
                    <a:fillRect b="-22951"/>
                  </a:stretch>
                </a:blipFill>
                <a:ln w="12700" cap="flat">
                  <a:noFill/>
                  <a:miter lim="400000"/>
                </a:ln>
                <a:effectLst/>
              </p:spPr>
              <p:txBody>
                <a:bodyPr/>
                <a:lstStyle/>
                <a:p>
                  <a:r>
                    <a:rPr lang="en-US">
                      <a:noFill/>
                    </a:rPr>
                    <a:t> </a:t>
                  </a:r>
                </a:p>
              </p:txBody>
            </p:sp>
          </mc:Fallback>
        </mc:AlternateContent>
        <p:grpSp>
          <p:nvGrpSpPr>
            <p:cNvPr id="10" name="Group 222">
              <a:extLst>
                <a:ext uri="{FF2B5EF4-FFF2-40B4-BE49-F238E27FC236}">
                  <a16:creationId xmlns:a16="http://schemas.microsoft.com/office/drawing/2014/main" id="{8B35ABB7-5AFE-A446-83AF-2F7A899E13B2}"/>
                </a:ext>
              </a:extLst>
            </p:cNvPr>
            <p:cNvGrpSpPr>
              <a:grpSpLocks/>
            </p:cNvGrpSpPr>
            <p:nvPr/>
          </p:nvGrpSpPr>
          <p:grpSpPr bwMode="auto">
            <a:xfrm>
              <a:off x="9438702" y="5228899"/>
              <a:ext cx="266095" cy="351157"/>
              <a:chOff x="4272" y="3072"/>
              <a:chExt cx="192" cy="240"/>
            </a:xfrm>
          </p:grpSpPr>
          <p:sp>
            <p:nvSpPr>
              <p:cNvPr id="100" name="Line 99">
                <a:extLst>
                  <a:ext uri="{FF2B5EF4-FFF2-40B4-BE49-F238E27FC236}">
                    <a16:creationId xmlns:a16="http://schemas.microsoft.com/office/drawing/2014/main" id="{433EC6F6-30E5-F14C-BABE-8413243C366F}"/>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101" name="Line 100">
                <a:extLst>
                  <a:ext uri="{FF2B5EF4-FFF2-40B4-BE49-F238E27FC236}">
                    <a16:creationId xmlns:a16="http://schemas.microsoft.com/office/drawing/2014/main" id="{FA6C40BE-1EEA-6F44-9FA6-4A072DFD93E6}"/>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p:spPr>
            <p:txBody>
              <a:bodyPr>
                <a:prstTxWarp prst="textNoShape">
                  <a:avLst/>
                </a:prstTxWarp>
              </a:bodyPr>
              <a:lstStyle/>
              <a:p>
                <a:endParaRPr lang="en-US"/>
              </a:p>
            </p:txBody>
          </p:sp>
          <p:sp>
            <p:nvSpPr>
              <p:cNvPr id="102" name="Line 101">
                <a:extLst>
                  <a:ext uri="{FF2B5EF4-FFF2-40B4-BE49-F238E27FC236}">
                    <a16:creationId xmlns:a16="http://schemas.microsoft.com/office/drawing/2014/main" id="{DE249E73-A7E2-144C-8960-FFC9D62AE04C}"/>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103" name="Line 102">
                <a:extLst>
                  <a:ext uri="{FF2B5EF4-FFF2-40B4-BE49-F238E27FC236}">
                    <a16:creationId xmlns:a16="http://schemas.microsoft.com/office/drawing/2014/main" id="{EC41ADF5-EA50-2C45-A1C9-2FB3952F04B3}"/>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104" name="Line 103">
                <a:extLst>
                  <a:ext uri="{FF2B5EF4-FFF2-40B4-BE49-F238E27FC236}">
                    <a16:creationId xmlns:a16="http://schemas.microsoft.com/office/drawing/2014/main" id="{5CCD9E3A-1700-014D-98F7-F5B8FAF0B268}"/>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105" name="Line 104">
                <a:extLst>
                  <a:ext uri="{FF2B5EF4-FFF2-40B4-BE49-F238E27FC236}">
                    <a16:creationId xmlns:a16="http://schemas.microsoft.com/office/drawing/2014/main" id="{71888BF7-D051-EF4B-9AB1-AFB798D38F19}"/>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p:spPr>
            <p:txBody>
              <a:bodyPr>
                <a:prstTxWarp prst="textNoShape">
                  <a:avLst/>
                </a:prstTxWarp>
              </a:bodyPr>
              <a:lstStyle/>
              <a:p>
                <a:endParaRPr lang="en-US"/>
              </a:p>
            </p:txBody>
          </p:sp>
        </p:grpSp>
        <p:sp>
          <p:nvSpPr>
            <p:cNvPr id="11" name="Freeform 132">
              <a:extLst>
                <a:ext uri="{FF2B5EF4-FFF2-40B4-BE49-F238E27FC236}">
                  <a16:creationId xmlns:a16="http://schemas.microsoft.com/office/drawing/2014/main" id="{58B08396-7D93-DF4D-AD0F-BABBD200B806}"/>
                </a:ext>
              </a:extLst>
            </p:cNvPr>
            <p:cNvSpPr>
              <a:spLocks/>
            </p:cNvSpPr>
            <p:nvPr/>
          </p:nvSpPr>
          <p:spPr bwMode="auto">
            <a:xfrm>
              <a:off x="9834210" y="4686966"/>
              <a:ext cx="321532" cy="842776"/>
            </a:xfrm>
            <a:custGeom>
              <a:avLst/>
              <a:gdLst>
                <a:gd name="T0" fmla="*/ 232 w 232"/>
                <a:gd name="T1" fmla="*/ 576 h 576"/>
                <a:gd name="T2" fmla="*/ 232 w 232"/>
                <a:gd name="T3" fmla="*/ 0 h 576"/>
                <a:gd name="T4" fmla="*/ 116 w 232"/>
                <a:gd name="T5" fmla="*/ 173 h 576"/>
                <a:gd name="T6" fmla="*/ 1 w 232"/>
                <a:gd name="T7" fmla="*/ 173 h 576"/>
                <a:gd name="T8" fmla="*/ 1 w 232"/>
                <a:gd name="T9" fmla="*/ 230 h 576"/>
                <a:gd name="T10" fmla="*/ 0 w 232"/>
                <a:gd name="T11" fmla="*/ 347 h 576"/>
                <a:gd name="T12" fmla="*/ 1 w 232"/>
                <a:gd name="T13" fmla="*/ 403 h 576"/>
                <a:gd name="T14" fmla="*/ 116 w 232"/>
                <a:gd name="T15" fmla="*/ 403 h 576"/>
                <a:gd name="T16" fmla="*/ 232 w 232"/>
                <a:gd name="T17" fmla="*/ 576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2"/>
                <a:gd name="T28" fmla="*/ 0 h 576"/>
                <a:gd name="T29" fmla="*/ 232 w 232"/>
                <a:gd name="T30" fmla="*/ 576 h 57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2" h="576">
                  <a:moveTo>
                    <a:pt x="232" y="576"/>
                  </a:moveTo>
                  <a:lnTo>
                    <a:pt x="232" y="0"/>
                  </a:lnTo>
                  <a:lnTo>
                    <a:pt x="116" y="173"/>
                  </a:lnTo>
                  <a:lnTo>
                    <a:pt x="1" y="173"/>
                  </a:lnTo>
                  <a:lnTo>
                    <a:pt x="1" y="230"/>
                  </a:lnTo>
                  <a:lnTo>
                    <a:pt x="0" y="347"/>
                  </a:lnTo>
                  <a:lnTo>
                    <a:pt x="1" y="403"/>
                  </a:lnTo>
                  <a:lnTo>
                    <a:pt x="116" y="403"/>
                  </a:lnTo>
                  <a:lnTo>
                    <a:pt x="232" y="576"/>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2" name="Group 333">
              <a:extLst>
                <a:ext uri="{FF2B5EF4-FFF2-40B4-BE49-F238E27FC236}">
                  <a16:creationId xmlns:a16="http://schemas.microsoft.com/office/drawing/2014/main" id="{12633B30-B0D0-EA43-97C1-CB4A3EAC2033}"/>
                </a:ext>
              </a:extLst>
            </p:cNvPr>
            <p:cNvGrpSpPr>
              <a:grpSpLocks/>
            </p:cNvGrpSpPr>
            <p:nvPr/>
          </p:nvGrpSpPr>
          <p:grpSpPr bwMode="auto">
            <a:xfrm>
              <a:off x="8876447" y="1741469"/>
              <a:ext cx="611801" cy="542215"/>
              <a:chOff x="3341" y="1296"/>
              <a:chExt cx="230" cy="230"/>
            </a:xfrm>
          </p:grpSpPr>
          <p:grpSp>
            <p:nvGrpSpPr>
              <p:cNvPr id="96" name="Group 237">
                <a:extLst>
                  <a:ext uri="{FF2B5EF4-FFF2-40B4-BE49-F238E27FC236}">
                    <a16:creationId xmlns:a16="http://schemas.microsoft.com/office/drawing/2014/main" id="{E9B50C4B-96A2-1D41-90A3-A6176F482F5B}"/>
                  </a:ext>
                </a:extLst>
              </p:cNvPr>
              <p:cNvGrpSpPr>
                <a:grpSpLocks/>
              </p:cNvGrpSpPr>
              <p:nvPr/>
            </p:nvGrpSpPr>
            <p:grpSpPr bwMode="auto">
              <a:xfrm>
                <a:off x="3341" y="1296"/>
                <a:ext cx="230" cy="230"/>
                <a:chOff x="4608" y="2045"/>
                <a:chExt cx="230" cy="230"/>
              </a:xfrm>
            </p:grpSpPr>
            <p:sp>
              <p:nvSpPr>
                <p:cNvPr id="98" name="Freeform 238">
                  <a:extLst>
                    <a:ext uri="{FF2B5EF4-FFF2-40B4-BE49-F238E27FC236}">
                      <a16:creationId xmlns:a16="http://schemas.microsoft.com/office/drawing/2014/main" id="{9E000720-3C6F-654A-A454-9966A6436783}"/>
                    </a:ext>
                  </a:extLst>
                </p:cNvPr>
                <p:cNvSpPr>
                  <a:spLocks/>
                </p:cNvSpPr>
                <p:nvPr/>
              </p:nvSpPr>
              <p:spPr bwMode="auto">
                <a:xfrm>
                  <a:off x="4608" y="2045"/>
                  <a:ext cx="230" cy="115"/>
                </a:xfrm>
                <a:custGeom>
                  <a:avLst/>
                  <a:gdLst>
                    <a:gd name="T0" fmla="*/ 0 w 230"/>
                    <a:gd name="T1" fmla="*/ 0 h 115"/>
                    <a:gd name="T2" fmla="*/ 115 w 230"/>
                    <a:gd name="T3" fmla="*/ 115 h 115"/>
                    <a:gd name="T4" fmla="*/ 230 w 230"/>
                    <a:gd name="T5" fmla="*/ 0 h 115"/>
                    <a:gd name="T6" fmla="*/ 0 w 230"/>
                    <a:gd name="T7" fmla="*/ 0 h 115"/>
                    <a:gd name="T8" fmla="*/ 0 60000 65536"/>
                    <a:gd name="T9" fmla="*/ 0 60000 65536"/>
                    <a:gd name="T10" fmla="*/ 0 60000 65536"/>
                    <a:gd name="T11" fmla="*/ 0 60000 65536"/>
                    <a:gd name="T12" fmla="*/ 0 w 230"/>
                    <a:gd name="T13" fmla="*/ 0 h 115"/>
                    <a:gd name="T14" fmla="*/ 230 w 230"/>
                    <a:gd name="T15" fmla="*/ 115 h 115"/>
                  </a:gdLst>
                  <a:ahLst/>
                  <a:cxnLst>
                    <a:cxn ang="T8">
                      <a:pos x="T0" y="T1"/>
                    </a:cxn>
                    <a:cxn ang="T9">
                      <a:pos x="T2" y="T3"/>
                    </a:cxn>
                    <a:cxn ang="T10">
                      <a:pos x="T4" y="T5"/>
                    </a:cxn>
                    <a:cxn ang="T11">
                      <a:pos x="T6" y="T7"/>
                    </a:cxn>
                  </a:cxnLst>
                  <a:rect l="T12" t="T13" r="T14" b="T15"/>
                  <a:pathLst>
                    <a:path w="230" h="115">
                      <a:moveTo>
                        <a:pt x="0" y="0"/>
                      </a:moveTo>
                      <a:lnTo>
                        <a:pt x="115" y="115"/>
                      </a:lnTo>
                      <a:lnTo>
                        <a:pt x="230" y="0"/>
                      </a:lnTo>
                      <a:lnTo>
                        <a:pt x="0" y="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9" name="Line 239">
                  <a:extLst>
                    <a:ext uri="{FF2B5EF4-FFF2-40B4-BE49-F238E27FC236}">
                      <a16:creationId xmlns:a16="http://schemas.microsoft.com/office/drawing/2014/main" id="{EC619068-210D-4A4E-A426-66C5FD38EA4B}"/>
                    </a:ext>
                  </a:extLst>
                </p:cNvPr>
                <p:cNvSpPr>
                  <a:spLocks noChangeShapeType="1"/>
                </p:cNvSpPr>
                <p:nvPr/>
              </p:nvSpPr>
              <p:spPr bwMode="auto">
                <a:xfrm>
                  <a:off x="4723" y="2045"/>
                  <a:ext cx="0" cy="23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97" name="Freeform 332">
                <a:extLst>
                  <a:ext uri="{FF2B5EF4-FFF2-40B4-BE49-F238E27FC236}">
                    <a16:creationId xmlns:a16="http://schemas.microsoft.com/office/drawing/2014/main" id="{187E8794-69D7-0442-BB58-6F5586DC7BDC}"/>
                  </a:ext>
                </a:extLst>
              </p:cNvPr>
              <p:cNvSpPr>
                <a:spLocks/>
              </p:cNvSpPr>
              <p:nvPr/>
            </p:nvSpPr>
            <p:spPr bwMode="auto">
              <a:xfrm>
                <a:off x="3341" y="1296"/>
                <a:ext cx="230" cy="230"/>
              </a:xfrm>
              <a:custGeom>
                <a:avLst/>
                <a:gdLst>
                  <a:gd name="T0" fmla="*/ 0 w 230"/>
                  <a:gd name="T1" fmla="*/ 0 h 230"/>
                  <a:gd name="T2" fmla="*/ 115 w 230"/>
                  <a:gd name="T3" fmla="*/ 230 h 230"/>
                  <a:gd name="T4" fmla="*/ 230 w 230"/>
                  <a:gd name="T5" fmla="*/ 0 h 230"/>
                  <a:gd name="T6" fmla="*/ 0 w 230"/>
                  <a:gd name="T7" fmla="*/ 0 h 230"/>
                  <a:gd name="T8" fmla="*/ 0 60000 65536"/>
                  <a:gd name="T9" fmla="*/ 0 60000 65536"/>
                  <a:gd name="T10" fmla="*/ 0 60000 65536"/>
                  <a:gd name="T11" fmla="*/ 0 60000 65536"/>
                  <a:gd name="T12" fmla="*/ 0 w 230"/>
                  <a:gd name="T13" fmla="*/ 0 h 230"/>
                  <a:gd name="T14" fmla="*/ 230 w 230"/>
                  <a:gd name="T15" fmla="*/ 230 h 230"/>
                </a:gdLst>
                <a:ahLst/>
                <a:cxnLst>
                  <a:cxn ang="T8">
                    <a:pos x="T0" y="T1"/>
                  </a:cxn>
                  <a:cxn ang="T9">
                    <a:pos x="T2" y="T3"/>
                  </a:cxn>
                  <a:cxn ang="T10">
                    <a:pos x="T4" y="T5"/>
                  </a:cxn>
                  <a:cxn ang="T11">
                    <a:pos x="T6" y="T7"/>
                  </a:cxn>
                </a:cxnLst>
                <a:rect l="T12" t="T13" r="T14" b="T15"/>
                <a:pathLst>
                  <a:path w="230" h="230">
                    <a:moveTo>
                      <a:pt x="0" y="0"/>
                    </a:moveTo>
                    <a:lnTo>
                      <a:pt x="115" y="230"/>
                    </a:lnTo>
                    <a:lnTo>
                      <a:pt x="230" y="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cxnSp>
          <p:nvCxnSpPr>
            <p:cNvPr id="18" name="Straight Connector 17">
              <a:extLst>
                <a:ext uri="{FF2B5EF4-FFF2-40B4-BE49-F238E27FC236}">
                  <a16:creationId xmlns:a16="http://schemas.microsoft.com/office/drawing/2014/main" id="{41171663-28BF-2344-995A-360623E89B1D}"/>
                </a:ext>
              </a:extLst>
            </p:cNvPr>
            <p:cNvCxnSpPr>
              <a:cxnSpLocks/>
            </p:cNvCxnSpPr>
            <p:nvPr/>
          </p:nvCxnSpPr>
          <p:spPr>
            <a:xfrm>
              <a:off x="9558434" y="5217493"/>
              <a:ext cx="287833"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21" name="Rectangle 20">
              <a:extLst>
                <a:ext uri="{FF2B5EF4-FFF2-40B4-BE49-F238E27FC236}">
                  <a16:creationId xmlns:a16="http://schemas.microsoft.com/office/drawing/2014/main" id="{C7FB15C1-EC50-2643-BF88-C3F473D5C32E}"/>
                </a:ext>
              </a:extLst>
            </p:cNvPr>
            <p:cNvSpPr/>
            <p:nvPr/>
          </p:nvSpPr>
          <p:spPr>
            <a:xfrm>
              <a:off x="8755462" y="2297053"/>
              <a:ext cx="873566" cy="450668"/>
            </a:xfrm>
            <a:prstGeom prst="rect">
              <a:avLst/>
            </a:prstGeom>
            <a:solidFill>
              <a:srgbClr val="FFFFFF"/>
            </a:solid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dirty="0">
                <a:solidFill>
                  <a:srgbClr val="000000"/>
                </a:solidFill>
                <a:latin typeface="Calibri"/>
                <a:ea typeface="Calibri"/>
                <a:cs typeface="Calibri"/>
                <a:sym typeface="Calibri"/>
              </a:endParaRPr>
            </a:p>
          </p:txBody>
        </p:sp>
        <p:sp>
          <p:nvSpPr>
            <p:cNvPr id="22" name="TextBox 21">
              <a:extLst>
                <a:ext uri="{FF2B5EF4-FFF2-40B4-BE49-F238E27FC236}">
                  <a16:creationId xmlns:a16="http://schemas.microsoft.com/office/drawing/2014/main" id="{A1A14AD3-6A63-D44D-BE75-EFC293267060}"/>
                </a:ext>
              </a:extLst>
            </p:cNvPr>
            <p:cNvSpPr txBox="1"/>
            <p:nvPr/>
          </p:nvSpPr>
          <p:spPr>
            <a:xfrm>
              <a:off x="8746379" y="2230904"/>
              <a:ext cx="878114" cy="58477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defTabSz="457200" latinLnBrk="1" hangingPunct="0"/>
              <a:r>
                <a:rPr lang="en-US" sz="1600" dirty="0">
                  <a:solidFill>
                    <a:srgbClr val="000000"/>
                  </a:solidFill>
                  <a:latin typeface="Calibri"/>
                  <a:ea typeface="Calibri"/>
                  <a:cs typeface="Calibri"/>
                  <a:sym typeface="Calibri"/>
                </a:rPr>
                <a:t>RF</a:t>
              </a:r>
            </a:p>
            <a:p>
              <a:pPr algn="ctr" defTabSz="457200" latinLnBrk="1" hangingPunct="0"/>
              <a:r>
                <a:rPr lang="en-US" sz="1600" dirty="0">
                  <a:solidFill>
                    <a:srgbClr val="000000"/>
                  </a:solidFill>
                </a:rPr>
                <a:t>Filter</a:t>
              </a:r>
              <a:endParaRPr lang="en-US" sz="1600" dirty="0">
                <a:solidFill>
                  <a:srgbClr val="000000"/>
                </a:solidFill>
                <a:latin typeface="Calibri"/>
                <a:ea typeface="Calibri"/>
                <a:cs typeface="Calibri"/>
                <a:sym typeface="Calibri"/>
              </a:endParaRPr>
            </a:p>
          </p:txBody>
        </p:sp>
        <p:cxnSp>
          <p:nvCxnSpPr>
            <p:cNvPr id="26" name="Straight Connector 25">
              <a:extLst>
                <a:ext uri="{FF2B5EF4-FFF2-40B4-BE49-F238E27FC236}">
                  <a16:creationId xmlns:a16="http://schemas.microsoft.com/office/drawing/2014/main" id="{4EE36BBF-4256-7441-81FC-3BD5A7B2CDF1}"/>
                </a:ext>
              </a:extLst>
            </p:cNvPr>
            <p:cNvCxnSpPr>
              <a:cxnSpLocks/>
            </p:cNvCxnSpPr>
            <p:nvPr/>
          </p:nvCxnSpPr>
          <p:spPr>
            <a:xfrm>
              <a:off x="8321545" y="3265735"/>
              <a:ext cx="648985" cy="0"/>
            </a:xfrm>
            <a:prstGeom prst="line">
              <a:avLst/>
            </a:prstGeom>
            <a:noFill/>
            <a:ln w="25400" cap="flat">
              <a:solidFill>
                <a:schemeClr val="tx1"/>
              </a:solidFill>
              <a:prstDash val="solid"/>
              <a:bevel/>
              <a:headEnd w="lg" len="med"/>
              <a:tailEnd type="stealth"/>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7" name="Straight Connector 26">
              <a:extLst>
                <a:ext uri="{FF2B5EF4-FFF2-40B4-BE49-F238E27FC236}">
                  <a16:creationId xmlns:a16="http://schemas.microsoft.com/office/drawing/2014/main" id="{32627A1C-BFDB-7C42-BAFC-991975E3F51A}"/>
                </a:ext>
              </a:extLst>
            </p:cNvPr>
            <p:cNvCxnSpPr>
              <a:cxnSpLocks/>
            </p:cNvCxnSpPr>
            <p:nvPr/>
          </p:nvCxnSpPr>
          <p:spPr>
            <a:xfrm>
              <a:off x="9192246" y="2767817"/>
              <a:ext cx="3937" cy="294727"/>
            </a:xfrm>
            <a:prstGeom prst="line">
              <a:avLst/>
            </a:prstGeom>
            <a:noFill/>
            <a:ln w="25400" cap="flat">
              <a:solidFill>
                <a:schemeClr val="tx1"/>
              </a:solidFill>
              <a:prstDash val="solid"/>
              <a:bevel/>
              <a:headEnd w="lg" len="med"/>
              <a:tailEnd type="stealth"/>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39" name="Straight Connector 38">
              <a:extLst>
                <a:ext uri="{FF2B5EF4-FFF2-40B4-BE49-F238E27FC236}">
                  <a16:creationId xmlns:a16="http://schemas.microsoft.com/office/drawing/2014/main" id="{A5902C48-B10B-8045-AD34-780663E3B71B}"/>
                </a:ext>
              </a:extLst>
            </p:cNvPr>
            <p:cNvCxnSpPr>
              <a:cxnSpLocks/>
            </p:cNvCxnSpPr>
            <p:nvPr/>
          </p:nvCxnSpPr>
          <p:spPr>
            <a:xfrm flipH="1">
              <a:off x="9192842" y="3566866"/>
              <a:ext cx="0" cy="548640"/>
            </a:xfrm>
            <a:prstGeom prst="line">
              <a:avLst/>
            </a:prstGeom>
            <a:noFill/>
            <a:ln w="25400" cap="flat">
              <a:solidFill>
                <a:schemeClr val="tx1"/>
              </a:solidFill>
              <a:prstDash val="solid"/>
              <a:bevel/>
              <a:headEnd w="lg" len="med"/>
              <a:tailEnd type="stealth"/>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40" name="Straight Connector 39">
              <a:extLst>
                <a:ext uri="{FF2B5EF4-FFF2-40B4-BE49-F238E27FC236}">
                  <a16:creationId xmlns:a16="http://schemas.microsoft.com/office/drawing/2014/main" id="{EA630127-2971-494B-98D9-D8082730430D}"/>
                </a:ext>
              </a:extLst>
            </p:cNvPr>
            <p:cNvCxnSpPr>
              <a:cxnSpLocks/>
            </p:cNvCxnSpPr>
            <p:nvPr/>
          </p:nvCxnSpPr>
          <p:spPr>
            <a:xfrm>
              <a:off x="9199321" y="4677232"/>
              <a:ext cx="1664" cy="329482"/>
            </a:xfrm>
            <a:prstGeom prst="line">
              <a:avLst/>
            </a:prstGeom>
            <a:noFill/>
            <a:ln w="25400" cap="flat">
              <a:solidFill>
                <a:schemeClr val="tx1"/>
              </a:solidFill>
              <a:prstDash val="solid"/>
              <a:bevel/>
              <a:headEnd w="lg" len="med"/>
              <a:tailEnd type="stealth"/>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43" name="Straight Connector 42">
              <a:extLst>
                <a:ext uri="{FF2B5EF4-FFF2-40B4-BE49-F238E27FC236}">
                  <a16:creationId xmlns:a16="http://schemas.microsoft.com/office/drawing/2014/main" id="{73A749DB-4FDF-D84D-932C-5431C89BA6CA}"/>
                </a:ext>
              </a:extLst>
            </p:cNvPr>
            <p:cNvCxnSpPr>
              <a:cxnSpLocks/>
            </p:cNvCxnSpPr>
            <p:nvPr/>
          </p:nvCxnSpPr>
          <p:spPr>
            <a:xfrm>
              <a:off x="9190880" y="5006713"/>
              <a:ext cx="652627" cy="0"/>
            </a:xfrm>
            <a:prstGeom prst="line">
              <a:avLst/>
            </a:prstGeom>
            <a:noFill/>
            <a:ln w="25400" cap="flat">
              <a:solidFill>
                <a:schemeClr val="tx1"/>
              </a:solidFill>
              <a:prstDash val="solid"/>
              <a:bevel/>
              <a:headEnd w="lg" len="med"/>
              <a:tailEnd type="stealth"/>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55" name="Group 54">
              <a:extLst>
                <a:ext uri="{FF2B5EF4-FFF2-40B4-BE49-F238E27FC236}">
                  <a16:creationId xmlns:a16="http://schemas.microsoft.com/office/drawing/2014/main" id="{B0B054B3-5BCC-AD49-AE5C-1C3B65B15FAA}"/>
                </a:ext>
              </a:extLst>
            </p:cNvPr>
            <p:cNvGrpSpPr/>
            <p:nvPr/>
          </p:nvGrpSpPr>
          <p:grpSpPr>
            <a:xfrm>
              <a:off x="7862654" y="3035190"/>
              <a:ext cx="478971" cy="478668"/>
              <a:chOff x="7097485" y="3689251"/>
              <a:chExt cx="548640" cy="519348"/>
            </a:xfrm>
          </p:grpSpPr>
          <p:sp>
            <p:nvSpPr>
              <p:cNvPr id="78" name="Freeform 77">
                <a:extLst>
                  <a:ext uri="{FF2B5EF4-FFF2-40B4-BE49-F238E27FC236}">
                    <a16:creationId xmlns:a16="http://schemas.microsoft.com/office/drawing/2014/main" id="{588213FC-825F-004F-BBAB-D3CFFF972F33}"/>
                  </a:ext>
                </a:extLst>
              </p:cNvPr>
              <p:cNvSpPr/>
              <p:nvPr/>
            </p:nvSpPr>
            <p:spPr>
              <a:xfrm>
                <a:off x="7196744" y="3814776"/>
                <a:ext cx="294626" cy="299873"/>
              </a:xfrm>
              <a:custGeom>
                <a:avLst/>
                <a:gdLst>
                  <a:gd name="connsiteX0" fmla="*/ 0 w 586788"/>
                  <a:gd name="connsiteY0" fmla="*/ 227323 h 399320"/>
                  <a:gd name="connsiteX1" fmla="*/ 255182 w 586788"/>
                  <a:gd name="connsiteY1" fmla="*/ 4039 h 399320"/>
                  <a:gd name="connsiteX2" fmla="*/ 361507 w 586788"/>
                  <a:gd name="connsiteY2" fmla="*/ 397443 h 399320"/>
                  <a:gd name="connsiteX3" fmla="*/ 574158 w 586788"/>
                  <a:gd name="connsiteY3" fmla="*/ 152895 h 399320"/>
                  <a:gd name="connsiteX4" fmla="*/ 563526 w 586788"/>
                  <a:gd name="connsiteY4" fmla="*/ 152895 h 399320"/>
                  <a:gd name="connsiteX5" fmla="*/ 563526 w 586788"/>
                  <a:gd name="connsiteY5" fmla="*/ 152895 h 399320"/>
                  <a:gd name="connsiteX6" fmla="*/ 574158 w 586788"/>
                  <a:gd name="connsiteY6" fmla="*/ 152895 h 399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6788" h="399320">
                    <a:moveTo>
                      <a:pt x="0" y="227323"/>
                    </a:moveTo>
                    <a:cubicBezTo>
                      <a:pt x="97465" y="101504"/>
                      <a:pt x="194931" y="-24314"/>
                      <a:pt x="255182" y="4039"/>
                    </a:cubicBezTo>
                    <a:cubicBezTo>
                      <a:pt x="315433" y="32392"/>
                      <a:pt x="308344" y="372634"/>
                      <a:pt x="361507" y="397443"/>
                    </a:cubicBezTo>
                    <a:cubicBezTo>
                      <a:pt x="414670" y="422252"/>
                      <a:pt x="540488" y="193653"/>
                      <a:pt x="574158" y="152895"/>
                    </a:cubicBezTo>
                    <a:cubicBezTo>
                      <a:pt x="607828" y="112137"/>
                      <a:pt x="563526" y="152895"/>
                      <a:pt x="563526" y="152895"/>
                    </a:cubicBezTo>
                    <a:lnTo>
                      <a:pt x="563526" y="152895"/>
                    </a:lnTo>
                    <a:lnTo>
                      <a:pt x="574158" y="152895"/>
                    </a:lnTo>
                  </a:path>
                </a:pathLst>
              </a:custGeom>
              <a:no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tlCol="0" anchor="ctr"/>
              <a:lstStyle/>
              <a:p>
                <a:pPr algn="ctr"/>
                <a:endParaRPr lang="en-US"/>
              </a:p>
            </p:txBody>
          </p:sp>
          <p:sp>
            <p:nvSpPr>
              <p:cNvPr id="79" name="Oval 78">
                <a:extLst>
                  <a:ext uri="{FF2B5EF4-FFF2-40B4-BE49-F238E27FC236}">
                    <a16:creationId xmlns:a16="http://schemas.microsoft.com/office/drawing/2014/main" id="{4B31B243-1FC7-A84A-9386-0BC59FE42945}"/>
                  </a:ext>
                </a:extLst>
              </p:cNvPr>
              <p:cNvSpPr/>
              <p:nvPr/>
            </p:nvSpPr>
            <p:spPr>
              <a:xfrm>
                <a:off x="7097485" y="3689251"/>
                <a:ext cx="548640" cy="519348"/>
              </a:xfrm>
              <a:prstGeom prst="ellipse">
                <a:avLst/>
              </a:prstGeom>
              <a:no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a:solidFill>
                    <a:srgbClr val="000000"/>
                  </a:solidFill>
                  <a:latin typeface="Calibri"/>
                  <a:ea typeface="Calibri"/>
                  <a:cs typeface="Calibri"/>
                  <a:sym typeface="Calibri"/>
                </a:endParaRPr>
              </a:p>
            </p:txBody>
          </p:sp>
        </p:grpSp>
        <p:sp>
          <p:nvSpPr>
            <p:cNvPr id="62" name="TextBox 61">
              <a:extLst>
                <a:ext uri="{FF2B5EF4-FFF2-40B4-BE49-F238E27FC236}">
                  <a16:creationId xmlns:a16="http://schemas.microsoft.com/office/drawing/2014/main" id="{8C57972B-B071-DA44-BA69-F6A5A9B3D756}"/>
                </a:ext>
              </a:extLst>
            </p:cNvPr>
            <p:cNvSpPr txBox="1"/>
            <p:nvPr/>
          </p:nvSpPr>
          <p:spPr>
            <a:xfrm>
              <a:off x="7862651" y="3542960"/>
              <a:ext cx="709429"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LO</a:t>
              </a:r>
              <a:endParaRPr lang="en-US" sz="1600" dirty="0">
                <a:solidFill>
                  <a:srgbClr val="000000"/>
                </a:solidFill>
                <a:latin typeface="Calibri"/>
                <a:ea typeface="Calibri"/>
                <a:cs typeface="Calibri"/>
                <a:sym typeface="Calibri"/>
              </a:endParaRPr>
            </a:p>
          </p:txBody>
        </p:sp>
        <p:sp>
          <p:nvSpPr>
            <p:cNvPr id="66" name="TextBox 65">
              <a:extLst>
                <a:ext uri="{FF2B5EF4-FFF2-40B4-BE49-F238E27FC236}">
                  <a16:creationId xmlns:a16="http://schemas.microsoft.com/office/drawing/2014/main" id="{4B4017C6-FFFA-F54C-8722-DF29E860A33D}"/>
                </a:ext>
              </a:extLst>
            </p:cNvPr>
            <p:cNvSpPr txBox="1"/>
            <p:nvPr/>
          </p:nvSpPr>
          <p:spPr>
            <a:xfrm>
              <a:off x="9661026" y="3098774"/>
              <a:ext cx="939492" cy="31203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latin typeface="Calibri"/>
                  <a:ea typeface="Calibri"/>
                  <a:cs typeface="Calibri"/>
                  <a:sym typeface="Calibri"/>
                </a:rPr>
                <a:t>RF Mixer</a:t>
              </a:r>
            </a:p>
          </p:txBody>
        </p:sp>
        <p:sp>
          <p:nvSpPr>
            <p:cNvPr id="111" name="TextBox 110">
              <a:extLst>
                <a:ext uri="{FF2B5EF4-FFF2-40B4-BE49-F238E27FC236}">
                  <a16:creationId xmlns:a16="http://schemas.microsoft.com/office/drawing/2014/main" id="{497269AB-9DBE-6E4C-BA2A-EB05025E37CD}"/>
                </a:ext>
              </a:extLst>
            </p:cNvPr>
            <p:cNvSpPr txBox="1"/>
            <p:nvPr/>
          </p:nvSpPr>
          <p:spPr>
            <a:xfrm>
              <a:off x="8362288" y="5650287"/>
              <a:ext cx="1565912"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latin typeface="Calibri"/>
                  <a:ea typeface="Calibri"/>
                  <a:cs typeface="Calibri"/>
                  <a:sym typeface="Calibri"/>
                </a:rPr>
                <a:t>Direct conversion</a:t>
              </a:r>
            </a:p>
          </p:txBody>
        </p:sp>
      </p:grpSp>
    </p:spTree>
    <p:extLst>
      <p:ext uri="{BB962C8B-B14F-4D97-AF65-F5344CB8AC3E}">
        <p14:creationId xmlns:p14="http://schemas.microsoft.com/office/powerpoint/2010/main" val="34008485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374880" y="180131"/>
            <a:ext cx="11174680"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Exercise 35: Intermodulation</a:t>
            </a:r>
            <a:endParaRPr sz="20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767982" y="1830259"/>
                <a:ext cx="10656035" cy="424690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457200" indent="-457200" hangingPunct="0">
                  <a:buFont typeface="Arial" panose="020B0604020202020204" pitchFamily="34" charset="0"/>
                  <a:buChar char="•"/>
                </a:pPr>
                <a:r>
                  <a:rPr lang="en-US" sz="2000" dirty="0">
                    <a:solidFill>
                      <a:srgbClr val="000000"/>
                    </a:solidFill>
                    <a:sym typeface="Calibri"/>
                  </a:rPr>
                  <a:t>Only </a:t>
                </a:r>
                <a14:m>
                  <m:oMath xmlns:m="http://schemas.openxmlformats.org/officeDocument/2006/math">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𝑓</m:t>
                        </m:r>
                      </m:e>
                      <m:sub>
                        <m:r>
                          <a:rPr lang="en-US" sz="2000" b="0" i="1" smtClean="0">
                            <a:solidFill>
                              <a:srgbClr val="000000"/>
                            </a:solidFill>
                            <a:latin typeface="Cambria Math" panose="02040503050406030204" pitchFamily="18" charset="0"/>
                            <a:sym typeface="Calibri"/>
                          </a:rPr>
                          <m:t>3</m:t>
                        </m:r>
                        <m:r>
                          <a:rPr lang="en-US" sz="2000" i="1" smtClean="0">
                            <a:solidFill>
                              <a:srgbClr val="000000"/>
                            </a:solidFill>
                            <a:latin typeface="Cambria Math" panose="02040503050406030204" pitchFamily="18" charset="0"/>
                            <a:ea typeface="Cambria Math" panose="02040503050406030204" pitchFamily="18" charset="0"/>
                            <a:sym typeface="Calibri"/>
                          </a:rPr>
                          <m:t>↑</m:t>
                        </m:r>
                      </m:sub>
                    </m:sSub>
                    <m:r>
                      <a:rPr lang="en-US" sz="2000" b="0" i="1" smtClean="0">
                        <a:solidFill>
                          <a:srgbClr val="000000"/>
                        </a:solidFill>
                        <a:latin typeface="Cambria Math" panose="02040503050406030204" pitchFamily="18" charset="0"/>
                        <a:sym typeface="Calibri"/>
                      </a:rPr>
                      <m:t>=2</m:t>
                    </m:r>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𝑓</m:t>
                        </m:r>
                      </m:e>
                      <m:sub>
                        <m:r>
                          <a:rPr lang="en-US" sz="2000" b="0" i="1" smtClean="0">
                            <a:solidFill>
                              <a:srgbClr val="000000"/>
                            </a:solidFill>
                            <a:latin typeface="Cambria Math" panose="02040503050406030204" pitchFamily="18" charset="0"/>
                            <a:sym typeface="Calibri"/>
                          </a:rPr>
                          <m:t>1</m:t>
                        </m:r>
                      </m:sub>
                    </m:sSub>
                    <m:r>
                      <a:rPr lang="en-US" sz="2000" b="0" i="1" smtClean="0">
                        <a:solidFill>
                          <a:srgbClr val="000000"/>
                        </a:solidFill>
                        <a:latin typeface="Cambria Math" panose="02040503050406030204" pitchFamily="18" charset="0"/>
                        <a:sym typeface="Calibri"/>
                      </a:rPr>
                      <m:t>−</m:t>
                    </m:r>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𝑓</m:t>
                        </m:r>
                      </m:e>
                      <m:sub>
                        <m:r>
                          <a:rPr lang="en-US" sz="2000" b="0" i="1" smtClean="0">
                            <a:solidFill>
                              <a:srgbClr val="000000"/>
                            </a:solidFill>
                            <a:latin typeface="Cambria Math" panose="02040503050406030204" pitchFamily="18" charset="0"/>
                            <a:sym typeface="Calibri"/>
                          </a:rPr>
                          <m:t>2</m:t>
                        </m:r>
                      </m:sub>
                    </m:sSub>
                    <m:r>
                      <a:rPr lang="en-US" sz="2000" b="0" i="1" smtClean="0">
                        <a:solidFill>
                          <a:srgbClr val="000000"/>
                        </a:solidFill>
                        <a:latin typeface="Cambria Math" panose="02040503050406030204" pitchFamily="18" charset="0"/>
                        <a:sym typeface="Calibri"/>
                      </a:rPr>
                      <m:t>, </m:t>
                    </m:r>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𝑓</m:t>
                        </m:r>
                      </m:e>
                      <m:sub>
                        <m:r>
                          <a:rPr lang="en-US" sz="2000" b="0" i="1" smtClean="0">
                            <a:solidFill>
                              <a:srgbClr val="000000"/>
                            </a:solidFill>
                            <a:latin typeface="Cambria Math" panose="02040503050406030204" pitchFamily="18" charset="0"/>
                            <a:sym typeface="Calibri"/>
                          </a:rPr>
                          <m:t>3</m:t>
                        </m:r>
                        <m:r>
                          <a:rPr lang="en-US" sz="2000" b="0" i="1" smtClean="0">
                            <a:solidFill>
                              <a:srgbClr val="000000"/>
                            </a:solidFill>
                            <a:latin typeface="Cambria Math" panose="02040503050406030204" pitchFamily="18" charset="0"/>
                            <a:ea typeface="Cambria Math" panose="02040503050406030204" pitchFamily="18" charset="0"/>
                            <a:sym typeface="Calibri"/>
                          </a:rPr>
                          <m:t>↓</m:t>
                        </m:r>
                      </m:sub>
                    </m:sSub>
                    <m:r>
                      <a:rPr lang="en-US" sz="2000" b="0" i="1" smtClean="0">
                        <a:solidFill>
                          <a:srgbClr val="000000"/>
                        </a:solidFill>
                        <a:latin typeface="Cambria Math" panose="02040503050406030204" pitchFamily="18" charset="0"/>
                        <a:sym typeface="Calibri"/>
                      </a:rPr>
                      <m:t>=2</m:t>
                    </m:r>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𝑓</m:t>
                        </m:r>
                      </m:e>
                      <m:sub>
                        <m:r>
                          <a:rPr lang="en-US" sz="2000" b="0" i="1" smtClean="0">
                            <a:solidFill>
                              <a:srgbClr val="000000"/>
                            </a:solidFill>
                            <a:latin typeface="Cambria Math" panose="02040503050406030204" pitchFamily="18" charset="0"/>
                            <a:sym typeface="Calibri"/>
                          </a:rPr>
                          <m:t>2</m:t>
                        </m:r>
                      </m:sub>
                    </m:sSub>
                    <m:r>
                      <a:rPr lang="en-US" sz="2000" b="0" i="1" smtClean="0">
                        <a:solidFill>
                          <a:srgbClr val="000000"/>
                        </a:solidFill>
                        <a:latin typeface="Cambria Math" panose="02040503050406030204" pitchFamily="18" charset="0"/>
                        <a:sym typeface="Calibri"/>
                      </a:rPr>
                      <m:t>−</m:t>
                    </m:r>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𝑓</m:t>
                        </m:r>
                      </m:e>
                      <m:sub>
                        <m:r>
                          <a:rPr lang="en-US" sz="2000" b="0" i="1" smtClean="0">
                            <a:solidFill>
                              <a:srgbClr val="000000"/>
                            </a:solidFill>
                            <a:latin typeface="Cambria Math" panose="02040503050406030204" pitchFamily="18" charset="0"/>
                            <a:sym typeface="Calibri"/>
                          </a:rPr>
                          <m:t>1</m:t>
                        </m:r>
                      </m:sub>
                    </m:sSub>
                    <m:r>
                      <a:rPr lang="en-US" sz="2000" b="0" i="1" smtClean="0">
                        <a:solidFill>
                          <a:srgbClr val="000000"/>
                        </a:solidFill>
                        <a:latin typeface="Cambria Math" panose="02040503050406030204" pitchFamily="18" charset="0"/>
                        <a:sym typeface="Calibri"/>
                      </a:rPr>
                      <m:t>,</m:t>
                    </m:r>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𝑓</m:t>
                        </m:r>
                      </m:e>
                      <m:sub>
                        <m:r>
                          <a:rPr lang="en-US" sz="2000" b="0" i="1" smtClean="0">
                            <a:solidFill>
                              <a:srgbClr val="000000"/>
                            </a:solidFill>
                            <a:latin typeface="Cambria Math" panose="02040503050406030204" pitchFamily="18" charset="0"/>
                            <a:sym typeface="Calibri"/>
                          </a:rPr>
                          <m:t>5</m:t>
                        </m:r>
                        <m:r>
                          <a:rPr lang="en-US" sz="2000" b="0" i="1" smtClean="0">
                            <a:solidFill>
                              <a:srgbClr val="000000"/>
                            </a:solidFill>
                            <a:latin typeface="Cambria Math" panose="02040503050406030204" pitchFamily="18" charset="0"/>
                            <a:ea typeface="Cambria Math" panose="02040503050406030204" pitchFamily="18" charset="0"/>
                            <a:sym typeface="Calibri"/>
                          </a:rPr>
                          <m:t>↑</m:t>
                        </m:r>
                      </m:sub>
                    </m:sSub>
                    <m:r>
                      <a:rPr lang="en-US" sz="2000" b="0" i="1" smtClean="0">
                        <a:solidFill>
                          <a:srgbClr val="000000"/>
                        </a:solidFill>
                        <a:latin typeface="Cambria Math" panose="02040503050406030204" pitchFamily="18" charset="0"/>
                        <a:sym typeface="Calibri"/>
                      </a:rPr>
                      <m:t>=3</m:t>
                    </m:r>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𝑓</m:t>
                        </m:r>
                      </m:e>
                      <m:sub>
                        <m:r>
                          <a:rPr lang="en-US" sz="2000" b="0" i="1" smtClean="0">
                            <a:solidFill>
                              <a:srgbClr val="000000"/>
                            </a:solidFill>
                            <a:latin typeface="Cambria Math" panose="02040503050406030204" pitchFamily="18" charset="0"/>
                            <a:sym typeface="Calibri"/>
                          </a:rPr>
                          <m:t>1</m:t>
                        </m:r>
                      </m:sub>
                    </m:sSub>
                    <m:r>
                      <a:rPr lang="en-US" sz="2000" b="0" i="1" smtClean="0">
                        <a:solidFill>
                          <a:srgbClr val="000000"/>
                        </a:solidFill>
                        <a:latin typeface="Cambria Math" panose="02040503050406030204" pitchFamily="18" charset="0"/>
                        <a:sym typeface="Calibri"/>
                      </a:rPr>
                      <m:t>−2</m:t>
                    </m:r>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𝑓</m:t>
                        </m:r>
                      </m:e>
                      <m:sub>
                        <m:r>
                          <a:rPr lang="en-US" sz="2000" b="0" i="1" smtClean="0">
                            <a:solidFill>
                              <a:srgbClr val="000000"/>
                            </a:solidFill>
                            <a:latin typeface="Cambria Math" panose="02040503050406030204" pitchFamily="18" charset="0"/>
                            <a:sym typeface="Calibri"/>
                          </a:rPr>
                          <m:t>2</m:t>
                        </m:r>
                      </m:sub>
                    </m:sSub>
                    <m:r>
                      <a:rPr lang="en-US" sz="2000" b="0" i="1" smtClean="0">
                        <a:solidFill>
                          <a:srgbClr val="000000"/>
                        </a:solidFill>
                        <a:latin typeface="Cambria Math" panose="02040503050406030204" pitchFamily="18" charset="0"/>
                        <a:sym typeface="Calibri"/>
                      </a:rPr>
                      <m:t> </m:t>
                    </m:r>
                    <m:r>
                      <a:rPr lang="en-US" sz="2000" b="0" i="1" smtClean="0">
                        <a:solidFill>
                          <a:srgbClr val="000000"/>
                        </a:solidFill>
                        <a:latin typeface="Cambria Math" panose="02040503050406030204" pitchFamily="18" charset="0"/>
                        <a:sym typeface="Calibri"/>
                      </a:rPr>
                      <m:t>𝑎𝑛𝑑</m:t>
                    </m:r>
                    <m:r>
                      <a:rPr lang="en-US" sz="2000" b="0" i="1" smtClean="0">
                        <a:solidFill>
                          <a:srgbClr val="000000"/>
                        </a:solidFill>
                        <a:latin typeface="Cambria Math" panose="02040503050406030204" pitchFamily="18" charset="0"/>
                        <a:sym typeface="Calibri"/>
                      </a:rPr>
                      <m:t> </m:t>
                    </m:r>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𝑓</m:t>
                        </m:r>
                      </m:e>
                      <m:sub>
                        <m:r>
                          <a:rPr lang="en-US" sz="2000" b="0" i="1" smtClean="0">
                            <a:solidFill>
                              <a:srgbClr val="000000"/>
                            </a:solidFill>
                            <a:latin typeface="Cambria Math" panose="02040503050406030204" pitchFamily="18" charset="0"/>
                            <a:sym typeface="Calibri"/>
                          </a:rPr>
                          <m:t>5</m:t>
                        </m:r>
                        <m:r>
                          <a:rPr lang="en-US" sz="2000" b="0" i="1" smtClean="0">
                            <a:solidFill>
                              <a:srgbClr val="000000"/>
                            </a:solidFill>
                            <a:latin typeface="Cambria Math" panose="02040503050406030204" pitchFamily="18" charset="0"/>
                            <a:ea typeface="Cambria Math" panose="02040503050406030204" pitchFamily="18" charset="0"/>
                            <a:sym typeface="Calibri"/>
                          </a:rPr>
                          <m:t>↓</m:t>
                        </m:r>
                      </m:sub>
                    </m:sSub>
                    <m:r>
                      <a:rPr lang="en-US" sz="2000" b="0" i="1" smtClean="0">
                        <a:solidFill>
                          <a:srgbClr val="000000"/>
                        </a:solidFill>
                        <a:latin typeface="Cambria Math" panose="02040503050406030204" pitchFamily="18" charset="0"/>
                        <a:sym typeface="Calibri"/>
                      </a:rPr>
                      <m:t>=3</m:t>
                    </m:r>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𝑓</m:t>
                        </m:r>
                      </m:e>
                      <m:sub>
                        <m:r>
                          <a:rPr lang="en-US" sz="2000" b="0" i="1" smtClean="0">
                            <a:solidFill>
                              <a:srgbClr val="000000"/>
                            </a:solidFill>
                            <a:latin typeface="Cambria Math" panose="02040503050406030204" pitchFamily="18" charset="0"/>
                            <a:sym typeface="Calibri"/>
                          </a:rPr>
                          <m:t>2</m:t>
                        </m:r>
                      </m:sub>
                    </m:sSub>
                    <m:r>
                      <a:rPr lang="en-US" sz="2000" b="0" i="1" smtClean="0">
                        <a:solidFill>
                          <a:srgbClr val="000000"/>
                        </a:solidFill>
                        <a:latin typeface="Cambria Math" panose="02040503050406030204" pitchFamily="18" charset="0"/>
                        <a:sym typeface="Calibri"/>
                      </a:rPr>
                      <m:t>+2</m:t>
                    </m:r>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𝑓</m:t>
                        </m:r>
                      </m:e>
                      <m:sub>
                        <m:r>
                          <a:rPr lang="en-US" sz="2000" b="0" i="1" smtClean="0">
                            <a:solidFill>
                              <a:srgbClr val="000000"/>
                            </a:solidFill>
                            <a:latin typeface="Cambria Math" panose="02040503050406030204" pitchFamily="18" charset="0"/>
                            <a:sym typeface="Calibri"/>
                          </a:rPr>
                          <m:t>1</m:t>
                        </m:r>
                      </m:sub>
                    </m:sSub>
                  </m:oMath>
                </a14:m>
                <a:r>
                  <a:rPr lang="en-US" sz="2000" dirty="0">
                    <a:solidFill>
                      <a:srgbClr val="000000"/>
                    </a:solidFill>
                    <a:sym typeface="Calibri"/>
                  </a:rPr>
                  <a:t> are close enough to the rf frequency to matter for intermodulation</a:t>
                </a:r>
              </a:p>
              <a:p>
                <a:pPr hangingPunct="0"/>
                <a:endParaRPr lang="en-US" sz="2000" dirty="0">
                  <a:solidFill>
                    <a:srgbClr val="000000"/>
                  </a:solidFill>
                  <a:sym typeface="Calibri"/>
                </a:endParaRPr>
              </a:p>
              <a:p>
                <a:pPr marL="457200" indent="-457200" hangingPunct="0">
                  <a:buFont typeface="+mj-lt"/>
                  <a:buAutoNum type="arabicPeriod"/>
                </a:pPr>
                <a:r>
                  <a:rPr lang="en-US" sz="2000" dirty="0">
                    <a:solidFill>
                      <a:srgbClr val="000000"/>
                    </a:solidFill>
                    <a:sym typeface="Calibri"/>
                  </a:rPr>
                  <a:t>Find coefficients and frequencies for </a:t>
                </a:r>
                <a14:m>
                  <m:oMath xmlns:m="http://schemas.openxmlformats.org/officeDocument/2006/math">
                    <m:sSup>
                      <m:sSupPr>
                        <m:ctrlPr>
                          <a:rPr lang="en-US" sz="2000" b="0" i="1" smtClean="0">
                            <a:solidFill>
                              <a:srgbClr val="000000"/>
                            </a:solidFill>
                            <a:latin typeface="Cambria Math" panose="02040503050406030204" pitchFamily="18" charset="0"/>
                            <a:sym typeface="Calibri"/>
                          </a:rPr>
                        </m:ctrlPr>
                      </m:sSupPr>
                      <m:e>
                        <m:r>
                          <a:rPr lang="en-US" sz="2000" b="0" i="1" smtClean="0">
                            <a:solidFill>
                              <a:srgbClr val="000000"/>
                            </a:solidFill>
                            <a:latin typeface="Cambria Math" panose="02040503050406030204" pitchFamily="18" charset="0"/>
                            <a:sym typeface="Calibri"/>
                          </a:rPr>
                          <m:t>[</m:t>
                        </m:r>
                        <m:func>
                          <m:funcPr>
                            <m:ctrlPr>
                              <a:rPr lang="en-US" sz="2000" b="0" i="0" smtClean="0">
                                <a:solidFill>
                                  <a:srgbClr val="000000"/>
                                </a:solidFill>
                                <a:latin typeface="Cambria Math" panose="02040503050406030204" pitchFamily="18" charset="0"/>
                                <a:sym typeface="Calibri"/>
                              </a:rPr>
                            </m:ctrlPr>
                          </m:funcPr>
                          <m:fName>
                            <m:r>
                              <m:rPr>
                                <m:sty m:val="p"/>
                              </m:rPr>
                              <a:rPr lang="en-US" sz="2000" b="0" i="0" smtClean="0">
                                <a:solidFill>
                                  <a:srgbClr val="000000"/>
                                </a:solidFill>
                                <a:latin typeface="Cambria Math" panose="02040503050406030204" pitchFamily="18" charset="0"/>
                                <a:sym typeface="Calibri"/>
                              </a:rPr>
                              <m:t>cos</m:t>
                            </m:r>
                          </m:fName>
                          <m:e>
                            <m:d>
                              <m:dPr>
                                <m:ctrlPr>
                                  <a:rPr lang="en-US" sz="2000" b="0" i="1" smtClean="0">
                                    <a:solidFill>
                                      <a:srgbClr val="000000"/>
                                    </a:solidFill>
                                    <a:latin typeface="Cambria Math" panose="02040503050406030204" pitchFamily="18" charset="0"/>
                                    <a:sym typeface="Calibri"/>
                                  </a:rPr>
                                </m:ctrlPr>
                              </m:dPr>
                              <m:e>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𝜔</m:t>
                                    </m:r>
                                  </m:e>
                                  <m:sub>
                                    <m:r>
                                      <a:rPr lang="en-US" sz="2000" b="0" i="1" smtClean="0">
                                        <a:solidFill>
                                          <a:srgbClr val="000000"/>
                                        </a:solidFill>
                                        <a:latin typeface="Cambria Math" panose="02040503050406030204" pitchFamily="18" charset="0"/>
                                        <a:sym typeface="Calibri"/>
                                      </a:rPr>
                                      <m:t>1</m:t>
                                    </m:r>
                                  </m:sub>
                                </m:sSub>
                                <m:r>
                                  <a:rPr lang="en-US" sz="2000" b="0" i="1" smtClean="0">
                                    <a:solidFill>
                                      <a:srgbClr val="000000"/>
                                    </a:solidFill>
                                    <a:latin typeface="Cambria Math" panose="02040503050406030204" pitchFamily="18" charset="0"/>
                                    <a:sym typeface="Calibri"/>
                                  </a:rPr>
                                  <m:t>𝑡</m:t>
                                </m:r>
                              </m:e>
                            </m:d>
                          </m:e>
                        </m:func>
                        <m:r>
                          <a:rPr lang="en-US" sz="2000" i="1">
                            <a:solidFill>
                              <a:srgbClr val="000000"/>
                            </a:solidFill>
                            <a:latin typeface="Cambria Math" panose="02040503050406030204" pitchFamily="18" charset="0"/>
                            <a:sym typeface="Calibri"/>
                          </a:rPr>
                          <m:t>+[</m:t>
                        </m:r>
                        <m:func>
                          <m:funcPr>
                            <m:ctrlPr>
                              <a:rPr lang="en-US" sz="2000">
                                <a:solidFill>
                                  <a:srgbClr val="000000"/>
                                </a:solidFill>
                                <a:latin typeface="Cambria Math" panose="02040503050406030204" pitchFamily="18" charset="0"/>
                                <a:sym typeface="Calibri"/>
                              </a:rPr>
                            </m:ctrlPr>
                          </m:funcPr>
                          <m:fName>
                            <m:r>
                              <m:rPr>
                                <m:sty m:val="p"/>
                              </m:rPr>
                              <a:rPr lang="en-US" sz="2000">
                                <a:solidFill>
                                  <a:srgbClr val="000000"/>
                                </a:solidFill>
                                <a:latin typeface="Cambria Math" panose="02040503050406030204" pitchFamily="18" charset="0"/>
                                <a:sym typeface="Calibri"/>
                              </a:rPr>
                              <m:t>cos</m:t>
                            </m:r>
                          </m:fName>
                          <m:e>
                            <m:d>
                              <m:dPr>
                                <m:ctrlPr>
                                  <a:rPr lang="en-US" sz="2000" i="1" smtClean="0">
                                    <a:solidFill>
                                      <a:srgbClr val="000000"/>
                                    </a:solidFill>
                                    <a:latin typeface="Cambria Math" panose="02040503050406030204" pitchFamily="18" charset="0"/>
                                    <a:sym typeface="Calibri"/>
                                  </a:rPr>
                                </m:ctrlPr>
                              </m:dPr>
                              <m:e>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𝜔</m:t>
                                    </m:r>
                                  </m:e>
                                  <m:sub>
                                    <m:r>
                                      <a:rPr lang="en-US" sz="2000" b="0" i="1" smtClean="0">
                                        <a:solidFill>
                                          <a:srgbClr val="000000"/>
                                        </a:solidFill>
                                        <a:latin typeface="Cambria Math" panose="02040503050406030204" pitchFamily="18" charset="0"/>
                                        <a:ea typeface="Cambria Math" panose="02040503050406030204" pitchFamily="18" charset="0"/>
                                        <a:sym typeface="Calibri"/>
                                      </a:rPr>
                                      <m:t>2</m:t>
                                    </m:r>
                                  </m:sub>
                                </m:sSub>
                                <m:r>
                                  <a:rPr lang="en-US" sz="2000" i="1">
                                    <a:solidFill>
                                      <a:srgbClr val="000000"/>
                                    </a:solidFill>
                                    <a:latin typeface="Cambria Math" panose="02040503050406030204" pitchFamily="18" charset="0"/>
                                    <a:sym typeface="Calibri"/>
                                  </a:rPr>
                                  <m:t>𝑡</m:t>
                                </m:r>
                              </m:e>
                            </m:d>
                          </m:e>
                        </m:func>
                        <m:r>
                          <a:rPr lang="en-US" sz="2000" b="0" i="1" smtClean="0">
                            <a:solidFill>
                              <a:srgbClr val="000000"/>
                            </a:solidFill>
                            <a:latin typeface="Cambria Math" panose="02040503050406030204" pitchFamily="18" charset="0"/>
                            <a:sym typeface="Calibri"/>
                          </a:rPr>
                          <m:t>]</m:t>
                        </m:r>
                      </m:e>
                      <m:sup>
                        <m:r>
                          <a:rPr lang="en-US" sz="2000" b="0" i="1" smtClean="0">
                            <a:solidFill>
                              <a:srgbClr val="000000"/>
                            </a:solidFill>
                            <a:latin typeface="Cambria Math" panose="02040503050406030204" pitchFamily="18" charset="0"/>
                            <a:sym typeface="Calibri"/>
                          </a:rPr>
                          <m:t>5</m:t>
                        </m:r>
                      </m:sup>
                    </m:sSup>
                  </m:oMath>
                </a14:m>
                <a:endParaRPr lang="en-US" sz="2000" dirty="0">
                  <a:solidFill>
                    <a:srgbClr val="000000"/>
                  </a:solidFill>
                  <a:sym typeface="Calibri"/>
                </a:endParaRPr>
              </a:p>
              <a:p>
                <a:pPr marL="457200" indent="-457200" hangingPunct="0">
                  <a:buFont typeface="+mj-lt"/>
                  <a:buAutoNum type="arabicPeriod"/>
                </a:pPr>
                <a:r>
                  <a:rPr lang="en-US" sz="2000" dirty="0">
                    <a:solidFill>
                      <a:srgbClr val="000000"/>
                    </a:solidFill>
                    <a:sym typeface="Calibri"/>
                  </a:rPr>
                  <a:t>Find </a:t>
                </a:r>
                <a14:m>
                  <m:oMath xmlns:m="http://schemas.openxmlformats.org/officeDocument/2006/math">
                    <m:sSub>
                      <m:sSubPr>
                        <m:ctrlPr>
                          <a:rPr lang="en-US" sz="2000" i="1">
                            <a:solidFill>
                              <a:srgbClr val="000000"/>
                            </a:solidFill>
                            <a:latin typeface="Cambria Math" panose="02040503050406030204" pitchFamily="18" charset="0"/>
                            <a:sym typeface="Calibri"/>
                          </a:rPr>
                        </m:ctrlPr>
                      </m:sSubPr>
                      <m:e>
                        <m:r>
                          <a:rPr lang="en-US" sz="2000" i="1">
                            <a:solidFill>
                              <a:srgbClr val="000000"/>
                            </a:solidFill>
                            <a:latin typeface="Cambria Math" panose="02040503050406030204" pitchFamily="18" charset="0"/>
                            <a:sym typeface="Calibri"/>
                          </a:rPr>
                          <m:t>𝑓</m:t>
                        </m:r>
                      </m:e>
                      <m:sub>
                        <m:r>
                          <a:rPr lang="en-US" sz="2000" i="1">
                            <a:solidFill>
                              <a:srgbClr val="000000"/>
                            </a:solidFill>
                            <a:latin typeface="Cambria Math" panose="02040503050406030204" pitchFamily="18" charset="0"/>
                            <a:sym typeface="Calibri"/>
                          </a:rPr>
                          <m:t>3</m:t>
                        </m:r>
                        <m:r>
                          <a:rPr lang="en-US" sz="2000" i="1">
                            <a:solidFill>
                              <a:srgbClr val="000000"/>
                            </a:solidFill>
                            <a:latin typeface="Cambria Math" panose="02040503050406030204" pitchFamily="18" charset="0"/>
                            <a:ea typeface="Cambria Math" panose="02040503050406030204" pitchFamily="18" charset="0"/>
                            <a:sym typeface="Calibri"/>
                          </a:rPr>
                          <m:t>↑</m:t>
                        </m:r>
                      </m:sub>
                    </m:sSub>
                  </m:oMath>
                </a14:m>
                <a:r>
                  <a:rPr lang="en-US" sz="2000" dirty="0">
                    <a:solidFill>
                      <a:srgbClr val="000000"/>
                    </a:solidFill>
                    <a:sym typeface="Calibri"/>
                  </a:rPr>
                  <a:t>, </a:t>
                </a:r>
                <a14:m>
                  <m:oMath xmlns:m="http://schemas.openxmlformats.org/officeDocument/2006/math">
                    <m:sSub>
                      <m:sSubPr>
                        <m:ctrlPr>
                          <a:rPr lang="en-US" sz="2000" i="1">
                            <a:solidFill>
                              <a:srgbClr val="000000"/>
                            </a:solidFill>
                            <a:latin typeface="Cambria Math" panose="02040503050406030204" pitchFamily="18" charset="0"/>
                            <a:sym typeface="Calibri"/>
                          </a:rPr>
                        </m:ctrlPr>
                      </m:sSubPr>
                      <m:e>
                        <m:r>
                          <a:rPr lang="en-US" sz="2000" i="1">
                            <a:solidFill>
                              <a:srgbClr val="000000"/>
                            </a:solidFill>
                            <a:latin typeface="Cambria Math" panose="02040503050406030204" pitchFamily="18" charset="0"/>
                            <a:sym typeface="Calibri"/>
                          </a:rPr>
                          <m:t>𝑓</m:t>
                        </m:r>
                      </m:e>
                      <m:sub>
                        <m:r>
                          <a:rPr lang="en-US" sz="2000" i="1">
                            <a:solidFill>
                              <a:srgbClr val="000000"/>
                            </a:solidFill>
                            <a:latin typeface="Cambria Math" panose="02040503050406030204" pitchFamily="18" charset="0"/>
                            <a:sym typeface="Calibri"/>
                          </a:rPr>
                          <m:t>3</m:t>
                        </m:r>
                        <m:r>
                          <a:rPr lang="en-US" sz="2000" i="1">
                            <a:solidFill>
                              <a:srgbClr val="000000"/>
                            </a:solidFill>
                            <a:latin typeface="Cambria Math" panose="02040503050406030204" pitchFamily="18" charset="0"/>
                            <a:ea typeface="Cambria Math" panose="02040503050406030204" pitchFamily="18" charset="0"/>
                            <a:sym typeface="Calibri"/>
                          </a:rPr>
                          <m:t>↓</m:t>
                        </m:r>
                      </m:sub>
                    </m:sSub>
                  </m:oMath>
                </a14:m>
                <a:r>
                  <a:rPr lang="en-US" sz="2000" dirty="0">
                    <a:solidFill>
                      <a:srgbClr val="000000"/>
                    </a:solidFill>
                    <a:sym typeface="Calibri"/>
                  </a:rPr>
                  <a:t>, </a:t>
                </a:r>
                <a14:m>
                  <m:oMath xmlns:m="http://schemas.openxmlformats.org/officeDocument/2006/math">
                    <m:sSub>
                      <m:sSubPr>
                        <m:ctrlPr>
                          <a:rPr lang="en-US" sz="2000" i="1">
                            <a:solidFill>
                              <a:srgbClr val="000000"/>
                            </a:solidFill>
                            <a:latin typeface="Cambria Math" panose="02040503050406030204" pitchFamily="18" charset="0"/>
                            <a:sym typeface="Calibri"/>
                          </a:rPr>
                        </m:ctrlPr>
                      </m:sSubPr>
                      <m:e>
                        <m:r>
                          <a:rPr lang="en-US" sz="2000" i="1">
                            <a:solidFill>
                              <a:srgbClr val="000000"/>
                            </a:solidFill>
                            <a:latin typeface="Cambria Math" panose="02040503050406030204" pitchFamily="18" charset="0"/>
                            <a:sym typeface="Calibri"/>
                          </a:rPr>
                          <m:t>𝑓</m:t>
                        </m:r>
                      </m:e>
                      <m:sub>
                        <m:r>
                          <a:rPr lang="en-US" sz="2000" i="1">
                            <a:solidFill>
                              <a:srgbClr val="000000"/>
                            </a:solidFill>
                            <a:latin typeface="Cambria Math" panose="02040503050406030204" pitchFamily="18" charset="0"/>
                            <a:sym typeface="Calibri"/>
                          </a:rPr>
                          <m:t>5</m:t>
                        </m:r>
                        <m:r>
                          <a:rPr lang="en-US" sz="2000" i="1">
                            <a:solidFill>
                              <a:srgbClr val="000000"/>
                            </a:solidFill>
                            <a:latin typeface="Cambria Math" panose="02040503050406030204" pitchFamily="18" charset="0"/>
                            <a:ea typeface="Cambria Math" panose="02040503050406030204" pitchFamily="18" charset="0"/>
                            <a:sym typeface="Calibri"/>
                          </a:rPr>
                          <m:t>↑</m:t>
                        </m:r>
                      </m:sub>
                    </m:sSub>
                  </m:oMath>
                </a14:m>
                <a:r>
                  <a:rPr lang="en-US" sz="2000" dirty="0">
                    <a:solidFill>
                      <a:srgbClr val="000000"/>
                    </a:solidFill>
                    <a:sym typeface="Calibri"/>
                  </a:rPr>
                  <a:t> and </a:t>
                </a:r>
                <a14:m>
                  <m:oMath xmlns:m="http://schemas.openxmlformats.org/officeDocument/2006/math">
                    <m:sSub>
                      <m:sSubPr>
                        <m:ctrlPr>
                          <a:rPr lang="en-US" sz="2000" i="1">
                            <a:solidFill>
                              <a:srgbClr val="000000"/>
                            </a:solidFill>
                            <a:latin typeface="Cambria Math" panose="02040503050406030204" pitchFamily="18" charset="0"/>
                            <a:sym typeface="Calibri"/>
                          </a:rPr>
                        </m:ctrlPr>
                      </m:sSubPr>
                      <m:e>
                        <m:r>
                          <a:rPr lang="en-US" sz="2000" i="1">
                            <a:solidFill>
                              <a:srgbClr val="000000"/>
                            </a:solidFill>
                            <a:latin typeface="Cambria Math" panose="02040503050406030204" pitchFamily="18" charset="0"/>
                            <a:sym typeface="Calibri"/>
                          </a:rPr>
                          <m:t>𝑓</m:t>
                        </m:r>
                      </m:e>
                      <m:sub>
                        <m:r>
                          <a:rPr lang="en-US" sz="2000" i="1">
                            <a:solidFill>
                              <a:srgbClr val="000000"/>
                            </a:solidFill>
                            <a:latin typeface="Cambria Math" panose="02040503050406030204" pitchFamily="18" charset="0"/>
                            <a:sym typeface="Calibri"/>
                          </a:rPr>
                          <m:t>1</m:t>
                        </m:r>
                      </m:sub>
                    </m:sSub>
                  </m:oMath>
                </a14:m>
                <a:endParaRPr lang="en-US" sz="2000" dirty="0">
                  <a:solidFill>
                    <a:srgbClr val="000000"/>
                  </a:solidFill>
                  <a:sym typeface="Calibri"/>
                </a:endParaRPr>
              </a:p>
              <a:p>
                <a:pPr marL="457200" indent="-457200" hangingPunct="0">
                  <a:buFont typeface="+mj-lt"/>
                  <a:buAutoNum type="arabicPeriod"/>
                </a:pPr>
                <a:r>
                  <a:rPr lang="en-US" sz="2000" dirty="0">
                    <a:solidFill>
                      <a:srgbClr val="000000"/>
                    </a:solidFill>
                    <a:sym typeface="Calibri"/>
                  </a:rPr>
                  <a:t>Find the MDS and the antenna limited MDR</a:t>
                </a:r>
              </a:p>
              <a:p>
                <a:pPr hangingPunct="0"/>
                <a:endParaRPr lang="en-US" sz="2000" dirty="0">
                  <a:solidFill>
                    <a:srgbClr val="000000"/>
                  </a:solidFill>
                  <a:sym typeface="Calibri"/>
                </a:endParaRPr>
              </a:p>
              <a:p>
                <a:pPr marL="457200" indent="-457200" hangingPunct="0">
                  <a:buFont typeface="Arial" panose="020B0604020202020204" pitchFamily="34" charset="0"/>
                  <a:buChar char="•"/>
                </a:pPr>
                <a14:m>
                  <m:oMath xmlns:m="http://schemas.openxmlformats.org/officeDocument/2006/math">
                    <m:r>
                      <a:rPr lang="en-US" sz="2000" b="0" i="1" smtClean="0">
                        <a:solidFill>
                          <a:srgbClr val="000000"/>
                        </a:solidFill>
                        <a:latin typeface="Cambria Math" panose="02040503050406030204" pitchFamily="18" charset="0"/>
                        <a:sym typeface="Calibri"/>
                      </a:rPr>
                      <m:t>𝑀𝐷𝑆</m:t>
                    </m:r>
                    <m:r>
                      <a:rPr lang="en-US" sz="2000" b="0" i="1" smtClean="0">
                        <a:solidFill>
                          <a:srgbClr val="000000"/>
                        </a:solidFill>
                        <a:latin typeface="Cambria Math" panose="02040503050406030204" pitchFamily="18" charset="0"/>
                        <a:sym typeface="Calibri"/>
                      </a:rPr>
                      <m:t>=</m:t>
                    </m:r>
                    <m:f>
                      <m:fPr>
                        <m:ctrlPr>
                          <a:rPr lang="en-US" sz="2000" b="0" i="1" smtClean="0">
                            <a:solidFill>
                              <a:srgbClr val="000000"/>
                            </a:solidFill>
                            <a:latin typeface="Cambria Math" panose="02040503050406030204" pitchFamily="18" charset="0"/>
                            <a:sym typeface="Calibri"/>
                          </a:rPr>
                        </m:ctrlPr>
                      </m:fPr>
                      <m:num>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𝑃</m:t>
                            </m:r>
                          </m:e>
                          <m:sub>
                            <m:r>
                              <a:rPr lang="en-US" sz="2000" b="0" i="1" smtClean="0">
                                <a:solidFill>
                                  <a:srgbClr val="000000"/>
                                </a:solidFill>
                                <a:latin typeface="Cambria Math" panose="02040503050406030204" pitchFamily="18" charset="0"/>
                                <a:sym typeface="Calibri"/>
                              </a:rPr>
                              <m:t>𝑛</m:t>
                            </m:r>
                          </m:sub>
                        </m:sSub>
                      </m:num>
                      <m:den>
                        <m:r>
                          <a:rPr lang="en-US" sz="2000" b="0" i="1" smtClean="0">
                            <a:solidFill>
                              <a:srgbClr val="000000"/>
                            </a:solidFill>
                            <a:latin typeface="Cambria Math" panose="02040503050406030204" pitchFamily="18" charset="0"/>
                            <a:sym typeface="Calibri"/>
                          </a:rPr>
                          <m:t>𝐺</m:t>
                        </m:r>
                      </m:den>
                    </m:f>
                  </m:oMath>
                </a14:m>
                <a:r>
                  <a:rPr lang="en-US" sz="2000" dirty="0">
                    <a:solidFill>
                      <a:srgbClr val="000000"/>
                    </a:solidFill>
                    <a:sym typeface="Calibri"/>
                  </a:rPr>
                  <a:t>, </a:t>
                </a:r>
                <a14:m>
                  <m:oMath xmlns:m="http://schemas.openxmlformats.org/officeDocument/2006/math">
                    <m:r>
                      <a:rPr lang="en-US" sz="2000" b="0" i="1" smtClean="0">
                        <a:solidFill>
                          <a:srgbClr val="000000"/>
                        </a:solidFill>
                        <a:latin typeface="Cambria Math" panose="02040503050406030204" pitchFamily="18" charset="0"/>
                        <a:sym typeface="Calibri"/>
                      </a:rPr>
                      <m:t>𝑀𝐷𝐼</m:t>
                    </m:r>
                  </m:oMath>
                </a14:m>
                <a:r>
                  <a:rPr lang="en-US" sz="2000" dirty="0">
                    <a:solidFill>
                      <a:srgbClr val="000000"/>
                    </a:solidFill>
                    <a:sym typeface="Calibri"/>
                  </a:rPr>
                  <a:t> is input that gives output tone + </a:t>
                </a:r>
                <a14:m>
                  <m:oMath xmlns:m="http://schemas.openxmlformats.org/officeDocument/2006/math">
                    <m:r>
                      <a:rPr lang="en-US" sz="2000" b="0" i="1" smtClean="0">
                        <a:solidFill>
                          <a:srgbClr val="000000"/>
                        </a:solidFill>
                        <a:latin typeface="Cambria Math" panose="02040503050406030204" pitchFamily="18" charset="0"/>
                        <a:sym typeface="Calibri"/>
                      </a:rPr>
                      <m:t>2</m:t>
                    </m:r>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𝑃</m:t>
                        </m:r>
                      </m:e>
                      <m:sub>
                        <m:r>
                          <a:rPr lang="en-US" sz="2000" b="0" i="1" smtClean="0">
                            <a:solidFill>
                              <a:srgbClr val="000000"/>
                            </a:solidFill>
                            <a:latin typeface="Cambria Math" panose="02040503050406030204" pitchFamily="18" charset="0"/>
                            <a:sym typeface="Calibri"/>
                          </a:rPr>
                          <m:t>𝑛</m:t>
                        </m:r>
                      </m:sub>
                    </m:sSub>
                  </m:oMath>
                </a14:m>
                <a:endParaRPr lang="en-US" sz="2000" dirty="0">
                  <a:solidFill>
                    <a:srgbClr val="000000"/>
                  </a:solidFill>
                  <a:sym typeface="Calibri"/>
                </a:endParaRPr>
              </a:p>
              <a:p>
                <a:pPr marL="457200" indent="-457200" hangingPunct="0">
                  <a:buFont typeface="Arial" panose="020B0604020202020204" pitchFamily="34" charset="0"/>
                  <a:buChar char="•"/>
                </a:pPr>
                <a14:m>
                  <m:oMath xmlns:m="http://schemas.openxmlformats.org/officeDocument/2006/math">
                    <m:r>
                      <a:rPr lang="en-US" sz="2000" b="0" i="1" smtClean="0">
                        <a:solidFill>
                          <a:srgbClr val="000000"/>
                        </a:solidFill>
                        <a:latin typeface="Cambria Math" panose="02040503050406030204" pitchFamily="18" charset="0"/>
                        <a:sym typeface="Calibri"/>
                      </a:rPr>
                      <m:t>𝑀𝐷𝑅</m:t>
                    </m:r>
                    <m:r>
                      <a:rPr lang="en-US" sz="2000" b="0" i="1" smtClean="0">
                        <a:solidFill>
                          <a:srgbClr val="000000"/>
                        </a:solidFill>
                        <a:latin typeface="Cambria Math" panose="02040503050406030204" pitchFamily="18" charset="0"/>
                        <a:sym typeface="Calibri"/>
                      </a:rPr>
                      <m:t>=</m:t>
                    </m:r>
                    <m:r>
                      <a:rPr lang="en-US" sz="2000" b="0" i="1" smtClean="0">
                        <a:solidFill>
                          <a:srgbClr val="000000"/>
                        </a:solidFill>
                        <a:latin typeface="Cambria Math" panose="02040503050406030204" pitchFamily="18" charset="0"/>
                        <a:sym typeface="Calibri"/>
                      </a:rPr>
                      <m:t>𝑀𝐷𝐼</m:t>
                    </m:r>
                    <m:r>
                      <a:rPr lang="en-US" sz="2000" b="0" i="1" smtClean="0">
                        <a:solidFill>
                          <a:srgbClr val="000000"/>
                        </a:solidFill>
                        <a:latin typeface="Cambria Math" panose="02040503050406030204" pitchFamily="18" charset="0"/>
                        <a:sym typeface="Calibri"/>
                      </a:rPr>
                      <m:t>−</m:t>
                    </m:r>
                    <m:r>
                      <a:rPr lang="en-US" sz="2000" b="0" i="1" smtClean="0">
                        <a:solidFill>
                          <a:srgbClr val="000000"/>
                        </a:solidFill>
                        <a:latin typeface="Cambria Math" panose="02040503050406030204" pitchFamily="18" charset="0"/>
                        <a:sym typeface="Calibri"/>
                      </a:rPr>
                      <m:t>𝑀𝐷𝑆</m:t>
                    </m:r>
                  </m:oMath>
                </a14:m>
                <a:endParaRPr lang="en-US" sz="2000" b="0" dirty="0">
                  <a:solidFill>
                    <a:srgbClr val="000000"/>
                  </a:solidFill>
                  <a:sym typeface="Calibri"/>
                </a:endParaRPr>
              </a:p>
              <a:p>
                <a:pPr marL="457200" indent="-457200" hangingPunct="0">
                  <a:buFont typeface="Arial" panose="020B0604020202020204" pitchFamily="34" charset="0"/>
                  <a:buChar char="•"/>
                </a:pPr>
                <a:r>
                  <a:rPr lang="en-US" sz="2000" dirty="0">
                    <a:solidFill>
                      <a:schemeClr val="accent1"/>
                    </a:solidFill>
                    <a:sym typeface="Calibri"/>
                  </a:rPr>
                  <a:t>This needs measurements to find the minimum detectable signal.</a:t>
                </a: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767982" y="1830259"/>
                <a:ext cx="10656035" cy="4246902"/>
              </a:xfrm>
              <a:prstGeom prst="rect">
                <a:avLst/>
              </a:prstGeom>
              <a:blipFill>
                <a:blip r:embed="rId3"/>
                <a:stretch>
                  <a:fillRect l="-1071" t="-896" r="-1548"/>
                </a:stretch>
              </a:blipFill>
              <a:ln w="12700" cap="flat">
                <a:noFill/>
                <a:miter lim="400000"/>
              </a:ln>
              <a:effec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7E9BD940-D742-3E42-AEA4-F8F78162A399}"/>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18</a:t>
            </a:fld>
            <a:endParaRPr lang="en-US" dirty="0">
              <a:solidFill>
                <a:schemeClr val="tx1"/>
              </a:solidFill>
            </a:endParaRPr>
          </a:p>
        </p:txBody>
      </p:sp>
    </p:spTree>
    <p:extLst>
      <p:ext uri="{BB962C8B-B14F-4D97-AF65-F5344CB8AC3E}">
        <p14:creationId xmlns:p14="http://schemas.microsoft.com/office/powerpoint/2010/main" val="21732541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201882" y="290683"/>
            <a:ext cx="11174680"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Exercise 37: Antennas</a:t>
            </a:r>
            <a:endParaRPr sz="20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692908" y="1351650"/>
                <a:ext cx="10806183" cy="532576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457200" indent="-457200" hangingPunct="0">
                  <a:buFont typeface="+mj-lt"/>
                  <a:buAutoNum type="arabicPeriod"/>
                </a:pPr>
                <a:r>
                  <a:rPr lang="en-US" dirty="0">
                    <a:solidFill>
                      <a:srgbClr val="000000"/>
                    </a:solidFill>
                    <a:sym typeface="Calibri"/>
                  </a:rPr>
                  <a:t>Use the relation between gain and effective area to rewrite the </a:t>
                </a:r>
                <a:r>
                  <a:rPr lang="en-US" dirty="0" err="1">
                    <a:solidFill>
                      <a:srgbClr val="000000"/>
                    </a:solidFill>
                    <a:sym typeface="Calibri"/>
                  </a:rPr>
                  <a:t>Friis</a:t>
                </a:r>
                <a:r>
                  <a:rPr lang="en-US" dirty="0">
                    <a:solidFill>
                      <a:srgbClr val="000000"/>
                    </a:solidFill>
                    <a:sym typeface="Calibri"/>
                  </a:rPr>
                  <a:t> transmission formula in terms of gain only.  Consider UHF for airplanes.  If the frequency makes the quarter length stub antenna have gain 2, find the maximum possible LOS at 10km height.  Required receiver power is –90 dBm.  Find the minimum transmission power.</a:t>
                </a:r>
              </a:p>
              <a:p>
                <a:pPr marL="742950" lvl="1" indent="-285750" latinLnBrk="1" hangingPunct="0">
                  <a:buFont typeface="Arial" panose="020B0604020202020204" pitchFamily="34" charset="0"/>
                  <a:buChar char="•"/>
                </a:pPr>
                <a:r>
                  <a:rPr lang="en-US" dirty="0">
                    <a:solidFill>
                      <a:srgbClr val="000000"/>
                    </a:solidFill>
                    <a:latin typeface="Calibri" panose="020F0502020204030204" pitchFamily="34" charset="0"/>
                    <a:cs typeface="Calibri" panose="020F0502020204030204" pitchFamily="34" charset="0"/>
                  </a:rPr>
                  <a:t>Friis  radiation formula is </a:t>
                </a:r>
                <a14:m>
                  <m:oMath xmlns:m="http://schemas.openxmlformats.org/officeDocument/2006/math">
                    <m:sSub>
                      <m:sSubPr>
                        <m:ctrlPr>
                          <a:rPr lang="en-US" i="1">
                            <a:solidFill>
                              <a:srgbClr val="000000"/>
                            </a:solidFill>
                            <a:latin typeface="Cambria Math" panose="02040503050406030204" pitchFamily="18" charset="0"/>
                            <a:cs typeface="Calibri" panose="020F0502020204030204" pitchFamily="34" charset="0"/>
                          </a:rPr>
                        </m:ctrlPr>
                      </m:sSubPr>
                      <m:e>
                        <m:r>
                          <a:rPr lang="en-US" i="1">
                            <a:solidFill>
                              <a:srgbClr val="000000"/>
                            </a:solidFill>
                            <a:latin typeface="Cambria Math" panose="02040503050406030204" pitchFamily="18" charset="0"/>
                            <a:cs typeface="Calibri" panose="020F0502020204030204" pitchFamily="34" charset="0"/>
                          </a:rPr>
                          <m:t>𝑃</m:t>
                        </m:r>
                      </m:e>
                      <m:sub>
                        <m:r>
                          <a:rPr lang="en-US" i="1">
                            <a:solidFill>
                              <a:srgbClr val="000000"/>
                            </a:solidFill>
                            <a:latin typeface="Cambria Math" panose="02040503050406030204" pitchFamily="18" charset="0"/>
                            <a:cs typeface="Calibri" panose="020F0502020204030204" pitchFamily="34" charset="0"/>
                          </a:rPr>
                          <m:t>𝑟</m:t>
                        </m:r>
                      </m:sub>
                    </m:sSub>
                    <m:r>
                      <a:rPr lang="en-US" i="1">
                        <a:solidFill>
                          <a:srgbClr val="000000"/>
                        </a:solidFill>
                        <a:latin typeface="Cambria Math" panose="02040503050406030204" pitchFamily="18" charset="0"/>
                        <a:cs typeface="Calibri" panose="020F0502020204030204" pitchFamily="34" charset="0"/>
                      </a:rPr>
                      <m:t>=</m:t>
                    </m:r>
                    <m:f>
                      <m:fPr>
                        <m:ctrlPr>
                          <a:rPr lang="en-US" i="1">
                            <a:solidFill>
                              <a:srgbClr val="000000"/>
                            </a:solidFill>
                            <a:latin typeface="Cambria Math" panose="02040503050406030204" pitchFamily="18" charset="0"/>
                            <a:cs typeface="Calibri" panose="020F0502020204030204" pitchFamily="34" charset="0"/>
                          </a:rPr>
                        </m:ctrlPr>
                      </m:fPr>
                      <m:num>
                        <m:sSub>
                          <m:sSubPr>
                            <m:ctrlPr>
                              <a:rPr lang="en-US" i="1">
                                <a:solidFill>
                                  <a:srgbClr val="000000"/>
                                </a:solidFill>
                                <a:latin typeface="Cambria Math" panose="02040503050406030204" pitchFamily="18" charset="0"/>
                                <a:cs typeface="Calibri" panose="020F0502020204030204" pitchFamily="34" charset="0"/>
                              </a:rPr>
                            </m:ctrlPr>
                          </m:sSubPr>
                          <m:e>
                            <m:r>
                              <a:rPr lang="en-US" i="1">
                                <a:solidFill>
                                  <a:srgbClr val="000000"/>
                                </a:solidFill>
                                <a:latin typeface="Cambria Math" panose="02040503050406030204" pitchFamily="18" charset="0"/>
                                <a:cs typeface="Calibri" panose="020F0502020204030204" pitchFamily="34" charset="0"/>
                              </a:rPr>
                              <m:t>𝑃</m:t>
                            </m:r>
                          </m:e>
                          <m:sub>
                            <m:r>
                              <a:rPr lang="en-US" i="1">
                                <a:solidFill>
                                  <a:srgbClr val="000000"/>
                                </a:solidFill>
                                <a:latin typeface="Cambria Math" panose="02040503050406030204" pitchFamily="18" charset="0"/>
                                <a:cs typeface="Calibri" panose="020F0502020204030204" pitchFamily="34" charset="0"/>
                              </a:rPr>
                              <m:t>𝑡</m:t>
                            </m:r>
                          </m:sub>
                        </m:sSub>
                        <m:r>
                          <a:rPr lang="en-US" i="1">
                            <a:solidFill>
                              <a:srgbClr val="000000"/>
                            </a:solidFill>
                            <a:latin typeface="Cambria Math" panose="02040503050406030204" pitchFamily="18" charset="0"/>
                            <a:cs typeface="Calibri" panose="020F0502020204030204" pitchFamily="34" charset="0"/>
                          </a:rPr>
                          <m:t>𝐺𝐴</m:t>
                        </m:r>
                      </m:num>
                      <m:den>
                        <m:r>
                          <a:rPr lang="en-US" i="1">
                            <a:solidFill>
                              <a:srgbClr val="000000"/>
                            </a:solidFill>
                            <a:latin typeface="Cambria Math" panose="02040503050406030204" pitchFamily="18" charset="0"/>
                            <a:cs typeface="Calibri" panose="020F0502020204030204" pitchFamily="34" charset="0"/>
                          </a:rPr>
                          <m:t>4</m:t>
                        </m:r>
                        <m:r>
                          <a:rPr lang="en-US" i="1">
                            <a:solidFill>
                              <a:srgbClr val="000000"/>
                            </a:solidFill>
                            <a:latin typeface="Cambria Math" panose="02040503050406030204" pitchFamily="18" charset="0"/>
                            <a:ea typeface="Cambria Math" panose="02040503050406030204" pitchFamily="18" charset="0"/>
                            <a:cs typeface="Calibri" panose="020F0502020204030204" pitchFamily="34" charset="0"/>
                          </a:rPr>
                          <m:t>𝜋</m:t>
                        </m:r>
                        <m:sSup>
                          <m:sSupPr>
                            <m:ctrlPr>
                              <a:rPr lang="en-US" i="1">
                                <a:solidFill>
                                  <a:srgbClr val="000000"/>
                                </a:solidFill>
                                <a:latin typeface="Cambria Math" panose="02040503050406030204" pitchFamily="18" charset="0"/>
                                <a:ea typeface="Cambria Math" panose="02040503050406030204" pitchFamily="18" charset="0"/>
                                <a:cs typeface="Calibri" panose="020F0502020204030204" pitchFamily="34" charset="0"/>
                              </a:rPr>
                            </m:ctrlPr>
                          </m:sSupPr>
                          <m:e>
                            <m:r>
                              <a:rPr lang="en-US" i="1">
                                <a:solidFill>
                                  <a:srgbClr val="000000"/>
                                </a:solidFill>
                                <a:latin typeface="Cambria Math" panose="02040503050406030204" pitchFamily="18" charset="0"/>
                                <a:ea typeface="Cambria Math" panose="02040503050406030204" pitchFamily="18" charset="0"/>
                                <a:cs typeface="Calibri" panose="020F0502020204030204" pitchFamily="34" charset="0"/>
                              </a:rPr>
                              <m:t>𝑟</m:t>
                            </m:r>
                          </m:e>
                          <m:sup>
                            <m:r>
                              <a:rPr lang="en-US" i="1">
                                <a:solidFill>
                                  <a:srgbClr val="000000"/>
                                </a:solidFill>
                                <a:latin typeface="Cambria Math" panose="02040503050406030204" pitchFamily="18" charset="0"/>
                                <a:ea typeface="Cambria Math" panose="02040503050406030204" pitchFamily="18" charset="0"/>
                                <a:cs typeface="Calibri" panose="020F0502020204030204" pitchFamily="34" charset="0"/>
                              </a:rPr>
                              <m:t>2</m:t>
                            </m:r>
                          </m:sup>
                        </m:sSup>
                      </m:den>
                    </m:f>
                    <m:r>
                      <a:rPr lang="en-US" i="1">
                        <a:solidFill>
                          <a:srgbClr val="000000"/>
                        </a:solidFill>
                        <a:latin typeface="Cambria Math" panose="02040503050406030204" pitchFamily="18" charset="0"/>
                        <a:ea typeface="Cambria Math" panose="02040503050406030204" pitchFamily="18" charset="0"/>
                        <a:cs typeface="Calibri" panose="020F0502020204030204" pitchFamily="34" charset="0"/>
                      </a:rPr>
                      <m:t> </m:t>
                    </m:r>
                  </m:oMath>
                </a14:m>
                <a:r>
                  <a:rPr lang="en-US" i="1"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a:t>
                </a:r>
                <a14:m>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cs typeface="Calibri" panose="020F0502020204030204" pitchFamily="34" charset="0"/>
                      </a:rPr>
                      <m:t>𝜆</m:t>
                    </m:r>
                    <m:r>
                      <a:rPr lang="en-US"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rPr>
                      <m:t>=</m:t>
                    </m:r>
                    <m:f>
                      <m:fPr>
                        <m:ctrlPr>
                          <a:rPr lang="en-US"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rPr>
                        </m:ctrlPr>
                      </m:fPr>
                      <m:num>
                        <m:r>
                          <a:rPr lang="en-US"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rPr>
                          <m:t>𝑐</m:t>
                        </m:r>
                      </m:num>
                      <m:den>
                        <m:r>
                          <a:rPr lang="en-US"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rPr>
                          <m:t>𝑓</m:t>
                        </m:r>
                      </m:den>
                    </m:f>
                  </m:oMath>
                </a14:m>
                <a:r>
                  <a:rPr lang="en-US" i="1"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a:t>
                </a:r>
                <a:r>
                  <a:rPr lang="en-US" dirty="0">
                    <a:solidFill>
                      <a:srgbClr val="000000"/>
                    </a:solidFill>
                    <a:ea typeface="Cambria Math" panose="02040503050406030204" pitchFamily="18" charset="0"/>
                    <a:cs typeface="Calibri" panose="020F0502020204030204" pitchFamily="34" charset="0"/>
                  </a:rPr>
                  <a:t>and </a:t>
                </a:r>
                <a14:m>
                  <m:oMath xmlns:m="http://schemas.openxmlformats.org/officeDocument/2006/math">
                    <m:f>
                      <m:fPr>
                        <m:ctrlPr>
                          <a:rPr lang="en-US" b="0"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𝐺</m:t>
                        </m:r>
                      </m:num>
                      <m:den>
                        <m:r>
                          <a:rPr lang="en-US" b="0" i="1" smtClean="0">
                            <a:solidFill>
                              <a:srgbClr val="000000"/>
                            </a:solidFill>
                            <a:latin typeface="Cambria Math" panose="02040503050406030204" pitchFamily="18" charset="0"/>
                          </a:rPr>
                          <m:t>𝐴</m:t>
                        </m:r>
                      </m:den>
                    </m:f>
                    <m:r>
                      <a:rPr lang="en-US">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4</m:t>
                        </m:r>
                        <m:r>
                          <a:rPr lang="en-US" i="1">
                            <a:solidFill>
                              <a:srgbClr val="000000"/>
                            </a:solidFill>
                            <a:latin typeface="Cambria Math" panose="02040503050406030204" pitchFamily="18" charset="0"/>
                            <a:ea typeface="Cambria Math" panose="02040503050406030204" pitchFamily="18" charset="0"/>
                          </a:rPr>
                          <m:t>𝜋</m:t>
                        </m:r>
                      </m:num>
                      <m:den>
                        <m:sSup>
                          <m:sSupPr>
                            <m:ctrlPr>
                              <a:rPr lang="en-US" i="1">
                                <a:solidFill>
                                  <a:srgbClr val="000000"/>
                                </a:solidFill>
                                <a:latin typeface="Cambria Math" panose="02040503050406030204" pitchFamily="18" charset="0"/>
                                <a:ea typeface="Cambria Math" panose="02040503050406030204" pitchFamily="18" charset="0"/>
                              </a:rPr>
                            </m:ctrlPr>
                          </m:sSupPr>
                          <m:e>
                            <m:r>
                              <a:rPr lang="en-US" i="1">
                                <a:solidFill>
                                  <a:srgbClr val="000000"/>
                                </a:solidFill>
                                <a:latin typeface="Cambria Math" panose="02040503050406030204" pitchFamily="18" charset="0"/>
                                <a:ea typeface="Cambria Math" panose="02040503050406030204" pitchFamily="18" charset="0"/>
                              </a:rPr>
                              <m:t>𝜆</m:t>
                            </m:r>
                          </m:e>
                          <m:sup>
                            <m:r>
                              <a:rPr lang="en-US" i="1">
                                <a:solidFill>
                                  <a:srgbClr val="000000"/>
                                </a:solidFill>
                                <a:latin typeface="Cambria Math" panose="02040503050406030204" pitchFamily="18" charset="0"/>
                              </a:rPr>
                              <m:t>2</m:t>
                            </m:r>
                          </m:sup>
                        </m:sSup>
                      </m:den>
                    </m:f>
                  </m:oMath>
                </a14:m>
                <a:r>
                  <a:rPr lang="en-US" dirty="0">
                    <a:solidFill>
                      <a:srgbClr val="000000"/>
                    </a:solidFill>
                  </a:rPr>
                  <a:t>, so </a:t>
                </a:r>
                <a14:m>
                  <m:oMath xmlns:m="http://schemas.openxmlformats.org/officeDocument/2006/math">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𝑃</m:t>
                        </m:r>
                      </m:e>
                      <m:sub>
                        <m:r>
                          <a:rPr lang="en-US" b="0" i="1" smtClean="0">
                            <a:solidFill>
                              <a:srgbClr val="000000"/>
                            </a:solidFill>
                            <a:latin typeface="Cambria Math" panose="02040503050406030204" pitchFamily="18" charset="0"/>
                          </a:rPr>
                          <m:t>𝑟</m:t>
                        </m:r>
                      </m:sub>
                    </m:sSub>
                    <m:r>
                      <a:rPr lang="en-US" b="0" i="1" smtClean="0">
                        <a:solidFill>
                          <a:srgbClr val="000000"/>
                        </a:solidFill>
                        <a:latin typeface="Cambria Math" panose="02040503050406030204" pitchFamily="18" charset="0"/>
                      </a:rPr>
                      <m:t>=</m:t>
                    </m:r>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𝑃</m:t>
                        </m:r>
                      </m:e>
                      <m:sub>
                        <m:r>
                          <a:rPr lang="en-US" b="0" i="1" smtClean="0">
                            <a:solidFill>
                              <a:srgbClr val="000000"/>
                            </a:solidFill>
                            <a:latin typeface="Cambria Math" panose="02040503050406030204" pitchFamily="18" charset="0"/>
                          </a:rPr>
                          <m:t>𝑡</m:t>
                        </m:r>
                      </m:sub>
                    </m:sSub>
                    <m:sSup>
                      <m:sSupPr>
                        <m:ctrlPr>
                          <a:rPr lang="en-US" b="0" i="1" smtClean="0">
                            <a:solidFill>
                              <a:srgbClr val="000000"/>
                            </a:solidFill>
                            <a:latin typeface="Cambria Math" panose="02040503050406030204" pitchFamily="18" charset="0"/>
                          </a:rPr>
                        </m:ctrlPr>
                      </m:sSupPr>
                      <m:e>
                        <m:r>
                          <a:rPr lang="en-US" b="0" i="1" smtClean="0">
                            <a:solidFill>
                              <a:srgbClr val="000000"/>
                            </a:solidFill>
                            <a:latin typeface="Cambria Math" panose="02040503050406030204" pitchFamily="18" charset="0"/>
                          </a:rPr>
                          <m:t>(</m:t>
                        </m:r>
                        <m:f>
                          <m:fPr>
                            <m:ctrlPr>
                              <a:rPr lang="en-US" b="0"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𝐺𝑐</m:t>
                            </m:r>
                          </m:num>
                          <m:den>
                            <m:r>
                              <a:rPr lang="en-US" b="0" i="1" smtClean="0">
                                <a:solidFill>
                                  <a:srgbClr val="000000"/>
                                </a:solidFill>
                                <a:latin typeface="Cambria Math" panose="02040503050406030204" pitchFamily="18" charset="0"/>
                              </a:rPr>
                              <m:t>4</m:t>
                            </m:r>
                            <m:r>
                              <a:rPr lang="en-US" b="0" i="1" smtClean="0">
                                <a:solidFill>
                                  <a:srgbClr val="000000"/>
                                </a:solidFill>
                                <a:latin typeface="Cambria Math" panose="02040503050406030204" pitchFamily="18" charset="0"/>
                                <a:ea typeface="Cambria Math" panose="02040503050406030204" pitchFamily="18" charset="0"/>
                              </a:rPr>
                              <m:t>𝜋</m:t>
                            </m:r>
                            <m:r>
                              <a:rPr lang="en-US" b="0" i="1" smtClean="0">
                                <a:solidFill>
                                  <a:srgbClr val="000000"/>
                                </a:solidFill>
                                <a:latin typeface="Cambria Math" panose="02040503050406030204" pitchFamily="18" charset="0"/>
                                <a:ea typeface="Cambria Math" panose="02040503050406030204" pitchFamily="18" charset="0"/>
                              </a:rPr>
                              <m:t>𝑟𝑓</m:t>
                            </m:r>
                          </m:den>
                        </m:f>
                        <m:r>
                          <a:rPr lang="en-US" b="0" i="1" smtClean="0">
                            <a:solidFill>
                              <a:srgbClr val="000000"/>
                            </a:solidFill>
                            <a:latin typeface="Cambria Math" panose="02040503050406030204" pitchFamily="18" charset="0"/>
                          </a:rPr>
                          <m:t>)</m:t>
                        </m:r>
                      </m:e>
                      <m:sup>
                        <m:r>
                          <a:rPr lang="en-US" b="0" i="1" smtClean="0">
                            <a:solidFill>
                              <a:srgbClr val="000000"/>
                            </a:solidFill>
                            <a:latin typeface="Cambria Math" panose="02040503050406030204" pitchFamily="18" charset="0"/>
                          </a:rPr>
                          <m:t>2</m:t>
                        </m:r>
                      </m:sup>
                    </m:sSup>
                  </m:oMath>
                </a14:m>
                <a:endParaRPr lang="en-US" dirty="0">
                  <a:solidFill>
                    <a:srgbClr val="000000"/>
                  </a:solidFill>
                </a:endParaRPr>
              </a:p>
              <a:p>
                <a:pPr marL="742950" lvl="1" indent="-285750" latinLnBrk="1"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𝑃</m:t>
                        </m:r>
                      </m:e>
                      <m:sub>
                        <m:r>
                          <a:rPr lang="en-US" b="0" i="1" smtClean="0">
                            <a:solidFill>
                              <a:srgbClr val="000000"/>
                            </a:solidFill>
                            <a:latin typeface="Cambria Math" panose="02040503050406030204" pitchFamily="18" charset="0"/>
                          </a:rPr>
                          <m:t>𝑟</m:t>
                        </m:r>
                      </m:sub>
                    </m:sSub>
                  </m:oMath>
                </a14:m>
                <a:r>
                  <a:rPr lang="en-US" dirty="0">
                    <a:solidFill>
                      <a:srgbClr val="000000"/>
                    </a:solidFill>
                  </a:rPr>
                  <a:t> requires  </a:t>
                </a:r>
                <a14:m>
                  <m:oMath xmlns:m="http://schemas.openxmlformats.org/officeDocument/2006/math">
                    <m:r>
                      <a:rPr lang="en-US" b="0" i="1" smtClean="0">
                        <a:solidFill>
                          <a:srgbClr val="000000"/>
                        </a:solidFill>
                        <a:latin typeface="Cambria Math" panose="02040503050406030204" pitchFamily="18" charset="0"/>
                      </a:rPr>
                      <m:t>−90</m:t>
                    </m:r>
                    <m:r>
                      <a:rPr lang="en-US" b="0" i="1" smtClean="0">
                        <a:solidFill>
                          <a:srgbClr val="000000"/>
                        </a:solidFill>
                        <a:latin typeface="Cambria Math" panose="02040503050406030204" pitchFamily="18" charset="0"/>
                      </a:rPr>
                      <m:t>𝑑𝐵𝑚</m:t>
                    </m:r>
                  </m:oMath>
                </a14:m>
                <a:r>
                  <a:rPr lang="en-US" dirty="0">
                    <a:solidFill>
                      <a:srgbClr val="000000"/>
                    </a:solidFill>
                  </a:rPr>
                  <a:t> power.  </a:t>
                </a:r>
                <a14:m>
                  <m:oMath xmlns:m="http://schemas.openxmlformats.org/officeDocument/2006/math">
                    <m:r>
                      <a:rPr lang="en-US" b="0" i="1" smtClean="0">
                        <a:solidFill>
                          <a:srgbClr val="000000"/>
                        </a:solidFill>
                        <a:latin typeface="Cambria Math" panose="02040503050406030204" pitchFamily="18" charset="0"/>
                      </a:rPr>
                      <m:t>−90=10</m:t>
                    </m:r>
                    <m:func>
                      <m:funcPr>
                        <m:ctrlPr>
                          <a:rPr lang="en-US" b="0" i="0" smtClean="0">
                            <a:solidFill>
                              <a:srgbClr val="000000"/>
                            </a:solidFill>
                            <a:latin typeface="Cambria Math" panose="02040503050406030204" pitchFamily="18" charset="0"/>
                          </a:rPr>
                        </m:ctrlPr>
                      </m:funcPr>
                      <m:fName>
                        <m:r>
                          <m:rPr>
                            <m:sty m:val="p"/>
                          </m:rPr>
                          <a:rPr lang="en-US" b="0" i="0" smtClean="0">
                            <a:solidFill>
                              <a:srgbClr val="000000"/>
                            </a:solidFill>
                            <a:latin typeface="Cambria Math" panose="02040503050406030204" pitchFamily="18" charset="0"/>
                          </a:rPr>
                          <m:t>log</m:t>
                        </m:r>
                      </m:fName>
                      <m:e>
                        <m:d>
                          <m:dPr>
                            <m:ctrlPr>
                              <a:rPr lang="en-US" b="0" i="1" smtClean="0">
                                <a:solidFill>
                                  <a:srgbClr val="000000"/>
                                </a:solidFill>
                                <a:latin typeface="Cambria Math" panose="02040503050406030204" pitchFamily="18" charset="0"/>
                              </a:rPr>
                            </m:ctrlPr>
                          </m:dPr>
                          <m:e>
                            <m:f>
                              <m:fPr>
                                <m:ctrlPr>
                                  <a:rPr lang="en-US" b="0" i="1" smtClean="0">
                                    <a:solidFill>
                                      <a:srgbClr val="000000"/>
                                    </a:solidFill>
                                    <a:latin typeface="Cambria Math" panose="02040503050406030204" pitchFamily="18" charset="0"/>
                                  </a:rPr>
                                </m:ctrlPr>
                              </m:fPr>
                              <m:num>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𝑃</m:t>
                                    </m:r>
                                  </m:e>
                                  <m:sub>
                                    <m:r>
                                      <a:rPr lang="en-US" b="0" i="1" smtClean="0">
                                        <a:solidFill>
                                          <a:srgbClr val="000000"/>
                                        </a:solidFill>
                                        <a:latin typeface="Cambria Math" panose="02040503050406030204" pitchFamily="18" charset="0"/>
                                      </a:rPr>
                                      <m:t>𝑟</m:t>
                                    </m:r>
                                  </m:sub>
                                </m:sSub>
                              </m:num>
                              <m:den>
                                <m:r>
                                  <a:rPr lang="en-US" b="0" i="1" smtClean="0">
                                    <a:solidFill>
                                      <a:srgbClr val="000000"/>
                                    </a:solidFill>
                                    <a:latin typeface="Cambria Math" panose="02040503050406030204" pitchFamily="18" charset="0"/>
                                  </a:rPr>
                                  <m:t>1</m:t>
                                </m:r>
                                <m:r>
                                  <a:rPr lang="en-US" b="0" i="1" smtClean="0">
                                    <a:solidFill>
                                      <a:srgbClr val="000000"/>
                                    </a:solidFill>
                                    <a:latin typeface="Cambria Math" panose="02040503050406030204" pitchFamily="18" charset="0"/>
                                  </a:rPr>
                                  <m:t>𝑚𝑊</m:t>
                                </m:r>
                              </m:den>
                            </m:f>
                          </m:e>
                        </m:d>
                      </m:e>
                    </m:func>
                  </m:oMath>
                </a14:m>
                <a:r>
                  <a:rPr lang="en-US" dirty="0">
                    <a:solidFill>
                      <a:srgbClr val="000000"/>
                    </a:solidFill>
                  </a:rPr>
                  <a:t>, so </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𝑟</m:t>
                        </m:r>
                      </m:sub>
                    </m:sSub>
                  </m:oMath>
                </a14:m>
                <a:r>
                  <a:rPr lang="en-US" dirty="0">
                    <a:solidFill>
                      <a:srgbClr val="000000"/>
                    </a:solidFill>
                  </a:rPr>
                  <a:t> must be at least </a:t>
                </a:r>
                <a14:m>
                  <m:oMath xmlns:m="http://schemas.openxmlformats.org/officeDocument/2006/math">
                    <m:sSup>
                      <m:sSupPr>
                        <m:ctrlPr>
                          <a:rPr lang="en-US" b="0" i="1" smtClean="0">
                            <a:solidFill>
                              <a:srgbClr val="000000"/>
                            </a:solidFill>
                            <a:latin typeface="Cambria Math" panose="02040503050406030204" pitchFamily="18" charset="0"/>
                          </a:rPr>
                        </m:ctrlPr>
                      </m:sSupPr>
                      <m:e>
                        <m:r>
                          <a:rPr lang="en-US" b="0" i="1" smtClean="0">
                            <a:solidFill>
                              <a:srgbClr val="000000"/>
                            </a:solidFill>
                            <a:latin typeface="Cambria Math" panose="02040503050406030204" pitchFamily="18" charset="0"/>
                          </a:rPr>
                          <m:t>10</m:t>
                        </m:r>
                      </m:e>
                      <m:sup>
                        <m:r>
                          <a:rPr lang="en-US" b="0" i="1" smtClean="0">
                            <a:solidFill>
                              <a:srgbClr val="000000"/>
                            </a:solidFill>
                            <a:latin typeface="Cambria Math" panose="02040503050406030204" pitchFamily="18" charset="0"/>
                          </a:rPr>
                          <m:t>−12</m:t>
                        </m:r>
                      </m:sup>
                    </m:sSup>
                    <m:r>
                      <a:rPr lang="en-US" b="0" i="1" smtClean="0">
                        <a:solidFill>
                          <a:srgbClr val="000000"/>
                        </a:solidFill>
                        <a:latin typeface="Cambria Math" panose="02040503050406030204" pitchFamily="18" charset="0"/>
                      </a:rPr>
                      <m:t> </m:t>
                    </m:r>
                    <m:r>
                      <a:rPr lang="en-US" b="0" i="1" smtClean="0">
                        <a:solidFill>
                          <a:srgbClr val="000000"/>
                        </a:solidFill>
                        <a:latin typeface="Cambria Math" panose="02040503050406030204" pitchFamily="18" charset="0"/>
                      </a:rPr>
                      <m:t>𝑊</m:t>
                    </m:r>
                  </m:oMath>
                </a14:m>
                <a:r>
                  <a:rPr lang="en-US" dirty="0">
                    <a:solidFill>
                      <a:srgbClr val="000000"/>
                    </a:solidFill>
                  </a:rPr>
                  <a:t>.</a:t>
                </a:r>
              </a:p>
              <a:p>
                <a:pPr marL="742950" lvl="1" indent="-285750"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𝑃</m:t>
                        </m:r>
                      </m:e>
                      <m:sub>
                        <m:r>
                          <a:rPr lang="en-US" b="0" i="1" smtClean="0">
                            <a:solidFill>
                              <a:srgbClr val="000000"/>
                            </a:solidFill>
                            <a:latin typeface="Cambria Math" panose="02040503050406030204" pitchFamily="18" charset="0"/>
                          </a:rPr>
                          <m:t>𝑡</m:t>
                        </m:r>
                      </m:sub>
                    </m:sSub>
                    <m:d>
                      <m:dPr>
                        <m:ctrlPr>
                          <a:rPr lang="en-US" b="0" i="1" smtClean="0">
                            <a:solidFill>
                              <a:srgbClr val="000000"/>
                            </a:solidFill>
                            <a:latin typeface="Cambria Math" panose="02040503050406030204" pitchFamily="18" charset="0"/>
                          </a:rPr>
                        </m:ctrlPr>
                      </m:dPr>
                      <m:e>
                        <m:r>
                          <a:rPr lang="en-US" b="0" i="1" smtClean="0">
                            <a:solidFill>
                              <a:srgbClr val="000000"/>
                            </a:solidFill>
                            <a:latin typeface="Cambria Math" panose="02040503050406030204" pitchFamily="18" charset="0"/>
                          </a:rPr>
                          <m:t>𝑓</m:t>
                        </m:r>
                      </m:e>
                    </m:d>
                    <m:r>
                      <a:rPr lang="en-US" b="0" i="1" smtClean="0">
                        <a:solidFill>
                          <a:srgbClr val="000000"/>
                        </a:solidFill>
                        <a:latin typeface="Cambria Math" panose="02040503050406030204" pitchFamily="18" charset="0"/>
                      </a:rPr>
                      <m:t>= </m:t>
                    </m:r>
                    <m:sSup>
                      <m:sSupPr>
                        <m:ctrlPr>
                          <a:rPr lang="en-US" b="0" i="1" smtClean="0">
                            <a:solidFill>
                              <a:srgbClr val="000000"/>
                            </a:solidFill>
                            <a:latin typeface="Cambria Math" panose="02040503050406030204" pitchFamily="18" charset="0"/>
                          </a:rPr>
                        </m:ctrlPr>
                      </m:sSupPr>
                      <m:e>
                        <m:r>
                          <a:rPr lang="en-US" b="0" i="1" smtClean="0">
                            <a:solidFill>
                              <a:srgbClr val="000000"/>
                            </a:solidFill>
                            <a:latin typeface="Cambria Math" panose="02040503050406030204" pitchFamily="18" charset="0"/>
                          </a:rPr>
                          <m:t>(</m:t>
                        </m:r>
                        <m:f>
                          <m:fPr>
                            <m:ctrlPr>
                              <a:rPr lang="en-US" b="0"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4</m:t>
                            </m:r>
                            <m:r>
                              <a:rPr lang="en-US" b="0" i="1" smtClean="0">
                                <a:solidFill>
                                  <a:srgbClr val="000000"/>
                                </a:solidFill>
                                <a:latin typeface="Cambria Math" panose="02040503050406030204" pitchFamily="18" charset="0"/>
                                <a:ea typeface="Cambria Math" panose="02040503050406030204" pitchFamily="18" charset="0"/>
                              </a:rPr>
                              <m:t>𝜋</m:t>
                            </m:r>
                            <m:r>
                              <a:rPr lang="en-US" b="0" i="1" smtClean="0">
                                <a:solidFill>
                                  <a:srgbClr val="000000"/>
                                </a:solidFill>
                                <a:latin typeface="Cambria Math" panose="02040503050406030204" pitchFamily="18" charset="0"/>
                                <a:ea typeface="Cambria Math" panose="02040503050406030204" pitchFamily="18" charset="0"/>
                              </a:rPr>
                              <m:t>𝑟𝑓</m:t>
                            </m:r>
                          </m:num>
                          <m:den>
                            <m:r>
                              <a:rPr lang="en-US" b="0" i="1" smtClean="0">
                                <a:solidFill>
                                  <a:srgbClr val="000000"/>
                                </a:solidFill>
                                <a:latin typeface="Cambria Math" panose="02040503050406030204" pitchFamily="18" charset="0"/>
                              </a:rPr>
                              <m:t>𝐺𝑐</m:t>
                            </m:r>
                          </m:den>
                        </m:f>
                        <m:r>
                          <a:rPr lang="en-US" b="0" i="1" smtClean="0">
                            <a:solidFill>
                              <a:srgbClr val="000000"/>
                            </a:solidFill>
                            <a:latin typeface="Cambria Math" panose="02040503050406030204" pitchFamily="18" charset="0"/>
                          </a:rPr>
                          <m:t>)</m:t>
                        </m:r>
                      </m:e>
                      <m:sup>
                        <m:r>
                          <a:rPr lang="en-US" b="0" i="1" smtClean="0">
                            <a:solidFill>
                              <a:srgbClr val="000000"/>
                            </a:solidFill>
                            <a:latin typeface="Cambria Math" panose="02040503050406030204" pitchFamily="18" charset="0"/>
                          </a:rPr>
                          <m:t>2</m:t>
                        </m:r>
                      </m:sup>
                    </m:sSup>
                    <m:r>
                      <a:rPr lang="en-US" b="0" i="1" smtClean="0">
                        <a:solidFill>
                          <a:srgbClr val="000000"/>
                        </a:solidFill>
                        <a:latin typeface="Cambria Math" panose="02040503050406030204" pitchFamily="18" charset="0"/>
                        <a:ea typeface="Cambria Math" panose="02040503050406030204" pitchFamily="18" charset="0"/>
                      </a:rPr>
                      <m:t>×</m:t>
                    </m:r>
                    <m:sSup>
                      <m:sSupPr>
                        <m:ctrlPr>
                          <a:rPr lang="en-US" b="0" i="1" smtClean="0">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10</m:t>
                        </m:r>
                      </m:e>
                      <m:sup>
                        <m:r>
                          <a:rPr lang="en-US" b="0" i="1" smtClean="0">
                            <a:solidFill>
                              <a:srgbClr val="000000"/>
                            </a:solidFill>
                            <a:latin typeface="Cambria Math" panose="02040503050406030204" pitchFamily="18" charset="0"/>
                            <a:ea typeface="Cambria Math" panose="02040503050406030204" pitchFamily="18" charset="0"/>
                          </a:rPr>
                          <m:t>−12</m:t>
                        </m:r>
                      </m:sup>
                    </m:sSup>
                    <m:r>
                      <a:rPr lang="en-US" b="0" i="1" smtClean="0">
                        <a:solidFill>
                          <a:srgbClr val="000000"/>
                        </a:solidFill>
                        <a:latin typeface="Cambria Math" panose="02040503050406030204" pitchFamily="18" charset="0"/>
                        <a:ea typeface="Cambria Math" panose="02040503050406030204" pitchFamily="18" charset="0"/>
                      </a:rPr>
                      <m:t>𝑊</m:t>
                    </m:r>
                  </m:oMath>
                </a14:m>
                <a:r>
                  <a:rPr lang="en-US" dirty="0">
                    <a:solidFill>
                      <a:srgbClr val="000000"/>
                    </a:solidFill>
                  </a:rPr>
                  <a:t>.  </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𝑡</m:t>
                        </m:r>
                      </m:sub>
                    </m:sSub>
                    <m:d>
                      <m:dPr>
                        <m:ctrlPr>
                          <a:rPr lang="en-US" i="1" smtClean="0">
                            <a:solidFill>
                              <a:srgbClr val="000000"/>
                            </a:solidFill>
                            <a:latin typeface="Cambria Math" panose="02040503050406030204" pitchFamily="18" charset="0"/>
                          </a:rPr>
                        </m:ctrlPr>
                      </m:dPr>
                      <m:e>
                        <m:sSup>
                          <m:sSupPr>
                            <m:ctrlPr>
                              <a:rPr lang="en-US" b="0" i="1" smtClean="0">
                                <a:solidFill>
                                  <a:srgbClr val="000000"/>
                                </a:solidFill>
                                <a:latin typeface="Cambria Math" panose="02040503050406030204" pitchFamily="18" charset="0"/>
                              </a:rPr>
                            </m:ctrlPr>
                          </m:sSupPr>
                          <m:e>
                            <m:r>
                              <a:rPr lang="en-US" b="0" i="1" smtClean="0">
                                <a:solidFill>
                                  <a:srgbClr val="000000"/>
                                </a:solidFill>
                                <a:latin typeface="Cambria Math" panose="02040503050406030204" pitchFamily="18" charset="0"/>
                              </a:rPr>
                              <m:t>10</m:t>
                            </m:r>
                          </m:e>
                          <m:sup>
                            <m:r>
                              <a:rPr lang="en-US" b="0" i="1" smtClean="0">
                                <a:solidFill>
                                  <a:srgbClr val="000000"/>
                                </a:solidFill>
                                <a:latin typeface="Cambria Math" panose="02040503050406030204" pitchFamily="18" charset="0"/>
                              </a:rPr>
                              <m:t>8</m:t>
                            </m:r>
                          </m:sup>
                        </m:sSup>
                      </m:e>
                    </m:d>
                    <m:r>
                      <a:rPr lang="en-US" i="1">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4.4</m:t>
                    </m:r>
                    <m:r>
                      <a:rPr lang="en-US" b="0" i="1" smtClean="0">
                        <a:solidFill>
                          <a:srgbClr val="000000"/>
                        </a:solidFill>
                        <a:latin typeface="Cambria Math" panose="02040503050406030204" pitchFamily="18" charset="0"/>
                      </a:rPr>
                      <m:t>𝑚𝑊</m:t>
                    </m:r>
                  </m:oMath>
                </a14:m>
                <a:r>
                  <a:rPr lang="en-US" dirty="0">
                    <a:solidFill>
                      <a:srgbClr val="000000"/>
                    </a:solidFill>
                  </a:rPr>
                  <a:t>, </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𝑡</m:t>
                        </m:r>
                      </m:sub>
                    </m:sSub>
                    <m:d>
                      <m:dPr>
                        <m:ctrlPr>
                          <a:rPr lang="en-US" i="1">
                            <a:solidFill>
                              <a:srgbClr val="000000"/>
                            </a:solidFill>
                            <a:latin typeface="Cambria Math" panose="02040503050406030204" pitchFamily="18" charset="0"/>
                          </a:rPr>
                        </m:ctrlPr>
                      </m:dPr>
                      <m:e>
                        <m:sSup>
                          <m:sSupPr>
                            <m:ctrlPr>
                              <a:rPr lang="en-US" b="0" i="1" smtClean="0">
                                <a:solidFill>
                                  <a:srgbClr val="000000"/>
                                </a:solidFill>
                                <a:latin typeface="Cambria Math" panose="02040503050406030204" pitchFamily="18" charset="0"/>
                              </a:rPr>
                            </m:ctrlPr>
                          </m:sSupPr>
                          <m:e>
                            <m:r>
                              <a:rPr lang="en-US" b="0" i="1" smtClean="0">
                                <a:solidFill>
                                  <a:srgbClr val="000000"/>
                                </a:solidFill>
                                <a:latin typeface="Cambria Math" panose="02040503050406030204" pitchFamily="18" charset="0"/>
                              </a:rPr>
                              <m:t>2</m:t>
                            </m:r>
                            <m:r>
                              <a:rPr lang="en-US" b="0" i="1" smtClean="0">
                                <a:solidFill>
                                  <a:srgbClr val="000000"/>
                                </a:solidFill>
                                <a:latin typeface="Cambria Math" panose="02040503050406030204" pitchFamily="18" charset="0"/>
                                <a:ea typeface="Cambria Math" panose="02040503050406030204" pitchFamily="18" charset="0"/>
                              </a:rPr>
                              <m:t>×</m:t>
                            </m:r>
                            <m:r>
                              <a:rPr lang="en-US" i="1">
                                <a:solidFill>
                                  <a:srgbClr val="000000"/>
                                </a:solidFill>
                                <a:latin typeface="Cambria Math" panose="02040503050406030204" pitchFamily="18" charset="0"/>
                              </a:rPr>
                              <m:t>10</m:t>
                            </m:r>
                          </m:e>
                          <m:sup>
                            <m:r>
                              <a:rPr lang="en-US" i="1">
                                <a:solidFill>
                                  <a:srgbClr val="000000"/>
                                </a:solidFill>
                                <a:latin typeface="Cambria Math" panose="02040503050406030204" pitchFamily="18" charset="0"/>
                              </a:rPr>
                              <m:t>8</m:t>
                            </m:r>
                          </m:sup>
                        </m:sSup>
                      </m:e>
                    </m:d>
                    <m:r>
                      <a:rPr lang="en-US" i="1">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19.24</m:t>
                    </m:r>
                    <m:r>
                      <a:rPr lang="en-US" b="0" i="1" smtClean="0">
                        <a:solidFill>
                          <a:srgbClr val="000000"/>
                        </a:solidFill>
                        <a:latin typeface="Cambria Math" panose="02040503050406030204" pitchFamily="18" charset="0"/>
                      </a:rPr>
                      <m:t>𝑚𝑊</m:t>
                    </m:r>
                  </m:oMath>
                </a14:m>
                <a:r>
                  <a:rPr lang="en-US" dirty="0">
                    <a:solidFill>
                      <a:srgbClr val="000000"/>
                    </a:solidFill>
                  </a:rPr>
                  <a:t>, </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𝑡</m:t>
                        </m:r>
                      </m:sub>
                    </m:sSub>
                    <m:d>
                      <m:dPr>
                        <m:ctrlPr>
                          <a:rPr lang="en-US" b="0" i="1" smtClean="0">
                            <a:solidFill>
                              <a:srgbClr val="000000"/>
                            </a:solidFill>
                            <a:latin typeface="Cambria Math" panose="02040503050406030204" pitchFamily="18" charset="0"/>
                          </a:rPr>
                        </m:ctrlPr>
                      </m:dPr>
                      <m:e>
                        <m:r>
                          <a:rPr lang="en-US" b="0" i="1" smtClean="0">
                            <a:solidFill>
                              <a:srgbClr val="000000"/>
                            </a:solidFill>
                            <a:latin typeface="Cambria Math" panose="02040503050406030204" pitchFamily="18" charset="0"/>
                          </a:rPr>
                          <m:t>3</m:t>
                        </m:r>
                        <m:r>
                          <a:rPr lang="en-US" b="0" i="1" smtClean="0">
                            <a:solidFill>
                              <a:srgbClr val="000000"/>
                            </a:solidFill>
                            <a:latin typeface="Cambria Math" panose="02040503050406030204" pitchFamily="18" charset="0"/>
                            <a:ea typeface="Cambria Math" panose="02040503050406030204" pitchFamily="18" charset="0"/>
                          </a:rPr>
                          <m:t>×</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10</m:t>
                            </m:r>
                          </m:e>
                          <m:sup>
                            <m:r>
                              <a:rPr lang="en-US" i="1">
                                <a:solidFill>
                                  <a:srgbClr val="000000"/>
                                </a:solidFill>
                                <a:latin typeface="Cambria Math" panose="02040503050406030204" pitchFamily="18" charset="0"/>
                              </a:rPr>
                              <m:t>8</m:t>
                            </m:r>
                          </m:sup>
                        </m:sSup>
                      </m:e>
                    </m:d>
                    <m:r>
                      <a:rPr lang="en-US" i="1">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40</m:t>
                    </m:r>
                    <m:r>
                      <a:rPr lang="en-US" b="0" i="1" smtClean="0">
                        <a:solidFill>
                          <a:srgbClr val="000000"/>
                        </a:solidFill>
                        <a:latin typeface="Cambria Math" panose="02040503050406030204" pitchFamily="18" charset="0"/>
                      </a:rPr>
                      <m:t>𝑚𝑊</m:t>
                    </m:r>
                  </m:oMath>
                </a14:m>
                <a:r>
                  <a:rPr lang="en-US" dirty="0">
                    <a:solidFill>
                      <a:srgbClr val="000000"/>
                    </a:solidFill>
                  </a:rPr>
                  <a:t> and </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𝑡</m:t>
                        </m:r>
                      </m:sub>
                    </m:sSub>
                    <m:d>
                      <m:dPr>
                        <m:ctrlPr>
                          <a:rPr lang="en-US" i="1">
                            <a:solidFill>
                              <a:srgbClr val="000000"/>
                            </a:solidFill>
                            <a:latin typeface="Cambria Math" panose="02040503050406030204" pitchFamily="18" charset="0"/>
                          </a:rPr>
                        </m:ctrlPr>
                      </m:dPr>
                      <m:e>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10</m:t>
                            </m:r>
                          </m:e>
                          <m:sup>
                            <m:r>
                              <a:rPr lang="en-US" b="0" i="1" smtClean="0">
                                <a:solidFill>
                                  <a:srgbClr val="000000"/>
                                </a:solidFill>
                                <a:latin typeface="Cambria Math" panose="02040503050406030204" pitchFamily="18" charset="0"/>
                              </a:rPr>
                              <m:t>9</m:t>
                            </m:r>
                          </m:sup>
                        </m:sSup>
                      </m:e>
                    </m:d>
                    <m:r>
                      <a:rPr lang="en-US" i="1">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440</m:t>
                    </m:r>
                    <m:r>
                      <a:rPr lang="en-US" b="0" i="1" smtClean="0">
                        <a:solidFill>
                          <a:srgbClr val="000000"/>
                        </a:solidFill>
                        <a:latin typeface="Cambria Math" panose="02040503050406030204" pitchFamily="18" charset="0"/>
                      </a:rPr>
                      <m:t>𝑚𝑊</m:t>
                    </m:r>
                    <m:r>
                      <a:rPr lang="en-US" b="0" i="1" smtClean="0">
                        <a:solidFill>
                          <a:srgbClr val="000000"/>
                        </a:solidFill>
                        <a:latin typeface="Cambria Math" panose="02040503050406030204" pitchFamily="18" charset="0"/>
                      </a:rPr>
                      <m:t>.</m:t>
                    </m:r>
                  </m:oMath>
                </a14:m>
                <a:r>
                  <a:rPr lang="en-US" dirty="0">
                    <a:solidFill>
                      <a:srgbClr val="000000"/>
                    </a:solidFill>
                  </a:rPr>
                  <a:t> </a:t>
                </a:r>
                <a:endParaRPr lang="en-US" dirty="0">
                  <a:solidFill>
                    <a:srgbClr val="000000"/>
                  </a:solidFill>
                  <a:sym typeface="Calibri"/>
                </a:endParaRPr>
              </a:p>
              <a:p>
                <a:pPr marL="457200" indent="-457200" hangingPunct="0">
                  <a:buFont typeface="+mj-lt"/>
                  <a:buAutoNum type="arabicPeriod"/>
                </a:pPr>
                <a:r>
                  <a:rPr lang="en-US" dirty="0">
                    <a:solidFill>
                      <a:srgbClr val="000000"/>
                    </a:solidFill>
                    <a:sym typeface="Calibri"/>
                  </a:rPr>
                  <a:t>Find the inductance to resonate with a 3m whip.  Assuming the Q of the coil is 200, find the turns ratio required to give a transceiver a 50 ohm load.  What is the radiation efficiency?</a:t>
                </a:r>
              </a:p>
              <a:p>
                <a:pPr marL="914400" lvl="1" indent="-457200" hangingPunct="0">
                  <a:buFont typeface="Arial" panose="020B0604020202020204" pitchFamily="34" charset="0"/>
                  <a:buChar char="•"/>
                </a:pPr>
                <a:r>
                  <a:rPr lang="en-US" dirty="0">
                    <a:solidFill>
                      <a:srgbClr val="000000"/>
                    </a:solidFill>
                    <a:sym typeface="Calibri"/>
                  </a:rPr>
                  <a:t>For whip, </a:t>
                </a:r>
                <a14:m>
                  <m:oMath xmlns:m="http://schemas.openxmlformats.org/officeDocument/2006/math">
                    <m:sSub>
                      <m:sSubPr>
                        <m:ctrlPr>
                          <a:rPr lang="en-US" b="0" i="1" smtClean="0">
                            <a:solidFill>
                              <a:srgbClr val="000000"/>
                            </a:solidFill>
                            <a:latin typeface="Cambria Math" panose="02040503050406030204" pitchFamily="18" charset="0"/>
                            <a:sym typeface="Calibri"/>
                          </a:rPr>
                        </m:ctrlPr>
                      </m:sSubPr>
                      <m:e>
                        <m:r>
                          <a:rPr lang="en-US" b="0" i="1" smtClean="0">
                            <a:solidFill>
                              <a:srgbClr val="000000"/>
                            </a:solidFill>
                            <a:latin typeface="Cambria Math" panose="02040503050406030204" pitchFamily="18" charset="0"/>
                            <a:sym typeface="Calibri"/>
                          </a:rPr>
                          <m:t>𝑅</m:t>
                        </m:r>
                      </m:e>
                      <m:sub>
                        <m:r>
                          <a:rPr lang="en-US" b="0" i="1" smtClean="0">
                            <a:solidFill>
                              <a:srgbClr val="000000"/>
                            </a:solidFill>
                            <a:latin typeface="Cambria Math" panose="02040503050406030204" pitchFamily="18" charset="0"/>
                            <a:sym typeface="Calibri"/>
                          </a:rPr>
                          <m:t>𝑟</m:t>
                        </m:r>
                      </m:sub>
                    </m:sSub>
                    <m:r>
                      <a:rPr lang="en-US" b="0" i="1" smtClean="0">
                        <a:solidFill>
                          <a:srgbClr val="000000"/>
                        </a:solidFill>
                        <a:latin typeface="Cambria Math" panose="02040503050406030204" pitchFamily="18" charset="0"/>
                        <a:sym typeface="Calibri"/>
                      </a:rPr>
                      <m:t>=160</m:t>
                    </m:r>
                    <m:sSup>
                      <m:sSupPr>
                        <m:ctrlPr>
                          <a:rPr lang="en-US" b="0" i="1" smtClean="0">
                            <a:solidFill>
                              <a:srgbClr val="000000"/>
                            </a:solidFill>
                            <a:latin typeface="Cambria Math" panose="02040503050406030204" pitchFamily="18" charset="0"/>
                            <a:ea typeface="Cambria Math" panose="02040503050406030204" pitchFamily="18" charset="0"/>
                            <a:sym typeface="Calibri"/>
                          </a:rPr>
                        </m:ctrlPr>
                      </m:sSupPr>
                      <m:e>
                        <m:r>
                          <a:rPr lang="en-US" b="0" i="1" smtClean="0">
                            <a:solidFill>
                              <a:srgbClr val="000000"/>
                            </a:solidFill>
                            <a:latin typeface="Cambria Math" panose="02040503050406030204" pitchFamily="18" charset="0"/>
                            <a:ea typeface="Cambria Math" panose="02040503050406030204" pitchFamily="18" charset="0"/>
                            <a:sym typeface="Calibri"/>
                          </a:rPr>
                          <m:t>𝜋</m:t>
                        </m:r>
                      </m:e>
                      <m:sup>
                        <m:r>
                          <a:rPr lang="en-US" b="0" i="1" smtClean="0">
                            <a:solidFill>
                              <a:srgbClr val="000000"/>
                            </a:solidFill>
                            <a:latin typeface="Cambria Math" panose="02040503050406030204" pitchFamily="18" charset="0"/>
                            <a:sym typeface="Calibri"/>
                          </a:rPr>
                          <m:t>2</m:t>
                        </m:r>
                      </m:sup>
                    </m:sSup>
                    <m:sSup>
                      <m:sSupPr>
                        <m:ctrlPr>
                          <a:rPr lang="en-US" b="0" i="1" smtClean="0">
                            <a:solidFill>
                              <a:srgbClr val="000000"/>
                            </a:solidFill>
                            <a:latin typeface="Cambria Math" panose="02040503050406030204" pitchFamily="18" charset="0"/>
                            <a:sym typeface="Calibri"/>
                          </a:rPr>
                        </m:ctrlPr>
                      </m:sSupPr>
                      <m:e>
                        <m:r>
                          <a:rPr lang="en-US" b="0" i="1" smtClean="0">
                            <a:solidFill>
                              <a:srgbClr val="000000"/>
                            </a:solidFill>
                            <a:latin typeface="Cambria Math" panose="02040503050406030204" pitchFamily="18" charset="0"/>
                            <a:sym typeface="Calibri"/>
                          </a:rPr>
                          <m:t>(</m:t>
                        </m:r>
                        <m:f>
                          <m:fPr>
                            <m:ctrlPr>
                              <a:rPr lang="en-US" b="0" i="1" smtClean="0">
                                <a:solidFill>
                                  <a:srgbClr val="000000"/>
                                </a:solidFill>
                                <a:latin typeface="Cambria Math" panose="02040503050406030204" pitchFamily="18" charset="0"/>
                                <a:sym typeface="Calibri"/>
                              </a:rPr>
                            </m:ctrlPr>
                          </m:fPr>
                          <m:num>
                            <m:r>
                              <a:rPr lang="en-US" b="0" i="1" smtClean="0">
                                <a:solidFill>
                                  <a:srgbClr val="000000"/>
                                </a:solidFill>
                                <a:latin typeface="Cambria Math" panose="02040503050406030204" pitchFamily="18" charset="0"/>
                                <a:sym typeface="Calibri"/>
                              </a:rPr>
                              <m:t>𝑙</m:t>
                            </m:r>
                          </m:num>
                          <m:den>
                            <m:r>
                              <a:rPr lang="en-US" b="0" i="1" smtClean="0">
                                <a:solidFill>
                                  <a:srgbClr val="000000"/>
                                </a:solidFill>
                                <a:latin typeface="Cambria Math" panose="02040503050406030204" pitchFamily="18" charset="0"/>
                                <a:ea typeface="Cambria Math" panose="02040503050406030204" pitchFamily="18" charset="0"/>
                                <a:sym typeface="Calibri"/>
                              </a:rPr>
                              <m:t>𝜆</m:t>
                            </m:r>
                          </m:den>
                        </m:f>
                        <m:r>
                          <a:rPr lang="en-US" b="0" i="1" smtClean="0">
                            <a:solidFill>
                              <a:srgbClr val="000000"/>
                            </a:solidFill>
                            <a:latin typeface="Cambria Math" panose="02040503050406030204" pitchFamily="18" charset="0"/>
                            <a:sym typeface="Calibri"/>
                          </a:rPr>
                          <m:t>)</m:t>
                        </m:r>
                      </m:e>
                      <m:sup>
                        <m:r>
                          <a:rPr lang="en-US" b="0" i="1" smtClean="0">
                            <a:solidFill>
                              <a:srgbClr val="000000"/>
                            </a:solidFill>
                            <a:latin typeface="Cambria Math" panose="02040503050406030204" pitchFamily="18" charset="0"/>
                            <a:sym typeface="Calibri"/>
                          </a:rPr>
                          <m:t>2</m:t>
                        </m:r>
                      </m:sup>
                    </m:sSup>
                    <m:r>
                      <a:rPr lang="en-US" i="1">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sym typeface="Calibri"/>
                      </a:rPr>
                      <m:t>7.8</m:t>
                    </m:r>
                    <m:r>
                      <m:rPr>
                        <m:sty m:val="p"/>
                      </m:rPr>
                      <a:rPr lang="el-GR" b="0" i="1" smtClean="0">
                        <a:solidFill>
                          <a:srgbClr val="000000"/>
                        </a:solidFill>
                        <a:latin typeface="Cambria Math" panose="02040503050406030204" pitchFamily="18" charset="0"/>
                        <a:ea typeface="Cambria Math" panose="02040503050406030204" pitchFamily="18" charset="0"/>
                        <a:sym typeface="Calibri"/>
                      </a:rPr>
                      <m:t>Ω</m:t>
                    </m:r>
                  </m:oMath>
                </a14:m>
                <a:r>
                  <a:rPr lang="en-US" dirty="0">
                    <a:solidFill>
                      <a:srgbClr val="000000"/>
                    </a:solidFill>
                    <a:sym typeface="Calibri"/>
                  </a:rPr>
                  <a:t>. </a:t>
                </a:r>
                <a14:m>
                  <m:oMath xmlns:m="http://schemas.openxmlformats.org/officeDocument/2006/math">
                    <m:r>
                      <a:rPr lang="en-US" b="0" i="1" smtClean="0">
                        <a:solidFill>
                          <a:srgbClr val="000000"/>
                        </a:solidFill>
                        <a:latin typeface="Cambria Math" panose="02040503050406030204" pitchFamily="18" charset="0"/>
                        <a:sym typeface="Calibri"/>
                      </a:rPr>
                      <m:t>𝑄</m:t>
                    </m:r>
                    <m:r>
                      <a:rPr lang="en-US" b="0" i="1" smtClean="0">
                        <a:solidFill>
                          <a:srgbClr val="000000"/>
                        </a:solidFill>
                        <a:latin typeface="Cambria Math" panose="02040503050406030204" pitchFamily="18" charset="0"/>
                        <a:sym typeface="Calibri"/>
                      </a:rPr>
                      <m:t>=200=</m:t>
                    </m:r>
                    <m:f>
                      <m:fPr>
                        <m:ctrlPr>
                          <a:rPr lang="en-US" b="0" i="1" smtClean="0">
                            <a:solidFill>
                              <a:srgbClr val="000000"/>
                            </a:solidFill>
                            <a:latin typeface="Cambria Math" panose="02040503050406030204" pitchFamily="18" charset="0"/>
                            <a:sym typeface="Calibri"/>
                          </a:rPr>
                        </m:ctrlPr>
                      </m:fPr>
                      <m:num>
                        <m:r>
                          <a:rPr lang="en-US" b="0" i="1" smtClean="0">
                            <a:solidFill>
                              <a:srgbClr val="000000"/>
                            </a:solidFill>
                            <a:latin typeface="Cambria Math" panose="02040503050406030204" pitchFamily="18" charset="0"/>
                            <a:sym typeface="Calibri"/>
                          </a:rPr>
                          <m:t>𝐿</m:t>
                        </m:r>
                      </m:num>
                      <m:den>
                        <m:r>
                          <a:rPr lang="en-US" b="0" i="1" smtClean="0">
                            <a:solidFill>
                              <a:srgbClr val="000000"/>
                            </a:solidFill>
                            <a:latin typeface="Cambria Math" panose="02040503050406030204" pitchFamily="18" charset="0"/>
                            <a:sym typeface="Calibri"/>
                          </a:rPr>
                          <m:t>7.8</m:t>
                        </m:r>
                      </m:den>
                    </m:f>
                  </m:oMath>
                </a14:m>
                <a:r>
                  <a:rPr lang="en-US" dirty="0">
                    <a:solidFill>
                      <a:srgbClr val="000000"/>
                    </a:solidFill>
                    <a:sym typeface="Calibri"/>
                  </a:rPr>
                  <a:t>.  </a:t>
                </a:r>
                <a14:m>
                  <m:oMath xmlns:m="http://schemas.openxmlformats.org/officeDocument/2006/math">
                    <m:r>
                      <a:rPr lang="en-US" b="0" i="1" smtClean="0">
                        <a:solidFill>
                          <a:srgbClr val="000000"/>
                        </a:solidFill>
                        <a:latin typeface="Cambria Math" panose="02040503050406030204" pitchFamily="18" charset="0"/>
                        <a:sym typeface="Calibri"/>
                      </a:rPr>
                      <m:t>𝐿</m:t>
                    </m:r>
                    <m:r>
                      <a:rPr lang="en-US" b="0" i="1" smtClean="0">
                        <a:solidFill>
                          <a:srgbClr val="000000"/>
                        </a:solidFill>
                        <a:latin typeface="Cambria Math" panose="02040503050406030204" pitchFamily="18" charset="0"/>
                        <a:sym typeface="Calibri"/>
                      </a:rPr>
                      <m:t>=1551</m:t>
                    </m:r>
                    <m:r>
                      <m:rPr>
                        <m:sty m:val="p"/>
                      </m:rPr>
                      <a:rPr lang="el-GR" b="0" i="1" smtClean="0">
                        <a:solidFill>
                          <a:srgbClr val="000000"/>
                        </a:solidFill>
                        <a:latin typeface="Cambria Math" panose="02040503050406030204" pitchFamily="18" charset="0"/>
                        <a:ea typeface="Cambria Math" panose="02040503050406030204" pitchFamily="18" charset="0"/>
                        <a:sym typeface="Calibri"/>
                      </a:rPr>
                      <m:t>Ω</m:t>
                    </m:r>
                  </m:oMath>
                </a14:m>
                <a:r>
                  <a:rPr lang="en-US" dirty="0">
                    <a:solidFill>
                      <a:srgbClr val="000000"/>
                    </a:solidFill>
                    <a:sym typeface="Calibri"/>
                  </a:rPr>
                  <a:t>.</a:t>
                </a:r>
              </a:p>
              <a:p>
                <a:pPr marL="914400" lvl="1" indent="-457200"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sym typeface="Calibri"/>
                          </a:rPr>
                        </m:ctrlPr>
                      </m:sSubPr>
                      <m:e>
                        <m:r>
                          <a:rPr lang="en-US" b="0" i="1" smtClean="0">
                            <a:solidFill>
                              <a:srgbClr val="000000"/>
                            </a:solidFill>
                            <a:latin typeface="Cambria Math" panose="02040503050406030204" pitchFamily="18" charset="0"/>
                            <a:sym typeface="Calibri"/>
                          </a:rPr>
                          <m:t>𝑍</m:t>
                        </m:r>
                      </m:e>
                      <m:sub>
                        <m:r>
                          <a:rPr lang="en-US" b="0" i="1" smtClean="0">
                            <a:solidFill>
                              <a:srgbClr val="000000"/>
                            </a:solidFill>
                            <a:latin typeface="Cambria Math" panose="02040503050406030204" pitchFamily="18" charset="0"/>
                            <a:sym typeface="Calibri"/>
                          </a:rPr>
                          <m:t>𝑠</m:t>
                        </m:r>
                      </m:sub>
                    </m:sSub>
                    <m:r>
                      <a:rPr lang="en-US" b="0" i="1" smtClean="0">
                        <a:solidFill>
                          <a:srgbClr val="000000"/>
                        </a:solidFill>
                        <a:latin typeface="Cambria Math" panose="02040503050406030204" pitchFamily="18" charset="0"/>
                        <a:sym typeface="Calibri"/>
                      </a:rPr>
                      <m:t>=7.8+1551</m:t>
                    </m:r>
                    <m:r>
                      <a:rPr lang="en-US" b="0" i="1" smtClean="0">
                        <a:solidFill>
                          <a:srgbClr val="000000"/>
                        </a:solidFill>
                        <a:latin typeface="Cambria Math" panose="02040503050406030204" pitchFamily="18" charset="0"/>
                        <a:sym typeface="Calibri"/>
                      </a:rPr>
                      <m:t>𝑗</m:t>
                    </m:r>
                    <m:r>
                      <a:rPr lang="en-US" b="0" i="1" smtClean="0">
                        <a:solidFill>
                          <a:srgbClr val="000000"/>
                        </a:solidFill>
                        <a:latin typeface="Cambria Math" panose="02040503050406030204" pitchFamily="18" charset="0"/>
                        <a:sym typeface="Calibri"/>
                      </a:rPr>
                      <m:t>. </m:t>
                    </m:r>
                  </m:oMath>
                </a14:m>
                <a:r>
                  <a:rPr lang="en-US" b="0" i="1" dirty="0">
                    <a:solidFill>
                      <a:srgbClr val="000000"/>
                    </a:solidFill>
                    <a:latin typeface="Cambria Math" panose="02040503050406030204" pitchFamily="18" charset="0"/>
                    <a:sym typeface="Calibri"/>
                  </a:rPr>
                  <a:t> </a:t>
                </a:r>
                <a14:m>
                  <m:oMath xmlns:m="http://schemas.openxmlformats.org/officeDocument/2006/math">
                    <m:r>
                      <a:rPr lang="en-US" b="0" i="1" smtClean="0">
                        <a:solidFill>
                          <a:srgbClr val="000000"/>
                        </a:solidFill>
                        <a:latin typeface="Cambria Math" panose="02040503050406030204" pitchFamily="18" charset="0"/>
                        <a:sym typeface="Calibri"/>
                      </a:rPr>
                      <m:t>𝐿</m:t>
                    </m:r>
                    <m:r>
                      <a:rPr lang="en-US" b="0" i="1" smtClean="0">
                        <a:solidFill>
                          <a:srgbClr val="000000"/>
                        </a:solidFill>
                        <a:latin typeface="Cambria Math" panose="02040503050406030204" pitchFamily="18" charset="0"/>
                        <a:sym typeface="Calibri"/>
                      </a:rPr>
                      <m:t>=3.6</m:t>
                    </m:r>
                    <m:r>
                      <a:rPr lang="en-US" b="0" i="1" smtClean="0">
                        <a:solidFill>
                          <a:srgbClr val="000000"/>
                        </a:solidFill>
                        <a:latin typeface="Cambria Math" panose="02040503050406030204" pitchFamily="18" charset="0"/>
                        <a:ea typeface="Cambria Math" panose="02040503050406030204" pitchFamily="18" charset="0"/>
                        <a:sym typeface="Calibri"/>
                      </a:rPr>
                      <m:t>𝜇</m:t>
                    </m:r>
                    <m:r>
                      <a:rPr lang="en-US" b="0" i="1" smtClean="0">
                        <a:solidFill>
                          <a:srgbClr val="000000"/>
                        </a:solidFill>
                        <a:latin typeface="Cambria Math" panose="02040503050406030204" pitchFamily="18" charset="0"/>
                        <a:ea typeface="Cambria Math" panose="02040503050406030204" pitchFamily="18" charset="0"/>
                        <a:sym typeface="Calibri"/>
                      </a:rPr>
                      <m:t>𝐻</m:t>
                    </m:r>
                  </m:oMath>
                </a14:m>
                <a:r>
                  <a:rPr lang="en-US" b="0" i="1" dirty="0">
                    <a:solidFill>
                      <a:srgbClr val="000000"/>
                    </a:solidFill>
                    <a:latin typeface="Cambria Math" panose="02040503050406030204" pitchFamily="18" charset="0"/>
                    <a:sym typeface="Calibri"/>
                  </a:rPr>
                  <a:t> </a:t>
                </a:r>
              </a:p>
              <a:p>
                <a:pPr marL="914400" lvl="1" indent="-457200" hangingPunct="0">
                  <a:buFont typeface="Arial" panose="020B0604020202020204" pitchFamily="34" charset="0"/>
                  <a:buChar char="•"/>
                </a:pPr>
                <a14:m>
                  <m:oMath xmlns:m="http://schemas.openxmlformats.org/officeDocument/2006/math">
                    <m:f>
                      <m:fPr>
                        <m:ctrlPr>
                          <a:rPr lang="en-US" b="0" i="1" smtClean="0">
                            <a:solidFill>
                              <a:srgbClr val="000000"/>
                            </a:solidFill>
                            <a:latin typeface="Cambria Math" panose="02040503050406030204" pitchFamily="18" charset="0"/>
                            <a:sym typeface="Calibri"/>
                          </a:rPr>
                        </m:ctrlPr>
                      </m:fPr>
                      <m:num>
                        <m:r>
                          <a:rPr lang="en-US" b="0" i="1" smtClean="0">
                            <a:solidFill>
                              <a:srgbClr val="000000"/>
                            </a:solidFill>
                            <a:latin typeface="Cambria Math" panose="02040503050406030204" pitchFamily="18" charset="0"/>
                            <a:sym typeface="Calibri"/>
                          </a:rPr>
                          <m:t>1551</m:t>
                        </m:r>
                      </m:num>
                      <m:den>
                        <m:r>
                          <a:rPr lang="en-US" b="0" i="1" smtClean="0">
                            <a:solidFill>
                              <a:srgbClr val="000000"/>
                            </a:solidFill>
                            <a:latin typeface="Cambria Math" panose="02040503050406030204" pitchFamily="18" charset="0"/>
                            <a:sym typeface="Calibri"/>
                          </a:rPr>
                          <m:t>50</m:t>
                        </m:r>
                      </m:den>
                    </m:f>
                    <m:r>
                      <a:rPr lang="en-US" b="0" i="1" smtClean="0">
                        <a:solidFill>
                          <a:srgbClr val="000000"/>
                        </a:solidFill>
                        <a:latin typeface="Cambria Math" panose="02040503050406030204" pitchFamily="18" charset="0"/>
                        <a:sym typeface="Calibri"/>
                      </a:rPr>
                      <m:t>=</m:t>
                    </m:r>
                    <m:f>
                      <m:fPr>
                        <m:ctrlPr>
                          <a:rPr lang="en-US" i="1" smtClean="0">
                            <a:solidFill>
                              <a:srgbClr val="000000"/>
                            </a:solidFill>
                            <a:latin typeface="Cambria Math" panose="02040503050406030204" pitchFamily="18" charset="0"/>
                            <a:sym typeface="Calibri"/>
                          </a:rPr>
                        </m:ctrlPr>
                      </m:fPr>
                      <m:num>
                        <m:sSub>
                          <m:sSubPr>
                            <m:ctrlPr>
                              <a:rPr lang="en-US" b="0" i="1" smtClean="0">
                                <a:solidFill>
                                  <a:srgbClr val="000000"/>
                                </a:solidFill>
                                <a:latin typeface="Cambria Math" panose="02040503050406030204" pitchFamily="18" charset="0"/>
                                <a:sym typeface="Calibri"/>
                              </a:rPr>
                            </m:ctrlPr>
                          </m:sSubPr>
                          <m:e>
                            <m:r>
                              <a:rPr lang="en-US" b="0" i="1" smtClean="0">
                                <a:solidFill>
                                  <a:srgbClr val="000000"/>
                                </a:solidFill>
                                <a:latin typeface="Cambria Math" panose="02040503050406030204" pitchFamily="18" charset="0"/>
                                <a:sym typeface="Calibri"/>
                              </a:rPr>
                              <m:t>𝑍</m:t>
                            </m:r>
                          </m:e>
                          <m:sub>
                            <m:r>
                              <a:rPr lang="en-US" b="0" i="1" smtClean="0">
                                <a:solidFill>
                                  <a:srgbClr val="000000"/>
                                </a:solidFill>
                                <a:latin typeface="Cambria Math" panose="02040503050406030204" pitchFamily="18" charset="0"/>
                                <a:sym typeface="Calibri"/>
                              </a:rPr>
                              <m:t>𝑝</m:t>
                            </m:r>
                          </m:sub>
                        </m:sSub>
                      </m:num>
                      <m:den>
                        <m:sSub>
                          <m:sSubPr>
                            <m:ctrlPr>
                              <a:rPr lang="en-US" b="0" i="1" smtClean="0">
                                <a:solidFill>
                                  <a:srgbClr val="000000"/>
                                </a:solidFill>
                                <a:latin typeface="Cambria Math" panose="02040503050406030204" pitchFamily="18" charset="0"/>
                                <a:sym typeface="Calibri"/>
                              </a:rPr>
                            </m:ctrlPr>
                          </m:sSubPr>
                          <m:e>
                            <m:r>
                              <a:rPr lang="en-US" b="0" i="1" smtClean="0">
                                <a:solidFill>
                                  <a:srgbClr val="000000"/>
                                </a:solidFill>
                                <a:latin typeface="Cambria Math" panose="02040503050406030204" pitchFamily="18" charset="0"/>
                                <a:sym typeface="Calibri"/>
                              </a:rPr>
                              <m:t>𝑍</m:t>
                            </m:r>
                          </m:e>
                          <m:sub>
                            <m:r>
                              <a:rPr lang="en-US" b="0" i="1" smtClean="0">
                                <a:solidFill>
                                  <a:srgbClr val="000000"/>
                                </a:solidFill>
                                <a:latin typeface="Cambria Math" panose="02040503050406030204" pitchFamily="18" charset="0"/>
                                <a:sym typeface="Calibri"/>
                              </a:rPr>
                              <m:t>𝑠</m:t>
                            </m:r>
                          </m:sub>
                        </m:sSub>
                      </m:den>
                    </m:f>
                    <m:r>
                      <a:rPr lang="en-US" b="0" i="1" smtClean="0">
                        <a:solidFill>
                          <a:srgbClr val="000000"/>
                        </a:solidFill>
                        <a:latin typeface="Cambria Math" panose="02040503050406030204" pitchFamily="18" charset="0"/>
                        <a:sym typeface="Calibri"/>
                      </a:rPr>
                      <m:t>=</m:t>
                    </m:r>
                    <m:sSup>
                      <m:sSupPr>
                        <m:ctrlPr>
                          <a:rPr lang="en-US" b="0" i="1" smtClean="0">
                            <a:solidFill>
                              <a:srgbClr val="000000"/>
                            </a:solidFill>
                            <a:latin typeface="Cambria Math" panose="02040503050406030204" pitchFamily="18" charset="0"/>
                            <a:sym typeface="Calibri"/>
                          </a:rPr>
                        </m:ctrlPr>
                      </m:sSupPr>
                      <m:e>
                        <m:r>
                          <a:rPr lang="en-US" b="0" i="1" smtClean="0">
                            <a:solidFill>
                              <a:srgbClr val="000000"/>
                            </a:solidFill>
                            <a:latin typeface="Cambria Math" panose="02040503050406030204" pitchFamily="18" charset="0"/>
                            <a:sym typeface="Calibri"/>
                          </a:rPr>
                          <m:t>(</m:t>
                        </m:r>
                        <m:f>
                          <m:fPr>
                            <m:ctrlPr>
                              <a:rPr lang="en-US" b="0" i="1" smtClean="0">
                                <a:solidFill>
                                  <a:srgbClr val="000000"/>
                                </a:solidFill>
                                <a:latin typeface="Cambria Math" panose="02040503050406030204" pitchFamily="18" charset="0"/>
                                <a:sym typeface="Calibri"/>
                              </a:rPr>
                            </m:ctrlPr>
                          </m:fPr>
                          <m:num>
                            <m:sSub>
                              <m:sSubPr>
                                <m:ctrlPr>
                                  <a:rPr lang="en-US" b="0" i="1" smtClean="0">
                                    <a:solidFill>
                                      <a:srgbClr val="000000"/>
                                    </a:solidFill>
                                    <a:latin typeface="Cambria Math" panose="02040503050406030204" pitchFamily="18" charset="0"/>
                                    <a:sym typeface="Calibri"/>
                                  </a:rPr>
                                </m:ctrlPr>
                              </m:sSubPr>
                              <m:e>
                                <m:r>
                                  <a:rPr lang="en-US" b="0" i="1" smtClean="0">
                                    <a:solidFill>
                                      <a:srgbClr val="000000"/>
                                    </a:solidFill>
                                    <a:latin typeface="Cambria Math" panose="02040503050406030204" pitchFamily="18" charset="0"/>
                                    <a:sym typeface="Calibri"/>
                                  </a:rPr>
                                  <m:t>𝑁</m:t>
                                </m:r>
                              </m:e>
                              <m:sub>
                                <m:r>
                                  <a:rPr lang="en-US" b="0" i="1" smtClean="0">
                                    <a:solidFill>
                                      <a:srgbClr val="000000"/>
                                    </a:solidFill>
                                    <a:latin typeface="Cambria Math" panose="02040503050406030204" pitchFamily="18" charset="0"/>
                                    <a:sym typeface="Calibri"/>
                                  </a:rPr>
                                  <m:t>𝑝</m:t>
                                </m:r>
                              </m:sub>
                            </m:sSub>
                          </m:num>
                          <m:den>
                            <m:sSub>
                              <m:sSubPr>
                                <m:ctrlPr>
                                  <a:rPr lang="en-US" b="0" i="1" smtClean="0">
                                    <a:solidFill>
                                      <a:srgbClr val="000000"/>
                                    </a:solidFill>
                                    <a:latin typeface="Cambria Math" panose="02040503050406030204" pitchFamily="18" charset="0"/>
                                    <a:sym typeface="Calibri"/>
                                  </a:rPr>
                                </m:ctrlPr>
                              </m:sSubPr>
                              <m:e>
                                <m:r>
                                  <a:rPr lang="en-US" b="0" i="1" smtClean="0">
                                    <a:solidFill>
                                      <a:srgbClr val="000000"/>
                                    </a:solidFill>
                                    <a:latin typeface="Cambria Math" panose="02040503050406030204" pitchFamily="18" charset="0"/>
                                    <a:sym typeface="Calibri"/>
                                  </a:rPr>
                                  <m:t>𝑁</m:t>
                                </m:r>
                              </m:e>
                              <m:sub>
                                <m:r>
                                  <a:rPr lang="en-US" b="0" i="1" smtClean="0">
                                    <a:solidFill>
                                      <a:srgbClr val="000000"/>
                                    </a:solidFill>
                                    <a:latin typeface="Cambria Math" panose="02040503050406030204" pitchFamily="18" charset="0"/>
                                    <a:sym typeface="Calibri"/>
                                  </a:rPr>
                                  <m:t>𝑠</m:t>
                                </m:r>
                              </m:sub>
                            </m:sSub>
                          </m:den>
                        </m:f>
                        <m:r>
                          <a:rPr lang="en-US" b="0" i="1" smtClean="0">
                            <a:solidFill>
                              <a:srgbClr val="000000"/>
                            </a:solidFill>
                            <a:latin typeface="Cambria Math" panose="02040503050406030204" pitchFamily="18" charset="0"/>
                            <a:sym typeface="Calibri"/>
                          </a:rPr>
                          <m:t>)</m:t>
                        </m:r>
                      </m:e>
                      <m:sup>
                        <m:r>
                          <a:rPr lang="en-US" b="0" i="1" smtClean="0">
                            <a:solidFill>
                              <a:srgbClr val="000000"/>
                            </a:solidFill>
                            <a:latin typeface="Cambria Math" panose="02040503050406030204" pitchFamily="18" charset="0"/>
                            <a:sym typeface="Calibri"/>
                          </a:rPr>
                          <m:t>2</m:t>
                        </m:r>
                      </m:sup>
                    </m:sSup>
                  </m:oMath>
                </a14:m>
                <a:r>
                  <a:rPr lang="en-US" b="0" i="1" dirty="0">
                    <a:solidFill>
                      <a:srgbClr val="000000"/>
                    </a:solidFill>
                    <a:latin typeface="Cambria Math" panose="02040503050406030204" pitchFamily="18" charset="0"/>
                    <a:sym typeface="Calibri"/>
                  </a:rPr>
                  <a:t>,  </a:t>
                </a:r>
                <a14:m>
                  <m:oMath xmlns:m="http://schemas.openxmlformats.org/officeDocument/2006/math">
                    <m:f>
                      <m:fPr>
                        <m:ctrlPr>
                          <a:rPr lang="en-US" i="1">
                            <a:solidFill>
                              <a:srgbClr val="000000"/>
                            </a:solidFill>
                            <a:latin typeface="Cambria Math" panose="02040503050406030204" pitchFamily="18" charset="0"/>
                            <a:sym typeface="Calibri"/>
                          </a:rPr>
                        </m:ctrlPr>
                      </m:fPr>
                      <m:num>
                        <m:sSub>
                          <m:sSubPr>
                            <m:ctrlPr>
                              <a:rPr lang="en-US" i="1">
                                <a:solidFill>
                                  <a:srgbClr val="000000"/>
                                </a:solidFill>
                                <a:latin typeface="Cambria Math" panose="02040503050406030204" pitchFamily="18" charset="0"/>
                                <a:sym typeface="Calibri"/>
                              </a:rPr>
                            </m:ctrlPr>
                          </m:sSubPr>
                          <m:e>
                            <m:r>
                              <a:rPr lang="en-US" i="1">
                                <a:solidFill>
                                  <a:srgbClr val="000000"/>
                                </a:solidFill>
                                <a:latin typeface="Cambria Math" panose="02040503050406030204" pitchFamily="18" charset="0"/>
                                <a:sym typeface="Calibri"/>
                              </a:rPr>
                              <m:t>𝑁</m:t>
                            </m:r>
                          </m:e>
                          <m:sub>
                            <m:r>
                              <a:rPr lang="en-US" i="1">
                                <a:solidFill>
                                  <a:srgbClr val="000000"/>
                                </a:solidFill>
                                <a:latin typeface="Cambria Math" panose="02040503050406030204" pitchFamily="18" charset="0"/>
                                <a:sym typeface="Calibri"/>
                              </a:rPr>
                              <m:t>𝑝</m:t>
                            </m:r>
                          </m:sub>
                        </m:sSub>
                      </m:num>
                      <m:den>
                        <m:sSub>
                          <m:sSubPr>
                            <m:ctrlPr>
                              <a:rPr lang="en-US" i="1">
                                <a:solidFill>
                                  <a:srgbClr val="000000"/>
                                </a:solidFill>
                                <a:latin typeface="Cambria Math" panose="02040503050406030204" pitchFamily="18" charset="0"/>
                                <a:sym typeface="Calibri"/>
                              </a:rPr>
                            </m:ctrlPr>
                          </m:sSubPr>
                          <m:e>
                            <m:r>
                              <a:rPr lang="en-US" i="1">
                                <a:solidFill>
                                  <a:srgbClr val="000000"/>
                                </a:solidFill>
                                <a:latin typeface="Cambria Math" panose="02040503050406030204" pitchFamily="18" charset="0"/>
                                <a:sym typeface="Calibri"/>
                              </a:rPr>
                              <m:t>𝑁</m:t>
                            </m:r>
                          </m:e>
                          <m:sub>
                            <m:r>
                              <a:rPr lang="en-US" i="1">
                                <a:solidFill>
                                  <a:srgbClr val="000000"/>
                                </a:solidFill>
                                <a:latin typeface="Cambria Math" panose="02040503050406030204" pitchFamily="18" charset="0"/>
                                <a:sym typeface="Calibri"/>
                              </a:rPr>
                              <m:t>𝑠</m:t>
                            </m:r>
                          </m:sub>
                        </m:sSub>
                      </m:den>
                    </m:f>
                    <m:r>
                      <a:rPr lang="en-US" b="0" i="1" smtClean="0">
                        <a:solidFill>
                          <a:srgbClr val="000000"/>
                        </a:solidFill>
                        <a:latin typeface="Cambria Math" panose="02040503050406030204" pitchFamily="18" charset="0"/>
                        <a:sym typeface="Calibri"/>
                      </a:rPr>
                      <m:t>=</m:t>
                    </m:r>
                    <m:rad>
                      <m:radPr>
                        <m:degHide m:val="on"/>
                        <m:ctrlPr>
                          <a:rPr lang="en-US" b="0" i="1" smtClean="0">
                            <a:solidFill>
                              <a:srgbClr val="000000"/>
                            </a:solidFill>
                            <a:latin typeface="Cambria Math" panose="02040503050406030204" pitchFamily="18" charset="0"/>
                            <a:sym typeface="Calibri"/>
                          </a:rPr>
                        </m:ctrlPr>
                      </m:radPr>
                      <m:deg/>
                      <m:e>
                        <m:r>
                          <a:rPr lang="en-US" b="0" i="1" smtClean="0">
                            <a:solidFill>
                              <a:srgbClr val="000000"/>
                            </a:solidFill>
                            <a:latin typeface="Cambria Math" panose="02040503050406030204" pitchFamily="18" charset="0"/>
                            <a:sym typeface="Calibri"/>
                          </a:rPr>
                          <m:t>31</m:t>
                        </m:r>
                      </m:e>
                    </m:rad>
                    <m:r>
                      <a:rPr lang="en-US" b="0" i="1" smtClean="0">
                        <a:solidFill>
                          <a:srgbClr val="000000"/>
                        </a:solidFill>
                        <a:latin typeface="Cambria Math" panose="02040503050406030204" pitchFamily="18" charset="0"/>
                        <a:sym typeface="Calibri"/>
                      </a:rPr>
                      <m:t>=5.2</m:t>
                    </m:r>
                  </m:oMath>
                </a14:m>
                <a:r>
                  <a:rPr lang="en-US" b="0" dirty="0">
                    <a:solidFill>
                      <a:srgbClr val="000000"/>
                    </a:solidFill>
                    <a:sym typeface="Calibri"/>
                  </a:rPr>
                  <a:t>.</a:t>
                </a:r>
              </a:p>
              <a:p>
                <a:pPr marL="914400" lvl="1" indent="-457200" hangingPunct="0">
                  <a:buFont typeface="Arial" panose="020B0604020202020204" pitchFamily="34" charset="0"/>
                  <a:buChar char="•"/>
                </a:pPr>
                <a:r>
                  <a:rPr lang="en-US" dirty="0">
                    <a:solidFill>
                      <a:srgbClr val="000000"/>
                    </a:solidFill>
                    <a:sym typeface="Calibri"/>
                  </a:rPr>
                  <a:t>Radiation efficiency is </a:t>
                </a:r>
                <a14:m>
                  <m:oMath xmlns:m="http://schemas.openxmlformats.org/officeDocument/2006/math">
                    <m:f>
                      <m:fPr>
                        <m:ctrlPr>
                          <a:rPr lang="en-US" i="1" smtClean="0">
                            <a:solidFill>
                              <a:srgbClr val="000000"/>
                            </a:solidFill>
                            <a:latin typeface="Cambria Math" panose="02040503050406030204" pitchFamily="18" charset="0"/>
                            <a:sym typeface="Calibri"/>
                          </a:rPr>
                        </m:ctrlPr>
                      </m:fPr>
                      <m:num>
                        <m:sSub>
                          <m:sSubPr>
                            <m:ctrlPr>
                              <a:rPr lang="en-US" b="0" i="1" smtClean="0">
                                <a:solidFill>
                                  <a:srgbClr val="000000"/>
                                </a:solidFill>
                                <a:latin typeface="Cambria Math" panose="02040503050406030204" pitchFamily="18" charset="0"/>
                                <a:sym typeface="Calibri"/>
                              </a:rPr>
                            </m:ctrlPr>
                          </m:sSubPr>
                          <m:e>
                            <m:r>
                              <a:rPr lang="en-US" b="0" i="1" smtClean="0">
                                <a:solidFill>
                                  <a:srgbClr val="000000"/>
                                </a:solidFill>
                                <a:latin typeface="Cambria Math" panose="02040503050406030204" pitchFamily="18" charset="0"/>
                                <a:sym typeface="Calibri"/>
                              </a:rPr>
                              <m:t>𝑃</m:t>
                            </m:r>
                          </m:e>
                          <m:sub>
                            <m:r>
                              <a:rPr lang="en-US" b="0" i="1" smtClean="0">
                                <a:solidFill>
                                  <a:srgbClr val="000000"/>
                                </a:solidFill>
                                <a:latin typeface="Cambria Math" panose="02040503050406030204" pitchFamily="18" charset="0"/>
                                <a:sym typeface="Calibri"/>
                              </a:rPr>
                              <m:t>𝑟𝑎𝑑𝑖𝑎𝑡𝑒𝑑</m:t>
                            </m:r>
                          </m:sub>
                        </m:sSub>
                      </m:num>
                      <m:den>
                        <m:sSub>
                          <m:sSubPr>
                            <m:ctrlPr>
                              <a:rPr lang="en-US" b="0" i="1" smtClean="0">
                                <a:solidFill>
                                  <a:srgbClr val="000000"/>
                                </a:solidFill>
                                <a:latin typeface="Cambria Math" panose="02040503050406030204" pitchFamily="18" charset="0"/>
                                <a:sym typeface="Calibri"/>
                              </a:rPr>
                            </m:ctrlPr>
                          </m:sSubPr>
                          <m:e>
                            <m:r>
                              <a:rPr lang="en-US" b="0" i="1" smtClean="0">
                                <a:solidFill>
                                  <a:srgbClr val="000000"/>
                                </a:solidFill>
                                <a:latin typeface="Cambria Math" panose="02040503050406030204" pitchFamily="18" charset="0"/>
                                <a:sym typeface="Calibri"/>
                              </a:rPr>
                              <m:t>𝑃</m:t>
                            </m:r>
                          </m:e>
                          <m:sub>
                            <m:r>
                              <a:rPr lang="en-US" b="0" i="1" smtClean="0">
                                <a:solidFill>
                                  <a:srgbClr val="000000"/>
                                </a:solidFill>
                                <a:latin typeface="Cambria Math" panose="02040503050406030204" pitchFamily="18" charset="0"/>
                                <a:sym typeface="Calibri"/>
                              </a:rPr>
                              <m:t>𝑖𝑛𝑝𝑢𝑡</m:t>
                            </m:r>
                          </m:sub>
                        </m:sSub>
                      </m:den>
                    </m:f>
                    <m:r>
                      <a:rPr lang="en-US" b="0" i="1" smtClean="0">
                        <a:solidFill>
                          <a:srgbClr val="000000"/>
                        </a:solidFill>
                        <a:latin typeface="Cambria Math" panose="02040503050406030204" pitchFamily="18" charset="0"/>
                        <a:sym typeface="Calibri"/>
                      </a:rPr>
                      <m:t>=</m:t>
                    </m:r>
                    <m:f>
                      <m:fPr>
                        <m:ctrlPr>
                          <a:rPr lang="en-US" b="0" i="1" smtClean="0">
                            <a:solidFill>
                              <a:srgbClr val="000000"/>
                            </a:solidFill>
                            <a:latin typeface="Cambria Math" panose="02040503050406030204" pitchFamily="18" charset="0"/>
                            <a:sym typeface="Calibri"/>
                          </a:rPr>
                        </m:ctrlPr>
                      </m:fPr>
                      <m:num>
                        <m:sSub>
                          <m:sSubPr>
                            <m:ctrlPr>
                              <a:rPr lang="en-US" b="0" i="1" smtClean="0">
                                <a:solidFill>
                                  <a:srgbClr val="000000"/>
                                </a:solidFill>
                                <a:latin typeface="Cambria Math" panose="02040503050406030204" pitchFamily="18" charset="0"/>
                                <a:sym typeface="Calibri"/>
                              </a:rPr>
                            </m:ctrlPr>
                          </m:sSubPr>
                          <m:e>
                            <m:r>
                              <a:rPr lang="en-US" b="0" i="1" smtClean="0">
                                <a:solidFill>
                                  <a:srgbClr val="000000"/>
                                </a:solidFill>
                                <a:latin typeface="Cambria Math" panose="02040503050406030204" pitchFamily="18" charset="0"/>
                                <a:sym typeface="Calibri"/>
                              </a:rPr>
                              <m:t>𝑅</m:t>
                            </m:r>
                          </m:e>
                          <m:sub>
                            <m:r>
                              <a:rPr lang="en-US" b="0" i="1" smtClean="0">
                                <a:solidFill>
                                  <a:srgbClr val="000000"/>
                                </a:solidFill>
                                <a:latin typeface="Cambria Math" panose="02040503050406030204" pitchFamily="18" charset="0"/>
                                <a:sym typeface="Calibri"/>
                              </a:rPr>
                              <m:t>𝑟</m:t>
                            </m:r>
                          </m:sub>
                        </m:sSub>
                      </m:num>
                      <m:den>
                        <m:sSub>
                          <m:sSubPr>
                            <m:ctrlPr>
                              <a:rPr lang="en-US" b="0" i="1" smtClean="0">
                                <a:solidFill>
                                  <a:srgbClr val="000000"/>
                                </a:solidFill>
                                <a:latin typeface="Cambria Math" panose="02040503050406030204" pitchFamily="18" charset="0"/>
                                <a:sym typeface="Calibri"/>
                              </a:rPr>
                            </m:ctrlPr>
                          </m:sSubPr>
                          <m:e>
                            <m:r>
                              <a:rPr lang="en-US" b="0" i="1" smtClean="0">
                                <a:solidFill>
                                  <a:srgbClr val="000000"/>
                                </a:solidFill>
                                <a:latin typeface="Cambria Math" panose="02040503050406030204" pitchFamily="18" charset="0"/>
                                <a:sym typeface="Calibri"/>
                              </a:rPr>
                              <m:t>𝑅</m:t>
                            </m:r>
                          </m:e>
                          <m:sub>
                            <m:r>
                              <a:rPr lang="en-US" b="0" i="1" smtClean="0">
                                <a:solidFill>
                                  <a:srgbClr val="000000"/>
                                </a:solidFill>
                                <a:latin typeface="Cambria Math" panose="02040503050406030204" pitchFamily="18" charset="0"/>
                                <a:sym typeface="Calibri"/>
                              </a:rPr>
                              <m:t>𝑟</m:t>
                            </m:r>
                          </m:sub>
                        </m:sSub>
                        <m:r>
                          <a:rPr lang="en-US" b="0" i="1" smtClean="0">
                            <a:solidFill>
                              <a:srgbClr val="000000"/>
                            </a:solidFill>
                            <a:latin typeface="Cambria Math" panose="02040503050406030204" pitchFamily="18" charset="0"/>
                            <a:sym typeface="Calibri"/>
                          </a:rPr>
                          <m:t>+</m:t>
                        </m:r>
                        <m:sSub>
                          <m:sSubPr>
                            <m:ctrlPr>
                              <a:rPr lang="en-US" b="0" i="1" smtClean="0">
                                <a:solidFill>
                                  <a:srgbClr val="000000"/>
                                </a:solidFill>
                                <a:latin typeface="Cambria Math" panose="02040503050406030204" pitchFamily="18" charset="0"/>
                                <a:sym typeface="Calibri"/>
                              </a:rPr>
                            </m:ctrlPr>
                          </m:sSubPr>
                          <m:e>
                            <m:r>
                              <a:rPr lang="en-US" b="0" i="1" smtClean="0">
                                <a:solidFill>
                                  <a:srgbClr val="000000"/>
                                </a:solidFill>
                                <a:latin typeface="Cambria Math" panose="02040503050406030204" pitchFamily="18" charset="0"/>
                                <a:sym typeface="Calibri"/>
                              </a:rPr>
                              <m:t>𝑅</m:t>
                            </m:r>
                          </m:e>
                          <m:sub>
                            <m:r>
                              <a:rPr lang="en-US" b="0" i="1" smtClean="0">
                                <a:solidFill>
                                  <a:srgbClr val="000000"/>
                                </a:solidFill>
                                <a:latin typeface="Cambria Math" panose="02040503050406030204" pitchFamily="18" charset="0"/>
                                <a:sym typeface="Calibri"/>
                              </a:rPr>
                              <m:t>𝐿</m:t>
                            </m:r>
                          </m:sub>
                        </m:sSub>
                      </m:den>
                    </m:f>
                    <m:r>
                      <a:rPr lang="en-US" b="0" i="0" smtClean="0">
                        <a:solidFill>
                          <a:srgbClr val="000000"/>
                        </a:solidFill>
                        <a:latin typeface="Cambria Math" panose="02040503050406030204" pitchFamily="18" charset="0"/>
                        <a:sym typeface="Calibri"/>
                      </a:rPr>
                      <m:t>=</m:t>
                    </m:r>
                    <m:f>
                      <m:fPr>
                        <m:ctrlPr>
                          <a:rPr lang="en-US" b="0" i="1" smtClean="0">
                            <a:solidFill>
                              <a:srgbClr val="000000"/>
                            </a:solidFill>
                            <a:latin typeface="Cambria Math" panose="02040503050406030204" pitchFamily="18" charset="0"/>
                            <a:sym typeface="Calibri"/>
                          </a:rPr>
                        </m:ctrlPr>
                      </m:fPr>
                      <m:num>
                        <m:r>
                          <a:rPr lang="en-US" b="0" i="1" smtClean="0">
                            <a:solidFill>
                              <a:srgbClr val="000000"/>
                            </a:solidFill>
                            <a:latin typeface="Cambria Math" panose="02040503050406030204" pitchFamily="18" charset="0"/>
                            <a:sym typeface="Calibri"/>
                          </a:rPr>
                          <m:t>7.8</m:t>
                        </m:r>
                      </m:num>
                      <m:den>
                        <m:r>
                          <a:rPr lang="en-US" b="0" i="1" smtClean="0">
                            <a:solidFill>
                              <a:srgbClr val="000000"/>
                            </a:solidFill>
                            <a:latin typeface="Cambria Math" panose="02040503050406030204" pitchFamily="18" charset="0"/>
                            <a:sym typeface="Calibri"/>
                          </a:rPr>
                          <m:t>57.8</m:t>
                        </m:r>
                      </m:den>
                    </m:f>
                    <m:r>
                      <a:rPr lang="en-US" b="0" i="1" smtClean="0">
                        <a:solidFill>
                          <a:srgbClr val="000000"/>
                        </a:solidFill>
                        <a:latin typeface="Cambria Math" panose="02040503050406030204" pitchFamily="18" charset="0"/>
                        <a:ea typeface="Cambria Math" panose="02040503050406030204" pitchFamily="18" charset="0"/>
                        <a:sym typeface="Calibri"/>
                      </a:rPr>
                      <m:t>≈.14</m:t>
                    </m:r>
                  </m:oMath>
                </a14:m>
                <a:endParaRPr lang="en-US" dirty="0">
                  <a:solidFill>
                    <a:srgbClr val="000000"/>
                  </a:solidFill>
                  <a:sym typeface="Calibri"/>
                </a:endParaRP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692908" y="1351650"/>
                <a:ext cx="10806183" cy="5325762"/>
              </a:xfrm>
              <a:prstGeom prst="rect">
                <a:avLst/>
              </a:prstGeom>
              <a:blipFill>
                <a:blip r:embed="rId3"/>
                <a:stretch>
                  <a:fillRect l="-822" t="-476"/>
                </a:stretch>
              </a:blipFill>
              <a:ln w="12700" cap="flat">
                <a:noFill/>
                <a:miter lim="400000"/>
              </a:ln>
              <a:effec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7E9BD940-D742-3E42-AEA4-F8F78162A399}"/>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19</a:t>
            </a:fld>
            <a:endParaRPr lang="en-US" dirty="0">
              <a:solidFill>
                <a:schemeClr val="tx1"/>
              </a:solidFill>
            </a:endParaRPr>
          </a:p>
        </p:txBody>
      </p:sp>
    </p:spTree>
    <p:extLst>
      <p:ext uri="{BB962C8B-B14F-4D97-AF65-F5344CB8AC3E}">
        <p14:creationId xmlns:p14="http://schemas.microsoft.com/office/powerpoint/2010/main" val="18250294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201882" y="185999"/>
            <a:ext cx="11174680"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Exercise 17: Tuned Speaker</a:t>
            </a:r>
            <a:endParaRPr sz="2000" dirty="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51331F67-F7D0-754C-9B60-59BD56902535}"/>
              </a:ext>
            </a:extLst>
          </p:cNvPr>
          <p:cNvSpPr txBox="1"/>
          <p:nvPr/>
        </p:nvSpPr>
        <p:spPr>
          <a:xfrm>
            <a:off x="694208" y="2024098"/>
            <a:ext cx="11073722" cy="377978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285750" indent="-285750" latinLnBrk="1" hangingPunct="0">
              <a:buFont typeface="Arial" panose="020B0604020202020204" pitchFamily="34" charset="0"/>
              <a:buChar char="•"/>
            </a:pPr>
            <a:r>
              <a:rPr lang="en-US" sz="2000" dirty="0">
                <a:solidFill>
                  <a:srgbClr val="000000"/>
                </a:solidFill>
                <a:sym typeface="Calibri"/>
              </a:rPr>
              <a:t>Connect speaker to function generator 600Hz, 25mVrms.  </a:t>
            </a:r>
          </a:p>
          <a:p>
            <a:pPr latinLnBrk="1" hangingPunct="0"/>
            <a:endParaRPr lang="en-US" sz="2000" dirty="0">
              <a:solidFill>
                <a:srgbClr val="000000"/>
              </a:solidFill>
              <a:sym typeface="Calibri"/>
            </a:endParaRPr>
          </a:p>
          <a:p>
            <a:pPr marL="457200" indent="-457200" latinLnBrk="1" hangingPunct="0">
              <a:buFont typeface="+mj-lt"/>
              <a:buAutoNum type="arabicPeriod"/>
            </a:pPr>
            <a:r>
              <a:rPr lang="en-US" sz="2000" dirty="0">
                <a:solidFill>
                  <a:srgbClr val="000000"/>
                </a:solidFill>
                <a:sym typeface="Calibri"/>
              </a:rPr>
              <a:t>Sound peaks at resonance.  Find resonant frequency </a:t>
            </a:r>
            <a:r>
              <a:rPr lang="en-US" sz="2000" dirty="0" err="1">
                <a:solidFill>
                  <a:srgbClr val="000000"/>
                </a:solidFill>
                <a:sym typeface="Calibri"/>
              </a:rPr>
              <a:t>L</a:t>
            </a:r>
            <a:r>
              <a:rPr lang="en-US" sz="2000" baseline="-25000" dirty="0" err="1">
                <a:solidFill>
                  <a:srgbClr val="000000"/>
                </a:solidFill>
                <a:sym typeface="Calibri"/>
              </a:rPr>
              <a:t>p</a:t>
            </a:r>
            <a:r>
              <a:rPr lang="en-US" sz="2000" dirty="0">
                <a:solidFill>
                  <a:srgbClr val="000000"/>
                </a:solidFill>
                <a:sym typeface="Calibri"/>
              </a:rPr>
              <a:t>.</a:t>
            </a:r>
          </a:p>
          <a:p>
            <a:pPr marL="457200" indent="-457200" latinLnBrk="1" hangingPunct="0">
              <a:buFont typeface="+mj-lt"/>
              <a:buAutoNum type="arabicPeriod"/>
            </a:pPr>
            <a:r>
              <a:rPr lang="en-US" sz="2000" dirty="0">
                <a:solidFill>
                  <a:srgbClr val="000000"/>
                </a:solidFill>
                <a:sym typeface="Calibri"/>
              </a:rPr>
              <a:t>Measure </a:t>
            </a:r>
            <a:r>
              <a:rPr lang="en-US" sz="2000" dirty="0" err="1">
                <a:solidFill>
                  <a:srgbClr val="000000"/>
                </a:solidFill>
                <a:sym typeface="Calibri"/>
              </a:rPr>
              <a:t>f</a:t>
            </a:r>
            <a:r>
              <a:rPr lang="en-US" sz="2000" baseline="-25000" dirty="0" err="1">
                <a:solidFill>
                  <a:srgbClr val="000000"/>
                </a:solidFill>
                <a:sym typeface="Calibri"/>
              </a:rPr>
              <a:t>l</a:t>
            </a:r>
            <a:r>
              <a:rPr lang="en-US" sz="2000" dirty="0">
                <a:solidFill>
                  <a:srgbClr val="000000"/>
                </a:solidFill>
                <a:sym typeface="Calibri"/>
              </a:rPr>
              <a:t>, f</a:t>
            </a:r>
            <a:r>
              <a:rPr lang="en-US" sz="2000" baseline="-25000" dirty="0">
                <a:solidFill>
                  <a:srgbClr val="000000"/>
                </a:solidFill>
                <a:sym typeface="Calibri"/>
              </a:rPr>
              <a:t>u</a:t>
            </a:r>
            <a:r>
              <a:rPr lang="en-US" sz="2000" dirty="0">
                <a:solidFill>
                  <a:srgbClr val="000000"/>
                </a:solidFill>
                <a:sym typeface="Calibri"/>
              </a:rPr>
              <a:t> by noting the 3dB loss.  Calculate Q.</a:t>
            </a:r>
          </a:p>
          <a:p>
            <a:pPr marL="457200" indent="-457200" latinLnBrk="1" hangingPunct="0">
              <a:buFont typeface="+mj-lt"/>
              <a:buAutoNum type="arabicPeriod"/>
            </a:pPr>
            <a:r>
              <a:rPr lang="en-US" sz="2000" dirty="0">
                <a:solidFill>
                  <a:srgbClr val="000000"/>
                </a:solidFill>
                <a:sym typeface="Calibri"/>
              </a:rPr>
              <a:t>Use voltmeter to find resonance with speaker (nominally 8ohm) to calculate impedance</a:t>
            </a:r>
          </a:p>
          <a:p>
            <a:pPr marL="457200" indent="-457200" latinLnBrk="1" hangingPunct="0">
              <a:buFont typeface="+mj-lt"/>
              <a:buAutoNum type="arabicPeriod"/>
            </a:pPr>
            <a:r>
              <a:rPr lang="en-US" sz="2000" dirty="0">
                <a:solidFill>
                  <a:srgbClr val="000000"/>
                </a:solidFill>
                <a:sym typeface="Calibri"/>
              </a:rPr>
              <a:t>Calculate the resonant frequency from a transmission line equivalent circuit.</a:t>
            </a:r>
          </a:p>
        </p:txBody>
      </p:sp>
      <p:sp>
        <p:nvSpPr>
          <p:cNvPr id="2" name="Slide Number Placeholder 1">
            <a:extLst>
              <a:ext uri="{FF2B5EF4-FFF2-40B4-BE49-F238E27FC236}">
                <a16:creationId xmlns:a16="http://schemas.microsoft.com/office/drawing/2014/main" id="{7E9BD940-D742-3E42-AEA4-F8F78162A399}"/>
              </a:ext>
            </a:extLst>
          </p:cNvPr>
          <p:cNvSpPr>
            <a:spLocks noGrp="1"/>
          </p:cNvSpPr>
          <p:nvPr>
            <p:ph type="sldNum" sz="quarter" idx="2"/>
          </p:nvPr>
        </p:nvSpPr>
        <p:spPr>
          <a:xfrm>
            <a:off x="6553200" y="6404292"/>
            <a:ext cx="2133600" cy="269241"/>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pPr lvl="0"/>
              <a:t>20</a:t>
            </a:fld>
            <a:endParaRPr lang="en-US"/>
          </a:p>
        </p:txBody>
      </p:sp>
    </p:spTree>
    <p:extLst>
      <p:ext uri="{BB962C8B-B14F-4D97-AF65-F5344CB8AC3E}">
        <p14:creationId xmlns:p14="http://schemas.microsoft.com/office/powerpoint/2010/main" val="6179378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719447" y="136525"/>
            <a:ext cx="10515600" cy="869909"/>
          </a:xfrm>
        </p:spPr>
        <p:txBody>
          <a:bodyPr/>
          <a:lstStyle/>
          <a:p>
            <a:pPr algn="ctr"/>
            <a:r>
              <a:rPr lang="en-US" dirty="0">
                <a:latin typeface="Calibri" panose="020F0502020204030204" pitchFamily="34" charset="0"/>
                <a:cs typeface="Calibri" panose="020F0502020204030204" pitchFamily="34" charset="0"/>
              </a:rPr>
              <a:t>Norcal circuit diagram, 1</a:t>
            </a:r>
          </a:p>
        </p:txBody>
      </p:sp>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21</a:t>
            </a:fld>
            <a:endParaRPr lang="en-US"/>
          </a:p>
        </p:txBody>
      </p:sp>
      <p:pic>
        <p:nvPicPr>
          <p:cNvPr id="7" name="Picture 6">
            <a:extLst>
              <a:ext uri="{FF2B5EF4-FFF2-40B4-BE49-F238E27FC236}">
                <a16:creationId xmlns:a16="http://schemas.microsoft.com/office/drawing/2014/main" id="{7EA435F1-9A22-3D4C-A2E0-C6A2738F89E8}"/>
              </a:ext>
            </a:extLst>
          </p:cNvPr>
          <p:cNvPicPr>
            <a:picLocks noChangeAspect="1"/>
          </p:cNvPicPr>
          <p:nvPr/>
        </p:nvPicPr>
        <p:blipFill>
          <a:blip r:embed="rId2"/>
          <a:stretch>
            <a:fillRect/>
          </a:stretch>
        </p:blipFill>
        <p:spPr>
          <a:xfrm rot="5400000">
            <a:off x="3043623" y="-2059703"/>
            <a:ext cx="6360393" cy="11503744"/>
          </a:xfrm>
          <a:prstGeom prst="rect">
            <a:avLst/>
          </a:prstGeom>
        </p:spPr>
      </p:pic>
    </p:spTree>
    <p:extLst>
      <p:ext uri="{BB962C8B-B14F-4D97-AF65-F5344CB8AC3E}">
        <p14:creationId xmlns:p14="http://schemas.microsoft.com/office/powerpoint/2010/main" val="31677967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719447" y="112775"/>
            <a:ext cx="10515600" cy="869909"/>
          </a:xfrm>
        </p:spPr>
        <p:txBody>
          <a:bodyPr/>
          <a:lstStyle/>
          <a:p>
            <a:pPr algn="ctr"/>
            <a:r>
              <a:rPr lang="en-US" dirty="0">
                <a:latin typeface="Calibri" panose="020F0502020204030204" pitchFamily="34" charset="0"/>
                <a:cs typeface="Calibri" panose="020F0502020204030204" pitchFamily="34" charset="0"/>
              </a:rPr>
              <a:t>Norcal circuit diagram, 2</a:t>
            </a:r>
          </a:p>
        </p:txBody>
      </p:sp>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22</a:t>
            </a:fld>
            <a:endParaRPr lang="en-US"/>
          </a:p>
        </p:txBody>
      </p:sp>
      <p:pic>
        <p:nvPicPr>
          <p:cNvPr id="6" name="Picture 5">
            <a:extLst>
              <a:ext uri="{FF2B5EF4-FFF2-40B4-BE49-F238E27FC236}">
                <a16:creationId xmlns:a16="http://schemas.microsoft.com/office/drawing/2014/main" id="{BCDEDD66-93BC-7C42-9330-CAF903846723}"/>
              </a:ext>
            </a:extLst>
          </p:cNvPr>
          <p:cNvPicPr>
            <a:picLocks noChangeAspect="1"/>
          </p:cNvPicPr>
          <p:nvPr/>
        </p:nvPicPr>
        <p:blipFill>
          <a:blip r:embed="rId2"/>
          <a:stretch>
            <a:fillRect/>
          </a:stretch>
        </p:blipFill>
        <p:spPr>
          <a:xfrm rot="5400000">
            <a:off x="2743021" y="-1281825"/>
            <a:ext cx="6392966" cy="10515601"/>
          </a:xfrm>
          <a:prstGeom prst="rect">
            <a:avLst/>
          </a:prstGeom>
        </p:spPr>
      </p:pic>
    </p:spTree>
    <p:extLst>
      <p:ext uri="{BB962C8B-B14F-4D97-AF65-F5344CB8AC3E}">
        <p14:creationId xmlns:p14="http://schemas.microsoft.com/office/powerpoint/2010/main" val="39467036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719447" y="136525"/>
            <a:ext cx="10515600" cy="869909"/>
          </a:xfrm>
        </p:spPr>
        <p:txBody>
          <a:bodyPr/>
          <a:lstStyle/>
          <a:p>
            <a:pPr algn="ctr"/>
            <a:r>
              <a:rPr lang="en-US" dirty="0">
                <a:latin typeface="Calibri" panose="020F0502020204030204" pitchFamily="34" charset="0"/>
                <a:cs typeface="Calibri" panose="020F0502020204030204" pitchFamily="34" charset="0"/>
              </a:rPr>
              <a:t>Norcal circuit diagram, 3</a:t>
            </a:r>
          </a:p>
        </p:txBody>
      </p:sp>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23</a:t>
            </a:fld>
            <a:endParaRPr lang="en-US"/>
          </a:p>
        </p:txBody>
      </p:sp>
      <p:pic>
        <p:nvPicPr>
          <p:cNvPr id="6" name="Picture 5">
            <a:extLst>
              <a:ext uri="{FF2B5EF4-FFF2-40B4-BE49-F238E27FC236}">
                <a16:creationId xmlns:a16="http://schemas.microsoft.com/office/drawing/2014/main" id="{CC3EB37F-3218-A246-B76B-9E22CB20A62D}"/>
              </a:ext>
            </a:extLst>
          </p:cNvPr>
          <p:cNvPicPr>
            <a:picLocks noChangeAspect="1"/>
          </p:cNvPicPr>
          <p:nvPr/>
        </p:nvPicPr>
        <p:blipFill>
          <a:blip r:embed="rId2"/>
          <a:stretch>
            <a:fillRect/>
          </a:stretch>
        </p:blipFill>
        <p:spPr>
          <a:xfrm rot="5400000">
            <a:off x="2628150" y="-949955"/>
            <a:ext cx="6365431" cy="9379978"/>
          </a:xfrm>
          <a:prstGeom prst="rect">
            <a:avLst/>
          </a:prstGeom>
        </p:spPr>
      </p:pic>
    </p:spTree>
    <p:extLst>
      <p:ext uri="{BB962C8B-B14F-4D97-AF65-F5344CB8AC3E}">
        <p14:creationId xmlns:p14="http://schemas.microsoft.com/office/powerpoint/2010/main" val="784259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719447" y="136525"/>
            <a:ext cx="10515600" cy="869909"/>
          </a:xfrm>
        </p:spPr>
        <p:txBody>
          <a:bodyPr/>
          <a:lstStyle/>
          <a:p>
            <a:pPr algn="ctr"/>
            <a:r>
              <a:rPr lang="en-US" dirty="0">
                <a:latin typeface="Calibri" panose="020F0502020204030204" pitchFamily="34" charset="0"/>
                <a:cs typeface="Calibri" panose="020F0502020204030204" pitchFamily="34" charset="0"/>
              </a:rPr>
              <a:t>Norcal circuit diagram, 4</a:t>
            </a:r>
          </a:p>
        </p:txBody>
      </p:sp>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24</a:t>
            </a:fld>
            <a:endParaRPr lang="en-US"/>
          </a:p>
        </p:txBody>
      </p:sp>
      <p:pic>
        <p:nvPicPr>
          <p:cNvPr id="6" name="Picture 5">
            <a:extLst>
              <a:ext uri="{FF2B5EF4-FFF2-40B4-BE49-F238E27FC236}">
                <a16:creationId xmlns:a16="http://schemas.microsoft.com/office/drawing/2014/main" id="{FD077C13-C27C-B645-BEFB-EEBAFF6F5640}"/>
              </a:ext>
            </a:extLst>
          </p:cNvPr>
          <p:cNvPicPr>
            <a:picLocks noChangeAspect="1"/>
          </p:cNvPicPr>
          <p:nvPr/>
        </p:nvPicPr>
        <p:blipFill>
          <a:blip r:embed="rId2"/>
          <a:stretch>
            <a:fillRect/>
          </a:stretch>
        </p:blipFill>
        <p:spPr>
          <a:xfrm rot="5400000">
            <a:off x="2847485" y="-1827388"/>
            <a:ext cx="6249529" cy="11000604"/>
          </a:xfrm>
          <a:prstGeom prst="rect">
            <a:avLst/>
          </a:prstGeom>
        </p:spPr>
      </p:pic>
    </p:spTree>
    <p:extLst>
      <p:ext uri="{BB962C8B-B14F-4D97-AF65-F5344CB8AC3E}">
        <p14:creationId xmlns:p14="http://schemas.microsoft.com/office/powerpoint/2010/main" val="4629414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719447" y="136525"/>
            <a:ext cx="10515600" cy="869909"/>
          </a:xfrm>
        </p:spPr>
        <p:txBody>
          <a:bodyPr/>
          <a:lstStyle/>
          <a:p>
            <a:pPr algn="ctr"/>
            <a:r>
              <a:rPr lang="en-US" dirty="0">
                <a:latin typeface="Calibri" panose="020F0502020204030204" pitchFamily="34" charset="0"/>
                <a:cs typeface="Calibri" panose="020F0502020204030204" pitchFamily="34" charset="0"/>
              </a:rPr>
              <a:t>Norcal circuit diagram, 5</a:t>
            </a:r>
          </a:p>
        </p:txBody>
      </p:sp>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25</a:t>
            </a:fld>
            <a:endParaRPr lang="en-US"/>
          </a:p>
        </p:txBody>
      </p:sp>
      <p:pic>
        <p:nvPicPr>
          <p:cNvPr id="6" name="Picture 5">
            <a:extLst>
              <a:ext uri="{FF2B5EF4-FFF2-40B4-BE49-F238E27FC236}">
                <a16:creationId xmlns:a16="http://schemas.microsoft.com/office/drawing/2014/main" id="{A19D2D81-F191-2C4E-94C9-0F184ED8358D}"/>
              </a:ext>
            </a:extLst>
          </p:cNvPr>
          <p:cNvPicPr>
            <a:picLocks noChangeAspect="1"/>
          </p:cNvPicPr>
          <p:nvPr/>
        </p:nvPicPr>
        <p:blipFill>
          <a:blip r:embed="rId2"/>
          <a:stretch>
            <a:fillRect/>
          </a:stretch>
        </p:blipFill>
        <p:spPr>
          <a:xfrm rot="5400000">
            <a:off x="3173501" y="-1441052"/>
            <a:ext cx="6082506" cy="10515601"/>
          </a:xfrm>
          <a:prstGeom prst="rect">
            <a:avLst/>
          </a:prstGeom>
        </p:spPr>
      </p:pic>
    </p:spTree>
    <p:extLst>
      <p:ext uri="{BB962C8B-B14F-4D97-AF65-F5344CB8AC3E}">
        <p14:creationId xmlns:p14="http://schemas.microsoft.com/office/powerpoint/2010/main" val="17744921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0184" y="0"/>
            <a:ext cx="11611633" cy="904009"/>
          </a:xfrm>
        </p:spPr>
        <p:txBody>
          <a:bodyPr anchor="ctr">
            <a:noAutofit/>
          </a:bodyPr>
          <a:lstStyle/>
          <a:p>
            <a:pPr algn="ctr"/>
            <a:r>
              <a:rPr lang="en-US" sz="4400" dirty="0">
                <a:cs typeface="Arial" panose="020B0604020202020204" pitchFamily="34" charset="0"/>
              </a:rPr>
              <a:t>In the beginning…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98763" y="1262359"/>
                <a:ext cx="11403053" cy="5310476"/>
              </a:xfrm>
            </p:spPr>
            <p:txBody>
              <a:bodyPr>
                <a:noAutofit/>
              </a:bodyPr>
              <a:lstStyle/>
              <a:p>
                <a:pPr marL="342900" indent="-342900" algn="l">
                  <a:spcBef>
                    <a:spcPts val="0"/>
                  </a:spcBef>
                  <a:buFont typeface="Arial" panose="020B0604020202020204" pitchFamily="34" charset="0"/>
                  <a:buChar char="•"/>
                </a:pPr>
                <a:r>
                  <a:rPr lang="en-US" sz="2000" dirty="0">
                    <a:latin typeface="Arial" charset="0"/>
                    <a:ea typeface="Arial" charset="0"/>
                    <a:cs typeface="Arial" charset="0"/>
                  </a:rPr>
                  <a:t>The </a:t>
                </a:r>
                <a:r>
                  <a:rPr lang="en-US" sz="2000" dirty="0">
                    <a:ea typeface="Arial" charset="0"/>
                    <a:cs typeface="Arial" charset="0"/>
                  </a:rPr>
                  <a:t>laws of EM according to Clerk Maxwell are:</a:t>
                </a:r>
              </a:p>
              <a:p>
                <a:pPr marL="914400" lvl="1" indent="-457200" algn="l">
                  <a:spcBef>
                    <a:spcPts val="0"/>
                  </a:spcBef>
                  <a:buFont typeface="+mj-lt"/>
                  <a:buAutoNum type="arabicPeriod"/>
                </a:pPr>
                <a14:m>
                  <m:oMath xmlns:m="http://schemas.openxmlformats.org/officeDocument/2006/math">
                    <m:r>
                      <a:rPr lang="en-US" sz="2000" i="1" smtClean="0">
                        <a:latin typeface="Cambria Math" panose="02040503050406030204" pitchFamily="18" charset="0"/>
                        <a:ea typeface="Cambria Math" panose="02040503050406030204" pitchFamily="18" charset="0"/>
                        <a:cs typeface="Arial" charset="0"/>
                      </a:rPr>
                      <m:t>𝛻</m:t>
                    </m:r>
                    <m:r>
                      <a:rPr lang="en-US" sz="2000" i="1" smtClean="0">
                        <a:latin typeface="Cambria Math" panose="02040503050406030204" pitchFamily="18" charset="0"/>
                        <a:ea typeface="Cambria Math" panose="02040503050406030204" pitchFamily="18" charset="0"/>
                        <a:cs typeface="Arial" charset="0"/>
                      </a:rPr>
                      <m:t>∙</m:t>
                    </m:r>
                    <m:r>
                      <a:rPr lang="en-US" sz="2000" b="1" i="1" smtClean="0">
                        <a:latin typeface="Cambria Math" panose="02040503050406030204" pitchFamily="18" charset="0"/>
                        <a:ea typeface="Cambria Math" panose="02040503050406030204" pitchFamily="18" charset="0"/>
                        <a:cs typeface="Arial" charset="0"/>
                      </a:rPr>
                      <m:t>𝑬</m:t>
                    </m:r>
                    <m:r>
                      <a:rPr lang="en-US" sz="2000" b="0" i="1" smtClean="0">
                        <a:latin typeface="Cambria Math" panose="02040503050406030204" pitchFamily="18" charset="0"/>
                        <a:ea typeface="Cambria Math" panose="02040503050406030204" pitchFamily="18" charset="0"/>
                        <a:cs typeface="Arial" charset="0"/>
                      </a:rPr>
                      <m:t>= </m:t>
                    </m:r>
                    <m:f>
                      <m:fPr>
                        <m:ctrlPr>
                          <a:rPr lang="en-US" sz="2000" b="0" i="1" smtClean="0">
                            <a:latin typeface="Cambria Math" panose="02040503050406030204" pitchFamily="18" charset="0"/>
                            <a:ea typeface="Cambria Math" panose="02040503050406030204" pitchFamily="18" charset="0"/>
                            <a:cs typeface="Arial" charset="0"/>
                          </a:rPr>
                        </m:ctrlPr>
                      </m:fPr>
                      <m:num>
                        <m:r>
                          <a:rPr lang="en-US" sz="2000" b="0" i="1" smtClean="0">
                            <a:latin typeface="Cambria Math" panose="02040503050406030204" pitchFamily="18" charset="0"/>
                            <a:ea typeface="Cambria Math" panose="02040503050406030204" pitchFamily="18" charset="0"/>
                            <a:cs typeface="Arial" charset="0"/>
                          </a:rPr>
                          <m:t>𝜌</m:t>
                        </m:r>
                      </m:num>
                      <m:den>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𝜖</m:t>
                            </m:r>
                          </m:e>
                          <m:sub>
                            <m:r>
                              <a:rPr lang="en-US" sz="2000" b="0" i="1" smtClean="0">
                                <a:latin typeface="Cambria Math" panose="02040503050406030204" pitchFamily="18" charset="0"/>
                                <a:ea typeface="Cambria Math" panose="02040503050406030204" pitchFamily="18" charset="0"/>
                                <a:cs typeface="Arial" charset="0"/>
                              </a:rPr>
                              <m:t>0</m:t>
                            </m:r>
                          </m:sub>
                        </m:sSub>
                      </m:den>
                    </m:f>
                    <m:r>
                      <a:rPr lang="en-US" sz="2000" b="0" i="1" smtClean="0">
                        <a:latin typeface="Cambria Math" panose="02040503050406030204" pitchFamily="18" charset="0"/>
                        <a:ea typeface="Cambria Math" panose="02040503050406030204" pitchFamily="18" charset="0"/>
                        <a:cs typeface="Arial" charset="0"/>
                      </a:rPr>
                      <m:t> </m:t>
                    </m:r>
                  </m:oMath>
                </a14:m>
                <a:endParaRPr lang="en-US" sz="2000" i="1" baseline="-25000" dirty="0">
                  <a:ea typeface="Arial" charset="0"/>
                  <a:cs typeface="Arial" charset="0"/>
                </a:endParaRPr>
              </a:p>
              <a:p>
                <a:pPr marL="914400" lvl="1" indent="-457200" algn="l">
                  <a:spcBef>
                    <a:spcPts val="0"/>
                  </a:spcBef>
                  <a:buFont typeface="+mj-lt"/>
                  <a:buAutoNum type="arabicPeriod"/>
                </a:pPr>
                <a14:m>
                  <m:oMath xmlns:m="http://schemas.openxmlformats.org/officeDocument/2006/math">
                    <m:r>
                      <a:rPr lang="en-US" sz="2000" i="1" smtClean="0">
                        <a:latin typeface="Cambria Math" panose="02040503050406030204" pitchFamily="18" charset="0"/>
                        <a:ea typeface="Cambria Math" panose="02040503050406030204" pitchFamily="18" charset="0"/>
                        <a:cs typeface="Arial" charset="0"/>
                      </a:rPr>
                      <m:t>𝛻</m:t>
                    </m:r>
                    <m:r>
                      <a:rPr lang="en-US" sz="2000" i="1" smtClean="0">
                        <a:latin typeface="Cambria Math" panose="02040503050406030204" pitchFamily="18" charset="0"/>
                        <a:ea typeface="Cambria Math" panose="02040503050406030204" pitchFamily="18" charset="0"/>
                        <a:cs typeface="Arial" charset="0"/>
                      </a:rPr>
                      <m:t>∙</m:t>
                    </m:r>
                    <m:r>
                      <a:rPr lang="en-US" sz="2000" b="1" i="1" smtClean="0">
                        <a:latin typeface="Cambria Math" panose="02040503050406030204" pitchFamily="18" charset="0"/>
                        <a:ea typeface="Cambria Math" panose="02040503050406030204" pitchFamily="18" charset="0"/>
                        <a:cs typeface="Arial" charset="0"/>
                      </a:rPr>
                      <m:t>𝑩</m:t>
                    </m:r>
                    <m:r>
                      <a:rPr lang="en-US" sz="2000" b="0" i="1" smtClean="0">
                        <a:latin typeface="Cambria Math" panose="02040503050406030204" pitchFamily="18" charset="0"/>
                        <a:ea typeface="Cambria Math" panose="02040503050406030204" pitchFamily="18" charset="0"/>
                        <a:cs typeface="Arial" charset="0"/>
                      </a:rPr>
                      <m:t>=0</m:t>
                    </m:r>
                  </m:oMath>
                </a14:m>
                <a:endParaRPr lang="en-US" sz="2000" i="1" dirty="0">
                  <a:ea typeface="Arial" charset="0"/>
                  <a:cs typeface="Arial" charset="0"/>
                </a:endParaRPr>
              </a:p>
              <a:p>
                <a:pPr marL="914400" lvl="1" indent="-457200" algn="l">
                  <a:spcBef>
                    <a:spcPts val="0"/>
                  </a:spcBef>
                  <a:buFont typeface="+mj-lt"/>
                  <a:buAutoNum type="arabicPeriod"/>
                </a:pPr>
                <a14:m>
                  <m:oMath xmlns:m="http://schemas.openxmlformats.org/officeDocument/2006/math">
                    <m:r>
                      <a:rPr lang="en-US" sz="2000" i="1" smtClean="0">
                        <a:latin typeface="Cambria Math" panose="02040503050406030204" pitchFamily="18" charset="0"/>
                        <a:ea typeface="Cambria Math" panose="02040503050406030204" pitchFamily="18" charset="0"/>
                        <a:cs typeface="Arial" charset="0"/>
                      </a:rPr>
                      <m:t>𝛻</m:t>
                    </m:r>
                    <m:r>
                      <a:rPr lang="en-US" sz="2000" i="1" smtClean="0">
                        <a:latin typeface="Cambria Math" panose="02040503050406030204" pitchFamily="18" charset="0"/>
                        <a:ea typeface="Cambria Math" panose="02040503050406030204" pitchFamily="18" charset="0"/>
                        <a:cs typeface="Arial" charset="0"/>
                      </a:rPr>
                      <m:t>×</m:t>
                    </m:r>
                    <m:r>
                      <a:rPr lang="en-US" sz="2000" b="1" i="1" smtClean="0">
                        <a:latin typeface="Cambria Math" panose="02040503050406030204" pitchFamily="18" charset="0"/>
                        <a:ea typeface="Cambria Math" panose="02040503050406030204" pitchFamily="18" charset="0"/>
                        <a:cs typeface="Arial" charset="0"/>
                      </a:rPr>
                      <m:t>𝑬</m:t>
                    </m:r>
                    <m:r>
                      <a:rPr lang="en-US" sz="2000" b="0" i="1" smtClean="0">
                        <a:latin typeface="Cambria Math" panose="02040503050406030204" pitchFamily="18" charset="0"/>
                        <a:ea typeface="Cambria Math" panose="02040503050406030204" pitchFamily="18" charset="0"/>
                        <a:cs typeface="Arial" charset="0"/>
                      </a:rPr>
                      <m:t>=−</m:t>
                    </m:r>
                    <m:f>
                      <m:fPr>
                        <m:ctrlPr>
                          <a:rPr lang="en-US" sz="2000" b="0" i="1" smtClean="0">
                            <a:latin typeface="Cambria Math" panose="02040503050406030204" pitchFamily="18" charset="0"/>
                            <a:ea typeface="Cambria Math" panose="02040503050406030204" pitchFamily="18" charset="0"/>
                            <a:cs typeface="Arial" charset="0"/>
                          </a:rPr>
                        </m:ctrlPr>
                      </m:fPr>
                      <m:num>
                        <m:r>
                          <a:rPr lang="en-US" sz="2000" b="0" i="1" smtClean="0">
                            <a:latin typeface="Cambria Math" panose="02040503050406030204" pitchFamily="18" charset="0"/>
                            <a:ea typeface="Cambria Math" panose="02040503050406030204" pitchFamily="18" charset="0"/>
                            <a:cs typeface="Arial" charset="0"/>
                          </a:rPr>
                          <m:t>𝜕</m:t>
                        </m:r>
                        <m:r>
                          <a:rPr lang="en-US" sz="2000" b="1" i="1" smtClean="0">
                            <a:latin typeface="Cambria Math" panose="02040503050406030204" pitchFamily="18" charset="0"/>
                            <a:ea typeface="Cambria Math" panose="02040503050406030204" pitchFamily="18" charset="0"/>
                            <a:cs typeface="Arial" charset="0"/>
                          </a:rPr>
                          <m:t>𝑩</m:t>
                        </m:r>
                      </m:num>
                      <m:den>
                        <m:r>
                          <a:rPr lang="en-US" sz="2000" b="0" i="1" smtClean="0">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𝑡</m:t>
                        </m:r>
                      </m:den>
                    </m:f>
                  </m:oMath>
                </a14:m>
                <a:endParaRPr lang="en-US" sz="2000" i="1" dirty="0">
                  <a:ea typeface="Arial" charset="0"/>
                  <a:cs typeface="Arial" charset="0"/>
                </a:endParaRPr>
              </a:p>
              <a:p>
                <a:pPr marL="914400" lvl="1" indent="-457200" algn="l">
                  <a:spcBef>
                    <a:spcPts val="0"/>
                  </a:spcBef>
                  <a:buFont typeface="+mj-lt"/>
                  <a:buAutoNum type="arabicPeriod"/>
                </a:pPr>
                <a14:m>
                  <m:oMath xmlns:m="http://schemas.openxmlformats.org/officeDocument/2006/math">
                    <m:sSup>
                      <m:sSupPr>
                        <m:ctrlPr>
                          <a:rPr lang="en-US" sz="2000" b="0" i="1" smtClean="0">
                            <a:latin typeface="Cambria Math" panose="02040503050406030204" pitchFamily="18" charset="0"/>
                            <a:cs typeface="Arial" charset="0"/>
                          </a:rPr>
                        </m:ctrlPr>
                      </m:sSupPr>
                      <m:e>
                        <m:r>
                          <a:rPr lang="en-US" sz="2000" b="0" i="1" smtClean="0">
                            <a:latin typeface="Cambria Math" panose="02040503050406030204" pitchFamily="18" charset="0"/>
                            <a:cs typeface="Arial" charset="0"/>
                          </a:rPr>
                          <m:t>𝑐</m:t>
                        </m:r>
                      </m:e>
                      <m:sup>
                        <m:r>
                          <a:rPr lang="en-US" sz="2000" b="0" i="1" smtClean="0">
                            <a:latin typeface="Cambria Math" panose="02040503050406030204" pitchFamily="18" charset="0"/>
                            <a:cs typeface="Arial" charset="0"/>
                          </a:rPr>
                          <m:t>2</m:t>
                        </m:r>
                      </m:sup>
                    </m:sSup>
                    <m:r>
                      <a:rPr lang="en-US" sz="2000" b="0" i="1" smtClean="0">
                        <a:latin typeface="Cambria Math" panose="02040503050406030204" pitchFamily="18" charset="0"/>
                        <a:cs typeface="Arial" charset="0"/>
                      </a:rPr>
                      <m:t> </m:t>
                    </m:r>
                    <m:r>
                      <a:rPr lang="en-US" sz="2000" b="0" i="1" smtClean="0">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m:t>
                    </m:r>
                    <m:r>
                      <a:rPr lang="en-US" sz="2000" b="1" i="1" smtClean="0">
                        <a:latin typeface="Cambria Math" panose="02040503050406030204" pitchFamily="18" charset="0"/>
                        <a:ea typeface="Cambria Math" panose="02040503050406030204" pitchFamily="18" charset="0"/>
                        <a:cs typeface="Arial" charset="0"/>
                      </a:rPr>
                      <m:t>𝑩</m:t>
                    </m:r>
                    <m:r>
                      <a:rPr lang="en-US" sz="2000" b="0" i="1" smtClean="0">
                        <a:latin typeface="Cambria Math" panose="02040503050406030204" pitchFamily="18" charset="0"/>
                        <a:ea typeface="Cambria Math" panose="02040503050406030204" pitchFamily="18" charset="0"/>
                        <a:cs typeface="Arial" charset="0"/>
                      </a:rPr>
                      <m:t>= </m:t>
                    </m:r>
                    <m:f>
                      <m:fPr>
                        <m:ctrlPr>
                          <a:rPr lang="en-US" sz="2000" b="1" i="1" smtClean="0">
                            <a:latin typeface="Cambria Math" panose="02040503050406030204" pitchFamily="18" charset="0"/>
                            <a:ea typeface="Cambria Math" panose="02040503050406030204" pitchFamily="18" charset="0"/>
                            <a:cs typeface="Arial" charset="0"/>
                          </a:rPr>
                        </m:ctrlPr>
                      </m:fPr>
                      <m:num>
                        <m:r>
                          <a:rPr lang="en-US" sz="2000" b="1" i="1" smtClean="0">
                            <a:latin typeface="Cambria Math" panose="02040503050406030204" pitchFamily="18" charset="0"/>
                            <a:ea typeface="Cambria Math" panose="02040503050406030204" pitchFamily="18" charset="0"/>
                            <a:cs typeface="Arial" charset="0"/>
                          </a:rPr>
                          <m:t>𝒋</m:t>
                        </m:r>
                      </m:num>
                      <m:den>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𝜖</m:t>
                            </m:r>
                          </m:e>
                          <m:sub>
                            <m:r>
                              <a:rPr lang="en-US" sz="2000" b="0" i="1" smtClean="0">
                                <a:latin typeface="Cambria Math" panose="02040503050406030204" pitchFamily="18" charset="0"/>
                                <a:ea typeface="Cambria Math" panose="02040503050406030204" pitchFamily="18" charset="0"/>
                                <a:cs typeface="Arial" charset="0"/>
                              </a:rPr>
                              <m:t>0</m:t>
                            </m:r>
                          </m:sub>
                        </m:sSub>
                      </m:den>
                    </m:f>
                    <m:r>
                      <a:rPr lang="en-US" sz="2000" b="0" i="1" smtClean="0">
                        <a:latin typeface="Cambria Math" panose="02040503050406030204" pitchFamily="18" charset="0"/>
                        <a:ea typeface="Cambria Math" panose="02040503050406030204" pitchFamily="18" charset="0"/>
                        <a:cs typeface="Arial" charset="0"/>
                      </a:rPr>
                      <m:t>+ </m:t>
                    </m:r>
                    <m:f>
                      <m:fPr>
                        <m:ctrlPr>
                          <a:rPr lang="en-US" sz="2000" b="0" i="1" smtClean="0">
                            <a:latin typeface="Cambria Math" panose="02040503050406030204" pitchFamily="18" charset="0"/>
                            <a:ea typeface="Cambria Math" panose="02040503050406030204" pitchFamily="18" charset="0"/>
                            <a:cs typeface="Arial" charset="0"/>
                          </a:rPr>
                        </m:ctrlPr>
                      </m:fPr>
                      <m:num>
                        <m:r>
                          <a:rPr lang="en-US" sz="2000" b="0" i="1" smtClean="0">
                            <a:latin typeface="Cambria Math" panose="02040503050406030204" pitchFamily="18" charset="0"/>
                            <a:ea typeface="Cambria Math" panose="02040503050406030204" pitchFamily="18" charset="0"/>
                            <a:cs typeface="Arial" charset="0"/>
                          </a:rPr>
                          <m:t>𝜕</m:t>
                        </m:r>
                        <m:r>
                          <a:rPr lang="en-US" sz="2000" b="1" i="1" smtClean="0">
                            <a:latin typeface="Cambria Math" panose="02040503050406030204" pitchFamily="18" charset="0"/>
                            <a:ea typeface="Cambria Math" panose="02040503050406030204" pitchFamily="18" charset="0"/>
                            <a:cs typeface="Arial" charset="0"/>
                          </a:rPr>
                          <m:t>𝑬</m:t>
                        </m:r>
                      </m:num>
                      <m:den>
                        <m:r>
                          <a:rPr lang="en-US" sz="2000" b="0" i="1" smtClean="0">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𝑡</m:t>
                        </m:r>
                      </m:den>
                    </m:f>
                    <m:r>
                      <a:rPr lang="en-US" sz="2000" b="0" i="1" smtClean="0">
                        <a:latin typeface="Cambria Math" panose="02040503050406030204" pitchFamily="18" charset="0"/>
                        <a:ea typeface="Cambria Math" panose="02040503050406030204" pitchFamily="18" charset="0"/>
                        <a:cs typeface="Arial" charset="0"/>
                      </a:rPr>
                      <m:t> </m:t>
                    </m:r>
                  </m:oMath>
                </a14:m>
                <a:r>
                  <a:rPr lang="en-US" sz="2000" i="1" dirty="0">
                    <a:ea typeface="Arial" charset="0"/>
                    <a:cs typeface="Arial" charset="0"/>
                  </a:rPr>
                  <a:t>, </a:t>
                </a: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cs typeface="Arial" charset="0"/>
                          </a:rPr>
                        </m:ctrlPr>
                      </m:sSubPr>
                      <m:e>
                        <m:r>
                          <a:rPr lang="en-US" sz="2000" i="1" smtClean="0">
                            <a:latin typeface="Cambria Math" panose="02040503050406030204" pitchFamily="18" charset="0"/>
                            <a:ea typeface="Cambria Math" panose="02040503050406030204" pitchFamily="18" charset="0"/>
                            <a:cs typeface="Arial" charset="0"/>
                          </a:rPr>
                          <m:t>𝜖</m:t>
                        </m:r>
                      </m:e>
                      <m:sub>
                        <m:r>
                          <a:rPr lang="en-US" sz="2000" b="0" i="1" smtClean="0">
                            <a:latin typeface="Cambria Math" panose="02040503050406030204" pitchFamily="18" charset="0"/>
                            <a:cs typeface="Arial" charset="0"/>
                          </a:rPr>
                          <m:t>0</m:t>
                        </m:r>
                      </m:sub>
                    </m:sSub>
                    <m:r>
                      <a:rPr lang="en-US" sz="2000" b="0" i="1" smtClean="0">
                        <a:latin typeface="Cambria Math" panose="02040503050406030204" pitchFamily="18" charset="0"/>
                        <a:cs typeface="Arial" charset="0"/>
                      </a:rPr>
                      <m:t>=8.854</m:t>
                    </m:r>
                    <m:r>
                      <a:rPr lang="en-US" sz="2000" b="0" smtClean="0">
                        <a:latin typeface="Cambria Math" panose="02040503050406030204" pitchFamily="18" charset="0"/>
                        <a:ea typeface="Cambria Math" panose="02040503050406030204" pitchFamily="18" charset="0"/>
                        <a:cs typeface="Arial" charset="0"/>
                      </a:rPr>
                      <m:t>×</m:t>
                    </m:r>
                    <m:sSup>
                      <m:sSupPr>
                        <m:ctrlPr>
                          <a:rPr lang="en-US" sz="2000" b="0" i="1" smtClean="0">
                            <a:latin typeface="Cambria Math" panose="02040503050406030204" pitchFamily="18" charset="0"/>
                            <a:ea typeface="Cambria Math" panose="02040503050406030204" pitchFamily="18" charset="0"/>
                            <a:cs typeface="Arial" charset="0"/>
                          </a:rPr>
                        </m:ctrlPr>
                      </m:sSupPr>
                      <m:e>
                        <m:r>
                          <a:rPr lang="en-US" sz="2000" b="0" i="1" smtClean="0">
                            <a:latin typeface="Cambria Math" panose="02040503050406030204" pitchFamily="18" charset="0"/>
                            <a:ea typeface="Cambria Math" panose="02040503050406030204" pitchFamily="18" charset="0"/>
                            <a:cs typeface="Arial" charset="0"/>
                          </a:rPr>
                          <m:t>10</m:t>
                        </m:r>
                      </m:e>
                      <m:sup>
                        <m:r>
                          <a:rPr lang="en-US" sz="2000" b="0" i="1" smtClean="0">
                            <a:latin typeface="Cambria Math" panose="02040503050406030204" pitchFamily="18" charset="0"/>
                            <a:ea typeface="Cambria Math" panose="02040503050406030204" pitchFamily="18" charset="0"/>
                            <a:cs typeface="Arial" charset="0"/>
                          </a:rPr>
                          <m:t>−12</m:t>
                        </m:r>
                      </m:sup>
                    </m:sSup>
                    <m:r>
                      <a:rPr lang="en-US" sz="2000" b="0" i="1" smtClean="0">
                        <a:latin typeface="Cambria Math" panose="02040503050406030204" pitchFamily="18" charset="0"/>
                        <a:ea typeface="Cambria Math" panose="02040503050406030204" pitchFamily="18" charset="0"/>
                        <a:cs typeface="Arial" charset="0"/>
                      </a:rPr>
                      <m:t> </m:t>
                    </m:r>
                    <m:f>
                      <m:fPr>
                        <m:ctrlPr>
                          <a:rPr lang="en-US" sz="2000" b="0" i="1" smtClean="0">
                            <a:latin typeface="Cambria Math" panose="02040503050406030204" pitchFamily="18" charset="0"/>
                            <a:ea typeface="Cambria Math" panose="02040503050406030204" pitchFamily="18" charset="0"/>
                            <a:cs typeface="Arial" charset="0"/>
                          </a:rPr>
                        </m:ctrlPr>
                      </m:fPr>
                      <m:num>
                        <m:sSup>
                          <m:sSupPr>
                            <m:ctrlPr>
                              <a:rPr lang="en-US" sz="2000" b="0" i="1" smtClean="0">
                                <a:latin typeface="Cambria Math" panose="02040503050406030204" pitchFamily="18" charset="0"/>
                                <a:ea typeface="Cambria Math" panose="02040503050406030204" pitchFamily="18" charset="0"/>
                                <a:cs typeface="Arial" charset="0"/>
                              </a:rPr>
                            </m:ctrlPr>
                          </m:sSupPr>
                          <m:e>
                            <m:r>
                              <a:rPr lang="en-US" sz="2000" b="0" i="1" smtClean="0">
                                <a:latin typeface="Cambria Math" panose="02040503050406030204" pitchFamily="18" charset="0"/>
                                <a:ea typeface="Cambria Math" panose="02040503050406030204" pitchFamily="18" charset="0"/>
                                <a:cs typeface="Arial" charset="0"/>
                              </a:rPr>
                              <m:t>𝐶</m:t>
                            </m:r>
                          </m:e>
                          <m:sup>
                            <m:r>
                              <a:rPr lang="en-US" sz="2000" b="0" i="1" smtClean="0">
                                <a:latin typeface="Cambria Math" panose="02040503050406030204" pitchFamily="18" charset="0"/>
                                <a:ea typeface="Cambria Math" panose="02040503050406030204" pitchFamily="18" charset="0"/>
                                <a:cs typeface="Arial" charset="0"/>
                              </a:rPr>
                              <m:t>2</m:t>
                            </m:r>
                          </m:sup>
                        </m:sSup>
                      </m:num>
                      <m:den>
                        <m:r>
                          <a:rPr lang="en-US" sz="2000" b="0" i="1" smtClean="0">
                            <a:latin typeface="Cambria Math" panose="02040503050406030204" pitchFamily="18" charset="0"/>
                            <a:ea typeface="Cambria Math" panose="02040503050406030204" pitchFamily="18" charset="0"/>
                            <a:cs typeface="Arial" charset="0"/>
                          </a:rPr>
                          <m:t>𝑁</m:t>
                        </m:r>
                        <m:r>
                          <a:rPr lang="en-US" sz="2000" b="0" i="1" smtClean="0">
                            <a:latin typeface="Cambria Math" panose="02040503050406030204" pitchFamily="18" charset="0"/>
                            <a:ea typeface="Cambria Math" panose="02040503050406030204" pitchFamily="18" charset="0"/>
                            <a:cs typeface="Arial" charset="0"/>
                          </a:rPr>
                          <m:t>−</m:t>
                        </m:r>
                        <m:sSup>
                          <m:sSupPr>
                            <m:ctrlPr>
                              <a:rPr lang="en-US" sz="2000" b="0" i="1" smtClean="0">
                                <a:latin typeface="Cambria Math" panose="02040503050406030204" pitchFamily="18" charset="0"/>
                                <a:ea typeface="Cambria Math" panose="02040503050406030204" pitchFamily="18" charset="0"/>
                                <a:cs typeface="Arial" charset="0"/>
                              </a:rPr>
                            </m:ctrlPr>
                          </m:sSupPr>
                          <m:e>
                            <m:r>
                              <a:rPr lang="en-US" sz="2000" b="0" i="1" smtClean="0">
                                <a:latin typeface="Cambria Math" panose="02040503050406030204" pitchFamily="18" charset="0"/>
                                <a:ea typeface="Cambria Math" panose="02040503050406030204" pitchFamily="18" charset="0"/>
                                <a:cs typeface="Arial" charset="0"/>
                              </a:rPr>
                              <m:t>𝑚</m:t>
                            </m:r>
                          </m:e>
                          <m:sup>
                            <m:r>
                              <a:rPr lang="en-US" sz="2000" b="0" i="1" smtClean="0">
                                <a:latin typeface="Cambria Math" panose="02040503050406030204" pitchFamily="18" charset="0"/>
                                <a:ea typeface="Cambria Math" panose="02040503050406030204" pitchFamily="18" charset="0"/>
                                <a:cs typeface="Arial" charset="0"/>
                              </a:rPr>
                              <m:t>2</m:t>
                            </m:r>
                          </m:sup>
                        </m:sSup>
                      </m:den>
                    </m:f>
                  </m:oMath>
                </a14:m>
                <a:r>
                  <a:rPr lang="en-US" sz="2000" i="1" dirty="0">
                    <a:ea typeface="Arial" charset="0"/>
                    <a:cs typeface="Arial" charset="0"/>
                  </a:rPr>
                  <a:t>, </a:t>
                </a:r>
                <a14:m>
                  <m:oMath xmlns:m="http://schemas.openxmlformats.org/officeDocument/2006/math">
                    <m:f>
                      <m:fPr>
                        <m:ctrlPr>
                          <a:rPr lang="en-US" sz="2000" b="0" i="1" smtClean="0">
                            <a:latin typeface="Cambria Math" panose="02040503050406030204" pitchFamily="18" charset="0"/>
                            <a:cs typeface="Arial" charset="0"/>
                          </a:rPr>
                        </m:ctrlPr>
                      </m:fPr>
                      <m:num>
                        <m:r>
                          <a:rPr lang="en-US" sz="2000" b="0" i="1" smtClean="0">
                            <a:latin typeface="Cambria Math" panose="02040503050406030204" pitchFamily="18" charset="0"/>
                            <a:cs typeface="Arial" charset="0"/>
                          </a:rPr>
                          <m:t>1</m:t>
                        </m:r>
                      </m:num>
                      <m:den>
                        <m:sSup>
                          <m:sSupPr>
                            <m:ctrlPr>
                              <a:rPr lang="en-US" sz="2000" b="0" i="1" smtClean="0">
                                <a:latin typeface="Cambria Math" panose="02040503050406030204" pitchFamily="18" charset="0"/>
                                <a:cs typeface="Arial" charset="0"/>
                              </a:rPr>
                            </m:ctrlPr>
                          </m:sSupPr>
                          <m:e>
                            <m:r>
                              <a:rPr lang="en-US" sz="2000" b="0" i="1" smtClean="0">
                                <a:latin typeface="Cambria Math" panose="02040503050406030204" pitchFamily="18" charset="0"/>
                                <a:cs typeface="Arial" charset="0"/>
                              </a:rPr>
                              <m:t>𝑐</m:t>
                            </m:r>
                          </m:e>
                          <m:sup>
                            <m:r>
                              <a:rPr lang="en-US" sz="2000" b="0" i="1" smtClean="0">
                                <a:latin typeface="Cambria Math" panose="02040503050406030204" pitchFamily="18" charset="0"/>
                                <a:cs typeface="Arial" charset="0"/>
                              </a:rPr>
                              <m:t>2</m:t>
                            </m:r>
                          </m:sup>
                        </m:sSup>
                      </m:den>
                    </m:f>
                    <m:r>
                      <a:rPr lang="en-US" sz="2000" b="0" i="1" smtClean="0">
                        <a:latin typeface="Cambria Math" panose="02040503050406030204" pitchFamily="18" charset="0"/>
                        <a:cs typeface="Arial" charset="0"/>
                      </a:rPr>
                      <m:t>= </m:t>
                    </m:r>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𝜖</m:t>
                        </m:r>
                      </m:e>
                      <m:sub>
                        <m:r>
                          <a:rPr lang="en-US" sz="2000" b="0" i="1" smtClean="0">
                            <a:latin typeface="Cambria Math" panose="02040503050406030204" pitchFamily="18" charset="0"/>
                            <a:cs typeface="Arial" charset="0"/>
                          </a:rPr>
                          <m:t>0</m:t>
                        </m:r>
                      </m:sub>
                    </m:sSub>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𝜇</m:t>
                        </m:r>
                      </m:e>
                      <m:sub>
                        <m:r>
                          <a:rPr lang="en-US" sz="2000" b="0" i="1" smtClean="0">
                            <a:latin typeface="Cambria Math" panose="02040503050406030204" pitchFamily="18" charset="0"/>
                            <a:cs typeface="Arial" charset="0"/>
                          </a:rPr>
                          <m:t>0</m:t>
                        </m:r>
                      </m:sub>
                    </m:sSub>
                  </m:oMath>
                </a14:m>
                <a:endParaRPr lang="en-US" sz="2000" i="1" dirty="0">
                  <a:cs typeface="Arial" charset="0"/>
                </a:endParaRPr>
              </a:p>
              <a:p>
                <a:pPr marL="914400" lvl="1" indent="-457200" algn="l">
                  <a:spcBef>
                    <a:spcPts val="0"/>
                  </a:spcBef>
                  <a:buFont typeface="+mj-lt"/>
                  <a:buAutoNum type="arabicPeriod"/>
                </a:pPr>
                <a14:m>
                  <m:oMath xmlns:m="http://schemas.openxmlformats.org/officeDocument/2006/math">
                    <m:r>
                      <a:rPr lang="en-US" sz="2000" i="1" smtClean="0">
                        <a:latin typeface="Cambria Math" panose="02040503050406030204" pitchFamily="18" charset="0"/>
                        <a:ea typeface="Cambria Math" panose="02040503050406030204" pitchFamily="18" charset="0"/>
                        <a:cs typeface="Arial" charset="0"/>
                      </a:rPr>
                      <m:t>𝛻</m:t>
                    </m:r>
                    <m:r>
                      <a:rPr lang="en-US" sz="2000" i="1" smtClean="0">
                        <a:latin typeface="Cambria Math" panose="02040503050406030204" pitchFamily="18" charset="0"/>
                        <a:ea typeface="Cambria Math" panose="02040503050406030204" pitchFamily="18" charset="0"/>
                        <a:cs typeface="Arial" charset="0"/>
                      </a:rPr>
                      <m:t>∙</m:t>
                    </m:r>
                    <m:r>
                      <a:rPr lang="en-US" sz="2000" b="1" i="1" smtClean="0">
                        <a:latin typeface="Cambria Math" panose="02040503050406030204" pitchFamily="18" charset="0"/>
                        <a:ea typeface="Cambria Math" panose="02040503050406030204" pitchFamily="18" charset="0"/>
                        <a:cs typeface="Arial" charset="0"/>
                      </a:rPr>
                      <m:t>𝒋</m:t>
                    </m:r>
                    <m:r>
                      <a:rPr lang="en-US" sz="2000" b="0" i="1" smtClean="0">
                        <a:latin typeface="Cambria Math" panose="02040503050406030204" pitchFamily="18" charset="0"/>
                        <a:ea typeface="Cambria Math" panose="02040503050406030204" pitchFamily="18" charset="0"/>
                        <a:cs typeface="Arial" charset="0"/>
                      </a:rPr>
                      <m:t>=−</m:t>
                    </m:r>
                    <m:f>
                      <m:fPr>
                        <m:ctrlPr>
                          <a:rPr lang="en-US" sz="2000" b="0" i="1" smtClean="0">
                            <a:latin typeface="Cambria Math" panose="02040503050406030204" pitchFamily="18" charset="0"/>
                            <a:ea typeface="Cambria Math" panose="02040503050406030204" pitchFamily="18" charset="0"/>
                            <a:cs typeface="Arial" charset="0"/>
                          </a:rPr>
                        </m:ctrlPr>
                      </m:fPr>
                      <m:num>
                        <m:r>
                          <a:rPr lang="en-US" sz="2000" b="0" i="1" smtClean="0">
                            <a:latin typeface="Cambria Math" panose="02040503050406030204" pitchFamily="18" charset="0"/>
                            <a:ea typeface="Cambria Math" panose="02040503050406030204" pitchFamily="18" charset="0"/>
                            <a:cs typeface="Arial" charset="0"/>
                          </a:rPr>
                          <m:t>𝜕𝜌</m:t>
                        </m:r>
                      </m:num>
                      <m:den>
                        <m:r>
                          <a:rPr lang="en-US" sz="2000" b="0" i="1" smtClean="0">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𝑡</m:t>
                        </m:r>
                      </m:den>
                    </m:f>
                  </m:oMath>
                </a14:m>
                <a:endParaRPr lang="en-US" sz="2000" i="1" dirty="0">
                  <a:ea typeface="Arial" charset="0"/>
                  <a:cs typeface="Arial" charset="0"/>
                </a:endParaRPr>
              </a:p>
              <a:p>
                <a:pPr lvl="2">
                  <a:spcBef>
                    <a:spcPts val="0"/>
                  </a:spcBef>
                  <a:tabLst>
                    <a:tab pos="4449763" algn="l"/>
                  </a:tabLst>
                </a:pPr>
                <a:r>
                  <a:rPr lang="en-US" dirty="0">
                    <a:ea typeface="Arial" charset="0"/>
                    <a:cs typeface="Arial" charset="0"/>
                  </a:rPr>
                  <a:t>Here </a:t>
                </a:r>
                <a:r>
                  <a:rPr lang="en-US" b="1" dirty="0">
                    <a:ea typeface="Arial" charset="0"/>
                    <a:cs typeface="Arial" charset="0"/>
                  </a:rPr>
                  <a:t>E </a:t>
                </a:r>
                <a:r>
                  <a:rPr lang="en-US" dirty="0">
                    <a:ea typeface="Arial" charset="0"/>
                    <a:cs typeface="Arial" charset="0"/>
                  </a:rPr>
                  <a:t> is the electric field, </a:t>
                </a:r>
                <a:r>
                  <a:rPr lang="en-US" b="1" dirty="0">
                    <a:ea typeface="Arial" charset="0"/>
                    <a:cs typeface="Arial" charset="0"/>
                  </a:rPr>
                  <a:t>B</a:t>
                </a:r>
                <a:r>
                  <a:rPr lang="en-US" dirty="0">
                    <a:ea typeface="Arial" charset="0"/>
                    <a:cs typeface="Arial" charset="0"/>
                  </a:rPr>
                  <a:t> is the magnetic field, </a:t>
                </a:r>
                <a:r>
                  <a:rPr lang="en-US" b="1" dirty="0">
                    <a:ea typeface="Arial" charset="0"/>
                    <a:cs typeface="Arial" charset="0"/>
                  </a:rPr>
                  <a:t>j</a:t>
                </a:r>
                <a:r>
                  <a:rPr lang="en-US" dirty="0">
                    <a:ea typeface="Arial" charset="0"/>
                    <a:cs typeface="Arial" charset="0"/>
                  </a:rPr>
                  <a:t> is the current density through a closed surface, c is the speed of light and 𝜌 is the charge density at a point.  </a:t>
                </a:r>
                <a:endParaRPr lang="en-US" sz="2000" dirty="0">
                  <a:ea typeface="Arial" charset="0"/>
                  <a:cs typeface="Arial" charset="0"/>
                </a:endParaRPr>
              </a:p>
              <a:p>
                <a:pPr lvl="2">
                  <a:spcBef>
                    <a:spcPts val="0"/>
                  </a:spcBef>
                  <a:tabLst>
                    <a:tab pos="4449763" algn="l"/>
                  </a:tabLst>
                </a:pPr>
                <a:r>
                  <a:rPr lang="en-US" dirty="0">
                    <a:ea typeface="Arial" charset="0"/>
                    <a:cs typeface="Arial" charset="0"/>
                  </a:rPr>
                  <a:t>In non-dispersive matter, </a:t>
                </a:r>
                <a14:m>
                  <m:oMath xmlns:m="http://schemas.openxmlformats.org/officeDocument/2006/math">
                    <m:r>
                      <a:rPr lang="en-US" b="0" i="0" smtClean="0">
                        <a:latin typeface="Cambria Math" panose="02040503050406030204" pitchFamily="18" charset="0"/>
                        <a:ea typeface="Arial" charset="0"/>
                        <a:cs typeface="Arial" charset="0"/>
                      </a:rPr>
                      <m:t>  </m:t>
                    </m:r>
                    <m:r>
                      <a:rPr lang="en-US" b="0" i="1" smtClean="0">
                        <a:latin typeface="Cambria Math" panose="02040503050406030204" pitchFamily="18" charset="0"/>
                        <a:ea typeface="Arial" charset="0"/>
                        <a:cs typeface="Arial" charset="0"/>
                      </a:rPr>
                      <m:t>𝐵</m:t>
                    </m:r>
                    <m:r>
                      <a:rPr lang="en-US" b="0" i="1" smtClean="0">
                        <a:latin typeface="Cambria Math" panose="02040503050406030204" pitchFamily="18" charset="0"/>
                        <a:ea typeface="Arial" charset="0"/>
                        <a:cs typeface="Arial" charset="0"/>
                      </a:rPr>
                      <m:t>=</m:t>
                    </m:r>
                    <m:r>
                      <a:rPr lang="en-US" b="0" i="1" smtClean="0">
                        <a:latin typeface="Cambria Math" panose="02040503050406030204" pitchFamily="18" charset="0"/>
                        <a:ea typeface="Cambria Math" panose="02040503050406030204" pitchFamily="18" charset="0"/>
                        <a:cs typeface="Arial" charset="0"/>
                      </a:rPr>
                      <m:t>𝜇</m:t>
                    </m:r>
                    <m:r>
                      <a:rPr lang="en-US" b="0" i="1" smtClean="0">
                        <a:latin typeface="Cambria Math" panose="02040503050406030204" pitchFamily="18" charset="0"/>
                        <a:ea typeface="Cambria Math" panose="02040503050406030204" pitchFamily="18" charset="0"/>
                        <a:cs typeface="Arial" charset="0"/>
                      </a:rPr>
                      <m:t>𝐻</m:t>
                    </m:r>
                    <m:r>
                      <a:rPr lang="en-US" b="0" i="1" smtClean="0">
                        <a:latin typeface="Cambria Math" panose="02040503050406030204" pitchFamily="18" charset="0"/>
                        <a:ea typeface="Cambria Math" panose="02040503050406030204" pitchFamily="18" charset="0"/>
                        <a:cs typeface="Arial" charset="0"/>
                      </a:rPr>
                      <m:t>=</m:t>
                    </m:r>
                    <m:sSub>
                      <m:sSubPr>
                        <m:ctrlPr>
                          <a:rPr lang="en-US" b="0" i="1" smtClean="0">
                            <a:latin typeface="Cambria Math" panose="02040503050406030204" pitchFamily="18" charset="0"/>
                            <a:ea typeface="Cambria Math" panose="02040503050406030204" pitchFamily="18" charset="0"/>
                            <a:cs typeface="Arial" charset="0"/>
                          </a:rPr>
                        </m:ctrlPr>
                      </m:sSubPr>
                      <m:e>
                        <m:r>
                          <a:rPr lang="en-US" b="0" i="1" smtClean="0">
                            <a:latin typeface="Cambria Math" panose="02040503050406030204" pitchFamily="18" charset="0"/>
                            <a:ea typeface="Cambria Math" panose="02040503050406030204" pitchFamily="18" charset="0"/>
                            <a:cs typeface="Arial" charset="0"/>
                          </a:rPr>
                          <m:t>𝜇</m:t>
                        </m:r>
                      </m:e>
                      <m:sub>
                        <m:r>
                          <a:rPr lang="en-US" b="0" i="1" smtClean="0">
                            <a:latin typeface="Cambria Math" panose="02040503050406030204" pitchFamily="18" charset="0"/>
                            <a:ea typeface="Cambria Math" panose="02040503050406030204" pitchFamily="18" charset="0"/>
                            <a:cs typeface="Arial" charset="0"/>
                          </a:rPr>
                          <m:t>0</m:t>
                        </m:r>
                      </m:sub>
                    </m:sSub>
                    <m:r>
                      <a:rPr lang="en-US" b="0" i="1" smtClean="0">
                        <a:latin typeface="Cambria Math" panose="02040503050406030204" pitchFamily="18" charset="0"/>
                        <a:ea typeface="Cambria Math" panose="02040503050406030204" pitchFamily="18" charset="0"/>
                        <a:cs typeface="Arial" charset="0"/>
                      </a:rPr>
                      <m:t>(</m:t>
                    </m:r>
                    <m:r>
                      <a:rPr lang="en-US" b="0" i="1" smtClean="0">
                        <a:latin typeface="Cambria Math" panose="02040503050406030204" pitchFamily="18" charset="0"/>
                        <a:ea typeface="Cambria Math" panose="02040503050406030204" pitchFamily="18" charset="0"/>
                        <a:cs typeface="Arial" charset="0"/>
                      </a:rPr>
                      <m:t>𝐻</m:t>
                    </m:r>
                    <m:r>
                      <a:rPr lang="en-US" b="0" i="1" smtClean="0">
                        <a:latin typeface="Cambria Math" panose="02040503050406030204" pitchFamily="18" charset="0"/>
                        <a:ea typeface="Cambria Math" panose="02040503050406030204" pitchFamily="18" charset="0"/>
                        <a:cs typeface="Arial" charset="0"/>
                      </a:rPr>
                      <m:t>+</m:t>
                    </m:r>
                    <m:r>
                      <a:rPr lang="en-US" b="0" i="1" smtClean="0">
                        <a:latin typeface="Cambria Math" panose="02040503050406030204" pitchFamily="18" charset="0"/>
                        <a:ea typeface="Cambria Math" panose="02040503050406030204" pitchFamily="18" charset="0"/>
                        <a:cs typeface="Arial" charset="0"/>
                      </a:rPr>
                      <m:t>𝑀</m:t>
                    </m:r>
                    <m:r>
                      <a:rPr lang="en-US" b="0" i="1" smtClean="0">
                        <a:latin typeface="Cambria Math" panose="02040503050406030204" pitchFamily="18" charset="0"/>
                        <a:ea typeface="Cambria Math" panose="02040503050406030204" pitchFamily="18" charset="0"/>
                        <a:cs typeface="Arial" charset="0"/>
                      </a:rPr>
                      <m:t>)</m:t>
                    </m:r>
                  </m:oMath>
                </a14:m>
                <a:r>
                  <a:rPr lang="en-US" dirty="0">
                    <a:ea typeface="Arial" charset="0"/>
                    <a:cs typeface="Arial" charset="0"/>
                  </a:rPr>
                  <a:t>, </a:t>
                </a:r>
                <a14:m>
                  <m:oMath xmlns:m="http://schemas.openxmlformats.org/officeDocument/2006/math">
                    <m:r>
                      <a:rPr lang="en-US" i="1" smtClean="0">
                        <a:latin typeface="Cambria Math" panose="02040503050406030204" pitchFamily="18" charset="0"/>
                        <a:ea typeface="Cambria Math" panose="02040503050406030204" pitchFamily="18" charset="0"/>
                        <a:cs typeface="Arial" charset="0"/>
                      </a:rPr>
                      <m:t>𝜇</m:t>
                    </m:r>
                    <m:r>
                      <a:rPr lang="en-US" b="0" i="0" smtClean="0">
                        <a:latin typeface="Cambria Math" panose="02040503050406030204" pitchFamily="18" charset="0"/>
                        <a:ea typeface="Cambria Math" panose="02040503050406030204" pitchFamily="18" charset="0"/>
                        <a:cs typeface="Arial" charset="0"/>
                      </a:rPr>
                      <m:t>=</m:t>
                    </m:r>
                    <m:sSub>
                      <m:sSubPr>
                        <m:ctrlPr>
                          <a:rPr lang="en-US" i="1">
                            <a:latin typeface="Cambria Math" panose="02040503050406030204" pitchFamily="18" charset="0"/>
                            <a:ea typeface="Cambria Math" panose="02040503050406030204" pitchFamily="18" charset="0"/>
                            <a:cs typeface="Arial" charset="0"/>
                          </a:rPr>
                        </m:ctrlPr>
                      </m:sSubPr>
                      <m:e>
                        <m:r>
                          <a:rPr lang="en-US" i="1">
                            <a:latin typeface="Cambria Math" panose="02040503050406030204" pitchFamily="18" charset="0"/>
                            <a:ea typeface="Cambria Math" panose="02040503050406030204" pitchFamily="18" charset="0"/>
                            <a:cs typeface="Arial" charset="0"/>
                          </a:rPr>
                          <m:t>𝜇</m:t>
                        </m:r>
                      </m:e>
                      <m:sub>
                        <m:r>
                          <a:rPr lang="en-US" b="0" i="1" smtClean="0">
                            <a:latin typeface="Cambria Math" panose="02040503050406030204" pitchFamily="18" charset="0"/>
                            <a:ea typeface="Cambria Math" panose="02040503050406030204" pitchFamily="18" charset="0"/>
                            <a:cs typeface="Arial" charset="0"/>
                          </a:rPr>
                          <m:t>0</m:t>
                        </m:r>
                      </m:sub>
                    </m:sSub>
                    <m:r>
                      <a:rPr lang="en-US" b="0" i="1" smtClean="0">
                        <a:latin typeface="Cambria Math" panose="02040503050406030204" pitchFamily="18" charset="0"/>
                        <a:ea typeface="Cambria Math" panose="02040503050406030204" pitchFamily="18" charset="0"/>
                        <a:cs typeface="Arial" charset="0"/>
                      </a:rPr>
                      <m:t>(1+</m:t>
                    </m:r>
                    <m:sSub>
                      <m:sSubPr>
                        <m:ctrlPr>
                          <a:rPr lang="en-US" b="0" i="1" smtClean="0">
                            <a:latin typeface="Cambria Math" panose="02040503050406030204" pitchFamily="18" charset="0"/>
                            <a:ea typeface="Cambria Math" panose="02040503050406030204" pitchFamily="18" charset="0"/>
                            <a:cs typeface="Arial" charset="0"/>
                          </a:rPr>
                        </m:ctrlPr>
                      </m:sSubPr>
                      <m:e>
                        <m:r>
                          <a:rPr lang="en-US" b="0" i="1" smtClean="0">
                            <a:latin typeface="Cambria Math" panose="02040503050406030204" pitchFamily="18" charset="0"/>
                            <a:ea typeface="Cambria Math" panose="02040503050406030204" pitchFamily="18" charset="0"/>
                            <a:cs typeface="Arial" charset="0"/>
                          </a:rPr>
                          <m:t>𝜒</m:t>
                        </m:r>
                      </m:e>
                      <m:sub>
                        <m:r>
                          <a:rPr lang="en-US" b="0" i="1" smtClean="0">
                            <a:latin typeface="Cambria Math" panose="02040503050406030204" pitchFamily="18" charset="0"/>
                            <a:ea typeface="Cambria Math" panose="02040503050406030204" pitchFamily="18" charset="0"/>
                            <a:cs typeface="Arial" charset="0"/>
                          </a:rPr>
                          <m:t>𝑚</m:t>
                        </m:r>
                      </m:sub>
                    </m:sSub>
                    <m:r>
                      <a:rPr lang="en-US" b="0" i="1" smtClean="0">
                        <a:latin typeface="Cambria Math" panose="02040503050406030204" pitchFamily="18" charset="0"/>
                        <a:ea typeface="Cambria Math" panose="02040503050406030204" pitchFamily="18" charset="0"/>
                        <a:cs typeface="Arial" charset="0"/>
                      </a:rPr>
                      <m:t>)</m:t>
                    </m:r>
                  </m:oMath>
                </a14:m>
                <a:r>
                  <a:rPr lang="en-US" dirty="0">
                    <a:ea typeface="Arial" charset="0"/>
                    <a:cs typeface="Arial" charset="0"/>
                  </a:rPr>
                  <a:t>, </a:t>
                </a:r>
                <a:endParaRPr lang="en-US" b="0" i="1" dirty="0">
                  <a:latin typeface="Cambria Math" panose="02040503050406030204" pitchFamily="18" charset="0"/>
                  <a:ea typeface="Arial" charset="0"/>
                  <a:cs typeface="Arial" charset="0"/>
                </a:endParaRPr>
              </a:p>
              <a:p>
                <a:pPr lvl="2">
                  <a:spcBef>
                    <a:spcPts val="0"/>
                  </a:spcBef>
                  <a:tabLst>
                    <a:tab pos="4449763" algn="l"/>
                  </a:tabLst>
                </a:pPr>
                <a14:m>
                  <m:oMath xmlns:m="http://schemas.openxmlformats.org/officeDocument/2006/math">
                    <m:r>
                      <a:rPr lang="en-US" b="0" i="1" dirty="0" smtClean="0">
                        <a:latin typeface="Cambria Math" panose="02040503050406030204" pitchFamily="18" charset="0"/>
                        <a:ea typeface="Arial" charset="0"/>
                        <a:cs typeface="Arial" charset="0"/>
                      </a:rPr>
                      <m:t>𝐷</m:t>
                    </m:r>
                    <m:r>
                      <a:rPr lang="en-US" b="0" i="1" dirty="0" smtClean="0">
                        <a:latin typeface="Cambria Math" panose="02040503050406030204" pitchFamily="18" charset="0"/>
                        <a:ea typeface="Arial" charset="0"/>
                        <a:cs typeface="Arial" charset="0"/>
                      </a:rPr>
                      <m:t>=</m:t>
                    </m:r>
                    <m:r>
                      <a:rPr lang="en-US" b="0" i="1" dirty="0" smtClean="0">
                        <a:latin typeface="Cambria Math" panose="02040503050406030204" pitchFamily="18" charset="0"/>
                        <a:ea typeface="Cambria Math" panose="02040503050406030204" pitchFamily="18" charset="0"/>
                        <a:cs typeface="Arial" charset="0"/>
                      </a:rPr>
                      <m:t>𝜖</m:t>
                    </m:r>
                    <m:r>
                      <a:rPr lang="en-US" b="0" i="1" dirty="0" smtClean="0">
                        <a:latin typeface="Cambria Math" panose="02040503050406030204" pitchFamily="18" charset="0"/>
                        <a:ea typeface="Cambria Math" panose="02040503050406030204" pitchFamily="18" charset="0"/>
                        <a:cs typeface="Arial" charset="0"/>
                      </a:rPr>
                      <m:t>𝐸</m:t>
                    </m:r>
                    <m:r>
                      <a:rPr lang="en-US" b="0" i="1" dirty="0" smtClean="0">
                        <a:latin typeface="Cambria Math" panose="02040503050406030204" pitchFamily="18" charset="0"/>
                        <a:ea typeface="Cambria Math" panose="02040503050406030204" pitchFamily="18" charset="0"/>
                        <a:cs typeface="Arial" charset="0"/>
                      </a:rPr>
                      <m:t>=</m:t>
                    </m:r>
                    <m:sSub>
                      <m:sSubPr>
                        <m:ctrlPr>
                          <a:rPr lang="en-US" i="1" dirty="0">
                            <a:latin typeface="Cambria Math" panose="02040503050406030204" pitchFamily="18" charset="0"/>
                            <a:ea typeface="Cambria Math" panose="02040503050406030204" pitchFamily="18" charset="0"/>
                            <a:cs typeface="Arial" charset="0"/>
                          </a:rPr>
                        </m:ctrlPr>
                      </m:sSubPr>
                      <m:e>
                        <m:r>
                          <a:rPr lang="en-US" i="1" dirty="0">
                            <a:latin typeface="Cambria Math" panose="02040503050406030204" pitchFamily="18" charset="0"/>
                            <a:ea typeface="Cambria Math" panose="02040503050406030204" pitchFamily="18" charset="0"/>
                            <a:cs typeface="Arial" charset="0"/>
                          </a:rPr>
                          <m:t>𝜖</m:t>
                        </m:r>
                      </m:e>
                      <m:sub>
                        <m:r>
                          <a:rPr lang="en-US" i="1" dirty="0">
                            <a:latin typeface="Cambria Math" panose="02040503050406030204" pitchFamily="18" charset="0"/>
                            <a:ea typeface="Cambria Math" panose="02040503050406030204" pitchFamily="18" charset="0"/>
                            <a:cs typeface="Arial" charset="0"/>
                          </a:rPr>
                          <m:t>0</m:t>
                        </m:r>
                      </m:sub>
                    </m:sSub>
                    <m:r>
                      <a:rPr lang="en-US" b="0" i="1" dirty="0" smtClean="0">
                        <a:latin typeface="Cambria Math" panose="02040503050406030204" pitchFamily="18" charset="0"/>
                        <a:ea typeface="Cambria Math" panose="02040503050406030204" pitchFamily="18" charset="0"/>
                        <a:cs typeface="Arial" charset="0"/>
                      </a:rPr>
                      <m:t>𝐸</m:t>
                    </m:r>
                    <m:r>
                      <a:rPr lang="en-US" b="0" i="1" dirty="0" smtClean="0">
                        <a:latin typeface="Cambria Math" panose="02040503050406030204" pitchFamily="18" charset="0"/>
                        <a:ea typeface="Cambria Math" panose="02040503050406030204" pitchFamily="18" charset="0"/>
                        <a:cs typeface="Arial" charset="0"/>
                      </a:rPr>
                      <m:t>+</m:t>
                    </m:r>
                    <m:r>
                      <a:rPr lang="en-US" b="0" i="1" dirty="0" smtClean="0">
                        <a:latin typeface="Cambria Math" panose="02040503050406030204" pitchFamily="18" charset="0"/>
                        <a:ea typeface="Cambria Math" panose="02040503050406030204" pitchFamily="18" charset="0"/>
                        <a:cs typeface="Arial" charset="0"/>
                      </a:rPr>
                      <m:t>𝑃</m:t>
                    </m:r>
                    <m:r>
                      <a:rPr lang="en-US" b="0" i="1" dirty="0" smtClean="0">
                        <a:latin typeface="Cambria Math" panose="02040503050406030204" pitchFamily="18" charset="0"/>
                        <a:ea typeface="Cambria Math" panose="02040503050406030204" pitchFamily="18" charset="0"/>
                        <a:cs typeface="Arial" charset="0"/>
                      </a:rPr>
                      <m:t>, </m:t>
                    </m:r>
                    <m:r>
                      <a:rPr lang="en-US" b="0" i="1" dirty="0" smtClean="0">
                        <a:latin typeface="Cambria Math" panose="02040503050406030204" pitchFamily="18" charset="0"/>
                        <a:ea typeface="Cambria Math" panose="02040503050406030204" pitchFamily="18" charset="0"/>
                        <a:cs typeface="Arial" charset="0"/>
                      </a:rPr>
                      <m:t>𝜖</m:t>
                    </m:r>
                    <m:r>
                      <a:rPr lang="en-US" b="0" i="1" dirty="0" smtClean="0">
                        <a:latin typeface="Cambria Math" panose="02040503050406030204" pitchFamily="18" charset="0"/>
                        <a:ea typeface="Cambria Math" panose="02040503050406030204" pitchFamily="18" charset="0"/>
                        <a:cs typeface="Arial" charset="0"/>
                      </a:rPr>
                      <m:t>=</m:t>
                    </m:r>
                    <m:r>
                      <a:rPr lang="en-US" b="0" i="1" dirty="0" smtClean="0">
                        <a:latin typeface="Cambria Math" panose="02040503050406030204" pitchFamily="18" charset="0"/>
                        <a:ea typeface="Cambria Math" panose="02040503050406030204" pitchFamily="18" charset="0"/>
                        <a:cs typeface="Arial" charset="0"/>
                      </a:rPr>
                      <m:t>𝜅</m:t>
                    </m:r>
                    <m:sSub>
                      <m:sSubPr>
                        <m:ctrlPr>
                          <a:rPr lang="en-US" i="1" dirty="0">
                            <a:latin typeface="Cambria Math" panose="02040503050406030204" pitchFamily="18" charset="0"/>
                            <a:ea typeface="Cambria Math" panose="02040503050406030204" pitchFamily="18" charset="0"/>
                            <a:cs typeface="Arial" charset="0"/>
                          </a:rPr>
                        </m:ctrlPr>
                      </m:sSubPr>
                      <m:e>
                        <m:r>
                          <a:rPr lang="en-US" i="1" dirty="0">
                            <a:latin typeface="Cambria Math" panose="02040503050406030204" pitchFamily="18" charset="0"/>
                            <a:ea typeface="Cambria Math" panose="02040503050406030204" pitchFamily="18" charset="0"/>
                            <a:cs typeface="Arial" charset="0"/>
                          </a:rPr>
                          <m:t>𝜖</m:t>
                        </m:r>
                      </m:e>
                      <m:sub>
                        <m:r>
                          <a:rPr lang="en-US" b="0" i="1" dirty="0" smtClean="0">
                            <a:latin typeface="Cambria Math" panose="02040503050406030204" pitchFamily="18" charset="0"/>
                            <a:ea typeface="Cambria Math" panose="02040503050406030204" pitchFamily="18" charset="0"/>
                            <a:cs typeface="Arial" charset="0"/>
                          </a:rPr>
                          <m:t>0</m:t>
                        </m:r>
                      </m:sub>
                    </m:sSub>
                  </m:oMath>
                </a14:m>
                <a:r>
                  <a:rPr lang="en-US" dirty="0">
                    <a:ea typeface="Arial" charset="0"/>
                    <a:cs typeface="Arial" charset="0"/>
                  </a:rPr>
                  <a:t> and (1) becomes </a:t>
                </a:r>
                <a14:m>
                  <m:oMath xmlns:m="http://schemas.openxmlformats.org/officeDocument/2006/math">
                    <m:r>
                      <a:rPr lang="en-US" i="1">
                        <a:latin typeface="Cambria Math" panose="02040503050406030204" pitchFamily="18" charset="0"/>
                        <a:ea typeface="Cambria Math" panose="02040503050406030204" pitchFamily="18" charset="0"/>
                        <a:cs typeface="Arial" charset="0"/>
                      </a:rPr>
                      <m:t>𝛻</m:t>
                    </m:r>
                    <m:r>
                      <a:rPr lang="en-US" i="1">
                        <a:latin typeface="Cambria Math" panose="02040503050406030204" pitchFamily="18" charset="0"/>
                        <a:ea typeface="Cambria Math" panose="02040503050406030204" pitchFamily="18" charset="0"/>
                        <a:cs typeface="Arial" charset="0"/>
                      </a:rPr>
                      <m:t>∙</m:t>
                    </m:r>
                    <m:r>
                      <a:rPr lang="en-US" b="1" i="1" smtClean="0">
                        <a:latin typeface="Cambria Math" panose="02040503050406030204" pitchFamily="18" charset="0"/>
                        <a:ea typeface="Cambria Math" panose="02040503050406030204" pitchFamily="18" charset="0"/>
                        <a:cs typeface="Arial" charset="0"/>
                      </a:rPr>
                      <m:t>𝑫</m:t>
                    </m:r>
                    <m:r>
                      <a:rPr lang="en-US" i="1">
                        <a:latin typeface="Cambria Math" panose="02040503050406030204" pitchFamily="18" charset="0"/>
                        <a:ea typeface="Cambria Math" panose="02040503050406030204" pitchFamily="18" charset="0"/>
                        <a:cs typeface="Arial" charset="0"/>
                      </a:rPr>
                      <m:t>=</m:t>
                    </m:r>
                    <m:sSub>
                      <m:sSubPr>
                        <m:ctrlPr>
                          <a:rPr lang="en-US" i="1" smtClean="0">
                            <a:latin typeface="Cambria Math" panose="02040503050406030204" pitchFamily="18" charset="0"/>
                            <a:ea typeface="Cambria Math" panose="02040503050406030204" pitchFamily="18" charset="0"/>
                            <a:cs typeface="Arial" charset="0"/>
                          </a:rPr>
                        </m:ctrlPr>
                      </m:sSubPr>
                      <m:e>
                        <m:r>
                          <a:rPr lang="en-US" i="1" smtClean="0">
                            <a:latin typeface="Cambria Math" panose="02040503050406030204" pitchFamily="18" charset="0"/>
                            <a:ea typeface="Cambria Math" panose="02040503050406030204" pitchFamily="18" charset="0"/>
                            <a:cs typeface="Arial" charset="0"/>
                          </a:rPr>
                          <m:t>𝜌</m:t>
                        </m:r>
                      </m:e>
                      <m:sub>
                        <m:r>
                          <a:rPr lang="en-US" b="0" i="1" smtClean="0">
                            <a:latin typeface="Cambria Math" panose="02040503050406030204" pitchFamily="18" charset="0"/>
                            <a:ea typeface="Cambria Math" panose="02040503050406030204" pitchFamily="18" charset="0"/>
                            <a:cs typeface="Arial" charset="0"/>
                          </a:rPr>
                          <m:t>𝑓</m:t>
                        </m:r>
                      </m:sub>
                    </m:sSub>
                    <m:r>
                      <a:rPr lang="en-US" b="0" i="1" smtClean="0">
                        <a:latin typeface="Cambria Math" panose="02040503050406030204" pitchFamily="18" charset="0"/>
                        <a:ea typeface="Cambria Math" panose="02040503050406030204" pitchFamily="18" charset="0"/>
                        <a:cs typeface="Arial" charset="0"/>
                      </a:rPr>
                      <m:t>, </m:t>
                    </m:r>
                  </m:oMath>
                </a14:m>
                <a:r>
                  <a:rPr lang="en-US" dirty="0">
                    <a:ea typeface="Cambria Math" panose="02040503050406030204" pitchFamily="18" charset="0"/>
                    <a:cs typeface="Arial" charset="0"/>
                  </a:rPr>
                  <a:t>(4) becomes </a:t>
                </a:r>
                <a14:m>
                  <m:oMath xmlns:m="http://schemas.openxmlformats.org/officeDocument/2006/math">
                    <m:r>
                      <a:rPr lang="en-US" i="1">
                        <a:latin typeface="Cambria Math" panose="02040503050406030204" pitchFamily="18" charset="0"/>
                        <a:ea typeface="Cambria Math" panose="02040503050406030204" pitchFamily="18" charset="0"/>
                        <a:cs typeface="Arial" charset="0"/>
                      </a:rPr>
                      <m:t>𝛻</m:t>
                    </m:r>
                    <m:r>
                      <a:rPr lang="en-US" i="1">
                        <a:latin typeface="Cambria Math" panose="02040503050406030204" pitchFamily="18" charset="0"/>
                        <a:ea typeface="Cambria Math" panose="02040503050406030204" pitchFamily="18" charset="0"/>
                        <a:cs typeface="Arial" charset="0"/>
                      </a:rPr>
                      <m:t>×</m:t>
                    </m:r>
                    <m:r>
                      <a:rPr lang="en-US" b="1" i="1" smtClean="0">
                        <a:latin typeface="Cambria Math" panose="02040503050406030204" pitchFamily="18" charset="0"/>
                        <a:ea typeface="Cambria Math" panose="02040503050406030204" pitchFamily="18" charset="0"/>
                        <a:cs typeface="Arial" charset="0"/>
                      </a:rPr>
                      <m:t>𝑯</m:t>
                    </m:r>
                    <m:r>
                      <a:rPr lang="en-US" i="1">
                        <a:latin typeface="Cambria Math" panose="02040503050406030204" pitchFamily="18" charset="0"/>
                        <a:ea typeface="Cambria Math" panose="02040503050406030204" pitchFamily="18" charset="0"/>
                        <a:cs typeface="Arial" charset="0"/>
                      </a:rPr>
                      <m:t>= </m:t>
                    </m:r>
                    <m:sSub>
                      <m:sSubPr>
                        <m:ctrlPr>
                          <a:rPr lang="en-US" b="1" i="1" smtClean="0">
                            <a:latin typeface="Cambria Math" panose="02040503050406030204" pitchFamily="18" charset="0"/>
                            <a:ea typeface="Cambria Math" panose="02040503050406030204" pitchFamily="18" charset="0"/>
                            <a:cs typeface="Arial" charset="0"/>
                          </a:rPr>
                        </m:ctrlPr>
                      </m:sSubPr>
                      <m:e>
                        <m:r>
                          <a:rPr lang="en-US" b="1" i="1" smtClean="0">
                            <a:latin typeface="Cambria Math" panose="02040503050406030204" pitchFamily="18" charset="0"/>
                            <a:ea typeface="Cambria Math" panose="02040503050406030204" pitchFamily="18" charset="0"/>
                            <a:cs typeface="Arial" charset="0"/>
                          </a:rPr>
                          <m:t>𝒋</m:t>
                        </m:r>
                      </m:e>
                      <m:sub>
                        <m:r>
                          <a:rPr lang="en-US" b="1" i="1" smtClean="0">
                            <a:latin typeface="Cambria Math" panose="02040503050406030204" pitchFamily="18" charset="0"/>
                            <a:ea typeface="Cambria Math" panose="02040503050406030204" pitchFamily="18" charset="0"/>
                            <a:cs typeface="Arial" charset="0"/>
                          </a:rPr>
                          <m:t>𝒇</m:t>
                        </m:r>
                      </m:sub>
                    </m:sSub>
                    <m:r>
                      <a:rPr lang="en-US" i="1">
                        <a:latin typeface="Cambria Math" panose="02040503050406030204" pitchFamily="18" charset="0"/>
                        <a:ea typeface="Cambria Math" panose="02040503050406030204" pitchFamily="18" charset="0"/>
                        <a:cs typeface="Arial" charset="0"/>
                      </a:rPr>
                      <m:t>+ </m:t>
                    </m:r>
                    <m:f>
                      <m:fPr>
                        <m:ctrlPr>
                          <a:rPr lang="en-US" i="1">
                            <a:latin typeface="Cambria Math" panose="02040503050406030204" pitchFamily="18" charset="0"/>
                            <a:ea typeface="Cambria Math" panose="02040503050406030204" pitchFamily="18" charset="0"/>
                            <a:cs typeface="Arial" charset="0"/>
                          </a:rPr>
                        </m:ctrlPr>
                      </m:fPr>
                      <m:num>
                        <m:r>
                          <a:rPr lang="en-US" i="1">
                            <a:latin typeface="Cambria Math" panose="02040503050406030204" pitchFamily="18" charset="0"/>
                            <a:ea typeface="Cambria Math" panose="02040503050406030204" pitchFamily="18" charset="0"/>
                            <a:cs typeface="Arial" charset="0"/>
                          </a:rPr>
                          <m:t>𝜕</m:t>
                        </m:r>
                        <m:r>
                          <a:rPr lang="en-US" b="1" i="1" smtClean="0">
                            <a:latin typeface="Cambria Math" panose="02040503050406030204" pitchFamily="18" charset="0"/>
                            <a:ea typeface="Cambria Math" panose="02040503050406030204" pitchFamily="18" charset="0"/>
                            <a:cs typeface="Arial" charset="0"/>
                          </a:rPr>
                          <m:t>𝑫</m:t>
                        </m:r>
                      </m:num>
                      <m:den>
                        <m:r>
                          <a:rPr lang="en-US" i="1">
                            <a:latin typeface="Cambria Math" panose="02040503050406030204" pitchFamily="18" charset="0"/>
                            <a:ea typeface="Cambria Math" panose="02040503050406030204" pitchFamily="18" charset="0"/>
                            <a:cs typeface="Arial" charset="0"/>
                          </a:rPr>
                          <m:t>𝜕</m:t>
                        </m:r>
                        <m:r>
                          <a:rPr lang="en-US" i="1">
                            <a:latin typeface="Cambria Math" panose="02040503050406030204" pitchFamily="18" charset="0"/>
                            <a:ea typeface="Cambria Math" panose="02040503050406030204" pitchFamily="18" charset="0"/>
                            <a:cs typeface="Arial" charset="0"/>
                          </a:rPr>
                          <m:t>𝑡</m:t>
                        </m:r>
                      </m:den>
                    </m:f>
                  </m:oMath>
                </a14:m>
                <a:endParaRPr lang="en-US" dirty="0">
                  <a:ea typeface="Cambria Math" panose="02040503050406030204" pitchFamily="18" charset="0"/>
                  <a:cs typeface="Arial" charset="0"/>
                </a:endParaRPr>
              </a:p>
              <a:p>
                <a:pPr marL="914400" lvl="2" indent="0">
                  <a:spcBef>
                    <a:spcPts val="0"/>
                  </a:spcBef>
                  <a:buNone/>
                  <a:tabLst>
                    <a:tab pos="4449763" algn="l"/>
                  </a:tabLst>
                </a:pPr>
                <a:endParaRPr lang="en-US" dirty="0">
                  <a:ea typeface="Cambria Math" panose="02040503050406030204" pitchFamily="18" charset="0"/>
                  <a:cs typeface="Arial" charset="0"/>
                </a:endParaRPr>
              </a:p>
              <a:p>
                <a:pPr>
                  <a:spcBef>
                    <a:spcPts val="0"/>
                  </a:spcBef>
                  <a:tabLst>
                    <a:tab pos="4449763" algn="l"/>
                  </a:tabLst>
                </a:pPr>
                <a:r>
                  <a:rPr lang="en-US" sz="2000" dirty="0">
                    <a:ea typeface="Arial" charset="0"/>
                    <a:cs typeface="Arial" charset="0"/>
                  </a:rPr>
                  <a:t>The rest of classical physics, including special relativity, is:</a:t>
                </a:r>
              </a:p>
              <a:p>
                <a:pPr marL="800100" lvl="1" indent="-342900">
                  <a:spcBef>
                    <a:spcPts val="0"/>
                  </a:spcBef>
                </a:pPr>
                <a:r>
                  <a:rPr lang="en-US" sz="2000" dirty="0">
                    <a:ea typeface="Arial" charset="0"/>
                    <a:cs typeface="Arial" panose="020B0604020202020204" pitchFamily="34" charset="0"/>
                  </a:rPr>
                  <a:t>Newton-Einstein: </a:t>
                </a:r>
                <a14:m>
                  <m:oMath xmlns:m="http://schemas.openxmlformats.org/officeDocument/2006/math">
                    <m:r>
                      <a:rPr lang="en-US" sz="2000" b="1" i="1" smtClean="0">
                        <a:latin typeface="Cambria Math" panose="02040503050406030204" pitchFamily="18" charset="0"/>
                        <a:ea typeface="Arial" charset="0"/>
                        <a:cs typeface="Arial" charset="0"/>
                      </a:rPr>
                      <m:t>𝒑</m:t>
                    </m:r>
                    <m:r>
                      <a:rPr lang="en-US" sz="2000" b="0" i="1" smtClean="0">
                        <a:latin typeface="Cambria Math" panose="02040503050406030204" pitchFamily="18" charset="0"/>
                        <a:ea typeface="Arial" charset="0"/>
                        <a:cs typeface="Arial" charset="0"/>
                      </a:rPr>
                      <m:t>=</m:t>
                    </m:r>
                    <m:r>
                      <a:rPr lang="en-US" sz="2000" b="0" i="1" smtClean="0">
                        <a:latin typeface="Cambria Math" panose="02040503050406030204" pitchFamily="18" charset="0"/>
                        <a:ea typeface="Arial" charset="0"/>
                        <a:cs typeface="Arial" charset="0"/>
                      </a:rPr>
                      <m:t>𝑚</m:t>
                    </m:r>
                    <m:r>
                      <a:rPr lang="en-US" sz="2000" b="1" i="1" smtClean="0">
                        <a:latin typeface="Cambria Math" panose="02040503050406030204" pitchFamily="18" charset="0"/>
                        <a:ea typeface="Arial" charset="0"/>
                        <a:cs typeface="Arial" charset="0"/>
                      </a:rPr>
                      <m:t>𝒗</m:t>
                    </m:r>
                    <m:r>
                      <a:rPr lang="en-US" sz="2000" b="0" i="1" smtClean="0">
                        <a:latin typeface="Cambria Math" panose="02040503050406030204" pitchFamily="18" charset="0"/>
                        <a:ea typeface="Arial" charset="0"/>
                        <a:cs typeface="Arial" charset="0"/>
                      </a:rPr>
                      <m:t> </m:t>
                    </m:r>
                  </m:oMath>
                </a14:m>
                <a:r>
                  <a:rPr lang="en-US" sz="2000" i="1" dirty="0">
                    <a:ea typeface="Arial" charset="0"/>
                    <a:cs typeface="Arial" charset="0"/>
                  </a:rPr>
                  <a:t>, </a:t>
                </a:r>
                <a14:m>
                  <m:oMath xmlns:m="http://schemas.openxmlformats.org/officeDocument/2006/math">
                    <m:r>
                      <a:rPr lang="en-US" sz="2000" b="0" i="1" smtClean="0">
                        <a:latin typeface="Cambria Math" panose="02040503050406030204" pitchFamily="18" charset="0"/>
                        <a:ea typeface="Arial" charset="0"/>
                        <a:cs typeface="Arial" charset="0"/>
                      </a:rPr>
                      <m:t>𝑚</m:t>
                    </m:r>
                    <m:r>
                      <a:rPr lang="en-US" sz="2000" b="0" i="1" smtClean="0">
                        <a:latin typeface="Cambria Math" panose="02040503050406030204" pitchFamily="18" charset="0"/>
                        <a:ea typeface="Arial" charset="0"/>
                        <a:cs typeface="Arial" charset="0"/>
                      </a:rPr>
                      <m:t>= </m:t>
                    </m:r>
                    <m:f>
                      <m:fPr>
                        <m:ctrlPr>
                          <a:rPr lang="en-US" sz="2000" b="0" i="1" smtClean="0">
                            <a:latin typeface="Cambria Math" panose="02040503050406030204" pitchFamily="18" charset="0"/>
                            <a:cs typeface="Arial" charset="0"/>
                          </a:rPr>
                        </m:ctrlPr>
                      </m:fPr>
                      <m:num>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𝑚</m:t>
                            </m:r>
                          </m:e>
                          <m:sub>
                            <m:r>
                              <a:rPr lang="en-US" sz="2000" b="0" i="1" smtClean="0">
                                <a:latin typeface="Cambria Math" panose="02040503050406030204" pitchFamily="18" charset="0"/>
                                <a:cs typeface="Arial" charset="0"/>
                              </a:rPr>
                              <m:t>0</m:t>
                            </m:r>
                          </m:sub>
                        </m:sSub>
                      </m:num>
                      <m:den>
                        <m:rad>
                          <m:radPr>
                            <m:degHide m:val="on"/>
                            <m:ctrlPr>
                              <a:rPr lang="en-US" sz="2000" b="0" i="1" smtClean="0">
                                <a:latin typeface="Cambria Math" panose="02040503050406030204" pitchFamily="18" charset="0"/>
                                <a:cs typeface="Arial" charset="0"/>
                              </a:rPr>
                            </m:ctrlPr>
                          </m:radPr>
                          <m:deg/>
                          <m:e>
                            <m:r>
                              <a:rPr lang="en-US" sz="2000" b="0" i="1" smtClean="0">
                                <a:latin typeface="Cambria Math" panose="02040503050406030204" pitchFamily="18" charset="0"/>
                                <a:cs typeface="Arial" charset="0"/>
                              </a:rPr>
                              <m:t>1−</m:t>
                            </m:r>
                            <m:sSup>
                              <m:sSupPr>
                                <m:ctrlPr>
                                  <a:rPr lang="en-US" sz="2000" b="0" i="1" smtClean="0">
                                    <a:latin typeface="Cambria Math" panose="02040503050406030204" pitchFamily="18" charset="0"/>
                                    <a:cs typeface="Arial" charset="0"/>
                                  </a:rPr>
                                </m:ctrlPr>
                              </m:sSupPr>
                              <m:e>
                                <m:r>
                                  <a:rPr lang="en-US" sz="2000" b="0" i="1" smtClean="0">
                                    <a:latin typeface="Cambria Math" panose="02040503050406030204" pitchFamily="18" charset="0"/>
                                    <a:cs typeface="Arial" charset="0"/>
                                  </a:rPr>
                                  <m:t>(</m:t>
                                </m:r>
                                <m:f>
                                  <m:fPr>
                                    <m:ctrlPr>
                                      <a:rPr lang="en-US" sz="2000" b="0" i="1" smtClean="0">
                                        <a:latin typeface="Cambria Math" panose="02040503050406030204" pitchFamily="18" charset="0"/>
                                        <a:cs typeface="Arial" charset="0"/>
                                      </a:rPr>
                                    </m:ctrlPr>
                                  </m:fPr>
                                  <m:num>
                                    <m:r>
                                      <a:rPr lang="en-US" sz="2000" b="0" i="1" smtClean="0">
                                        <a:latin typeface="Cambria Math" panose="02040503050406030204" pitchFamily="18" charset="0"/>
                                        <a:cs typeface="Arial" charset="0"/>
                                      </a:rPr>
                                      <m:t>𝑣</m:t>
                                    </m:r>
                                  </m:num>
                                  <m:den>
                                    <m:r>
                                      <a:rPr lang="en-US" sz="2000" b="0" i="1" smtClean="0">
                                        <a:latin typeface="Cambria Math" panose="02040503050406030204" pitchFamily="18" charset="0"/>
                                        <a:cs typeface="Arial" charset="0"/>
                                      </a:rPr>
                                      <m:t>𝑐</m:t>
                                    </m:r>
                                  </m:den>
                                </m:f>
                                <m:r>
                                  <a:rPr lang="en-US" sz="2000" b="0" i="1" smtClean="0">
                                    <a:latin typeface="Cambria Math" panose="02040503050406030204" pitchFamily="18" charset="0"/>
                                    <a:cs typeface="Arial" charset="0"/>
                                  </a:rPr>
                                  <m:t>)</m:t>
                                </m:r>
                              </m:e>
                              <m:sup>
                                <m:r>
                                  <a:rPr lang="en-US" sz="2000" b="0" i="1" smtClean="0">
                                    <a:latin typeface="Cambria Math" panose="02040503050406030204" pitchFamily="18" charset="0"/>
                                    <a:cs typeface="Arial" charset="0"/>
                                  </a:rPr>
                                  <m:t>2</m:t>
                                </m:r>
                              </m:sup>
                            </m:sSup>
                          </m:e>
                        </m:rad>
                      </m:den>
                    </m:f>
                  </m:oMath>
                </a14:m>
                <a:r>
                  <a:rPr lang="en-US" sz="2000" i="1" dirty="0">
                    <a:ea typeface="Arial" charset="0"/>
                    <a:cs typeface="Arial" charset="0"/>
                  </a:rPr>
                  <a:t> , </a:t>
                </a:r>
                <a14:m>
                  <m:oMath xmlns:m="http://schemas.openxmlformats.org/officeDocument/2006/math">
                    <m:r>
                      <a:rPr lang="en-US" sz="2000" b="1" i="1" smtClean="0">
                        <a:latin typeface="Cambria Math" panose="02040503050406030204" pitchFamily="18" charset="0"/>
                        <a:ea typeface="Arial" charset="0"/>
                        <a:cs typeface="Arial" charset="0"/>
                      </a:rPr>
                      <m:t>𝑭</m:t>
                    </m:r>
                    <m:r>
                      <a:rPr lang="en-US" sz="2000" b="1" i="1" smtClean="0">
                        <a:latin typeface="Cambria Math" panose="02040503050406030204" pitchFamily="18" charset="0"/>
                        <a:ea typeface="Arial" charset="0"/>
                        <a:cs typeface="Arial" charset="0"/>
                      </a:rPr>
                      <m:t>=</m:t>
                    </m:r>
                    <m:r>
                      <a:rPr lang="en-US" sz="2000" b="0" i="1" smtClean="0">
                        <a:latin typeface="Cambria Math" panose="02040503050406030204" pitchFamily="18" charset="0"/>
                        <a:ea typeface="Arial" charset="0"/>
                        <a:cs typeface="Arial" charset="0"/>
                      </a:rPr>
                      <m:t>𝑚</m:t>
                    </m:r>
                    <m:f>
                      <m:fPr>
                        <m:ctrlPr>
                          <a:rPr lang="en-US" sz="2000" b="0" i="1" smtClean="0">
                            <a:latin typeface="Cambria Math" panose="02040503050406030204" pitchFamily="18" charset="0"/>
                            <a:cs typeface="Arial" charset="0"/>
                          </a:rPr>
                        </m:ctrlPr>
                      </m:fPr>
                      <m:num>
                        <m:r>
                          <a:rPr lang="en-US" sz="2000" b="0" i="1" smtClean="0">
                            <a:latin typeface="Cambria Math" panose="02040503050406030204" pitchFamily="18" charset="0"/>
                            <a:cs typeface="Arial" charset="0"/>
                          </a:rPr>
                          <m:t>𝑑</m:t>
                        </m:r>
                        <m:r>
                          <a:rPr lang="en-US" sz="2000" b="1" i="1" smtClean="0">
                            <a:latin typeface="Cambria Math" panose="02040503050406030204" pitchFamily="18" charset="0"/>
                            <a:cs typeface="Arial" charset="0"/>
                          </a:rPr>
                          <m:t>𝒑</m:t>
                        </m:r>
                      </m:num>
                      <m:den>
                        <m:r>
                          <a:rPr lang="en-US" sz="2000" b="0" i="1" smtClean="0">
                            <a:latin typeface="Cambria Math" panose="02040503050406030204" pitchFamily="18" charset="0"/>
                            <a:cs typeface="Arial" charset="0"/>
                          </a:rPr>
                          <m:t>𝑑𝑡</m:t>
                        </m:r>
                      </m:den>
                    </m:f>
                  </m:oMath>
                </a14:m>
                <a:r>
                  <a:rPr lang="en-US" sz="2000" i="1" dirty="0">
                    <a:ea typeface="Arial" charset="0"/>
                    <a:cs typeface="Arial" charset="0"/>
                  </a:rPr>
                  <a:t> .</a:t>
                </a:r>
              </a:p>
              <a:p>
                <a:pPr marL="800100" lvl="1" indent="-342900">
                  <a:spcBef>
                    <a:spcPts val="0"/>
                  </a:spcBef>
                </a:pPr>
                <a:r>
                  <a:rPr lang="en-US" sz="2000" dirty="0">
                    <a:ea typeface="Arial" charset="0"/>
                    <a:cs typeface="Arial" panose="020B0604020202020204" pitchFamily="34" charset="0"/>
                  </a:rPr>
                  <a:t>Gravity</a:t>
                </a:r>
                <a:r>
                  <a:rPr lang="en-US" sz="2000" b="1" dirty="0">
                    <a:ea typeface="Arial" charset="0"/>
                    <a:cs typeface="Arial" charset="0"/>
                  </a:rPr>
                  <a:t>: </a:t>
                </a:r>
                <a14:m>
                  <m:oMath xmlns:m="http://schemas.openxmlformats.org/officeDocument/2006/math">
                    <m:r>
                      <a:rPr lang="en-US" sz="2000" b="1" i="1" smtClean="0">
                        <a:latin typeface="Cambria Math" panose="02040503050406030204" pitchFamily="18" charset="0"/>
                        <a:ea typeface="Arial" charset="0"/>
                        <a:cs typeface="Arial" charset="0"/>
                      </a:rPr>
                      <m:t>𝑭</m:t>
                    </m:r>
                    <m:r>
                      <a:rPr lang="en-US" sz="2000" b="0" i="1" smtClean="0">
                        <a:latin typeface="Cambria Math" panose="02040503050406030204" pitchFamily="18" charset="0"/>
                        <a:ea typeface="Arial" charset="0"/>
                        <a:cs typeface="Arial" charset="0"/>
                      </a:rPr>
                      <m:t>=−</m:t>
                    </m:r>
                    <m:f>
                      <m:fPr>
                        <m:ctrlPr>
                          <a:rPr lang="en-US" sz="2000" b="0" i="1" smtClean="0">
                            <a:latin typeface="Cambria Math" panose="02040503050406030204" pitchFamily="18" charset="0"/>
                            <a:cs typeface="Arial" charset="0"/>
                          </a:rPr>
                        </m:ctrlPr>
                      </m:fPr>
                      <m:num>
                        <m:r>
                          <a:rPr lang="en-US" sz="2000" b="0" i="1" smtClean="0">
                            <a:latin typeface="Cambria Math" panose="02040503050406030204" pitchFamily="18" charset="0"/>
                            <a:cs typeface="Arial" charset="0"/>
                          </a:rPr>
                          <m:t>𝐺</m:t>
                        </m:r>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𝑚</m:t>
                            </m:r>
                          </m:e>
                          <m:sub>
                            <m:r>
                              <a:rPr lang="en-US" sz="2000" b="0" i="1" smtClean="0">
                                <a:latin typeface="Cambria Math" panose="02040503050406030204" pitchFamily="18" charset="0"/>
                                <a:cs typeface="Arial" charset="0"/>
                              </a:rPr>
                              <m:t>1</m:t>
                            </m:r>
                          </m:sub>
                        </m:sSub>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𝑚</m:t>
                            </m:r>
                          </m:e>
                          <m:sub>
                            <m:r>
                              <a:rPr lang="en-US" sz="2000" b="0" i="1" smtClean="0">
                                <a:latin typeface="Cambria Math" panose="02040503050406030204" pitchFamily="18" charset="0"/>
                                <a:cs typeface="Arial" charset="0"/>
                              </a:rPr>
                              <m:t>2</m:t>
                            </m:r>
                          </m:sub>
                        </m:sSub>
                      </m:num>
                      <m:den>
                        <m:sSup>
                          <m:sSupPr>
                            <m:ctrlPr>
                              <a:rPr lang="en-US" sz="2000" b="0" i="1" smtClean="0">
                                <a:latin typeface="Cambria Math" panose="02040503050406030204" pitchFamily="18" charset="0"/>
                                <a:cs typeface="Arial" charset="0"/>
                              </a:rPr>
                            </m:ctrlPr>
                          </m:sSupPr>
                          <m:e>
                            <m:r>
                              <a:rPr lang="en-US" sz="2000" b="0" i="1" smtClean="0">
                                <a:latin typeface="Cambria Math" panose="02040503050406030204" pitchFamily="18" charset="0"/>
                                <a:cs typeface="Arial" charset="0"/>
                              </a:rPr>
                              <m:t>𝑟</m:t>
                            </m:r>
                          </m:e>
                          <m:sup>
                            <m:r>
                              <a:rPr lang="en-US" sz="2000" b="0" i="1" smtClean="0">
                                <a:latin typeface="Cambria Math" panose="02040503050406030204" pitchFamily="18" charset="0"/>
                                <a:cs typeface="Arial" charset="0"/>
                              </a:rPr>
                              <m:t>2</m:t>
                            </m:r>
                          </m:sup>
                        </m:sSup>
                      </m:den>
                    </m:f>
                    <m:r>
                      <a:rPr lang="en-US" sz="2000" b="0" i="1" smtClean="0">
                        <a:latin typeface="Cambria Math" panose="02040503050406030204" pitchFamily="18" charset="0"/>
                        <a:cs typeface="Arial" charset="0"/>
                      </a:rPr>
                      <m:t> </m:t>
                    </m:r>
                    <m:sSub>
                      <m:sSubPr>
                        <m:ctrlPr>
                          <a:rPr lang="en-US" sz="2000" b="1" i="1" smtClean="0">
                            <a:latin typeface="Cambria Math" panose="02040503050406030204" pitchFamily="18" charset="0"/>
                            <a:cs typeface="Arial" charset="0"/>
                          </a:rPr>
                        </m:ctrlPr>
                      </m:sSubPr>
                      <m:e>
                        <m:r>
                          <a:rPr lang="en-US" sz="2000" b="1" i="1" smtClean="0">
                            <a:latin typeface="Cambria Math" panose="02040503050406030204" pitchFamily="18" charset="0"/>
                            <a:cs typeface="Arial" charset="0"/>
                          </a:rPr>
                          <m:t>𝒖</m:t>
                        </m:r>
                      </m:e>
                      <m:sub>
                        <m:r>
                          <a:rPr lang="en-US" sz="2000" b="0" i="1" smtClean="0">
                            <a:latin typeface="Cambria Math" panose="02040503050406030204" pitchFamily="18" charset="0"/>
                            <a:cs typeface="Arial" charset="0"/>
                          </a:rPr>
                          <m:t>𝑟</m:t>
                        </m:r>
                      </m:sub>
                    </m:sSub>
                  </m:oMath>
                </a14:m>
                <a:r>
                  <a:rPr lang="en-US" sz="2000" b="1" i="1" dirty="0">
                    <a:ea typeface="Arial" charset="0"/>
                    <a:cs typeface="Arial" charset="0"/>
                  </a:rPr>
                  <a:t> </a:t>
                </a:r>
                <a:r>
                  <a:rPr lang="en-US" sz="2000" dirty="0">
                    <a:ea typeface="Arial" charset="0"/>
                    <a:cs typeface="Arial" charset="0"/>
                  </a:rPr>
                  <a:t>where </a:t>
                </a:r>
                <a:r>
                  <a:rPr lang="en-US" sz="2000" b="1" dirty="0" err="1">
                    <a:ea typeface="Arial" charset="0"/>
                    <a:cs typeface="Arial" charset="0"/>
                  </a:rPr>
                  <a:t>u</a:t>
                </a:r>
                <a:r>
                  <a:rPr lang="en-US" sz="2000" b="1" baseline="-25000" dirty="0" err="1">
                    <a:ea typeface="Arial" charset="0"/>
                    <a:cs typeface="Arial" charset="0"/>
                  </a:rPr>
                  <a:t>r</a:t>
                </a:r>
                <a:r>
                  <a:rPr lang="en-US" sz="2000" b="1" baseline="-25000" dirty="0">
                    <a:ea typeface="Arial" charset="0"/>
                    <a:cs typeface="Arial" charset="0"/>
                  </a:rPr>
                  <a:t> </a:t>
                </a:r>
                <a:r>
                  <a:rPr lang="en-US" sz="2000" dirty="0">
                    <a:ea typeface="Arial" charset="0"/>
                    <a:cs typeface="Arial" charset="0"/>
                  </a:rPr>
                  <a:t>is the unit vector from m</a:t>
                </a:r>
                <a:r>
                  <a:rPr lang="en-US" sz="2000" baseline="-25000" dirty="0">
                    <a:ea typeface="Arial" charset="0"/>
                    <a:cs typeface="Arial" charset="0"/>
                  </a:rPr>
                  <a:t>1</a:t>
                </a:r>
                <a:r>
                  <a:rPr lang="en-US" sz="2000" dirty="0">
                    <a:ea typeface="Arial" charset="0"/>
                    <a:cs typeface="Arial" charset="0"/>
                  </a:rPr>
                  <a:t> to m</a:t>
                </a:r>
                <a:r>
                  <a:rPr lang="en-US" sz="2000" baseline="-25000" dirty="0">
                    <a:ea typeface="Arial" charset="0"/>
                    <a:cs typeface="Arial" charset="0"/>
                  </a:rPr>
                  <a:t>2</a:t>
                </a:r>
                <a:r>
                  <a:rPr lang="en-US" sz="2000" dirty="0">
                    <a:ea typeface="Arial" charset="0"/>
                    <a:cs typeface="Arial" charset="0"/>
                  </a:rPr>
                  <a:t> and </a:t>
                </a:r>
                <a:r>
                  <a:rPr lang="en-US" sz="2000" b="1" dirty="0">
                    <a:ea typeface="Arial" charset="0"/>
                    <a:cs typeface="Arial" charset="0"/>
                  </a:rPr>
                  <a:t>F</a:t>
                </a:r>
                <a:r>
                  <a:rPr lang="en-US" sz="2000" dirty="0">
                    <a:ea typeface="Arial" charset="0"/>
                    <a:cs typeface="Arial" charset="0"/>
                  </a:rPr>
                  <a:t> is the force on m</a:t>
                </a:r>
                <a:r>
                  <a:rPr lang="en-US" sz="2000" baseline="-25000" dirty="0">
                    <a:ea typeface="Arial" charset="0"/>
                    <a:cs typeface="Arial" charset="0"/>
                  </a:rPr>
                  <a:t>2</a:t>
                </a:r>
                <a:r>
                  <a:rPr lang="en-US" sz="2000" dirty="0">
                    <a:ea typeface="Arial" charset="0"/>
                    <a:cs typeface="Arial" charset="0"/>
                  </a:rPr>
                  <a:t>.</a:t>
                </a:r>
                <a:endParaRPr lang="en-US" sz="1600" dirty="0">
                  <a:ea typeface="Arial" charset="0"/>
                  <a:cs typeface="Arial"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98763" y="1262359"/>
                <a:ext cx="11403053" cy="5310476"/>
              </a:xfrm>
              <a:blipFill>
                <a:blip r:embed="rId3"/>
                <a:stretch>
                  <a:fillRect l="-445" t="-1432"/>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a:xfrm>
            <a:off x="8077200" y="6356351"/>
            <a:ext cx="2133600" cy="365125"/>
          </a:xfrm>
        </p:spPr>
        <p:txBody>
          <a:bodyPr/>
          <a:lstStyle/>
          <a:p>
            <a:fld id="{FA32F8ED-EEB4-4D51-9E8E-3B145D9B9811}" type="slidenum">
              <a:rPr lang="en-US" smtClean="0"/>
              <a:pPr/>
              <a:t>26</a:t>
            </a:fld>
            <a:endParaRPr lang="en-US"/>
          </a:p>
        </p:txBody>
      </p:sp>
    </p:spTree>
    <p:extLst>
      <p:ext uri="{BB962C8B-B14F-4D97-AF65-F5344CB8AC3E}">
        <p14:creationId xmlns:p14="http://schemas.microsoft.com/office/powerpoint/2010/main" val="42435930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043" y="113983"/>
            <a:ext cx="11675166" cy="868362"/>
          </a:xfrm>
        </p:spPr>
        <p:txBody>
          <a:bodyPr anchor="ctr">
            <a:normAutofit/>
          </a:bodyPr>
          <a:lstStyle/>
          <a:p>
            <a:pPr algn="ctr"/>
            <a:r>
              <a:rPr lang="en-US" sz="4400" dirty="0">
                <a:latin typeface="Calibri" panose="020F0502020204030204" pitchFamily="34" charset="0"/>
                <a:cs typeface="Calibri" panose="020F0502020204030204" pitchFamily="34" charset="0"/>
              </a:rPr>
              <a:t>Solutions to the wave equation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24568" y="1823250"/>
                <a:ext cx="9941904" cy="4448038"/>
              </a:xfrm>
            </p:spPr>
            <p:txBody>
              <a:bodyPr>
                <a:noAutofit/>
              </a:bodyPr>
              <a:lstStyle/>
              <a:p>
                <a:pPr marL="342900" indent="-342900" algn="l">
                  <a:buFont typeface="Arial" panose="020B0604020202020204" pitchFamily="34" charset="0"/>
                  <a:buChar char="•"/>
                </a:pPr>
                <a:r>
                  <a:rPr lang="en-US" sz="2000" dirty="0">
                    <a:cs typeface="Arial" panose="020B0604020202020204" pitchFamily="34" charset="0"/>
                  </a:rPr>
                  <a:t>The solution of </a:t>
                </a:r>
                <a14:m>
                  <m:oMath xmlns:m="http://schemas.openxmlformats.org/officeDocument/2006/math">
                    <m:sSup>
                      <m:sSup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pPr>
                      <m:e>
                        <m:r>
                          <m:rPr>
                            <m:sty m:val="p"/>
                          </m:rPr>
                          <a:rPr lang="en-US" sz="2000" i="1" smtClean="0">
                            <a:latin typeface="Cambria Math" panose="02040503050406030204" pitchFamily="18" charset="0"/>
                            <a:ea typeface="Cambria Math" panose="02040503050406030204" pitchFamily="18" charset="0"/>
                            <a:cs typeface="Arial" panose="020B0604020202020204" pitchFamily="34" charset="0"/>
                          </a:rPr>
                          <m:t>∇</m:t>
                        </m:r>
                      </m:e>
                      <m:sup>
                        <m:r>
                          <a:rPr lang="en-US" sz="2000" b="0" i="1" smtClean="0">
                            <a:latin typeface="Cambria Math" panose="02040503050406030204" pitchFamily="18" charset="0"/>
                            <a:cs typeface="Arial" panose="020B0604020202020204" pitchFamily="34" charset="0"/>
                          </a:rPr>
                          <m:t>2</m:t>
                        </m:r>
                      </m:sup>
                    </m:sSup>
                    <m:r>
                      <a:rPr lang="en-US" sz="2000" i="1" smtClean="0">
                        <a:latin typeface="Cambria Math" panose="02040503050406030204" pitchFamily="18" charset="0"/>
                        <a:ea typeface="Cambria Math" panose="02040503050406030204" pitchFamily="18" charset="0"/>
                        <a:cs typeface="Arial" panose="020B0604020202020204" pitchFamily="34" charset="0"/>
                      </a:rPr>
                      <m:t>𝜓</m:t>
                    </m:r>
                    <m:r>
                      <a:rPr lang="en-US" sz="2000" b="0" i="1" smtClean="0">
                        <a:latin typeface="Cambria Math" panose="02040503050406030204" pitchFamily="18" charset="0"/>
                        <a:ea typeface="Cambria Math" panose="02040503050406030204" pitchFamily="18" charset="0"/>
                        <a:cs typeface="Arial" panose="020B0604020202020204" pitchFamily="34" charset="0"/>
                      </a:rPr>
                      <m:t>− </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1</m:t>
                        </m:r>
                      </m:num>
                      <m:den>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𝑐</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den>
                    </m:f>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r>
                          <a:rPr lang="en-US" sz="2000" b="0" i="1" smtClean="0">
                            <a:latin typeface="Cambria Math" panose="02040503050406030204" pitchFamily="18" charset="0"/>
                            <a:ea typeface="Cambria Math" panose="02040503050406030204" pitchFamily="18" charset="0"/>
                            <a:cs typeface="Arial" panose="020B0604020202020204" pitchFamily="34" charset="0"/>
                          </a:rPr>
                          <m:t> </m:t>
                        </m:r>
                        <m:r>
                          <a:rPr lang="en-US" sz="2000" b="0" i="1" smtClean="0">
                            <a:latin typeface="Cambria Math" panose="02040503050406030204" pitchFamily="18" charset="0"/>
                            <a:ea typeface="Cambria Math" panose="02040503050406030204" pitchFamily="18" charset="0"/>
                            <a:cs typeface="Arial" panose="020B0604020202020204" pitchFamily="34" charset="0"/>
                          </a:rPr>
                          <m:t>𝜓</m:t>
                        </m:r>
                      </m:num>
                      <m:den>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𝑡</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den>
                    </m:f>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𝑠</m:t>
                    </m:r>
                  </m:oMath>
                </a14:m>
                <a:r>
                  <a:rPr lang="en-US" sz="2000" dirty="0">
                    <a:ea typeface="Arial" charset="0"/>
                    <a:cs typeface="Arial" charset="0"/>
                  </a:rPr>
                  <a:t> is </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charset="0"/>
                      </a:rPr>
                      <m:t>𝜓</m:t>
                    </m:r>
                    <m:d>
                      <m:dPr>
                        <m:ctrlPr>
                          <a:rPr lang="en-US" sz="2000" b="0" i="1" smtClean="0">
                            <a:latin typeface="Cambria Math" panose="02040503050406030204" pitchFamily="18" charset="0"/>
                            <a:ea typeface="Cambria Math" panose="02040503050406030204" pitchFamily="18" charset="0"/>
                            <a:cs typeface="Arial" charset="0"/>
                          </a:rPr>
                        </m:ctrlPr>
                      </m:dPr>
                      <m:e>
                        <m:r>
                          <a:rPr lang="en-US" sz="2000" b="0" i="1" smtClean="0">
                            <a:latin typeface="Cambria Math" panose="02040503050406030204" pitchFamily="18" charset="0"/>
                            <a:ea typeface="Cambria Math" panose="02040503050406030204" pitchFamily="18" charset="0"/>
                            <a:cs typeface="Arial" charset="0"/>
                          </a:rPr>
                          <m:t>𝑥</m:t>
                        </m:r>
                        <m:r>
                          <a:rPr lang="en-US" sz="2000" b="0" i="1" smtClean="0">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𝑦</m:t>
                        </m:r>
                        <m:r>
                          <a:rPr lang="en-US" sz="2000" b="0" i="1" smtClean="0">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𝑧</m:t>
                        </m:r>
                        <m:r>
                          <a:rPr lang="en-US" sz="2000" b="0" i="1" smtClean="0">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𝑡</m:t>
                        </m:r>
                      </m:e>
                    </m:d>
                    <m:r>
                      <a:rPr lang="en-US" sz="2000" b="0" i="1" smtClean="0">
                        <a:latin typeface="Cambria Math" panose="02040503050406030204" pitchFamily="18" charset="0"/>
                        <a:ea typeface="Cambria Math" panose="02040503050406030204" pitchFamily="18" charset="0"/>
                        <a:cs typeface="Arial" charset="0"/>
                      </a:rPr>
                      <m:t>= </m:t>
                    </m:r>
                    <m:f>
                      <m:fPr>
                        <m:ctrlPr>
                          <a:rPr lang="en-US" sz="2000" b="0" i="1" smtClean="0">
                            <a:latin typeface="Cambria Math" panose="02040503050406030204" pitchFamily="18" charset="0"/>
                            <a:ea typeface="Cambria Math" panose="02040503050406030204" pitchFamily="18" charset="0"/>
                            <a:cs typeface="Arial" charset="0"/>
                          </a:rPr>
                        </m:ctrlPr>
                      </m:fPr>
                      <m:num>
                        <m:r>
                          <a:rPr lang="en-US" sz="2000" b="0" i="1" smtClean="0">
                            <a:latin typeface="Cambria Math" panose="02040503050406030204" pitchFamily="18" charset="0"/>
                            <a:ea typeface="Cambria Math" panose="02040503050406030204" pitchFamily="18" charset="0"/>
                            <a:cs typeface="Arial" charset="0"/>
                          </a:rPr>
                          <m:t>𝑆</m:t>
                        </m:r>
                        <m:r>
                          <a:rPr lang="en-US" sz="2000" b="0" i="1" smtClean="0">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𝑡</m:t>
                        </m:r>
                        <m:r>
                          <a:rPr lang="en-US" sz="2000" b="0" i="1" smtClean="0">
                            <a:latin typeface="Cambria Math" panose="02040503050406030204" pitchFamily="18" charset="0"/>
                            <a:ea typeface="Cambria Math" panose="02040503050406030204" pitchFamily="18" charset="0"/>
                            <a:cs typeface="Arial" charset="0"/>
                          </a:rPr>
                          <m:t>−</m:t>
                        </m:r>
                        <m:f>
                          <m:fPr>
                            <m:ctrlPr>
                              <a:rPr lang="en-US" sz="2000" b="0" i="1" smtClean="0">
                                <a:latin typeface="Cambria Math" panose="02040503050406030204" pitchFamily="18" charset="0"/>
                                <a:ea typeface="Cambria Math" panose="02040503050406030204" pitchFamily="18" charset="0"/>
                                <a:cs typeface="Arial" charset="0"/>
                              </a:rPr>
                            </m:ctrlPr>
                          </m:fPr>
                          <m:num>
                            <m:r>
                              <a:rPr lang="en-US" sz="2000" b="0" i="1" smtClean="0">
                                <a:latin typeface="Cambria Math" panose="02040503050406030204" pitchFamily="18" charset="0"/>
                                <a:ea typeface="Cambria Math" panose="02040503050406030204" pitchFamily="18" charset="0"/>
                                <a:cs typeface="Arial" charset="0"/>
                              </a:rPr>
                              <m:t>𝑟</m:t>
                            </m:r>
                          </m:num>
                          <m:den>
                            <m:r>
                              <a:rPr lang="en-US" sz="2000" b="0" i="1" smtClean="0">
                                <a:latin typeface="Cambria Math" panose="02040503050406030204" pitchFamily="18" charset="0"/>
                                <a:ea typeface="Cambria Math" panose="02040503050406030204" pitchFamily="18" charset="0"/>
                                <a:cs typeface="Arial" charset="0"/>
                              </a:rPr>
                              <m:t>𝑐</m:t>
                            </m:r>
                          </m:den>
                        </m:f>
                        <m:r>
                          <a:rPr lang="en-US" sz="2000" b="0" i="1" smtClean="0">
                            <a:latin typeface="Cambria Math" panose="02040503050406030204" pitchFamily="18" charset="0"/>
                            <a:ea typeface="Cambria Math" panose="02040503050406030204" pitchFamily="18" charset="0"/>
                            <a:cs typeface="Arial" charset="0"/>
                          </a:rPr>
                          <m:t>)</m:t>
                        </m:r>
                      </m:num>
                      <m:den>
                        <m:r>
                          <a:rPr lang="en-US" sz="2000" b="0" i="1" smtClean="0">
                            <a:latin typeface="Cambria Math" panose="02040503050406030204" pitchFamily="18" charset="0"/>
                            <a:ea typeface="Cambria Math" panose="02040503050406030204" pitchFamily="18" charset="0"/>
                            <a:cs typeface="Arial" charset="0"/>
                          </a:rPr>
                          <m:t>4</m:t>
                        </m:r>
                        <m:r>
                          <a:rPr lang="en-US" sz="2000" b="0" i="1" smtClean="0">
                            <a:latin typeface="Cambria Math" panose="02040503050406030204" pitchFamily="18" charset="0"/>
                            <a:ea typeface="Cambria Math" panose="02040503050406030204" pitchFamily="18" charset="0"/>
                            <a:cs typeface="Arial" charset="0"/>
                          </a:rPr>
                          <m:t>𝜋</m:t>
                        </m:r>
                        <m:r>
                          <a:rPr lang="en-US" sz="2000" b="0" i="1" smtClean="0">
                            <a:latin typeface="Cambria Math" panose="02040503050406030204" pitchFamily="18" charset="0"/>
                            <a:ea typeface="Cambria Math" panose="02040503050406030204" pitchFamily="18" charset="0"/>
                            <a:cs typeface="Arial" charset="0"/>
                          </a:rPr>
                          <m:t>𝑟</m:t>
                        </m:r>
                      </m:den>
                    </m:f>
                  </m:oMath>
                </a14:m>
                <a:r>
                  <a:rPr lang="en-US" sz="2000" dirty="0">
                    <a:ea typeface="Arial" charset="0"/>
                    <a:cs typeface="Arial" charset="0"/>
                  </a:rPr>
                  <a:t> where </a:t>
                </a:r>
                <a14:m>
                  <m:oMath xmlns:m="http://schemas.openxmlformats.org/officeDocument/2006/math">
                    <m:r>
                      <a:rPr lang="en-US" sz="2000" b="0" i="1" smtClean="0">
                        <a:latin typeface="Cambria Math" panose="02040503050406030204" pitchFamily="18" charset="0"/>
                        <a:ea typeface="Arial" charset="0"/>
                        <a:cs typeface="Arial" charset="0"/>
                      </a:rPr>
                      <m:t>𝑆</m:t>
                    </m:r>
                    <m:r>
                      <a:rPr lang="en-US" sz="2000" b="0" i="1" smtClean="0">
                        <a:latin typeface="Cambria Math" panose="02040503050406030204" pitchFamily="18" charset="0"/>
                        <a:ea typeface="Arial" charset="0"/>
                        <a:cs typeface="Arial" charset="0"/>
                      </a:rPr>
                      <m:t>= </m:t>
                    </m:r>
                    <m:nary>
                      <m:naryPr>
                        <m:ctrlPr>
                          <a:rPr lang="en-US" sz="2000" b="0" i="1" smtClean="0">
                            <a:latin typeface="Cambria Math" panose="02040503050406030204" pitchFamily="18" charset="0"/>
                            <a:cs typeface="Arial" charset="0"/>
                          </a:rPr>
                        </m:ctrlPr>
                      </m:naryPr>
                      <m:sub>
                        <m:r>
                          <m:rPr>
                            <m:brk m:alnAt="23"/>
                          </m:rPr>
                          <a:rPr lang="en-US" sz="2000" b="0" i="1" smtClean="0">
                            <a:latin typeface="Cambria Math" panose="02040503050406030204" pitchFamily="18" charset="0"/>
                            <a:cs typeface="Arial" charset="0"/>
                          </a:rPr>
                          <m:t>𝑉</m:t>
                        </m:r>
                      </m:sub>
                      <m:sup/>
                      <m:e>
                        <m:r>
                          <a:rPr lang="en-US" sz="2000" b="0" i="1" smtClean="0">
                            <a:latin typeface="Cambria Math" panose="02040503050406030204" pitchFamily="18" charset="0"/>
                            <a:cs typeface="Arial" charset="0"/>
                          </a:rPr>
                          <m:t>𝑠</m:t>
                        </m:r>
                        <m:r>
                          <a:rPr lang="en-US" sz="2000" b="0" i="1" smtClean="0">
                            <a:latin typeface="Cambria Math" panose="02040503050406030204" pitchFamily="18" charset="0"/>
                            <a:cs typeface="Arial" charset="0"/>
                          </a:rPr>
                          <m:t> </m:t>
                        </m:r>
                        <m:r>
                          <a:rPr lang="en-US" sz="2000" b="0" i="1" smtClean="0">
                            <a:latin typeface="Cambria Math" panose="02040503050406030204" pitchFamily="18" charset="0"/>
                            <a:cs typeface="Arial" charset="0"/>
                          </a:rPr>
                          <m:t>𝑑𝑉</m:t>
                        </m:r>
                      </m:e>
                    </m:nary>
                  </m:oMath>
                </a14:m>
                <a:endParaRPr lang="en-US" sz="2000" dirty="0">
                  <a:ea typeface="Arial" charset="0"/>
                  <a:cs typeface="Arial" charset="0"/>
                </a:endParaRPr>
              </a:p>
              <a:p>
                <a:pPr marL="342900" indent="-342900" algn="l">
                  <a:buFont typeface="Arial" panose="020B0604020202020204" pitchFamily="34" charset="0"/>
                  <a:buChar char="•"/>
                </a:pPr>
                <a:r>
                  <a:rPr lang="en-US" sz="2000" dirty="0">
                    <a:ea typeface="Arial" charset="0"/>
                    <a:cs typeface="Arial" charset="0"/>
                  </a:rPr>
                  <a:t>Later, we will use this to find the ”general” solution to Maxwell’s equations</a:t>
                </a:r>
              </a:p>
              <a:p>
                <a:pPr marL="800100" lvl="1" indent="-342900" algn="l">
                  <a:buFont typeface="Arial" panose="020B0604020202020204" pitchFamily="34" charset="0"/>
                  <a:buChar char="•"/>
                </a:pPr>
                <a14:m>
                  <m:oMath xmlns:m="http://schemas.openxmlformats.org/officeDocument/2006/math">
                    <m:r>
                      <a:rPr lang="en-US" sz="2000" i="1" smtClean="0">
                        <a:latin typeface="Cambria Math" panose="02040503050406030204" pitchFamily="18" charset="0"/>
                        <a:ea typeface="Cambria Math" panose="02040503050406030204" pitchFamily="18" charset="0"/>
                        <a:cs typeface="Arial" charset="0"/>
                      </a:rPr>
                      <m:t>𝜙</m:t>
                    </m:r>
                    <m:d>
                      <m:dPr>
                        <m:ctrlPr>
                          <a:rPr lang="en-US" sz="2000" b="0" i="1" smtClean="0">
                            <a:latin typeface="Cambria Math" panose="02040503050406030204" pitchFamily="18" charset="0"/>
                            <a:ea typeface="Cambria Math" panose="02040503050406030204" pitchFamily="18" charset="0"/>
                            <a:cs typeface="Arial" charset="0"/>
                          </a:rPr>
                        </m:ctrlPr>
                      </m:dPr>
                      <m:e>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𝑟</m:t>
                            </m:r>
                          </m:e>
                          <m:sub>
                            <m:r>
                              <a:rPr lang="en-US" sz="2000" b="0" i="1" smtClean="0">
                                <a:latin typeface="Cambria Math" panose="02040503050406030204" pitchFamily="18" charset="0"/>
                                <a:ea typeface="Cambria Math" panose="02040503050406030204" pitchFamily="18" charset="0"/>
                                <a:cs typeface="Arial" charset="0"/>
                              </a:rPr>
                              <m:t>1</m:t>
                            </m:r>
                          </m:sub>
                        </m:sSub>
                        <m:r>
                          <a:rPr lang="en-US" sz="2000" b="0" i="1" smtClean="0">
                            <a:latin typeface="Cambria Math" panose="02040503050406030204" pitchFamily="18" charset="0"/>
                            <a:ea typeface="Cambria Math" panose="02040503050406030204" pitchFamily="18" charset="0"/>
                            <a:cs typeface="Arial" charset="0"/>
                          </a:rPr>
                          <m:t>, </m:t>
                        </m:r>
                        <m:r>
                          <a:rPr lang="en-US" sz="2000" b="0" i="1" smtClean="0">
                            <a:latin typeface="Cambria Math" panose="02040503050406030204" pitchFamily="18" charset="0"/>
                            <a:ea typeface="Cambria Math" panose="02040503050406030204" pitchFamily="18" charset="0"/>
                            <a:cs typeface="Arial" charset="0"/>
                          </a:rPr>
                          <m:t>𝑡</m:t>
                        </m:r>
                      </m:e>
                    </m:d>
                    <m:r>
                      <a:rPr lang="en-US" sz="2000" b="0" i="1" smtClean="0">
                        <a:latin typeface="Cambria Math" panose="02040503050406030204" pitchFamily="18" charset="0"/>
                        <a:ea typeface="Cambria Math" panose="02040503050406030204" pitchFamily="18" charset="0"/>
                        <a:cs typeface="Arial" charset="0"/>
                      </a:rPr>
                      <m:t>= </m:t>
                    </m:r>
                    <m:nary>
                      <m:naryPr>
                        <m:ctrlPr>
                          <a:rPr lang="en-US" sz="2000" b="0" i="1" smtClean="0">
                            <a:latin typeface="Cambria Math" panose="02040503050406030204" pitchFamily="18" charset="0"/>
                            <a:ea typeface="Cambria Math" panose="02040503050406030204" pitchFamily="18" charset="0"/>
                            <a:cs typeface="Arial" charset="0"/>
                          </a:rPr>
                        </m:ctrlPr>
                      </m:naryPr>
                      <m:sub>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𝑉</m:t>
                            </m:r>
                          </m:e>
                          <m:sub>
                            <m:r>
                              <a:rPr lang="en-US" sz="2000" b="0" i="1" smtClean="0">
                                <a:latin typeface="Cambria Math" panose="02040503050406030204" pitchFamily="18" charset="0"/>
                                <a:ea typeface="Cambria Math" panose="02040503050406030204" pitchFamily="18" charset="0"/>
                                <a:cs typeface="Arial" charset="0"/>
                              </a:rPr>
                              <m:t>2</m:t>
                            </m:r>
                          </m:sub>
                        </m:sSub>
                      </m:sub>
                      <m:sup/>
                      <m:e>
                        <m:f>
                          <m:fPr>
                            <m:ctrlPr>
                              <a:rPr lang="en-US" sz="2000" i="1">
                                <a:latin typeface="Cambria Math" panose="02040503050406030204" pitchFamily="18" charset="0"/>
                                <a:ea typeface="Cambria Math" panose="02040503050406030204" pitchFamily="18" charset="0"/>
                                <a:cs typeface="Arial" charset="0"/>
                              </a:rPr>
                            </m:ctrlPr>
                          </m:fPr>
                          <m:num>
                            <m:r>
                              <a:rPr lang="en-US" sz="2000" i="1">
                                <a:latin typeface="Cambria Math" panose="02040503050406030204" pitchFamily="18" charset="0"/>
                                <a:ea typeface="Cambria Math" panose="02040503050406030204" pitchFamily="18" charset="0"/>
                                <a:cs typeface="Arial" charset="0"/>
                              </a:rPr>
                              <m:t>𝜌</m:t>
                            </m:r>
                            <m:r>
                              <a:rPr lang="en-US" sz="2000" b="0" i="1" smtClean="0">
                                <a:latin typeface="Cambria Math" panose="02040503050406030204" pitchFamily="18" charset="0"/>
                                <a:ea typeface="Cambria Math" panose="02040503050406030204" pitchFamily="18" charset="0"/>
                                <a:cs typeface="Arial" charset="0"/>
                              </a:rPr>
                              <m:t>(</m:t>
                            </m:r>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𝑟</m:t>
                                </m:r>
                              </m:e>
                              <m:sub>
                                <m:r>
                                  <a:rPr lang="en-US" sz="2000" b="0" i="1" smtClean="0">
                                    <a:latin typeface="Cambria Math" panose="02040503050406030204" pitchFamily="18" charset="0"/>
                                    <a:ea typeface="Cambria Math" panose="02040503050406030204" pitchFamily="18" charset="0"/>
                                    <a:cs typeface="Arial" charset="0"/>
                                  </a:rPr>
                                  <m:t>2</m:t>
                                </m:r>
                              </m:sub>
                            </m:sSub>
                            <m:r>
                              <a:rPr lang="en-US" sz="2000" b="0" i="1" smtClean="0">
                                <a:latin typeface="Cambria Math" panose="02040503050406030204" pitchFamily="18" charset="0"/>
                                <a:ea typeface="Cambria Math" panose="02040503050406030204" pitchFamily="18" charset="0"/>
                                <a:cs typeface="Arial" charset="0"/>
                              </a:rPr>
                              <m:t>,   </m:t>
                            </m:r>
                            <m:r>
                              <a:rPr lang="en-US" sz="2000" b="0" i="1" smtClean="0">
                                <a:latin typeface="Cambria Math" panose="02040503050406030204" pitchFamily="18" charset="0"/>
                                <a:ea typeface="Cambria Math" panose="02040503050406030204" pitchFamily="18" charset="0"/>
                                <a:cs typeface="Arial" charset="0"/>
                              </a:rPr>
                              <m:t>𝑡</m:t>
                            </m:r>
                            <m:r>
                              <a:rPr lang="en-US" sz="2000" b="0" i="1" smtClean="0">
                                <a:latin typeface="Cambria Math" panose="02040503050406030204" pitchFamily="18" charset="0"/>
                                <a:ea typeface="Cambria Math" panose="02040503050406030204" pitchFamily="18" charset="0"/>
                                <a:cs typeface="Arial" charset="0"/>
                              </a:rPr>
                              <m:t>−</m:t>
                            </m:r>
                            <m:f>
                              <m:fPr>
                                <m:ctrlPr>
                                  <a:rPr lang="en-US" sz="2000" b="0" i="1" smtClean="0">
                                    <a:latin typeface="Cambria Math" panose="02040503050406030204" pitchFamily="18" charset="0"/>
                                    <a:ea typeface="Cambria Math" panose="02040503050406030204" pitchFamily="18" charset="0"/>
                                    <a:cs typeface="Arial" charset="0"/>
                                  </a:rPr>
                                </m:ctrlPr>
                              </m:fPr>
                              <m:num>
                                <m:r>
                                  <a:rPr lang="en-US" sz="2000" b="0" i="1" smtClean="0">
                                    <a:latin typeface="Cambria Math" panose="02040503050406030204" pitchFamily="18" charset="0"/>
                                    <a:ea typeface="Cambria Math" panose="02040503050406030204" pitchFamily="18" charset="0"/>
                                    <a:cs typeface="Arial" charset="0"/>
                                  </a:rPr>
                                  <m:t>|</m:t>
                                </m:r>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𝑟</m:t>
                                    </m:r>
                                  </m:e>
                                  <m:sub>
                                    <m:r>
                                      <a:rPr lang="en-US" sz="2000" b="0" i="1" smtClean="0">
                                        <a:latin typeface="Cambria Math" panose="02040503050406030204" pitchFamily="18" charset="0"/>
                                        <a:ea typeface="Cambria Math" panose="02040503050406030204" pitchFamily="18" charset="0"/>
                                        <a:cs typeface="Arial" charset="0"/>
                                      </a:rPr>
                                      <m:t>1</m:t>
                                    </m:r>
                                  </m:sub>
                                </m:sSub>
                                <m:r>
                                  <a:rPr lang="en-US" sz="2000" b="0" i="1" smtClean="0">
                                    <a:latin typeface="Cambria Math" panose="02040503050406030204" pitchFamily="18" charset="0"/>
                                    <a:ea typeface="Cambria Math" panose="02040503050406030204" pitchFamily="18" charset="0"/>
                                    <a:cs typeface="Arial" charset="0"/>
                                  </a:rPr>
                                  <m:t>−</m:t>
                                </m:r>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𝑟</m:t>
                                    </m:r>
                                  </m:e>
                                  <m:sub>
                                    <m:r>
                                      <a:rPr lang="en-US" sz="2000" b="0" i="1" smtClean="0">
                                        <a:latin typeface="Cambria Math" panose="02040503050406030204" pitchFamily="18" charset="0"/>
                                        <a:ea typeface="Cambria Math" panose="02040503050406030204" pitchFamily="18" charset="0"/>
                                        <a:cs typeface="Arial" charset="0"/>
                                      </a:rPr>
                                      <m:t>2</m:t>
                                    </m:r>
                                  </m:sub>
                                </m:sSub>
                                <m:r>
                                  <a:rPr lang="en-US" sz="2000" b="0" i="1" smtClean="0">
                                    <a:latin typeface="Cambria Math" panose="02040503050406030204" pitchFamily="18" charset="0"/>
                                    <a:ea typeface="Cambria Math" panose="02040503050406030204" pitchFamily="18" charset="0"/>
                                    <a:cs typeface="Arial" charset="0"/>
                                  </a:rPr>
                                  <m:t>|</m:t>
                                </m:r>
                              </m:num>
                              <m:den>
                                <m:r>
                                  <a:rPr lang="en-US" sz="2000" b="0" i="1" smtClean="0">
                                    <a:latin typeface="Cambria Math" panose="02040503050406030204" pitchFamily="18" charset="0"/>
                                    <a:ea typeface="Cambria Math" panose="02040503050406030204" pitchFamily="18" charset="0"/>
                                    <a:cs typeface="Arial" charset="0"/>
                                  </a:rPr>
                                  <m:t>𝑐</m:t>
                                </m:r>
                              </m:den>
                            </m:f>
                            <m:r>
                              <a:rPr lang="en-US" sz="2000" b="0" i="1" smtClean="0">
                                <a:latin typeface="Cambria Math" panose="02040503050406030204" pitchFamily="18" charset="0"/>
                                <a:ea typeface="Cambria Math" panose="02040503050406030204" pitchFamily="18" charset="0"/>
                                <a:cs typeface="Arial" charset="0"/>
                              </a:rPr>
                              <m:t>)</m:t>
                            </m:r>
                          </m:num>
                          <m:den>
                            <m:r>
                              <a:rPr lang="en-US" sz="2000" b="0" i="1" smtClean="0">
                                <a:latin typeface="Cambria Math" panose="02040503050406030204" pitchFamily="18" charset="0"/>
                                <a:ea typeface="Cambria Math" panose="02040503050406030204" pitchFamily="18" charset="0"/>
                                <a:cs typeface="Arial" charset="0"/>
                              </a:rPr>
                              <m:t>4</m:t>
                            </m:r>
                            <m:r>
                              <a:rPr lang="en-US" sz="2000" b="0" i="1" smtClean="0">
                                <a:latin typeface="Cambria Math" panose="02040503050406030204" pitchFamily="18" charset="0"/>
                                <a:ea typeface="Cambria Math" panose="02040503050406030204" pitchFamily="18" charset="0"/>
                                <a:cs typeface="Arial" charset="0"/>
                              </a:rPr>
                              <m:t>𝜋</m:t>
                            </m:r>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𝜖</m:t>
                                </m:r>
                              </m:e>
                              <m:sub>
                                <m:r>
                                  <a:rPr lang="en-US" sz="2000" b="0" i="1" smtClean="0">
                                    <a:latin typeface="Cambria Math" panose="02040503050406030204" pitchFamily="18" charset="0"/>
                                    <a:ea typeface="Cambria Math" panose="02040503050406030204" pitchFamily="18" charset="0"/>
                                    <a:cs typeface="Arial" charset="0"/>
                                  </a:rPr>
                                  <m:t>0</m:t>
                                </m:r>
                              </m:sub>
                            </m:sSub>
                            <m:r>
                              <a:rPr lang="en-US" sz="2000" b="0" i="1" smtClean="0">
                                <a:latin typeface="Cambria Math" panose="02040503050406030204" pitchFamily="18" charset="0"/>
                                <a:ea typeface="Cambria Math" panose="02040503050406030204" pitchFamily="18" charset="0"/>
                                <a:cs typeface="Arial" charset="0"/>
                              </a:rPr>
                              <m:t>|</m:t>
                            </m:r>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𝑟</m:t>
                                </m:r>
                              </m:e>
                              <m:sub>
                                <m:r>
                                  <a:rPr lang="en-US" sz="2000" b="0" i="1" smtClean="0">
                                    <a:latin typeface="Cambria Math" panose="02040503050406030204" pitchFamily="18" charset="0"/>
                                    <a:ea typeface="Cambria Math" panose="02040503050406030204" pitchFamily="18" charset="0"/>
                                    <a:cs typeface="Arial" charset="0"/>
                                  </a:rPr>
                                  <m:t>1</m:t>
                                </m:r>
                              </m:sub>
                            </m:sSub>
                            <m:r>
                              <a:rPr lang="en-US" sz="2000" b="0" i="1" smtClean="0">
                                <a:latin typeface="Cambria Math" panose="02040503050406030204" pitchFamily="18" charset="0"/>
                                <a:ea typeface="Cambria Math" panose="02040503050406030204" pitchFamily="18" charset="0"/>
                                <a:cs typeface="Arial" charset="0"/>
                              </a:rPr>
                              <m:t>−</m:t>
                            </m:r>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𝑟</m:t>
                                </m:r>
                              </m:e>
                              <m:sub>
                                <m:r>
                                  <a:rPr lang="en-US" sz="2000" b="0" i="1" smtClean="0">
                                    <a:latin typeface="Cambria Math" panose="02040503050406030204" pitchFamily="18" charset="0"/>
                                    <a:ea typeface="Cambria Math" panose="02040503050406030204" pitchFamily="18" charset="0"/>
                                    <a:cs typeface="Arial" charset="0"/>
                                  </a:rPr>
                                  <m:t>2</m:t>
                                </m:r>
                              </m:sub>
                            </m:sSub>
                            <m:r>
                              <a:rPr lang="en-US" sz="2000" b="0" i="1" smtClean="0">
                                <a:latin typeface="Cambria Math" panose="02040503050406030204" pitchFamily="18" charset="0"/>
                                <a:ea typeface="Cambria Math" panose="02040503050406030204" pitchFamily="18" charset="0"/>
                                <a:cs typeface="Arial" charset="0"/>
                              </a:rPr>
                              <m:t>|</m:t>
                            </m:r>
                          </m:den>
                        </m:f>
                        <m:r>
                          <a:rPr lang="en-US" sz="2000" b="0" i="1" smtClean="0">
                            <a:latin typeface="Cambria Math" panose="02040503050406030204" pitchFamily="18" charset="0"/>
                            <a:ea typeface="Cambria Math" panose="02040503050406030204" pitchFamily="18" charset="0"/>
                            <a:cs typeface="Arial" charset="0"/>
                          </a:rPr>
                          <m:t>𝑑</m:t>
                        </m:r>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𝑉</m:t>
                            </m:r>
                          </m:e>
                          <m:sub>
                            <m:r>
                              <a:rPr lang="en-US" sz="2000" b="0" i="1" smtClean="0">
                                <a:latin typeface="Cambria Math" panose="02040503050406030204" pitchFamily="18" charset="0"/>
                                <a:ea typeface="Cambria Math" panose="02040503050406030204" pitchFamily="18" charset="0"/>
                                <a:cs typeface="Arial" charset="0"/>
                              </a:rPr>
                              <m:t>2</m:t>
                            </m:r>
                          </m:sub>
                        </m:sSub>
                      </m:e>
                    </m:nary>
                  </m:oMath>
                </a14:m>
                <a:r>
                  <a:rPr lang="en-US" sz="2000" dirty="0">
                    <a:ea typeface="Arial" charset="0"/>
                    <a:cs typeface="Arial" charset="0"/>
                  </a:rPr>
                  <a:t> and </a:t>
                </a:r>
                <a14:m>
                  <m:oMath xmlns:m="http://schemas.openxmlformats.org/officeDocument/2006/math">
                    <m:r>
                      <a:rPr lang="en-US" sz="2000" b="1" i="0" smtClean="0">
                        <a:latin typeface="Cambria Math" panose="02040503050406030204" pitchFamily="18" charset="0"/>
                        <a:ea typeface="Cambria Math" panose="02040503050406030204" pitchFamily="18" charset="0"/>
                        <a:cs typeface="Arial" charset="0"/>
                      </a:rPr>
                      <m:t>𝐀</m:t>
                    </m:r>
                    <m:d>
                      <m:dPr>
                        <m:ctrlPr>
                          <a:rPr lang="en-US" sz="2000" i="1">
                            <a:latin typeface="Cambria Math" panose="02040503050406030204" pitchFamily="18" charset="0"/>
                            <a:ea typeface="Cambria Math" panose="02040503050406030204" pitchFamily="18" charset="0"/>
                            <a:cs typeface="Arial" charset="0"/>
                          </a:rPr>
                        </m:ctrlPr>
                      </m:dPr>
                      <m:e>
                        <m:sSub>
                          <m:sSubPr>
                            <m:ctrlPr>
                              <a:rPr lang="en-US" sz="2000" i="1">
                                <a:latin typeface="Cambria Math" panose="02040503050406030204" pitchFamily="18" charset="0"/>
                                <a:ea typeface="Cambria Math" panose="02040503050406030204" pitchFamily="18" charset="0"/>
                                <a:cs typeface="Arial" charset="0"/>
                              </a:rPr>
                            </m:ctrlPr>
                          </m:sSubPr>
                          <m:e>
                            <m:r>
                              <a:rPr lang="en-US" sz="2000" i="1">
                                <a:latin typeface="Cambria Math" panose="02040503050406030204" pitchFamily="18" charset="0"/>
                                <a:ea typeface="Cambria Math" panose="02040503050406030204" pitchFamily="18" charset="0"/>
                                <a:cs typeface="Arial" charset="0"/>
                              </a:rPr>
                              <m:t>𝑟</m:t>
                            </m:r>
                          </m:e>
                          <m:sub>
                            <m:r>
                              <a:rPr lang="en-US" sz="2000" i="1">
                                <a:latin typeface="Cambria Math" panose="02040503050406030204" pitchFamily="18" charset="0"/>
                                <a:ea typeface="Cambria Math" panose="02040503050406030204" pitchFamily="18" charset="0"/>
                                <a:cs typeface="Arial" charset="0"/>
                              </a:rPr>
                              <m:t>1</m:t>
                            </m:r>
                          </m:sub>
                        </m:sSub>
                        <m:r>
                          <a:rPr lang="en-US" sz="2000" i="1">
                            <a:latin typeface="Cambria Math" panose="02040503050406030204" pitchFamily="18" charset="0"/>
                            <a:ea typeface="Cambria Math" panose="02040503050406030204" pitchFamily="18" charset="0"/>
                            <a:cs typeface="Arial" charset="0"/>
                          </a:rPr>
                          <m:t>, </m:t>
                        </m:r>
                        <m:r>
                          <a:rPr lang="en-US" sz="2000" i="1">
                            <a:latin typeface="Cambria Math" panose="02040503050406030204" pitchFamily="18" charset="0"/>
                            <a:ea typeface="Cambria Math" panose="02040503050406030204" pitchFamily="18" charset="0"/>
                            <a:cs typeface="Arial" charset="0"/>
                          </a:rPr>
                          <m:t>𝑡</m:t>
                        </m:r>
                      </m:e>
                    </m:d>
                    <m:r>
                      <a:rPr lang="en-US" sz="2000" i="1">
                        <a:latin typeface="Cambria Math" panose="02040503050406030204" pitchFamily="18" charset="0"/>
                        <a:ea typeface="Cambria Math" panose="02040503050406030204" pitchFamily="18" charset="0"/>
                        <a:cs typeface="Arial" charset="0"/>
                      </a:rPr>
                      <m:t>= </m:t>
                    </m:r>
                    <m:nary>
                      <m:naryPr>
                        <m:ctrlPr>
                          <a:rPr lang="en-US" sz="2000" i="1">
                            <a:latin typeface="Cambria Math" panose="02040503050406030204" pitchFamily="18" charset="0"/>
                            <a:ea typeface="Cambria Math" panose="02040503050406030204" pitchFamily="18" charset="0"/>
                            <a:cs typeface="Arial" charset="0"/>
                          </a:rPr>
                        </m:ctrlPr>
                      </m:naryPr>
                      <m:sub>
                        <m:sSub>
                          <m:sSubPr>
                            <m:ctrlPr>
                              <a:rPr lang="en-US" sz="2000" i="1">
                                <a:latin typeface="Cambria Math" panose="02040503050406030204" pitchFamily="18" charset="0"/>
                                <a:ea typeface="Cambria Math" panose="02040503050406030204" pitchFamily="18" charset="0"/>
                                <a:cs typeface="Arial" charset="0"/>
                              </a:rPr>
                            </m:ctrlPr>
                          </m:sSubPr>
                          <m:e>
                            <m:r>
                              <a:rPr lang="en-US" sz="2000" i="1">
                                <a:latin typeface="Cambria Math" panose="02040503050406030204" pitchFamily="18" charset="0"/>
                                <a:ea typeface="Cambria Math" panose="02040503050406030204" pitchFamily="18" charset="0"/>
                                <a:cs typeface="Arial" charset="0"/>
                              </a:rPr>
                              <m:t>𝑉</m:t>
                            </m:r>
                          </m:e>
                          <m:sub>
                            <m:r>
                              <a:rPr lang="en-US" sz="2000" i="1">
                                <a:latin typeface="Cambria Math" panose="02040503050406030204" pitchFamily="18" charset="0"/>
                                <a:ea typeface="Cambria Math" panose="02040503050406030204" pitchFamily="18" charset="0"/>
                                <a:cs typeface="Arial" charset="0"/>
                              </a:rPr>
                              <m:t>2</m:t>
                            </m:r>
                          </m:sub>
                        </m:sSub>
                      </m:sub>
                      <m:sup/>
                      <m:e>
                        <m:f>
                          <m:fPr>
                            <m:ctrlPr>
                              <a:rPr lang="en-US" sz="2000" b="1" i="0" smtClean="0">
                                <a:latin typeface="Cambria Math" panose="02040503050406030204" pitchFamily="18" charset="0"/>
                                <a:ea typeface="Cambria Math" panose="02040503050406030204" pitchFamily="18" charset="0"/>
                                <a:cs typeface="Arial" charset="0"/>
                              </a:rPr>
                            </m:ctrlPr>
                          </m:fPr>
                          <m:num>
                            <m:r>
                              <a:rPr lang="en-US" sz="2000" b="1" i="0" smtClean="0">
                                <a:latin typeface="Cambria Math" panose="02040503050406030204" pitchFamily="18" charset="0"/>
                                <a:ea typeface="Cambria Math" panose="02040503050406030204" pitchFamily="18" charset="0"/>
                                <a:cs typeface="Arial" charset="0"/>
                              </a:rPr>
                              <m:t>𝐣</m:t>
                            </m:r>
                            <m:r>
                              <a:rPr lang="en-US" sz="2000" i="1">
                                <a:latin typeface="Cambria Math" panose="02040503050406030204" pitchFamily="18" charset="0"/>
                                <a:ea typeface="Cambria Math" panose="02040503050406030204" pitchFamily="18" charset="0"/>
                                <a:cs typeface="Arial" charset="0"/>
                              </a:rPr>
                              <m:t>(</m:t>
                            </m:r>
                            <m:sSub>
                              <m:sSubPr>
                                <m:ctrlPr>
                                  <a:rPr lang="en-US" sz="2000" i="1">
                                    <a:latin typeface="Cambria Math" panose="02040503050406030204" pitchFamily="18" charset="0"/>
                                    <a:ea typeface="Cambria Math" panose="02040503050406030204" pitchFamily="18" charset="0"/>
                                    <a:cs typeface="Arial" charset="0"/>
                                  </a:rPr>
                                </m:ctrlPr>
                              </m:sSubPr>
                              <m:e>
                                <m:r>
                                  <a:rPr lang="en-US" sz="2000" i="1">
                                    <a:latin typeface="Cambria Math" panose="02040503050406030204" pitchFamily="18" charset="0"/>
                                    <a:ea typeface="Cambria Math" panose="02040503050406030204" pitchFamily="18" charset="0"/>
                                    <a:cs typeface="Arial" charset="0"/>
                                  </a:rPr>
                                  <m:t>𝑟</m:t>
                                </m:r>
                              </m:e>
                              <m:sub>
                                <m:r>
                                  <a:rPr lang="en-US" sz="2000" i="1">
                                    <a:latin typeface="Cambria Math" panose="02040503050406030204" pitchFamily="18" charset="0"/>
                                    <a:ea typeface="Cambria Math" panose="02040503050406030204" pitchFamily="18" charset="0"/>
                                    <a:cs typeface="Arial" charset="0"/>
                                  </a:rPr>
                                  <m:t>2</m:t>
                                </m:r>
                              </m:sub>
                            </m:sSub>
                            <m:r>
                              <a:rPr lang="en-US" sz="2000" i="1">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 </m:t>
                            </m:r>
                            <m:r>
                              <a:rPr lang="en-US" sz="2000" i="1">
                                <a:latin typeface="Cambria Math" panose="02040503050406030204" pitchFamily="18" charset="0"/>
                                <a:ea typeface="Cambria Math" panose="02040503050406030204" pitchFamily="18" charset="0"/>
                                <a:cs typeface="Arial" charset="0"/>
                              </a:rPr>
                              <m:t>  </m:t>
                            </m:r>
                            <m:r>
                              <a:rPr lang="en-US" sz="2000" i="1">
                                <a:latin typeface="Cambria Math" panose="02040503050406030204" pitchFamily="18" charset="0"/>
                                <a:ea typeface="Cambria Math" panose="02040503050406030204" pitchFamily="18" charset="0"/>
                                <a:cs typeface="Arial" charset="0"/>
                              </a:rPr>
                              <m:t>𝑡</m:t>
                            </m:r>
                            <m:r>
                              <a:rPr lang="en-US" sz="2000" i="1">
                                <a:latin typeface="Cambria Math" panose="02040503050406030204" pitchFamily="18" charset="0"/>
                                <a:ea typeface="Cambria Math" panose="02040503050406030204" pitchFamily="18" charset="0"/>
                                <a:cs typeface="Arial" charset="0"/>
                              </a:rPr>
                              <m:t>−</m:t>
                            </m:r>
                            <m:f>
                              <m:fPr>
                                <m:ctrlPr>
                                  <a:rPr lang="en-US" sz="2000" i="1">
                                    <a:latin typeface="Cambria Math" panose="02040503050406030204" pitchFamily="18" charset="0"/>
                                    <a:ea typeface="Cambria Math" panose="02040503050406030204" pitchFamily="18" charset="0"/>
                                    <a:cs typeface="Arial" charset="0"/>
                                  </a:rPr>
                                </m:ctrlPr>
                              </m:fPr>
                              <m:num>
                                <m:r>
                                  <a:rPr lang="en-US" sz="2000" i="1">
                                    <a:latin typeface="Cambria Math" panose="02040503050406030204" pitchFamily="18" charset="0"/>
                                    <a:ea typeface="Cambria Math" panose="02040503050406030204" pitchFamily="18" charset="0"/>
                                    <a:cs typeface="Arial" charset="0"/>
                                  </a:rPr>
                                  <m:t>|</m:t>
                                </m:r>
                                <m:sSub>
                                  <m:sSubPr>
                                    <m:ctrlPr>
                                      <a:rPr lang="en-US" sz="2000" i="1">
                                        <a:latin typeface="Cambria Math" panose="02040503050406030204" pitchFamily="18" charset="0"/>
                                        <a:ea typeface="Cambria Math" panose="02040503050406030204" pitchFamily="18" charset="0"/>
                                        <a:cs typeface="Arial" charset="0"/>
                                      </a:rPr>
                                    </m:ctrlPr>
                                  </m:sSubPr>
                                  <m:e>
                                    <m:r>
                                      <a:rPr lang="en-US" sz="2000" i="1">
                                        <a:latin typeface="Cambria Math" panose="02040503050406030204" pitchFamily="18" charset="0"/>
                                        <a:ea typeface="Cambria Math" panose="02040503050406030204" pitchFamily="18" charset="0"/>
                                        <a:cs typeface="Arial" charset="0"/>
                                      </a:rPr>
                                      <m:t>𝑟</m:t>
                                    </m:r>
                                  </m:e>
                                  <m:sub>
                                    <m:r>
                                      <a:rPr lang="en-US" sz="2000" i="1">
                                        <a:latin typeface="Cambria Math" panose="02040503050406030204" pitchFamily="18" charset="0"/>
                                        <a:ea typeface="Cambria Math" panose="02040503050406030204" pitchFamily="18" charset="0"/>
                                        <a:cs typeface="Arial" charset="0"/>
                                      </a:rPr>
                                      <m:t>1</m:t>
                                    </m:r>
                                  </m:sub>
                                </m:sSub>
                                <m:r>
                                  <a:rPr lang="en-US" sz="2000" i="1">
                                    <a:latin typeface="Cambria Math" panose="02040503050406030204" pitchFamily="18" charset="0"/>
                                    <a:ea typeface="Cambria Math" panose="02040503050406030204" pitchFamily="18" charset="0"/>
                                    <a:cs typeface="Arial" charset="0"/>
                                  </a:rPr>
                                  <m:t>−</m:t>
                                </m:r>
                                <m:sSub>
                                  <m:sSubPr>
                                    <m:ctrlPr>
                                      <a:rPr lang="en-US" sz="2000" i="1">
                                        <a:latin typeface="Cambria Math" panose="02040503050406030204" pitchFamily="18" charset="0"/>
                                        <a:ea typeface="Cambria Math" panose="02040503050406030204" pitchFamily="18" charset="0"/>
                                        <a:cs typeface="Arial" charset="0"/>
                                      </a:rPr>
                                    </m:ctrlPr>
                                  </m:sSubPr>
                                  <m:e>
                                    <m:r>
                                      <a:rPr lang="en-US" sz="2000" i="1">
                                        <a:latin typeface="Cambria Math" panose="02040503050406030204" pitchFamily="18" charset="0"/>
                                        <a:ea typeface="Cambria Math" panose="02040503050406030204" pitchFamily="18" charset="0"/>
                                        <a:cs typeface="Arial" charset="0"/>
                                      </a:rPr>
                                      <m:t>𝑟</m:t>
                                    </m:r>
                                  </m:e>
                                  <m:sub>
                                    <m:r>
                                      <a:rPr lang="en-US" sz="2000" i="1">
                                        <a:latin typeface="Cambria Math" panose="02040503050406030204" pitchFamily="18" charset="0"/>
                                        <a:ea typeface="Cambria Math" panose="02040503050406030204" pitchFamily="18" charset="0"/>
                                        <a:cs typeface="Arial" charset="0"/>
                                      </a:rPr>
                                      <m:t>2</m:t>
                                    </m:r>
                                  </m:sub>
                                </m:sSub>
                                <m:r>
                                  <a:rPr lang="en-US" sz="2000" i="1">
                                    <a:latin typeface="Cambria Math" panose="02040503050406030204" pitchFamily="18" charset="0"/>
                                    <a:ea typeface="Cambria Math" panose="02040503050406030204" pitchFamily="18" charset="0"/>
                                    <a:cs typeface="Arial" charset="0"/>
                                  </a:rPr>
                                  <m:t>|</m:t>
                                </m:r>
                              </m:num>
                              <m:den>
                                <m:r>
                                  <a:rPr lang="en-US" sz="2000" i="1">
                                    <a:latin typeface="Cambria Math" panose="02040503050406030204" pitchFamily="18" charset="0"/>
                                    <a:ea typeface="Cambria Math" panose="02040503050406030204" pitchFamily="18" charset="0"/>
                                    <a:cs typeface="Arial" charset="0"/>
                                  </a:rPr>
                                  <m:t>𝑐</m:t>
                                </m:r>
                              </m:den>
                            </m:f>
                            <m:r>
                              <a:rPr lang="en-US" sz="2000" i="1">
                                <a:latin typeface="Cambria Math" panose="02040503050406030204" pitchFamily="18" charset="0"/>
                                <a:ea typeface="Cambria Math" panose="02040503050406030204" pitchFamily="18" charset="0"/>
                                <a:cs typeface="Arial" charset="0"/>
                              </a:rPr>
                              <m:t>)</m:t>
                            </m:r>
                          </m:num>
                          <m:den>
                            <m:r>
                              <a:rPr lang="en-US" sz="2000" i="1">
                                <a:latin typeface="Cambria Math" panose="02040503050406030204" pitchFamily="18" charset="0"/>
                                <a:ea typeface="Cambria Math" panose="02040503050406030204" pitchFamily="18" charset="0"/>
                                <a:cs typeface="Arial" charset="0"/>
                              </a:rPr>
                              <m:t>4</m:t>
                            </m:r>
                            <m:r>
                              <a:rPr lang="en-US" sz="2000" i="1">
                                <a:latin typeface="Cambria Math" panose="02040503050406030204" pitchFamily="18" charset="0"/>
                                <a:ea typeface="Cambria Math" panose="02040503050406030204" pitchFamily="18" charset="0"/>
                                <a:cs typeface="Arial" charset="0"/>
                              </a:rPr>
                              <m:t>𝜋</m:t>
                            </m:r>
                            <m:sSub>
                              <m:sSubPr>
                                <m:ctrlPr>
                                  <a:rPr lang="en-US" sz="2000" i="1">
                                    <a:latin typeface="Cambria Math" panose="02040503050406030204" pitchFamily="18" charset="0"/>
                                    <a:ea typeface="Cambria Math" panose="02040503050406030204" pitchFamily="18" charset="0"/>
                                    <a:cs typeface="Arial" charset="0"/>
                                  </a:rPr>
                                </m:ctrlPr>
                              </m:sSubPr>
                              <m:e>
                                <m:r>
                                  <a:rPr lang="en-US" sz="2000" i="1">
                                    <a:latin typeface="Cambria Math" panose="02040503050406030204" pitchFamily="18" charset="0"/>
                                    <a:ea typeface="Cambria Math" panose="02040503050406030204" pitchFamily="18" charset="0"/>
                                    <a:cs typeface="Arial" charset="0"/>
                                  </a:rPr>
                                  <m:t>𝜖</m:t>
                                </m:r>
                              </m:e>
                              <m:sub>
                                <m:r>
                                  <a:rPr lang="en-US" sz="2000" i="1">
                                    <a:latin typeface="Cambria Math" panose="02040503050406030204" pitchFamily="18" charset="0"/>
                                    <a:ea typeface="Cambria Math" panose="02040503050406030204" pitchFamily="18" charset="0"/>
                                    <a:cs typeface="Arial" charset="0"/>
                                  </a:rPr>
                                  <m:t>0</m:t>
                                </m:r>
                              </m:sub>
                            </m:sSub>
                            <m:sSup>
                              <m:sSupPr>
                                <m:ctrlPr>
                                  <a:rPr lang="en-US" sz="2000" b="0" i="1" smtClean="0">
                                    <a:latin typeface="Cambria Math" panose="02040503050406030204" pitchFamily="18" charset="0"/>
                                    <a:ea typeface="Cambria Math" panose="02040503050406030204" pitchFamily="18" charset="0"/>
                                    <a:cs typeface="Arial" charset="0"/>
                                  </a:rPr>
                                </m:ctrlPr>
                              </m:sSupPr>
                              <m:e>
                                <m:r>
                                  <a:rPr lang="en-US" sz="2000" b="0" i="1" smtClean="0">
                                    <a:latin typeface="Cambria Math" panose="02040503050406030204" pitchFamily="18" charset="0"/>
                                    <a:ea typeface="Cambria Math" panose="02040503050406030204" pitchFamily="18" charset="0"/>
                                    <a:cs typeface="Arial" charset="0"/>
                                  </a:rPr>
                                  <m:t>𝑐</m:t>
                                </m:r>
                              </m:e>
                              <m:sup>
                                <m:r>
                                  <a:rPr lang="en-US" sz="2000" b="0" i="1" smtClean="0">
                                    <a:latin typeface="Cambria Math" panose="02040503050406030204" pitchFamily="18" charset="0"/>
                                    <a:ea typeface="Cambria Math" panose="02040503050406030204" pitchFamily="18" charset="0"/>
                                    <a:cs typeface="Arial" charset="0"/>
                                  </a:rPr>
                                  <m:t>2</m:t>
                                </m:r>
                              </m:sup>
                            </m:sSup>
                            <m:r>
                              <a:rPr lang="en-US" sz="2000" i="1">
                                <a:latin typeface="Cambria Math" panose="02040503050406030204" pitchFamily="18" charset="0"/>
                                <a:ea typeface="Cambria Math" panose="02040503050406030204" pitchFamily="18" charset="0"/>
                                <a:cs typeface="Arial" charset="0"/>
                              </a:rPr>
                              <m:t>|</m:t>
                            </m:r>
                            <m:sSub>
                              <m:sSubPr>
                                <m:ctrlPr>
                                  <a:rPr lang="en-US" sz="2000" i="1">
                                    <a:latin typeface="Cambria Math" panose="02040503050406030204" pitchFamily="18" charset="0"/>
                                    <a:ea typeface="Cambria Math" panose="02040503050406030204" pitchFamily="18" charset="0"/>
                                    <a:cs typeface="Arial" charset="0"/>
                                  </a:rPr>
                                </m:ctrlPr>
                              </m:sSubPr>
                              <m:e>
                                <m:r>
                                  <a:rPr lang="en-US" sz="2000" i="1">
                                    <a:latin typeface="Cambria Math" panose="02040503050406030204" pitchFamily="18" charset="0"/>
                                    <a:ea typeface="Cambria Math" panose="02040503050406030204" pitchFamily="18" charset="0"/>
                                    <a:cs typeface="Arial" charset="0"/>
                                  </a:rPr>
                                  <m:t>𝑟</m:t>
                                </m:r>
                              </m:e>
                              <m:sub>
                                <m:r>
                                  <a:rPr lang="en-US" sz="2000" i="1">
                                    <a:latin typeface="Cambria Math" panose="02040503050406030204" pitchFamily="18" charset="0"/>
                                    <a:ea typeface="Cambria Math" panose="02040503050406030204" pitchFamily="18" charset="0"/>
                                    <a:cs typeface="Arial" charset="0"/>
                                  </a:rPr>
                                  <m:t>1</m:t>
                                </m:r>
                              </m:sub>
                            </m:sSub>
                            <m:r>
                              <a:rPr lang="en-US" sz="2000" i="1">
                                <a:latin typeface="Cambria Math" panose="02040503050406030204" pitchFamily="18" charset="0"/>
                                <a:ea typeface="Cambria Math" panose="02040503050406030204" pitchFamily="18" charset="0"/>
                                <a:cs typeface="Arial" charset="0"/>
                              </a:rPr>
                              <m:t>−</m:t>
                            </m:r>
                            <m:sSub>
                              <m:sSubPr>
                                <m:ctrlPr>
                                  <a:rPr lang="en-US" sz="2000" i="1">
                                    <a:latin typeface="Cambria Math" panose="02040503050406030204" pitchFamily="18" charset="0"/>
                                    <a:ea typeface="Cambria Math" panose="02040503050406030204" pitchFamily="18" charset="0"/>
                                    <a:cs typeface="Arial" charset="0"/>
                                  </a:rPr>
                                </m:ctrlPr>
                              </m:sSubPr>
                              <m:e>
                                <m:r>
                                  <a:rPr lang="en-US" sz="2000" i="1">
                                    <a:latin typeface="Cambria Math" panose="02040503050406030204" pitchFamily="18" charset="0"/>
                                    <a:ea typeface="Cambria Math" panose="02040503050406030204" pitchFamily="18" charset="0"/>
                                    <a:cs typeface="Arial" charset="0"/>
                                  </a:rPr>
                                  <m:t>𝑟</m:t>
                                </m:r>
                              </m:e>
                              <m:sub>
                                <m:r>
                                  <a:rPr lang="en-US" sz="2000" i="1">
                                    <a:latin typeface="Cambria Math" panose="02040503050406030204" pitchFamily="18" charset="0"/>
                                    <a:ea typeface="Cambria Math" panose="02040503050406030204" pitchFamily="18" charset="0"/>
                                    <a:cs typeface="Arial" charset="0"/>
                                  </a:rPr>
                                  <m:t>2</m:t>
                                </m:r>
                              </m:sub>
                            </m:sSub>
                            <m:r>
                              <a:rPr lang="en-US" sz="2000" i="1">
                                <a:latin typeface="Cambria Math" panose="02040503050406030204" pitchFamily="18" charset="0"/>
                                <a:ea typeface="Cambria Math" panose="02040503050406030204" pitchFamily="18" charset="0"/>
                                <a:cs typeface="Arial" charset="0"/>
                              </a:rPr>
                              <m:t>|</m:t>
                            </m:r>
                          </m:den>
                        </m:f>
                        <m:r>
                          <a:rPr lang="en-US" sz="2000" i="1">
                            <a:latin typeface="Cambria Math" panose="02040503050406030204" pitchFamily="18" charset="0"/>
                            <a:ea typeface="Cambria Math" panose="02040503050406030204" pitchFamily="18" charset="0"/>
                            <a:cs typeface="Arial" charset="0"/>
                          </a:rPr>
                          <m:t>𝑑</m:t>
                        </m:r>
                        <m:sSub>
                          <m:sSubPr>
                            <m:ctrlPr>
                              <a:rPr lang="en-US" sz="2000" i="1">
                                <a:latin typeface="Cambria Math" panose="02040503050406030204" pitchFamily="18" charset="0"/>
                                <a:ea typeface="Cambria Math" panose="02040503050406030204" pitchFamily="18" charset="0"/>
                                <a:cs typeface="Arial" charset="0"/>
                              </a:rPr>
                            </m:ctrlPr>
                          </m:sSubPr>
                          <m:e>
                            <m:r>
                              <a:rPr lang="en-US" sz="2000" i="1">
                                <a:latin typeface="Cambria Math" panose="02040503050406030204" pitchFamily="18" charset="0"/>
                                <a:ea typeface="Cambria Math" panose="02040503050406030204" pitchFamily="18" charset="0"/>
                                <a:cs typeface="Arial" charset="0"/>
                              </a:rPr>
                              <m:t>𝑉</m:t>
                            </m:r>
                          </m:e>
                          <m:sub>
                            <m:r>
                              <a:rPr lang="en-US" sz="2000" i="1">
                                <a:latin typeface="Cambria Math" panose="02040503050406030204" pitchFamily="18" charset="0"/>
                                <a:ea typeface="Cambria Math" panose="02040503050406030204" pitchFamily="18" charset="0"/>
                                <a:cs typeface="Arial" charset="0"/>
                              </a:rPr>
                              <m:t>2</m:t>
                            </m:r>
                          </m:sub>
                        </m:sSub>
                      </m:e>
                    </m:nary>
                  </m:oMath>
                </a14:m>
                <a:r>
                  <a:rPr lang="en-US" sz="2000" dirty="0">
                    <a:ea typeface="Arial" charset="0"/>
                    <a:cs typeface="Arial" charset="0"/>
                  </a:rPr>
                  <a:t>, where</a:t>
                </a:r>
              </a:p>
              <a:p>
                <a:pPr marL="800100" lvl="1" indent="-342900" algn="l">
                  <a:buFont typeface="Arial" panose="020B0604020202020204" pitchFamily="34" charset="0"/>
                  <a:buChar char="•"/>
                </a:pPr>
                <a14:m>
                  <m:oMath xmlns:m="http://schemas.openxmlformats.org/officeDocument/2006/math">
                    <m:r>
                      <a:rPr lang="en-US" sz="2000" b="0" i="1" smtClean="0">
                        <a:latin typeface="Cambria Math" panose="02040503050406030204" pitchFamily="18" charset="0"/>
                        <a:ea typeface="Arial" charset="0"/>
                        <a:cs typeface="Arial" charset="0"/>
                      </a:rPr>
                      <m:t>𝐵</m:t>
                    </m:r>
                    <m:r>
                      <a:rPr lang="en-US" sz="2000" b="0" i="1" smtClean="0">
                        <a:latin typeface="Cambria Math" panose="02040503050406030204" pitchFamily="18" charset="0"/>
                        <a:ea typeface="Arial" charset="0"/>
                        <a:cs typeface="Arial" charset="0"/>
                      </a:rPr>
                      <m:t>= </m:t>
                    </m:r>
                    <m:r>
                      <m:rPr>
                        <m:sty m:val="p"/>
                      </m:rPr>
                      <a:rPr lang="en-US" sz="2000" b="0" i="1" smtClean="0">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𝐴</m:t>
                    </m:r>
                  </m:oMath>
                </a14:m>
                <a:r>
                  <a:rPr lang="en-US" sz="2000" dirty="0">
                    <a:ea typeface="Arial" charset="0"/>
                    <a:cs typeface="Arial" charset="0"/>
                  </a:rPr>
                  <a:t>, </a:t>
                </a:r>
                <a14:m>
                  <m:oMath xmlns:m="http://schemas.openxmlformats.org/officeDocument/2006/math">
                    <m:r>
                      <a:rPr lang="en-US" sz="2000" b="0" i="1" smtClean="0">
                        <a:latin typeface="Cambria Math" panose="02040503050406030204" pitchFamily="18" charset="0"/>
                        <a:ea typeface="Arial" charset="0"/>
                        <a:cs typeface="Arial" charset="0"/>
                      </a:rPr>
                      <m:t>𝐸</m:t>
                    </m:r>
                    <m:r>
                      <a:rPr lang="en-US" sz="2000" b="0" i="1" smtClean="0">
                        <a:latin typeface="Cambria Math" panose="02040503050406030204" pitchFamily="18" charset="0"/>
                        <a:ea typeface="Arial" charset="0"/>
                        <a:cs typeface="Arial" charset="0"/>
                      </a:rPr>
                      <m:t>=−</m:t>
                    </m:r>
                    <m:r>
                      <m:rPr>
                        <m:sty m:val="p"/>
                      </m:rPr>
                      <a:rPr lang="en-US" sz="2000" b="0" i="1" smtClean="0">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𝜙</m:t>
                    </m:r>
                    <m:r>
                      <a:rPr lang="en-US" sz="2000" b="0" i="1" smtClean="0">
                        <a:latin typeface="Cambria Math" panose="02040503050406030204" pitchFamily="18" charset="0"/>
                        <a:ea typeface="Cambria Math" panose="02040503050406030204" pitchFamily="18" charset="0"/>
                        <a:cs typeface="Arial" charset="0"/>
                      </a:rPr>
                      <m:t>−</m:t>
                    </m:r>
                    <m:f>
                      <m:fPr>
                        <m:ctrlPr>
                          <a:rPr lang="en-US" sz="2000" b="0" i="1" smtClean="0">
                            <a:latin typeface="Cambria Math" panose="02040503050406030204" pitchFamily="18" charset="0"/>
                            <a:ea typeface="Cambria Math" panose="02040503050406030204" pitchFamily="18" charset="0"/>
                            <a:cs typeface="Arial" charset="0"/>
                          </a:rPr>
                        </m:ctrlPr>
                      </m:fPr>
                      <m:num>
                        <m:r>
                          <a:rPr lang="en-US" sz="2000" b="0" i="1" smtClean="0">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𝐴</m:t>
                        </m:r>
                      </m:num>
                      <m:den>
                        <m:r>
                          <a:rPr lang="en-US" sz="2000" b="0" i="1" smtClean="0">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𝑡</m:t>
                        </m:r>
                      </m:den>
                    </m:f>
                  </m:oMath>
                </a14:m>
                <a:r>
                  <a:rPr lang="en-US" sz="2000" dirty="0">
                    <a:ea typeface="Arial" charset="0"/>
                    <a:cs typeface="Arial" charset="0"/>
                  </a:rPr>
                  <a:t>, and </a:t>
                </a:r>
                <a14:m>
                  <m:oMath xmlns:m="http://schemas.openxmlformats.org/officeDocument/2006/math">
                    <m:sSup>
                      <m:sSupPr>
                        <m:ctrlPr>
                          <a:rPr lang="en-US" sz="2000" b="0" i="1" smtClean="0">
                            <a:latin typeface="Cambria Math" panose="02040503050406030204" pitchFamily="18" charset="0"/>
                            <a:ea typeface="Cambria Math" panose="02040503050406030204" pitchFamily="18" charset="0"/>
                            <a:cs typeface="Arial" charset="0"/>
                          </a:rPr>
                        </m:ctrlPr>
                      </m:sSupPr>
                      <m:e>
                        <m:r>
                          <a:rPr lang="en-US" sz="2000" b="0" i="1" smtClean="0">
                            <a:latin typeface="Cambria Math" panose="02040503050406030204" pitchFamily="18" charset="0"/>
                            <a:ea typeface="Cambria Math" panose="02040503050406030204" pitchFamily="18" charset="0"/>
                            <a:cs typeface="Arial" charset="0"/>
                          </a:rPr>
                          <m:t>𝑐</m:t>
                        </m:r>
                      </m:e>
                      <m:sup>
                        <m:r>
                          <a:rPr lang="en-US" sz="2000" b="0" i="1" smtClean="0">
                            <a:latin typeface="Cambria Math" panose="02040503050406030204" pitchFamily="18" charset="0"/>
                            <a:ea typeface="Cambria Math" panose="02040503050406030204" pitchFamily="18" charset="0"/>
                            <a:cs typeface="Arial" charset="0"/>
                          </a:rPr>
                          <m:t>2</m:t>
                        </m:r>
                      </m:sup>
                    </m:sSup>
                    <m:r>
                      <m:rPr>
                        <m:sty m:val="p"/>
                      </m:rPr>
                      <a:rPr lang="en-US" sz="2000" i="1" smtClean="0">
                        <a:latin typeface="Cambria Math" panose="02040503050406030204" pitchFamily="18" charset="0"/>
                        <a:ea typeface="Cambria Math" panose="02040503050406030204" pitchFamily="18" charset="0"/>
                        <a:cs typeface="Arial" charset="0"/>
                      </a:rPr>
                      <m:t>∇</m:t>
                    </m:r>
                    <m:r>
                      <a:rPr lang="en-US" sz="2000" i="1" smtClean="0">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𝐴</m:t>
                    </m:r>
                    <m:r>
                      <a:rPr lang="en-US" sz="2000" b="0" i="1" smtClean="0">
                        <a:latin typeface="Cambria Math" panose="02040503050406030204" pitchFamily="18" charset="0"/>
                        <a:ea typeface="Cambria Math" panose="02040503050406030204" pitchFamily="18" charset="0"/>
                        <a:cs typeface="Arial" charset="0"/>
                      </a:rPr>
                      <m:t>=−</m:t>
                    </m:r>
                    <m:f>
                      <m:fPr>
                        <m:ctrlPr>
                          <a:rPr lang="en-US" sz="2000" b="0" i="1" smtClean="0">
                            <a:latin typeface="Cambria Math" panose="02040503050406030204" pitchFamily="18" charset="0"/>
                            <a:ea typeface="Cambria Math" panose="02040503050406030204" pitchFamily="18" charset="0"/>
                            <a:cs typeface="Arial" charset="0"/>
                          </a:rPr>
                        </m:ctrlPr>
                      </m:fPr>
                      <m:num>
                        <m:r>
                          <a:rPr lang="en-US" sz="2000" b="0" i="1" smtClean="0">
                            <a:latin typeface="Cambria Math" panose="02040503050406030204" pitchFamily="18" charset="0"/>
                            <a:ea typeface="Cambria Math" panose="02040503050406030204" pitchFamily="18" charset="0"/>
                            <a:cs typeface="Arial" charset="0"/>
                          </a:rPr>
                          <m:t>𝜕𝜙</m:t>
                        </m:r>
                      </m:num>
                      <m:den>
                        <m:r>
                          <a:rPr lang="en-US" sz="2000" b="0" i="1" smtClean="0">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𝑡</m:t>
                        </m:r>
                      </m:den>
                    </m:f>
                  </m:oMath>
                </a14:m>
                <a:endParaRPr lang="en-US" sz="2000" dirty="0">
                  <a:ea typeface="Arial" charset="0"/>
                  <a:cs typeface="Arial" charset="0"/>
                </a:endParaRPr>
              </a:p>
              <a:p>
                <a:pPr marL="342900" indent="-342900" algn="l">
                  <a:buFont typeface="Arial" panose="020B0604020202020204" pitchFamily="34" charset="0"/>
                  <a:buChar char="•"/>
                </a:pPr>
                <a:r>
                  <a:rPr lang="en-US" sz="2000" dirty="0">
                    <a:ea typeface="Arial" charset="0"/>
                    <a:cs typeface="Arial" charset="0"/>
                  </a:rPr>
                  <a:t>You are not expected to have guessed this answer</a:t>
                </a:r>
              </a:p>
              <a:p>
                <a:pPr marL="342900" indent="-342900" algn="l">
                  <a:buFont typeface="Arial" panose="020B0604020202020204" pitchFamily="34" charset="0"/>
                  <a:buChar char="•"/>
                </a:pPr>
                <a:r>
                  <a:rPr lang="en-US" sz="2000" dirty="0">
                    <a:ea typeface="Arial" charset="0"/>
                    <a:cs typeface="Arial" charset="0"/>
                  </a:rPr>
                  <a:t>To do this, we’ll need the “BAC-CAB” identity:  </a:t>
                </a:r>
                <a14:m>
                  <m:oMath xmlns:m="http://schemas.openxmlformats.org/officeDocument/2006/math">
                    <m:r>
                      <a:rPr lang="en-US" sz="2000" i="1">
                        <a:latin typeface="Cambria Math" panose="02040503050406030204" pitchFamily="18" charset="0"/>
                        <a:ea typeface="Cambria Math" panose="02040503050406030204" pitchFamily="18" charset="0"/>
                        <a:cs typeface="Arial" charset="0"/>
                      </a:rPr>
                      <m:t>𝐴</m:t>
                    </m:r>
                    <m:r>
                      <a:rPr lang="en-US" sz="2000" i="1">
                        <a:latin typeface="Cambria Math" panose="02040503050406030204" pitchFamily="18" charset="0"/>
                        <a:ea typeface="Cambria Math" panose="02040503050406030204" pitchFamily="18" charset="0"/>
                        <a:cs typeface="Arial" charset="0"/>
                      </a:rPr>
                      <m:t>×</m:t>
                    </m:r>
                    <m:d>
                      <m:dPr>
                        <m:ctrlPr>
                          <a:rPr lang="en-US" sz="2000" i="1">
                            <a:latin typeface="Cambria Math" panose="02040503050406030204" pitchFamily="18" charset="0"/>
                            <a:ea typeface="Cambria Math" panose="02040503050406030204" pitchFamily="18" charset="0"/>
                            <a:cs typeface="Arial" charset="0"/>
                          </a:rPr>
                        </m:ctrlPr>
                      </m:dPr>
                      <m:e>
                        <m:r>
                          <a:rPr lang="en-US" sz="2000" i="1">
                            <a:latin typeface="Cambria Math" panose="02040503050406030204" pitchFamily="18" charset="0"/>
                            <a:ea typeface="Cambria Math" panose="02040503050406030204" pitchFamily="18" charset="0"/>
                            <a:cs typeface="Arial" charset="0"/>
                          </a:rPr>
                          <m:t>𝐵</m:t>
                        </m:r>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𝐶</m:t>
                        </m:r>
                      </m:e>
                    </m:d>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𝐵</m:t>
                    </m:r>
                    <m:d>
                      <m:dPr>
                        <m:ctrlPr>
                          <a:rPr lang="en-US" sz="2000" i="1">
                            <a:latin typeface="Cambria Math" panose="02040503050406030204" pitchFamily="18" charset="0"/>
                            <a:ea typeface="Cambria Math" panose="02040503050406030204" pitchFamily="18" charset="0"/>
                            <a:cs typeface="Arial" charset="0"/>
                          </a:rPr>
                        </m:ctrlPr>
                      </m:dPr>
                      <m:e>
                        <m:r>
                          <a:rPr lang="en-US" sz="2000" i="1">
                            <a:latin typeface="Cambria Math" panose="02040503050406030204" pitchFamily="18" charset="0"/>
                            <a:ea typeface="Cambria Math" panose="02040503050406030204" pitchFamily="18" charset="0"/>
                            <a:cs typeface="Arial" charset="0"/>
                          </a:rPr>
                          <m:t>𝐴</m:t>
                        </m:r>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𝐶</m:t>
                        </m:r>
                      </m:e>
                    </m:d>
                    <m:r>
                      <a:rPr lang="en-US" sz="2000">
                        <a:latin typeface="Cambria Math" panose="02040503050406030204" pitchFamily="18" charset="0"/>
                        <a:ea typeface="Cambria Math" panose="02040503050406030204" pitchFamily="18" charset="0"/>
                        <a:cs typeface="Arial" charset="0"/>
                      </a:rPr>
                      <m:t>−</m:t>
                    </m:r>
                    <m:r>
                      <m:rPr>
                        <m:sty m:val="p"/>
                      </m:rPr>
                      <a:rPr lang="en-US" sz="2000">
                        <a:latin typeface="Cambria Math" panose="02040503050406030204" pitchFamily="18" charset="0"/>
                        <a:ea typeface="Cambria Math" panose="02040503050406030204" pitchFamily="18" charset="0"/>
                        <a:cs typeface="Arial" charset="0"/>
                      </a:rPr>
                      <m:t>C</m:t>
                    </m:r>
                  </m:oMath>
                </a14:m>
                <a:r>
                  <a:rPr lang="en-US" sz="2000" i="1" dirty="0">
                    <a:ea typeface="Arial" charset="0"/>
                    <a:cs typeface="Arial" charset="0"/>
                  </a:rPr>
                  <a:t>(</a:t>
                </a:r>
                <a:r>
                  <a:rPr lang="en-US" sz="2000" i="1" dirty="0">
                    <a:ea typeface="Cambria Math" panose="02040503050406030204" pitchFamily="18" charset="0"/>
                    <a:cs typeface="Arial" charset="0"/>
                  </a:rPr>
                  <a:t>A</a:t>
                </a:r>
                <a:r>
                  <a:rPr lang="en-US" sz="2000" b="1" i="1" dirty="0">
                    <a:ea typeface="Cambria Math" panose="02040503050406030204" pitchFamily="18" charset="0"/>
                    <a:cs typeface="Arial" charset="0"/>
                  </a:rPr>
                  <a:t> </a:t>
                </a:r>
                <a14:m>
                  <m:oMath xmlns:m="http://schemas.openxmlformats.org/officeDocument/2006/math">
                    <m:r>
                      <a:rPr lang="en-US" sz="2000" b="1" i="1">
                        <a:latin typeface="Cambria Math" panose="02040503050406030204" pitchFamily="18" charset="0"/>
                        <a:ea typeface="Cambria Math" panose="02040503050406030204" pitchFamily="18" charset="0"/>
                        <a:cs typeface="Arial" charset="0"/>
                      </a:rPr>
                      <m:t>∙</m:t>
                    </m:r>
                  </m:oMath>
                </a14:m>
                <a:r>
                  <a:rPr lang="en-US" sz="2000" i="1" dirty="0">
                    <a:ea typeface="Cambria Math" panose="02040503050406030204" pitchFamily="18" charset="0"/>
                    <a:cs typeface="Arial" charset="0"/>
                  </a:rPr>
                  <a:t>B)</a:t>
                </a:r>
                <a:endParaRPr lang="en-US" sz="2000" i="1" dirty="0">
                  <a:ea typeface="Cambria Math" panose="02040503050406030204" pitchFamily="18" charset="0"/>
                  <a:cs typeface="Arial" panose="020B0604020202020204" pitchFamily="34" charset="0"/>
                </a:endParaRPr>
              </a:p>
              <a:p>
                <a:pPr marL="342900" indent="-342900" algn="l">
                  <a:buFont typeface="Arial" panose="020B0604020202020204" pitchFamily="34" charset="0"/>
                  <a:buChar char="•"/>
                </a:pPr>
                <a:r>
                  <a:rPr lang="en-US" sz="2000" dirty="0">
                    <a:ea typeface="Cambria Math" panose="02040503050406030204" pitchFamily="18" charset="0"/>
                    <a:cs typeface="Arial" panose="020B0604020202020204" pitchFamily="34" charset="0"/>
                  </a:rPr>
                  <a:t>When we apply this to </a:t>
                </a:r>
                <a14:m>
                  <m:oMath xmlns:m="http://schemas.openxmlformats.org/officeDocument/2006/math">
                    <m:r>
                      <m:rPr>
                        <m:sty m:val="p"/>
                      </m:rP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m:t>
                    </m:r>
                    <m:d>
                      <m:dPr>
                        <m:ctrlPr>
                          <a:rPr lang="en-US" sz="2000" i="1">
                            <a:latin typeface="Cambria Math" panose="02040503050406030204" pitchFamily="18" charset="0"/>
                            <a:ea typeface="Cambria Math" panose="02040503050406030204" pitchFamily="18" charset="0"/>
                            <a:cs typeface="Arial" charset="0"/>
                          </a:rPr>
                        </m:ctrlPr>
                      </m:dPr>
                      <m:e>
                        <m:r>
                          <m:rPr>
                            <m:sty m:val="p"/>
                          </m:rP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m:t>
                        </m:r>
                        <m:r>
                          <a:rPr lang="en-US" sz="2000" b="1">
                            <a:latin typeface="Cambria Math" panose="02040503050406030204" pitchFamily="18" charset="0"/>
                            <a:ea typeface="Cambria Math" panose="02040503050406030204" pitchFamily="18" charset="0"/>
                            <a:cs typeface="Arial" charset="0"/>
                          </a:rPr>
                          <m:t>𝐀</m:t>
                        </m:r>
                      </m:e>
                    </m:d>
                  </m:oMath>
                </a14:m>
                <a:r>
                  <a:rPr lang="en-US" sz="2000" dirty="0">
                    <a:ea typeface="Cambria Math" panose="02040503050406030204" pitchFamily="18" charset="0"/>
                    <a:cs typeface="Arial" charset="0"/>
                  </a:rPr>
                  <a:t>, </a:t>
                </a:r>
                <a:r>
                  <a:rPr lang="en-US" sz="2000" dirty="0">
                    <a:ea typeface="Cambria Math" panose="02040503050406030204" pitchFamily="18" charset="0"/>
                    <a:cs typeface="Arial" panose="020B0604020202020204" pitchFamily="34" charset="0"/>
                  </a:rPr>
                  <a:t>we get </a:t>
                </a:r>
                <a14:m>
                  <m:oMath xmlns:m="http://schemas.openxmlformats.org/officeDocument/2006/math">
                    <m:r>
                      <m:rPr>
                        <m:sty m:val="p"/>
                      </m:rP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m:t>
                    </m:r>
                    <m:d>
                      <m:dPr>
                        <m:ctrlPr>
                          <a:rPr lang="en-US" sz="2000" i="1">
                            <a:latin typeface="Cambria Math" panose="02040503050406030204" pitchFamily="18" charset="0"/>
                            <a:ea typeface="Cambria Math" panose="02040503050406030204" pitchFamily="18" charset="0"/>
                            <a:cs typeface="Arial" charset="0"/>
                          </a:rPr>
                        </m:ctrlPr>
                      </m:dPr>
                      <m:e>
                        <m:r>
                          <m:rPr>
                            <m:sty m:val="p"/>
                          </m:rP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m:t>
                        </m:r>
                        <m:r>
                          <a:rPr lang="en-US" sz="2000" b="1">
                            <a:latin typeface="Cambria Math" panose="02040503050406030204" pitchFamily="18" charset="0"/>
                            <a:ea typeface="Cambria Math" panose="02040503050406030204" pitchFamily="18" charset="0"/>
                            <a:cs typeface="Arial" charset="0"/>
                          </a:rPr>
                          <m:t>𝐀</m:t>
                        </m:r>
                      </m:e>
                    </m:d>
                    <m:r>
                      <a:rPr lang="en-US" sz="2000" b="1" i="1">
                        <a:latin typeface="Cambria Math" panose="02040503050406030204" pitchFamily="18" charset="0"/>
                        <a:ea typeface="Cambria Math" panose="02040503050406030204" pitchFamily="18" charset="0"/>
                        <a:cs typeface="Arial" charset="0"/>
                      </a:rPr>
                      <m:t>=</m:t>
                    </m:r>
                    <m:r>
                      <m:rPr>
                        <m:sty m:val="p"/>
                      </m:rPr>
                      <a:rPr lang="en-US" sz="2000" i="1">
                        <a:latin typeface="Cambria Math" panose="02040503050406030204" pitchFamily="18" charset="0"/>
                        <a:ea typeface="Cambria Math" panose="02040503050406030204" pitchFamily="18" charset="0"/>
                        <a:cs typeface="Arial" charset="0"/>
                      </a:rPr>
                      <m:t>∇</m:t>
                    </m:r>
                  </m:oMath>
                </a14:m>
                <a:r>
                  <a:rPr lang="en-US" sz="2000" dirty="0">
                    <a:ea typeface="Cambria Math" panose="02040503050406030204" pitchFamily="18" charset="0"/>
                    <a:cs typeface="Arial" charset="0"/>
                  </a:rPr>
                  <a:t>(</a:t>
                </a:r>
                <a14:m>
                  <m:oMath xmlns:m="http://schemas.openxmlformats.org/officeDocument/2006/math">
                    <m:r>
                      <m:rPr>
                        <m:sty m:val="p"/>
                      </m:rP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 ∙</m:t>
                    </m:r>
                    <m:r>
                      <a:rPr lang="en-US" sz="2000" i="1">
                        <a:latin typeface="Cambria Math" panose="02040503050406030204" pitchFamily="18" charset="0"/>
                        <a:ea typeface="Cambria Math" panose="02040503050406030204" pitchFamily="18" charset="0"/>
                        <a:cs typeface="Arial" charset="0"/>
                      </a:rPr>
                      <m:t>𝐴</m:t>
                    </m:r>
                    <m:r>
                      <a:rPr lang="en-US" sz="2000" i="1">
                        <a:latin typeface="Cambria Math" panose="02040503050406030204" pitchFamily="18" charset="0"/>
                        <a:ea typeface="Cambria Math" panose="02040503050406030204" pitchFamily="18" charset="0"/>
                        <a:cs typeface="Arial" charset="0"/>
                      </a:rPr>
                      <m:t>)−</m:t>
                    </m:r>
                    <m:sSup>
                      <m:sSupPr>
                        <m:ctrlPr>
                          <a:rPr lang="en-US" sz="2000" i="1">
                            <a:latin typeface="Cambria Math" panose="02040503050406030204" pitchFamily="18" charset="0"/>
                            <a:ea typeface="Cambria Math" panose="02040503050406030204" pitchFamily="18" charset="0"/>
                            <a:cs typeface="Arial" charset="0"/>
                          </a:rPr>
                        </m:ctrlPr>
                      </m:sSupPr>
                      <m:e>
                        <m:r>
                          <m:rPr>
                            <m:sty m:val="p"/>
                          </m:rPr>
                          <a:rPr lang="en-US" sz="2000" i="1">
                            <a:latin typeface="Cambria Math" panose="02040503050406030204" pitchFamily="18" charset="0"/>
                            <a:ea typeface="Cambria Math" panose="02040503050406030204" pitchFamily="18" charset="0"/>
                            <a:cs typeface="Arial" charset="0"/>
                          </a:rPr>
                          <m:t>∇</m:t>
                        </m:r>
                      </m:e>
                      <m:sup>
                        <m:r>
                          <a:rPr lang="en-US" sz="2000" i="1">
                            <a:latin typeface="Cambria Math" panose="02040503050406030204" pitchFamily="18" charset="0"/>
                            <a:ea typeface="Cambria Math" panose="02040503050406030204" pitchFamily="18" charset="0"/>
                            <a:cs typeface="Arial" charset="0"/>
                          </a:rPr>
                          <m:t>2</m:t>
                        </m:r>
                      </m:sup>
                    </m:sSup>
                    <m:r>
                      <a:rPr lang="en-US" sz="2000" i="1">
                        <a:latin typeface="Cambria Math" panose="02040503050406030204" pitchFamily="18" charset="0"/>
                        <a:ea typeface="Cambria Math" panose="02040503050406030204" pitchFamily="18" charset="0"/>
                        <a:cs typeface="Arial" charset="0"/>
                      </a:rPr>
                      <m:t>𝐴</m:t>
                    </m:r>
                  </m:oMath>
                </a14:m>
                <a:endParaRPr lang="en-US" sz="2000" dirty="0">
                  <a:ea typeface="Arial" charset="0"/>
                  <a:cs typeface="Arial" charset="0"/>
                </a:endParaRPr>
              </a:p>
              <a:p>
                <a:pPr marL="342900" indent="-342900" algn="l">
                  <a:buFont typeface="Arial" panose="020B0604020202020204" pitchFamily="34" charset="0"/>
                  <a:buChar char="•"/>
                </a:pPr>
                <a:endParaRPr lang="en-US" sz="2000" dirty="0">
                  <a:latin typeface="Arial" charset="0"/>
                  <a:ea typeface="Arial" charset="0"/>
                  <a:cs typeface="Arial"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24568" y="1823250"/>
                <a:ext cx="9941904" cy="4448038"/>
              </a:xfrm>
              <a:blipFill>
                <a:blip r:embed="rId3"/>
                <a:stretch>
                  <a:fillRect l="-510" t="-11111"/>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a:xfrm>
            <a:off x="8077200" y="6356351"/>
            <a:ext cx="2133600" cy="365125"/>
          </a:xfrm>
        </p:spPr>
        <p:txBody>
          <a:bodyPr/>
          <a:lstStyle/>
          <a:p>
            <a:fld id="{FA32F8ED-EEB4-4D51-9E8E-3B145D9B9811}" type="slidenum">
              <a:rPr lang="en-US" smtClean="0"/>
              <a:pPr/>
              <a:t>27</a:t>
            </a:fld>
            <a:endParaRPr lang="en-US"/>
          </a:p>
        </p:txBody>
      </p:sp>
    </p:spTree>
    <p:extLst>
      <p:ext uri="{BB962C8B-B14F-4D97-AF65-F5344CB8AC3E}">
        <p14:creationId xmlns:p14="http://schemas.microsoft.com/office/powerpoint/2010/main" val="26259635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043" y="159703"/>
            <a:ext cx="11675166" cy="868362"/>
          </a:xfrm>
        </p:spPr>
        <p:txBody>
          <a:bodyPr anchor="ctr">
            <a:normAutofit/>
          </a:bodyPr>
          <a:lstStyle/>
          <a:p>
            <a:pPr algn="ctr"/>
            <a:r>
              <a:rPr lang="en-US" sz="4400" dirty="0">
                <a:latin typeface="Calibri" panose="020F0502020204030204" pitchFamily="34" charset="0"/>
                <a:cs typeface="Calibri" panose="020F0502020204030204" pitchFamily="34" charset="0"/>
              </a:rPr>
              <a:t>General solution to Maxwell’s equations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8868" y="1694367"/>
                <a:ext cx="10367515" cy="4306383"/>
              </a:xfrm>
            </p:spPr>
            <p:txBody>
              <a:bodyPr>
                <a:noAutofit/>
              </a:bodyPr>
              <a:lstStyle/>
              <a:p>
                <a:pPr marL="342900" indent="-342900" algn="l">
                  <a:spcBef>
                    <a:spcPts val="400"/>
                  </a:spcBef>
                  <a:buFont typeface="Arial" panose="020B0604020202020204" pitchFamily="34" charset="0"/>
                  <a:buChar char="•"/>
                </a:pPr>
                <a:r>
                  <a:rPr lang="en-US" sz="2000" dirty="0">
                    <a:ea typeface="Cambria Math" panose="02040503050406030204" pitchFamily="18" charset="0"/>
                    <a:cs typeface="Arial" panose="020B0604020202020204" pitchFamily="34" charset="0"/>
                  </a:rPr>
                  <a:t>Returning to the general Maxwell equations,  from </a:t>
                </a:r>
                <a14:m>
                  <m:oMath xmlns:m="http://schemas.openxmlformats.org/officeDocument/2006/math">
                    <m:r>
                      <m:rPr>
                        <m:sty m:val="p"/>
                      </m:rPr>
                      <a:rPr lang="en-US" sz="2000" i="1" smtClean="0">
                        <a:latin typeface="Cambria Math" panose="02040503050406030204" pitchFamily="18" charset="0"/>
                        <a:ea typeface="Cambria Math" panose="02040503050406030204" pitchFamily="18" charset="0"/>
                        <a:cs typeface="Arial" panose="020B0604020202020204" pitchFamily="34" charset="0"/>
                      </a:rPr>
                      <m:t>∇</m:t>
                    </m:r>
                    <m:r>
                      <a:rPr lang="en-US" sz="200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𝐵</m:t>
                    </m:r>
                    <m:r>
                      <a:rPr lang="en-US" sz="2000" b="0" i="1" smtClean="0">
                        <a:latin typeface="Cambria Math" panose="02040503050406030204" pitchFamily="18" charset="0"/>
                        <a:ea typeface="Cambria Math" panose="02040503050406030204" pitchFamily="18" charset="0"/>
                        <a:cs typeface="Arial" panose="020B0604020202020204" pitchFamily="34" charset="0"/>
                      </a:rPr>
                      <m:t>=0</m:t>
                    </m:r>
                  </m:oMath>
                </a14:m>
                <a:r>
                  <a:rPr lang="en-US" sz="2000" dirty="0">
                    <a:ea typeface="Cambria Math" panose="02040503050406030204" pitchFamily="18" charset="0"/>
                    <a:cs typeface="Arial" panose="020B0604020202020204" pitchFamily="34" charset="0"/>
                  </a:rPr>
                  <a:t>, we get </a:t>
                </a:r>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𝐵</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m:rPr>
                        <m:sty m:val="p"/>
                      </m:rP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𝐴</m:t>
                    </m:r>
                  </m:oMath>
                </a14:m>
                <a:r>
                  <a:rPr lang="en-US" sz="2000" dirty="0">
                    <a:ea typeface="Cambria Math" panose="02040503050406030204" pitchFamily="18" charset="0"/>
                    <a:cs typeface="Arial" panose="020B0604020202020204" pitchFamily="34" charset="0"/>
                  </a:rPr>
                  <a:t> </a:t>
                </a:r>
              </a:p>
              <a:p>
                <a:pPr marL="342900" indent="-342900" algn="l">
                  <a:spcBef>
                    <a:spcPts val="400"/>
                  </a:spcBef>
                  <a:buFont typeface="Arial" panose="020B0604020202020204" pitchFamily="34" charset="0"/>
                  <a:buChar char="•"/>
                </a:pPr>
                <a:r>
                  <a:rPr lang="en-US" sz="2000" dirty="0">
                    <a:cs typeface="Arial" panose="020B0604020202020204" pitchFamily="34" charset="0"/>
                  </a:rPr>
                  <a:t>Substituting into </a:t>
                </a:r>
                <a14:m>
                  <m:oMath xmlns:m="http://schemas.openxmlformats.org/officeDocument/2006/math">
                    <m:sSup>
                      <m:sSupPr>
                        <m:ctrlPr>
                          <a:rPr lang="en-US" sz="2000" i="1">
                            <a:latin typeface="Cambria Math" panose="02040503050406030204" pitchFamily="18" charset="0"/>
                            <a:cs typeface="Arial" charset="0"/>
                          </a:rPr>
                        </m:ctrlPr>
                      </m:sSupPr>
                      <m:e>
                        <m:r>
                          <a:rPr lang="en-US" sz="2000" i="1">
                            <a:latin typeface="Cambria Math" panose="02040503050406030204" pitchFamily="18" charset="0"/>
                            <a:cs typeface="Arial" charset="0"/>
                          </a:rPr>
                          <m:t>𝑐</m:t>
                        </m:r>
                      </m:e>
                      <m:sup>
                        <m:r>
                          <a:rPr lang="en-US" sz="2000" i="1">
                            <a:latin typeface="Cambria Math" panose="02040503050406030204" pitchFamily="18" charset="0"/>
                            <a:cs typeface="Arial" charset="0"/>
                          </a:rPr>
                          <m:t>2</m:t>
                        </m:r>
                      </m:sup>
                    </m:sSup>
                    <m:r>
                      <a:rPr lang="en-US" sz="2000" i="1">
                        <a:latin typeface="Cambria Math" panose="02040503050406030204" pitchFamily="18" charset="0"/>
                        <a:cs typeface="Arial" charset="0"/>
                      </a:rPr>
                      <m:t> </m:t>
                    </m:r>
                    <m:r>
                      <m:rPr>
                        <m:sty m:val="p"/>
                      </m:rP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m:t>
                    </m:r>
                    <m:r>
                      <a:rPr lang="en-US" sz="2000" b="1">
                        <a:latin typeface="Cambria Math" panose="02040503050406030204" pitchFamily="18" charset="0"/>
                        <a:ea typeface="Cambria Math" panose="02040503050406030204" pitchFamily="18" charset="0"/>
                        <a:cs typeface="Arial" charset="0"/>
                      </a:rPr>
                      <m:t>𝐁</m:t>
                    </m:r>
                    <m:r>
                      <a:rPr lang="en-US" sz="2000" i="1">
                        <a:latin typeface="Cambria Math" panose="02040503050406030204" pitchFamily="18" charset="0"/>
                        <a:ea typeface="Cambria Math" panose="02040503050406030204" pitchFamily="18" charset="0"/>
                        <a:cs typeface="Arial" charset="0"/>
                      </a:rPr>
                      <m:t>= </m:t>
                    </m:r>
                    <m:f>
                      <m:fPr>
                        <m:ctrlPr>
                          <a:rPr lang="en-US" sz="2000" b="1" i="1">
                            <a:latin typeface="Cambria Math" panose="02040503050406030204" pitchFamily="18" charset="0"/>
                            <a:ea typeface="Cambria Math" panose="02040503050406030204" pitchFamily="18" charset="0"/>
                            <a:cs typeface="Arial" charset="0"/>
                          </a:rPr>
                        </m:ctrlPr>
                      </m:fPr>
                      <m:num>
                        <m:r>
                          <a:rPr lang="en-US" sz="2000" b="1" i="1">
                            <a:latin typeface="Cambria Math" panose="02040503050406030204" pitchFamily="18" charset="0"/>
                            <a:ea typeface="Cambria Math" panose="02040503050406030204" pitchFamily="18" charset="0"/>
                            <a:cs typeface="Arial" charset="0"/>
                          </a:rPr>
                          <m:t>𝒋</m:t>
                        </m:r>
                      </m:num>
                      <m:den>
                        <m:sSub>
                          <m:sSubPr>
                            <m:ctrlPr>
                              <a:rPr lang="en-US" sz="2000" i="1">
                                <a:latin typeface="Cambria Math" panose="02040503050406030204" pitchFamily="18" charset="0"/>
                                <a:ea typeface="Cambria Math" panose="02040503050406030204" pitchFamily="18" charset="0"/>
                                <a:cs typeface="Arial" charset="0"/>
                              </a:rPr>
                            </m:ctrlPr>
                          </m:sSubPr>
                          <m:e>
                            <m:r>
                              <a:rPr lang="en-US" sz="2000" i="1">
                                <a:latin typeface="Cambria Math" panose="02040503050406030204" pitchFamily="18" charset="0"/>
                                <a:ea typeface="Cambria Math" panose="02040503050406030204" pitchFamily="18" charset="0"/>
                                <a:cs typeface="Arial" charset="0"/>
                              </a:rPr>
                              <m:t>𝜖</m:t>
                            </m:r>
                          </m:e>
                          <m:sub>
                            <m:r>
                              <a:rPr lang="en-US" sz="2000" i="1">
                                <a:latin typeface="Cambria Math" panose="02040503050406030204" pitchFamily="18" charset="0"/>
                                <a:ea typeface="Cambria Math" panose="02040503050406030204" pitchFamily="18" charset="0"/>
                                <a:cs typeface="Arial" charset="0"/>
                              </a:rPr>
                              <m:t>0</m:t>
                            </m:r>
                          </m:sub>
                        </m:sSub>
                      </m:den>
                    </m:f>
                    <m:r>
                      <a:rPr lang="en-US" sz="2000" i="1">
                        <a:latin typeface="Cambria Math" panose="02040503050406030204" pitchFamily="18" charset="0"/>
                        <a:ea typeface="Cambria Math" panose="02040503050406030204" pitchFamily="18" charset="0"/>
                        <a:cs typeface="Arial" charset="0"/>
                      </a:rPr>
                      <m:t>+ </m:t>
                    </m:r>
                    <m:f>
                      <m:fPr>
                        <m:ctrlPr>
                          <a:rPr lang="en-US" sz="2000" i="1">
                            <a:latin typeface="Cambria Math" panose="02040503050406030204" pitchFamily="18" charset="0"/>
                            <a:ea typeface="Cambria Math" panose="02040503050406030204" pitchFamily="18" charset="0"/>
                            <a:cs typeface="Arial" charset="0"/>
                          </a:rPr>
                        </m:ctrlPr>
                      </m:fPr>
                      <m:num>
                        <m:r>
                          <a:rPr lang="en-US" sz="2000" i="1">
                            <a:latin typeface="Cambria Math" panose="02040503050406030204" pitchFamily="18" charset="0"/>
                            <a:ea typeface="Cambria Math" panose="02040503050406030204" pitchFamily="18" charset="0"/>
                            <a:cs typeface="Arial" charset="0"/>
                          </a:rPr>
                          <m:t>𝜕</m:t>
                        </m:r>
                        <m:r>
                          <a:rPr lang="en-US" sz="2000" b="1">
                            <a:latin typeface="Cambria Math" panose="02040503050406030204" pitchFamily="18" charset="0"/>
                            <a:ea typeface="Cambria Math" panose="02040503050406030204" pitchFamily="18" charset="0"/>
                            <a:cs typeface="Arial" charset="0"/>
                          </a:rPr>
                          <m:t>𝐄</m:t>
                        </m:r>
                      </m:num>
                      <m:den>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𝑡</m:t>
                        </m:r>
                      </m:den>
                    </m:f>
                    <m:r>
                      <a:rPr lang="en-US" sz="2000" i="1">
                        <a:latin typeface="Cambria Math" panose="02040503050406030204" pitchFamily="18" charset="0"/>
                        <a:ea typeface="Cambria Math" panose="02040503050406030204" pitchFamily="18" charset="0"/>
                        <a:cs typeface="Arial" charset="0"/>
                      </a:rPr>
                      <m:t> </m:t>
                    </m:r>
                  </m:oMath>
                </a14:m>
                <a:r>
                  <a:rPr lang="en-US" sz="2000" dirty="0">
                    <a:cs typeface="Arial" panose="020B0604020202020204" pitchFamily="34" charset="0"/>
                  </a:rPr>
                  <a:t>, we get </a:t>
                </a:r>
                <a14:m>
                  <m:oMath xmlns:m="http://schemas.openxmlformats.org/officeDocument/2006/math">
                    <m:sSup>
                      <m:sSupPr>
                        <m:ctrlPr>
                          <a:rPr lang="en-US" sz="2000" i="1">
                            <a:latin typeface="Cambria Math" panose="02040503050406030204" pitchFamily="18" charset="0"/>
                            <a:cs typeface="Arial" charset="0"/>
                          </a:rPr>
                        </m:ctrlPr>
                      </m:sSupPr>
                      <m:e>
                        <m:r>
                          <a:rPr lang="en-US" sz="2000" i="1">
                            <a:latin typeface="Cambria Math" panose="02040503050406030204" pitchFamily="18" charset="0"/>
                            <a:cs typeface="Arial" charset="0"/>
                          </a:rPr>
                          <m:t>𝑐</m:t>
                        </m:r>
                      </m:e>
                      <m:sup>
                        <m:r>
                          <a:rPr lang="en-US" sz="2000" i="1">
                            <a:latin typeface="Cambria Math" panose="02040503050406030204" pitchFamily="18" charset="0"/>
                            <a:cs typeface="Arial" charset="0"/>
                          </a:rPr>
                          <m:t>2</m:t>
                        </m:r>
                      </m:sup>
                    </m:sSup>
                    <m:r>
                      <a:rPr lang="en-US" sz="2000" i="1">
                        <a:latin typeface="Cambria Math" panose="02040503050406030204" pitchFamily="18" charset="0"/>
                        <a:cs typeface="Arial" charset="0"/>
                      </a:rPr>
                      <m:t> </m:t>
                    </m:r>
                    <m:r>
                      <m:rPr>
                        <m:sty m:val="p"/>
                      </m:rP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m:t>
                    </m:r>
                    <m:d>
                      <m:dPr>
                        <m:ctrlPr>
                          <a:rPr lang="en-US" sz="2000" i="1">
                            <a:latin typeface="Cambria Math" panose="02040503050406030204" pitchFamily="18" charset="0"/>
                            <a:ea typeface="Cambria Math" panose="02040503050406030204" pitchFamily="18" charset="0"/>
                            <a:cs typeface="Arial" charset="0"/>
                          </a:rPr>
                        </m:ctrlPr>
                      </m:dPr>
                      <m:e>
                        <m:r>
                          <m:rPr>
                            <m:sty m:val="p"/>
                          </m:rP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𝐴</m:t>
                        </m:r>
                      </m:e>
                    </m:d>
                    <m:r>
                      <a:rPr lang="en-US" sz="2000" i="1">
                        <a:latin typeface="Cambria Math" panose="02040503050406030204" pitchFamily="18" charset="0"/>
                        <a:ea typeface="Cambria Math" panose="02040503050406030204" pitchFamily="18" charset="0"/>
                        <a:cs typeface="Arial" charset="0"/>
                      </a:rPr>
                      <m:t>=</m:t>
                    </m:r>
                    <m:f>
                      <m:fPr>
                        <m:ctrlPr>
                          <a:rPr lang="en-US" sz="2000" b="0" i="1" smtClean="0">
                            <a:latin typeface="Cambria Math" panose="02040503050406030204" pitchFamily="18" charset="0"/>
                            <a:ea typeface="Cambria Math" panose="02040503050406030204" pitchFamily="18" charset="0"/>
                            <a:cs typeface="Arial" charset="0"/>
                          </a:rPr>
                        </m:ctrlPr>
                      </m:fPr>
                      <m:num>
                        <m:r>
                          <a:rPr lang="en-US" sz="2000" b="0" i="1" smtClean="0">
                            <a:latin typeface="Cambria Math" panose="02040503050406030204" pitchFamily="18" charset="0"/>
                            <a:ea typeface="Cambria Math" panose="02040503050406030204" pitchFamily="18" charset="0"/>
                            <a:cs typeface="Arial" charset="0"/>
                          </a:rPr>
                          <m:t>𝑗</m:t>
                        </m:r>
                      </m:num>
                      <m:den>
                        <m:sSub>
                          <m:sSubPr>
                            <m:ctrlPr>
                              <a:rPr lang="en-US" sz="2000" i="1" smtClean="0">
                                <a:latin typeface="Cambria Math" panose="02040503050406030204" pitchFamily="18" charset="0"/>
                                <a:ea typeface="Cambria Math" panose="02040503050406030204" pitchFamily="18" charset="0"/>
                                <a:cs typeface="Arial" charset="0"/>
                              </a:rPr>
                            </m:ctrlPr>
                          </m:sSubPr>
                          <m:e>
                            <m:r>
                              <a:rPr lang="en-US" sz="2000" i="1" smtClean="0">
                                <a:latin typeface="Cambria Math" panose="02040503050406030204" pitchFamily="18" charset="0"/>
                                <a:ea typeface="Cambria Math" panose="02040503050406030204" pitchFamily="18" charset="0"/>
                                <a:cs typeface="Arial" charset="0"/>
                              </a:rPr>
                              <m:t>𝜖</m:t>
                            </m:r>
                          </m:e>
                          <m:sub>
                            <m:r>
                              <a:rPr lang="en-US" sz="2000" b="0" i="1" smtClean="0">
                                <a:latin typeface="Cambria Math" panose="02040503050406030204" pitchFamily="18" charset="0"/>
                                <a:ea typeface="Cambria Math" panose="02040503050406030204" pitchFamily="18" charset="0"/>
                                <a:cs typeface="Arial" charset="0"/>
                              </a:rPr>
                              <m:t>0</m:t>
                            </m:r>
                          </m:sub>
                        </m:sSub>
                      </m:den>
                    </m:f>
                    <m:r>
                      <a:rPr lang="en-US" sz="2000" b="0" i="1" smtClean="0">
                        <a:latin typeface="Cambria Math" panose="02040503050406030204" pitchFamily="18" charset="0"/>
                        <a:ea typeface="Cambria Math" panose="02040503050406030204" pitchFamily="18" charset="0"/>
                        <a:cs typeface="Arial" charset="0"/>
                      </a:rPr>
                      <m:t>+</m:t>
                    </m:r>
                    <m:f>
                      <m:fPr>
                        <m:ctrlPr>
                          <a:rPr lang="en-US" sz="2000" i="1">
                            <a:latin typeface="Cambria Math" panose="02040503050406030204" pitchFamily="18" charset="0"/>
                            <a:ea typeface="Cambria Math" panose="02040503050406030204" pitchFamily="18" charset="0"/>
                            <a:cs typeface="Arial" charset="0"/>
                          </a:rPr>
                        </m:ctrlPr>
                      </m:fPr>
                      <m:num>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𝐸</m:t>
                        </m:r>
                      </m:num>
                      <m:den>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𝑡</m:t>
                        </m:r>
                      </m:den>
                    </m:f>
                  </m:oMath>
                </a14:m>
                <a:r>
                  <a:rPr lang="en-US" sz="2000" dirty="0">
                    <a:ea typeface="Arial" charset="0"/>
                    <a:cs typeface="Arial" panose="020B0604020202020204" pitchFamily="34" charset="0"/>
                  </a:rPr>
                  <a:t> </a:t>
                </a:r>
              </a:p>
              <a:p>
                <a:pPr marL="342900" indent="-342900" algn="l">
                  <a:spcBef>
                    <a:spcPts val="400"/>
                  </a:spcBef>
                  <a:buFont typeface="Arial" panose="020B0604020202020204" pitchFamily="34" charset="0"/>
                  <a:buChar char="•"/>
                </a:pPr>
                <a:r>
                  <a:rPr lang="en-US" sz="2000" dirty="0">
                    <a:ea typeface="Arial" charset="0"/>
                    <a:cs typeface="Arial" panose="020B0604020202020204" pitchFamily="34" charset="0"/>
                  </a:rPr>
                  <a:t>Applying “BAC-CAB”, we get </a:t>
                </a:r>
                <a14:m>
                  <m:oMath xmlns:m="http://schemas.openxmlformats.org/officeDocument/2006/math">
                    <m:r>
                      <m:rPr>
                        <m:sty m:val="p"/>
                      </m:rPr>
                      <a:rPr lang="en-US" sz="200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 </m:t>
                    </m:r>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r>
                          <m:rPr>
                            <m:sty m:val="p"/>
                          </m:rP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𝐴</m:t>
                        </m:r>
                      </m:e>
                    </m:d>
                    <m:r>
                      <a:rPr lang="en-US" sz="2000" b="0" i="1" smtClean="0">
                        <a:latin typeface="Cambria Math" panose="02040503050406030204" pitchFamily="18" charset="0"/>
                        <a:ea typeface="Cambria Math" panose="02040503050406030204" pitchFamily="18" charset="0"/>
                        <a:cs typeface="Arial" panose="020B0604020202020204" pitchFamily="34" charset="0"/>
                      </a:rPr>
                      <m:t>− </m:t>
                    </m:r>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m:rPr>
                            <m:sty m:val="p"/>
                          </m:rPr>
                          <a:rPr lang="en-US" sz="2000" b="0" i="1" smtClean="0">
                            <a:latin typeface="Cambria Math" panose="02040503050406030204" pitchFamily="18" charset="0"/>
                            <a:ea typeface="Cambria Math" panose="02040503050406030204" pitchFamily="18" charset="0"/>
                            <a:cs typeface="Arial" panose="020B0604020202020204" pitchFamily="34" charset="0"/>
                          </a:rPr>
                          <m:t>∇</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r>
                      <a:rPr lang="en-US" sz="2000" b="0" i="1" smtClean="0">
                        <a:latin typeface="Cambria Math" panose="02040503050406030204" pitchFamily="18" charset="0"/>
                        <a:ea typeface="Cambria Math" panose="02040503050406030204" pitchFamily="18" charset="0"/>
                        <a:cs typeface="Arial" panose="020B0604020202020204" pitchFamily="34" charset="0"/>
                      </a:rPr>
                      <m:t>𝐴</m:t>
                    </m:r>
                    <m:r>
                      <a:rPr lang="en-US" sz="2000" b="0" i="1" smtClean="0">
                        <a:latin typeface="Cambria Math" panose="02040503050406030204" pitchFamily="18" charset="0"/>
                        <a:ea typeface="Cambria Math" panose="02040503050406030204" pitchFamily="18" charset="0"/>
                        <a:cs typeface="Arial" panose="020B0604020202020204" pitchFamily="34" charset="0"/>
                      </a:rPr>
                      <m:t>= </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𝑗</m:t>
                        </m:r>
                      </m:num>
                      <m:den>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𝑐</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𝜖</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0</m:t>
                            </m:r>
                          </m:sub>
                        </m:sSub>
                      </m:den>
                    </m:f>
                    <m:r>
                      <a:rPr lang="en-US" sz="2000" b="0" i="1" smtClean="0">
                        <a:latin typeface="Cambria Math" panose="02040503050406030204" pitchFamily="18" charset="0"/>
                        <a:ea typeface="Cambria Math" panose="02040503050406030204" pitchFamily="18" charset="0"/>
                        <a:cs typeface="Arial" panose="020B0604020202020204" pitchFamily="34" charset="0"/>
                      </a:rPr>
                      <m:t>+ </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1</m:t>
                        </m:r>
                      </m:num>
                      <m:den>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𝑐</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den>
                    </m:f>
                    <m:f>
                      <m:fPr>
                        <m:ctrlPr>
                          <a:rPr lang="en-US" sz="2000" i="1">
                            <a:latin typeface="Cambria Math" panose="02040503050406030204" pitchFamily="18" charset="0"/>
                            <a:ea typeface="Cambria Math" panose="02040503050406030204" pitchFamily="18" charset="0"/>
                            <a:cs typeface="Arial" charset="0"/>
                          </a:rPr>
                        </m:ctrlPr>
                      </m:fPr>
                      <m:num>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𝐸</m:t>
                        </m:r>
                      </m:num>
                      <m:den>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𝑡</m:t>
                        </m:r>
                      </m:den>
                    </m:f>
                  </m:oMath>
                </a14:m>
                <a:r>
                  <a:rPr lang="en-US" sz="2000" dirty="0">
                    <a:ea typeface="Arial" charset="0"/>
                    <a:cs typeface="Arial" panose="020B0604020202020204" pitchFamily="34" charset="0"/>
                  </a:rPr>
                  <a:t> (Equation 1)</a:t>
                </a:r>
              </a:p>
              <a:p>
                <a:pPr marL="342900" indent="-342900" algn="l">
                  <a:spcBef>
                    <a:spcPts val="400"/>
                  </a:spcBef>
                  <a:buFont typeface="Arial" panose="020B0604020202020204" pitchFamily="34" charset="0"/>
                  <a:buChar char="•"/>
                </a:pPr>
                <a:r>
                  <a:rPr lang="en-US" sz="2000" dirty="0">
                    <a:ea typeface="Arial" charset="0"/>
                    <a:cs typeface="Arial" panose="020B0604020202020204" pitchFamily="34" charset="0"/>
                  </a:rPr>
                  <a:t>Now, </a:t>
                </a:r>
                <a14:m>
                  <m:oMath xmlns:m="http://schemas.openxmlformats.org/officeDocument/2006/math">
                    <m:r>
                      <m:rPr>
                        <m:sty m:val="p"/>
                      </m:rP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m:t>
                    </m:r>
                    <m:r>
                      <a:rPr lang="en-US" sz="2000" b="1">
                        <a:latin typeface="Cambria Math" panose="02040503050406030204" pitchFamily="18" charset="0"/>
                        <a:ea typeface="Cambria Math" panose="02040503050406030204" pitchFamily="18" charset="0"/>
                        <a:cs typeface="Arial" charset="0"/>
                      </a:rPr>
                      <m:t>𝐄</m:t>
                    </m:r>
                    <m:r>
                      <a:rPr lang="en-US" sz="2000" i="1">
                        <a:latin typeface="Cambria Math" panose="02040503050406030204" pitchFamily="18" charset="0"/>
                        <a:ea typeface="Cambria Math" panose="02040503050406030204" pitchFamily="18" charset="0"/>
                        <a:cs typeface="Arial" charset="0"/>
                      </a:rPr>
                      <m:t>=−</m:t>
                    </m:r>
                    <m:f>
                      <m:fPr>
                        <m:ctrlPr>
                          <a:rPr lang="en-US" sz="2000" i="1">
                            <a:latin typeface="Cambria Math" panose="02040503050406030204" pitchFamily="18" charset="0"/>
                            <a:ea typeface="Cambria Math" panose="02040503050406030204" pitchFamily="18" charset="0"/>
                            <a:cs typeface="Arial" charset="0"/>
                          </a:rPr>
                        </m:ctrlPr>
                      </m:fPr>
                      <m:num>
                        <m:r>
                          <a:rPr lang="en-US" sz="2000" i="1">
                            <a:latin typeface="Cambria Math" panose="02040503050406030204" pitchFamily="18" charset="0"/>
                            <a:ea typeface="Cambria Math" panose="02040503050406030204" pitchFamily="18" charset="0"/>
                            <a:cs typeface="Arial" charset="0"/>
                          </a:rPr>
                          <m:t>𝜕</m:t>
                        </m:r>
                        <m:r>
                          <a:rPr lang="en-US" sz="2000" b="1">
                            <a:latin typeface="Cambria Math" panose="02040503050406030204" pitchFamily="18" charset="0"/>
                            <a:ea typeface="Cambria Math" panose="02040503050406030204" pitchFamily="18" charset="0"/>
                            <a:cs typeface="Arial" charset="0"/>
                          </a:rPr>
                          <m:t>𝐁</m:t>
                        </m:r>
                      </m:num>
                      <m:den>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𝑡</m:t>
                        </m:r>
                      </m:den>
                    </m:f>
                  </m:oMath>
                </a14:m>
                <a:r>
                  <a:rPr lang="en-US" sz="2000" dirty="0">
                    <a:ea typeface="Arial" charset="0"/>
                    <a:cs typeface="Arial" panose="020B0604020202020204" pitchFamily="34" charset="0"/>
                  </a:rPr>
                  <a:t>, so substituting for B, we get </a:t>
                </a:r>
                <a14:m>
                  <m:oMath xmlns:m="http://schemas.openxmlformats.org/officeDocument/2006/math">
                    <m:r>
                      <m:rPr>
                        <m:sty m:val="p"/>
                      </m:rP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m:t>
                    </m:r>
                    <m:d>
                      <m:dPr>
                        <m:ctrlPr>
                          <a:rPr lang="en-US" sz="2000" b="0" i="1">
                            <a:latin typeface="Cambria Math" panose="02040503050406030204" pitchFamily="18" charset="0"/>
                            <a:ea typeface="Cambria Math" panose="02040503050406030204" pitchFamily="18" charset="0"/>
                            <a:cs typeface="Arial" charset="0"/>
                          </a:rPr>
                        </m:ctrlPr>
                      </m:dPr>
                      <m:e>
                        <m:r>
                          <m:rPr>
                            <m:sty m:val="p"/>
                          </m:rPr>
                          <a:rPr lang="en-US" sz="2000" b="0" i="1">
                            <a:latin typeface="Cambria Math" panose="02040503050406030204" pitchFamily="18" charset="0"/>
                            <a:ea typeface="Cambria Math" panose="02040503050406030204" pitchFamily="18" charset="0"/>
                            <a:cs typeface="Arial" charset="0"/>
                          </a:rPr>
                          <m:t>E</m:t>
                        </m:r>
                        <m:r>
                          <a:rPr lang="en-US" sz="2000" b="0" i="1" smtClean="0">
                            <a:latin typeface="Cambria Math" panose="02040503050406030204" pitchFamily="18" charset="0"/>
                            <a:ea typeface="Cambria Math" panose="02040503050406030204" pitchFamily="18" charset="0"/>
                            <a:cs typeface="Arial" charset="0"/>
                          </a:rPr>
                          <m:t>+</m:t>
                        </m:r>
                        <m:f>
                          <m:fPr>
                            <m:ctrlPr>
                              <a:rPr lang="en-US" sz="2000" i="1">
                                <a:latin typeface="Cambria Math" panose="02040503050406030204" pitchFamily="18" charset="0"/>
                                <a:ea typeface="Cambria Math" panose="02040503050406030204" pitchFamily="18" charset="0"/>
                                <a:cs typeface="Arial" charset="0"/>
                              </a:rPr>
                            </m:ctrlPr>
                          </m:fPr>
                          <m:num>
                            <m:r>
                              <a:rPr lang="en-US" sz="2000" i="1">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𝐴</m:t>
                            </m:r>
                          </m:num>
                          <m:den>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𝑡</m:t>
                            </m:r>
                          </m:den>
                        </m:f>
                      </m:e>
                    </m:d>
                    <m:r>
                      <a:rPr lang="en-US" sz="2000" b="0" i="0" smtClean="0">
                        <a:latin typeface="Cambria Math" panose="02040503050406030204" pitchFamily="18" charset="0"/>
                        <a:ea typeface="Cambria Math" panose="02040503050406030204" pitchFamily="18" charset="0"/>
                        <a:cs typeface="Arial" charset="0"/>
                      </a:rPr>
                      <m:t>=0</m:t>
                    </m:r>
                  </m:oMath>
                </a14:m>
                <a:r>
                  <a:rPr lang="en-US" sz="2000" dirty="0">
                    <a:ea typeface="Arial" charset="0"/>
                    <a:cs typeface="Arial" panose="020B0604020202020204" pitchFamily="34" charset="0"/>
                  </a:rPr>
                  <a:t> and so </a:t>
                </a:r>
                <a14:m>
                  <m:oMath xmlns:m="http://schemas.openxmlformats.org/officeDocument/2006/math">
                    <m:r>
                      <a:rPr lang="en-US" sz="2000" b="0" i="1" smtClean="0">
                        <a:latin typeface="Cambria Math" panose="02040503050406030204" pitchFamily="18" charset="0"/>
                        <a:ea typeface="Arial" charset="0"/>
                        <a:cs typeface="Arial" panose="020B0604020202020204" pitchFamily="34" charset="0"/>
                      </a:rPr>
                      <m:t>𝐸</m:t>
                    </m:r>
                    <m:r>
                      <a:rPr lang="en-US" sz="2000" b="0" i="1" smtClean="0">
                        <a:latin typeface="Cambria Math" panose="02040503050406030204" pitchFamily="18" charset="0"/>
                        <a:ea typeface="Arial" charset="0"/>
                        <a:cs typeface="Arial" panose="020B0604020202020204" pitchFamily="34" charset="0"/>
                      </a:rPr>
                      <m:t>=−</m:t>
                    </m:r>
                    <m:r>
                      <m:rPr>
                        <m:sty m:val="p"/>
                      </m:rP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𝜙</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i="1">
                            <a:latin typeface="Cambria Math" panose="02040503050406030204" pitchFamily="18" charset="0"/>
                            <a:ea typeface="Cambria Math" panose="02040503050406030204" pitchFamily="18" charset="0"/>
                            <a:cs typeface="Arial" charset="0"/>
                          </a:rPr>
                        </m:ctrlPr>
                      </m:fPr>
                      <m:num>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𝐴</m:t>
                        </m:r>
                      </m:num>
                      <m:den>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𝑡</m:t>
                        </m:r>
                      </m:den>
                    </m:f>
                  </m:oMath>
                </a14:m>
                <a:endParaRPr lang="en-US" sz="2000" dirty="0">
                  <a:ea typeface="Arial" charset="0"/>
                  <a:cs typeface="Arial" panose="020B0604020202020204" pitchFamily="34" charset="0"/>
                </a:endParaRPr>
              </a:p>
              <a:p>
                <a:pPr marL="342900" indent="-342900" algn="l">
                  <a:spcBef>
                    <a:spcPts val="400"/>
                  </a:spcBef>
                  <a:buFont typeface="Arial" panose="020B0604020202020204" pitchFamily="34" charset="0"/>
                  <a:buChar char="•"/>
                </a:pPr>
                <a:r>
                  <a:rPr lang="en-US" sz="2000" dirty="0">
                    <a:ea typeface="Arial" charset="0"/>
                    <a:cs typeface="Arial" panose="020B0604020202020204" pitchFamily="34" charset="0"/>
                  </a:rPr>
                  <a:t>Substituting into equation 1, </a:t>
                </a:r>
                <a14:m>
                  <m:oMath xmlns:m="http://schemas.openxmlformats.org/officeDocument/2006/math">
                    <m:r>
                      <m:rPr>
                        <m:sty m:val="p"/>
                      </m:rP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 </m:t>
                    </m:r>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r>
                          <m:rPr>
                            <m:sty m:val="p"/>
                          </m:rP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𝐴</m:t>
                        </m:r>
                      </m:e>
                    </m:d>
                    <m:r>
                      <a:rPr lang="en-US" sz="2000" i="1">
                        <a:latin typeface="Cambria Math" panose="02040503050406030204" pitchFamily="18" charset="0"/>
                        <a:ea typeface="Cambria Math" panose="02040503050406030204" pitchFamily="18" charset="0"/>
                        <a:cs typeface="Arial" panose="020B0604020202020204" pitchFamily="34" charset="0"/>
                      </a:rPr>
                      <m:t>− </m:t>
                    </m:r>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m:rPr>
                            <m:sty m:val="p"/>
                          </m:rPr>
                          <a:rPr lang="en-US" sz="2000" i="1">
                            <a:latin typeface="Cambria Math" panose="02040503050406030204" pitchFamily="18" charset="0"/>
                            <a:ea typeface="Cambria Math" panose="02040503050406030204" pitchFamily="18" charset="0"/>
                            <a:cs typeface="Arial" panose="020B0604020202020204" pitchFamily="34" charset="0"/>
                          </a:rPr>
                          <m:t>∇</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r>
                      <a:rPr lang="en-US" sz="2000" i="1">
                        <a:latin typeface="Cambria Math" panose="02040503050406030204" pitchFamily="18" charset="0"/>
                        <a:ea typeface="Cambria Math" panose="02040503050406030204" pitchFamily="18" charset="0"/>
                        <a:cs typeface="Arial" panose="020B0604020202020204" pitchFamily="34" charset="0"/>
                      </a:rPr>
                      <m:t>𝐴</m:t>
                    </m:r>
                    <m:r>
                      <a:rPr lang="en-US" sz="2000" i="1">
                        <a:latin typeface="Cambria Math" panose="02040503050406030204" pitchFamily="18" charset="0"/>
                        <a:ea typeface="Cambria Math" panose="02040503050406030204" pitchFamily="18" charset="0"/>
                        <a:cs typeface="Arial" panose="020B0604020202020204" pitchFamily="34" charset="0"/>
                      </a:rPr>
                      <m:t>= </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𝑗</m:t>
                        </m:r>
                      </m:num>
                      <m:den>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𝑐</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i="1" smtClean="0">
                                <a:latin typeface="Cambria Math" panose="02040503050406030204" pitchFamily="18" charset="0"/>
                                <a:ea typeface="Cambria Math" panose="02040503050406030204" pitchFamily="18" charset="0"/>
                                <a:cs typeface="Arial" panose="020B0604020202020204" pitchFamily="34" charset="0"/>
                              </a:rPr>
                              <m:t>𝜖</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0</m:t>
                            </m:r>
                          </m:sub>
                        </m:sSub>
                      </m:den>
                    </m:f>
                    <m:r>
                      <a:rPr lang="en-US" sz="2000" i="1">
                        <a:latin typeface="Cambria Math" panose="02040503050406030204" pitchFamily="18" charset="0"/>
                        <a:ea typeface="Cambria Math" panose="02040503050406030204" pitchFamily="18" charset="0"/>
                        <a:cs typeface="Arial" panose="020B0604020202020204" pitchFamily="34" charset="0"/>
                      </a:rPr>
                      <m:t>+ </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1</m:t>
                        </m:r>
                      </m:num>
                      <m:den>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𝑐</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den>
                    </m:f>
                    <m:f>
                      <m:fPr>
                        <m:ctrlPr>
                          <a:rPr lang="en-US" sz="2000" i="1">
                            <a:latin typeface="Cambria Math" panose="02040503050406030204" pitchFamily="18" charset="0"/>
                            <a:ea typeface="Cambria Math" panose="02040503050406030204" pitchFamily="18" charset="0"/>
                            <a:cs typeface="Arial" charset="0"/>
                          </a:rPr>
                        </m:ctrlPr>
                      </m:fPr>
                      <m:num>
                        <m:r>
                          <a:rPr lang="en-US" sz="2000" i="1">
                            <a:latin typeface="Cambria Math" panose="02040503050406030204" pitchFamily="18" charset="0"/>
                            <a:ea typeface="Cambria Math" panose="02040503050406030204" pitchFamily="18" charset="0"/>
                            <a:cs typeface="Arial" charset="0"/>
                          </a:rPr>
                          <m:t>𝜕</m:t>
                        </m:r>
                      </m:num>
                      <m:den>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𝑡</m:t>
                        </m:r>
                      </m:den>
                    </m:f>
                    <m:r>
                      <a:rPr lang="en-US" sz="2000" b="0" i="1" smtClean="0">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Arial" charset="0"/>
                        <a:cs typeface="Arial" panose="020B0604020202020204" pitchFamily="34" charset="0"/>
                      </a:rPr>
                      <m:t>−</m:t>
                    </m:r>
                    <m:r>
                      <m:rPr>
                        <m:sty m:val="p"/>
                      </m:rP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𝜙</m:t>
                    </m:r>
                    <m:r>
                      <a:rPr lang="en-US" sz="2000" i="1">
                        <a:latin typeface="Cambria Math" panose="02040503050406030204" pitchFamily="18" charset="0"/>
                        <a:ea typeface="Cambria Math" panose="02040503050406030204" pitchFamily="18" charset="0"/>
                        <a:cs typeface="Arial" panose="020B0604020202020204" pitchFamily="34" charset="0"/>
                      </a:rPr>
                      <m:t>−</m:t>
                    </m:r>
                    <m:f>
                      <m:fPr>
                        <m:ctrlPr>
                          <a:rPr lang="en-US" sz="2000" i="1">
                            <a:latin typeface="Cambria Math" panose="02040503050406030204" pitchFamily="18" charset="0"/>
                            <a:ea typeface="Cambria Math" panose="02040503050406030204" pitchFamily="18" charset="0"/>
                            <a:cs typeface="Arial" charset="0"/>
                          </a:rPr>
                        </m:ctrlPr>
                      </m:fPr>
                      <m:num>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𝐴</m:t>
                        </m:r>
                      </m:num>
                      <m:den>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𝑡</m:t>
                        </m:r>
                      </m:den>
                    </m:f>
                  </m:oMath>
                </a14:m>
                <a:r>
                  <a:rPr lang="en-US" sz="2000" dirty="0">
                    <a:ea typeface="Arial" charset="0"/>
                    <a:cs typeface="Arial" panose="020B0604020202020204" pitchFamily="34" charset="0"/>
                  </a:rPr>
                  <a:t>), or </a:t>
                </a:r>
              </a:p>
              <a:p>
                <a:pPr marL="342900" indent="-342900" algn="l">
                  <a:spcBef>
                    <a:spcPts val="400"/>
                  </a:spcBef>
                  <a:buFont typeface="Arial" panose="020B0604020202020204" pitchFamily="34" charset="0"/>
                  <a:buChar char="•"/>
                </a:pPr>
                <a14:m>
                  <m:oMath xmlns:m="http://schemas.openxmlformats.org/officeDocument/2006/math">
                    <m:r>
                      <m:rPr>
                        <m:sty m:val="p"/>
                      </m:rP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 </m:t>
                    </m:r>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r>
                          <m:rPr>
                            <m:sty m:val="p"/>
                          </m:rP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𝐴</m:t>
                        </m:r>
                      </m:e>
                    </m:d>
                    <m:r>
                      <a:rPr lang="en-US" sz="2000" i="1">
                        <a:latin typeface="Cambria Math" panose="02040503050406030204" pitchFamily="18" charset="0"/>
                        <a:ea typeface="Cambria Math" panose="02040503050406030204" pitchFamily="18" charset="0"/>
                        <a:cs typeface="Arial" panose="020B0604020202020204" pitchFamily="34" charset="0"/>
                      </a:rPr>
                      <m:t>− </m:t>
                    </m:r>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m:rPr>
                            <m:sty m:val="p"/>
                          </m:rPr>
                          <a:rPr lang="en-US" sz="2000" i="1">
                            <a:latin typeface="Cambria Math" panose="02040503050406030204" pitchFamily="18" charset="0"/>
                            <a:ea typeface="Cambria Math" panose="02040503050406030204" pitchFamily="18" charset="0"/>
                            <a:cs typeface="Arial" panose="020B0604020202020204" pitchFamily="34" charset="0"/>
                          </a:rPr>
                          <m:t>∇</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r>
                      <a:rPr lang="en-US" sz="2000" i="1">
                        <a:latin typeface="Cambria Math" panose="02040503050406030204" pitchFamily="18" charset="0"/>
                        <a:ea typeface="Cambria Math" panose="02040503050406030204" pitchFamily="18" charset="0"/>
                        <a:cs typeface="Arial" panose="020B0604020202020204" pitchFamily="34" charset="0"/>
                      </a:rPr>
                      <m:t>𝐴</m:t>
                    </m:r>
                    <m:r>
                      <a:rPr lang="en-US" sz="2000" i="1">
                        <a:latin typeface="Cambria Math" panose="02040503050406030204" pitchFamily="18" charset="0"/>
                        <a:ea typeface="Cambria Math" panose="02040503050406030204" pitchFamily="18" charset="0"/>
                        <a:cs typeface="Arial" panose="020B0604020202020204" pitchFamily="34" charset="0"/>
                      </a:rPr>
                      <m:t>= </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𝑗</m:t>
                        </m:r>
                      </m:num>
                      <m:den>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𝑐</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i="1" smtClean="0">
                                <a:latin typeface="Cambria Math" panose="02040503050406030204" pitchFamily="18" charset="0"/>
                                <a:ea typeface="Cambria Math" panose="02040503050406030204" pitchFamily="18" charset="0"/>
                                <a:cs typeface="Arial" panose="020B0604020202020204" pitchFamily="34" charset="0"/>
                              </a:rPr>
                              <m:t>𝜖</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0</m:t>
                            </m:r>
                          </m:sub>
                        </m:sSub>
                      </m:den>
                    </m:f>
                  </m:oMath>
                </a14:m>
                <a:r>
                  <a:rPr lang="en-US" sz="2000" dirty="0">
                    <a:ea typeface="Arial" charset="0"/>
                    <a:cs typeface="Arial" panose="020B0604020202020204" pitchFamily="34" charset="0"/>
                  </a:rPr>
                  <a:t> -</a:t>
                </a:r>
                <a:r>
                  <a:rPr lang="en-US" sz="2000" dirty="0">
                    <a:ea typeface="Cambria Math" panose="02040503050406030204" pitchFamily="18" charset="0"/>
                    <a:cs typeface="Arial" panose="020B0604020202020204" pitchFamily="34" charset="0"/>
                  </a:rPr>
                  <a:t> </a:t>
                </a:r>
                <a14:m>
                  <m:oMath xmlns:m="http://schemas.openxmlformats.org/officeDocument/2006/math">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1</m:t>
                        </m:r>
                      </m:num>
                      <m:den>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𝑐</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den>
                    </m:f>
                    <m:r>
                      <a:rPr lang="en-US" sz="2000" b="0" i="1" smtClean="0">
                        <a:latin typeface="Cambria Math" panose="02040503050406030204" pitchFamily="18" charset="0"/>
                        <a:ea typeface="Cambria Math" panose="02040503050406030204" pitchFamily="18" charset="0"/>
                        <a:cs typeface="Arial" panose="020B0604020202020204" pitchFamily="34" charset="0"/>
                      </a:rPr>
                      <m:t> </m:t>
                    </m:r>
                    <m:r>
                      <m:rPr>
                        <m:sty m:val="p"/>
                      </m:rP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𝜙</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sz="2000" b="0" i="1" smtClean="0">
                        <a:latin typeface="Cambria Math" panose="02040503050406030204" pitchFamily="18" charset="0"/>
                        <a:ea typeface="Cambria Math" panose="02040503050406030204" pitchFamily="18" charset="0"/>
                        <a:cs typeface="Arial" panose="020B0604020202020204" pitchFamily="34" charset="0"/>
                      </a:rPr>
                      <m:t> −</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1</m:t>
                        </m:r>
                      </m:num>
                      <m:den>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𝑐</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den>
                    </m:f>
                    <m:f>
                      <m:f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i="1" smtClean="0">
                                <a:latin typeface="Cambria Math" panose="02040503050406030204" pitchFamily="18" charset="0"/>
                                <a:ea typeface="Cambria Math" panose="02040503050406030204" pitchFamily="18" charset="0"/>
                                <a:cs typeface="Arial" panose="020B0604020202020204" pitchFamily="34" charset="0"/>
                              </a:rPr>
                              <m:t>𝜕</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r>
                          <a:rPr lang="en-US" sz="2000" b="0" i="1" smtClean="0">
                            <a:latin typeface="Cambria Math" panose="02040503050406030204" pitchFamily="18" charset="0"/>
                            <a:ea typeface="Cambria Math" panose="02040503050406030204" pitchFamily="18" charset="0"/>
                            <a:cs typeface="Arial" panose="020B0604020202020204" pitchFamily="34" charset="0"/>
                          </a:rPr>
                          <m:t>𝐴</m:t>
                        </m:r>
                      </m:num>
                      <m:den>
                        <m:sSup>
                          <m:sSup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𝑡</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den>
                    </m:f>
                  </m:oMath>
                </a14:m>
                <a:r>
                  <a:rPr lang="en-US" sz="2000" dirty="0">
                    <a:ea typeface="Arial" charset="0"/>
                    <a:cs typeface="Arial" panose="020B0604020202020204" pitchFamily="34" charset="0"/>
                  </a:rPr>
                  <a:t>.  </a:t>
                </a:r>
              </a:p>
              <a:p>
                <a:pPr marL="342900" indent="-342900" algn="l">
                  <a:spcBef>
                    <a:spcPts val="400"/>
                  </a:spcBef>
                  <a:buFont typeface="Arial" panose="020B0604020202020204" pitchFamily="34" charset="0"/>
                  <a:buChar char="•"/>
                </a:pPr>
                <a14:m>
                  <m:oMath xmlns:m="http://schemas.openxmlformats.org/officeDocument/2006/math">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m:rPr>
                            <m:sty m:val="p"/>
                          </m:rPr>
                          <a:rPr lang="en-US" sz="2000" i="1">
                            <a:latin typeface="Cambria Math" panose="02040503050406030204" pitchFamily="18" charset="0"/>
                            <a:ea typeface="Cambria Math" panose="02040503050406030204" pitchFamily="18" charset="0"/>
                            <a:cs typeface="Arial" panose="020B0604020202020204" pitchFamily="34" charset="0"/>
                          </a:rPr>
                          <m:t>∇</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r>
                      <a:rPr lang="en-US" sz="2000" i="1">
                        <a:latin typeface="Cambria Math" panose="02040503050406030204" pitchFamily="18" charset="0"/>
                        <a:ea typeface="Cambria Math" panose="02040503050406030204" pitchFamily="18" charset="0"/>
                        <a:cs typeface="Arial" panose="020B0604020202020204" pitchFamily="34" charset="0"/>
                      </a:rPr>
                      <m:t>𝐴</m:t>
                    </m:r>
                  </m:oMath>
                </a14:m>
                <a:r>
                  <a:rPr lang="en-US" sz="2000" dirty="0">
                    <a:ea typeface="Cambria Math" panose="02040503050406030204" pitchFamily="18" charset="0"/>
                    <a:cs typeface="Arial" panose="020B0604020202020204" pitchFamily="34" charset="0"/>
                  </a:rPr>
                  <a:t> - </a:t>
                </a:r>
                <a14:m>
                  <m:oMath xmlns:m="http://schemas.openxmlformats.org/officeDocument/2006/math">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1</m:t>
                        </m:r>
                      </m:num>
                      <m:den>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𝑐</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den>
                    </m:f>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r>
                          <a:rPr lang="en-US" sz="2000" i="1">
                            <a:latin typeface="Cambria Math" panose="02040503050406030204" pitchFamily="18" charset="0"/>
                            <a:ea typeface="Cambria Math" panose="02040503050406030204" pitchFamily="18" charset="0"/>
                            <a:cs typeface="Arial" panose="020B0604020202020204" pitchFamily="34" charset="0"/>
                          </a:rPr>
                          <m:t>𝐴</m:t>
                        </m:r>
                      </m:num>
                      <m:den>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𝑡</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𝑗</m:t>
                        </m:r>
                      </m:num>
                      <m:den>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𝑐</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i="1" smtClean="0">
                                <a:latin typeface="Cambria Math" panose="02040503050406030204" pitchFamily="18" charset="0"/>
                                <a:ea typeface="Cambria Math" panose="02040503050406030204" pitchFamily="18" charset="0"/>
                                <a:cs typeface="Arial" panose="020B0604020202020204" pitchFamily="34" charset="0"/>
                              </a:rPr>
                              <m:t>𝜖</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0</m:t>
                            </m:r>
                          </m:sub>
                        </m:sSub>
                      </m:den>
                    </m:f>
                    <m:r>
                      <a:rPr lang="en-US" sz="2000" b="0" i="0" smtClean="0">
                        <a:latin typeface="Cambria Math" panose="02040503050406030204" pitchFamily="18" charset="0"/>
                        <a:ea typeface="Cambria Math" panose="02040503050406030204" pitchFamily="18" charset="0"/>
                        <a:cs typeface="Arial" panose="020B0604020202020204" pitchFamily="34" charset="0"/>
                      </a:rPr>
                      <m:t>+</m:t>
                    </m:r>
                    <m:r>
                      <m:rPr>
                        <m:sty m:val="p"/>
                      </m:rP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1</m:t>
                        </m:r>
                      </m:num>
                      <m:den>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𝑐</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den>
                    </m:f>
                    <m:r>
                      <a:rPr lang="en-US" sz="2000" i="1">
                        <a:latin typeface="Cambria Math" panose="02040503050406030204" pitchFamily="18" charset="0"/>
                        <a:ea typeface="Cambria Math" panose="02040503050406030204" pitchFamily="18" charset="0"/>
                        <a:cs typeface="Arial" panose="020B0604020202020204" pitchFamily="34" charset="0"/>
                      </a:rPr>
                      <m:t> </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𝜕𝜙</m:t>
                        </m:r>
                      </m:num>
                      <m:den>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𝑡</m:t>
                        </m:r>
                      </m:den>
                    </m:f>
                    <m:r>
                      <a:rPr lang="en-US" sz="2000" b="0" i="0" smtClean="0">
                        <a:latin typeface="Cambria Math" panose="02040503050406030204" pitchFamily="18" charset="0"/>
                        <a:ea typeface="Cambria Math" panose="02040503050406030204" pitchFamily="18" charset="0"/>
                        <a:cs typeface="Arial" panose="020B0604020202020204" pitchFamily="34" charset="0"/>
                      </a:rPr>
                      <m:t>+</m:t>
                    </m:r>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r>
                          <m:rPr>
                            <m:sty m:val="p"/>
                          </m:rP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𝐴</m:t>
                        </m:r>
                      </m:e>
                    </m:d>
                    <m:r>
                      <a:rPr lang="en-US" sz="2000" b="0" i="1" smtClean="0">
                        <a:latin typeface="Cambria Math" panose="02040503050406030204" pitchFamily="18" charset="0"/>
                        <a:ea typeface="Cambria Math" panose="02040503050406030204" pitchFamily="18" charset="0"/>
                        <a:cs typeface="Arial" panose="020B0604020202020204" pitchFamily="34" charset="0"/>
                      </a:rPr>
                      <m:t>]</m:t>
                    </m:r>
                  </m:oMath>
                </a14:m>
                <a:endParaRPr lang="en-US" sz="2000" dirty="0">
                  <a:ea typeface="Cambria Math" panose="02040503050406030204" pitchFamily="18" charset="0"/>
                  <a:cs typeface="Arial" panose="020B0604020202020204" pitchFamily="34" charset="0"/>
                </a:endParaRPr>
              </a:p>
              <a:p>
                <a:pPr marL="342900" indent="-342900" algn="l">
                  <a:spcBef>
                    <a:spcPts val="400"/>
                  </a:spcBef>
                  <a:buFont typeface="Arial" panose="020B0604020202020204" pitchFamily="34" charset="0"/>
                  <a:buChar char="•"/>
                </a:pPr>
                <a:r>
                  <a:rPr lang="en-US" sz="2000" dirty="0">
                    <a:ea typeface="Cambria Math" panose="02040503050406030204" pitchFamily="18" charset="0"/>
                    <a:cs typeface="Arial" panose="020B0604020202020204" pitchFamily="34" charset="0"/>
                  </a:rPr>
                  <a:t>Now if </a:t>
                </a:r>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𝐴</m:t>
                    </m:r>
                  </m:oMath>
                </a14:m>
                <a:r>
                  <a:rPr lang="en-US" sz="2000" dirty="0">
                    <a:ea typeface="Cambria Math" panose="02040503050406030204" pitchFamily="18" charset="0"/>
                    <a:cs typeface="Arial" panose="020B0604020202020204" pitchFamily="34" charset="0"/>
                  </a:rPr>
                  <a:t> and </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panose="020B0604020202020204" pitchFamily="34" charset="0"/>
                      </a:rPr>
                      <m:t>𝜙</m:t>
                    </m:r>
                  </m:oMath>
                </a14:m>
                <a:r>
                  <a:rPr lang="en-US" sz="2000" dirty="0">
                    <a:ea typeface="Cambria Math" panose="02040503050406030204" pitchFamily="18" charset="0"/>
                    <a:cs typeface="Arial" panose="020B0604020202020204" pitchFamily="34" charset="0"/>
                  </a:rPr>
                  <a:t> give </a:t>
                </a:r>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𝐵</m:t>
                    </m:r>
                    <m:r>
                      <a:rPr lang="en-US" sz="2000" b="0" i="1" smtClean="0">
                        <a:latin typeface="Cambria Math" panose="02040503050406030204" pitchFamily="18" charset="0"/>
                        <a:ea typeface="Cambria Math" panose="02040503050406030204" pitchFamily="18" charset="0"/>
                        <a:cs typeface="Arial" panose="020B0604020202020204" pitchFamily="34" charset="0"/>
                      </a:rPr>
                      <m:t>= </m:t>
                    </m:r>
                    <m:r>
                      <m:rPr>
                        <m:sty m:val="p"/>
                      </m:rP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𝐴</m:t>
                    </m:r>
                  </m:oMath>
                </a14:m>
                <a:r>
                  <a:rPr lang="en-US" sz="2000" dirty="0">
                    <a:ea typeface="Cambria Math" panose="02040503050406030204" pitchFamily="18" charset="0"/>
                    <a:cs typeface="Arial" panose="020B0604020202020204" pitchFamily="34" charset="0"/>
                  </a:rPr>
                  <a:t> and </a:t>
                </a:r>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𝐸</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m:rPr>
                        <m:sty m:val="p"/>
                      </m:rP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𝜙</m:t>
                    </m:r>
                    <m:r>
                      <a:rPr lang="en-US" sz="2000" i="1">
                        <a:latin typeface="Cambria Math" panose="02040503050406030204" pitchFamily="18" charset="0"/>
                        <a:ea typeface="Cambria Math" panose="02040503050406030204" pitchFamily="18" charset="0"/>
                        <a:cs typeface="Arial" panose="020B0604020202020204" pitchFamily="34" charset="0"/>
                      </a:rPr>
                      <m:t>−</m:t>
                    </m:r>
                    <m:f>
                      <m:fPr>
                        <m:ctrlPr>
                          <a:rPr lang="en-US" sz="2000" i="1">
                            <a:latin typeface="Cambria Math" panose="02040503050406030204" pitchFamily="18" charset="0"/>
                            <a:ea typeface="Cambria Math" panose="02040503050406030204" pitchFamily="18" charset="0"/>
                            <a:cs typeface="Arial" charset="0"/>
                          </a:rPr>
                        </m:ctrlPr>
                      </m:fPr>
                      <m:num>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𝐴</m:t>
                        </m:r>
                      </m:num>
                      <m:den>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𝑡</m:t>
                        </m:r>
                      </m:den>
                    </m:f>
                  </m:oMath>
                </a14:m>
                <a:r>
                  <a:rPr lang="en-US" sz="2000" dirty="0">
                    <a:ea typeface="Cambria Math" panose="02040503050406030204" pitchFamily="18" charset="0"/>
                    <a:cs typeface="Arial" panose="020B0604020202020204" pitchFamily="34" charset="0"/>
                  </a:rPr>
                  <a:t>, then </a:t>
                </a:r>
                <a14:m>
                  <m:oMath xmlns:m="http://schemas.openxmlformats.org/officeDocument/2006/math">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𝐴</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m:t>
                        </m:r>
                      </m:sup>
                    </m:sSup>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𝐴</m:t>
                    </m:r>
                    <m:r>
                      <a:rPr lang="en-US" sz="2000" b="0" i="1" smtClean="0">
                        <a:latin typeface="Cambria Math" panose="02040503050406030204" pitchFamily="18" charset="0"/>
                        <a:ea typeface="Cambria Math" panose="02040503050406030204" pitchFamily="18" charset="0"/>
                        <a:cs typeface="Arial" panose="020B0604020202020204" pitchFamily="34" charset="0"/>
                      </a:rPr>
                      <m:t>+ </m:t>
                    </m:r>
                    <m:r>
                      <m:rPr>
                        <m:sty m:val="p"/>
                      </m:rP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𝜑</m:t>
                    </m:r>
                  </m:oMath>
                </a14:m>
                <a:r>
                  <a:rPr lang="en-US" sz="2000" dirty="0">
                    <a:ea typeface="Cambria Math" panose="02040503050406030204" pitchFamily="18" charset="0"/>
                    <a:cs typeface="Arial" panose="020B0604020202020204" pitchFamily="34" charset="0"/>
                  </a:rPr>
                  <a:t> and </a:t>
                </a:r>
                <a14:m>
                  <m:oMath xmlns:m="http://schemas.openxmlformats.org/officeDocument/2006/math">
                    <m:sSup>
                      <m:sSup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i="1" smtClean="0">
                            <a:latin typeface="Cambria Math" panose="02040503050406030204" pitchFamily="18" charset="0"/>
                            <a:ea typeface="Cambria Math" panose="02040503050406030204" pitchFamily="18" charset="0"/>
                            <a:cs typeface="Arial" panose="020B0604020202020204" pitchFamily="34" charset="0"/>
                          </a:rPr>
                          <m:t>𝜙</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m:t>
                        </m:r>
                      </m:sup>
                    </m:sSup>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𝜙</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𝜕𝜑</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𝑡</m:t>
                        </m:r>
                      </m:den>
                    </m:f>
                  </m:oMath>
                </a14:m>
                <a:r>
                  <a:rPr lang="en-US" sz="2000" dirty="0">
                    <a:ea typeface="Cambria Math" panose="02040503050406030204" pitchFamily="18" charset="0"/>
                    <a:cs typeface="Arial" panose="020B0604020202020204" pitchFamily="34" charset="0"/>
                  </a:rPr>
                  <a:t> give </a:t>
                </a:r>
                <a14:m>
                  <m:oMath xmlns:m="http://schemas.openxmlformats.org/officeDocument/2006/math">
                    <m:r>
                      <a:rPr lang="en-US" sz="2000" i="1">
                        <a:latin typeface="Cambria Math" panose="02040503050406030204" pitchFamily="18" charset="0"/>
                        <a:ea typeface="Cambria Math" panose="02040503050406030204" pitchFamily="18" charset="0"/>
                        <a:cs typeface="Arial" panose="020B0604020202020204" pitchFamily="34" charset="0"/>
                      </a:rPr>
                      <m:t>𝐵</m:t>
                    </m:r>
                    <m:r>
                      <a:rPr lang="en-US" sz="2000" i="1">
                        <a:latin typeface="Cambria Math" panose="02040503050406030204" pitchFamily="18" charset="0"/>
                        <a:ea typeface="Cambria Math" panose="02040503050406030204" pitchFamily="18" charset="0"/>
                        <a:cs typeface="Arial" panose="020B0604020202020204" pitchFamily="34" charset="0"/>
                      </a:rPr>
                      <m:t>= </m:t>
                    </m:r>
                    <m:r>
                      <m:rPr>
                        <m:sty m:val="p"/>
                      </m:rP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𝐴</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oMath>
                </a14:m>
                <a:r>
                  <a:rPr lang="en-US" sz="2000" dirty="0">
                    <a:ea typeface="Cambria Math" panose="02040503050406030204" pitchFamily="18" charset="0"/>
                    <a:cs typeface="Arial" panose="020B060402020202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cs typeface="Arial" panose="020B0604020202020204" pitchFamily="34" charset="0"/>
                      </a:rPr>
                      <m:t>𝐸</m:t>
                    </m:r>
                    <m:r>
                      <a:rPr lang="en-US" sz="2000" i="1">
                        <a:latin typeface="Cambria Math" panose="02040503050406030204" pitchFamily="18" charset="0"/>
                        <a:ea typeface="Cambria Math" panose="02040503050406030204" pitchFamily="18" charset="0"/>
                        <a:cs typeface="Arial" panose="020B0604020202020204" pitchFamily="34" charset="0"/>
                      </a:rPr>
                      <m:t>=−</m:t>
                    </m:r>
                    <m:r>
                      <m:rPr>
                        <m:sty m:val="p"/>
                      </m:rPr>
                      <a:rPr lang="en-US" sz="2000" i="1">
                        <a:latin typeface="Cambria Math" panose="02040503050406030204" pitchFamily="18" charset="0"/>
                        <a:ea typeface="Cambria Math" panose="02040503050406030204" pitchFamily="18" charset="0"/>
                        <a:cs typeface="Arial" panose="020B0604020202020204" pitchFamily="34" charset="0"/>
                      </a:rPr>
                      <m:t>∇</m:t>
                    </m:r>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𝜙</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m:t>
                        </m:r>
                      </m:sup>
                    </m:sSup>
                    <m:r>
                      <a:rPr lang="en-US" sz="2000" i="1">
                        <a:latin typeface="Cambria Math" panose="02040503050406030204" pitchFamily="18" charset="0"/>
                        <a:ea typeface="Cambria Math" panose="02040503050406030204" pitchFamily="18" charset="0"/>
                        <a:cs typeface="Arial" panose="020B0604020202020204" pitchFamily="34" charset="0"/>
                      </a:rPr>
                      <m:t>−</m:t>
                    </m:r>
                    <m:f>
                      <m:fPr>
                        <m:ctrlPr>
                          <a:rPr lang="en-US" sz="2000" i="1">
                            <a:latin typeface="Cambria Math" panose="02040503050406030204" pitchFamily="18" charset="0"/>
                            <a:ea typeface="Cambria Math" panose="02040503050406030204" pitchFamily="18" charset="0"/>
                            <a:cs typeface="Arial" charset="0"/>
                          </a:rPr>
                        </m:ctrlPr>
                      </m:fPr>
                      <m:num>
                        <m:r>
                          <a:rPr lang="en-US" sz="2000" i="1">
                            <a:latin typeface="Cambria Math" panose="02040503050406030204" pitchFamily="18" charset="0"/>
                            <a:ea typeface="Cambria Math" panose="02040503050406030204" pitchFamily="18" charset="0"/>
                            <a:cs typeface="Arial" charset="0"/>
                          </a:rPr>
                          <m:t>𝜕</m:t>
                        </m:r>
                        <m:sSup>
                          <m:sSupPr>
                            <m:ctrlPr>
                              <a:rPr lang="en-US" sz="2000" b="0" i="1" smtClean="0">
                                <a:latin typeface="Cambria Math" panose="02040503050406030204" pitchFamily="18" charset="0"/>
                                <a:ea typeface="Cambria Math" panose="02040503050406030204" pitchFamily="18" charset="0"/>
                                <a:cs typeface="Arial" charset="0"/>
                              </a:rPr>
                            </m:ctrlPr>
                          </m:sSupPr>
                          <m:e>
                            <m:r>
                              <a:rPr lang="en-US" sz="2000" b="0" i="1" smtClean="0">
                                <a:latin typeface="Cambria Math" panose="02040503050406030204" pitchFamily="18" charset="0"/>
                                <a:ea typeface="Cambria Math" panose="02040503050406030204" pitchFamily="18" charset="0"/>
                                <a:cs typeface="Arial" charset="0"/>
                              </a:rPr>
                              <m:t>𝐴</m:t>
                            </m:r>
                          </m:e>
                          <m:sup>
                            <m:r>
                              <a:rPr lang="en-US" sz="2000" b="0" i="1" smtClean="0">
                                <a:latin typeface="Cambria Math" panose="02040503050406030204" pitchFamily="18" charset="0"/>
                                <a:ea typeface="Cambria Math" panose="02040503050406030204" pitchFamily="18" charset="0"/>
                                <a:cs typeface="Arial" charset="0"/>
                              </a:rPr>
                              <m:t>′</m:t>
                            </m:r>
                          </m:sup>
                        </m:sSup>
                      </m:num>
                      <m:den>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𝑡</m:t>
                        </m:r>
                      </m:den>
                    </m:f>
                    <m:r>
                      <a:rPr lang="en-US" sz="2000" b="0" i="0" smtClean="0">
                        <a:latin typeface="Cambria Math" panose="02040503050406030204" pitchFamily="18" charset="0"/>
                        <a:ea typeface="Cambria Math" panose="02040503050406030204" pitchFamily="18" charset="0"/>
                        <a:cs typeface="Arial" charset="0"/>
                      </a:rPr>
                      <m:t>,</m:t>
                    </m:r>
                  </m:oMath>
                </a14:m>
                <a:r>
                  <a:rPr lang="en-US" sz="2000" dirty="0">
                    <a:ea typeface="Arial" charset="0"/>
                    <a:cs typeface="Arial" charset="0"/>
                  </a:rPr>
                  <a:t> for any function </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charset="0"/>
                      </a:rPr>
                      <m:t>𝜑</m:t>
                    </m:r>
                  </m:oMath>
                </a14:m>
                <a:endParaRPr lang="en-US" sz="2000" dirty="0">
                  <a:ea typeface="Arial" charset="0"/>
                  <a:cs typeface="Arial" charset="0"/>
                </a:endParaRPr>
              </a:p>
              <a:p>
                <a:pPr algn="l"/>
                <a:endParaRPr lang="en-US" sz="2000" dirty="0">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8868" y="1694367"/>
                <a:ext cx="10367515" cy="4306383"/>
              </a:xfrm>
              <a:blipFill>
                <a:blip r:embed="rId3"/>
                <a:stretch>
                  <a:fillRect l="-490" t="-1765"/>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a:xfrm>
            <a:off x="9563100" y="6301927"/>
            <a:ext cx="2133600" cy="365125"/>
          </a:xfrm>
        </p:spPr>
        <p:txBody>
          <a:bodyPr/>
          <a:lstStyle/>
          <a:p>
            <a:fld id="{FA32F8ED-EEB4-4D51-9E8E-3B145D9B9811}" type="slidenum">
              <a:rPr lang="en-US" smtClean="0"/>
              <a:pPr/>
              <a:t>28</a:t>
            </a:fld>
            <a:endParaRPr lang="en-US" dirty="0"/>
          </a:p>
        </p:txBody>
      </p:sp>
    </p:spTree>
    <p:extLst>
      <p:ext uri="{BB962C8B-B14F-4D97-AF65-F5344CB8AC3E}">
        <p14:creationId xmlns:p14="http://schemas.microsoft.com/office/powerpoint/2010/main" val="39528723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043" y="125413"/>
            <a:ext cx="11675166" cy="868362"/>
          </a:xfrm>
        </p:spPr>
        <p:txBody>
          <a:bodyPr anchor="ctr">
            <a:normAutofit/>
          </a:bodyPr>
          <a:lstStyle/>
          <a:p>
            <a:pPr algn="ctr"/>
            <a:r>
              <a:rPr lang="en-US" sz="4400" dirty="0">
                <a:latin typeface="Calibri" panose="020F0502020204030204" pitchFamily="34" charset="0"/>
                <a:cs typeface="Calibri" panose="020F0502020204030204" pitchFamily="34" charset="0"/>
              </a:rPr>
              <a:t>General solution to Maxwell’s equations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42707" y="1796601"/>
                <a:ext cx="9628911" cy="4947416"/>
              </a:xfrm>
            </p:spPr>
            <p:txBody>
              <a:bodyPr>
                <a:noAutofit/>
              </a:bodyPr>
              <a:lstStyle/>
              <a:p>
                <a:pPr marL="342900" indent="-342900" algn="l">
                  <a:buFont typeface="Arial" panose="020B0604020202020204" pitchFamily="34" charset="0"/>
                  <a:buChar char="•"/>
                </a:pPr>
                <a:endParaRPr lang="en-US" sz="2000" dirty="0">
                  <a:latin typeface="Arial" panose="020B0604020202020204" pitchFamily="34" charset="0"/>
                  <a:ea typeface="Cambria Math" panose="02040503050406030204" pitchFamily="18" charset="0"/>
                  <a:cs typeface="Arial" panose="020B0604020202020204" pitchFamily="34" charset="0"/>
                </a:endParaRPr>
              </a:p>
              <a:p>
                <a:pPr marL="342900" indent="-342900" algn="l">
                  <a:spcBef>
                    <a:spcPts val="400"/>
                  </a:spcBef>
                  <a:buFont typeface="Arial" panose="020B0604020202020204" pitchFamily="34" charset="0"/>
                  <a:buChar char="•"/>
                </a:pPr>
                <a:r>
                  <a:rPr lang="en-US" sz="2000" dirty="0">
                    <a:latin typeface="Calibri" panose="020F0502020204030204" pitchFamily="34" charset="0"/>
                    <a:ea typeface="Cambria Math" panose="02040503050406030204" pitchFamily="18" charset="0"/>
                    <a:cs typeface="Calibri" panose="020F0502020204030204" pitchFamily="34" charset="0"/>
                  </a:rPr>
                  <a:t>Thus, we can pick a solution </a:t>
                </a:r>
                <a14:m>
                  <m:oMath xmlns:m="http://schemas.openxmlformats.org/officeDocument/2006/math">
                    <m:d>
                      <m:dPr>
                        <m:ctrlPr>
                          <a:rPr lang="en-US" sz="2000" b="0" i="1" dirty="0" smtClean="0">
                            <a:latin typeface="Cambria Math" panose="02040503050406030204" pitchFamily="18" charset="0"/>
                            <a:ea typeface="Cambria Math" panose="02040503050406030204" pitchFamily="18" charset="0"/>
                            <a:cs typeface="Arial" panose="020B0604020202020204" pitchFamily="34" charset="0"/>
                          </a:rPr>
                        </m:ctrlPr>
                      </m:dPr>
                      <m:e>
                        <m:r>
                          <a:rPr lang="en-US" sz="2000" b="0" i="1" dirty="0" smtClean="0">
                            <a:latin typeface="Cambria Math" panose="02040503050406030204" pitchFamily="18" charset="0"/>
                            <a:ea typeface="Cambria Math" panose="02040503050406030204" pitchFamily="18" charset="0"/>
                            <a:cs typeface="Arial" panose="020B0604020202020204" pitchFamily="34" charset="0"/>
                          </a:rPr>
                          <m:t>𝐴</m:t>
                        </m:r>
                        <m:r>
                          <a:rPr lang="en-US" sz="2000" b="0" i="1" dirty="0" smtClean="0">
                            <a:latin typeface="Cambria Math" panose="02040503050406030204" pitchFamily="18" charset="0"/>
                            <a:ea typeface="Cambria Math" panose="02040503050406030204" pitchFamily="18" charset="0"/>
                            <a:cs typeface="Arial" panose="020B0604020202020204" pitchFamily="34" charset="0"/>
                          </a:rPr>
                          <m:t>, </m:t>
                        </m:r>
                        <m:r>
                          <a:rPr lang="en-US" sz="2000" b="0" i="1" dirty="0" smtClean="0">
                            <a:latin typeface="Cambria Math" panose="02040503050406030204" pitchFamily="18" charset="0"/>
                            <a:ea typeface="Cambria Math" panose="02040503050406030204" pitchFamily="18" charset="0"/>
                            <a:cs typeface="Arial" panose="020B0604020202020204" pitchFamily="34" charset="0"/>
                          </a:rPr>
                          <m:t>𝜙</m:t>
                        </m:r>
                      </m:e>
                    </m:d>
                  </m:oMath>
                </a14:m>
                <a:r>
                  <a:rPr lang="en-US" sz="2000" dirty="0">
                    <a:latin typeface="Calibri" panose="020F0502020204030204" pitchFamily="34" charset="0"/>
                    <a:ea typeface="Cambria Math" panose="02040503050406030204" pitchFamily="18" charset="0"/>
                    <a:cs typeface="Calibri" panose="020F0502020204030204" pitchFamily="34" charset="0"/>
                  </a:rPr>
                  <a:t>with </a:t>
                </a:r>
                <a14:m>
                  <m:oMath xmlns:m="http://schemas.openxmlformats.org/officeDocument/2006/math">
                    <m:r>
                      <a:rPr lang="en-US" sz="2000" b="0" i="0" smtClean="0">
                        <a:latin typeface="Cambria Math" panose="02040503050406030204" pitchFamily="18" charset="0"/>
                        <a:ea typeface="Cambria Math" panose="02040503050406030204" pitchFamily="18" charset="0"/>
                        <a:cs typeface="Arial" panose="020B0604020202020204" pitchFamily="34" charset="0"/>
                      </a:rPr>
                      <m:t> </m:t>
                    </m:r>
                    <m:r>
                      <m:rPr>
                        <m:sty m:val="p"/>
                      </m:rP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𝐴</m:t>
                    </m:r>
                    <m:r>
                      <a:rPr lang="en-US" sz="2000" i="1">
                        <a:latin typeface="Cambria Math" panose="02040503050406030204" pitchFamily="18" charset="0"/>
                        <a:ea typeface="Cambria Math" panose="02040503050406030204" pitchFamily="18" charset="0"/>
                        <a:cs typeface="Arial" panose="020B0604020202020204" pitchFamily="34" charset="0"/>
                      </a:rPr>
                      <m:t>=− </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1</m:t>
                        </m:r>
                      </m:num>
                      <m:den>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𝑐</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den>
                    </m:f>
                    <m:r>
                      <a:rPr lang="en-US" sz="2000" i="1">
                        <a:latin typeface="Cambria Math" panose="02040503050406030204" pitchFamily="18" charset="0"/>
                        <a:ea typeface="Cambria Math" panose="02040503050406030204" pitchFamily="18" charset="0"/>
                        <a:cs typeface="Arial" panose="020B0604020202020204" pitchFamily="34" charset="0"/>
                      </a:rPr>
                      <m:t> </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𝜕𝜙</m:t>
                        </m:r>
                      </m:num>
                      <m:den>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𝑡</m:t>
                        </m:r>
                      </m:den>
                    </m:f>
                  </m:oMath>
                </a14:m>
                <a:r>
                  <a:rPr lang="en-US" sz="2000" dirty="0">
                    <a:latin typeface="Calibri" panose="020F0502020204030204" pitchFamily="34" charset="0"/>
                    <a:ea typeface="Cambria Math" panose="02040503050406030204" pitchFamily="18" charset="0"/>
                    <a:cs typeface="Calibri" panose="020F0502020204030204" pitchFamily="34" charset="0"/>
                  </a:rPr>
                  <a:t>.  Then we get</a:t>
                </a:r>
              </a:p>
              <a:p>
                <a:pPr marL="342900" indent="-342900" algn="l">
                  <a:spcBef>
                    <a:spcPts val="400"/>
                  </a:spcBef>
                  <a:buFont typeface="Arial" panose="020B0604020202020204" pitchFamily="34" charset="0"/>
                  <a:buChar char="•"/>
                </a:pPr>
                <a14:m>
                  <m:oMath xmlns:m="http://schemas.openxmlformats.org/officeDocument/2006/math">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m:rPr>
                            <m:sty m:val="p"/>
                          </m:rPr>
                          <a:rPr lang="en-US" sz="2000" i="1">
                            <a:latin typeface="Cambria Math" panose="02040503050406030204" pitchFamily="18" charset="0"/>
                            <a:ea typeface="Cambria Math" panose="02040503050406030204" pitchFamily="18" charset="0"/>
                            <a:cs typeface="Arial" panose="020B0604020202020204" pitchFamily="34" charset="0"/>
                          </a:rPr>
                          <m:t>∇</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r>
                      <a:rPr lang="en-US" sz="2000" i="1">
                        <a:latin typeface="Cambria Math" panose="02040503050406030204" pitchFamily="18" charset="0"/>
                        <a:ea typeface="Cambria Math" panose="02040503050406030204" pitchFamily="18" charset="0"/>
                        <a:cs typeface="Arial" panose="020B0604020202020204" pitchFamily="34" charset="0"/>
                      </a:rPr>
                      <m:t>𝐴</m:t>
                    </m:r>
                  </m:oMath>
                </a14:m>
                <a:r>
                  <a:rPr lang="en-US" sz="2000" dirty="0">
                    <a:latin typeface="Calibri" panose="020F0502020204030204" pitchFamily="34" charset="0"/>
                    <a:ea typeface="Cambria Math" panose="02040503050406030204" pitchFamily="18" charset="0"/>
                    <a:cs typeface="Calibri" panose="020F0502020204030204" pitchFamily="34" charset="0"/>
                  </a:rPr>
                  <a:t> - </a:t>
                </a:r>
                <a14:m>
                  <m:oMath xmlns:m="http://schemas.openxmlformats.org/officeDocument/2006/math">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1</m:t>
                        </m:r>
                      </m:num>
                      <m:den>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𝑐</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den>
                    </m:f>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r>
                          <a:rPr lang="en-US" sz="2000" i="1">
                            <a:latin typeface="Cambria Math" panose="02040503050406030204" pitchFamily="18" charset="0"/>
                            <a:ea typeface="Cambria Math" panose="02040503050406030204" pitchFamily="18" charset="0"/>
                            <a:cs typeface="Arial" panose="020B0604020202020204" pitchFamily="34" charset="0"/>
                          </a:rPr>
                          <m:t>𝐴</m:t>
                        </m:r>
                      </m:num>
                      <m:den>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𝑡</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den>
                    </m:f>
                    <m:r>
                      <a:rPr lang="en-US" sz="2000" i="1">
                        <a:latin typeface="Cambria Math" panose="02040503050406030204" pitchFamily="18" charset="0"/>
                        <a:ea typeface="Cambria Math" panose="02040503050406030204" pitchFamily="18" charset="0"/>
                        <a:cs typeface="Arial" panose="020B0604020202020204" pitchFamily="34" charset="0"/>
                      </a:rPr>
                      <m:t>=−</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𝑗</m:t>
                        </m:r>
                      </m:num>
                      <m:den>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𝑐</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𝜖</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den>
                    </m:f>
                  </m:oMath>
                </a14:m>
                <a:endParaRPr lang="en-US" sz="2000" dirty="0">
                  <a:latin typeface="Calibri" panose="020F0502020204030204" pitchFamily="34" charset="0"/>
                  <a:ea typeface="Cambria Math" panose="02040503050406030204" pitchFamily="18" charset="0"/>
                  <a:cs typeface="Calibri" panose="020F0502020204030204" pitchFamily="34" charset="0"/>
                </a:endParaRPr>
              </a:p>
              <a:p>
                <a:pPr marL="342900" indent="-342900" algn="l">
                  <a:spcBef>
                    <a:spcPts val="400"/>
                  </a:spcBef>
                  <a:buFont typeface="Arial" panose="020B0604020202020204" pitchFamily="34" charset="0"/>
                  <a:buChar char="•"/>
                </a:pPr>
                <a:r>
                  <a:rPr lang="en-US" sz="2000" dirty="0">
                    <a:latin typeface="Calibri" panose="020F0502020204030204" pitchFamily="34" charset="0"/>
                    <a:ea typeface="Cambria Math" panose="02040503050406030204" pitchFamily="18" charset="0"/>
                    <a:cs typeface="Calibri" panose="020F0502020204030204" pitchFamily="34" charset="0"/>
                  </a:rPr>
                  <a:t>Substituting for </a:t>
                </a:r>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𝐸</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m:rPr>
                        <m:sty m:val="p"/>
                      </m:rP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𝜙</m:t>
                    </m:r>
                    <m:r>
                      <a:rPr lang="en-US" sz="2000" i="1">
                        <a:latin typeface="Cambria Math" panose="02040503050406030204" pitchFamily="18" charset="0"/>
                        <a:ea typeface="Cambria Math" panose="02040503050406030204" pitchFamily="18" charset="0"/>
                        <a:cs typeface="Arial" charset="0"/>
                      </a:rPr>
                      <m:t>−</m:t>
                    </m:r>
                    <m:f>
                      <m:fPr>
                        <m:ctrlPr>
                          <a:rPr lang="en-US" sz="2000" i="1">
                            <a:latin typeface="Cambria Math" panose="02040503050406030204" pitchFamily="18" charset="0"/>
                            <a:ea typeface="Cambria Math" panose="02040503050406030204" pitchFamily="18" charset="0"/>
                            <a:cs typeface="Arial" charset="0"/>
                          </a:rPr>
                        </m:ctrlPr>
                      </m:fPr>
                      <m:num>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𝐴</m:t>
                        </m:r>
                      </m:num>
                      <m:den>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𝑡</m:t>
                        </m:r>
                      </m:den>
                    </m:f>
                  </m:oMath>
                </a14:m>
                <a:r>
                  <a:rPr lang="en-US" sz="2000" dirty="0">
                    <a:latin typeface="Calibri" panose="020F0502020204030204" pitchFamily="34" charset="0"/>
                    <a:ea typeface="Cambria Math" panose="02040503050406030204" pitchFamily="18" charset="0"/>
                    <a:cs typeface="Calibri" panose="020F0502020204030204" pitchFamily="34" charset="0"/>
                  </a:rPr>
                  <a:t> into </a:t>
                </a:r>
                <a14:m>
                  <m:oMath xmlns:m="http://schemas.openxmlformats.org/officeDocument/2006/math">
                    <m:r>
                      <m:rPr>
                        <m:sty m:val="p"/>
                      </m:rP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m:t>
                    </m:r>
                    <m:r>
                      <m:rPr>
                        <m:sty m:val="p"/>
                      </m:rPr>
                      <a:rPr lang="en-US" sz="2000" i="1">
                        <a:latin typeface="Cambria Math" panose="02040503050406030204" pitchFamily="18" charset="0"/>
                        <a:ea typeface="Cambria Math" panose="02040503050406030204" pitchFamily="18" charset="0"/>
                        <a:cs typeface="Arial" charset="0"/>
                      </a:rPr>
                      <m:t>E</m:t>
                    </m:r>
                    <m:r>
                      <a:rPr lang="en-US" sz="2000" i="1">
                        <a:latin typeface="Cambria Math" panose="02040503050406030204" pitchFamily="18" charset="0"/>
                        <a:ea typeface="Cambria Math" panose="02040503050406030204" pitchFamily="18" charset="0"/>
                        <a:cs typeface="Arial" charset="0"/>
                      </a:rPr>
                      <m:t>= </m:t>
                    </m:r>
                    <m:f>
                      <m:fPr>
                        <m:ctrlPr>
                          <a:rPr lang="en-US" sz="2000" i="1">
                            <a:latin typeface="Cambria Math" panose="02040503050406030204" pitchFamily="18" charset="0"/>
                            <a:ea typeface="Cambria Math" panose="02040503050406030204" pitchFamily="18" charset="0"/>
                            <a:cs typeface="Arial" charset="0"/>
                          </a:rPr>
                        </m:ctrlPr>
                      </m:fPr>
                      <m:num>
                        <m:r>
                          <a:rPr lang="en-US" sz="2000" i="1">
                            <a:latin typeface="Cambria Math" panose="02040503050406030204" pitchFamily="18" charset="0"/>
                            <a:ea typeface="Cambria Math" panose="02040503050406030204" pitchFamily="18" charset="0"/>
                            <a:cs typeface="Arial" charset="0"/>
                          </a:rPr>
                          <m:t>𝜌</m:t>
                        </m:r>
                      </m:num>
                      <m:den>
                        <m:sSub>
                          <m:sSubPr>
                            <m:ctrlPr>
                              <a:rPr lang="en-US" sz="2000" i="1">
                                <a:latin typeface="Cambria Math" panose="02040503050406030204" pitchFamily="18" charset="0"/>
                                <a:ea typeface="Cambria Math" panose="02040503050406030204" pitchFamily="18" charset="0"/>
                                <a:cs typeface="Arial" charset="0"/>
                              </a:rPr>
                            </m:ctrlPr>
                          </m:sSubPr>
                          <m:e>
                            <m:r>
                              <a:rPr lang="en-US" sz="2000" i="1">
                                <a:latin typeface="Cambria Math" panose="02040503050406030204" pitchFamily="18" charset="0"/>
                                <a:ea typeface="Cambria Math" panose="02040503050406030204" pitchFamily="18" charset="0"/>
                                <a:cs typeface="Arial" charset="0"/>
                              </a:rPr>
                              <m:t>𝜖</m:t>
                            </m:r>
                          </m:e>
                          <m:sub>
                            <m:r>
                              <a:rPr lang="en-US" sz="2000" i="1">
                                <a:latin typeface="Cambria Math" panose="02040503050406030204" pitchFamily="18" charset="0"/>
                                <a:ea typeface="Cambria Math" panose="02040503050406030204" pitchFamily="18" charset="0"/>
                                <a:cs typeface="Arial" charset="0"/>
                              </a:rPr>
                              <m:t>0</m:t>
                            </m:r>
                          </m:sub>
                        </m:sSub>
                      </m:den>
                    </m:f>
                    <m:r>
                      <a:rPr lang="en-US" sz="2000" i="1">
                        <a:latin typeface="Cambria Math" panose="02040503050406030204" pitchFamily="18" charset="0"/>
                        <a:ea typeface="Cambria Math" panose="02040503050406030204" pitchFamily="18" charset="0"/>
                        <a:cs typeface="Arial" charset="0"/>
                      </a:rPr>
                      <m:t> </m:t>
                    </m:r>
                  </m:oMath>
                </a14:m>
                <a:r>
                  <a:rPr lang="en-US" sz="2000" dirty="0">
                    <a:latin typeface="Calibri" panose="020F0502020204030204" pitchFamily="34" charset="0"/>
                    <a:ea typeface="Arial" charset="0"/>
                    <a:cs typeface="Calibri" panose="020F0502020204030204" pitchFamily="34" charset="0"/>
                  </a:rPr>
                  <a:t>, we get </a:t>
                </a:r>
                <a:endParaRPr lang="en-US" sz="2000" i="1" dirty="0">
                  <a:latin typeface="Calibri" panose="020F0502020204030204" pitchFamily="34" charset="0"/>
                  <a:ea typeface="Cambria Math" panose="02040503050406030204" pitchFamily="18" charset="0"/>
                  <a:cs typeface="Calibri" panose="020F0502020204030204" pitchFamily="34" charset="0"/>
                </a:endParaRPr>
              </a:p>
              <a:p>
                <a:pPr marL="342900" indent="-342900" algn="l">
                  <a:spcBef>
                    <a:spcPts val="400"/>
                  </a:spcBef>
                  <a:buFont typeface="Arial" panose="020B0604020202020204" pitchFamily="34" charset="0"/>
                  <a:buChar char="•"/>
                </a:pPr>
                <a14:m>
                  <m:oMath xmlns:m="http://schemas.openxmlformats.org/officeDocument/2006/math">
                    <m:r>
                      <m:rPr>
                        <m:sty m:val="p"/>
                      </m:rP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m:t>
                    </m:r>
                    <m:d>
                      <m:dPr>
                        <m:ctrlPr>
                          <a:rPr lang="en-US" sz="2000" i="1">
                            <a:latin typeface="Cambria Math" panose="02040503050406030204" pitchFamily="18" charset="0"/>
                            <a:ea typeface="Cambria Math" panose="02040503050406030204" pitchFamily="18" charset="0"/>
                            <a:cs typeface="Arial" charset="0"/>
                          </a:rPr>
                        </m:ctrlPr>
                      </m:dPr>
                      <m:e>
                        <m:r>
                          <m:rPr>
                            <m:sty m:val="p"/>
                          </m:rP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𝜙</m:t>
                        </m:r>
                      </m:e>
                    </m:d>
                    <m:r>
                      <a:rPr lang="en-US" sz="2000" b="0" i="1" smtClean="0">
                        <a:latin typeface="Cambria Math" panose="02040503050406030204" pitchFamily="18" charset="0"/>
                        <a:ea typeface="Cambria Math" panose="02040503050406030204" pitchFamily="18" charset="0"/>
                        <a:cs typeface="Arial" charset="0"/>
                      </a:rPr>
                      <m:t>+ </m:t>
                    </m:r>
                    <m:f>
                      <m:fPr>
                        <m:ctrlPr>
                          <a:rPr lang="en-US" sz="2000" b="0" i="1" smtClean="0">
                            <a:latin typeface="Cambria Math" panose="02040503050406030204" pitchFamily="18" charset="0"/>
                            <a:ea typeface="Cambria Math" panose="02040503050406030204" pitchFamily="18" charset="0"/>
                            <a:cs typeface="Arial" charset="0"/>
                          </a:rPr>
                        </m:ctrlPr>
                      </m:fPr>
                      <m:num>
                        <m:r>
                          <a:rPr lang="en-US" sz="2000" b="0" i="1" smtClean="0">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 </m:t>
                        </m:r>
                        <m:r>
                          <m:rPr>
                            <m:sty m:val="p"/>
                          </m:rPr>
                          <a:rPr lang="en-US" sz="2000" b="0" i="1" smtClean="0">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𝐴</m:t>
                        </m:r>
                      </m:num>
                      <m:den>
                        <m:r>
                          <a:rPr lang="en-US" sz="2000" b="0" i="1" smtClean="0">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𝑡</m:t>
                        </m:r>
                      </m:den>
                    </m:f>
                    <m:r>
                      <a:rPr lang="en-US" sz="2000" b="0" i="1" smtClean="0">
                        <a:latin typeface="Cambria Math" panose="02040503050406030204" pitchFamily="18" charset="0"/>
                        <a:ea typeface="Cambria Math" panose="02040503050406030204" pitchFamily="18" charset="0"/>
                        <a:cs typeface="Arial" charset="0"/>
                      </a:rPr>
                      <m:t> =−</m:t>
                    </m:r>
                    <m:f>
                      <m:fPr>
                        <m:ctrlPr>
                          <a:rPr lang="en-US" sz="2000" i="1">
                            <a:latin typeface="Cambria Math" panose="02040503050406030204" pitchFamily="18" charset="0"/>
                            <a:ea typeface="Cambria Math" panose="02040503050406030204" pitchFamily="18" charset="0"/>
                            <a:cs typeface="Arial" charset="0"/>
                          </a:rPr>
                        </m:ctrlPr>
                      </m:fPr>
                      <m:num>
                        <m:r>
                          <a:rPr lang="en-US" sz="2000" i="1">
                            <a:latin typeface="Cambria Math" panose="02040503050406030204" pitchFamily="18" charset="0"/>
                            <a:ea typeface="Cambria Math" panose="02040503050406030204" pitchFamily="18" charset="0"/>
                            <a:cs typeface="Arial" charset="0"/>
                          </a:rPr>
                          <m:t>𝜌</m:t>
                        </m:r>
                      </m:num>
                      <m:den>
                        <m:sSub>
                          <m:sSubPr>
                            <m:ctrlPr>
                              <a:rPr lang="en-US" sz="2000" i="1">
                                <a:latin typeface="Cambria Math" panose="02040503050406030204" pitchFamily="18" charset="0"/>
                                <a:ea typeface="Cambria Math" panose="02040503050406030204" pitchFamily="18" charset="0"/>
                                <a:cs typeface="Arial" charset="0"/>
                              </a:rPr>
                            </m:ctrlPr>
                          </m:sSubPr>
                          <m:e>
                            <m:r>
                              <a:rPr lang="en-US" sz="2000" i="1">
                                <a:latin typeface="Cambria Math" panose="02040503050406030204" pitchFamily="18" charset="0"/>
                                <a:ea typeface="Cambria Math" panose="02040503050406030204" pitchFamily="18" charset="0"/>
                                <a:cs typeface="Arial" charset="0"/>
                              </a:rPr>
                              <m:t>𝜖</m:t>
                            </m:r>
                          </m:e>
                          <m:sub>
                            <m:r>
                              <a:rPr lang="en-US" sz="2000" i="1">
                                <a:latin typeface="Cambria Math" panose="02040503050406030204" pitchFamily="18" charset="0"/>
                                <a:ea typeface="Cambria Math" panose="02040503050406030204" pitchFamily="18" charset="0"/>
                                <a:cs typeface="Arial" charset="0"/>
                              </a:rPr>
                              <m:t>0</m:t>
                            </m:r>
                          </m:sub>
                        </m:sSub>
                      </m:den>
                    </m:f>
                  </m:oMath>
                </a14:m>
                <a:r>
                  <a:rPr lang="en-US" sz="2000" dirty="0">
                    <a:latin typeface="Calibri" panose="020F0502020204030204" pitchFamily="34" charset="0"/>
                    <a:ea typeface="Arial" charset="0"/>
                    <a:cs typeface="Calibri" panose="020F0502020204030204" pitchFamily="34" charset="0"/>
                  </a:rPr>
                  <a:t>, or </a:t>
                </a:r>
                <a14:m>
                  <m:oMath xmlns:m="http://schemas.openxmlformats.org/officeDocument/2006/math">
                    <m:r>
                      <m:rPr>
                        <m:sty m:val="p"/>
                      </m:rP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m:t>
                    </m:r>
                    <m:d>
                      <m:dPr>
                        <m:ctrlPr>
                          <a:rPr lang="en-US" sz="2000" i="1">
                            <a:latin typeface="Cambria Math" panose="02040503050406030204" pitchFamily="18" charset="0"/>
                            <a:ea typeface="Cambria Math" panose="02040503050406030204" pitchFamily="18" charset="0"/>
                            <a:cs typeface="Arial" charset="0"/>
                          </a:rPr>
                        </m:ctrlPr>
                      </m:dPr>
                      <m:e>
                        <m:r>
                          <m:rPr>
                            <m:sty m:val="p"/>
                          </m:rP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𝜙</m:t>
                        </m:r>
                      </m:e>
                    </m:d>
                    <m:r>
                      <a:rPr lang="en-US" sz="2000" b="0" i="1" smtClean="0">
                        <a:latin typeface="Cambria Math" panose="02040503050406030204" pitchFamily="18" charset="0"/>
                        <a:ea typeface="Cambria Math" panose="02040503050406030204" pitchFamily="18" charset="0"/>
                        <a:cs typeface="Arial" charset="0"/>
                      </a:rPr>
                      <m:t>−</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1</m:t>
                        </m:r>
                      </m:num>
                      <m:den>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𝑐</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den>
                    </m:f>
                    <m:f>
                      <m:fPr>
                        <m:ctrlPr>
                          <a:rPr lang="en-US" sz="2000" i="1" smtClean="0">
                            <a:latin typeface="Cambria Math" panose="02040503050406030204" pitchFamily="18" charset="0"/>
                            <a:ea typeface="Cambria Math" panose="02040503050406030204" pitchFamily="18" charset="0"/>
                            <a:cs typeface="Arial" charset="0"/>
                          </a:rPr>
                        </m:ctrlPr>
                      </m:fPr>
                      <m:num>
                        <m:sSup>
                          <m:sSupPr>
                            <m:ctrlPr>
                              <a:rPr lang="en-US" sz="2000" i="1" smtClean="0">
                                <a:latin typeface="Cambria Math" panose="02040503050406030204" pitchFamily="18" charset="0"/>
                                <a:ea typeface="Cambria Math" panose="02040503050406030204" pitchFamily="18" charset="0"/>
                                <a:cs typeface="Arial" charset="0"/>
                              </a:rPr>
                            </m:ctrlPr>
                          </m:sSupPr>
                          <m:e>
                            <m:r>
                              <a:rPr lang="en-US" sz="2000" i="1" smtClean="0">
                                <a:latin typeface="Cambria Math" panose="02040503050406030204" pitchFamily="18" charset="0"/>
                                <a:ea typeface="Cambria Math" panose="02040503050406030204" pitchFamily="18" charset="0"/>
                                <a:cs typeface="Arial" charset="0"/>
                              </a:rPr>
                              <m:t>𝜕</m:t>
                            </m:r>
                          </m:e>
                          <m:sup>
                            <m:r>
                              <a:rPr lang="en-US" sz="2000" b="0" i="1" smtClean="0">
                                <a:latin typeface="Cambria Math" panose="02040503050406030204" pitchFamily="18" charset="0"/>
                                <a:ea typeface="Cambria Math" panose="02040503050406030204" pitchFamily="18" charset="0"/>
                                <a:cs typeface="Arial" charset="0"/>
                              </a:rPr>
                              <m:t>2</m:t>
                            </m:r>
                          </m:sup>
                        </m:sSup>
                        <m:r>
                          <a:rPr lang="en-US" sz="2000" i="1" smtClean="0">
                            <a:latin typeface="Cambria Math" panose="02040503050406030204" pitchFamily="18" charset="0"/>
                            <a:ea typeface="Cambria Math" panose="02040503050406030204" pitchFamily="18" charset="0"/>
                            <a:cs typeface="Arial" charset="0"/>
                          </a:rPr>
                          <m:t>𝜙</m:t>
                        </m:r>
                      </m:num>
                      <m:den>
                        <m:sSup>
                          <m:sSupPr>
                            <m:ctrlPr>
                              <a:rPr lang="en-US" sz="2000" i="1" smtClean="0">
                                <a:latin typeface="Cambria Math" panose="02040503050406030204" pitchFamily="18" charset="0"/>
                                <a:ea typeface="Cambria Math" panose="02040503050406030204" pitchFamily="18" charset="0"/>
                                <a:cs typeface="Arial" charset="0"/>
                              </a:rPr>
                            </m:ctrlPr>
                          </m:sSupPr>
                          <m:e>
                            <m:r>
                              <a:rPr lang="en-US" sz="2000" i="1" smtClean="0">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𝑡</m:t>
                            </m:r>
                          </m:e>
                          <m:sup>
                            <m:r>
                              <a:rPr lang="en-US" sz="2000" b="0" i="1" smtClean="0">
                                <a:latin typeface="Cambria Math" panose="02040503050406030204" pitchFamily="18" charset="0"/>
                                <a:ea typeface="Cambria Math" panose="02040503050406030204" pitchFamily="18" charset="0"/>
                                <a:cs typeface="Arial" charset="0"/>
                              </a:rPr>
                              <m:t>2</m:t>
                            </m:r>
                          </m:sup>
                        </m:sSup>
                      </m:den>
                    </m:f>
                    <m:r>
                      <a:rPr lang="en-US" sz="2000" i="1">
                        <a:latin typeface="Cambria Math" panose="02040503050406030204" pitchFamily="18" charset="0"/>
                        <a:ea typeface="Cambria Math" panose="02040503050406030204" pitchFamily="18" charset="0"/>
                        <a:cs typeface="Arial" charset="0"/>
                      </a:rPr>
                      <m:t> =−</m:t>
                    </m:r>
                    <m:f>
                      <m:fPr>
                        <m:ctrlPr>
                          <a:rPr lang="en-US" sz="2000" i="1">
                            <a:latin typeface="Cambria Math" panose="02040503050406030204" pitchFamily="18" charset="0"/>
                            <a:ea typeface="Cambria Math" panose="02040503050406030204" pitchFamily="18" charset="0"/>
                            <a:cs typeface="Arial" charset="0"/>
                          </a:rPr>
                        </m:ctrlPr>
                      </m:fPr>
                      <m:num>
                        <m:r>
                          <a:rPr lang="en-US" sz="2000" i="1">
                            <a:latin typeface="Cambria Math" panose="02040503050406030204" pitchFamily="18" charset="0"/>
                            <a:ea typeface="Cambria Math" panose="02040503050406030204" pitchFamily="18" charset="0"/>
                            <a:cs typeface="Arial" charset="0"/>
                          </a:rPr>
                          <m:t>𝜌</m:t>
                        </m:r>
                      </m:num>
                      <m:den>
                        <m:sSub>
                          <m:sSubPr>
                            <m:ctrlPr>
                              <a:rPr lang="en-US" sz="2000" i="1">
                                <a:latin typeface="Cambria Math" panose="02040503050406030204" pitchFamily="18" charset="0"/>
                                <a:ea typeface="Cambria Math" panose="02040503050406030204" pitchFamily="18" charset="0"/>
                                <a:cs typeface="Arial" charset="0"/>
                              </a:rPr>
                            </m:ctrlPr>
                          </m:sSubPr>
                          <m:e>
                            <m:r>
                              <a:rPr lang="en-US" sz="2000" i="1">
                                <a:latin typeface="Cambria Math" panose="02040503050406030204" pitchFamily="18" charset="0"/>
                                <a:ea typeface="Cambria Math" panose="02040503050406030204" pitchFamily="18" charset="0"/>
                                <a:cs typeface="Arial" charset="0"/>
                              </a:rPr>
                              <m:t>𝜖</m:t>
                            </m:r>
                          </m:e>
                          <m:sub>
                            <m:r>
                              <a:rPr lang="en-US" sz="2000" i="1">
                                <a:latin typeface="Cambria Math" panose="02040503050406030204" pitchFamily="18" charset="0"/>
                                <a:ea typeface="Cambria Math" panose="02040503050406030204" pitchFamily="18" charset="0"/>
                                <a:cs typeface="Arial" charset="0"/>
                              </a:rPr>
                              <m:t>0</m:t>
                            </m:r>
                          </m:sub>
                        </m:sSub>
                      </m:den>
                    </m:f>
                  </m:oMath>
                </a14:m>
                <a:r>
                  <a:rPr lang="en-US" sz="2000" dirty="0">
                    <a:latin typeface="Calibri" panose="020F0502020204030204" pitchFamily="34" charset="0"/>
                    <a:ea typeface="Arial" charset="0"/>
                    <a:cs typeface="Calibri" panose="020F0502020204030204" pitchFamily="34" charset="0"/>
                  </a:rPr>
                  <a:t>, or  </a:t>
                </a:r>
                <a14:m>
                  <m:oMath xmlns:m="http://schemas.openxmlformats.org/officeDocument/2006/math">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r>
                      <a:rPr lang="en-US" sz="2000" i="1">
                        <a:latin typeface="Cambria Math" panose="02040503050406030204" pitchFamily="18" charset="0"/>
                        <a:ea typeface="Cambria Math" panose="02040503050406030204" pitchFamily="18" charset="0"/>
                        <a:cs typeface="Arial" panose="020B0604020202020204" pitchFamily="34" charset="0"/>
                      </a:rPr>
                      <m:t>𝜙</m:t>
                    </m:r>
                  </m:oMath>
                </a14:m>
                <a:r>
                  <a:rPr lang="en-US" sz="2000" i="1" dirty="0">
                    <a:latin typeface="Calibri" panose="020F0502020204030204" pitchFamily="34" charset="0"/>
                    <a:ea typeface="Cambria Math" panose="02040503050406030204" pitchFamily="18" charset="0"/>
                    <a:cs typeface="Calibri" panose="020F0502020204030204" pitchFamily="34" charset="0"/>
                  </a:rPr>
                  <a:t> - </a:t>
                </a:r>
                <a14:m>
                  <m:oMath xmlns:m="http://schemas.openxmlformats.org/officeDocument/2006/math">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1</m:t>
                        </m:r>
                      </m:num>
                      <m:den>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𝑐</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den>
                    </m:f>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r>
                          <a:rPr lang="en-US" sz="2000" i="1">
                            <a:latin typeface="Cambria Math" panose="02040503050406030204" pitchFamily="18" charset="0"/>
                            <a:ea typeface="Cambria Math" panose="02040503050406030204" pitchFamily="18" charset="0"/>
                            <a:cs typeface="Arial" panose="020B0604020202020204" pitchFamily="34" charset="0"/>
                          </a:rPr>
                          <m:t>𝜙</m:t>
                        </m:r>
                      </m:num>
                      <m:den>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𝑡</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den>
                    </m:f>
                    <m:r>
                      <a:rPr lang="en-US" sz="2000" i="1">
                        <a:latin typeface="Cambria Math" panose="02040503050406030204" pitchFamily="18" charset="0"/>
                        <a:ea typeface="Cambria Math" panose="02040503050406030204" pitchFamily="18" charset="0"/>
                        <a:cs typeface="Arial" panose="020B0604020202020204" pitchFamily="34" charset="0"/>
                      </a:rPr>
                      <m:t>=−</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𝜌</m:t>
                        </m:r>
                      </m:num>
                      <m:den>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𝜖</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den>
                    </m:f>
                  </m:oMath>
                </a14:m>
                <a:r>
                  <a:rPr lang="en-US" sz="2000" i="1" dirty="0">
                    <a:latin typeface="Calibri" panose="020F0502020204030204" pitchFamily="34" charset="0"/>
                    <a:ea typeface="Cambria Math" panose="02040503050406030204" pitchFamily="18" charset="0"/>
                    <a:cs typeface="Calibri" panose="020F0502020204030204" pitchFamily="34" charset="0"/>
                  </a:rPr>
                  <a:t> </a:t>
                </a:r>
              </a:p>
              <a:p>
                <a:pPr marL="342900" indent="-342900" algn="l">
                  <a:spcBef>
                    <a:spcPts val="400"/>
                  </a:spcBef>
                  <a:buFont typeface="Arial" panose="020B0604020202020204" pitchFamily="34" charset="0"/>
                  <a:buChar char="•"/>
                </a:pPr>
                <a:r>
                  <a:rPr lang="en-US" sz="2000" dirty="0">
                    <a:latin typeface="Calibri" panose="020F0502020204030204" pitchFamily="34" charset="0"/>
                    <a:ea typeface="Cambria Math" panose="02040503050406030204" pitchFamily="18" charset="0"/>
                    <a:cs typeface="Calibri" panose="020F0502020204030204" pitchFamily="34" charset="0"/>
                  </a:rPr>
                  <a:t>The solutions are </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charset="0"/>
                      </a:rPr>
                      <m:t>𝜙</m:t>
                    </m:r>
                    <m:d>
                      <m:dPr>
                        <m:ctrlPr>
                          <a:rPr lang="en-US" sz="2000" b="0" i="1" smtClean="0">
                            <a:latin typeface="Cambria Math" panose="02040503050406030204" pitchFamily="18" charset="0"/>
                            <a:ea typeface="Cambria Math" panose="02040503050406030204" pitchFamily="18" charset="0"/>
                            <a:cs typeface="Arial" charset="0"/>
                          </a:rPr>
                        </m:ctrlPr>
                      </m:dPr>
                      <m:e>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𝑟</m:t>
                            </m:r>
                          </m:e>
                          <m:sub>
                            <m:r>
                              <a:rPr lang="en-US" sz="2000" b="0" i="1" smtClean="0">
                                <a:latin typeface="Cambria Math" panose="02040503050406030204" pitchFamily="18" charset="0"/>
                                <a:ea typeface="Cambria Math" panose="02040503050406030204" pitchFamily="18" charset="0"/>
                                <a:cs typeface="Arial" charset="0"/>
                              </a:rPr>
                              <m:t>1</m:t>
                            </m:r>
                          </m:sub>
                        </m:sSub>
                        <m:r>
                          <a:rPr lang="en-US" sz="2000" b="0" i="1" smtClean="0">
                            <a:latin typeface="Cambria Math" panose="02040503050406030204" pitchFamily="18" charset="0"/>
                            <a:ea typeface="Cambria Math" panose="02040503050406030204" pitchFamily="18" charset="0"/>
                            <a:cs typeface="Arial" charset="0"/>
                          </a:rPr>
                          <m:t>, </m:t>
                        </m:r>
                        <m:r>
                          <a:rPr lang="en-US" sz="2000" b="0" i="1" smtClean="0">
                            <a:latin typeface="Cambria Math" panose="02040503050406030204" pitchFamily="18" charset="0"/>
                            <a:ea typeface="Cambria Math" panose="02040503050406030204" pitchFamily="18" charset="0"/>
                            <a:cs typeface="Arial" charset="0"/>
                          </a:rPr>
                          <m:t>𝑡</m:t>
                        </m:r>
                      </m:e>
                    </m:d>
                    <m:r>
                      <a:rPr lang="en-US" sz="2000" b="0" i="1" smtClean="0">
                        <a:latin typeface="Cambria Math" panose="02040503050406030204" pitchFamily="18" charset="0"/>
                        <a:ea typeface="Cambria Math" panose="02040503050406030204" pitchFamily="18" charset="0"/>
                        <a:cs typeface="Arial" charset="0"/>
                      </a:rPr>
                      <m:t>= </m:t>
                    </m:r>
                    <m:nary>
                      <m:naryPr>
                        <m:ctrlPr>
                          <a:rPr lang="en-US" sz="2000" b="0" i="1" smtClean="0">
                            <a:latin typeface="Cambria Math" panose="02040503050406030204" pitchFamily="18" charset="0"/>
                            <a:ea typeface="Cambria Math" panose="02040503050406030204" pitchFamily="18" charset="0"/>
                            <a:cs typeface="Arial" charset="0"/>
                          </a:rPr>
                        </m:ctrlPr>
                      </m:naryPr>
                      <m:sub>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𝑉</m:t>
                            </m:r>
                          </m:e>
                          <m:sub>
                            <m:r>
                              <a:rPr lang="en-US" sz="2000" b="0" i="1" smtClean="0">
                                <a:latin typeface="Cambria Math" panose="02040503050406030204" pitchFamily="18" charset="0"/>
                                <a:ea typeface="Cambria Math" panose="02040503050406030204" pitchFamily="18" charset="0"/>
                                <a:cs typeface="Arial" charset="0"/>
                              </a:rPr>
                              <m:t>2</m:t>
                            </m:r>
                          </m:sub>
                        </m:sSub>
                      </m:sub>
                      <m:sup/>
                      <m:e>
                        <m:f>
                          <m:fPr>
                            <m:ctrlPr>
                              <a:rPr lang="en-US" sz="2000" i="1">
                                <a:latin typeface="Cambria Math" panose="02040503050406030204" pitchFamily="18" charset="0"/>
                                <a:ea typeface="Cambria Math" panose="02040503050406030204" pitchFamily="18" charset="0"/>
                                <a:cs typeface="Arial" charset="0"/>
                              </a:rPr>
                            </m:ctrlPr>
                          </m:fPr>
                          <m:num>
                            <m:r>
                              <a:rPr lang="en-US" sz="2000" i="1">
                                <a:latin typeface="Cambria Math" panose="02040503050406030204" pitchFamily="18" charset="0"/>
                                <a:ea typeface="Cambria Math" panose="02040503050406030204" pitchFamily="18" charset="0"/>
                                <a:cs typeface="Arial" charset="0"/>
                              </a:rPr>
                              <m:t>𝜌</m:t>
                            </m:r>
                            <m:r>
                              <a:rPr lang="en-US" sz="2000" b="0" i="1" smtClean="0">
                                <a:latin typeface="Cambria Math" panose="02040503050406030204" pitchFamily="18" charset="0"/>
                                <a:ea typeface="Cambria Math" panose="02040503050406030204" pitchFamily="18" charset="0"/>
                                <a:cs typeface="Arial" charset="0"/>
                              </a:rPr>
                              <m:t>(</m:t>
                            </m:r>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𝑟</m:t>
                                </m:r>
                              </m:e>
                              <m:sub>
                                <m:r>
                                  <a:rPr lang="en-US" sz="2000" b="0" i="1" smtClean="0">
                                    <a:latin typeface="Cambria Math" panose="02040503050406030204" pitchFamily="18" charset="0"/>
                                    <a:ea typeface="Cambria Math" panose="02040503050406030204" pitchFamily="18" charset="0"/>
                                    <a:cs typeface="Arial" charset="0"/>
                                  </a:rPr>
                                  <m:t>2</m:t>
                                </m:r>
                              </m:sub>
                            </m:sSub>
                            <m:r>
                              <a:rPr lang="en-US" sz="2000" b="0" i="1" smtClean="0">
                                <a:latin typeface="Cambria Math" panose="02040503050406030204" pitchFamily="18" charset="0"/>
                                <a:ea typeface="Cambria Math" panose="02040503050406030204" pitchFamily="18" charset="0"/>
                                <a:cs typeface="Arial" charset="0"/>
                              </a:rPr>
                              <m:t>,   </m:t>
                            </m:r>
                            <m:r>
                              <a:rPr lang="en-US" sz="2000" b="0" i="1" smtClean="0">
                                <a:latin typeface="Cambria Math" panose="02040503050406030204" pitchFamily="18" charset="0"/>
                                <a:ea typeface="Cambria Math" panose="02040503050406030204" pitchFamily="18" charset="0"/>
                                <a:cs typeface="Arial" charset="0"/>
                              </a:rPr>
                              <m:t>𝑡</m:t>
                            </m:r>
                            <m:r>
                              <a:rPr lang="en-US" sz="2000" b="0" i="1" smtClean="0">
                                <a:latin typeface="Cambria Math" panose="02040503050406030204" pitchFamily="18" charset="0"/>
                                <a:ea typeface="Cambria Math" panose="02040503050406030204" pitchFamily="18" charset="0"/>
                                <a:cs typeface="Arial" charset="0"/>
                              </a:rPr>
                              <m:t>−</m:t>
                            </m:r>
                            <m:f>
                              <m:fPr>
                                <m:ctrlPr>
                                  <a:rPr lang="en-US" sz="2000" b="0" i="1" smtClean="0">
                                    <a:latin typeface="Cambria Math" panose="02040503050406030204" pitchFamily="18" charset="0"/>
                                    <a:ea typeface="Cambria Math" panose="02040503050406030204" pitchFamily="18" charset="0"/>
                                    <a:cs typeface="Arial" charset="0"/>
                                  </a:rPr>
                                </m:ctrlPr>
                              </m:fPr>
                              <m:num>
                                <m:r>
                                  <a:rPr lang="en-US" sz="2000" b="0" i="1" smtClean="0">
                                    <a:latin typeface="Cambria Math" panose="02040503050406030204" pitchFamily="18" charset="0"/>
                                    <a:ea typeface="Cambria Math" panose="02040503050406030204" pitchFamily="18" charset="0"/>
                                    <a:cs typeface="Arial" charset="0"/>
                                  </a:rPr>
                                  <m:t>|</m:t>
                                </m:r>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𝑟</m:t>
                                    </m:r>
                                  </m:e>
                                  <m:sub>
                                    <m:r>
                                      <a:rPr lang="en-US" sz="2000" b="0" i="1" smtClean="0">
                                        <a:latin typeface="Cambria Math" panose="02040503050406030204" pitchFamily="18" charset="0"/>
                                        <a:ea typeface="Cambria Math" panose="02040503050406030204" pitchFamily="18" charset="0"/>
                                        <a:cs typeface="Arial" charset="0"/>
                                      </a:rPr>
                                      <m:t>1</m:t>
                                    </m:r>
                                  </m:sub>
                                </m:sSub>
                                <m:r>
                                  <a:rPr lang="en-US" sz="2000" b="0" i="1" smtClean="0">
                                    <a:latin typeface="Cambria Math" panose="02040503050406030204" pitchFamily="18" charset="0"/>
                                    <a:ea typeface="Cambria Math" panose="02040503050406030204" pitchFamily="18" charset="0"/>
                                    <a:cs typeface="Arial" charset="0"/>
                                  </a:rPr>
                                  <m:t>−</m:t>
                                </m:r>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𝑟</m:t>
                                    </m:r>
                                  </m:e>
                                  <m:sub>
                                    <m:r>
                                      <a:rPr lang="en-US" sz="2000" b="0" i="1" smtClean="0">
                                        <a:latin typeface="Cambria Math" panose="02040503050406030204" pitchFamily="18" charset="0"/>
                                        <a:ea typeface="Cambria Math" panose="02040503050406030204" pitchFamily="18" charset="0"/>
                                        <a:cs typeface="Arial" charset="0"/>
                                      </a:rPr>
                                      <m:t>2</m:t>
                                    </m:r>
                                  </m:sub>
                                </m:sSub>
                                <m:r>
                                  <a:rPr lang="en-US" sz="2000" b="0" i="1" smtClean="0">
                                    <a:latin typeface="Cambria Math" panose="02040503050406030204" pitchFamily="18" charset="0"/>
                                    <a:ea typeface="Cambria Math" panose="02040503050406030204" pitchFamily="18" charset="0"/>
                                    <a:cs typeface="Arial" charset="0"/>
                                  </a:rPr>
                                  <m:t>|</m:t>
                                </m:r>
                              </m:num>
                              <m:den>
                                <m:r>
                                  <a:rPr lang="en-US" sz="2000" b="0" i="1" smtClean="0">
                                    <a:latin typeface="Cambria Math" panose="02040503050406030204" pitchFamily="18" charset="0"/>
                                    <a:ea typeface="Cambria Math" panose="02040503050406030204" pitchFamily="18" charset="0"/>
                                    <a:cs typeface="Arial" charset="0"/>
                                  </a:rPr>
                                  <m:t>𝑐</m:t>
                                </m:r>
                              </m:den>
                            </m:f>
                            <m:r>
                              <a:rPr lang="en-US" sz="2000" b="0" i="1" smtClean="0">
                                <a:latin typeface="Cambria Math" panose="02040503050406030204" pitchFamily="18" charset="0"/>
                                <a:ea typeface="Cambria Math" panose="02040503050406030204" pitchFamily="18" charset="0"/>
                                <a:cs typeface="Arial" charset="0"/>
                              </a:rPr>
                              <m:t>)</m:t>
                            </m:r>
                          </m:num>
                          <m:den>
                            <m:r>
                              <a:rPr lang="en-US" sz="2000" b="0" i="1" smtClean="0">
                                <a:latin typeface="Cambria Math" panose="02040503050406030204" pitchFamily="18" charset="0"/>
                                <a:ea typeface="Cambria Math" panose="02040503050406030204" pitchFamily="18" charset="0"/>
                                <a:cs typeface="Arial" charset="0"/>
                              </a:rPr>
                              <m:t>4</m:t>
                            </m:r>
                            <m:r>
                              <a:rPr lang="en-US" sz="2000" b="0" i="1" smtClean="0">
                                <a:latin typeface="Cambria Math" panose="02040503050406030204" pitchFamily="18" charset="0"/>
                                <a:ea typeface="Cambria Math" panose="02040503050406030204" pitchFamily="18" charset="0"/>
                                <a:cs typeface="Arial" charset="0"/>
                              </a:rPr>
                              <m:t>𝜋</m:t>
                            </m:r>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𝜖</m:t>
                                </m:r>
                              </m:e>
                              <m:sub>
                                <m:r>
                                  <a:rPr lang="en-US" sz="2000" b="0" i="1" smtClean="0">
                                    <a:latin typeface="Cambria Math" panose="02040503050406030204" pitchFamily="18" charset="0"/>
                                    <a:ea typeface="Cambria Math" panose="02040503050406030204" pitchFamily="18" charset="0"/>
                                    <a:cs typeface="Arial" charset="0"/>
                                  </a:rPr>
                                  <m:t>0</m:t>
                                </m:r>
                              </m:sub>
                            </m:sSub>
                            <m:r>
                              <a:rPr lang="en-US" sz="2000" b="0" i="1" smtClean="0">
                                <a:latin typeface="Cambria Math" panose="02040503050406030204" pitchFamily="18" charset="0"/>
                                <a:ea typeface="Cambria Math" panose="02040503050406030204" pitchFamily="18" charset="0"/>
                                <a:cs typeface="Arial" charset="0"/>
                              </a:rPr>
                              <m:t>|</m:t>
                            </m:r>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𝑟</m:t>
                                </m:r>
                              </m:e>
                              <m:sub>
                                <m:r>
                                  <a:rPr lang="en-US" sz="2000" b="0" i="1" smtClean="0">
                                    <a:latin typeface="Cambria Math" panose="02040503050406030204" pitchFamily="18" charset="0"/>
                                    <a:ea typeface="Cambria Math" panose="02040503050406030204" pitchFamily="18" charset="0"/>
                                    <a:cs typeface="Arial" charset="0"/>
                                  </a:rPr>
                                  <m:t>1</m:t>
                                </m:r>
                              </m:sub>
                            </m:sSub>
                            <m:r>
                              <a:rPr lang="en-US" sz="2000" b="0" i="1" smtClean="0">
                                <a:latin typeface="Cambria Math" panose="02040503050406030204" pitchFamily="18" charset="0"/>
                                <a:ea typeface="Cambria Math" panose="02040503050406030204" pitchFamily="18" charset="0"/>
                                <a:cs typeface="Arial" charset="0"/>
                              </a:rPr>
                              <m:t>−</m:t>
                            </m:r>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𝑟</m:t>
                                </m:r>
                              </m:e>
                              <m:sub>
                                <m:r>
                                  <a:rPr lang="en-US" sz="2000" b="0" i="1" smtClean="0">
                                    <a:latin typeface="Cambria Math" panose="02040503050406030204" pitchFamily="18" charset="0"/>
                                    <a:ea typeface="Cambria Math" panose="02040503050406030204" pitchFamily="18" charset="0"/>
                                    <a:cs typeface="Arial" charset="0"/>
                                  </a:rPr>
                                  <m:t>2</m:t>
                                </m:r>
                              </m:sub>
                            </m:sSub>
                            <m:r>
                              <a:rPr lang="en-US" sz="2000" b="0" i="1" smtClean="0">
                                <a:latin typeface="Cambria Math" panose="02040503050406030204" pitchFamily="18" charset="0"/>
                                <a:ea typeface="Cambria Math" panose="02040503050406030204" pitchFamily="18" charset="0"/>
                                <a:cs typeface="Arial" charset="0"/>
                              </a:rPr>
                              <m:t>|</m:t>
                            </m:r>
                          </m:den>
                        </m:f>
                        <m:r>
                          <a:rPr lang="en-US" sz="2000" b="0" i="1" smtClean="0">
                            <a:latin typeface="Cambria Math" panose="02040503050406030204" pitchFamily="18" charset="0"/>
                            <a:ea typeface="Cambria Math" panose="02040503050406030204" pitchFamily="18" charset="0"/>
                            <a:cs typeface="Arial" charset="0"/>
                          </a:rPr>
                          <m:t>𝑑</m:t>
                        </m:r>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𝑉</m:t>
                            </m:r>
                          </m:e>
                          <m:sub>
                            <m:r>
                              <a:rPr lang="en-US" sz="2000" b="0" i="1" smtClean="0">
                                <a:latin typeface="Cambria Math" panose="02040503050406030204" pitchFamily="18" charset="0"/>
                                <a:ea typeface="Cambria Math" panose="02040503050406030204" pitchFamily="18" charset="0"/>
                                <a:cs typeface="Arial" charset="0"/>
                              </a:rPr>
                              <m:t>2</m:t>
                            </m:r>
                          </m:sub>
                        </m:sSub>
                      </m:e>
                    </m:nary>
                  </m:oMath>
                </a14:m>
                <a:r>
                  <a:rPr lang="en-US" sz="2000" dirty="0">
                    <a:latin typeface="Calibri" panose="020F0502020204030204" pitchFamily="34" charset="0"/>
                    <a:ea typeface="Arial" charset="0"/>
                    <a:cs typeface="Calibri" panose="020F0502020204030204" pitchFamily="34" charset="0"/>
                  </a:rPr>
                  <a:t> and </a:t>
                </a:r>
              </a:p>
              <a:p>
                <a:pPr algn="l">
                  <a:spcBef>
                    <a:spcPts val="400"/>
                  </a:spcBef>
                </a:pPr>
                <a:r>
                  <a:rPr lang="en-US" sz="2000" b="1" dirty="0">
                    <a:latin typeface="Calibri" panose="020F0502020204030204" pitchFamily="34" charset="0"/>
                    <a:ea typeface="Cambria Math" panose="02040503050406030204" pitchFamily="18" charset="0"/>
                    <a:cs typeface="Calibri" panose="020F0502020204030204" pitchFamily="34" charset="0"/>
                  </a:rPr>
                  <a:t>     </a:t>
                </a:r>
                <a14:m>
                  <m:oMath xmlns:m="http://schemas.openxmlformats.org/officeDocument/2006/math">
                    <m:r>
                      <a:rPr lang="en-US" sz="2000" b="1" i="0" smtClean="0">
                        <a:latin typeface="Cambria Math" panose="02040503050406030204" pitchFamily="18" charset="0"/>
                        <a:ea typeface="Cambria Math" panose="02040503050406030204" pitchFamily="18" charset="0"/>
                        <a:cs typeface="Arial" charset="0"/>
                      </a:rPr>
                      <m:t>𝐀</m:t>
                    </m:r>
                    <m:d>
                      <m:dPr>
                        <m:ctrlPr>
                          <a:rPr lang="en-US" sz="2000" i="1">
                            <a:latin typeface="Cambria Math" panose="02040503050406030204" pitchFamily="18" charset="0"/>
                            <a:ea typeface="Cambria Math" panose="02040503050406030204" pitchFamily="18" charset="0"/>
                            <a:cs typeface="Arial" charset="0"/>
                          </a:rPr>
                        </m:ctrlPr>
                      </m:dPr>
                      <m:e>
                        <m:sSub>
                          <m:sSubPr>
                            <m:ctrlPr>
                              <a:rPr lang="en-US" sz="2000" i="1">
                                <a:latin typeface="Cambria Math" panose="02040503050406030204" pitchFamily="18" charset="0"/>
                                <a:ea typeface="Cambria Math" panose="02040503050406030204" pitchFamily="18" charset="0"/>
                                <a:cs typeface="Arial" charset="0"/>
                              </a:rPr>
                            </m:ctrlPr>
                          </m:sSubPr>
                          <m:e>
                            <m:r>
                              <a:rPr lang="en-US" sz="2000" i="1">
                                <a:latin typeface="Cambria Math" panose="02040503050406030204" pitchFamily="18" charset="0"/>
                                <a:ea typeface="Cambria Math" panose="02040503050406030204" pitchFamily="18" charset="0"/>
                                <a:cs typeface="Arial" charset="0"/>
                              </a:rPr>
                              <m:t>𝑟</m:t>
                            </m:r>
                          </m:e>
                          <m:sub>
                            <m:r>
                              <a:rPr lang="en-US" sz="2000" i="1">
                                <a:latin typeface="Cambria Math" panose="02040503050406030204" pitchFamily="18" charset="0"/>
                                <a:ea typeface="Cambria Math" panose="02040503050406030204" pitchFamily="18" charset="0"/>
                                <a:cs typeface="Arial" charset="0"/>
                              </a:rPr>
                              <m:t>1</m:t>
                            </m:r>
                          </m:sub>
                        </m:sSub>
                        <m:r>
                          <a:rPr lang="en-US" sz="2000" i="1">
                            <a:latin typeface="Cambria Math" panose="02040503050406030204" pitchFamily="18" charset="0"/>
                            <a:ea typeface="Cambria Math" panose="02040503050406030204" pitchFamily="18" charset="0"/>
                            <a:cs typeface="Arial" charset="0"/>
                          </a:rPr>
                          <m:t>, </m:t>
                        </m:r>
                        <m:r>
                          <a:rPr lang="en-US" sz="2000" i="1">
                            <a:latin typeface="Cambria Math" panose="02040503050406030204" pitchFamily="18" charset="0"/>
                            <a:ea typeface="Cambria Math" panose="02040503050406030204" pitchFamily="18" charset="0"/>
                            <a:cs typeface="Arial" charset="0"/>
                          </a:rPr>
                          <m:t>𝑡</m:t>
                        </m:r>
                      </m:e>
                    </m:d>
                    <m:r>
                      <a:rPr lang="en-US" sz="2000" i="1">
                        <a:latin typeface="Cambria Math" panose="02040503050406030204" pitchFamily="18" charset="0"/>
                        <a:ea typeface="Cambria Math" panose="02040503050406030204" pitchFamily="18" charset="0"/>
                        <a:cs typeface="Arial" charset="0"/>
                      </a:rPr>
                      <m:t>= </m:t>
                    </m:r>
                    <m:nary>
                      <m:naryPr>
                        <m:ctrlPr>
                          <a:rPr lang="en-US" sz="2000" i="1">
                            <a:latin typeface="Cambria Math" panose="02040503050406030204" pitchFamily="18" charset="0"/>
                            <a:ea typeface="Cambria Math" panose="02040503050406030204" pitchFamily="18" charset="0"/>
                            <a:cs typeface="Arial" charset="0"/>
                          </a:rPr>
                        </m:ctrlPr>
                      </m:naryPr>
                      <m:sub>
                        <m:sSub>
                          <m:sSubPr>
                            <m:ctrlPr>
                              <a:rPr lang="en-US" sz="2000" i="1">
                                <a:latin typeface="Cambria Math" panose="02040503050406030204" pitchFamily="18" charset="0"/>
                                <a:ea typeface="Cambria Math" panose="02040503050406030204" pitchFamily="18" charset="0"/>
                                <a:cs typeface="Arial" charset="0"/>
                              </a:rPr>
                            </m:ctrlPr>
                          </m:sSubPr>
                          <m:e>
                            <m:r>
                              <a:rPr lang="en-US" sz="2000" i="1">
                                <a:latin typeface="Cambria Math" panose="02040503050406030204" pitchFamily="18" charset="0"/>
                                <a:ea typeface="Cambria Math" panose="02040503050406030204" pitchFamily="18" charset="0"/>
                                <a:cs typeface="Arial" charset="0"/>
                              </a:rPr>
                              <m:t>𝑉</m:t>
                            </m:r>
                          </m:e>
                          <m:sub>
                            <m:r>
                              <a:rPr lang="en-US" sz="2000" i="1">
                                <a:latin typeface="Cambria Math" panose="02040503050406030204" pitchFamily="18" charset="0"/>
                                <a:ea typeface="Cambria Math" panose="02040503050406030204" pitchFamily="18" charset="0"/>
                                <a:cs typeface="Arial" charset="0"/>
                              </a:rPr>
                              <m:t>2</m:t>
                            </m:r>
                          </m:sub>
                        </m:sSub>
                      </m:sub>
                      <m:sup/>
                      <m:e>
                        <m:f>
                          <m:fPr>
                            <m:ctrlPr>
                              <a:rPr lang="en-US" sz="2000" b="1" i="0" smtClean="0">
                                <a:latin typeface="Cambria Math" panose="02040503050406030204" pitchFamily="18" charset="0"/>
                                <a:ea typeface="Cambria Math" panose="02040503050406030204" pitchFamily="18" charset="0"/>
                                <a:cs typeface="Arial" charset="0"/>
                              </a:rPr>
                            </m:ctrlPr>
                          </m:fPr>
                          <m:num>
                            <m:r>
                              <a:rPr lang="en-US" sz="2000" b="1" i="0" smtClean="0">
                                <a:latin typeface="Cambria Math" panose="02040503050406030204" pitchFamily="18" charset="0"/>
                                <a:ea typeface="Cambria Math" panose="02040503050406030204" pitchFamily="18" charset="0"/>
                                <a:cs typeface="Arial" charset="0"/>
                              </a:rPr>
                              <m:t>𝐣</m:t>
                            </m:r>
                            <m:r>
                              <a:rPr lang="en-US" sz="2000" i="1">
                                <a:latin typeface="Cambria Math" panose="02040503050406030204" pitchFamily="18" charset="0"/>
                                <a:ea typeface="Cambria Math" panose="02040503050406030204" pitchFamily="18" charset="0"/>
                                <a:cs typeface="Arial" charset="0"/>
                              </a:rPr>
                              <m:t>(</m:t>
                            </m:r>
                            <m:sSub>
                              <m:sSubPr>
                                <m:ctrlPr>
                                  <a:rPr lang="en-US" sz="2000" i="1">
                                    <a:latin typeface="Cambria Math" panose="02040503050406030204" pitchFamily="18" charset="0"/>
                                    <a:ea typeface="Cambria Math" panose="02040503050406030204" pitchFamily="18" charset="0"/>
                                    <a:cs typeface="Arial" charset="0"/>
                                  </a:rPr>
                                </m:ctrlPr>
                              </m:sSubPr>
                              <m:e>
                                <m:r>
                                  <a:rPr lang="en-US" sz="2000" i="1">
                                    <a:latin typeface="Cambria Math" panose="02040503050406030204" pitchFamily="18" charset="0"/>
                                    <a:ea typeface="Cambria Math" panose="02040503050406030204" pitchFamily="18" charset="0"/>
                                    <a:cs typeface="Arial" charset="0"/>
                                  </a:rPr>
                                  <m:t>𝑟</m:t>
                                </m:r>
                              </m:e>
                              <m:sub>
                                <m:r>
                                  <a:rPr lang="en-US" sz="2000" i="1">
                                    <a:latin typeface="Cambria Math" panose="02040503050406030204" pitchFamily="18" charset="0"/>
                                    <a:ea typeface="Cambria Math" panose="02040503050406030204" pitchFamily="18" charset="0"/>
                                    <a:cs typeface="Arial" charset="0"/>
                                  </a:rPr>
                                  <m:t>2</m:t>
                                </m:r>
                              </m:sub>
                            </m:sSub>
                            <m:r>
                              <a:rPr lang="en-US" sz="2000" i="1">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 </m:t>
                            </m:r>
                            <m:r>
                              <a:rPr lang="en-US" sz="2000" i="1">
                                <a:latin typeface="Cambria Math" panose="02040503050406030204" pitchFamily="18" charset="0"/>
                                <a:ea typeface="Cambria Math" panose="02040503050406030204" pitchFamily="18" charset="0"/>
                                <a:cs typeface="Arial" charset="0"/>
                              </a:rPr>
                              <m:t>  </m:t>
                            </m:r>
                            <m:r>
                              <a:rPr lang="en-US" sz="2000" i="1">
                                <a:latin typeface="Cambria Math" panose="02040503050406030204" pitchFamily="18" charset="0"/>
                                <a:ea typeface="Cambria Math" panose="02040503050406030204" pitchFamily="18" charset="0"/>
                                <a:cs typeface="Arial" charset="0"/>
                              </a:rPr>
                              <m:t>𝑡</m:t>
                            </m:r>
                            <m:r>
                              <a:rPr lang="en-US" sz="2000" i="1">
                                <a:latin typeface="Cambria Math" panose="02040503050406030204" pitchFamily="18" charset="0"/>
                                <a:ea typeface="Cambria Math" panose="02040503050406030204" pitchFamily="18" charset="0"/>
                                <a:cs typeface="Arial" charset="0"/>
                              </a:rPr>
                              <m:t>−</m:t>
                            </m:r>
                            <m:f>
                              <m:fPr>
                                <m:ctrlPr>
                                  <a:rPr lang="en-US" sz="2000" i="1">
                                    <a:latin typeface="Cambria Math" panose="02040503050406030204" pitchFamily="18" charset="0"/>
                                    <a:ea typeface="Cambria Math" panose="02040503050406030204" pitchFamily="18" charset="0"/>
                                    <a:cs typeface="Arial" charset="0"/>
                                  </a:rPr>
                                </m:ctrlPr>
                              </m:fPr>
                              <m:num>
                                <m:r>
                                  <a:rPr lang="en-US" sz="2000" i="1">
                                    <a:latin typeface="Cambria Math" panose="02040503050406030204" pitchFamily="18" charset="0"/>
                                    <a:ea typeface="Cambria Math" panose="02040503050406030204" pitchFamily="18" charset="0"/>
                                    <a:cs typeface="Arial" charset="0"/>
                                  </a:rPr>
                                  <m:t>|</m:t>
                                </m:r>
                                <m:sSub>
                                  <m:sSubPr>
                                    <m:ctrlPr>
                                      <a:rPr lang="en-US" sz="2000" i="1">
                                        <a:latin typeface="Cambria Math" panose="02040503050406030204" pitchFamily="18" charset="0"/>
                                        <a:ea typeface="Cambria Math" panose="02040503050406030204" pitchFamily="18" charset="0"/>
                                        <a:cs typeface="Arial" charset="0"/>
                                      </a:rPr>
                                    </m:ctrlPr>
                                  </m:sSubPr>
                                  <m:e>
                                    <m:r>
                                      <a:rPr lang="en-US" sz="2000" i="1">
                                        <a:latin typeface="Cambria Math" panose="02040503050406030204" pitchFamily="18" charset="0"/>
                                        <a:ea typeface="Cambria Math" panose="02040503050406030204" pitchFamily="18" charset="0"/>
                                        <a:cs typeface="Arial" charset="0"/>
                                      </a:rPr>
                                      <m:t>𝑟</m:t>
                                    </m:r>
                                  </m:e>
                                  <m:sub>
                                    <m:r>
                                      <a:rPr lang="en-US" sz="2000" i="1">
                                        <a:latin typeface="Cambria Math" panose="02040503050406030204" pitchFamily="18" charset="0"/>
                                        <a:ea typeface="Cambria Math" panose="02040503050406030204" pitchFamily="18" charset="0"/>
                                        <a:cs typeface="Arial" charset="0"/>
                                      </a:rPr>
                                      <m:t>1</m:t>
                                    </m:r>
                                  </m:sub>
                                </m:sSub>
                                <m:r>
                                  <a:rPr lang="en-US" sz="2000" i="1">
                                    <a:latin typeface="Cambria Math" panose="02040503050406030204" pitchFamily="18" charset="0"/>
                                    <a:ea typeface="Cambria Math" panose="02040503050406030204" pitchFamily="18" charset="0"/>
                                    <a:cs typeface="Arial" charset="0"/>
                                  </a:rPr>
                                  <m:t>−</m:t>
                                </m:r>
                                <m:sSub>
                                  <m:sSubPr>
                                    <m:ctrlPr>
                                      <a:rPr lang="en-US" sz="2000" i="1">
                                        <a:latin typeface="Cambria Math" panose="02040503050406030204" pitchFamily="18" charset="0"/>
                                        <a:ea typeface="Cambria Math" panose="02040503050406030204" pitchFamily="18" charset="0"/>
                                        <a:cs typeface="Arial" charset="0"/>
                                      </a:rPr>
                                    </m:ctrlPr>
                                  </m:sSubPr>
                                  <m:e>
                                    <m:r>
                                      <a:rPr lang="en-US" sz="2000" i="1">
                                        <a:latin typeface="Cambria Math" panose="02040503050406030204" pitchFamily="18" charset="0"/>
                                        <a:ea typeface="Cambria Math" panose="02040503050406030204" pitchFamily="18" charset="0"/>
                                        <a:cs typeface="Arial" charset="0"/>
                                      </a:rPr>
                                      <m:t>𝑟</m:t>
                                    </m:r>
                                  </m:e>
                                  <m:sub>
                                    <m:r>
                                      <a:rPr lang="en-US" sz="2000" i="1">
                                        <a:latin typeface="Cambria Math" panose="02040503050406030204" pitchFamily="18" charset="0"/>
                                        <a:ea typeface="Cambria Math" panose="02040503050406030204" pitchFamily="18" charset="0"/>
                                        <a:cs typeface="Arial" charset="0"/>
                                      </a:rPr>
                                      <m:t>2</m:t>
                                    </m:r>
                                  </m:sub>
                                </m:sSub>
                                <m:r>
                                  <a:rPr lang="en-US" sz="2000" i="1">
                                    <a:latin typeface="Cambria Math" panose="02040503050406030204" pitchFamily="18" charset="0"/>
                                    <a:ea typeface="Cambria Math" panose="02040503050406030204" pitchFamily="18" charset="0"/>
                                    <a:cs typeface="Arial" charset="0"/>
                                  </a:rPr>
                                  <m:t>|</m:t>
                                </m:r>
                              </m:num>
                              <m:den>
                                <m:r>
                                  <a:rPr lang="en-US" sz="2000" i="1">
                                    <a:latin typeface="Cambria Math" panose="02040503050406030204" pitchFamily="18" charset="0"/>
                                    <a:ea typeface="Cambria Math" panose="02040503050406030204" pitchFamily="18" charset="0"/>
                                    <a:cs typeface="Arial" charset="0"/>
                                  </a:rPr>
                                  <m:t>𝑐</m:t>
                                </m:r>
                              </m:den>
                            </m:f>
                            <m:r>
                              <a:rPr lang="en-US" sz="2000" i="1">
                                <a:latin typeface="Cambria Math" panose="02040503050406030204" pitchFamily="18" charset="0"/>
                                <a:ea typeface="Cambria Math" panose="02040503050406030204" pitchFamily="18" charset="0"/>
                                <a:cs typeface="Arial" charset="0"/>
                              </a:rPr>
                              <m:t>)</m:t>
                            </m:r>
                          </m:num>
                          <m:den>
                            <m:r>
                              <a:rPr lang="en-US" sz="2000" i="1">
                                <a:latin typeface="Cambria Math" panose="02040503050406030204" pitchFamily="18" charset="0"/>
                                <a:ea typeface="Cambria Math" panose="02040503050406030204" pitchFamily="18" charset="0"/>
                                <a:cs typeface="Arial" charset="0"/>
                              </a:rPr>
                              <m:t>4</m:t>
                            </m:r>
                            <m:r>
                              <a:rPr lang="en-US" sz="2000" i="1">
                                <a:latin typeface="Cambria Math" panose="02040503050406030204" pitchFamily="18" charset="0"/>
                                <a:ea typeface="Cambria Math" panose="02040503050406030204" pitchFamily="18" charset="0"/>
                                <a:cs typeface="Arial" charset="0"/>
                              </a:rPr>
                              <m:t>𝜋</m:t>
                            </m:r>
                            <m:sSub>
                              <m:sSubPr>
                                <m:ctrlPr>
                                  <a:rPr lang="en-US" sz="2000" i="1">
                                    <a:latin typeface="Cambria Math" panose="02040503050406030204" pitchFamily="18" charset="0"/>
                                    <a:ea typeface="Cambria Math" panose="02040503050406030204" pitchFamily="18" charset="0"/>
                                    <a:cs typeface="Arial" charset="0"/>
                                  </a:rPr>
                                </m:ctrlPr>
                              </m:sSubPr>
                              <m:e>
                                <m:r>
                                  <a:rPr lang="en-US" sz="2000" i="1">
                                    <a:latin typeface="Cambria Math" panose="02040503050406030204" pitchFamily="18" charset="0"/>
                                    <a:ea typeface="Cambria Math" panose="02040503050406030204" pitchFamily="18" charset="0"/>
                                    <a:cs typeface="Arial" charset="0"/>
                                  </a:rPr>
                                  <m:t>𝜖</m:t>
                                </m:r>
                              </m:e>
                              <m:sub>
                                <m:r>
                                  <a:rPr lang="en-US" sz="2000" i="1">
                                    <a:latin typeface="Cambria Math" panose="02040503050406030204" pitchFamily="18" charset="0"/>
                                    <a:ea typeface="Cambria Math" panose="02040503050406030204" pitchFamily="18" charset="0"/>
                                    <a:cs typeface="Arial" charset="0"/>
                                  </a:rPr>
                                  <m:t>0</m:t>
                                </m:r>
                              </m:sub>
                            </m:sSub>
                            <m:sSup>
                              <m:sSupPr>
                                <m:ctrlPr>
                                  <a:rPr lang="en-US" sz="2000" b="0" i="1" smtClean="0">
                                    <a:latin typeface="Cambria Math" panose="02040503050406030204" pitchFamily="18" charset="0"/>
                                    <a:ea typeface="Cambria Math" panose="02040503050406030204" pitchFamily="18" charset="0"/>
                                    <a:cs typeface="Arial" charset="0"/>
                                  </a:rPr>
                                </m:ctrlPr>
                              </m:sSupPr>
                              <m:e>
                                <m:r>
                                  <a:rPr lang="en-US" sz="2000" b="0" i="1" smtClean="0">
                                    <a:latin typeface="Cambria Math" panose="02040503050406030204" pitchFamily="18" charset="0"/>
                                    <a:ea typeface="Cambria Math" panose="02040503050406030204" pitchFamily="18" charset="0"/>
                                    <a:cs typeface="Arial" charset="0"/>
                                  </a:rPr>
                                  <m:t>𝑐</m:t>
                                </m:r>
                              </m:e>
                              <m:sup>
                                <m:r>
                                  <a:rPr lang="en-US" sz="2000" b="0" i="1" smtClean="0">
                                    <a:latin typeface="Cambria Math" panose="02040503050406030204" pitchFamily="18" charset="0"/>
                                    <a:ea typeface="Cambria Math" panose="02040503050406030204" pitchFamily="18" charset="0"/>
                                    <a:cs typeface="Arial" charset="0"/>
                                  </a:rPr>
                                  <m:t>2</m:t>
                                </m:r>
                              </m:sup>
                            </m:sSup>
                            <m:r>
                              <a:rPr lang="en-US" sz="2000" i="1">
                                <a:latin typeface="Cambria Math" panose="02040503050406030204" pitchFamily="18" charset="0"/>
                                <a:ea typeface="Cambria Math" panose="02040503050406030204" pitchFamily="18" charset="0"/>
                                <a:cs typeface="Arial" charset="0"/>
                              </a:rPr>
                              <m:t>|</m:t>
                            </m:r>
                            <m:sSub>
                              <m:sSubPr>
                                <m:ctrlPr>
                                  <a:rPr lang="en-US" sz="2000" i="1">
                                    <a:latin typeface="Cambria Math" panose="02040503050406030204" pitchFamily="18" charset="0"/>
                                    <a:ea typeface="Cambria Math" panose="02040503050406030204" pitchFamily="18" charset="0"/>
                                    <a:cs typeface="Arial" charset="0"/>
                                  </a:rPr>
                                </m:ctrlPr>
                              </m:sSubPr>
                              <m:e>
                                <m:r>
                                  <a:rPr lang="en-US" sz="2000" i="1">
                                    <a:latin typeface="Cambria Math" panose="02040503050406030204" pitchFamily="18" charset="0"/>
                                    <a:ea typeface="Cambria Math" panose="02040503050406030204" pitchFamily="18" charset="0"/>
                                    <a:cs typeface="Arial" charset="0"/>
                                  </a:rPr>
                                  <m:t>𝑟</m:t>
                                </m:r>
                              </m:e>
                              <m:sub>
                                <m:r>
                                  <a:rPr lang="en-US" sz="2000" i="1">
                                    <a:latin typeface="Cambria Math" panose="02040503050406030204" pitchFamily="18" charset="0"/>
                                    <a:ea typeface="Cambria Math" panose="02040503050406030204" pitchFamily="18" charset="0"/>
                                    <a:cs typeface="Arial" charset="0"/>
                                  </a:rPr>
                                  <m:t>1</m:t>
                                </m:r>
                              </m:sub>
                            </m:sSub>
                            <m:r>
                              <a:rPr lang="en-US" sz="2000" i="1">
                                <a:latin typeface="Cambria Math" panose="02040503050406030204" pitchFamily="18" charset="0"/>
                                <a:ea typeface="Cambria Math" panose="02040503050406030204" pitchFamily="18" charset="0"/>
                                <a:cs typeface="Arial" charset="0"/>
                              </a:rPr>
                              <m:t>−</m:t>
                            </m:r>
                            <m:sSub>
                              <m:sSubPr>
                                <m:ctrlPr>
                                  <a:rPr lang="en-US" sz="2000" i="1">
                                    <a:latin typeface="Cambria Math" panose="02040503050406030204" pitchFamily="18" charset="0"/>
                                    <a:ea typeface="Cambria Math" panose="02040503050406030204" pitchFamily="18" charset="0"/>
                                    <a:cs typeface="Arial" charset="0"/>
                                  </a:rPr>
                                </m:ctrlPr>
                              </m:sSubPr>
                              <m:e>
                                <m:r>
                                  <a:rPr lang="en-US" sz="2000" i="1">
                                    <a:latin typeface="Cambria Math" panose="02040503050406030204" pitchFamily="18" charset="0"/>
                                    <a:ea typeface="Cambria Math" panose="02040503050406030204" pitchFamily="18" charset="0"/>
                                    <a:cs typeface="Arial" charset="0"/>
                                  </a:rPr>
                                  <m:t>𝑟</m:t>
                                </m:r>
                              </m:e>
                              <m:sub>
                                <m:r>
                                  <a:rPr lang="en-US" sz="2000" i="1">
                                    <a:latin typeface="Cambria Math" panose="02040503050406030204" pitchFamily="18" charset="0"/>
                                    <a:ea typeface="Cambria Math" panose="02040503050406030204" pitchFamily="18" charset="0"/>
                                    <a:cs typeface="Arial" charset="0"/>
                                  </a:rPr>
                                  <m:t>2</m:t>
                                </m:r>
                              </m:sub>
                            </m:sSub>
                            <m:r>
                              <a:rPr lang="en-US" sz="2000" i="1">
                                <a:latin typeface="Cambria Math" panose="02040503050406030204" pitchFamily="18" charset="0"/>
                                <a:ea typeface="Cambria Math" panose="02040503050406030204" pitchFamily="18" charset="0"/>
                                <a:cs typeface="Arial" charset="0"/>
                              </a:rPr>
                              <m:t>|</m:t>
                            </m:r>
                          </m:den>
                        </m:f>
                        <m:r>
                          <a:rPr lang="en-US" sz="2000" i="1">
                            <a:latin typeface="Cambria Math" panose="02040503050406030204" pitchFamily="18" charset="0"/>
                            <a:ea typeface="Cambria Math" panose="02040503050406030204" pitchFamily="18" charset="0"/>
                            <a:cs typeface="Arial" charset="0"/>
                          </a:rPr>
                          <m:t>𝑑</m:t>
                        </m:r>
                        <m:sSub>
                          <m:sSubPr>
                            <m:ctrlPr>
                              <a:rPr lang="en-US" sz="2000" i="1">
                                <a:latin typeface="Cambria Math" panose="02040503050406030204" pitchFamily="18" charset="0"/>
                                <a:ea typeface="Cambria Math" panose="02040503050406030204" pitchFamily="18" charset="0"/>
                                <a:cs typeface="Arial" charset="0"/>
                              </a:rPr>
                            </m:ctrlPr>
                          </m:sSubPr>
                          <m:e>
                            <m:r>
                              <a:rPr lang="en-US" sz="2000" i="1">
                                <a:latin typeface="Cambria Math" panose="02040503050406030204" pitchFamily="18" charset="0"/>
                                <a:ea typeface="Cambria Math" panose="02040503050406030204" pitchFamily="18" charset="0"/>
                                <a:cs typeface="Arial" charset="0"/>
                              </a:rPr>
                              <m:t>𝑉</m:t>
                            </m:r>
                          </m:e>
                          <m:sub>
                            <m:r>
                              <a:rPr lang="en-US" sz="2000" i="1">
                                <a:latin typeface="Cambria Math" panose="02040503050406030204" pitchFamily="18" charset="0"/>
                                <a:ea typeface="Cambria Math" panose="02040503050406030204" pitchFamily="18" charset="0"/>
                                <a:cs typeface="Arial" charset="0"/>
                              </a:rPr>
                              <m:t>2</m:t>
                            </m:r>
                          </m:sub>
                        </m:sSub>
                      </m:e>
                    </m:nary>
                  </m:oMath>
                </a14:m>
                <a:r>
                  <a:rPr lang="en-US" sz="2000" baseline="-25000" dirty="0">
                    <a:latin typeface="Calibri" panose="020F0502020204030204" pitchFamily="34" charset="0"/>
                    <a:ea typeface="Arial" charset="0"/>
                    <a:cs typeface="Calibri" panose="020F0502020204030204" pitchFamily="34" charset="0"/>
                  </a:rPr>
                  <a:t> </a:t>
                </a:r>
                <a:r>
                  <a:rPr lang="en-US" sz="2000" dirty="0">
                    <a:latin typeface="Calibri" panose="020F0502020204030204" pitchFamily="34" charset="0"/>
                    <a:ea typeface="Arial" charset="0"/>
                    <a:cs typeface="Calibri" panose="020F0502020204030204" pitchFamily="34" charset="0"/>
                  </a:rPr>
                  <a:t>with </a:t>
                </a:r>
                <a14:m>
                  <m:oMath xmlns:m="http://schemas.openxmlformats.org/officeDocument/2006/math">
                    <m:r>
                      <m:rPr>
                        <m:sty m:val="p"/>
                      </m:rP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𝐴</m:t>
                    </m:r>
                    <m:r>
                      <a:rPr lang="en-US" sz="2000" i="1">
                        <a:latin typeface="Cambria Math" panose="02040503050406030204" pitchFamily="18" charset="0"/>
                        <a:ea typeface="Cambria Math" panose="02040503050406030204" pitchFamily="18" charset="0"/>
                        <a:cs typeface="Arial" charset="0"/>
                      </a:rPr>
                      <m:t>=−</m:t>
                    </m:r>
                    <m:f>
                      <m:fPr>
                        <m:ctrlPr>
                          <a:rPr lang="en-US" sz="2000" i="1">
                            <a:latin typeface="Cambria Math" panose="02040503050406030204" pitchFamily="18" charset="0"/>
                            <a:ea typeface="Cambria Math" panose="02040503050406030204" pitchFamily="18" charset="0"/>
                            <a:cs typeface="Arial" charset="0"/>
                          </a:rPr>
                        </m:ctrlPr>
                      </m:fPr>
                      <m:num>
                        <m:r>
                          <a:rPr lang="en-US" sz="2000" i="1">
                            <a:latin typeface="Cambria Math" panose="02040503050406030204" pitchFamily="18" charset="0"/>
                            <a:ea typeface="Cambria Math" panose="02040503050406030204" pitchFamily="18" charset="0"/>
                            <a:cs typeface="Arial" charset="0"/>
                          </a:rPr>
                          <m:t>1</m:t>
                        </m:r>
                      </m:num>
                      <m:den>
                        <m:sSup>
                          <m:sSupPr>
                            <m:ctrlPr>
                              <a:rPr lang="en-US" sz="2000" i="1">
                                <a:latin typeface="Cambria Math" panose="02040503050406030204" pitchFamily="18" charset="0"/>
                                <a:ea typeface="Cambria Math" panose="02040503050406030204" pitchFamily="18" charset="0"/>
                                <a:cs typeface="Arial" charset="0"/>
                              </a:rPr>
                            </m:ctrlPr>
                          </m:sSupPr>
                          <m:e>
                            <m:r>
                              <a:rPr lang="en-US" sz="2000" i="1">
                                <a:latin typeface="Cambria Math" panose="02040503050406030204" pitchFamily="18" charset="0"/>
                                <a:ea typeface="Cambria Math" panose="02040503050406030204" pitchFamily="18" charset="0"/>
                                <a:cs typeface="Arial" charset="0"/>
                              </a:rPr>
                              <m:t>𝑐</m:t>
                            </m:r>
                          </m:e>
                          <m:sup>
                            <m:r>
                              <a:rPr lang="en-US" sz="2000" i="1">
                                <a:latin typeface="Cambria Math" panose="02040503050406030204" pitchFamily="18" charset="0"/>
                                <a:ea typeface="Cambria Math" panose="02040503050406030204" pitchFamily="18" charset="0"/>
                                <a:cs typeface="Arial" charset="0"/>
                              </a:rPr>
                              <m:t>2</m:t>
                            </m:r>
                          </m:sup>
                        </m:sSup>
                      </m:den>
                    </m:f>
                    <m:f>
                      <m:fPr>
                        <m:ctrlPr>
                          <a:rPr lang="en-US" sz="2000" i="1">
                            <a:latin typeface="Cambria Math" panose="02040503050406030204" pitchFamily="18" charset="0"/>
                            <a:ea typeface="Cambria Math" panose="02040503050406030204" pitchFamily="18" charset="0"/>
                            <a:cs typeface="Arial" charset="0"/>
                          </a:rPr>
                        </m:ctrlPr>
                      </m:fPr>
                      <m:num>
                        <m:r>
                          <a:rPr lang="en-US" sz="2000" i="1">
                            <a:latin typeface="Cambria Math" panose="02040503050406030204" pitchFamily="18" charset="0"/>
                            <a:ea typeface="Cambria Math" panose="02040503050406030204" pitchFamily="18" charset="0"/>
                            <a:cs typeface="Arial" charset="0"/>
                          </a:rPr>
                          <m:t>𝜕𝜙</m:t>
                        </m:r>
                      </m:num>
                      <m:den>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𝑡</m:t>
                        </m:r>
                      </m:den>
                    </m:f>
                  </m:oMath>
                </a14:m>
                <a:r>
                  <a:rPr lang="en-US" sz="2000" dirty="0">
                    <a:latin typeface="Calibri" panose="020F0502020204030204" pitchFamily="34" charset="0"/>
                    <a:ea typeface="Arial" charset="0"/>
                    <a:cs typeface="Calibri" panose="020F0502020204030204" pitchFamily="34" charset="0"/>
                  </a:rPr>
                  <a:t>, with </a:t>
                </a:r>
                <a14:m>
                  <m:oMath xmlns:m="http://schemas.openxmlformats.org/officeDocument/2006/math">
                    <m:r>
                      <m:rPr>
                        <m:sty m:val="p"/>
                      </m:rP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𝐴</m:t>
                    </m:r>
                    <m:r>
                      <a:rPr lang="en-US" sz="2000" i="1">
                        <a:latin typeface="Cambria Math" panose="02040503050406030204" pitchFamily="18" charset="0"/>
                        <a:ea typeface="Cambria Math" panose="02040503050406030204" pitchFamily="18" charset="0"/>
                        <a:cs typeface="Arial" panose="020B0604020202020204" pitchFamily="34" charset="0"/>
                      </a:rPr>
                      <m:t>=− </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1</m:t>
                        </m:r>
                      </m:num>
                      <m:den>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𝑐</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den>
                    </m:f>
                    <m:r>
                      <a:rPr lang="en-US" sz="2000" i="1">
                        <a:latin typeface="Cambria Math" panose="02040503050406030204" pitchFamily="18" charset="0"/>
                        <a:ea typeface="Cambria Math" panose="02040503050406030204" pitchFamily="18" charset="0"/>
                        <a:cs typeface="Arial" panose="020B0604020202020204" pitchFamily="34" charset="0"/>
                      </a:rPr>
                      <m:t> </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𝜕𝜙</m:t>
                        </m:r>
                      </m:num>
                      <m:den>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𝑡</m:t>
                        </m:r>
                      </m:den>
                    </m:f>
                  </m:oMath>
                </a14:m>
                <a:r>
                  <a:rPr lang="en-US" sz="2000" dirty="0">
                    <a:latin typeface="Calibri" panose="020F0502020204030204" pitchFamily="34" charset="0"/>
                    <a:ea typeface="Cambria Math" panose="02040503050406030204" pitchFamily="18" charset="0"/>
                    <a:cs typeface="Calibri" panose="020F0502020204030204" pitchFamily="34" charset="0"/>
                  </a:rPr>
                  <a:t>. </a:t>
                </a:r>
                <a:endParaRPr lang="en-US" sz="2000" dirty="0">
                  <a:latin typeface="Calibri" panose="020F0502020204030204" pitchFamily="34" charset="0"/>
                  <a:ea typeface="Arial" charset="0"/>
                  <a:cs typeface="Calibri" panose="020F050202020403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42707" y="1796601"/>
                <a:ext cx="9628911" cy="4947416"/>
              </a:xfrm>
              <a:blipFill>
                <a:blip r:embed="rId3"/>
                <a:stretch>
                  <a:fillRect l="-527"/>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a:xfrm>
            <a:off x="9414510" y="6356350"/>
            <a:ext cx="2133600" cy="365125"/>
          </a:xfrm>
        </p:spPr>
        <p:txBody>
          <a:bodyPr/>
          <a:lstStyle/>
          <a:p>
            <a:fld id="{FA32F8ED-EEB4-4D51-9E8E-3B145D9B9811}" type="slidenum">
              <a:rPr lang="en-US" smtClean="0"/>
              <a:pPr/>
              <a:t>29</a:t>
            </a:fld>
            <a:endParaRPr lang="en-US" dirty="0"/>
          </a:p>
        </p:txBody>
      </p:sp>
    </p:spTree>
    <p:extLst>
      <p:ext uri="{BB962C8B-B14F-4D97-AF65-F5344CB8AC3E}">
        <p14:creationId xmlns:p14="http://schemas.microsoft.com/office/powerpoint/2010/main" val="12166616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417" y="299334"/>
            <a:ext cx="11675166" cy="868362"/>
          </a:xfrm>
        </p:spPr>
        <p:txBody>
          <a:bodyPr anchor="ctr">
            <a:normAutofit/>
          </a:bodyPr>
          <a:lstStyle/>
          <a:p>
            <a:pPr algn="ctr"/>
            <a:r>
              <a:rPr lang="en-US" sz="4400" dirty="0">
                <a:latin typeface="Calibri" panose="020F0502020204030204" pitchFamily="34" charset="0"/>
                <a:cs typeface="Calibri" panose="020F0502020204030204" pitchFamily="34" charset="0"/>
              </a:rPr>
              <a:t>Solution to Maxwell’s equations in free space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13280" y="1998811"/>
                <a:ext cx="9470153" cy="2362261"/>
              </a:xfrm>
            </p:spPr>
            <p:txBody>
              <a:bodyPr>
                <a:noAutofit/>
              </a:bodyPr>
              <a:lstStyle/>
              <a:p>
                <a:pPr marL="342900" indent="-342900" algn="l">
                  <a:buFont typeface="Arial" panose="020B0604020202020204" pitchFamily="34" charset="0"/>
                  <a:buChar char="•"/>
                </a:pPr>
                <a:r>
                  <a:rPr lang="en-US" sz="2000" dirty="0">
                    <a:ea typeface="Arial" charset="0"/>
                    <a:cs typeface="Arial" charset="0"/>
                  </a:rPr>
                  <a:t>Free space is defined by </a:t>
                </a:r>
                <a14:m>
                  <m:oMath xmlns:m="http://schemas.openxmlformats.org/officeDocument/2006/math">
                    <m:r>
                      <a:rPr lang="en-US" sz="2000" i="1">
                        <a:latin typeface="Cambria Math" panose="02040503050406030204" pitchFamily="18" charset="0"/>
                        <a:ea typeface="Cambria Math" panose="02040503050406030204" pitchFamily="18" charset="0"/>
                        <a:cs typeface="Arial" charset="0"/>
                      </a:rPr>
                      <m:t>𝜌</m:t>
                    </m:r>
                    <m:r>
                      <a:rPr lang="en-US" sz="2000" i="1">
                        <a:latin typeface="Cambria Math" panose="02040503050406030204" pitchFamily="18" charset="0"/>
                        <a:ea typeface="Cambria Math" panose="02040503050406030204" pitchFamily="18" charset="0"/>
                        <a:cs typeface="Arial" charset="0"/>
                      </a:rPr>
                      <m:t>=0</m:t>
                    </m:r>
                  </m:oMath>
                </a14:m>
                <a:r>
                  <a:rPr lang="en-US" sz="2000" dirty="0">
                    <a:ea typeface="Arial" charset="0"/>
                    <a:cs typeface="Arial" charset="0"/>
                  </a:rPr>
                  <a:t> and </a:t>
                </a:r>
                <a14:m>
                  <m:oMath xmlns:m="http://schemas.openxmlformats.org/officeDocument/2006/math">
                    <m:r>
                      <a:rPr lang="en-US" sz="2000" i="1">
                        <a:latin typeface="Cambria Math" panose="02040503050406030204" pitchFamily="18" charset="0"/>
                        <a:ea typeface="Arial" charset="0"/>
                        <a:cs typeface="Arial" charset="0"/>
                      </a:rPr>
                      <m:t>𝑗</m:t>
                    </m:r>
                    <m:r>
                      <a:rPr lang="en-US" sz="2000" i="1">
                        <a:latin typeface="Cambria Math" panose="02040503050406030204" pitchFamily="18" charset="0"/>
                        <a:ea typeface="Arial" charset="0"/>
                        <a:cs typeface="Arial" charset="0"/>
                      </a:rPr>
                      <m:t>=0</m:t>
                    </m:r>
                  </m:oMath>
                </a14:m>
                <a:r>
                  <a:rPr lang="en-US" sz="2000" i="1" dirty="0">
                    <a:cs typeface="Arial" charset="0"/>
                  </a:rPr>
                  <a:t>, </a:t>
                </a:r>
                <a:r>
                  <a:rPr lang="en-US" sz="2000" dirty="0">
                    <a:cs typeface="Arial" panose="020B0604020202020204" pitchFamily="34" charset="0"/>
                  </a:rPr>
                  <a:t>so our potentials satisfy</a:t>
                </a:r>
              </a:p>
              <a:p>
                <a:pPr marL="342900" indent="-342900" algn="l">
                  <a:buFont typeface="Arial" panose="020B0604020202020204" pitchFamily="34" charset="0"/>
                  <a:buChar char="•"/>
                </a:pPr>
                <a14:m>
                  <m:oMath xmlns:m="http://schemas.openxmlformats.org/officeDocument/2006/math">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m:rPr>
                            <m:sty m:val="p"/>
                          </m:rPr>
                          <a:rPr lang="en-US" sz="2000" i="1">
                            <a:latin typeface="Cambria Math" panose="02040503050406030204" pitchFamily="18" charset="0"/>
                            <a:ea typeface="Cambria Math" panose="02040503050406030204" pitchFamily="18" charset="0"/>
                            <a:cs typeface="Arial" panose="020B0604020202020204" pitchFamily="34" charset="0"/>
                          </a:rPr>
                          <m:t>∇</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r>
                      <a:rPr lang="en-US" sz="2000" i="1">
                        <a:latin typeface="Cambria Math" panose="02040503050406030204" pitchFamily="18" charset="0"/>
                        <a:ea typeface="Cambria Math" panose="02040503050406030204" pitchFamily="18" charset="0"/>
                        <a:cs typeface="Arial" panose="020B0604020202020204" pitchFamily="34" charset="0"/>
                      </a:rPr>
                      <m:t>𝐴</m:t>
                    </m:r>
                  </m:oMath>
                </a14:m>
                <a:r>
                  <a:rPr lang="en-US" sz="2000" dirty="0">
                    <a:ea typeface="Cambria Math" panose="02040503050406030204" pitchFamily="18" charset="0"/>
                    <a:cs typeface="Arial" panose="020B0604020202020204" pitchFamily="34" charset="0"/>
                  </a:rPr>
                  <a:t> - </a:t>
                </a:r>
                <a14:m>
                  <m:oMath xmlns:m="http://schemas.openxmlformats.org/officeDocument/2006/math">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1</m:t>
                        </m:r>
                      </m:num>
                      <m:den>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𝑐</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den>
                    </m:f>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r>
                          <a:rPr lang="en-US" sz="2000" i="1">
                            <a:latin typeface="Cambria Math" panose="02040503050406030204" pitchFamily="18" charset="0"/>
                            <a:ea typeface="Cambria Math" panose="02040503050406030204" pitchFamily="18" charset="0"/>
                            <a:cs typeface="Arial" panose="020B0604020202020204" pitchFamily="34" charset="0"/>
                          </a:rPr>
                          <m:t>𝐴</m:t>
                        </m:r>
                      </m:num>
                      <m:den>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𝑡</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den>
                    </m:f>
                    <m:r>
                      <a:rPr lang="en-US" sz="2000" i="1">
                        <a:latin typeface="Cambria Math" panose="02040503050406030204" pitchFamily="18" charset="0"/>
                        <a:ea typeface="Cambria Math" panose="02040503050406030204" pitchFamily="18" charset="0"/>
                        <a:cs typeface="Arial" panose="020B0604020202020204" pitchFamily="34" charset="0"/>
                      </a:rPr>
                      <m:t>=</m:t>
                    </m:r>
                  </m:oMath>
                </a14:m>
                <a:r>
                  <a:rPr lang="en-US" sz="2000" dirty="0">
                    <a:cs typeface="Arial" panose="020B0604020202020204" pitchFamily="34" charset="0"/>
                  </a:rPr>
                  <a:t>0 and </a:t>
                </a:r>
                <a14:m>
                  <m:oMath xmlns:m="http://schemas.openxmlformats.org/officeDocument/2006/math">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r>
                      <a:rPr lang="en-US" sz="2000" i="1">
                        <a:latin typeface="Cambria Math" panose="02040503050406030204" pitchFamily="18" charset="0"/>
                        <a:ea typeface="Cambria Math" panose="02040503050406030204" pitchFamily="18" charset="0"/>
                        <a:cs typeface="Arial" panose="020B0604020202020204" pitchFamily="34" charset="0"/>
                      </a:rPr>
                      <m:t>𝜙</m:t>
                    </m:r>
                  </m:oMath>
                </a14:m>
                <a:r>
                  <a:rPr lang="en-US" sz="2000" i="1" dirty="0">
                    <a:ea typeface="Cambria Math" panose="02040503050406030204" pitchFamily="18" charset="0"/>
                    <a:cs typeface="Arial" panose="020B0604020202020204" pitchFamily="34" charset="0"/>
                  </a:rPr>
                  <a:t> - </a:t>
                </a:r>
                <a14:m>
                  <m:oMath xmlns:m="http://schemas.openxmlformats.org/officeDocument/2006/math">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1</m:t>
                        </m:r>
                      </m:num>
                      <m:den>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𝑐</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den>
                    </m:f>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r>
                          <a:rPr lang="en-US" sz="2000" i="1">
                            <a:latin typeface="Cambria Math" panose="02040503050406030204" pitchFamily="18" charset="0"/>
                            <a:ea typeface="Cambria Math" panose="02040503050406030204" pitchFamily="18" charset="0"/>
                            <a:cs typeface="Arial" panose="020B0604020202020204" pitchFamily="34" charset="0"/>
                          </a:rPr>
                          <m:t>𝜙</m:t>
                        </m:r>
                      </m:num>
                      <m:den>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𝑡</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den>
                    </m:f>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0</m:t>
                    </m:r>
                  </m:oMath>
                </a14:m>
                <a:endParaRPr lang="en-US" sz="2000" dirty="0">
                  <a:cs typeface="Arial" panose="020B0604020202020204" pitchFamily="34" charset="0"/>
                </a:endParaRPr>
              </a:p>
              <a:p>
                <a:pPr marL="342900" indent="-342900" algn="l">
                  <a:buFont typeface="Arial" panose="020B0604020202020204" pitchFamily="34" charset="0"/>
                  <a:buChar char="•"/>
                </a:pPr>
                <a:r>
                  <a:rPr lang="en-US" sz="2000" dirty="0">
                    <a:cs typeface="Arial" panose="020B0604020202020204" pitchFamily="34" charset="0"/>
                  </a:rPr>
                  <a:t>These have the usual wave equation solutions </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panose="020B0604020202020204" pitchFamily="34" charset="0"/>
                      </a:rPr>
                      <m:t>𝜙</m:t>
                    </m:r>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ea typeface="Cambria Math" panose="02040503050406030204" pitchFamily="18" charset="0"/>
                            <a:cs typeface="Arial" panose="020B0604020202020204" pitchFamily="34" charset="0"/>
                          </a:rPr>
                          <m:t>𝑥</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𝑦</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𝑧</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𝑡</m:t>
                        </m:r>
                      </m:e>
                    </m:d>
                    <m:r>
                      <a:rPr lang="en-US" sz="2000" b="0" i="1" smtClean="0">
                        <a:latin typeface="Cambria Math" panose="02040503050406030204" pitchFamily="18" charset="0"/>
                        <a:ea typeface="Cambria Math" panose="02040503050406030204" pitchFamily="18" charset="0"/>
                        <a:cs typeface="Arial" panose="020B0604020202020204" pitchFamily="34" charset="0"/>
                      </a:rPr>
                      <m:t>=  </m:t>
                    </m:r>
                    <m:r>
                      <a:rPr lang="en-US" sz="2000" b="0" i="1" smtClean="0">
                        <a:latin typeface="Cambria Math" panose="02040503050406030204" pitchFamily="18" charset="0"/>
                        <a:ea typeface="Cambria Math" panose="02040503050406030204" pitchFamily="18" charset="0"/>
                        <a:cs typeface="Arial" panose="020B0604020202020204" pitchFamily="34" charset="0"/>
                      </a:rPr>
                      <m:t>𝑓</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𝑘</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r>
                      <a:rPr lang="en-US" sz="2000" b="0" i="1" smtClean="0">
                        <a:latin typeface="Cambria Math" panose="02040503050406030204" pitchFamily="18" charset="0"/>
                        <a:ea typeface="Cambria Math" panose="02040503050406030204" pitchFamily="18" charset="0"/>
                        <a:cs typeface="Arial" panose="020B0604020202020204" pitchFamily="34" charset="0"/>
                      </a:rPr>
                      <m:t> − </m:t>
                    </m:r>
                    <m:r>
                      <a:rPr lang="en-US" sz="2000" b="0" i="1" smtClean="0">
                        <a:latin typeface="Cambria Math" panose="02040503050406030204" pitchFamily="18" charset="0"/>
                        <a:ea typeface="Cambria Math" panose="02040503050406030204" pitchFamily="18" charset="0"/>
                        <a:cs typeface="Arial" panose="020B0604020202020204" pitchFamily="34" charset="0"/>
                      </a:rPr>
                      <m:t>𝜔</m:t>
                    </m:r>
                    <m:r>
                      <a:rPr lang="en-US" sz="2000" b="0" i="1" smtClean="0">
                        <a:latin typeface="Cambria Math" panose="02040503050406030204" pitchFamily="18" charset="0"/>
                        <a:ea typeface="Cambria Math" panose="02040503050406030204" pitchFamily="18" charset="0"/>
                        <a:cs typeface="Arial" panose="020B0604020202020204" pitchFamily="34" charset="0"/>
                      </a:rPr>
                      <m:t>𝑡</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oMath>
                </a14:m>
                <a:r>
                  <a:rPr lang="en-US" sz="2000" dirty="0">
                    <a:cs typeface="Arial" panose="020B0604020202020204" pitchFamily="34" charset="0"/>
                  </a:rPr>
                  <a:t>, etc</a:t>
                </a:r>
                <a:endParaRPr lang="en-US" sz="2000" i="1" dirty="0">
                  <a:cs typeface="Arial" charset="0"/>
                </a:endParaRPr>
              </a:p>
              <a:p>
                <a:pPr marL="342900" indent="-342900" algn="l">
                  <a:buFont typeface="Arial" panose="020B0604020202020204" pitchFamily="34" charset="0"/>
                  <a:buChar char="•"/>
                </a:pPr>
                <a:r>
                  <a:rPr lang="en-US" sz="2000" dirty="0">
                    <a:ea typeface="Arial" charset="0"/>
                    <a:cs typeface="Arial" charset="0"/>
                  </a:rPr>
                  <a:t>Thus, in free space 𝜙 and </a:t>
                </a:r>
                <a:r>
                  <a:rPr lang="en-US" sz="2000" b="1" dirty="0">
                    <a:ea typeface="Arial" charset="0"/>
                    <a:cs typeface="Arial" charset="0"/>
                  </a:rPr>
                  <a:t>A</a:t>
                </a:r>
                <a:r>
                  <a:rPr lang="en-US" sz="2000" dirty="0">
                    <a:ea typeface="Arial" charset="0"/>
                    <a:cs typeface="Arial" charset="0"/>
                  </a:rPr>
                  <a:t> and hence E and B propagate as waves.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13280" y="1998811"/>
                <a:ext cx="9470153" cy="2362261"/>
              </a:xfrm>
              <a:blipFill>
                <a:blip r:embed="rId3"/>
                <a:stretch>
                  <a:fillRect l="-536" t="-3209"/>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a:xfrm>
            <a:off x="8077200" y="6356351"/>
            <a:ext cx="2133600" cy="365125"/>
          </a:xfrm>
        </p:spPr>
        <p:txBody>
          <a:bodyPr/>
          <a:lstStyle/>
          <a:p>
            <a:fld id="{FA32F8ED-EEB4-4D51-9E8E-3B145D9B9811}" type="slidenum">
              <a:rPr lang="en-US" smtClean="0"/>
              <a:pPr/>
              <a:t>30</a:t>
            </a:fld>
            <a:endParaRPr lang="en-US"/>
          </a:p>
        </p:txBody>
      </p:sp>
    </p:spTree>
    <p:extLst>
      <p:ext uri="{BB962C8B-B14F-4D97-AF65-F5344CB8AC3E}">
        <p14:creationId xmlns:p14="http://schemas.microsoft.com/office/powerpoint/2010/main" val="37181502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52" y="210538"/>
            <a:ext cx="11582400" cy="868362"/>
          </a:xfrm>
        </p:spPr>
        <p:txBody>
          <a:bodyPr anchor="ctr">
            <a:noAutofit/>
          </a:bodyPr>
          <a:lstStyle/>
          <a:p>
            <a:pPr algn="ctr"/>
            <a:r>
              <a:rPr lang="en-US" sz="4400" dirty="0">
                <a:latin typeface="Calibri" panose="020F0502020204030204" pitchFamily="34" charset="0"/>
                <a:cs typeface="Calibri" panose="020F0502020204030204" pitchFamily="34" charset="0"/>
              </a:rPr>
              <a:t>Solution to Maxwell’s equations in conductors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40238" y="1706505"/>
                <a:ext cx="11111524" cy="4649846"/>
              </a:xfrm>
            </p:spPr>
            <p:txBody>
              <a:bodyPr>
                <a:noAutofit/>
              </a:bodyPr>
              <a:lstStyle/>
              <a:p>
                <a:pPr marL="342900" indent="-342900" algn="l">
                  <a:buFont typeface="Arial" panose="020B0604020202020204" pitchFamily="34" charset="0"/>
                  <a:buChar char="•"/>
                </a:pPr>
                <a:r>
                  <a:rPr lang="en-US" sz="2000" dirty="0">
                    <a:ea typeface="Arial" charset="0"/>
                    <a:cs typeface="Arial" charset="0"/>
                  </a:rPr>
                  <a:t>In conductors, </a:t>
                </a:r>
                <a14:m>
                  <m:oMath xmlns:m="http://schemas.openxmlformats.org/officeDocument/2006/math">
                    <m:r>
                      <a:rPr lang="en-US" sz="2000" b="1" i="0" smtClean="0">
                        <a:latin typeface="Cambria Math" panose="02040503050406030204" pitchFamily="18" charset="0"/>
                        <a:ea typeface="Arial" charset="0"/>
                        <a:cs typeface="Arial" charset="0"/>
                      </a:rPr>
                      <m:t>𝐣</m:t>
                    </m:r>
                    <m:r>
                      <a:rPr lang="en-US" sz="2000" b="0" i="1" smtClean="0">
                        <a:latin typeface="Cambria Math" panose="02040503050406030204" pitchFamily="18" charset="0"/>
                        <a:ea typeface="Arial" charset="0"/>
                        <a:cs typeface="Arial" charset="0"/>
                      </a:rPr>
                      <m:t>=</m:t>
                    </m:r>
                    <m:r>
                      <a:rPr lang="en-US" sz="2000" b="0" i="1" smtClean="0">
                        <a:latin typeface="Cambria Math" panose="02040503050406030204" pitchFamily="18" charset="0"/>
                        <a:ea typeface="Cambria Math" panose="02040503050406030204" pitchFamily="18" charset="0"/>
                        <a:cs typeface="Arial" charset="0"/>
                      </a:rPr>
                      <m:t>𝜎</m:t>
                    </m:r>
                    <m:r>
                      <a:rPr lang="en-US" sz="2000" b="1" i="0" smtClean="0">
                        <a:latin typeface="Cambria Math" panose="02040503050406030204" pitchFamily="18" charset="0"/>
                        <a:ea typeface="Cambria Math" panose="02040503050406030204" pitchFamily="18" charset="0"/>
                        <a:cs typeface="Arial" charset="0"/>
                      </a:rPr>
                      <m:t>𝐄</m:t>
                    </m:r>
                  </m:oMath>
                </a14:m>
                <a:r>
                  <a:rPr lang="en-US" sz="2000" dirty="0">
                    <a:ea typeface="Arial" charset="0"/>
                    <a:cs typeface="Arial" charset="0"/>
                  </a:rPr>
                  <a:t>  </a:t>
                </a:r>
              </a:p>
              <a:p>
                <a:pPr marL="800100" lvl="1" indent="-342900" algn="l">
                  <a:buFont typeface="Arial" panose="020B0604020202020204" pitchFamily="34" charset="0"/>
                  <a:buChar char="•"/>
                </a:pPr>
                <a14:m>
                  <m:oMath xmlns:m="http://schemas.openxmlformats.org/officeDocument/2006/math">
                    <m:sSup>
                      <m:sSupPr>
                        <m:ctrlPr>
                          <a:rPr lang="en-US" sz="2000" i="1">
                            <a:latin typeface="Cambria Math" panose="02040503050406030204" pitchFamily="18" charset="0"/>
                            <a:cs typeface="Arial" charset="0"/>
                          </a:rPr>
                        </m:ctrlPr>
                      </m:sSupPr>
                      <m:e>
                        <m:r>
                          <a:rPr lang="en-US" sz="2000" i="1">
                            <a:latin typeface="Cambria Math" panose="02040503050406030204" pitchFamily="18" charset="0"/>
                            <a:cs typeface="Arial" charset="0"/>
                          </a:rPr>
                          <m:t>𝑐</m:t>
                        </m:r>
                      </m:e>
                      <m:sup>
                        <m:r>
                          <a:rPr lang="en-US" sz="2000" i="1">
                            <a:latin typeface="Cambria Math" panose="02040503050406030204" pitchFamily="18" charset="0"/>
                            <a:cs typeface="Arial" charset="0"/>
                          </a:rPr>
                          <m:t>2</m:t>
                        </m:r>
                      </m:sup>
                    </m:sSup>
                    <m:r>
                      <a:rPr lang="en-US" sz="2000" i="1">
                        <a:latin typeface="Cambria Math" panose="02040503050406030204" pitchFamily="18" charset="0"/>
                        <a:cs typeface="Arial" charset="0"/>
                      </a:rPr>
                      <m:t> </m:t>
                    </m:r>
                    <m:r>
                      <m:rPr>
                        <m:sty m:val="p"/>
                      </m:rP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m:t>
                    </m:r>
                    <m:r>
                      <a:rPr lang="en-US" sz="2000" b="1">
                        <a:latin typeface="Cambria Math" panose="02040503050406030204" pitchFamily="18" charset="0"/>
                        <a:ea typeface="Cambria Math" panose="02040503050406030204" pitchFamily="18" charset="0"/>
                        <a:cs typeface="Arial" charset="0"/>
                      </a:rPr>
                      <m:t>𝐁</m:t>
                    </m:r>
                    <m:r>
                      <a:rPr lang="en-US" sz="2000" i="1">
                        <a:latin typeface="Cambria Math" panose="02040503050406030204" pitchFamily="18" charset="0"/>
                        <a:ea typeface="Cambria Math" panose="02040503050406030204" pitchFamily="18" charset="0"/>
                        <a:cs typeface="Arial" charset="0"/>
                      </a:rPr>
                      <m:t>= </m:t>
                    </m:r>
                    <m:f>
                      <m:fPr>
                        <m:ctrlPr>
                          <a:rPr lang="en-US" sz="2000" b="1" i="1">
                            <a:latin typeface="Cambria Math" panose="02040503050406030204" pitchFamily="18" charset="0"/>
                            <a:ea typeface="Cambria Math" panose="02040503050406030204" pitchFamily="18" charset="0"/>
                            <a:cs typeface="Arial" charset="0"/>
                          </a:rPr>
                        </m:ctrlPr>
                      </m:fPr>
                      <m:num>
                        <m:r>
                          <a:rPr lang="en-US" sz="2000" b="1" i="1">
                            <a:latin typeface="Cambria Math" panose="02040503050406030204" pitchFamily="18" charset="0"/>
                            <a:ea typeface="Cambria Math" panose="02040503050406030204" pitchFamily="18" charset="0"/>
                            <a:cs typeface="Arial" charset="0"/>
                          </a:rPr>
                          <m:t>𝒋</m:t>
                        </m:r>
                      </m:num>
                      <m:den>
                        <m:r>
                          <a:rPr lang="en-US" sz="2000" b="1" i="1" smtClean="0">
                            <a:latin typeface="Cambria Math" panose="02040503050406030204" pitchFamily="18" charset="0"/>
                            <a:ea typeface="Cambria Math" panose="02040503050406030204" pitchFamily="18" charset="0"/>
                            <a:cs typeface="Arial" charset="0"/>
                          </a:rPr>
                          <m:t>𝜖</m:t>
                        </m:r>
                      </m:den>
                    </m:f>
                    <m:r>
                      <a:rPr lang="en-US" sz="2000" i="1">
                        <a:latin typeface="Cambria Math" panose="02040503050406030204" pitchFamily="18" charset="0"/>
                        <a:ea typeface="Cambria Math" panose="02040503050406030204" pitchFamily="18" charset="0"/>
                        <a:cs typeface="Arial" charset="0"/>
                      </a:rPr>
                      <m:t>+ </m:t>
                    </m:r>
                    <m:f>
                      <m:fPr>
                        <m:ctrlPr>
                          <a:rPr lang="en-US" sz="2000" i="1">
                            <a:latin typeface="Cambria Math" panose="02040503050406030204" pitchFamily="18" charset="0"/>
                            <a:ea typeface="Cambria Math" panose="02040503050406030204" pitchFamily="18" charset="0"/>
                            <a:cs typeface="Arial" charset="0"/>
                          </a:rPr>
                        </m:ctrlPr>
                      </m:fPr>
                      <m:num>
                        <m:r>
                          <a:rPr lang="en-US" sz="2000" i="1">
                            <a:latin typeface="Cambria Math" panose="02040503050406030204" pitchFamily="18" charset="0"/>
                            <a:ea typeface="Cambria Math" panose="02040503050406030204" pitchFamily="18" charset="0"/>
                            <a:cs typeface="Arial" charset="0"/>
                          </a:rPr>
                          <m:t>𝜕</m:t>
                        </m:r>
                        <m:r>
                          <a:rPr lang="en-US" sz="2000" b="1">
                            <a:latin typeface="Cambria Math" panose="02040503050406030204" pitchFamily="18" charset="0"/>
                            <a:ea typeface="Cambria Math" panose="02040503050406030204" pitchFamily="18" charset="0"/>
                            <a:cs typeface="Arial" charset="0"/>
                          </a:rPr>
                          <m:t>𝐄</m:t>
                        </m:r>
                      </m:num>
                      <m:den>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𝑡</m:t>
                        </m:r>
                      </m:den>
                    </m:f>
                    <m:r>
                      <a:rPr lang="en-US" sz="2000" b="0" i="1" smtClean="0">
                        <a:latin typeface="Cambria Math" panose="02040503050406030204" pitchFamily="18" charset="0"/>
                        <a:ea typeface="Cambria Math" panose="02040503050406030204" pitchFamily="18" charset="0"/>
                        <a:cs typeface="Arial" charset="0"/>
                      </a:rPr>
                      <m:t>=</m:t>
                    </m:r>
                    <m:f>
                      <m:fPr>
                        <m:ctrlPr>
                          <a:rPr lang="en-US" sz="2000" b="0" i="1" smtClean="0">
                            <a:latin typeface="Cambria Math" panose="02040503050406030204" pitchFamily="18" charset="0"/>
                            <a:ea typeface="Cambria Math" panose="02040503050406030204" pitchFamily="18" charset="0"/>
                            <a:cs typeface="Arial" charset="0"/>
                          </a:rPr>
                        </m:ctrlPr>
                      </m:fPr>
                      <m:num>
                        <m:r>
                          <a:rPr lang="en-US" sz="2000" b="0" i="1" smtClean="0">
                            <a:latin typeface="Cambria Math" panose="02040503050406030204" pitchFamily="18" charset="0"/>
                            <a:ea typeface="Cambria Math" panose="02040503050406030204" pitchFamily="18" charset="0"/>
                            <a:cs typeface="Arial" charset="0"/>
                          </a:rPr>
                          <m:t>𝜎</m:t>
                        </m:r>
                      </m:num>
                      <m:den>
                        <m:r>
                          <a:rPr lang="en-US" sz="2000" b="0" i="1" smtClean="0">
                            <a:latin typeface="Cambria Math" panose="02040503050406030204" pitchFamily="18" charset="0"/>
                            <a:ea typeface="Cambria Math" panose="02040503050406030204" pitchFamily="18" charset="0"/>
                            <a:cs typeface="Arial" charset="0"/>
                          </a:rPr>
                          <m:t>𝜖</m:t>
                        </m:r>
                      </m:den>
                    </m:f>
                    <m:r>
                      <a:rPr lang="en-US" sz="2000" b="1" i="0" smtClean="0">
                        <a:latin typeface="Cambria Math" panose="02040503050406030204" pitchFamily="18" charset="0"/>
                        <a:ea typeface="Cambria Math" panose="02040503050406030204" pitchFamily="18" charset="0"/>
                        <a:cs typeface="Arial" charset="0"/>
                      </a:rPr>
                      <m:t>𝐄</m:t>
                    </m:r>
                    <m:r>
                      <a:rPr lang="en-US" sz="2000" b="0" i="1" smtClean="0">
                        <a:latin typeface="Cambria Math" panose="02040503050406030204" pitchFamily="18" charset="0"/>
                        <a:ea typeface="Cambria Math" panose="02040503050406030204" pitchFamily="18" charset="0"/>
                        <a:cs typeface="Arial" charset="0"/>
                      </a:rPr>
                      <m:t>+</m:t>
                    </m:r>
                    <m:f>
                      <m:fPr>
                        <m:ctrlPr>
                          <a:rPr lang="en-US" sz="2000" i="1">
                            <a:latin typeface="Cambria Math" panose="02040503050406030204" pitchFamily="18" charset="0"/>
                            <a:ea typeface="Cambria Math" panose="02040503050406030204" pitchFamily="18" charset="0"/>
                            <a:cs typeface="Arial" charset="0"/>
                          </a:rPr>
                        </m:ctrlPr>
                      </m:fPr>
                      <m:num>
                        <m:r>
                          <a:rPr lang="en-US" sz="2000" i="1">
                            <a:latin typeface="Cambria Math" panose="02040503050406030204" pitchFamily="18" charset="0"/>
                            <a:ea typeface="Cambria Math" panose="02040503050406030204" pitchFamily="18" charset="0"/>
                            <a:cs typeface="Arial" charset="0"/>
                          </a:rPr>
                          <m:t>𝜕</m:t>
                        </m:r>
                        <m:r>
                          <a:rPr lang="en-US" sz="2000" b="1">
                            <a:latin typeface="Cambria Math" panose="02040503050406030204" pitchFamily="18" charset="0"/>
                            <a:ea typeface="Cambria Math" panose="02040503050406030204" pitchFamily="18" charset="0"/>
                            <a:cs typeface="Arial" charset="0"/>
                          </a:rPr>
                          <m:t>𝐄</m:t>
                        </m:r>
                      </m:num>
                      <m:den>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𝑡</m:t>
                        </m:r>
                      </m:den>
                    </m:f>
                  </m:oMath>
                </a14:m>
                <a:endParaRPr lang="en-US" sz="2000" dirty="0">
                  <a:ea typeface="Arial" charset="0"/>
                  <a:cs typeface="Arial" charset="0"/>
                </a:endParaRPr>
              </a:p>
              <a:p>
                <a:pPr marL="800100" lvl="1" indent="-342900" algn="l">
                  <a:buFont typeface="Arial" panose="020B0604020202020204" pitchFamily="34" charset="0"/>
                  <a:buChar char="•"/>
                </a:pPr>
                <a:r>
                  <a:rPr lang="en-US" sz="2000" dirty="0">
                    <a:ea typeface="Arial" charset="0"/>
                    <a:cs typeface="Arial" charset="0"/>
                  </a:rPr>
                  <a:t>This becomes </a:t>
                </a:r>
                <a14:m>
                  <m:oMath xmlns:m="http://schemas.openxmlformats.org/officeDocument/2006/math">
                    <m:sSup>
                      <m:sSupPr>
                        <m:ctrlPr>
                          <a:rPr lang="en-US" sz="2000" i="1">
                            <a:latin typeface="Cambria Math" panose="02040503050406030204" pitchFamily="18" charset="0"/>
                            <a:cs typeface="Arial" charset="0"/>
                          </a:rPr>
                        </m:ctrlPr>
                      </m:sSupPr>
                      <m:e>
                        <m:r>
                          <a:rPr lang="en-US" sz="2000" i="1">
                            <a:latin typeface="Cambria Math" panose="02040503050406030204" pitchFamily="18" charset="0"/>
                            <a:cs typeface="Arial" charset="0"/>
                          </a:rPr>
                          <m:t>𝑐</m:t>
                        </m:r>
                      </m:e>
                      <m:sup>
                        <m:r>
                          <a:rPr lang="en-US" sz="2000" i="1">
                            <a:latin typeface="Cambria Math" panose="02040503050406030204" pitchFamily="18" charset="0"/>
                            <a:cs typeface="Arial" charset="0"/>
                          </a:rPr>
                          <m:t>2</m:t>
                        </m:r>
                      </m:sup>
                    </m:sSup>
                    <m:f>
                      <m:fPr>
                        <m:ctrlPr>
                          <a:rPr lang="en-US" sz="2000" i="1">
                            <a:latin typeface="Cambria Math" panose="02040503050406030204" pitchFamily="18" charset="0"/>
                            <a:ea typeface="Cambria Math" panose="02040503050406030204" pitchFamily="18" charset="0"/>
                            <a:cs typeface="Arial" charset="0"/>
                          </a:rPr>
                        </m:ctrlPr>
                      </m:fPr>
                      <m:num>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m:t>
                        </m:r>
                        <m:r>
                          <m:rPr>
                            <m:sty m:val="p"/>
                          </m:rP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m:t>
                        </m:r>
                        <m:r>
                          <a:rPr lang="en-US" sz="2000" b="1">
                            <a:latin typeface="Cambria Math" panose="02040503050406030204" pitchFamily="18" charset="0"/>
                            <a:ea typeface="Cambria Math" panose="02040503050406030204" pitchFamily="18" charset="0"/>
                            <a:cs typeface="Arial" charset="0"/>
                          </a:rPr>
                          <m:t>𝐁</m:t>
                        </m:r>
                        <m:r>
                          <a:rPr lang="en-US" sz="2000" i="1">
                            <a:latin typeface="Cambria Math" panose="02040503050406030204" pitchFamily="18" charset="0"/>
                            <a:ea typeface="Cambria Math" panose="02040503050406030204" pitchFamily="18" charset="0"/>
                            <a:cs typeface="Arial" charset="0"/>
                          </a:rPr>
                          <m:t>)</m:t>
                        </m:r>
                      </m:num>
                      <m:den>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𝑡</m:t>
                        </m:r>
                      </m:den>
                    </m:f>
                    <m:r>
                      <a:rPr lang="en-US" sz="2000" i="1">
                        <a:latin typeface="Cambria Math" panose="02040503050406030204" pitchFamily="18" charset="0"/>
                        <a:cs typeface="Arial" charset="0"/>
                      </a:rPr>
                      <m:t>= </m:t>
                    </m:r>
                    <m:f>
                      <m:fPr>
                        <m:ctrlPr>
                          <a:rPr lang="en-US" sz="2000" i="1">
                            <a:latin typeface="Cambria Math" panose="02040503050406030204" pitchFamily="18" charset="0"/>
                            <a:ea typeface="Cambria Math" panose="02040503050406030204" pitchFamily="18" charset="0"/>
                            <a:cs typeface="Arial" charset="0"/>
                          </a:rPr>
                        </m:ctrlPr>
                      </m:fPr>
                      <m:num>
                        <m:r>
                          <a:rPr lang="en-US" sz="2000" i="1">
                            <a:latin typeface="Cambria Math" panose="02040503050406030204" pitchFamily="18" charset="0"/>
                            <a:ea typeface="Cambria Math" panose="02040503050406030204" pitchFamily="18" charset="0"/>
                            <a:cs typeface="Arial" charset="0"/>
                          </a:rPr>
                          <m:t>𝜎</m:t>
                        </m:r>
                      </m:num>
                      <m:den>
                        <m:r>
                          <a:rPr lang="en-US" sz="2000" i="1">
                            <a:latin typeface="Cambria Math" panose="02040503050406030204" pitchFamily="18" charset="0"/>
                            <a:ea typeface="Cambria Math" panose="02040503050406030204" pitchFamily="18" charset="0"/>
                            <a:cs typeface="Arial" charset="0"/>
                          </a:rPr>
                          <m:t>𝜖</m:t>
                        </m:r>
                      </m:den>
                    </m:f>
                    <m:f>
                      <m:fPr>
                        <m:ctrlPr>
                          <a:rPr lang="en-US" sz="2000" i="1">
                            <a:latin typeface="Cambria Math" panose="02040503050406030204" pitchFamily="18" charset="0"/>
                            <a:ea typeface="Cambria Math" panose="02040503050406030204" pitchFamily="18" charset="0"/>
                            <a:cs typeface="Arial" charset="0"/>
                          </a:rPr>
                        </m:ctrlPr>
                      </m:fPr>
                      <m:num>
                        <m:r>
                          <a:rPr lang="en-US" sz="2000" i="1">
                            <a:latin typeface="Cambria Math" panose="02040503050406030204" pitchFamily="18" charset="0"/>
                            <a:ea typeface="Cambria Math" panose="02040503050406030204" pitchFamily="18" charset="0"/>
                            <a:cs typeface="Arial" charset="0"/>
                          </a:rPr>
                          <m:t>𝜕</m:t>
                        </m:r>
                        <m:r>
                          <a:rPr lang="en-US" sz="2000" b="1">
                            <a:latin typeface="Cambria Math" panose="02040503050406030204" pitchFamily="18" charset="0"/>
                            <a:ea typeface="Cambria Math" panose="02040503050406030204" pitchFamily="18" charset="0"/>
                            <a:cs typeface="Arial" charset="0"/>
                          </a:rPr>
                          <m:t>𝐄</m:t>
                        </m:r>
                      </m:num>
                      <m:den>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𝑡</m:t>
                        </m:r>
                      </m:den>
                    </m:f>
                    <m:r>
                      <a:rPr lang="en-US" sz="2000" i="1">
                        <a:latin typeface="Cambria Math" panose="02040503050406030204" pitchFamily="18" charset="0"/>
                        <a:cs typeface="Arial" charset="0"/>
                      </a:rPr>
                      <m:t>+</m:t>
                    </m:r>
                    <m:f>
                      <m:fPr>
                        <m:ctrlPr>
                          <a:rPr lang="en-US" sz="2000" i="1">
                            <a:latin typeface="Cambria Math" panose="02040503050406030204" pitchFamily="18" charset="0"/>
                            <a:cs typeface="Arial" charset="0"/>
                          </a:rPr>
                        </m:ctrlPr>
                      </m:fPr>
                      <m:num>
                        <m:sSup>
                          <m:sSupPr>
                            <m:ctrlPr>
                              <a:rPr lang="en-US" sz="2000" i="1">
                                <a:latin typeface="Cambria Math" panose="02040503050406030204" pitchFamily="18" charset="0"/>
                                <a:ea typeface="Cambria Math" panose="02040503050406030204" pitchFamily="18" charset="0"/>
                                <a:cs typeface="Arial" charset="0"/>
                              </a:rPr>
                            </m:ctrlPr>
                          </m:sSupPr>
                          <m:e>
                            <m:r>
                              <a:rPr lang="en-US" sz="2000" i="1">
                                <a:latin typeface="Cambria Math" panose="02040503050406030204" pitchFamily="18" charset="0"/>
                                <a:ea typeface="Cambria Math" panose="02040503050406030204" pitchFamily="18" charset="0"/>
                                <a:cs typeface="Arial" charset="0"/>
                              </a:rPr>
                              <m:t>𝜕</m:t>
                            </m:r>
                          </m:e>
                          <m:sup>
                            <m:r>
                              <a:rPr lang="en-US" sz="2000" i="1">
                                <a:latin typeface="Cambria Math" panose="02040503050406030204" pitchFamily="18" charset="0"/>
                                <a:cs typeface="Arial" charset="0"/>
                              </a:rPr>
                              <m:t>2</m:t>
                            </m:r>
                          </m:sup>
                        </m:sSup>
                        <m:r>
                          <a:rPr lang="en-US" sz="2000" b="1">
                            <a:latin typeface="Cambria Math" panose="02040503050406030204" pitchFamily="18" charset="0"/>
                            <a:cs typeface="Arial" charset="0"/>
                          </a:rPr>
                          <m:t>𝐄</m:t>
                        </m:r>
                      </m:num>
                      <m:den>
                        <m:sSup>
                          <m:sSupPr>
                            <m:ctrlPr>
                              <a:rPr lang="en-US" sz="2000" i="1">
                                <a:latin typeface="Cambria Math" panose="02040503050406030204" pitchFamily="18" charset="0"/>
                                <a:ea typeface="Cambria Math" panose="02040503050406030204" pitchFamily="18" charset="0"/>
                                <a:cs typeface="Arial" charset="0"/>
                              </a:rPr>
                            </m:ctrlPr>
                          </m:sSupPr>
                          <m:e>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𝑡</m:t>
                            </m:r>
                          </m:e>
                          <m:sup>
                            <m:r>
                              <a:rPr lang="en-US" sz="2000" i="1">
                                <a:latin typeface="Cambria Math" panose="02040503050406030204" pitchFamily="18" charset="0"/>
                                <a:cs typeface="Arial" charset="0"/>
                              </a:rPr>
                              <m:t>2</m:t>
                            </m:r>
                          </m:sup>
                        </m:sSup>
                      </m:den>
                    </m:f>
                  </m:oMath>
                </a14:m>
                <a:endParaRPr lang="en-US" sz="2000" dirty="0">
                  <a:ea typeface="Arial" charset="0"/>
                  <a:cs typeface="Arial" charset="0"/>
                </a:endParaRPr>
              </a:p>
              <a:p>
                <a:pPr marL="800100" lvl="1" indent="-342900" algn="l">
                  <a:buFont typeface="Arial" panose="020B0604020202020204" pitchFamily="34" charset="0"/>
                  <a:buChar char="•"/>
                </a:pPr>
                <a14:m>
                  <m:oMath xmlns:m="http://schemas.openxmlformats.org/officeDocument/2006/math">
                    <m:r>
                      <m:rPr>
                        <m:sty m:val="p"/>
                      </m:rP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m:t>
                    </m:r>
                    <m:r>
                      <a:rPr lang="en-US" sz="2000" b="1">
                        <a:latin typeface="Cambria Math" panose="02040503050406030204" pitchFamily="18" charset="0"/>
                        <a:ea typeface="Cambria Math" panose="02040503050406030204" pitchFamily="18" charset="0"/>
                        <a:cs typeface="Arial" charset="0"/>
                      </a:rPr>
                      <m:t>𝐄</m:t>
                    </m:r>
                    <m:r>
                      <a:rPr lang="en-US" sz="2000" i="1">
                        <a:latin typeface="Cambria Math" panose="02040503050406030204" pitchFamily="18" charset="0"/>
                        <a:ea typeface="Cambria Math" panose="02040503050406030204" pitchFamily="18" charset="0"/>
                        <a:cs typeface="Arial" charset="0"/>
                      </a:rPr>
                      <m:t>=−</m:t>
                    </m:r>
                    <m:f>
                      <m:fPr>
                        <m:ctrlPr>
                          <a:rPr lang="en-US" sz="2000" i="1">
                            <a:latin typeface="Cambria Math" panose="02040503050406030204" pitchFamily="18" charset="0"/>
                            <a:ea typeface="Cambria Math" panose="02040503050406030204" pitchFamily="18" charset="0"/>
                            <a:cs typeface="Arial" charset="0"/>
                          </a:rPr>
                        </m:ctrlPr>
                      </m:fPr>
                      <m:num>
                        <m:r>
                          <a:rPr lang="en-US" sz="2000" i="1">
                            <a:latin typeface="Cambria Math" panose="02040503050406030204" pitchFamily="18" charset="0"/>
                            <a:ea typeface="Cambria Math" panose="02040503050406030204" pitchFamily="18" charset="0"/>
                            <a:cs typeface="Arial" charset="0"/>
                          </a:rPr>
                          <m:t>𝜕</m:t>
                        </m:r>
                        <m:r>
                          <a:rPr lang="en-US" sz="2000" b="1">
                            <a:latin typeface="Cambria Math" panose="02040503050406030204" pitchFamily="18" charset="0"/>
                            <a:ea typeface="Cambria Math" panose="02040503050406030204" pitchFamily="18" charset="0"/>
                            <a:cs typeface="Arial" charset="0"/>
                          </a:rPr>
                          <m:t>𝐁</m:t>
                        </m:r>
                      </m:num>
                      <m:den>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𝑡</m:t>
                        </m:r>
                      </m:den>
                    </m:f>
                  </m:oMath>
                </a14:m>
                <a:r>
                  <a:rPr lang="en-US" sz="2000" dirty="0">
                    <a:ea typeface="Arial" charset="0"/>
                    <a:cs typeface="Arial" charset="0"/>
                  </a:rPr>
                  <a:t>, so we get </a:t>
                </a:r>
                <a14:m>
                  <m:oMath xmlns:m="http://schemas.openxmlformats.org/officeDocument/2006/math">
                    <m:sSup>
                      <m:sSupPr>
                        <m:ctrlPr>
                          <a:rPr lang="en-US" sz="2000" b="0" i="1" smtClean="0">
                            <a:latin typeface="Cambria Math" panose="02040503050406030204" pitchFamily="18" charset="0"/>
                            <a:cs typeface="Arial" charset="0"/>
                          </a:rPr>
                        </m:ctrlPr>
                      </m:sSupPr>
                      <m:e>
                        <m:r>
                          <a:rPr lang="en-US" sz="2000" b="0" i="1" smtClean="0">
                            <a:latin typeface="Cambria Math" panose="02040503050406030204" pitchFamily="18" charset="0"/>
                            <a:cs typeface="Arial" charset="0"/>
                          </a:rPr>
                          <m:t>𝑐</m:t>
                        </m:r>
                      </m:e>
                      <m:sup>
                        <m:r>
                          <a:rPr lang="en-US" sz="2000" b="0" i="1" smtClean="0">
                            <a:latin typeface="Cambria Math" panose="02040503050406030204" pitchFamily="18" charset="0"/>
                            <a:cs typeface="Arial" charset="0"/>
                          </a:rPr>
                          <m:t>2</m:t>
                        </m:r>
                      </m:sup>
                    </m:sSup>
                    <m:r>
                      <m:rPr>
                        <m:sty m:val="p"/>
                      </m:rPr>
                      <a:rPr lang="en-US" sz="2000" i="1" smtClean="0">
                        <a:latin typeface="Cambria Math" panose="02040503050406030204" pitchFamily="18" charset="0"/>
                        <a:ea typeface="Cambria Math" panose="02040503050406030204" pitchFamily="18" charset="0"/>
                        <a:cs typeface="Arial" charset="0"/>
                      </a:rPr>
                      <m:t>∇</m:t>
                    </m:r>
                    <m:r>
                      <a:rPr lang="en-US" sz="2000" i="1" smtClean="0">
                        <a:latin typeface="Cambria Math" panose="02040503050406030204" pitchFamily="18" charset="0"/>
                        <a:ea typeface="Cambria Math" panose="02040503050406030204" pitchFamily="18" charset="0"/>
                        <a:cs typeface="Arial" charset="0"/>
                      </a:rPr>
                      <m:t>×</m:t>
                    </m:r>
                    <m:f>
                      <m:fPr>
                        <m:ctrlPr>
                          <a:rPr lang="en-US" sz="2000" i="1" smtClean="0">
                            <a:latin typeface="Cambria Math" panose="02040503050406030204" pitchFamily="18" charset="0"/>
                            <a:ea typeface="Cambria Math" panose="02040503050406030204" pitchFamily="18" charset="0"/>
                            <a:cs typeface="Arial" charset="0"/>
                          </a:rPr>
                        </m:ctrlPr>
                      </m:fPr>
                      <m:num>
                        <m:r>
                          <a:rPr lang="en-US" sz="2000" i="1" smtClean="0">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𝐵</m:t>
                        </m:r>
                      </m:num>
                      <m:den>
                        <m:r>
                          <a:rPr lang="en-US" sz="2000" i="1" smtClean="0">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𝑡</m:t>
                        </m:r>
                      </m:den>
                    </m:f>
                    <m:r>
                      <a:rPr lang="en-US" sz="2000" b="0" i="0" smtClean="0">
                        <a:latin typeface="Cambria Math" panose="02040503050406030204" pitchFamily="18" charset="0"/>
                        <a:ea typeface="Cambria Math" panose="02040503050406030204" pitchFamily="18" charset="0"/>
                        <a:cs typeface="Arial" charset="0"/>
                      </a:rPr>
                      <m:t>=−</m:t>
                    </m:r>
                    <m:sSup>
                      <m:sSupPr>
                        <m:ctrlPr>
                          <a:rPr lang="en-US" sz="2000" b="0" i="1" smtClean="0">
                            <a:latin typeface="Cambria Math" panose="02040503050406030204" pitchFamily="18" charset="0"/>
                            <a:ea typeface="Cambria Math" panose="02040503050406030204" pitchFamily="18" charset="0"/>
                            <a:cs typeface="Arial" charset="0"/>
                          </a:rPr>
                        </m:ctrlPr>
                      </m:sSupPr>
                      <m:e>
                        <m:r>
                          <a:rPr lang="en-US" sz="2000" b="0" i="1" smtClean="0">
                            <a:latin typeface="Cambria Math" panose="02040503050406030204" pitchFamily="18" charset="0"/>
                            <a:ea typeface="Cambria Math" panose="02040503050406030204" pitchFamily="18" charset="0"/>
                            <a:cs typeface="Arial" charset="0"/>
                          </a:rPr>
                          <m:t>𝑐</m:t>
                        </m:r>
                      </m:e>
                      <m:sup>
                        <m:r>
                          <a:rPr lang="en-US" sz="2000" b="0" i="1" smtClean="0">
                            <a:latin typeface="Cambria Math" panose="02040503050406030204" pitchFamily="18" charset="0"/>
                            <a:ea typeface="Cambria Math" panose="02040503050406030204" pitchFamily="18" charset="0"/>
                            <a:cs typeface="Arial" charset="0"/>
                          </a:rPr>
                          <m:t>2</m:t>
                        </m:r>
                      </m:sup>
                    </m:sSup>
                    <m:r>
                      <m:rPr>
                        <m:sty m:val="p"/>
                      </m:rPr>
                      <a:rPr lang="en-US" sz="2000" b="0" i="1" smtClean="0">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m:t>
                    </m:r>
                    <m:d>
                      <m:dPr>
                        <m:ctrlPr>
                          <a:rPr lang="en-US" sz="2000" b="0" i="1" smtClean="0">
                            <a:latin typeface="Cambria Math" panose="02040503050406030204" pitchFamily="18" charset="0"/>
                            <a:ea typeface="Cambria Math" panose="02040503050406030204" pitchFamily="18" charset="0"/>
                            <a:cs typeface="Arial" charset="0"/>
                          </a:rPr>
                        </m:ctrlPr>
                      </m:dPr>
                      <m:e>
                        <m:r>
                          <m:rPr>
                            <m:sty m:val="p"/>
                          </m:rPr>
                          <a:rPr lang="en-US" sz="2000" b="0" i="1" smtClean="0">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𝐸</m:t>
                        </m:r>
                      </m:e>
                    </m:d>
                    <m:r>
                      <a:rPr lang="en-US" sz="2000" b="0" i="0" smtClean="0">
                        <a:latin typeface="Cambria Math" panose="02040503050406030204" pitchFamily="18" charset="0"/>
                        <a:ea typeface="Cambria Math" panose="02040503050406030204" pitchFamily="18" charset="0"/>
                        <a:cs typeface="Arial" charset="0"/>
                      </a:rPr>
                      <m:t>=</m:t>
                    </m:r>
                    <m:f>
                      <m:fPr>
                        <m:ctrlPr>
                          <a:rPr lang="en-US" sz="2000" i="1">
                            <a:latin typeface="Cambria Math" panose="02040503050406030204" pitchFamily="18" charset="0"/>
                            <a:ea typeface="Cambria Math" panose="02040503050406030204" pitchFamily="18" charset="0"/>
                            <a:cs typeface="Arial" charset="0"/>
                          </a:rPr>
                        </m:ctrlPr>
                      </m:fPr>
                      <m:num>
                        <m:r>
                          <a:rPr lang="en-US" sz="2000" i="1">
                            <a:latin typeface="Cambria Math" panose="02040503050406030204" pitchFamily="18" charset="0"/>
                            <a:ea typeface="Cambria Math" panose="02040503050406030204" pitchFamily="18" charset="0"/>
                            <a:cs typeface="Arial" charset="0"/>
                          </a:rPr>
                          <m:t>𝜎</m:t>
                        </m:r>
                      </m:num>
                      <m:den>
                        <m:r>
                          <a:rPr lang="en-US" sz="2000" i="1">
                            <a:latin typeface="Cambria Math" panose="02040503050406030204" pitchFamily="18" charset="0"/>
                            <a:ea typeface="Cambria Math" panose="02040503050406030204" pitchFamily="18" charset="0"/>
                            <a:cs typeface="Arial" charset="0"/>
                          </a:rPr>
                          <m:t>𝜖</m:t>
                        </m:r>
                      </m:den>
                    </m:f>
                    <m:f>
                      <m:fPr>
                        <m:ctrlPr>
                          <a:rPr lang="en-US" sz="2000" i="1">
                            <a:latin typeface="Cambria Math" panose="02040503050406030204" pitchFamily="18" charset="0"/>
                            <a:ea typeface="Cambria Math" panose="02040503050406030204" pitchFamily="18" charset="0"/>
                            <a:cs typeface="Arial" charset="0"/>
                          </a:rPr>
                        </m:ctrlPr>
                      </m:fPr>
                      <m:num>
                        <m:r>
                          <a:rPr lang="en-US" sz="2000" i="1">
                            <a:latin typeface="Cambria Math" panose="02040503050406030204" pitchFamily="18" charset="0"/>
                            <a:ea typeface="Cambria Math" panose="02040503050406030204" pitchFamily="18" charset="0"/>
                            <a:cs typeface="Arial" charset="0"/>
                          </a:rPr>
                          <m:t>𝜕</m:t>
                        </m:r>
                        <m:r>
                          <a:rPr lang="en-US" sz="2000" b="1">
                            <a:latin typeface="Cambria Math" panose="02040503050406030204" pitchFamily="18" charset="0"/>
                            <a:ea typeface="Cambria Math" panose="02040503050406030204" pitchFamily="18" charset="0"/>
                            <a:cs typeface="Arial" charset="0"/>
                          </a:rPr>
                          <m:t>𝐄</m:t>
                        </m:r>
                      </m:num>
                      <m:den>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𝑡</m:t>
                        </m:r>
                      </m:den>
                    </m:f>
                    <m:r>
                      <a:rPr lang="en-US" sz="2000" i="1">
                        <a:latin typeface="Cambria Math" panose="02040503050406030204" pitchFamily="18" charset="0"/>
                        <a:cs typeface="Arial" charset="0"/>
                      </a:rPr>
                      <m:t>+</m:t>
                    </m:r>
                    <m:f>
                      <m:fPr>
                        <m:ctrlPr>
                          <a:rPr lang="en-US" sz="2000" i="1">
                            <a:latin typeface="Cambria Math" panose="02040503050406030204" pitchFamily="18" charset="0"/>
                            <a:cs typeface="Arial" charset="0"/>
                          </a:rPr>
                        </m:ctrlPr>
                      </m:fPr>
                      <m:num>
                        <m:sSup>
                          <m:sSupPr>
                            <m:ctrlPr>
                              <a:rPr lang="en-US" sz="2000" i="1">
                                <a:latin typeface="Cambria Math" panose="02040503050406030204" pitchFamily="18" charset="0"/>
                                <a:ea typeface="Cambria Math" panose="02040503050406030204" pitchFamily="18" charset="0"/>
                                <a:cs typeface="Arial" charset="0"/>
                              </a:rPr>
                            </m:ctrlPr>
                          </m:sSupPr>
                          <m:e>
                            <m:r>
                              <a:rPr lang="en-US" sz="2000" i="1">
                                <a:latin typeface="Cambria Math" panose="02040503050406030204" pitchFamily="18" charset="0"/>
                                <a:ea typeface="Cambria Math" panose="02040503050406030204" pitchFamily="18" charset="0"/>
                                <a:cs typeface="Arial" charset="0"/>
                              </a:rPr>
                              <m:t>𝜕</m:t>
                            </m:r>
                          </m:e>
                          <m:sup>
                            <m:r>
                              <a:rPr lang="en-US" sz="2000" i="1">
                                <a:latin typeface="Cambria Math" panose="02040503050406030204" pitchFamily="18" charset="0"/>
                                <a:cs typeface="Arial" charset="0"/>
                              </a:rPr>
                              <m:t>2</m:t>
                            </m:r>
                          </m:sup>
                        </m:sSup>
                        <m:r>
                          <a:rPr lang="en-US" sz="2000" b="1">
                            <a:latin typeface="Cambria Math" panose="02040503050406030204" pitchFamily="18" charset="0"/>
                            <a:cs typeface="Arial" charset="0"/>
                          </a:rPr>
                          <m:t>𝐄</m:t>
                        </m:r>
                      </m:num>
                      <m:den>
                        <m:sSup>
                          <m:sSupPr>
                            <m:ctrlPr>
                              <a:rPr lang="en-US" sz="2000" i="1">
                                <a:latin typeface="Cambria Math" panose="02040503050406030204" pitchFamily="18" charset="0"/>
                                <a:ea typeface="Cambria Math" panose="02040503050406030204" pitchFamily="18" charset="0"/>
                                <a:cs typeface="Arial" charset="0"/>
                              </a:rPr>
                            </m:ctrlPr>
                          </m:sSupPr>
                          <m:e>
                            <m:r>
                              <a:rPr lang="en-US" sz="2000" i="1">
                                <a:latin typeface="Cambria Math" panose="02040503050406030204" pitchFamily="18" charset="0"/>
                                <a:ea typeface="Cambria Math" panose="02040503050406030204" pitchFamily="18" charset="0"/>
                                <a:cs typeface="Arial" charset="0"/>
                              </a:rPr>
                              <m:t>𝜕</m:t>
                            </m:r>
                            <m:r>
                              <a:rPr lang="en-US" sz="2000" i="1">
                                <a:latin typeface="Cambria Math" panose="02040503050406030204" pitchFamily="18" charset="0"/>
                                <a:ea typeface="Cambria Math" panose="02040503050406030204" pitchFamily="18" charset="0"/>
                                <a:cs typeface="Arial" charset="0"/>
                              </a:rPr>
                              <m:t>𝑡</m:t>
                            </m:r>
                          </m:e>
                          <m:sup>
                            <m:r>
                              <a:rPr lang="en-US" sz="2000" i="1">
                                <a:latin typeface="Cambria Math" panose="02040503050406030204" pitchFamily="18" charset="0"/>
                                <a:cs typeface="Arial" charset="0"/>
                              </a:rPr>
                              <m:t>2</m:t>
                            </m:r>
                          </m:sup>
                        </m:sSup>
                      </m:den>
                    </m:f>
                    <m:r>
                      <a:rPr lang="en-US" sz="2000" b="0" i="0" smtClean="0">
                        <a:latin typeface="Cambria Math" panose="02040503050406030204" pitchFamily="18" charset="0"/>
                        <a:cs typeface="Arial" charset="0"/>
                      </a:rPr>
                      <m:t>=−</m:t>
                    </m:r>
                    <m:sSup>
                      <m:sSupPr>
                        <m:ctrlPr>
                          <a:rPr lang="en-US" sz="2000" b="0" i="1" smtClean="0">
                            <a:latin typeface="Cambria Math" panose="02040503050406030204" pitchFamily="18" charset="0"/>
                            <a:cs typeface="Arial" charset="0"/>
                          </a:rPr>
                        </m:ctrlPr>
                      </m:sSupPr>
                      <m:e>
                        <m:r>
                          <a:rPr lang="en-US" sz="2000" b="0" i="1" smtClean="0">
                            <a:latin typeface="Cambria Math" panose="02040503050406030204" pitchFamily="18" charset="0"/>
                            <a:cs typeface="Arial" charset="0"/>
                          </a:rPr>
                          <m:t>𝑐</m:t>
                        </m:r>
                      </m:e>
                      <m:sup>
                        <m:r>
                          <a:rPr lang="en-US" sz="2000" b="0" i="1" smtClean="0">
                            <a:latin typeface="Cambria Math" panose="02040503050406030204" pitchFamily="18" charset="0"/>
                            <a:cs typeface="Arial" charset="0"/>
                          </a:rPr>
                          <m:t>2</m:t>
                        </m:r>
                      </m:sup>
                    </m:sSup>
                    <m:d>
                      <m:dPr>
                        <m:begChr m:val="["/>
                        <m:endChr m:val="]"/>
                        <m:ctrlPr>
                          <a:rPr lang="en-US" sz="2000" i="1">
                            <a:latin typeface="Cambria Math" panose="02040503050406030204" pitchFamily="18" charset="0"/>
                            <a:ea typeface="Cambria Math" panose="02040503050406030204" pitchFamily="18" charset="0"/>
                            <a:cs typeface="Arial" charset="0"/>
                          </a:rPr>
                        </m:ctrlPr>
                      </m:dPr>
                      <m:e>
                        <m:r>
                          <m:rPr>
                            <m:sty m:val="p"/>
                          </m:rPr>
                          <a:rPr lang="en-US" sz="2000" i="1">
                            <a:latin typeface="Cambria Math" panose="02040503050406030204" pitchFamily="18" charset="0"/>
                            <a:ea typeface="Cambria Math" panose="02040503050406030204" pitchFamily="18" charset="0"/>
                            <a:cs typeface="Arial" charset="0"/>
                          </a:rPr>
                          <m:t>∇</m:t>
                        </m:r>
                        <m:d>
                          <m:dPr>
                            <m:ctrlPr>
                              <a:rPr lang="en-US" sz="2000" b="1" i="1">
                                <a:latin typeface="Cambria Math" panose="02040503050406030204" pitchFamily="18" charset="0"/>
                                <a:ea typeface="Cambria Math" panose="02040503050406030204" pitchFamily="18" charset="0"/>
                                <a:cs typeface="Arial" charset="0"/>
                              </a:rPr>
                            </m:ctrlPr>
                          </m:dPr>
                          <m:e>
                            <m:r>
                              <a:rPr lang="en-US" sz="2000" b="1" i="1">
                                <a:latin typeface="Cambria Math" panose="02040503050406030204" pitchFamily="18" charset="0"/>
                                <a:ea typeface="Cambria Math" panose="02040503050406030204" pitchFamily="18" charset="0"/>
                                <a:cs typeface="Arial" charset="0"/>
                              </a:rPr>
                              <m:t>𝜵</m:t>
                            </m:r>
                            <m:r>
                              <a:rPr lang="en-US" sz="2000" b="1" i="1">
                                <a:latin typeface="Cambria Math" panose="02040503050406030204" pitchFamily="18" charset="0"/>
                                <a:ea typeface="Cambria Math" panose="02040503050406030204" pitchFamily="18" charset="0"/>
                                <a:cs typeface="Arial" charset="0"/>
                              </a:rPr>
                              <m:t>∙</m:t>
                            </m:r>
                            <m:r>
                              <a:rPr lang="en-US" sz="2000" b="1">
                                <a:latin typeface="Cambria Math" panose="02040503050406030204" pitchFamily="18" charset="0"/>
                                <a:ea typeface="Cambria Math" panose="02040503050406030204" pitchFamily="18" charset="0"/>
                                <a:cs typeface="Arial" charset="0"/>
                              </a:rPr>
                              <m:t>𝐄</m:t>
                            </m:r>
                          </m:e>
                        </m:d>
                        <m:r>
                          <a:rPr lang="en-US" sz="2000">
                            <a:latin typeface="Cambria Math" panose="02040503050406030204" pitchFamily="18" charset="0"/>
                            <a:ea typeface="Cambria Math" panose="02040503050406030204" pitchFamily="18" charset="0"/>
                            <a:cs typeface="Arial" charset="0"/>
                          </a:rPr>
                          <m:t>−</m:t>
                        </m:r>
                        <m:sSup>
                          <m:sSupPr>
                            <m:ctrlPr>
                              <a:rPr lang="en-US" sz="2000" i="1">
                                <a:latin typeface="Cambria Math" panose="02040503050406030204" pitchFamily="18" charset="0"/>
                                <a:ea typeface="Cambria Math" panose="02040503050406030204" pitchFamily="18" charset="0"/>
                                <a:cs typeface="Arial" charset="0"/>
                              </a:rPr>
                            </m:ctrlPr>
                          </m:sSupPr>
                          <m:e>
                            <m:r>
                              <m:rPr>
                                <m:sty m:val="p"/>
                              </m:rPr>
                              <a:rPr lang="en-US" sz="2000" i="1">
                                <a:latin typeface="Cambria Math" panose="02040503050406030204" pitchFamily="18" charset="0"/>
                                <a:ea typeface="Cambria Math" panose="02040503050406030204" pitchFamily="18" charset="0"/>
                                <a:cs typeface="Arial" charset="0"/>
                              </a:rPr>
                              <m:t>∇</m:t>
                            </m:r>
                          </m:e>
                          <m:sup>
                            <m:r>
                              <a:rPr lang="en-US" sz="2000" i="1">
                                <a:latin typeface="Cambria Math" panose="02040503050406030204" pitchFamily="18" charset="0"/>
                                <a:ea typeface="Cambria Math" panose="02040503050406030204" pitchFamily="18" charset="0"/>
                                <a:cs typeface="Arial" charset="0"/>
                              </a:rPr>
                              <m:t>2</m:t>
                            </m:r>
                          </m:sup>
                        </m:sSup>
                        <m:r>
                          <a:rPr lang="en-US" sz="2000" b="1">
                            <a:latin typeface="Cambria Math" panose="02040503050406030204" pitchFamily="18" charset="0"/>
                            <a:ea typeface="Cambria Math" panose="02040503050406030204" pitchFamily="18" charset="0"/>
                            <a:cs typeface="Arial" charset="0"/>
                          </a:rPr>
                          <m:t>𝐄</m:t>
                        </m:r>
                      </m:e>
                    </m:d>
                    <m:r>
                      <a:rPr lang="en-US" sz="2000" b="1" i="0" smtClean="0">
                        <a:latin typeface="Cambria Math" panose="02040503050406030204" pitchFamily="18" charset="0"/>
                        <a:ea typeface="Cambria Math" panose="02040503050406030204" pitchFamily="18" charset="0"/>
                        <a:cs typeface="Arial" charset="0"/>
                      </a:rPr>
                      <m:t>=</m:t>
                    </m:r>
                    <m:sSup>
                      <m:sSupPr>
                        <m:ctrlPr>
                          <a:rPr lang="en-US" sz="2000" b="0" i="1" smtClean="0">
                            <a:latin typeface="Cambria Math" panose="02040503050406030204" pitchFamily="18" charset="0"/>
                            <a:ea typeface="Cambria Math" panose="02040503050406030204" pitchFamily="18" charset="0"/>
                            <a:cs typeface="Arial" charset="0"/>
                          </a:rPr>
                        </m:ctrlPr>
                      </m:sSupPr>
                      <m:e>
                        <m:r>
                          <a:rPr lang="en-US" sz="2000" b="0" i="1" smtClean="0">
                            <a:latin typeface="Cambria Math" panose="02040503050406030204" pitchFamily="18" charset="0"/>
                            <a:ea typeface="Cambria Math" panose="02040503050406030204" pitchFamily="18" charset="0"/>
                            <a:cs typeface="Arial" charset="0"/>
                          </a:rPr>
                          <m:t>𝑐</m:t>
                        </m:r>
                      </m:e>
                      <m:sup>
                        <m:r>
                          <a:rPr lang="en-US" sz="2000" b="1" i="1" smtClean="0">
                            <a:latin typeface="Cambria Math" panose="02040503050406030204" pitchFamily="18" charset="0"/>
                            <a:ea typeface="Cambria Math" panose="02040503050406030204" pitchFamily="18" charset="0"/>
                            <a:cs typeface="Arial" charset="0"/>
                          </a:rPr>
                          <m:t>𝟐</m:t>
                        </m:r>
                      </m:sup>
                    </m:sSup>
                    <m:sSup>
                      <m:sSupPr>
                        <m:ctrlPr>
                          <a:rPr lang="en-US" sz="2000" b="1" i="1" smtClean="0">
                            <a:latin typeface="Cambria Math" panose="02040503050406030204" pitchFamily="18" charset="0"/>
                            <a:ea typeface="Cambria Math" panose="02040503050406030204" pitchFamily="18" charset="0"/>
                            <a:cs typeface="Arial" charset="0"/>
                          </a:rPr>
                        </m:ctrlPr>
                      </m:sSupPr>
                      <m:e>
                        <m:r>
                          <a:rPr lang="en-US" sz="2000" b="1" i="1" smtClean="0">
                            <a:latin typeface="Cambria Math" panose="02040503050406030204" pitchFamily="18" charset="0"/>
                            <a:ea typeface="Cambria Math" panose="02040503050406030204" pitchFamily="18" charset="0"/>
                            <a:cs typeface="Arial" charset="0"/>
                          </a:rPr>
                          <m:t>𝛁</m:t>
                        </m:r>
                      </m:e>
                      <m:sup>
                        <m:r>
                          <a:rPr lang="en-US" sz="2000" b="1" i="1" smtClean="0">
                            <a:latin typeface="Cambria Math" panose="02040503050406030204" pitchFamily="18" charset="0"/>
                            <a:ea typeface="Cambria Math" panose="02040503050406030204" pitchFamily="18" charset="0"/>
                            <a:cs typeface="Arial" charset="0"/>
                          </a:rPr>
                          <m:t>𝟐</m:t>
                        </m:r>
                      </m:sup>
                    </m:sSup>
                    <m:r>
                      <a:rPr lang="en-US" sz="2000" b="1" i="0" smtClean="0">
                        <a:latin typeface="Cambria Math" panose="02040503050406030204" pitchFamily="18" charset="0"/>
                        <a:ea typeface="Cambria Math" panose="02040503050406030204" pitchFamily="18" charset="0"/>
                        <a:cs typeface="Arial" charset="0"/>
                      </a:rPr>
                      <m:t>𝐄</m:t>
                    </m:r>
                    <m:r>
                      <a:rPr lang="en-US" sz="2000" b="1" i="1" smtClean="0">
                        <a:latin typeface="Cambria Math" panose="02040503050406030204" pitchFamily="18" charset="0"/>
                        <a:ea typeface="Cambria Math" panose="02040503050406030204" pitchFamily="18" charset="0"/>
                        <a:cs typeface="Arial" charset="0"/>
                      </a:rPr>
                      <m:t> </m:t>
                    </m:r>
                  </m:oMath>
                </a14:m>
                <a:r>
                  <a:rPr lang="en-US" sz="2000" dirty="0">
                    <a:ea typeface="Arial" charset="0"/>
                    <a:cs typeface="Arial" charset="0"/>
                  </a:rPr>
                  <a:t> (since </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charset="0"/>
                      </a:rPr>
                      <m:t>𝜌</m:t>
                    </m:r>
                    <m:r>
                      <a:rPr lang="en-US" sz="2000" b="0" i="1" smtClean="0">
                        <a:latin typeface="Cambria Math" panose="02040503050406030204" pitchFamily="18" charset="0"/>
                        <a:ea typeface="Cambria Math" panose="02040503050406030204" pitchFamily="18" charset="0"/>
                        <a:cs typeface="Arial" charset="0"/>
                      </a:rPr>
                      <m:t>=0</m:t>
                    </m:r>
                  </m:oMath>
                </a14:m>
                <a:r>
                  <a:rPr lang="en-US" sz="2000" dirty="0">
                    <a:ea typeface="Arial" charset="0"/>
                    <a:cs typeface="Arial" charset="0"/>
                  </a:rPr>
                  <a:t> in a conductor)</a:t>
                </a:r>
              </a:p>
              <a:p>
                <a:pPr marL="800100" lvl="1" indent="-342900" algn="l">
                  <a:buFont typeface="Arial" panose="020B0604020202020204" pitchFamily="34" charset="0"/>
                  <a:buChar char="•"/>
                </a:pPr>
                <a:r>
                  <a:rPr lang="en-US" sz="2000" dirty="0">
                    <a:ea typeface="Arial" charset="0"/>
                    <a:cs typeface="Arial" charset="0"/>
                  </a:rPr>
                  <a:t>Applying the trial solution E= E</a:t>
                </a:r>
                <a:r>
                  <a:rPr lang="en-US" sz="2000" baseline="-25000" dirty="0">
                    <a:ea typeface="Arial" charset="0"/>
                    <a:cs typeface="Arial" charset="0"/>
                  </a:rPr>
                  <a:t>0</a:t>
                </a:r>
                <a:r>
                  <a:rPr lang="en-US" sz="2000" dirty="0">
                    <a:ea typeface="Arial" charset="0"/>
                    <a:cs typeface="Arial" charset="0"/>
                  </a:rPr>
                  <a:t> exp(𝜔t-</a:t>
                </a:r>
                <a:r>
                  <a:rPr lang="en-US" sz="2000" dirty="0" err="1">
                    <a:ea typeface="Arial" charset="0"/>
                    <a:cs typeface="Arial" charset="0"/>
                  </a:rPr>
                  <a:t>kr</a:t>
                </a:r>
                <a:r>
                  <a:rPr lang="en-US" sz="2000" dirty="0">
                    <a:ea typeface="Arial" charset="0"/>
                    <a:cs typeface="Arial" charset="0"/>
                  </a:rPr>
                  <a:t>), we get –k</a:t>
                </a:r>
                <a:r>
                  <a:rPr lang="en-US" sz="2000" baseline="30000" dirty="0">
                    <a:ea typeface="Arial" charset="0"/>
                    <a:cs typeface="Arial" charset="0"/>
                  </a:rPr>
                  <a:t>2</a:t>
                </a:r>
                <a:r>
                  <a:rPr lang="en-US" sz="2000" dirty="0">
                    <a:ea typeface="Arial" charset="0"/>
                    <a:cs typeface="Arial" charset="0"/>
                  </a:rPr>
                  <a:t>-i𝜔𝜇𝜎 + 𝜔</a:t>
                </a:r>
                <a:r>
                  <a:rPr lang="en-US" sz="2000" baseline="30000" dirty="0">
                    <a:ea typeface="Arial" charset="0"/>
                    <a:cs typeface="Arial" charset="0"/>
                  </a:rPr>
                  <a:t>2</a:t>
                </a:r>
                <a:r>
                  <a:rPr lang="en-US" sz="2000" dirty="0">
                    <a:ea typeface="Arial" charset="0"/>
                    <a:cs typeface="Arial" charset="0"/>
                  </a:rPr>
                  <a:t>𝜇𝜖 = 0.</a:t>
                </a:r>
              </a:p>
              <a:p>
                <a:pPr marL="800100" lvl="1" indent="-342900" algn="l">
                  <a:buFont typeface="Arial" panose="020B0604020202020204" pitchFamily="34" charset="0"/>
                  <a:buChar char="•"/>
                </a:pPr>
                <a:r>
                  <a:rPr lang="en-US" sz="2000" dirty="0">
                    <a:ea typeface="Arial" charset="0"/>
                    <a:cs typeface="Arial" charset="0"/>
                  </a:rPr>
                  <a:t>Putting k = 𝛼-𝛽i, </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charset="0"/>
                      </a:rPr>
                      <m:t>𝛼</m:t>
                    </m:r>
                    <m:r>
                      <a:rPr lang="en-US" sz="2000" b="0" i="1" smtClean="0">
                        <a:latin typeface="Cambria Math" panose="02040503050406030204" pitchFamily="18" charset="0"/>
                        <a:ea typeface="Cambria Math" panose="02040503050406030204" pitchFamily="18" charset="0"/>
                        <a:cs typeface="Arial" charset="0"/>
                      </a:rPr>
                      <m:t>= </m:t>
                    </m:r>
                    <m:f>
                      <m:fPr>
                        <m:ctrlPr>
                          <a:rPr lang="en-US" sz="2000" b="0" i="1" smtClean="0">
                            <a:latin typeface="Cambria Math" panose="02040503050406030204" pitchFamily="18" charset="0"/>
                            <a:ea typeface="Cambria Math" panose="02040503050406030204" pitchFamily="18" charset="0"/>
                            <a:cs typeface="Arial" charset="0"/>
                          </a:rPr>
                        </m:ctrlPr>
                      </m:fPr>
                      <m:num>
                        <m:r>
                          <a:rPr lang="en-US" sz="2000" b="0" i="1" smtClean="0">
                            <a:latin typeface="Cambria Math" panose="02040503050406030204" pitchFamily="18" charset="0"/>
                            <a:ea typeface="Cambria Math" panose="02040503050406030204" pitchFamily="18" charset="0"/>
                            <a:cs typeface="Arial" charset="0"/>
                          </a:rPr>
                          <m:t>𝜔</m:t>
                        </m:r>
                      </m:num>
                      <m:den>
                        <m:r>
                          <a:rPr lang="en-US" sz="2000" b="0" i="1" smtClean="0">
                            <a:latin typeface="Cambria Math" panose="02040503050406030204" pitchFamily="18" charset="0"/>
                            <a:ea typeface="Cambria Math" panose="02040503050406030204" pitchFamily="18" charset="0"/>
                            <a:cs typeface="Arial" charset="0"/>
                          </a:rPr>
                          <m:t>2</m:t>
                        </m:r>
                      </m:den>
                    </m:f>
                    <m:rad>
                      <m:radPr>
                        <m:degHide m:val="on"/>
                        <m:ctrlPr>
                          <a:rPr lang="en-US" sz="2000" b="0" i="1" smtClean="0">
                            <a:latin typeface="Cambria Math" panose="02040503050406030204" pitchFamily="18" charset="0"/>
                            <a:ea typeface="Cambria Math" panose="02040503050406030204" pitchFamily="18" charset="0"/>
                            <a:cs typeface="Arial" charset="0"/>
                          </a:rPr>
                        </m:ctrlPr>
                      </m:radPr>
                      <m:deg/>
                      <m:e>
                        <m:r>
                          <a:rPr lang="en-US" sz="2000" b="0" i="1" smtClean="0">
                            <a:latin typeface="Cambria Math" panose="02040503050406030204" pitchFamily="18" charset="0"/>
                            <a:ea typeface="Cambria Math" panose="02040503050406030204" pitchFamily="18" charset="0"/>
                            <a:cs typeface="Arial" charset="0"/>
                          </a:rPr>
                          <m:t>𝜇𝜖</m:t>
                        </m:r>
                      </m:e>
                    </m:rad>
                    <m:r>
                      <a:rPr lang="en-US" sz="2000" b="0" i="0" smtClean="0">
                        <a:latin typeface="Cambria Math" panose="02040503050406030204" pitchFamily="18" charset="0"/>
                        <a:ea typeface="Cambria Math" panose="02040503050406030204" pitchFamily="18" charset="0"/>
                        <a:cs typeface="Arial" charset="0"/>
                      </a:rPr>
                      <m:t> (1+</m:t>
                    </m:r>
                    <m:rad>
                      <m:radPr>
                        <m:degHide m:val="on"/>
                        <m:ctrlPr>
                          <a:rPr lang="en-US" sz="2000" b="0" i="1" smtClean="0">
                            <a:latin typeface="Cambria Math" panose="02040503050406030204" pitchFamily="18" charset="0"/>
                            <a:ea typeface="Cambria Math" panose="02040503050406030204" pitchFamily="18" charset="0"/>
                            <a:cs typeface="Arial" charset="0"/>
                          </a:rPr>
                        </m:ctrlPr>
                      </m:radPr>
                      <m:deg/>
                      <m:e>
                        <m:r>
                          <a:rPr lang="en-US" sz="2000" b="0" i="1" smtClean="0">
                            <a:latin typeface="Cambria Math" panose="02040503050406030204" pitchFamily="18" charset="0"/>
                            <a:ea typeface="Cambria Math" panose="02040503050406030204" pitchFamily="18" charset="0"/>
                            <a:cs typeface="Arial" charset="0"/>
                          </a:rPr>
                          <m:t>1+</m:t>
                        </m:r>
                        <m:f>
                          <m:fPr>
                            <m:ctrlPr>
                              <a:rPr lang="en-US" sz="2000" b="0" i="1" smtClean="0">
                                <a:latin typeface="Cambria Math" panose="02040503050406030204" pitchFamily="18" charset="0"/>
                                <a:ea typeface="Cambria Math" panose="02040503050406030204" pitchFamily="18" charset="0"/>
                                <a:cs typeface="Arial" charset="0"/>
                              </a:rPr>
                            </m:ctrlPr>
                          </m:fPr>
                          <m:num>
                            <m:sSup>
                              <m:sSupPr>
                                <m:ctrlPr>
                                  <a:rPr lang="en-US" sz="2000" b="0" i="1" smtClean="0">
                                    <a:latin typeface="Cambria Math" panose="02040503050406030204" pitchFamily="18" charset="0"/>
                                    <a:ea typeface="Cambria Math" panose="02040503050406030204" pitchFamily="18" charset="0"/>
                                    <a:cs typeface="Arial" charset="0"/>
                                  </a:rPr>
                                </m:ctrlPr>
                              </m:sSupPr>
                              <m:e>
                                <m:r>
                                  <a:rPr lang="en-US" sz="2000" b="0" i="1" smtClean="0">
                                    <a:latin typeface="Cambria Math" panose="02040503050406030204" pitchFamily="18" charset="0"/>
                                    <a:ea typeface="Cambria Math" panose="02040503050406030204" pitchFamily="18" charset="0"/>
                                    <a:cs typeface="Arial" charset="0"/>
                                  </a:rPr>
                                  <m:t>𝜎</m:t>
                                </m:r>
                              </m:e>
                              <m:sup>
                                <m:r>
                                  <a:rPr lang="en-US" sz="2000" b="0" i="1" smtClean="0">
                                    <a:latin typeface="Cambria Math" panose="02040503050406030204" pitchFamily="18" charset="0"/>
                                    <a:ea typeface="Cambria Math" panose="02040503050406030204" pitchFamily="18" charset="0"/>
                                    <a:cs typeface="Arial" charset="0"/>
                                  </a:rPr>
                                  <m:t>2</m:t>
                                </m:r>
                              </m:sup>
                            </m:sSup>
                          </m:num>
                          <m:den>
                            <m:sSup>
                              <m:sSupPr>
                                <m:ctrlPr>
                                  <a:rPr lang="en-US" sz="2000" b="0" i="1" smtClean="0">
                                    <a:latin typeface="Cambria Math" panose="02040503050406030204" pitchFamily="18" charset="0"/>
                                    <a:ea typeface="Cambria Math" panose="02040503050406030204" pitchFamily="18" charset="0"/>
                                    <a:cs typeface="Arial" charset="0"/>
                                  </a:rPr>
                                </m:ctrlPr>
                              </m:sSupPr>
                              <m:e>
                                <m:r>
                                  <a:rPr lang="en-US" sz="2000" b="0" i="1" smtClean="0">
                                    <a:latin typeface="Cambria Math" panose="02040503050406030204" pitchFamily="18" charset="0"/>
                                    <a:ea typeface="Cambria Math" panose="02040503050406030204" pitchFamily="18" charset="0"/>
                                    <a:cs typeface="Arial" charset="0"/>
                                  </a:rPr>
                                  <m:t>𝜔</m:t>
                                </m:r>
                              </m:e>
                              <m:sup>
                                <m:r>
                                  <a:rPr lang="en-US" sz="2000" b="0" i="1" smtClean="0">
                                    <a:latin typeface="Cambria Math" panose="02040503050406030204" pitchFamily="18" charset="0"/>
                                    <a:ea typeface="Cambria Math" panose="02040503050406030204" pitchFamily="18" charset="0"/>
                                    <a:cs typeface="Arial" charset="0"/>
                                  </a:rPr>
                                  <m:t>2</m:t>
                                </m:r>
                              </m:sup>
                            </m:sSup>
                            <m:sSup>
                              <m:sSupPr>
                                <m:ctrlPr>
                                  <a:rPr lang="en-US" sz="2000" b="0" i="1" smtClean="0">
                                    <a:latin typeface="Cambria Math" panose="02040503050406030204" pitchFamily="18" charset="0"/>
                                    <a:ea typeface="Cambria Math" panose="02040503050406030204" pitchFamily="18" charset="0"/>
                                    <a:cs typeface="Arial" charset="0"/>
                                  </a:rPr>
                                </m:ctrlPr>
                              </m:sSupPr>
                              <m:e>
                                <m:r>
                                  <a:rPr lang="en-US" sz="2000" b="0" i="1" smtClean="0">
                                    <a:latin typeface="Cambria Math" panose="02040503050406030204" pitchFamily="18" charset="0"/>
                                    <a:ea typeface="Cambria Math" panose="02040503050406030204" pitchFamily="18" charset="0"/>
                                    <a:cs typeface="Arial" charset="0"/>
                                  </a:rPr>
                                  <m:t>𝜖</m:t>
                                </m:r>
                              </m:e>
                              <m:sup>
                                <m:r>
                                  <a:rPr lang="en-US" sz="2000" b="0" i="1" smtClean="0">
                                    <a:latin typeface="Cambria Math" panose="02040503050406030204" pitchFamily="18" charset="0"/>
                                    <a:ea typeface="Cambria Math" panose="02040503050406030204" pitchFamily="18" charset="0"/>
                                    <a:cs typeface="Arial" charset="0"/>
                                  </a:rPr>
                                  <m:t>2</m:t>
                                </m:r>
                              </m:sup>
                            </m:sSup>
                          </m:den>
                        </m:f>
                      </m:e>
                    </m:rad>
                    <m:r>
                      <a:rPr lang="en-US" sz="2000" b="0" i="1" smtClean="0">
                        <a:latin typeface="Cambria Math" panose="02040503050406030204" pitchFamily="18" charset="0"/>
                        <a:ea typeface="Cambria Math" panose="02040503050406030204" pitchFamily="18" charset="0"/>
                        <a:cs typeface="Arial" charset="0"/>
                      </a:rPr>
                      <m:t> )</m:t>
                    </m:r>
                  </m:oMath>
                </a14:m>
                <a:r>
                  <a:rPr lang="en-US" sz="2000" dirty="0">
                    <a:ea typeface="Arial" charset="0"/>
                    <a:cs typeface="Arial" charset="0"/>
                  </a:rPr>
                  <a:t> and </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charset="0"/>
                      </a:rPr>
                      <m:t>𝛽</m:t>
                    </m:r>
                    <m:r>
                      <a:rPr lang="en-US" sz="2000" b="0" i="1" smtClean="0">
                        <a:latin typeface="Cambria Math" panose="02040503050406030204" pitchFamily="18" charset="0"/>
                        <a:ea typeface="Cambria Math" panose="02040503050406030204" pitchFamily="18" charset="0"/>
                        <a:cs typeface="Arial" charset="0"/>
                      </a:rPr>
                      <m:t>= </m:t>
                    </m:r>
                    <m:f>
                      <m:fPr>
                        <m:ctrlPr>
                          <a:rPr lang="en-US" sz="2000" b="0" i="1" smtClean="0">
                            <a:latin typeface="Cambria Math" panose="02040503050406030204" pitchFamily="18" charset="0"/>
                            <a:ea typeface="Cambria Math" panose="02040503050406030204" pitchFamily="18" charset="0"/>
                            <a:cs typeface="Arial" charset="0"/>
                          </a:rPr>
                        </m:ctrlPr>
                      </m:fPr>
                      <m:num>
                        <m:r>
                          <a:rPr lang="en-US" sz="2000" b="0" i="1" smtClean="0">
                            <a:latin typeface="Cambria Math" panose="02040503050406030204" pitchFamily="18" charset="0"/>
                            <a:ea typeface="Cambria Math" panose="02040503050406030204" pitchFamily="18" charset="0"/>
                            <a:cs typeface="Arial" charset="0"/>
                          </a:rPr>
                          <m:t>𝜔𝜇𝜎</m:t>
                        </m:r>
                      </m:num>
                      <m:den>
                        <m:r>
                          <a:rPr lang="en-US" sz="2000" b="0" i="1" smtClean="0">
                            <a:latin typeface="Cambria Math" panose="02040503050406030204" pitchFamily="18" charset="0"/>
                            <a:ea typeface="Cambria Math" panose="02040503050406030204" pitchFamily="18" charset="0"/>
                            <a:cs typeface="Arial" charset="0"/>
                          </a:rPr>
                          <m:t>2</m:t>
                        </m:r>
                        <m:r>
                          <a:rPr lang="en-US" sz="2000" b="0" i="1" smtClean="0">
                            <a:latin typeface="Cambria Math" panose="02040503050406030204" pitchFamily="18" charset="0"/>
                            <a:ea typeface="Cambria Math" panose="02040503050406030204" pitchFamily="18" charset="0"/>
                            <a:cs typeface="Arial" charset="0"/>
                          </a:rPr>
                          <m:t>𝛼</m:t>
                        </m:r>
                      </m:den>
                    </m:f>
                  </m:oMath>
                </a14:m>
                <a:r>
                  <a:rPr lang="en-US" sz="2000" dirty="0">
                    <a:ea typeface="Arial" charset="0"/>
                    <a:cs typeface="Arial" charset="0"/>
                  </a:rPr>
                  <a:t>.</a:t>
                </a:r>
              </a:p>
              <a:p>
                <a:pPr marL="800100" lvl="1" indent="-342900" algn="l">
                  <a:buFont typeface="Arial" panose="020B0604020202020204" pitchFamily="34" charset="0"/>
                  <a:buChar char="•"/>
                </a:pPr>
                <a:r>
                  <a:rPr lang="en-US" sz="2000" dirty="0">
                    <a:ea typeface="Arial" charset="0"/>
                    <a:cs typeface="Arial" charset="0"/>
                  </a:rPr>
                  <a:t>For copper, 𝜎 = 5.78 × 107 𝞨-m.  This explains the “skin effect” in conductors.</a:t>
                </a:r>
              </a:p>
              <a:p>
                <a:pPr marL="342900" indent="-342900" algn="l">
                  <a:buFont typeface="Arial" panose="020B0604020202020204" pitchFamily="34" charset="0"/>
                  <a:buChar char="•"/>
                </a:pPr>
                <a:endParaRPr lang="en-US" sz="2000" dirty="0">
                  <a:latin typeface="Arial" charset="0"/>
                  <a:ea typeface="Arial" charset="0"/>
                  <a:cs typeface="Arial"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40238" y="1706505"/>
                <a:ext cx="11111524" cy="4649846"/>
              </a:xfrm>
              <a:blipFill>
                <a:blip r:embed="rId3"/>
                <a:stretch>
                  <a:fillRect l="-457" t="-1635"/>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a:xfrm>
            <a:off x="8077200" y="6356351"/>
            <a:ext cx="2133600" cy="365125"/>
          </a:xfrm>
        </p:spPr>
        <p:txBody>
          <a:bodyPr/>
          <a:lstStyle/>
          <a:p>
            <a:fld id="{FA32F8ED-EEB4-4D51-9E8E-3B145D9B9811}" type="slidenum">
              <a:rPr lang="en-US" smtClean="0"/>
              <a:pPr/>
              <a:t>31</a:t>
            </a:fld>
            <a:endParaRPr lang="en-US"/>
          </a:p>
        </p:txBody>
      </p:sp>
    </p:spTree>
    <p:extLst>
      <p:ext uri="{BB962C8B-B14F-4D97-AF65-F5344CB8AC3E}">
        <p14:creationId xmlns:p14="http://schemas.microsoft.com/office/powerpoint/2010/main" val="34645449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 y="255111"/>
            <a:ext cx="11978640" cy="868362"/>
          </a:xfrm>
        </p:spPr>
        <p:txBody>
          <a:bodyPr anchor="ctr">
            <a:normAutofit/>
          </a:bodyPr>
          <a:lstStyle/>
          <a:p>
            <a:pPr algn="ctr"/>
            <a:r>
              <a:rPr lang="en-US" sz="4400" dirty="0">
                <a:latin typeface="Calibri" panose="020F0502020204030204" pitchFamily="34" charset="0"/>
                <a:cs typeface="Calibri" panose="020F0502020204030204" pitchFamily="34" charset="0"/>
              </a:rPr>
              <a:t>Radiation, antennas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48614" y="1702853"/>
                <a:ext cx="11294772" cy="5018623"/>
              </a:xfrm>
            </p:spPr>
            <p:txBody>
              <a:bodyPr>
                <a:noAutofit/>
              </a:bodyPr>
              <a:lstStyle/>
              <a:p>
                <a:pPr marL="342900" indent="-342900" algn="l">
                  <a:buFont typeface="Arial" panose="020B0604020202020204" pitchFamily="34" charset="0"/>
                  <a:buChar char="•"/>
                </a:pPr>
                <a:r>
                  <a:rPr lang="en-US" sz="2000" dirty="0">
                    <a:ea typeface="Arial" charset="0"/>
                    <a:cs typeface="Arial" charset="0"/>
                  </a:rPr>
                  <a:t>Accelerating charges radiate energy in the form of electromagnetic waves (companion E and B fields).</a:t>
                </a:r>
              </a:p>
              <a:p>
                <a:pPr marL="342900" indent="-342900" algn="l">
                  <a:buFont typeface="Arial" panose="020B0604020202020204" pitchFamily="34" charset="0"/>
                  <a:buChar char="•"/>
                </a:pPr>
                <a:r>
                  <a:rPr lang="en-US" sz="2000" dirty="0">
                    <a:ea typeface="Arial" charset="0"/>
                    <a:cs typeface="Arial" charset="0"/>
                  </a:rPr>
                  <a:t>The radiation from accelerating charge q is </a:t>
                </a:r>
                <a14:m>
                  <m:oMath xmlns:m="http://schemas.openxmlformats.org/officeDocument/2006/math">
                    <m:sSub>
                      <m:sSubPr>
                        <m:ctrlPr>
                          <a:rPr lang="en-US" sz="2000" b="1" i="0" smtClean="0">
                            <a:latin typeface="Cambria Math" panose="02040503050406030204" pitchFamily="18" charset="0"/>
                            <a:cs typeface="Arial" charset="0"/>
                          </a:rPr>
                        </m:ctrlPr>
                      </m:sSubPr>
                      <m:e>
                        <m:r>
                          <a:rPr lang="en-US" sz="2000" b="1" i="0" smtClean="0">
                            <a:latin typeface="Cambria Math" panose="02040503050406030204" pitchFamily="18" charset="0"/>
                            <a:cs typeface="Arial" charset="0"/>
                          </a:rPr>
                          <m:t>𝐄</m:t>
                        </m:r>
                      </m:e>
                      <m:sub>
                        <m:r>
                          <a:rPr lang="en-US" sz="2000" b="0" i="1" smtClean="0">
                            <a:latin typeface="Cambria Math" panose="02040503050406030204" pitchFamily="18" charset="0"/>
                            <a:cs typeface="Arial" charset="0"/>
                          </a:rPr>
                          <m:t>𝑟𝑎𝑑</m:t>
                        </m:r>
                      </m:sub>
                    </m:sSub>
                    <m:r>
                      <a:rPr lang="en-US" sz="2000" b="0" i="1" smtClean="0">
                        <a:latin typeface="Cambria Math" panose="02040503050406030204" pitchFamily="18" charset="0"/>
                        <a:cs typeface="Arial" charset="0"/>
                      </a:rPr>
                      <m:t>=−</m:t>
                    </m:r>
                    <m:f>
                      <m:fPr>
                        <m:ctrlPr>
                          <a:rPr lang="en-US" sz="2000" b="0" i="1" smtClean="0">
                            <a:latin typeface="Cambria Math" panose="02040503050406030204" pitchFamily="18" charset="0"/>
                            <a:cs typeface="Arial" charset="0"/>
                          </a:rPr>
                        </m:ctrlPr>
                      </m:fPr>
                      <m:num>
                        <m:r>
                          <a:rPr lang="en-US" sz="2000" b="0" i="1" smtClean="0">
                            <a:latin typeface="Cambria Math" panose="02040503050406030204" pitchFamily="18" charset="0"/>
                            <a:cs typeface="Arial" charset="0"/>
                          </a:rPr>
                          <m:t>1</m:t>
                        </m:r>
                      </m:num>
                      <m:den>
                        <m:r>
                          <a:rPr lang="en-US" sz="2000" b="0" i="1" smtClean="0">
                            <a:latin typeface="Cambria Math" panose="02040503050406030204" pitchFamily="18" charset="0"/>
                            <a:cs typeface="Arial" charset="0"/>
                          </a:rPr>
                          <m:t>4</m:t>
                        </m:r>
                        <m:r>
                          <a:rPr lang="en-US" sz="2000" b="0" i="1" smtClean="0">
                            <a:latin typeface="Cambria Math" panose="02040503050406030204" pitchFamily="18" charset="0"/>
                            <a:ea typeface="Cambria Math" panose="02040503050406030204" pitchFamily="18" charset="0"/>
                            <a:cs typeface="Arial" charset="0"/>
                          </a:rPr>
                          <m:t>𝜋</m:t>
                        </m:r>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𝜖</m:t>
                            </m:r>
                          </m:e>
                          <m:sub>
                            <m:r>
                              <a:rPr lang="en-US" sz="2000" b="0" i="1" smtClean="0">
                                <a:latin typeface="Cambria Math" panose="02040503050406030204" pitchFamily="18" charset="0"/>
                                <a:ea typeface="Cambria Math" panose="02040503050406030204" pitchFamily="18" charset="0"/>
                                <a:cs typeface="Arial" charset="0"/>
                              </a:rPr>
                              <m:t>0</m:t>
                            </m:r>
                          </m:sub>
                        </m:sSub>
                        <m:sSup>
                          <m:sSupPr>
                            <m:ctrlPr>
                              <a:rPr lang="en-US" sz="2000" b="0" i="1" smtClean="0">
                                <a:latin typeface="Cambria Math" panose="02040503050406030204" pitchFamily="18" charset="0"/>
                                <a:ea typeface="Cambria Math" panose="02040503050406030204" pitchFamily="18" charset="0"/>
                                <a:cs typeface="Arial" charset="0"/>
                              </a:rPr>
                            </m:ctrlPr>
                          </m:sSupPr>
                          <m:e>
                            <m:r>
                              <a:rPr lang="en-US" sz="2000" b="0" i="1" smtClean="0">
                                <a:latin typeface="Cambria Math" panose="02040503050406030204" pitchFamily="18" charset="0"/>
                                <a:ea typeface="Cambria Math" panose="02040503050406030204" pitchFamily="18" charset="0"/>
                                <a:cs typeface="Arial" charset="0"/>
                              </a:rPr>
                              <m:t>𝑐</m:t>
                            </m:r>
                          </m:e>
                          <m:sup>
                            <m:r>
                              <a:rPr lang="en-US" sz="2000" b="0" i="1" smtClean="0">
                                <a:latin typeface="Cambria Math" panose="02040503050406030204" pitchFamily="18" charset="0"/>
                                <a:ea typeface="Cambria Math" panose="02040503050406030204" pitchFamily="18" charset="0"/>
                                <a:cs typeface="Arial" charset="0"/>
                              </a:rPr>
                              <m:t>2</m:t>
                            </m:r>
                          </m:sup>
                        </m:sSup>
                      </m:den>
                    </m:f>
                    <m:r>
                      <a:rPr lang="en-US" sz="2000" b="0" i="1" smtClean="0">
                        <a:latin typeface="Cambria Math" panose="02040503050406030204" pitchFamily="18" charset="0"/>
                        <a:cs typeface="Arial" charset="0"/>
                      </a:rPr>
                      <m:t> </m:t>
                    </m:r>
                    <m:f>
                      <m:fPr>
                        <m:ctrlPr>
                          <a:rPr lang="en-US" sz="2000" b="0" i="1" smtClean="0">
                            <a:latin typeface="Cambria Math" panose="02040503050406030204" pitchFamily="18" charset="0"/>
                            <a:cs typeface="Arial" charset="0"/>
                          </a:rPr>
                        </m:ctrlPr>
                      </m:fPr>
                      <m:num>
                        <m:r>
                          <a:rPr lang="en-US" sz="2000" b="0" i="1" smtClean="0">
                            <a:latin typeface="Cambria Math" panose="02040503050406030204" pitchFamily="18" charset="0"/>
                            <a:cs typeface="Arial" charset="0"/>
                          </a:rPr>
                          <m:t>𝑞</m:t>
                        </m:r>
                      </m:num>
                      <m:den>
                        <m:r>
                          <a:rPr lang="en-US" sz="2000" b="0" i="1" smtClean="0">
                            <a:latin typeface="Cambria Math" panose="02040503050406030204" pitchFamily="18" charset="0"/>
                            <a:cs typeface="Arial" charset="0"/>
                          </a:rPr>
                          <m:t>𝑟</m:t>
                        </m:r>
                      </m:den>
                    </m:f>
                    <m:r>
                      <a:rPr lang="en-US" sz="2000" b="0" i="1" smtClean="0">
                        <a:latin typeface="Cambria Math" panose="02040503050406030204" pitchFamily="18" charset="0"/>
                        <a:cs typeface="Arial" charset="0"/>
                      </a:rPr>
                      <m:t> </m:t>
                    </m:r>
                    <m:sSub>
                      <m:sSubPr>
                        <m:ctrlPr>
                          <a:rPr lang="en-US" sz="2000" b="1" i="1" smtClean="0">
                            <a:latin typeface="Cambria Math" panose="02040503050406030204" pitchFamily="18" charset="0"/>
                            <a:cs typeface="Arial" charset="0"/>
                          </a:rPr>
                        </m:ctrlPr>
                      </m:sSubPr>
                      <m:e>
                        <m:r>
                          <a:rPr lang="en-US" sz="2000" b="1" i="1" smtClean="0">
                            <a:latin typeface="Cambria Math" panose="02040503050406030204" pitchFamily="18" charset="0"/>
                            <a:cs typeface="Arial" charset="0"/>
                          </a:rPr>
                          <m:t>𝒂</m:t>
                        </m:r>
                      </m:e>
                      <m:sub>
                        <m:r>
                          <a:rPr lang="en-US" sz="2000" b="0" i="1" smtClean="0">
                            <a:latin typeface="Cambria Math" panose="02040503050406030204" pitchFamily="18" charset="0"/>
                            <a:ea typeface="Cambria Math" panose="02040503050406030204" pitchFamily="18" charset="0"/>
                            <a:cs typeface="Arial" charset="0"/>
                          </a:rPr>
                          <m:t>⊥</m:t>
                        </m:r>
                      </m:sub>
                    </m:sSub>
                    <m:r>
                      <a:rPr lang="en-US" sz="2000" b="0" i="1" smtClean="0">
                        <a:latin typeface="Cambria Math" panose="02040503050406030204" pitchFamily="18" charset="0"/>
                        <a:cs typeface="Arial" charset="0"/>
                      </a:rPr>
                      <m:t>(</m:t>
                    </m:r>
                    <m:r>
                      <a:rPr lang="en-US" sz="2000" b="0" i="1" smtClean="0">
                        <a:latin typeface="Cambria Math" panose="02040503050406030204" pitchFamily="18" charset="0"/>
                        <a:cs typeface="Arial" charset="0"/>
                      </a:rPr>
                      <m:t>𝑡</m:t>
                    </m:r>
                    <m:r>
                      <a:rPr lang="en-US" sz="2000" b="0" i="1" smtClean="0">
                        <a:latin typeface="Cambria Math" panose="02040503050406030204" pitchFamily="18" charset="0"/>
                        <a:cs typeface="Arial" charset="0"/>
                      </a:rPr>
                      <m:t>−</m:t>
                    </m:r>
                    <m:f>
                      <m:fPr>
                        <m:ctrlPr>
                          <a:rPr lang="en-US" sz="2000" b="0" i="1" smtClean="0">
                            <a:latin typeface="Cambria Math" panose="02040503050406030204" pitchFamily="18" charset="0"/>
                            <a:cs typeface="Arial" charset="0"/>
                          </a:rPr>
                        </m:ctrlPr>
                      </m:fPr>
                      <m:num>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𝑟</m:t>
                            </m:r>
                          </m:e>
                          <m:sub>
                            <m:r>
                              <a:rPr lang="en-US" sz="2000" b="0" i="1" smtClean="0">
                                <a:latin typeface="Cambria Math" panose="02040503050406030204" pitchFamily="18" charset="0"/>
                                <a:cs typeface="Arial" charset="0"/>
                              </a:rPr>
                              <m:t>12</m:t>
                            </m:r>
                          </m:sub>
                        </m:sSub>
                      </m:num>
                      <m:den>
                        <m:r>
                          <a:rPr lang="en-US" sz="2000" b="0" i="1" smtClean="0">
                            <a:latin typeface="Cambria Math" panose="02040503050406030204" pitchFamily="18" charset="0"/>
                            <a:cs typeface="Arial" charset="0"/>
                          </a:rPr>
                          <m:t>𝑐</m:t>
                        </m:r>
                      </m:den>
                    </m:f>
                    <m:r>
                      <a:rPr lang="en-US" sz="2000" b="0" i="1" smtClean="0">
                        <a:latin typeface="Cambria Math" panose="02040503050406030204" pitchFamily="18" charset="0"/>
                        <a:cs typeface="Arial" charset="0"/>
                      </a:rPr>
                      <m:t>)</m:t>
                    </m:r>
                  </m:oMath>
                </a14:m>
                <a:r>
                  <a:rPr lang="en-US" sz="2000" dirty="0">
                    <a:ea typeface="Arial" charset="0"/>
                    <a:cs typeface="Arial" charset="0"/>
                  </a:rPr>
                  <a:t>.</a:t>
                </a:r>
              </a:p>
              <a:p>
                <a:pPr marL="342900" indent="-342900" algn="l">
                  <a:buFont typeface="Arial" panose="020B0604020202020204" pitchFamily="34" charset="0"/>
                  <a:buChar char="•"/>
                </a:pPr>
                <a:r>
                  <a:rPr lang="en-US" sz="2000" dirty="0">
                    <a:ea typeface="Arial" charset="0"/>
                    <a:cs typeface="Arial" charset="0"/>
                  </a:rPr>
                  <a:t>Here, </a:t>
                </a:r>
                <a:r>
                  <a:rPr lang="en-US" sz="2000" b="1" dirty="0">
                    <a:ea typeface="Arial" charset="0"/>
                    <a:cs typeface="Arial" charset="0"/>
                  </a:rPr>
                  <a:t>a</a:t>
                </a:r>
                <a:r>
                  <a:rPr lang="en-US" sz="2000" baseline="-25000" dirty="0">
                    <a:ea typeface="Arial" charset="0"/>
                    <a:cs typeface="Arial" charset="0"/>
                  </a:rPr>
                  <a:t>⊥ </a:t>
                </a:r>
                <a:r>
                  <a:rPr lang="en-US" sz="2000" dirty="0">
                    <a:ea typeface="Arial" charset="0"/>
                    <a:cs typeface="Arial" charset="0"/>
                  </a:rPr>
                  <a:t>is the acceleration ⊥ to the line from r</a:t>
                </a:r>
                <a:r>
                  <a:rPr lang="en-US" sz="2000" baseline="-25000" dirty="0">
                    <a:ea typeface="Arial" charset="0"/>
                    <a:cs typeface="Arial" charset="0"/>
                  </a:rPr>
                  <a:t>1</a:t>
                </a:r>
                <a:r>
                  <a:rPr lang="en-US" sz="2000" dirty="0">
                    <a:ea typeface="Arial" charset="0"/>
                    <a:cs typeface="Arial" charset="0"/>
                  </a:rPr>
                  <a:t> to r</a:t>
                </a:r>
                <a:r>
                  <a:rPr lang="en-US" sz="2000" baseline="-25000" dirty="0">
                    <a:ea typeface="Arial" charset="0"/>
                    <a:cs typeface="Arial" charset="0"/>
                  </a:rPr>
                  <a:t>2</a:t>
                </a:r>
                <a:r>
                  <a:rPr lang="en-US" sz="2000" dirty="0">
                    <a:ea typeface="Arial" charset="0"/>
                    <a:cs typeface="Arial" charset="0"/>
                  </a:rPr>
                  <a:t>.</a:t>
                </a:r>
              </a:p>
              <a:p>
                <a:pPr marL="342900" indent="-342900" algn="l">
                  <a:buFont typeface="Arial" panose="020B0604020202020204" pitchFamily="34" charset="0"/>
                  <a:buChar char="•"/>
                </a:pPr>
                <a:r>
                  <a:rPr lang="en-US" sz="2000" dirty="0">
                    <a:ea typeface="Arial" charset="0"/>
                    <a:cs typeface="Arial" charset="0"/>
                  </a:rPr>
                  <a:t>For example, applying a time varying potential V</a:t>
                </a:r>
                <a:r>
                  <a:rPr lang="en-US" sz="2000" baseline="-25000" dirty="0">
                    <a:ea typeface="Arial" charset="0"/>
                    <a:cs typeface="Arial" charset="0"/>
                  </a:rPr>
                  <a:t>0</a:t>
                </a:r>
                <a:r>
                  <a:rPr lang="en-US" sz="2000" dirty="0">
                    <a:ea typeface="Arial" charset="0"/>
                    <a:cs typeface="Arial" charset="0"/>
                  </a:rPr>
                  <a:t>sin(𝜔t) to an antenna will cause the antenna to radiate power since the voltage and hence charges affected accelerate within the antenna, that is, their positions have a non-zero second derivative.  That’s how a transmitter “couples” to the antenna of a receiver.  In the receiver, the radiated wave accelerates charges in the antenna replicating the original wave (at much reduced power).</a:t>
                </a:r>
              </a:p>
              <a:p>
                <a:pPr marL="342900" indent="-342900" algn="l">
                  <a:buFont typeface="Arial" panose="020B0604020202020204" pitchFamily="34" charset="0"/>
                  <a:buChar char="•"/>
                </a:pPr>
                <a:r>
                  <a:rPr lang="en-US" sz="2000" dirty="0">
                    <a:ea typeface="Arial" charset="0"/>
                    <a:cs typeface="Arial" charset="0"/>
                  </a:rPr>
                  <a:t>These simple radio waves are carrier waves of frequency </a:t>
                </a:r>
                <a14:m>
                  <m:oMath xmlns:m="http://schemas.openxmlformats.org/officeDocument/2006/math">
                    <m:f>
                      <m:fPr>
                        <m:ctrlPr>
                          <a:rPr lang="en-US" sz="2000" i="1">
                            <a:latin typeface="Cambria Math" panose="02040503050406030204" pitchFamily="18" charset="0"/>
                            <a:ea typeface="Cambria Math" panose="02040503050406030204" pitchFamily="18" charset="0"/>
                            <a:cs typeface="Arial" charset="0"/>
                          </a:rPr>
                        </m:ctrlPr>
                      </m:fPr>
                      <m:num>
                        <m:r>
                          <a:rPr lang="en-US" sz="2000" i="1">
                            <a:latin typeface="Cambria Math" panose="02040503050406030204" pitchFamily="18" charset="0"/>
                            <a:ea typeface="Cambria Math" panose="02040503050406030204" pitchFamily="18" charset="0"/>
                            <a:cs typeface="Arial" charset="0"/>
                          </a:rPr>
                          <m:t>𝜔</m:t>
                        </m:r>
                      </m:num>
                      <m:den>
                        <m:r>
                          <a:rPr lang="en-US" sz="2000" b="0" i="1" smtClean="0">
                            <a:latin typeface="Cambria Math" panose="02040503050406030204" pitchFamily="18" charset="0"/>
                            <a:ea typeface="Cambria Math" panose="02040503050406030204" pitchFamily="18" charset="0"/>
                            <a:cs typeface="Arial" charset="0"/>
                          </a:rPr>
                          <m:t>2</m:t>
                        </m:r>
                        <m:r>
                          <a:rPr lang="en-US" sz="2000" i="1" smtClean="0">
                            <a:latin typeface="Cambria Math" panose="02040503050406030204" pitchFamily="18" charset="0"/>
                            <a:ea typeface="Cambria Math" panose="02040503050406030204" pitchFamily="18" charset="0"/>
                            <a:cs typeface="Arial" charset="0"/>
                          </a:rPr>
                          <m:t>𝜋</m:t>
                        </m:r>
                      </m:den>
                    </m:f>
                  </m:oMath>
                </a14:m>
                <a:r>
                  <a:rPr lang="en-US" sz="2000" dirty="0">
                    <a:ea typeface="Arial" charset="0"/>
                    <a:cs typeface="Arial" charset="0"/>
                  </a:rPr>
                  <a:t>.  To transfer information (voice, images, binary data), we modulate carrier waves combining them with an “information source” signal.  Receivers demodulate the incoming wave and recreate the original “information source” signal.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48614" y="1702853"/>
                <a:ext cx="11294772" cy="5018623"/>
              </a:xfrm>
              <a:blipFill>
                <a:blip r:embed="rId3"/>
                <a:stretch>
                  <a:fillRect l="-449" t="-1259" r="-1011"/>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a:xfrm>
            <a:off x="8077200" y="6356351"/>
            <a:ext cx="2133600" cy="365125"/>
          </a:xfrm>
        </p:spPr>
        <p:txBody>
          <a:bodyPr/>
          <a:lstStyle/>
          <a:p>
            <a:fld id="{FA32F8ED-EEB4-4D51-9E8E-3B145D9B9811}" type="slidenum">
              <a:rPr lang="en-US" smtClean="0"/>
              <a:pPr/>
              <a:t>32</a:t>
            </a:fld>
            <a:endParaRPr lang="en-US"/>
          </a:p>
        </p:txBody>
      </p:sp>
    </p:spTree>
    <p:extLst>
      <p:ext uri="{BB962C8B-B14F-4D97-AF65-F5344CB8AC3E}">
        <p14:creationId xmlns:p14="http://schemas.microsoft.com/office/powerpoint/2010/main" val="23783213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8491" y="136525"/>
            <a:ext cx="11759381" cy="982810"/>
          </a:xfrm>
        </p:spPr>
        <p:txBody>
          <a:bodyPr>
            <a:normAutofit/>
          </a:bodyPr>
          <a:lstStyle/>
          <a:p>
            <a:pPr algn="ctr"/>
            <a:r>
              <a:rPr lang="en-US" sz="4400" dirty="0">
                <a:latin typeface="Calibri" panose="020F0502020204030204" pitchFamily="34" charset="0"/>
                <a:cs typeface="Calibri" panose="020F0502020204030204" pitchFamily="34" charset="0"/>
              </a:rPr>
              <a:t>Maxwell’s equations in a non-dispersive media</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20017" y="1919767"/>
                <a:ext cx="8848061" cy="3498054"/>
              </a:xfrm>
            </p:spPr>
            <p:txBody>
              <a:bodyPr>
                <a:normAutofit/>
              </a:bodyPr>
              <a:lstStyle/>
              <a:p>
                <a:pPr marL="342900" indent="-342900" algn="l">
                  <a:lnSpc>
                    <a:spcPct val="100000"/>
                  </a:lnSpc>
                  <a:spcBef>
                    <a:spcPts val="400"/>
                  </a:spcBef>
                  <a:buFont typeface="Arial" panose="020B0604020202020204" pitchFamily="34" charset="0"/>
                  <a:buChar char="•"/>
                </a:pPr>
                <a14:m>
                  <m:oMath xmlns:m="http://schemas.openxmlformats.org/officeDocument/2006/math">
                    <m:r>
                      <m:rPr>
                        <m:sty m:val="p"/>
                      </m:rPr>
                      <a:rPr lang="en-US" sz="2000" b="0" i="0" smtClean="0">
                        <a:latin typeface="Cambria Math" panose="02040503050406030204" pitchFamily="18" charset="0"/>
                        <a:cs typeface="Arial" panose="020B0604020202020204" pitchFamily="34" charset="0"/>
                      </a:rPr>
                      <m:t>B</m:t>
                    </m:r>
                    <m:r>
                      <a:rPr lang="en-US" sz="2000" b="0" i="0" smtClean="0">
                        <a:latin typeface="Cambria Math" panose="02040503050406030204" pitchFamily="18" charset="0"/>
                        <a:cs typeface="Arial" panose="020B0604020202020204" pitchFamily="34" charset="0"/>
                      </a:rPr>
                      <m:t>=</m:t>
                    </m:r>
                    <m:r>
                      <m:rPr>
                        <m:sty m:val="p"/>
                      </m:rPr>
                      <a:rPr lang="en-US" sz="2000" b="0" i="0" smtClean="0">
                        <a:latin typeface="Cambria Math" panose="02040503050406030204" pitchFamily="18" charset="0"/>
                        <a:ea typeface="Cambria Math" panose="02040503050406030204" pitchFamily="18" charset="0"/>
                        <a:cs typeface="Arial" panose="020B0604020202020204" pitchFamily="34" charset="0"/>
                      </a:rPr>
                      <m:t>μH</m:t>
                    </m:r>
                  </m:oMath>
                </a14:m>
                <a:r>
                  <a:rPr lang="en-US" sz="2000" dirty="0">
                    <a:latin typeface="Calibri" panose="020F0502020204030204" pitchFamily="34" charset="0"/>
                    <a:cs typeface="Calibri" panose="020F0502020204030204" pitchFamily="34" charset="0"/>
                  </a:rPr>
                  <a:t>, </a:t>
                </a:r>
                <a14:m>
                  <m:oMath xmlns:m="http://schemas.openxmlformats.org/officeDocument/2006/math">
                    <m:r>
                      <m:rPr>
                        <m:sty m:val="p"/>
                      </m:rPr>
                      <a:rPr lang="en-US" sz="2000" b="0" i="0" smtClean="0">
                        <a:latin typeface="Cambria Math" panose="02040503050406030204" pitchFamily="18" charset="0"/>
                        <a:cs typeface="Arial" panose="020B0604020202020204" pitchFamily="34" charset="0"/>
                      </a:rPr>
                      <m:t>D</m:t>
                    </m:r>
                    <m:r>
                      <a:rPr lang="en-US" sz="2000" b="0" i="0" smtClean="0">
                        <a:latin typeface="Cambria Math" panose="02040503050406030204" pitchFamily="18" charset="0"/>
                        <a:cs typeface="Arial" panose="020B0604020202020204" pitchFamily="34" charset="0"/>
                      </a:rPr>
                      <m:t>= </m:t>
                    </m:r>
                    <m:r>
                      <m:rPr>
                        <m:sty m:val="p"/>
                      </m:rPr>
                      <a:rPr lang="en-US" sz="2000" b="0" i="0" smtClean="0">
                        <a:latin typeface="Cambria Math" panose="02040503050406030204" pitchFamily="18" charset="0"/>
                        <a:ea typeface="Cambria Math" panose="02040503050406030204" pitchFamily="18" charset="0"/>
                        <a:cs typeface="Arial" panose="020B0604020202020204" pitchFamily="34" charset="0"/>
                      </a:rPr>
                      <m:t>ϵE</m:t>
                    </m:r>
                  </m:oMath>
                </a14:m>
                <a:endParaRPr lang="en-US" sz="2000" dirty="0">
                  <a:latin typeface="Calibri" panose="020F0502020204030204" pitchFamily="34" charset="0"/>
                  <a:cs typeface="Calibri" panose="020F0502020204030204" pitchFamily="34" charset="0"/>
                </a:endParaRPr>
              </a:p>
              <a:p>
                <a:pPr marL="342900" indent="-342900" algn="l">
                  <a:lnSpc>
                    <a:spcPct val="100000"/>
                  </a:lnSpc>
                  <a:spcBef>
                    <a:spcPts val="400"/>
                  </a:spcBef>
                  <a:buFont typeface="Arial" panose="020B0604020202020204" pitchFamily="34" charset="0"/>
                  <a:buChar char="•"/>
                </a:pPr>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𝐷</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𝜌</m:t>
                    </m:r>
                  </m:oMath>
                </a14:m>
                <a:endParaRPr lang="en-US" sz="2000" dirty="0">
                  <a:latin typeface="Calibri" panose="020F0502020204030204" pitchFamily="34" charset="0"/>
                  <a:cs typeface="Calibri" panose="020F0502020204030204" pitchFamily="34" charset="0"/>
                </a:endParaRPr>
              </a:p>
              <a:p>
                <a:pPr marL="342900" indent="-342900" algn="l">
                  <a:lnSpc>
                    <a:spcPct val="100000"/>
                  </a:lnSpc>
                  <a:spcBef>
                    <a:spcPts val="400"/>
                  </a:spcBef>
                  <a:buFont typeface="Arial" panose="020B0604020202020204" pitchFamily="34" charset="0"/>
                  <a:buChar char="•"/>
                </a:pPr>
                <a14:m>
                  <m:oMath xmlns:m="http://schemas.openxmlformats.org/officeDocument/2006/math">
                    <m:r>
                      <a:rPr lang="en-US" sz="2000" b="0" i="1">
                        <a:latin typeface="Cambria Math" panose="02040503050406030204" pitchFamily="18" charset="0"/>
                        <a:ea typeface="Cambria Math" panose="02040503050406030204" pitchFamily="18" charset="0"/>
                        <a:cs typeface="Arial" panose="020B0604020202020204" pitchFamily="34" charset="0"/>
                      </a:rPr>
                      <m:t>𝛻</m:t>
                    </m:r>
                    <m:r>
                      <a:rPr lang="en-US" sz="2000" b="0" i="1">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𝐵</m:t>
                    </m:r>
                    <m:r>
                      <a:rPr lang="en-US" sz="2000" b="0" i="1">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0</m:t>
                    </m:r>
                  </m:oMath>
                </a14:m>
                <a:endParaRPr lang="en-US" sz="2000" dirty="0">
                  <a:latin typeface="Calibri" panose="020F0502020204030204" pitchFamily="34" charset="0"/>
                  <a:cs typeface="Calibri" panose="020F0502020204030204" pitchFamily="34" charset="0"/>
                </a:endParaRPr>
              </a:p>
              <a:p>
                <a:pPr marL="342900" indent="-342900" algn="l">
                  <a:lnSpc>
                    <a:spcPct val="100000"/>
                  </a:lnSpc>
                  <a:spcBef>
                    <a:spcPts val="400"/>
                  </a:spcBef>
                  <a:buFont typeface="Arial" panose="020B0604020202020204" pitchFamily="34" charset="0"/>
                  <a:buChar char="•"/>
                </a:pPr>
                <a14:m>
                  <m:oMath xmlns:m="http://schemas.openxmlformats.org/officeDocument/2006/math">
                    <m:r>
                      <a:rPr lang="en-US" sz="2000" b="0" i="1">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m:rPr>
                        <m:sty m:val="p"/>
                      </m:rPr>
                      <a:rPr lang="en-US" sz="2000" b="0" i="0" smtClean="0">
                        <a:latin typeface="Cambria Math" panose="02040503050406030204" pitchFamily="18" charset="0"/>
                        <a:ea typeface="Cambria Math" panose="02040503050406030204" pitchFamily="18" charset="0"/>
                        <a:cs typeface="Arial" panose="020B0604020202020204" pitchFamily="34" charset="0"/>
                      </a:rPr>
                      <m:t>E</m:t>
                    </m:r>
                    <m:r>
                      <a:rPr lang="en-US" sz="2000" b="0" i="0">
                        <a:latin typeface="Cambria Math" panose="02040503050406030204" pitchFamily="18" charset="0"/>
                        <a:ea typeface="Cambria Math" panose="02040503050406030204" pitchFamily="18" charset="0"/>
                        <a:cs typeface="Arial" panose="020B0604020202020204" pitchFamily="34" charset="0"/>
                      </a:rPr>
                      <m:t>=</m:t>
                    </m:r>
                    <m:r>
                      <a:rPr lang="en-US" sz="2000" b="0" i="0"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b="0" i="0"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0" smtClean="0">
                            <a:latin typeface="Cambria Math" panose="02040503050406030204" pitchFamily="18" charset="0"/>
                            <a:ea typeface="Cambria Math" panose="02040503050406030204" pitchFamily="18" charset="0"/>
                            <a:cs typeface="Arial" panose="020B0604020202020204" pitchFamily="34" charset="0"/>
                          </a:rPr>
                          <m:t>𝜕</m:t>
                        </m:r>
                        <m:r>
                          <m:rPr>
                            <m:sty m:val="p"/>
                          </m:rPr>
                          <a:rPr lang="en-US" sz="2000" b="0" i="0" smtClean="0">
                            <a:latin typeface="Cambria Math" panose="02040503050406030204" pitchFamily="18" charset="0"/>
                            <a:ea typeface="Cambria Math" panose="02040503050406030204" pitchFamily="18" charset="0"/>
                            <a:cs typeface="Arial" panose="020B0604020202020204" pitchFamily="34" charset="0"/>
                          </a:rPr>
                          <m:t>B</m:t>
                        </m:r>
                      </m:num>
                      <m:den>
                        <m:r>
                          <a:rPr lang="en-US" sz="2000" b="0" i="0" smtClean="0">
                            <a:latin typeface="Cambria Math" panose="02040503050406030204" pitchFamily="18" charset="0"/>
                            <a:ea typeface="Cambria Math" panose="02040503050406030204" pitchFamily="18" charset="0"/>
                            <a:cs typeface="Arial" panose="020B0604020202020204" pitchFamily="34" charset="0"/>
                          </a:rPr>
                          <m:t>𝜕</m:t>
                        </m:r>
                        <m:r>
                          <m:rPr>
                            <m:sty m:val="p"/>
                          </m:rPr>
                          <a:rPr lang="en-US" sz="2000" b="0" i="0" smtClean="0">
                            <a:latin typeface="Cambria Math" panose="02040503050406030204" pitchFamily="18" charset="0"/>
                            <a:ea typeface="Cambria Math" panose="02040503050406030204" pitchFamily="18" charset="0"/>
                            <a:cs typeface="Arial" panose="020B0604020202020204" pitchFamily="34" charset="0"/>
                          </a:rPr>
                          <m:t>t</m:t>
                        </m:r>
                      </m:den>
                    </m:f>
                  </m:oMath>
                </a14:m>
                <a:endParaRPr lang="en-US" sz="2000" dirty="0">
                  <a:latin typeface="Calibri" panose="020F0502020204030204" pitchFamily="34" charset="0"/>
                  <a:cs typeface="Calibri" panose="020F0502020204030204" pitchFamily="34" charset="0"/>
                </a:endParaRPr>
              </a:p>
              <a:p>
                <a:pPr marL="342900" indent="-342900" algn="l">
                  <a:lnSpc>
                    <a:spcPct val="100000"/>
                  </a:lnSpc>
                  <a:spcBef>
                    <a:spcPts val="400"/>
                  </a:spcBef>
                  <a:buFont typeface="Arial" panose="020B0604020202020204" pitchFamily="34" charset="0"/>
                  <a:buChar char="•"/>
                </a:pPr>
                <a14:m>
                  <m:oMath xmlns:m="http://schemas.openxmlformats.org/officeDocument/2006/math">
                    <m:r>
                      <a:rPr lang="en-US" sz="2000" b="0" i="1">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m:rPr>
                        <m:sty m:val="p"/>
                      </m:rPr>
                      <a:rPr lang="en-US" sz="2000" b="0" i="0" smtClean="0">
                        <a:latin typeface="Cambria Math" panose="02040503050406030204" pitchFamily="18" charset="0"/>
                        <a:ea typeface="Cambria Math" panose="02040503050406030204" pitchFamily="18" charset="0"/>
                        <a:cs typeface="Arial" panose="020B0604020202020204" pitchFamily="34" charset="0"/>
                      </a:rPr>
                      <m:t>H</m:t>
                    </m:r>
                    <m:r>
                      <a:rPr lang="en-US" sz="2000" b="0" i="0">
                        <a:latin typeface="Cambria Math" panose="02040503050406030204" pitchFamily="18" charset="0"/>
                        <a:ea typeface="Cambria Math" panose="02040503050406030204" pitchFamily="18" charset="0"/>
                        <a:cs typeface="Arial" panose="020B0604020202020204" pitchFamily="34" charset="0"/>
                      </a:rPr>
                      <m:t>=</m:t>
                    </m:r>
                    <m:r>
                      <m:rPr>
                        <m:sty m:val="p"/>
                      </m:rPr>
                      <a:rPr lang="en-US" sz="2000" b="0" i="0" smtClean="0">
                        <a:latin typeface="Cambria Math" panose="02040503050406030204" pitchFamily="18" charset="0"/>
                        <a:ea typeface="Cambria Math" panose="02040503050406030204" pitchFamily="18" charset="0"/>
                        <a:cs typeface="Arial" panose="020B0604020202020204" pitchFamily="34" charset="0"/>
                      </a:rPr>
                      <m:t>j</m:t>
                    </m:r>
                    <m:r>
                      <a:rPr lang="en-US" sz="2000" b="0" i="0"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b="0" i="0"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0" smtClean="0">
                            <a:latin typeface="Cambria Math" panose="02040503050406030204" pitchFamily="18" charset="0"/>
                            <a:ea typeface="Cambria Math" panose="02040503050406030204" pitchFamily="18" charset="0"/>
                            <a:cs typeface="Arial" panose="020B0604020202020204" pitchFamily="34" charset="0"/>
                          </a:rPr>
                          <m:t>𝜕</m:t>
                        </m:r>
                        <m:r>
                          <m:rPr>
                            <m:sty m:val="p"/>
                          </m:rPr>
                          <a:rPr lang="en-US" sz="2000" b="0" i="0" smtClean="0">
                            <a:latin typeface="Cambria Math" panose="02040503050406030204" pitchFamily="18" charset="0"/>
                            <a:ea typeface="Cambria Math" panose="02040503050406030204" pitchFamily="18" charset="0"/>
                            <a:cs typeface="Arial" panose="020B0604020202020204" pitchFamily="34" charset="0"/>
                          </a:rPr>
                          <m:t>E</m:t>
                        </m:r>
                      </m:num>
                      <m:den>
                        <m:r>
                          <a:rPr lang="en-US" sz="2000" b="0" i="0" smtClean="0">
                            <a:latin typeface="Cambria Math" panose="02040503050406030204" pitchFamily="18" charset="0"/>
                            <a:ea typeface="Cambria Math" panose="02040503050406030204" pitchFamily="18" charset="0"/>
                            <a:cs typeface="Arial" panose="020B0604020202020204" pitchFamily="34" charset="0"/>
                          </a:rPr>
                          <m:t>𝜕</m:t>
                        </m:r>
                        <m:r>
                          <m:rPr>
                            <m:sty m:val="p"/>
                          </m:rPr>
                          <a:rPr lang="en-US" sz="2000" b="0" i="0" smtClean="0">
                            <a:latin typeface="Cambria Math" panose="02040503050406030204" pitchFamily="18" charset="0"/>
                            <a:ea typeface="Cambria Math" panose="02040503050406030204" pitchFamily="18" charset="0"/>
                            <a:cs typeface="Arial" panose="020B0604020202020204" pitchFamily="34" charset="0"/>
                          </a:rPr>
                          <m:t>t</m:t>
                        </m:r>
                      </m:den>
                    </m:f>
                  </m:oMath>
                </a14:m>
                <a:endParaRPr lang="en-US" sz="2000" dirty="0">
                  <a:latin typeface="Calibri" panose="020F0502020204030204" pitchFamily="34" charset="0"/>
                  <a:cs typeface="Calibri" panose="020F0502020204030204" pitchFamily="34" charset="0"/>
                </a:endParaRPr>
              </a:p>
              <a:p>
                <a:pPr marL="342900" indent="-342900" algn="l">
                  <a:lnSpc>
                    <a:spcPct val="100000"/>
                  </a:lnSpc>
                  <a:spcBef>
                    <a:spcPts val="400"/>
                  </a:spcBef>
                  <a:buFont typeface="Arial" panose="020B0604020202020204" pitchFamily="34" charset="0"/>
                  <a:buChar char="•"/>
                </a:pPr>
                <a14:m>
                  <m:oMath xmlns:m="http://schemas.openxmlformats.org/officeDocument/2006/math">
                    <m:r>
                      <a:rPr lang="en-US" sz="2000" b="0" i="1">
                        <a:latin typeface="Cambria Math" panose="02040503050406030204" pitchFamily="18" charset="0"/>
                        <a:ea typeface="Cambria Math" panose="02040503050406030204" pitchFamily="18" charset="0"/>
                        <a:cs typeface="Arial" panose="020B0604020202020204" pitchFamily="34" charset="0"/>
                      </a:rPr>
                      <m:t>𝛻</m:t>
                    </m:r>
                    <m:r>
                      <a:rPr lang="en-US" sz="2000" b="0" i="1">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𝑗</m:t>
                    </m:r>
                    <m:r>
                      <a:rPr lang="en-US" sz="2000" b="0" i="1">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𝜕𝜌</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𝑡</m:t>
                        </m:r>
                      </m:den>
                    </m:f>
                  </m:oMath>
                </a14:m>
                <a:endParaRPr lang="en-US" sz="2000" dirty="0">
                  <a:latin typeface="Calibri" panose="020F0502020204030204" pitchFamily="34" charset="0"/>
                  <a:cs typeface="Calibri" panose="020F0502020204030204" pitchFamily="34" charset="0"/>
                </a:endParaRPr>
              </a:p>
              <a:p>
                <a:pPr marL="342900" indent="-342900" algn="l">
                  <a:lnSpc>
                    <a:spcPct val="120000"/>
                  </a:lnSpc>
                  <a:buFont typeface="Arial" panose="020B0604020202020204" pitchFamily="34" charset="0"/>
                  <a:buChar char="•"/>
                </a:pPr>
                <a:endParaRPr lang="en-US" dirty="0">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20017" y="1919767"/>
                <a:ext cx="8848061" cy="3498054"/>
              </a:xfrm>
              <a:blipFill>
                <a:blip r:embed="rId2"/>
                <a:stretch>
                  <a:fillRect l="-573" t="-1087"/>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7A91E16D-0EAD-4D3D-AC22-65013F654EE2}" type="slidenum">
              <a:rPr lang="en-US" altLang="en-US" smtClean="0"/>
              <a:pPr>
                <a:defRPr/>
              </a:pPr>
              <a:t>33</a:t>
            </a:fld>
            <a:endParaRPr lang="en-US" altLang="en-US"/>
          </a:p>
        </p:txBody>
      </p:sp>
    </p:spTree>
    <p:extLst>
      <p:ext uri="{BB962C8B-B14F-4D97-AF65-F5344CB8AC3E}">
        <p14:creationId xmlns:p14="http://schemas.microsoft.com/office/powerpoint/2010/main" val="5067009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7196" y="120456"/>
            <a:ext cx="11681791" cy="982810"/>
          </a:xfrm>
        </p:spPr>
        <p:txBody>
          <a:bodyPr>
            <a:normAutofit/>
          </a:bodyPr>
          <a:lstStyle/>
          <a:p>
            <a:pPr algn="ctr"/>
            <a:r>
              <a:rPr lang="en-US" sz="4400" dirty="0">
                <a:latin typeface="Calibri" panose="020F0502020204030204" pitchFamily="34" charset="0"/>
                <a:cs typeface="Calibri" panose="020F0502020204030204" pitchFamily="34" charset="0"/>
              </a:rPr>
              <a:t>Radiation from a small dipole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7197" y="1220471"/>
                <a:ext cx="9798924" cy="5560599"/>
              </a:xfrm>
            </p:spPr>
            <p:txBody>
              <a:bodyPr>
                <a:normAutofit lnSpcReduction="10000"/>
              </a:bodyPr>
              <a:lstStyle/>
              <a:p>
                <a:pPr marL="342900" indent="-342900" algn="l">
                  <a:lnSpc>
                    <a:spcPct val="110000"/>
                  </a:lnSpc>
                  <a:spcBef>
                    <a:spcPts val="0"/>
                  </a:spcBef>
                  <a:buFont typeface="Arial" panose="020B0604020202020204" pitchFamily="34" charset="0"/>
                  <a:buChar char="•"/>
                </a:pPr>
                <a14:m>
                  <m:oMath xmlns:m="http://schemas.openxmlformats.org/officeDocument/2006/math">
                    <m:r>
                      <a:rPr lang="en-US" sz="2000" b="0" i="1" smtClean="0">
                        <a:latin typeface="Cambria Math" panose="02040503050406030204" pitchFamily="18" charset="0"/>
                        <a:cs typeface="Arial" panose="020B0604020202020204" pitchFamily="34" charset="0"/>
                      </a:rPr>
                      <m:t>𝐴</m:t>
                    </m:r>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1,</m:t>
                        </m:r>
                        <m:r>
                          <a:rPr lang="en-US" sz="2000" b="0" i="1" smtClean="0">
                            <a:latin typeface="Cambria Math" panose="02040503050406030204" pitchFamily="18" charset="0"/>
                            <a:cs typeface="Arial" panose="020B0604020202020204" pitchFamily="34" charset="0"/>
                          </a:rPr>
                          <m:t>𝑡</m:t>
                        </m:r>
                      </m:e>
                    </m:d>
                    <m:r>
                      <a:rPr lang="en-US" sz="2000" b="0" i="1" smtClean="0">
                        <a:latin typeface="Cambria Math" panose="02040503050406030204" pitchFamily="18" charset="0"/>
                        <a:cs typeface="Arial" panose="020B0604020202020204" pitchFamily="34" charset="0"/>
                      </a:rPr>
                      <m:t>= </m:t>
                    </m:r>
                    <m:nary>
                      <m:naryPr>
                        <m:limLoc m:val="undOvr"/>
                        <m:subHide m:val="on"/>
                        <m:supHide m:val="on"/>
                        <m:ctrlPr>
                          <a:rPr lang="en-US" sz="2000" b="0" i="1" smtClean="0">
                            <a:latin typeface="Cambria Math" panose="02040503050406030204" pitchFamily="18" charset="0"/>
                            <a:cs typeface="Arial" panose="020B0604020202020204" pitchFamily="34" charset="0"/>
                          </a:rPr>
                        </m:ctrlPr>
                      </m:naryPr>
                      <m:sub/>
                      <m:sup/>
                      <m:e>
                        <m:f>
                          <m:fPr>
                            <m:ctrlPr>
                              <a:rPr lang="en-US" sz="2000" b="0" i="1" smtClean="0">
                                <a:latin typeface="Cambria Math" panose="02040503050406030204" pitchFamily="18" charset="0"/>
                                <a:cs typeface="Arial" panose="020B0604020202020204" pitchFamily="34" charset="0"/>
                              </a:rPr>
                            </m:ctrlPr>
                          </m:fPr>
                          <m:num>
                            <m:acc>
                              <m:accPr>
                                <m:chr m:val="⃗"/>
                                <m:ctrlPr>
                                  <a:rPr lang="en-US" sz="2000" b="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𝑗</m:t>
                                </m:r>
                              </m:e>
                            </m:acc>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2, </m:t>
                                </m:r>
                                <m:r>
                                  <a:rPr lang="en-US" sz="2000" b="0" i="1" smtClean="0">
                                    <a:latin typeface="Cambria Math" panose="02040503050406030204" pitchFamily="18" charset="0"/>
                                    <a:cs typeface="Arial" panose="020B0604020202020204" pitchFamily="34" charset="0"/>
                                  </a:rPr>
                                  <m:t>𝑡</m:t>
                                </m:r>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𝑟</m:t>
                                        </m:r>
                                      </m:e>
                                      <m:sub>
                                        <m:r>
                                          <a:rPr lang="en-US" sz="2000" b="0" i="1" smtClean="0">
                                            <a:latin typeface="Cambria Math" panose="02040503050406030204" pitchFamily="18" charset="0"/>
                                            <a:cs typeface="Arial" panose="020B0604020202020204" pitchFamily="34" charset="0"/>
                                          </a:rPr>
                                          <m:t>12</m:t>
                                        </m:r>
                                      </m:sub>
                                    </m:sSub>
                                  </m:num>
                                  <m:den>
                                    <m:r>
                                      <a:rPr lang="en-US" sz="2000" b="0" i="1" smtClean="0">
                                        <a:latin typeface="Cambria Math" panose="02040503050406030204" pitchFamily="18" charset="0"/>
                                        <a:cs typeface="Arial" panose="020B0604020202020204" pitchFamily="34" charset="0"/>
                                      </a:rPr>
                                      <m:t>𝑐</m:t>
                                    </m:r>
                                  </m:den>
                                </m:f>
                              </m:e>
                            </m:d>
                          </m:num>
                          <m:den>
                            <m:r>
                              <a:rPr lang="en-US" sz="2000" b="0" i="1" smtClean="0">
                                <a:latin typeface="Cambria Math" panose="02040503050406030204" pitchFamily="18" charset="0"/>
                                <a:cs typeface="Arial" panose="020B0604020202020204" pitchFamily="34" charset="0"/>
                              </a:rPr>
                              <m:t>4</m:t>
                            </m:r>
                            <m:r>
                              <a:rPr lang="en-US" sz="2000" b="0" i="1" smtClean="0">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𝜖</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0</m:t>
                                </m:r>
                              </m:sub>
                            </m:sSub>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𝑐</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12</m:t>
                                </m:r>
                              </m:sub>
                            </m:sSub>
                          </m:den>
                        </m:f>
                      </m:e>
                    </m:nary>
                    <m:r>
                      <a:rPr lang="en-US" sz="2000" b="0" i="1" smtClean="0">
                        <a:latin typeface="Cambria Math" panose="02040503050406030204" pitchFamily="18" charset="0"/>
                        <a:cs typeface="Arial" panose="020B0604020202020204" pitchFamily="34" charset="0"/>
                      </a:rPr>
                      <m:t> </m:t>
                    </m:r>
                    <m:r>
                      <a:rPr lang="en-US" sz="2000" b="0" i="1" smtClean="0">
                        <a:latin typeface="Cambria Math" panose="02040503050406030204" pitchFamily="18" charset="0"/>
                        <a:cs typeface="Arial" panose="020B0604020202020204" pitchFamily="34" charset="0"/>
                      </a:rPr>
                      <m:t>𝑑</m:t>
                    </m:r>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𝑉</m:t>
                        </m:r>
                      </m:e>
                      <m:sub>
                        <m:r>
                          <a:rPr lang="en-US" sz="2000" b="0" i="1" smtClean="0">
                            <a:latin typeface="Cambria Math" panose="02040503050406030204" pitchFamily="18" charset="0"/>
                            <a:cs typeface="Arial" panose="020B0604020202020204" pitchFamily="34" charset="0"/>
                          </a:rPr>
                          <m:t>2</m:t>
                        </m:r>
                      </m:sub>
                    </m:sSub>
                  </m:oMath>
                </a14:m>
                <a:r>
                  <a:rPr lang="en-US" sz="2000" dirty="0">
                    <a:cs typeface="Arial" panose="020B0604020202020204" pitchFamily="34" charset="0"/>
                  </a:rPr>
                  <a:t>.  From figure on right,  </a:t>
                </a:r>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 </m:t>
                    </m:r>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𝑗</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𝑧</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 </m:t>
                    </m:r>
                    <m:r>
                      <a:rPr lang="en-US" sz="2000" b="0" i="1" smtClean="0">
                        <a:latin typeface="Cambria Math" panose="02040503050406030204" pitchFamily="18" charset="0"/>
                        <a:ea typeface="Cambria Math" panose="02040503050406030204" pitchFamily="18" charset="0"/>
                        <a:cs typeface="Arial" panose="020B0604020202020204" pitchFamily="34" charset="0"/>
                      </a:rPr>
                      <m:t>𝑑</m:t>
                    </m:r>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𝑉</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𝐼</m:t>
                    </m:r>
                    <m:r>
                      <a:rPr lang="en-US" sz="2000" b="0" i="1" smtClean="0">
                        <a:latin typeface="Cambria Math" panose="02040503050406030204" pitchFamily="18" charset="0"/>
                        <a:ea typeface="Cambria Math" panose="02040503050406030204" pitchFamily="18" charset="0"/>
                        <a:cs typeface="Arial" panose="020B0604020202020204" pitchFamily="34" charset="0"/>
                      </a:rPr>
                      <m:t> </m:t>
                    </m:r>
                    <m:r>
                      <a:rPr lang="en-US" sz="2000" b="0" i="1" smtClean="0">
                        <a:latin typeface="Cambria Math" panose="02040503050406030204" pitchFamily="18" charset="0"/>
                        <a:ea typeface="Cambria Math" panose="02040503050406030204" pitchFamily="18" charset="0"/>
                        <a:cs typeface="Arial" panose="020B0604020202020204" pitchFamily="34" charset="0"/>
                      </a:rPr>
                      <m:t>𝑑𝑧</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oMath>
                </a14:m>
                <a:r>
                  <a:rPr lang="en-US" sz="2000" dirty="0">
                    <a:cs typeface="Arial" panose="020B0604020202020204" pitchFamily="34" charset="0"/>
                  </a:rPr>
                  <a:t>.</a:t>
                </a:r>
              </a:p>
              <a:p>
                <a:pPr marL="342900" indent="-342900">
                  <a:lnSpc>
                    <a:spcPct val="110000"/>
                  </a:lnSpc>
                  <a:spcBef>
                    <a:spcPts val="0"/>
                  </a:spcBef>
                </a:pPr>
                <a:r>
                  <a:rPr lang="en-US" sz="2000" dirty="0">
                    <a:cs typeface="Arial" panose="020B0604020202020204" pitchFamily="34" charset="0"/>
                  </a:rPr>
                  <a:t>Note </a:t>
                </a:r>
                <a14:m>
                  <m:oMath xmlns:m="http://schemas.openxmlformats.org/officeDocument/2006/math">
                    <m:acc>
                      <m:accPr>
                        <m:chr m:val="⃗"/>
                        <m:ctrlPr>
                          <a:rPr lang="en-US" sz="2000" b="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𝑝</m:t>
                        </m:r>
                      </m:e>
                    </m:acc>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𝑡</m:t>
                        </m:r>
                      </m:e>
                    </m:d>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𝑞</m:t>
                    </m:r>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𝑡</m:t>
                        </m:r>
                      </m:e>
                    </m:d>
                    <m:r>
                      <a:rPr lang="en-US" sz="2000" b="0" i="1" smtClean="0">
                        <a:latin typeface="Cambria Math" panose="02040503050406030204" pitchFamily="18" charset="0"/>
                        <a:cs typeface="Arial" panose="020B0604020202020204" pitchFamily="34" charset="0"/>
                      </a:rPr>
                      <m:t>𝑙</m:t>
                    </m:r>
                    <m:acc>
                      <m:accPr>
                        <m:chr m:val="̂"/>
                        <m:ctrlPr>
                          <a:rPr lang="en-US" sz="2000" b="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𝑧</m:t>
                        </m:r>
                      </m:e>
                    </m:acc>
                  </m:oMath>
                </a14:m>
                <a:r>
                  <a:rPr lang="en-US" sz="2000" dirty="0">
                    <a:cs typeface="Arial" panose="020B0604020202020204" pitchFamily="34" charset="0"/>
                  </a:rPr>
                  <a:t> and </a:t>
                </a:r>
                <a14:m>
                  <m:oMath xmlns:m="http://schemas.openxmlformats.org/officeDocument/2006/math">
                    <m:acc>
                      <m:accPr>
                        <m:chr m:val="̇"/>
                        <m:ctrlPr>
                          <a:rPr lang="en-US" sz="2000" b="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𝑞</m:t>
                        </m:r>
                      </m:e>
                    </m:acc>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𝑡</m:t>
                        </m:r>
                      </m:e>
                    </m:d>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𝐼</m:t>
                    </m:r>
                  </m:oMath>
                </a14:m>
                <a:r>
                  <a:rPr lang="en-US" sz="2000" dirty="0">
                    <a:cs typeface="Arial" panose="020B0604020202020204" pitchFamily="34" charset="0"/>
                  </a:rPr>
                  <a:t>.  </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panose="020B0604020202020204" pitchFamily="34" charset="0"/>
                      </a:rPr>
                      <m:t>𝜙</m:t>
                    </m:r>
                  </m:oMath>
                </a14:m>
                <a:r>
                  <a:rPr lang="en-US" sz="2000" dirty="0">
                    <a:cs typeface="Arial" panose="020B0604020202020204" pitchFamily="34" charset="0"/>
                  </a:rPr>
                  <a:t> is the angle from the x axis to the</a:t>
                </a:r>
              </a:p>
              <a:p>
                <a:pPr marL="0" indent="0">
                  <a:lnSpc>
                    <a:spcPct val="110000"/>
                  </a:lnSpc>
                  <a:spcBef>
                    <a:spcPts val="0"/>
                  </a:spcBef>
                  <a:buNone/>
                </a:pPr>
                <a:r>
                  <a:rPr lang="en-US" sz="2000" dirty="0">
                    <a:cs typeface="Arial" panose="020B0604020202020204" pitchFamily="34" charset="0"/>
                  </a:rPr>
                  <a:t>         projection of r on the x-y plane. </a:t>
                </a:r>
                <a14:m>
                  <m:oMath xmlns:m="http://schemas.openxmlformats.org/officeDocument/2006/math">
                    <m:r>
                      <a:rPr lang="en-US" sz="2000" b="0" i="0" smtClean="0">
                        <a:latin typeface="Cambria Math" panose="02040503050406030204" pitchFamily="18" charset="0"/>
                      </a:rPr>
                      <m:t> </m:t>
                    </m:r>
                    <m:sSup>
                      <m:sSupPr>
                        <m:ctrlPr>
                          <a:rPr lang="en-US" sz="2000" i="1">
                            <a:latin typeface="Cambria Math" panose="02040503050406030204" pitchFamily="18" charset="0"/>
                          </a:rPr>
                        </m:ctrlPr>
                      </m:sSupPr>
                      <m:e>
                        <m:acc>
                          <m:accPr>
                            <m:chr m:val="⃗"/>
                            <m:ctrlPr>
                              <a:rPr lang="en-US" sz="2000" i="1">
                                <a:latin typeface="Cambria Math" panose="02040503050406030204" pitchFamily="18" charset="0"/>
                              </a:rPr>
                            </m:ctrlPr>
                          </m:accPr>
                          <m:e>
                            <m:r>
                              <a:rPr lang="en-US" sz="2000" i="1">
                                <a:latin typeface="Cambria Math" panose="02040503050406030204" pitchFamily="18" charset="0"/>
                              </a:rPr>
                              <m:t>𝑟</m:t>
                            </m:r>
                          </m:e>
                        </m:acc>
                      </m:e>
                      <m:sup>
                        <m:r>
                          <a:rPr lang="en-US" sz="2000" i="1">
                            <a:latin typeface="Cambria Math" panose="02040503050406030204" pitchFamily="18" charset="0"/>
                          </a:rPr>
                          <m:t>′</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𝑧</m:t>
                        </m:r>
                      </m:e>
                      <m:sup>
                        <m:r>
                          <a:rPr lang="en-US" sz="2000" b="0" i="1" smtClean="0">
                            <a:latin typeface="Cambria Math" panose="02040503050406030204" pitchFamily="18" charset="0"/>
                          </a:rPr>
                          <m:t>′</m:t>
                        </m:r>
                      </m:sup>
                    </m:sSup>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𝑘</m:t>
                        </m:r>
                      </m:e>
                    </m:acc>
                    <m:r>
                      <a:rPr lang="en-US" sz="2000" b="0" i="1" smtClean="0">
                        <a:latin typeface="Cambria Math" panose="02040503050406030204" pitchFamily="18" charset="0"/>
                      </a:rPr>
                      <m:t>=</m:t>
                    </m:r>
                    <m:acc>
                      <m:accPr>
                        <m:chr m:val="⃗"/>
                        <m:ctrlPr>
                          <a:rPr lang="en-US" sz="2000" i="1">
                            <a:latin typeface="Cambria Math" panose="02040503050406030204" pitchFamily="18" charset="0"/>
                          </a:rPr>
                        </m:ctrlPr>
                      </m:accPr>
                      <m:e>
                        <m:r>
                          <a:rPr lang="en-US" sz="2000" i="1">
                            <a:latin typeface="Cambria Math" panose="02040503050406030204" pitchFamily="18" charset="0"/>
                          </a:rPr>
                          <m:t>𝑟</m:t>
                        </m:r>
                      </m:e>
                    </m:acc>
                  </m:oMath>
                </a14:m>
                <a:r>
                  <a:rPr lang="en-US" sz="2000" dirty="0">
                    <a:cs typeface="Arial" panose="020B0604020202020204" pitchFamily="34" charset="0"/>
                  </a:rPr>
                  <a:t> and </a:t>
                </a:r>
                <a14:m>
                  <m:oMath xmlns:m="http://schemas.openxmlformats.org/officeDocument/2006/math">
                    <m:r>
                      <a:rPr lang="en-US" sz="2000" b="0" i="1" smtClean="0">
                        <a:latin typeface="Cambria Math" panose="02040503050406030204" pitchFamily="18" charset="0"/>
                        <a:cs typeface="Arial" panose="020B0604020202020204" pitchFamily="34" charset="0"/>
                      </a:rPr>
                      <m:t>|</m:t>
                    </m:r>
                    <m:acc>
                      <m:accPr>
                        <m:chr m:val="⃗"/>
                        <m:ctrlPr>
                          <a:rPr lang="en-US" sz="2000" i="1">
                            <a:latin typeface="Cambria Math" panose="02040503050406030204" pitchFamily="18" charset="0"/>
                          </a:rPr>
                        </m:ctrlPr>
                      </m:accPr>
                      <m:e>
                        <m:r>
                          <a:rPr lang="en-US" sz="2000" i="1">
                            <a:latin typeface="Cambria Math" panose="02040503050406030204" pitchFamily="18" charset="0"/>
                          </a:rPr>
                          <m:t>𝑟</m:t>
                        </m:r>
                      </m:e>
                    </m:acc>
                  </m:oMath>
                </a14:m>
                <a:r>
                  <a:rPr lang="en-US" sz="2000" dirty="0">
                    <a:cs typeface="Arial" panose="020B0604020202020204" pitchFamily="34" charset="0"/>
                  </a:rPr>
                  <a:t>-</a:t>
                </a:r>
                <a:r>
                  <a:rPr lang="en-US" sz="2000" dirty="0"/>
                  <a:t>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𝑧</m:t>
                        </m:r>
                      </m:e>
                      <m:sup>
                        <m:r>
                          <a:rPr lang="en-US" sz="2000" i="1">
                            <a:latin typeface="Cambria Math" panose="02040503050406030204" pitchFamily="18" charset="0"/>
                          </a:rPr>
                          <m:t>′</m:t>
                        </m:r>
                      </m:sup>
                    </m:sSup>
                    <m:acc>
                      <m:accPr>
                        <m:chr m:val="⃗"/>
                        <m:ctrlPr>
                          <a:rPr lang="en-US" sz="2000" i="1">
                            <a:latin typeface="Cambria Math" panose="02040503050406030204" pitchFamily="18" charset="0"/>
                          </a:rPr>
                        </m:ctrlPr>
                      </m:accPr>
                      <m:e>
                        <m:r>
                          <a:rPr lang="en-US" sz="2000" i="1">
                            <a:latin typeface="Cambria Math" panose="02040503050406030204" pitchFamily="18" charset="0"/>
                          </a:rPr>
                          <m:t>𝑘</m:t>
                        </m:r>
                      </m:e>
                    </m:acc>
                    <m:r>
                      <a:rPr lang="en-US" sz="2000" b="0" i="0" smtClean="0">
                        <a:latin typeface="Cambria Math" panose="02040503050406030204" pitchFamily="18" charset="0"/>
                      </a:rPr>
                      <m:t>|=</m:t>
                    </m:r>
                    <m:r>
                      <m:rPr>
                        <m:sty m:val="p"/>
                      </m:rPr>
                      <a:rPr lang="en-US" sz="2000" b="0" i="0" smtClean="0">
                        <a:latin typeface="Cambria Math" panose="02040503050406030204" pitchFamily="18" charset="0"/>
                      </a:rPr>
                      <m:t>r</m:t>
                    </m:r>
                    <m:r>
                      <a:rPr lang="en-US" sz="2000" b="0" i="0"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𝑧</m:t>
                        </m:r>
                      </m:e>
                      <m:sup>
                        <m:r>
                          <a:rPr lang="en-US" sz="2000" b="0" i="1" smtClean="0">
                            <a:latin typeface="Cambria Math" panose="02040503050406030204" pitchFamily="18" charset="0"/>
                          </a:rPr>
                          <m:t>′</m:t>
                        </m:r>
                      </m:sup>
                    </m:sSup>
                    <m:r>
                      <m:rPr>
                        <m:sty m:val="p"/>
                      </m:rPr>
                      <a:rPr lang="en-US" sz="2000" b="0" i="0" smtClean="0">
                        <a:latin typeface="Cambria Math" panose="02040503050406030204" pitchFamily="18" charset="0"/>
                      </a:rPr>
                      <m:t>cos</m:t>
                    </m:r>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𝜃</m:t>
                    </m:r>
                  </m:oMath>
                </a14:m>
                <a:r>
                  <a:rPr lang="en-US" sz="2000" dirty="0">
                    <a:cs typeface="Arial" panose="020B0604020202020204" pitchFamily="34" charset="0"/>
                  </a:rPr>
                  <a:t>)</a:t>
                </a:r>
              </a:p>
              <a:p>
                <a:pPr marL="342900" indent="-342900">
                  <a:lnSpc>
                    <a:spcPct val="110000"/>
                  </a:lnSpc>
                  <a:spcBef>
                    <a:spcPts val="0"/>
                  </a:spcBef>
                </a:pPr>
                <a:r>
                  <a:rPr lang="en-US" sz="2000" dirty="0">
                    <a:latin typeface="Arial" panose="020B0604020202020204" pitchFamily="34" charset="0"/>
                    <a:cs typeface="Arial" panose="020B0604020202020204" pitchFamily="34" charset="0"/>
                  </a:rPr>
                  <a:t>If </a:t>
                </a:r>
                <a14:m>
                  <m:oMath xmlns:m="http://schemas.openxmlformats.org/officeDocument/2006/math">
                    <m:r>
                      <a:rPr lang="en-US" sz="2000" i="1">
                        <a:latin typeface="Cambria Math" panose="02040503050406030204" pitchFamily="18" charset="0"/>
                        <a:cs typeface="Arial" panose="020B0604020202020204" pitchFamily="34" charset="0"/>
                      </a:rPr>
                      <m:t>𝑙</m:t>
                    </m:r>
                    <m:r>
                      <a:rPr lang="en-US" sz="2000" i="1">
                        <a:latin typeface="Cambria Math" panose="02040503050406030204" pitchFamily="18" charset="0"/>
                        <a:cs typeface="Arial" panose="020B0604020202020204" pitchFamily="34" charset="0"/>
                      </a:rPr>
                      <m:t> ≪</m:t>
                    </m:r>
                    <m:r>
                      <a:rPr lang="en-US" sz="2000" i="1">
                        <a:latin typeface="Cambria Math" panose="02040503050406030204" pitchFamily="18" charset="0"/>
                        <a:ea typeface="Cambria Math" panose="02040503050406030204" pitchFamily="18" charset="0"/>
                        <a:cs typeface="Arial" panose="020B0604020202020204" pitchFamily="34" charset="0"/>
                      </a:rPr>
                      <m:t>𝑐𝑇</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𝜆</m:t>
                    </m:r>
                  </m:oMath>
                </a14:m>
                <a:r>
                  <a:rPr lang="en-US" sz="2000" dirty="0">
                    <a:latin typeface="Arial" panose="020B0604020202020204" pitchFamily="34" charset="0"/>
                    <a:cs typeface="Arial" panose="020B0604020202020204" pitchFamily="34" charset="0"/>
                  </a:rPr>
                  <a:t>, </a:t>
                </a:r>
                <a14:m>
                  <m:oMath xmlns:m="http://schemas.openxmlformats.org/officeDocument/2006/math">
                    <m:r>
                      <a:rPr lang="en-US" sz="2000" b="0" i="1" smtClean="0">
                        <a:latin typeface="Cambria Math" panose="02040503050406030204" pitchFamily="18" charset="0"/>
                        <a:cs typeface="Arial" panose="020B0604020202020204" pitchFamily="34" charset="0"/>
                      </a:rPr>
                      <m:t>𝐼</m:t>
                    </m:r>
                    <m:d>
                      <m:dPr>
                        <m:ctrlPr>
                          <a:rPr lang="en-US" sz="2000" b="0" i="1" smtClean="0">
                            <a:latin typeface="Cambria Math" panose="02040503050406030204" pitchFamily="18" charset="0"/>
                            <a:cs typeface="Arial" panose="020B0604020202020204" pitchFamily="34" charset="0"/>
                          </a:rPr>
                        </m:ctrlPr>
                      </m:dPr>
                      <m:e>
                        <m:sSup>
                          <m:sSupPr>
                            <m:ctrlPr>
                              <a:rPr lang="en-US" sz="2000" i="1">
                                <a:latin typeface="Cambria Math" panose="02040503050406030204" pitchFamily="18" charset="0"/>
                              </a:rPr>
                            </m:ctrlPr>
                          </m:sSup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𝑧</m:t>
                                </m:r>
                              </m:e>
                            </m:acc>
                          </m:e>
                          <m:sup>
                            <m:r>
                              <a:rPr lang="en-US" sz="2000" i="1">
                                <a:latin typeface="Cambria Math" panose="02040503050406030204" pitchFamily="18" charset="0"/>
                              </a:rPr>
                              <m:t>′</m:t>
                            </m:r>
                          </m:sup>
                        </m:sSup>
                        <m:r>
                          <a:rPr lang="en-US" sz="2000" b="0" i="1" smtClean="0">
                            <a:latin typeface="Cambria Math" panose="02040503050406030204" pitchFamily="18" charset="0"/>
                          </a:rPr>
                          <m:t>, </m:t>
                        </m:r>
                        <m:r>
                          <a:rPr lang="en-US" sz="2000" b="0" i="1" smtClean="0">
                            <a:latin typeface="Cambria Math" panose="02040503050406030204" pitchFamily="18" charset="0"/>
                          </a:rPr>
                          <m:t>𝑡</m:t>
                        </m:r>
                        <m:r>
                          <a:rPr lang="en-US" sz="2000" b="0" i="1" smtClean="0">
                            <a:latin typeface="Cambria Math" panose="02040503050406030204" pitchFamily="18" charset="0"/>
                          </a:rPr>
                          <m:t>−</m:t>
                        </m:r>
                        <m:f>
                          <m:fPr>
                            <m:ctrlPr>
                              <a:rPr lang="en-US" sz="2000" b="0" i="1" smtClean="0">
                                <a:latin typeface="Cambria Math" panose="02040503050406030204" pitchFamily="18" charset="0"/>
                                <a:cs typeface="Arial" panose="020B0604020202020204" pitchFamily="34" charset="0"/>
                              </a:rPr>
                            </m:ctrlPr>
                          </m:fPr>
                          <m:num>
                            <m:sSup>
                              <m:sSupPr>
                                <m:ctrlPr>
                                  <a:rPr lang="en-US" sz="2000" b="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𝑟</m:t>
                                </m:r>
                              </m:e>
                              <m:sup>
                                <m:r>
                                  <a:rPr lang="en-US" sz="2000" b="0" i="1" smtClean="0">
                                    <a:latin typeface="Cambria Math" panose="02040503050406030204" pitchFamily="18" charset="0"/>
                                    <a:cs typeface="Arial" panose="020B0604020202020204" pitchFamily="34" charset="0"/>
                                  </a:rPr>
                                  <m:t>′</m:t>
                                </m:r>
                              </m:sup>
                            </m:sSup>
                          </m:num>
                          <m:den>
                            <m:r>
                              <a:rPr lang="en-US" sz="2000" i="1">
                                <a:latin typeface="Cambria Math" panose="02040503050406030204" pitchFamily="18" charset="0"/>
                                <a:cs typeface="Arial" panose="020B0604020202020204" pitchFamily="34" charset="0"/>
                              </a:rPr>
                              <m:t>𝑐</m:t>
                            </m:r>
                          </m:den>
                        </m:f>
                      </m:e>
                    </m:d>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𝐼</m:t>
                    </m:r>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0</m:t>
                        </m:r>
                        <m:r>
                          <a:rPr lang="en-US" sz="2000" i="1">
                            <a:latin typeface="Cambria Math" panose="02040503050406030204" pitchFamily="18" charset="0"/>
                          </a:rPr>
                          <m:t>, </m:t>
                        </m:r>
                        <m:r>
                          <a:rPr lang="en-US" sz="2000" i="1">
                            <a:latin typeface="Cambria Math" panose="02040503050406030204" pitchFamily="18" charset="0"/>
                          </a:rPr>
                          <m:t>𝑡</m:t>
                        </m:r>
                        <m:r>
                          <a:rPr lang="en-US" sz="2000" i="1">
                            <a:latin typeface="Cambria Math" panose="02040503050406030204" pitchFamily="18" charset="0"/>
                          </a:rPr>
                          <m:t>−</m:t>
                        </m:r>
                        <m:f>
                          <m:fPr>
                            <m:ctrlPr>
                              <a:rPr lang="en-US" sz="2000" i="1">
                                <a:latin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cs typeface="Arial" panose="020B0604020202020204" pitchFamily="34" charset="0"/>
                                  </a:rPr>
                                </m:ctrlPr>
                              </m:sSupPr>
                              <m:e>
                                <m:r>
                                  <a:rPr lang="en-US" sz="2000" i="1">
                                    <a:latin typeface="Cambria Math" panose="02040503050406030204" pitchFamily="18" charset="0"/>
                                    <a:cs typeface="Arial" panose="020B0604020202020204" pitchFamily="34" charset="0"/>
                                  </a:rPr>
                                  <m:t>𝑟</m:t>
                                </m:r>
                              </m:e>
                              <m:sup>
                                <m:r>
                                  <a:rPr lang="en-US" sz="2000" i="1">
                                    <a:latin typeface="Cambria Math" panose="02040503050406030204" pitchFamily="18" charset="0"/>
                                    <a:cs typeface="Arial" panose="020B0604020202020204" pitchFamily="34" charset="0"/>
                                  </a:rPr>
                                  <m:t>′</m:t>
                                </m:r>
                              </m:sup>
                            </m:sSup>
                          </m:num>
                          <m:den>
                            <m:r>
                              <a:rPr lang="en-US" sz="2000" i="1">
                                <a:latin typeface="Cambria Math" panose="02040503050406030204" pitchFamily="18" charset="0"/>
                                <a:cs typeface="Arial" panose="020B0604020202020204" pitchFamily="34" charset="0"/>
                              </a:rPr>
                              <m:t>𝑐</m:t>
                            </m:r>
                          </m:den>
                        </m:f>
                      </m:e>
                    </m:d>
                  </m:oMath>
                </a14:m>
                <a:r>
                  <a:rPr lang="en-US" sz="2000" dirty="0">
                    <a:cs typeface="Arial" panose="020B0604020202020204" pitchFamily="34" charset="0"/>
                  </a:rPr>
                  <a:t> and we get:</a:t>
                </a:r>
              </a:p>
              <a:p>
                <a:pPr marL="342900" indent="-342900">
                  <a:lnSpc>
                    <a:spcPct val="110000"/>
                  </a:lnSpc>
                  <a:spcBef>
                    <a:spcPts val="0"/>
                  </a:spcBef>
                </a:pP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𝐴</m:t>
                        </m:r>
                      </m:e>
                      <m:sub>
                        <m:r>
                          <a:rPr lang="en-US" sz="2000" i="1">
                            <a:latin typeface="Cambria Math" panose="02040503050406030204" pitchFamily="18" charset="0"/>
                            <a:cs typeface="Arial" panose="020B0604020202020204" pitchFamily="34" charset="0"/>
                          </a:rPr>
                          <m:t>𝑧</m:t>
                        </m:r>
                      </m:sub>
                    </m:sSub>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𝑟</m:t>
                        </m:r>
                        <m:r>
                          <a:rPr lang="en-US" sz="2000" i="1">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𝑡</m:t>
                        </m:r>
                      </m:e>
                    </m:d>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0</m:t>
                            </m:r>
                          </m:sub>
                        </m:sSub>
                      </m:num>
                      <m:den>
                        <m:r>
                          <a:rPr lang="en-US" sz="2000" i="1">
                            <a:latin typeface="Cambria Math" panose="02040503050406030204" pitchFamily="18" charset="0"/>
                            <a:cs typeface="Arial" panose="020B0604020202020204" pitchFamily="34" charset="0"/>
                          </a:rPr>
                          <m:t>4</m:t>
                        </m:r>
                        <m:r>
                          <a:rPr lang="en-US" sz="2000" i="1">
                            <a:latin typeface="Cambria Math" panose="02040503050406030204" pitchFamily="18" charset="0"/>
                            <a:ea typeface="Cambria Math" panose="02040503050406030204" pitchFamily="18" charset="0"/>
                            <a:cs typeface="Arial" panose="020B0604020202020204" pitchFamily="34" charset="0"/>
                          </a:rPr>
                          <m:t>𝜋</m:t>
                        </m:r>
                      </m:den>
                    </m:f>
                    <m:nary>
                      <m:nary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naryPr>
                      <m:sub>
                        <m:r>
                          <m:rPr>
                            <m:brk m:alnAt="23"/>
                          </m:rP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𝑙</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2</m:t>
                            </m:r>
                          </m:den>
                        </m:f>
                      </m:sub>
                      <m:sup>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𝑙</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2</m:t>
                            </m:r>
                          </m:den>
                        </m:f>
                      </m:sup>
                      <m:e>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𝐼</m:t>
                            </m:r>
                            <m:d>
                              <m:dPr>
                                <m:ctrlPr>
                                  <a:rPr lang="en-US" sz="2000" i="1">
                                    <a:latin typeface="Cambria Math" panose="02040503050406030204" pitchFamily="18" charset="0"/>
                                    <a:cs typeface="Arial" panose="020B0604020202020204" pitchFamily="34" charset="0"/>
                                  </a:rPr>
                                </m:ctrlPr>
                              </m:dPr>
                              <m:e>
                                <m:sSup>
                                  <m:sSupPr>
                                    <m:ctrlPr>
                                      <a:rPr lang="en-US" sz="2000" i="1">
                                        <a:latin typeface="Cambria Math" panose="02040503050406030204" pitchFamily="18" charset="0"/>
                                      </a:rPr>
                                    </m:ctrlPr>
                                  </m:sSupPr>
                                  <m:e>
                                    <m:acc>
                                      <m:accPr>
                                        <m:chr m:val="⃗"/>
                                        <m:ctrlPr>
                                          <a:rPr lang="en-US" sz="2000" i="1">
                                            <a:latin typeface="Cambria Math" panose="02040503050406030204" pitchFamily="18" charset="0"/>
                                          </a:rPr>
                                        </m:ctrlPr>
                                      </m:accPr>
                                      <m:e>
                                        <m:r>
                                          <a:rPr lang="en-US" sz="2000" i="1">
                                            <a:latin typeface="Cambria Math" panose="02040503050406030204" pitchFamily="18" charset="0"/>
                                          </a:rPr>
                                          <m:t>𝑧</m:t>
                                        </m:r>
                                      </m:e>
                                    </m:acc>
                                  </m:e>
                                  <m:sup>
                                    <m:r>
                                      <a:rPr lang="en-US" sz="2000" i="1">
                                        <a:latin typeface="Cambria Math" panose="02040503050406030204" pitchFamily="18" charset="0"/>
                                      </a:rPr>
                                      <m:t>′</m:t>
                                    </m:r>
                                  </m:sup>
                                </m:sSup>
                                <m:r>
                                  <a:rPr lang="en-US" sz="2000" i="1">
                                    <a:latin typeface="Cambria Math" panose="02040503050406030204" pitchFamily="18" charset="0"/>
                                  </a:rPr>
                                  <m:t>, </m:t>
                                </m:r>
                                <m:r>
                                  <a:rPr lang="en-US" sz="2000" b="0" i="1" smtClean="0">
                                    <a:latin typeface="Cambria Math" panose="02040503050406030204" pitchFamily="18" charset="0"/>
                                  </a:rPr>
                                  <m:t> </m:t>
                                </m:r>
                                <m:r>
                                  <a:rPr lang="en-US" sz="2000" i="1">
                                    <a:latin typeface="Cambria Math" panose="02040503050406030204" pitchFamily="18" charset="0"/>
                                  </a:rPr>
                                  <m:t>𝑡</m:t>
                                </m:r>
                                <m:r>
                                  <a:rPr lang="en-US" sz="2000" i="1">
                                    <a:latin typeface="Cambria Math" panose="02040503050406030204" pitchFamily="18" charset="0"/>
                                  </a:rPr>
                                  <m:t>−</m:t>
                                </m:r>
                                <m:f>
                                  <m:fPr>
                                    <m:ctrlPr>
                                      <a:rPr lang="en-US" sz="2000" i="1">
                                        <a:latin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cs typeface="Arial" panose="020B0604020202020204" pitchFamily="34" charset="0"/>
                                          </a:rPr>
                                        </m:ctrlPr>
                                      </m:sSupPr>
                                      <m:e>
                                        <m:r>
                                          <a:rPr lang="en-US" sz="2000" i="1">
                                            <a:latin typeface="Cambria Math" panose="02040503050406030204" pitchFamily="18" charset="0"/>
                                            <a:cs typeface="Arial" panose="020B0604020202020204" pitchFamily="34" charset="0"/>
                                          </a:rPr>
                                          <m:t>𝑟</m:t>
                                        </m:r>
                                      </m:e>
                                      <m:sup>
                                        <m:r>
                                          <a:rPr lang="en-US" sz="2000" i="1">
                                            <a:latin typeface="Cambria Math" panose="02040503050406030204" pitchFamily="18" charset="0"/>
                                            <a:cs typeface="Arial" panose="020B0604020202020204" pitchFamily="34" charset="0"/>
                                          </a:rPr>
                                          <m:t>′</m:t>
                                        </m:r>
                                      </m:sup>
                                    </m:sSup>
                                  </m:num>
                                  <m:den>
                                    <m:r>
                                      <a:rPr lang="en-US" sz="2000" i="1">
                                        <a:latin typeface="Cambria Math" panose="02040503050406030204" pitchFamily="18" charset="0"/>
                                        <a:cs typeface="Arial" panose="020B0604020202020204" pitchFamily="34" charset="0"/>
                                      </a:rPr>
                                      <m:t>𝑐</m:t>
                                    </m:r>
                                  </m:den>
                                </m:f>
                              </m:e>
                            </m:d>
                          </m:num>
                          <m:den>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m:t>
                                </m:r>
                              </m:sup>
                            </m:sSup>
                          </m:den>
                        </m:f>
                        <m:r>
                          <a:rPr lang="en-US" sz="2000" b="0" i="1" smtClean="0">
                            <a:latin typeface="Cambria Math" panose="02040503050406030204" pitchFamily="18" charset="0"/>
                            <a:ea typeface="Cambria Math" panose="02040503050406030204" pitchFamily="18" charset="0"/>
                            <a:cs typeface="Arial" panose="020B0604020202020204" pitchFamily="34" charset="0"/>
                          </a:rPr>
                          <m:t> </m:t>
                        </m:r>
                        <m:r>
                          <a:rPr lang="en-US" sz="2000" b="0" i="1" smtClean="0">
                            <a:latin typeface="Cambria Math" panose="02040503050406030204" pitchFamily="18" charset="0"/>
                            <a:ea typeface="Cambria Math" panose="02040503050406030204" pitchFamily="18" charset="0"/>
                            <a:cs typeface="Arial" panose="020B0604020202020204" pitchFamily="34" charset="0"/>
                          </a:rPr>
                          <m:t>𝑑𝑧</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e>
                    </m:nary>
                    <m:r>
                      <a:rPr lang="en-US" sz="2000" b="0" i="1" smtClean="0">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 </m:t>
                    </m:r>
                    <m:f>
                      <m:fPr>
                        <m:ctrlPr>
                          <a:rPr lang="en-US" sz="2000" i="1">
                            <a:latin typeface="Cambria Math" panose="02040503050406030204" pitchFamily="18" charset="0"/>
                            <a:cs typeface="Arial" panose="020B0604020202020204" pitchFamily="34" charset="0"/>
                          </a:rPr>
                        </m:ctrlPr>
                      </m:fPr>
                      <m:num>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0</m:t>
                            </m:r>
                          </m:sub>
                        </m:sSub>
                      </m:num>
                      <m:den>
                        <m:r>
                          <a:rPr lang="en-US" sz="2000" i="1">
                            <a:latin typeface="Cambria Math" panose="02040503050406030204" pitchFamily="18" charset="0"/>
                            <a:cs typeface="Arial" panose="020B0604020202020204" pitchFamily="34" charset="0"/>
                          </a:rPr>
                          <m:t>4</m:t>
                        </m:r>
                        <m:r>
                          <a:rPr lang="en-US" sz="2000" i="1">
                            <a:latin typeface="Cambria Math" panose="02040503050406030204" pitchFamily="18" charset="0"/>
                            <a:ea typeface="Cambria Math" panose="02040503050406030204" pitchFamily="18" charset="0"/>
                            <a:cs typeface="Arial" panose="020B0604020202020204" pitchFamily="34" charset="0"/>
                          </a:rPr>
                          <m:t>𝜋</m:t>
                        </m:r>
                      </m:den>
                    </m:f>
                    <m:r>
                      <a:rPr lang="en-US" sz="2000" i="1">
                        <a:latin typeface="Cambria Math" panose="02040503050406030204" pitchFamily="18" charset="0"/>
                        <a:cs typeface="Arial" panose="020B0604020202020204" pitchFamily="34" charset="0"/>
                      </a:rPr>
                      <m:t> </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𝑙</m:t>
                        </m:r>
                      </m:num>
                      <m:den>
                        <m:r>
                          <a:rPr lang="en-US" sz="2000" b="0" i="1" smtClean="0">
                            <a:latin typeface="Cambria Math" panose="02040503050406030204" pitchFamily="18" charset="0"/>
                            <a:cs typeface="Arial" panose="020B0604020202020204" pitchFamily="34" charset="0"/>
                          </a:rPr>
                          <m:t>𝑟</m:t>
                        </m:r>
                      </m:den>
                    </m:f>
                    <m:r>
                      <a:rPr lang="en-US" sz="2000" i="1">
                        <a:latin typeface="Cambria Math" panose="02040503050406030204" pitchFamily="18" charset="0"/>
                        <a:cs typeface="Arial" panose="020B0604020202020204" pitchFamily="34" charset="0"/>
                      </a:rPr>
                      <m:t>𝐼</m:t>
                    </m:r>
                    <m:r>
                      <a:rPr lang="en-US" sz="2000" i="1">
                        <a:latin typeface="Cambria Math" panose="02040503050406030204" pitchFamily="18" charset="0"/>
                        <a:cs typeface="Arial" panose="020B0604020202020204" pitchFamily="34" charset="0"/>
                      </a:rPr>
                      <m:t>(0, </m:t>
                    </m:r>
                    <m:r>
                      <a:rPr lang="en-US" sz="2000" i="1">
                        <a:latin typeface="Cambria Math" panose="02040503050406030204" pitchFamily="18" charset="0"/>
                        <a:cs typeface="Arial" panose="020B0604020202020204" pitchFamily="34" charset="0"/>
                      </a:rPr>
                      <m:t>𝑡</m:t>
                    </m:r>
                    <m:r>
                      <a:rPr lang="en-US" sz="2000" i="1">
                        <a:latin typeface="Cambria Math" panose="02040503050406030204" pitchFamily="18" charset="0"/>
                        <a:cs typeface="Arial" panose="020B0604020202020204" pitchFamily="34" charset="0"/>
                      </a:rPr>
                      <m:t>−</m:t>
                    </m:r>
                    <m:f>
                      <m:fPr>
                        <m:ctrlPr>
                          <a:rPr lang="en-US" sz="2000" i="1" smtClean="0">
                            <a:latin typeface="Cambria Math" panose="02040503050406030204" pitchFamily="18" charset="0"/>
                            <a:cs typeface="Arial" panose="020B0604020202020204" pitchFamily="34" charset="0"/>
                          </a:rPr>
                        </m:ctrlPr>
                      </m:fPr>
                      <m:num>
                        <m:sSup>
                          <m:sSupPr>
                            <m:ctrlPr>
                              <a:rPr lang="en-US" sz="2000" b="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𝑟</m:t>
                            </m:r>
                          </m:e>
                          <m:sup>
                            <m:r>
                              <a:rPr lang="en-US" sz="2000" b="0" i="1" smtClean="0">
                                <a:latin typeface="Cambria Math" panose="02040503050406030204" pitchFamily="18" charset="0"/>
                                <a:cs typeface="Arial" panose="020B0604020202020204" pitchFamily="34" charset="0"/>
                              </a:rPr>
                              <m:t>′</m:t>
                            </m:r>
                          </m:sup>
                        </m:sSup>
                      </m:num>
                      <m:den>
                        <m:r>
                          <a:rPr lang="en-US" sz="2000" i="1">
                            <a:latin typeface="Cambria Math" panose="02040503050406030204" pitchFamily="18" charset="0"/>
                            <a:cs typeface="Arial" panose="020B0604020202020204" pitchFamily="34" charset="0"/>
                          </a:rPr>
                          <m:t>𝑐</m:t>
                        </m:r>
                      </m:den>
                    </m:f>
                    <m:r>
                      <a:rPr lang="en-US" sz="2000" i="1">
                        <a:latin typeface="Cambria Math" panose="02040503050406030204" pitchFamily="18" charset="0"/>
                        <a:cs typeface="Arial" panose="020B0604020202020204" pitchFamily="34" charset="0"/>
                      </a:rPr>
                      <m:t> </m:t>
                    </m:r>
                    <m:r>
                      <a:rPr lang="en-US" sz="2000" b="0" i="1" smtClean="0">
                        <a:latin typeface="Cambria Math" panose="02040503050406030204" pitchFamily="18" charset="0"/>
                        <a:cs typeface="Arial" panose="020B0604020202020204" pitchFamily="34" charset="0"/>
                      </a:rPr>
                      <m:t>)</m:t>
                    </m:r>
                  </m:oMath>
                </a14:m>
                <a:endParaRPr lang="en-US" sz="2000" dirty="0">
                  <a:latin typeface="Arial" panose="020B0604020202020204" pitchFamily="34" charset="0"/>
                  <a:cs typeface="Arial" panose="020B0604020202020204" pitchFamily="34" charset="0"/>
                </a:endParaRPr>
              </a:p>
              <a:p>
                <a:pPr marL="342900" indent="-342900" algn="l">
                  <a:lnSpc>
                    <a:spcPct val="110000"/>
                  </a:lnSpc>
                  <a:spcBef>
                    <a:spcPts val="0"/>
                  </a:spcBef>
                  <a:buFont typeface="Arial" panose="020B0604020202020204" pitchFamily="34" charset="0"/>
                  <a:buChar char="•"/>
                </a:pPr>
                <a:r>
                  <a:rPr lang="en-US" sz="2000" dirty="0">
                    <a:latin typeface="Arial" panose="020B0604020202020204" pitchFamily="34" charset="0"/>
                    <a:cs typeface="Arial" panose="020B0604020202020204" pitchFamily="34" charset="0"/>
                  </a:rPr>
                  <a:t>Choosing gauge, </a:t>
                </a:r>
                <a14:m>
                  <m:oMath xmlns:m="http://schemas.openxmlformats.org/officeDocument/2006/math">
                    <m:r>
                      <m:rPr>
                        <m:sty m:val="p"/>
                      </m:rP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m:t>
                    </m:r>
                    <m:r>
                      <m:rPr>
                        <m:sty m:val="p"/>
                      </m:rPr>
                      <a:rPr lang="en-US" sz="2000" b="0" i="0" smtClean="0">
                        <a:latin typeface="Cambria Math" panose="02040503050406030204" pitchFamily="18" charset="0"/>
                        <a:ea typeface="Cambria Math" panose="02040503050406030204" pitchFamily="18" charset="0"/>
                        <a:cs typeface="Arial" panose="020B0604020202020204" pitchFamily="34" charset="0"/>
                      </a:rPr>
                      <m:t>A</m:t>
                    </m:r>
                    <m:r>
                      <a:rPr lang="en-US" sz="2000">
                        <a:latin typeface="Cambria Math" panose="02040503050406030204" pitchFamily="18" charset="0"/>
                        <a:ea typeface="Cambria Math" panose="02040503050406030204" pitchFamily="18" charset="0"/>
                        <a:cs typeface="Arial" panose="020B0604020202020204" pitchFamily="34" charset="0"/>
                      </a:rPr>
                      <m:t>+ </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1</m:t>
                        </m:r>
                      </m:num>
                      <m:den>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𝑐</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den>
                    </m:f>
                    <m:r>
                      <a:rPr lang="en-US" sz="2000" i="1">
                        <a:latin typeface="Cambria Math" panose="02040503050406030204" pitchFamily="18" charset="0"/>
                        <a:ea typeface="Cambria Math" panose="02040503050406030204" pitchFamily="18" charset="0"/>
                        <a:cs typeface="Arial" panose="020B0604020202020204" pitchFamily="34" charset="0"/>
                      </a:rPr>
                      <m:t> </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𝜕𝜑</m:t>
                        </m:r>
                      </m:num>
                      <m:den>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𝑡</m:t>
                        </m:r>
                      </m:den>
                    </m:f>
                    <m:r>
                      <a:rPr lang="en-US" sz="2000" i="1">
                        <a:latin typeface="Cambria Math" panose="02040503050406030204" pitchFamily="18" charset="0"/>
                        <a:ea typeface="Cambria Math" panose="02040503050406030204" pitchFamily="18" charset="0"/>
                        <a:cs typeface="Arial" panose="020B0604020202020204" pitchFamily="34" charset="0"/>
                      </a:rPr>
                      <m:t>=0</m:t>
                    </m:r>
                  </m:oMath>
                </a14:m>
                <a:endParaRPr lang="en-US" sz="2000" dirty="0">
                  <a:latin typeface="Arial" panose="020B0604020202020204" pitchFamily="34" charset="0"/>
                  <a:cs typeface="Arial" panose="020B0604020202020204" pitchFamily="34" charset="0"/>
                </a:endParaRPr>
              </a:p>
              <a:p>
                <a:pPr marL="342900" indent="-342900">
                  <a:lnSpc>
                    <a:spcPct val="110000"/>
                  </a:lnSpc>
                  <a:spcBef>
                    <a:spcPts val="0"/>
                  </a:spcBef>
                </a:pPr>
                <a14:m>
                  <m:oMath xmlns:m="http://schemas.openxmlformats.org/officeDocument/2006/math">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𝜕𝜑</m:t>
                        </m:r>
                      </m:num>
                      <m:den>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𝑡</m:t>
                        </m:r>
                      </m:den>
                    </m:f>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𝑙</m:t>
                        </m:r>
                      </m:num>
                      <m:den>
                        <m:r>
                          <a:rPr lang="en-US" sz="2000" i="1">
                            <a:latin typeface="Cambria Math" panose="02040503050406030204" pitchFamily="18" charset="0"/>
                            <a:cs typeface="Arial" panose="020B0604020202020204" pitchFamily="34" charset="0"/>
                          </a:rPr>
                          <m:t>4</m:t>
                        </m:r>
                        <m:r>
                          <a:rPr lang="en-US" sz="2000" i="1">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𝜖</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den>
                    </m:f>
                    <m:r>
                      <a:rPr lang="en-US" sz="2000" i="1">
                        <a:latin typeface="Cambria Math" panose="02040503050406030204" pitchFamily="18" charset="0"/>
                        <a:cs typeface="Arial" panose="020B0604020202020204" pitchFamily="34" charset="0"/>
                      </a:rPr>
                      <m:t> </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m:t>
                        </m:r>
                      </m:num>
                      <m:den>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𝑧</m:t>
                        </m:r>
                      </m:den>
                    </m:f>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1</m:t>
                        </m:r>
                      </m:num>
                      <m:den>
                        <m:r>
                          <a:rPr lang="en-US" sz="2000" i="1">
                            <a:latin typeface="Cambria Math" panose="02040503050406030204" pitchFamily="18" charset="0"/>
                            <a:cs typeface="Arial" panose="020B0604020202020204" pitchFamily="34" charset="0"/>
                          </a:rPr>
                          <m:t>𝑟</m:t>
                        </m:r>
                      </m:den>
                    </m:f>
                    <m:r>
                      <a:rPr lang="en-US" sz="2000" i="1">
                        <a:latin typeface="Cambria Math" panose="02040503050406030204" pitchFamily="18" charset="0"/>
                        <a:cs typeface="Arial" panose="020B0604020202020204" pitchFamily="34" charset="0"/>
                      </a:rPr>
                      <m:t> </m:t>
                    </m:r>
                    <m:r>
                      <a:rPr lang="en-US" sz="2000" i="1">
                        <a:latin typeface="Cambria Math" panose="02040503050406030204" pitchFamily="18" charset="0"/>
                        <a:cs typeface="Arial" panose="020B0604020202020204" pitchFamily="34" charset="0"/>
                      </a:rPr>
                      <m:t>𝐼</m:t>
                    </m:r>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𝑡</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𝑟</m:t>
                            </m:r>
                          </m:num>
                          <m:den>
                            <m:r>
                              <a:rPr lang="en-US" sz="2000" i="1">
                                <a:latin typeface="Cambria Math" panose="02040503050406030204" pitchFamily="18" charset="0"/>
                                <a:cs typeface="Arial" panose="020B0604020202020204" pitchFamily="34" charset="0"/>
                              </a:rPr>
                              <m:t>𝑐</m:t>
                            </m:r>
                          </m:den>
                        </m:f>
                      </m:e>
                    </m:d>
                    <m:r>
                      <a:rPr lang="en-US" sz="2000" i="1">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𝑙</m:t>
                        </m:r>
                      </m:num>
                      <m:den>
                        <m:r>
                          <a:rPr lang="en-US" sz="2000" i="1">
                            <a:latin typeface="Cambria Math" panose="02040503050406030204" pitchFamily="18" charset="0"/>
                            <a:cs typeface="Arial" panose="020B0604020202020204" pitchFamily="34" charset="0"/>
                          </a:rPr>
                          <m:t>4</m:t>
                        </m:r>
                        <m:r>
                          <a:rPr lang="en-US" sz="2000" i="1">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𝜖</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den>
                    </m:f>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𝑧</m:t>
                        </m:r>
                      </m:num>
                      <m:den>
                        <m:sSup>
                          <m:sSupPr>
                            <m:ctrlPr>
                              <a:rPr lang="en-US" sz="2000" i="1">
                                <a:latin typeface="Cambria Math" panose="02040503050406030204" pitchFamily="18" charset="0"/>
                                <a:cs typeface="Arial" panose="020B0604020202020204" pitchFamily="34" charset="0"/>
                              </a:rPr>
                            </m:ctrlPr>
                          </m:sSupPr>
                          <m:e>
                            <m:r>
                              <a:rPr lang="en-US" sz="2000" i="1">
                                <a:latin typeface="Cambria Math" panose="02040503050406030204" pitchFamily="18" charset="0"/>
                                <a:cs typeface="Arial" panose="020B0604020202020204" pitchFamily="34" charset="0"/>
                              </a:rPr>
                              <m:t>𝑟</m:t>
                            </m:r>
                          </m:e>
                          <m:sup>
                            <m:r>
                              <a:rPr lang="en-US" sz="2000" i="1">
                                <a:latin typeface="Cambria Math" panose="02040503050406030204" pitchFamily="18" charset="0"/>
                                <a:cs typeface="Arial" panose="020B0604020202020204" pitchFamily="34" charset="0"/>
                              </a:rPr>
                              <m:t>2</m:t>
                            </m:r>
                          </m:sup>
                        </m:sSup>
                      </m:den>
                    </m:f>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𝑞</m:t>
                        </m:r>
                        <m:r>
                          <a:rPr lang="en-US" sz="2000" i="1">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𝑡</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𝑟</m:t>
                            </m:r>
                          </m:num>
                          <m:den>
                            <m:r>
                              <a:rPr lang="en-US" sz="2000" i="1">
                                <a:latin typeface="Cambria Math" panose="02040503050406030204" pitchFamily="18" charset="0"/>
                                <a:cs typeface="Arial" panose="020B0604020202020204" pitchFamily="34" charset="0"/>
                              </a:rPr>
                              <m:t>𝑐</m:t>
                            </m:r>
                          </m:den>
                        </m:f>
                        <m:r>
                          <a:rPr lang="en-US" sz="2000" i="1">
                            <a:latin typeface="Cambria Math" panose="02040503050406030204" pitchFamily="18" charset="0"/>
                            <a:cs typeface="Arial" panose="020B0604020202020204" pitchFamily="34" charset="0"/>
                          </a:rPr>
                          <m:t>)</m:t>
                        </m:r>
                      </m:num>
                      <m:den>
                        <m:r>
                          <a:rPr lang="en-US" sz="2000" i="1">
                            <a:latin typeface="Cambria Math" panose="02040503050406030204" pitchFamily="18" charset="0"/>
                            <a:cs typeface="Arial" panose="020B0604020202020204" pitchFamily="34" charset="0"/>
                          </a:rPr>
                          <m:t>𝑟</m:t>
                        </m:r>
                      </m:den>
                    </m:f>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𝐼</m:t>
                        </m:r>
                        <m:r>
                          <a:rPr lang="en-US" sz="2000" i="1">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𝑡</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𝑟</m:t>
                            </m:r>
                          </m:num>
                          <m:den>
                            <m:r>
                              <a:rPr lang="en-US" sz="2000" i="1">
                                <a:latin typeface="Cambria Math" panose="02040503050406030204" pitchFamily="18" charset="0"/>
                                <a:cs typeface="Arial" panose="020B0604020202020204" pitchFamily="34" charset="0"/>
                              </a:rPr>
                              <m:t>𝑐</m:t>
                            </m:r>
                          </m:den>
                        </m:f>
                        <m:r>
                          <a:rPr lang="en-US" sz="2000" i="1">
                            <a:latin typeface="Cambria Math" panose="02040503050406030204" pitchFamily="18" charset="0"/>
                            <a:cs typeface="Arial" panose="020B0604020202020204" pitchFamily="34" charset="0"/>
                          </a:rPr>
                          <m:t>)</m:t>
                        </m:r>
                      </m:num>
                      <m:den>
                        <m:r>
                          <a:rPr lang="en-US" sz="2000" i="1">
                            <a:latin typeface="Cambria Math" panose="02040503050406030204" pitchFamily="18" charset="0"/>
                            <a:cs typeface="Arial" panose="020B0604020202020204" pitchFamily="34" charset="0"/>
                          </a:rPr>
                          <m:t>𝑐</m:t>
                        </m:r>
                      </m:den>
                    </m:f>
                    <m:r>
                      <a:rPr lang="en-US" sz="2000" i="1">
                        <a:latin typeface="Cambria Math" panose="02040503050406030204" pitchFamily="18" charset="0"/>
                        <a:cs typeface="Arial" panose="020B0604020202020204" pitchFamily="34" charset="0"/>
                      </a:rPr>
                      <m:t>)</m:t>
                    </m:r>
                  </m:oMath>
                </a14:m>
                <a:r>
                  <a:rPr lang="en-US" sz="2000" dirty="0">
                    <a:latin typeface="Arial" panose="020B0604020202020204" pitchFamily="34" charset="0"/>
                    <a:cs typeface="Arial" panose="020B0604020202020204" pitchFamily="34" charset="0"/>
                  </a:rPr>
                  <a:t>, </a:t>
                </a:r>
              </a:p>
              <a:p>
                <a:pPr marL="342900" indent="-342900">
                  <a:lnSpc>
                    <a:spcPct val="110000"/>
                  </a:lnSpc>
                  <a:spcBef>
                    <a:spcPts val="0"/>
                  </a:spcBef>
                </a:pPr>
                <a14:m>
                  <m:oMath xmlns:m="http://schemas.openxmlformats.org/officeDocument/2006/math">
                    <m:r>
                      <a:rPr lang="en-US" sz="2000" i="1" dirty="0" smtClean="0">
                        <a:latin typeface="Cambria Math" panose="02040503050406030204" pitchFamily="18" charset="0"/>
                        <a:ea typeface="Cambria Math" panose="02040503050406030204" pitchFamily="18" charset="0"/>
                        <a:cs typeface="Arial" panose="020B0604020202020204" pitchFamily="34" charset="0"/>
                      </a:rPr>
                      <m:t>𝜑</m:t>
                    </m:r>
                    <m:r>
                      <a:rPr lang="en-US" sz="2000" b="0" i="1" dirty="0"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b="0" i="1" dirty="0"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dirty="0" smtClean="0">
                            <a:latin typeface="Cambria Math" panose="02040503050406030204" pitchFamily="18" charset="0"/>
                            <a:ea typeface="Cambria Math" panose="02040503050406030204" pitchFamily="18" charset="0"/>
                            <a:cs typeface="Arial" panose="020B0604020202020204" pitchFamily="34" charset="0"/>
                          </a:rPr>
                          <m:t>1</m:t>
                        </m:r>
                      </m:num>
                      <m:den>
                        <m:r>
                          <a:rPr lang="en-US" sz="2000" b="0" i="1" dirty="0" smtClean="0">
                            <a:latin typeface="Cambria Math" panose="02040503050406030204" pitchFamily="18" charset="0"/>
                            <a:ea typeface="Cambria Math" panose="02040503050406030204" pitchFamily="18" charset="0"/>
                            <a:cs typeface="Arial" panose="020B0604020202020204" pitchFamily="34" charset="0"/>
                          </a:rPr>
                          <m:t>4</m:t>
                        </m:r>
                        <m:r>
                          <a:rPr lang="en-US" sz="2000" b="0" i="1" dirty="0" smtClean="0">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b="0" i="1" dirty="0"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dirty="0" smtClean="0">
                                <a:latin typeface="Cambria Math" panose="02040503050406030204" pitchFamily="18" charset="0"/>
                                <a:ea typeface="Cambria Math" panose="02040503050406030204" pitchFamily="18" charset="0"/>
                                <a:cs typeface="Arial" panose="020B0604020202020204" pitchFamily="34" charset="0"/>
                              </a:rPr>
                              <m:t>𝜖</m:t>
                            </m:r>
                          </m:e>
                          <m:sub>
                            <m:r>
                              <a:rPr lang="en-US" sz="2000" b="0" i="1" dirty="0" smtClean="0">
                                <a:latin typeface="Cambria Math" panose="02040503050406030204" pitchFamily="18" charset="0"/>
                                <a:ea typeface="Cambria Math" panose="02040503050406030204" pitchFamily="18" charset="0"/>
                                <a:cs typeface="Arial" panose="020B0604020202020204" pitchFamily="34" charset="0"/>
                              </a:rPr>
                              <m:t>0</m:t>
                            </m:r>
                          </m:sub>
                        </m:sSub>
                      </m:den>
                    </m:f>
                    <m:f>
                      <m:fPr>
                        <m:ctrlPr>
                          <a:rPr lang="en-US" sz="2000" b="0" i="1" dirty="0"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dirty="0" smtClean="0">
                            <a:latin typeface="Cambria Math" panose="02040503050406030204" pitchFamily="18" charset="0"/>
                            <a:ea typeface="Cambria Math" panose="02040503050406030204" pitchFamily="18" charset="0"/>
                            <a:cs typeface="Arial" panose="020B0604020202020204" pitchFamily="34" charset="0"/>
                          </a:rPr>
                          <m:t>(</m:t>
                        </m:r>
                        <m:r>
                          <a:rPr lang="en-US" sz="2000" b="0" i="1" dirty="0" smtClean="0">
                            <a:latin typeface="Cambria Math" panose="02040503050406030204" pitchFamily="18" charset="0"/>
                            <a:ea typeface="Cambria Math" panose="02040503050406030204" pitchFamily="18" charset="0"/>
                            <a:cs typeface="Arial" panose="020B0604020202020204" pitchFamily="34" charset="0"/>
                          </a:rPr>
                          <m:t>𝑝</m:t>
                        </m:r>
                        <m:r>
                          <a:rPr lang="en-US" sz="2000" b="0" i="1" dirty="0" smtClean="0">
                            <a:latin typeface="Cambria Math" panose="02040503050406030204" pitchFamily="18" charset="0"/>
                            <a:ea typeface="Cambria Math" panose="02040503050406030204" pitchFamily="18" charset="0"/>
                            <a:cs typeface="Arial" panose="020B0604020202020204" pitchFamily="34" charset="0"/>
                          </a:rPr>
                          <m:t>(</m:t>
                        </m:r>
                        <m:r>
                          <a:rPr lang="en-US" sz="2000" b="0" i="1" dirty="0" smtClean="0">
                            <a:latin typeface="Cambria Math" panose="02040503050406030204" pitchFamily="18" charset="0"/>
                            <a:ea typeface="Cambria Math" panose="02040503050406030204" pitchFamily="18" charset="0"/>
                            <a:cs typeface="Arial" panose="020B0604020202020204" pitchFamily="34" charset="0"/>
                          </a:rPr>
                          <m:t>𝑡</m:t>
                        </m:r>
                        <m:r>
                          <a:rPr lang="en-US" sz="2000" b="0" i="1" dirty="0" smtClean="0">
                            <a:latin typeface="Cambria Math" panose="02040503050406030204" pitchFamily="18" charset="0"/>
                            <a:ea typeface="Cambria Math" panose="02040503050406030204" pitchFamily="18" charset="0"/>
                            <a:cs typeface="Arial" panose="020B0604020202020204" pitchFamily="34" charset="0"/>
                          </a:rPr>
                          <m:t>−</m:t>
                        </m:r>
                        <m:f>
                          <m:fPr>
                            <m:type m:val="skw"/>
                            <m:ctrlPr>
                              <a:rPr lang="en-US" sz="2000" b="0" i="1" dirty="0"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dirty="0" smtClean="0">
                                <a:latin typeface="Cambria Math" panose="02040503050406030204" pitchFamily="18" charset="0"/>
                                <a:ea typeface="Cambria Math" panose="02040503050406030204" pitchFamily="18" charset="0"/>
                                <a:cs typeface="Arial" panose="020B0604020202020204" pitchFamily="34" charset="0"/>
                              </a:rPr>
                              <m:t>𝑟</m:t>
                            </m:r>
                          </m:num>
                          <m:den>
                            <m:r>
                              <a:rPr lang="en-US" sz="2000" b="0" i="1" dirty="0" smtClean="0">
                                <a:latin typeface="Cambria Math" panose="02040503050406030204" pitchFamily="18" charset="0"/>
                                <a:ea typeface="Cambria Math" panose="02040503050406030204" pitchFamily="18" charset="0"/>
                                <a:cs typeface="Arial" panose="020B0604020202020204" pitchFamily="34" charset="0"/>
                              </a:rPr>
                              <m:t>𝑐</m:t>
                            </m:r>
                          </m:den>
                        </m:f>
                        <m:r>
                          <a:rPr lang="en-US" sz="2000" b="0" i="1" dirty="0" smtClean="0">
                            <a:latin typeface="Cambria Math" panose="02040503050406030204" pitchFamily="18" charset="0"/>
                            <a:ea typeface="Cambria Math" panose="02040503050406030204" pitchFamily="18" charset="0"/>
                            <a:cs typeface="Arial" panose="020B0604020202020204" pitchFamily="34" charset="0"/>
                          </a:rPr>
                          <m:t>)+</m:t>
                        </m:r>
                        <m:f>
                          <m:fPr>
                            <m:type m:val="skw"/>
                            <m:ctrlPr>
                              <a:rPr lang="en-US" sz="2000" b="0" i="1" dirty="0"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dirty="0" smtClean="0">
                                <a:latin typeface="Cambria Math" panose="02040503050406030204" pitchFamily="18" charset="0"/>
                                <a:ea typeface="Cambria Math" panose="02040503050406030204" pitchFamily="18" charset="0"/>
                                <a:cs typeface="Arial" panose="020B0604020202020204" pitchFamily="34" charset="0"/>
                              </a:rPr>
                              <m:t>𝑟</m:t>
                            </m:r>
                          </m:num>
                          <m:den>
                            <m:r>
                              <a:rPr lang="en-US" sz="2000" b="0" i="1" dirty="0" smtClean="0">
                                <a:latin typeface="Cambria Math" panose="02040503050406030204" pitchFamily="18" charset="0"/>
                                <a:ea typeface="Cambria Math" panose="02040503050406030204" pitchFamily="18" charset="0"/>
                                <a:cs typeface="Arial" panose="020B0604020202020204" pitchFamily="34" charset="0"/>
                              </a:rPr>
                              <m:t>𝑐</m:t>
                            </m:r>
                          </m:den>
                        </m:f>
                        <m:acc>
                          <m:accPr>
                            <m:chr m:val="̇"/>
                            <m:ctrlPr>
                              <a:rPr lang="en-US" sz="2000" b="0" i="1" dirty="0" smtClean="0">
                                <a:latin typeface="Cambria Math" panose="02040503050406030204" pitchFamily="18" charset="0"/>
                                <a:ea typeface="Cambria Math" panose="02040503050406030204" pitchFamily="18" charset="0"/>
                                <a:cs typeface="Arial" panose="020B0604020202020204" pitchFamily="34" charset="0"/>
                              </a:rPr>
                            </m:ctrlPr>
                          </m:accPr>
                          <m:e>
                            <m:r>
                              <a:rPr lang="en-US" sz="2000" b="0" i="1" dirty="0" smtClean="0">
                                <a:latin typeface="Cambria Math" panose="02040503050406030204" pitchFamily="18" charset="0"/>
                                <a:ea typeface="Cambria Math" panose="02040503050406030204" pitchFamily="18" charset="0"/>
                                <a:cs typeface="Arial" panose="020B0604020202020204" pitchFamily="34" charset="0"/>
                              </a:rPr>
                              <m:t>𝑝</m:t>
                            </m:r>
                            <m:r>
                              <a:rPr lang="en-US" sz="2000" b="0" i="1" dirty="0" smtClean="0">
                                <a:latin typeface="Cambria Math" panose="02040503050406030204" pitchFamily="18" charset="0"/>
                                <a:ea typeface="Cambria Math" panose="02040503050406030204" pitchFamily="18" charset="0"/>
                                <a:cs typeface="Arial" panose="020B0604020202020204" pitchFamily="34" charset="0"/>
                              </a:rPr>
                              <m:t>(</m:t>
                            </m:r>
                            <m:r>
                              <a:rPr lang="en-US" sz="2000" b="0" i="1" dirty="0" smtClean="0">
                                <a:latin typeface="Cambria Math" panose="02040503050406030204" pitchFamily="18" charset="0"/>
                                <a:ea typeface="Cambria Math" panose="02040503050406030204" pitchFamily="18" charset="0"/>
                                <a:cs typeface="Arial" panose="020B0604020202020204" pitchFamily="34" charset="0"/>
                              </a:rPr>
                              <m:t>𝑡</m:t>
                            </m:r>
                            <m:r>
                              <a:rPr lang="en-US" sz="2000" b="0" i="1" dirty="0" smtClean="0">
                                <a:latin typeface="Cambria Math" panose="02040503050406030204" pitchFamily="18" charset="0"/>
                                <a:ea typeface="Cambria Math" panose="02040503050406030204" pitchFamily="18" charset="0"/>
                                <a:cs typeface="Arial" panose="020B0604020202020204" pitchFamily="34" charset="0"/>
                              </a:rPr>
                              <m:t>−</m:t>
                            </m:r>
                            <m:r>
                              <a:rPr lang="en-US" sz="2000" b="0" i="1" dirty="0" smtClean="0">
                                <a:latin typeface="Cambria Math" panose="02040503050406030204" pitchFamily="18" charset="0"/>
                                <a:ea typeface="Cambria Math" panose="02040503050406030204" pitchFamily="18" charset="0"/>
                                <a:cs typeface="Arial" panose="020B0604020202020204" pitchFamily="34" charset="0"/>
                              </a:rPr>
                              <m:t>𝑟</m:t>
                            </m:r>
                            <m:r>
                              <a:rPr lang="en-US" sz="2000" b="0" i="1" dirty="0" smtClean="0">
                                <a:latin typeface="Cambria Math" panose="02040503050406030204" pitchFamily="18" charset="0"/>
                                <a:ea typeface="Cambria Math" panose="02040503050406030204" pitchFamily="18" charset="0"/>
                                <a:cs typeface="Arial" panose="020B0604020202020204" pitchFamily="34" charset="0"/>
                              </a:rPr>
                              <m:t>/</m:t>
                            </m:r>
                            <m:r>
                              <a:rPr lang="en-US" sz="2000" b="0" i="1" dirty="0" smtClean="0">
                                <a:latin typeface="Cambria Math" panose="02040503050406030204" pitchFamily="18" charset="0"/>
                                <a:ea typeface="Cambria Math" panose="02040503050406030204" pitchFamily="18" charset="0"/>
                                <a:cs typeface="Arial" panose="020B0604020202020204" pitchFamily="34" charset="0"/>
                              </a:rPr>
                              <m:t>𝑐</m:t>
                            </m:r>
                            <m:r>
                              <a:rPr lang="en-US" sz="2000" b="0" i="1" dirty="0" smtClean="0">
                                <a:latin typeface="Cambria Math" panose="02040503050406030204" pitchFamily="18" charset="0"/>
                                <a:ea typeface="Cambria Math" panose="02040503050406030204" pitchFamily="18" charset="0"/>
                                <a:cs typeface="Arial" panose="020B0604020202020204" pitchFamily="34" charset="0"/>
                              </a:rPr>
                              <m:t>)</m:t>
                            </m:r>
                          </m:e>
                        </m:acc>
                        <m:r>
                          <a:rPr lang="en-US" sz="2000" b="0" i="1" dirty="0" smtClean="0">
                            <a:latin typeface="Cambria Math" panose="02040503050406030204" pitchFamily="18" charset="0"/>
                            <a:ea typeface="Cambria Math" panose="02040503050406030204" pitchFamily="18" charset="0"/>
                            <a:cs typeface="Arial" panose="020B0604020202020204" pitchFamily="34" charset="0"/>
                          </a:rPr>
                          <m:t>)∙</m:t>
                        </m:r>
                        <m:r>
                          <a:rPr lang="en-US" sz="2000" b="0" i="1" dirty="0" smtClean="0">
                            <a:latin typeface="Cambria Math" panose="02040503050406030204" pitchFamily="18" charset="0"/>
                            <a:ea typeface="Cambria Math" panose="02040503050406030204" pitchFamily="18" charset="0"/>
                            <a:cs typeface="Arial" panose="020B0604020202020204" pitchFamily="34" charset="0"/>
                          </a:rPr>
                          <m:t>𝑟</m:t>
                        </m:r>
                      </m:num>
                      <m:den>
                        <m:sSup>
                          <m:sSupPr>
                            <m:ctrlPr>
                              <a:rPr lang="en-US" sz="2000" b="0" i="1" dirty="0"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dirty="0" smtClean="0">
                                <a:latin typeface="Cambria Math" panose="02040503050406030204" pitchFamily="18" charset="0"/>
                                <a:ea typeface="Cambria Math" panose="02040503050406030204" pitchFamily="18" charset="0"/>
                                <a:cs typeface="Arial" panose="020B0604020202020204" pitchFamily="34" charset="0"/>
                              </a:rPr>
                              <m:t>𝑟</m:t>
                            </m:r>
                          </m:e>
                          <m:sup>
                            <m:r>
                              <a:rPr lang="en-US" sz="2000" b="0" i="1" dirty="0" smtClean="0">
                                <a:latin typeface="Cambria Math" panose="02040503050406030204" pitchFamily="18" charset="0"/>
                                <a:ea typeface="Cambria Math" panose="02040503050406030204" pitchFamily="18" charset="0"/>
                                <a:cs typeface="Arial" panose="020B0604020202020204" pitchFamily="34" charset="0"/>
                              </a:rPr>
                              <m:t>3</m:t>
                            </m:r>
                          </m:sup>
                        </m:sSup>
                      </m:den>
                    </m:f>
                  </m:oMath>
                </a14:m>
                <a:endParaRPr lang="en-US" sz="2000" dirty="0">
                  <a:latin typeface="Arial" panose="020B0604020202020204" pitchFamily="34" charset="0"/>
                  <a:cs typeface="Arial" panose="020B0604020202020204" pitchFamily="34" charset="0"/>
                </a:endParaRPr>
              </a:p>
              <a:p>
                <a:pPr marL="342900" indent="-342900" algn="l">
                  <a:lnSpc>
                    <a:spcPct val="110000"/>
                  </a:lnSpc>
                  <a:spcBef>
                    <a:spcPts val="0"/>
                  </a:spcBef>
                  <a:buFont typeface="Arial" panose="020B0604020202020204" pitchFamily="34" charset="0"/>
                  <a:buChar char="•"/>
                </a:pPr>
                <a:r>
                  <a:rPr lang="en-US" sz="2000" dirty="0">
                    <a:cs typeface="Arial" panose="020B0604020202020204" pitchFamily="34" charset="0"/>
                  </a:rPr>
                  <a:t>Pick and oscillating dipole: </a:t>
                </a:r>
                <a14:m>
                  <m:oMath xmlns:m="http://schemas.openxmlformats.org/officeDocument/2006/math">
                    <m:r>
                      <a:rPr lang="en-US" sz="2000" i="1">
                        <a:latin typeface="Cambria Math" panose="02040503050406030204" pitchFamily="18" charset="0"/>
                        <a:cs typeface="Arial" panose="020B0604020202020204" pitchFamily="34" charset="0"/>
                      </a:rPr>
                      <m:t>𝑞</m:t>
                    </m:r>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𝑡</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𝑟</m:t>
                            </m:r>
                          </m:num>
                          <m:den>
                            <m:r>
                              <a:rPr lang="en-US" sz="2000" i="1">
                                <a:latin typeface="Cambria Math" panose="02040503050406030204" pitchFamily="18" charset="0"/>
                                <a:cs typeface="Arial" panose="020B0604020202020204" pitchFamily="34" charset="0"/>
                              </a:rPr>
                              <m:t>𝑐</m:t>
                            </m:r>
                          </m:den>
                        </m:f>
                      </m:e>
                    </m:d>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𝑞</m:t>
                        </m:r>
                      </m:e>
                      <m:sub>
                        <m:r>
                          <a:rPr lang="en-US" sz="2000" i="1">
                            <a:latin typeface="Cambria Math" panose="02040503050406030204" pitchFamily="18" charset="0"/>
                            <a:cs typeface="Arial" panose="020B0604020202020204" pitchFamily="34" charset="0"/>
                          </a:rPr>
                          <m:t>0</m:t>
                        </m:r>
                      </m:sub>
                    </m:sSub>
                    <m:func>
                      <m:funcPr>
                        <m:ctrlPr>
                          <a:rPr lang="en-US" sz="2000">
                            <a:latin typeface="Cambria Math" panose="02040503050406030204" pitchFamily="18" charset="0"/>
                            <a:cs typeface="Arial" panose="020B0604020202020204" pitchFamily="34" charset="0"/>
                          </a:rPr>
                        </m:ctrlPr>
                      </m:funcPr>
                      <m:fName>
                        <m:r>
                          <m:rPr>
                            <m:sty m:val="p"/>
                          </m:rPr>
                          <a:rPr lang="en-US" sz="2000">
                            <a:latin typeface="Cambria Math" panose="02040503050406030204" pitchFamily="18" charset="0"/>
                            <a:cs typeface="Arial" panose="020B0604020202020204" pitchFamily="34" charset="0"/>
                          </a:rPr>
                          <m:t>cos</m:t>
                        </m:r>
                      </m:fName>
                      <m:e>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r>
                              <a:rPr lang="en-US" sz="2000" i="1">
                                <a:latin typeface="Cambria Math" panose="02040503050406030204" pitchFamily="18" charset="0"/>
                                <a:ea typeface="Cambria Math" panose="02040503050406030204" pitchFamily="18" charset="0"/>
                                <a:cs typeface="Arial" panose="020B0604020202020204" pitchFamily="34" charset="0"/>
                              </a:rPr>
                              <m:t>𝜔</m:t>
                            </m:r>
                            <m:d>
                              <m:dPr>
                                <m:begChr m:val="["/>
                                <m:endChr m:val="]"/>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𝑡</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𝑟</m:t>
                                    </m:r>
                                  </m:num>
                                  <m:den>
                                    <m:r>
                                      <a:rPr lang="en-US" sz="2000" i="1">
                                        <a:latin typeface="Cambria Math" panose="02040503050406030204" pitchFamily="18" charset="0"/>
                                        <a:cs typeface="Arial" panose="020B0604020202020204" pitchFamily="34" charset="0"/>
                                      </a:rPr>
                                      <m:t>𝑐</m:t>
                                    </m:r>
                                  </m:den>
                                </m:f>
                              </m:e>
                            </m:d>
                          </m:e>
                        </m:d>
                      </m:e>
                    </m:func>
                  </m:oMath>
                </a14:m>
                <a:endParaRPr lang="en-US" sz="2000" i="1" dirty="0">
                  <a:latin typeface="Cambria Math" panose="02040503050406030204" pitchFamily="18" charset="0"/>
                  <a:cs typeface="Arial" panose="020B0604020202020204" pitchFamily="34" charset="0"/>
                </a:endParaRPr>
              </a:p>
              <a:p>
                <a:pPr marL="342900" indent="-342900">
                  <a:lnSpc>
                    <a:spcPct val="110000"/>
                  </a:lnSpc>
                  <a:spcBef>
                    <a:spcPts val="0"/>
                  </a:spcBef>
                </a:pPr>
                <a14:m>
                  <m:oMath xmlns:m="http://schemas.openxmlformats.org/officeDocument/2006/math">
                    <m:r>
                      <a:rPr lang="en-US" sz="2000" i="1">
                        <a:latin typeface="Cambria Math" panose="02040503050406030204" pitchFamily="18" charset="0"/>
                        <a:cs typeface="Arial" panose="020B0604020202020204" pitchFamily="34" charset="0"/>
                      </a:rPr>
                      <m:t>𝐼</m:t>
                    </m:r>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𝑡</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𝑟</m:t>
                            </m:r>
                          </m:num>
                          <m:den>
                            <m:r>
                              <a:rPr lang="en-US" sz="2000" i="1">
                                <a:latin typeface="Cambria Math" panose="02040503050406030204" pitchFamily="18" charset="0"/>
                                <a:cs typeface="Arial" panose="020B0604020202020204" pitchFamily="34" charset="0"/>
                              </a:rPr>
                              <m:t>𝑐</m:t>
                            </m:r>
                          </m:den>
                        </m:f>
                      </m:e>
                    </m:d>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𝐼</m:t>
                        </m:r>
                      </m:e>
                      <m:sub>
                        <m:r>
                          <a:rPr lang="en-US" sz="2000" i="1">
                            <a:latin typeface="Cambria Math" panose="02040503050406030204" pitchFamily="18" charset="0"/>
                            <a:cs typeface="Arial" panose="020B0604020202020204" pitchFamily="34" charset="0"/>
                          </a:rPr>
                          <m:t>0</m:t>
                        </m:r>
                      </m:sub>
                    </m:sSub>
                    <m:func>
                      <m:funcPr>
                        <m:ctrlPr>
                          <a:rPr lang="en-US" sz="2000">
                            <a:latin typeface="Cambria Math" panose="02040503050406030204" pitchFamily="18" charset="0"/>
                            <a:cs typeface="Arial" panose="020B0604020202020204" pitchFamily="34" charset="0"/>
                          </a:rPr>
                        </m:ctrlPr>
                      </m:funcPr>
                      <m:fName>
                        <m:r>
                          <m:rPr>
                            <m:sty m:val="p"/>
                          </m:rPr>
                          <a:rPr lang="en-US" sz="2000">
                            <a:latin typeface="Cambria Math" panose="02040503050406030204" pitchFamily="18" charset="0"/>
                            <a:cs typeface="Arial" panose="020B0604020202020204" pitchFamily="34" charset="0"/>
                          </a:rPr>
                          <m:t>sin</m:t>
                        </m:r>
                      </m:fName>
                      <m:e>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r>
                              <a:rPr lang="en-US" sz="2000" i="1">
                                <a:latin typeface="Cambria Math" panose="02040503050406030204" pitchFamily="18" charset="0"/>
                                <a:ea typeface="Cambria Math" panose="02040503050406030204" pitchFamily="18" charset="0"/>
                                <a:cs typeface="Arial" panose="020B0604020202020204" pitchFamily="34" charset="0"/>
                              </a:rPr>
                              <m:t>𝜔</m:t>
                            </m:r>
                            <m:d>
                              <m:dPr>
                                <m:begChr m:val="["/>
                                <m:endChr m:val="]"/>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𝑡</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𝑟</m:t>
                                    </m:r>
                                  </m:num>
                                  <m:den>
                                    <m:r>
                                      <a:rPr lang="en-US" sz="2000" i="1">
                                        <a:latin typeface="Cambria Math" panose="02040503050406030204" pitchFamily="18" charset="0"/>
                                        <a:cs typeface="Arial" panose="020B0604020202020204" pitchFamily="34" charset="0"/>
                                      </a:rPr>
                                      <m:t>𝑐</m:t>
                                    </m:r>
                                  </m:den>
                                </m:f>
                              </m:e>
                            </m:d>
                          </m:e>
                        </m:d>
                      </m:e>
                    </m:func>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𝜔</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𝑞</m:t>
                        </m:r>
                      </m:e>
                      <m:sub>
                        <m:r>
                          <a:rPr lang="en-US" sz="2000" i="1">
                            <a:latin typeface="Cambria Math" panose="02040503050406030204" pitchFamily="18" charset="0"/>
                            <a:cs typeface="Arial" panose="020B0604020202020204" pitchFamily="34" charset="0"/>
                          </a:rPr>
                          <m:t>0</m:t>
                        </m:r>
                      </m:sub>
                    </m:sSub>
                    <m:func>
                      <m:funcPr>
                        <m:ctrlPr>
                          <a:rPr lang="en-US" sz="2000" b="0" i="0" smtClean="0">
                            <a:latin typeface="Cambria Math" panose="02040503050406030204" pitchFamily="18" charset="0"/>
                            <a:cs typeface="Arial" panose="020B0604020202020204" pitchFamily="34" charset="0"/>
                          </a:rPr>
                        </m:ctrlPr>
                      </m:funcPr>
                      <m:fName>
                        <m:r>
                          <m:rPr>
                            <m:sty m:val="p"/>
                          </m:rPr>
                          <a:rPr lang="en-US" sz="2000" b="0" i="0" smtClean="0">
                            <a:latin typeface="Cambria Math" panose="02040503050406030204" pitchFamily="18" charset="0"/>
                            <a:cs typeface="Arial" panose="020B0604020202020204" pitchFamily="34" charset="0"/>
                          </a:rPr>
                          <m:t>sin</m:t>
                        </m:r>
                      </m:fName>
                      <m:e>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r>
                              <a:rPr lang="en-US" sz="2000" i="1">
                                <a:latin typeface="Cambria Math" panose="02040503050406030204" pitchFamily="18" charset="0"/>
                                <a:ea typeface="Cambria Math" panose="02040503050406030204" pitchFamily="18" charset="0"/>
                                <a:cs typeface="Arial" panose="020B0604020202020204" pitchFamily="34" charset="0"/>
                              </a:rPr>
                              <m:t>𝜔</m:t>
                            </m:r>
                            <m:d>
                              <m:dPr>
                                <m:begChr m:val="["/>
                                <m:endChr m:val="]"/>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𝑡</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𝑟</m:t>
                                    </m:r>
                                  </m:num>
                                  <m:den>
                                    <m:r>
                                      <a:rPr lang="en-US" sz="2000" i="1">
                                        <a:latin typeface="Cambria Math" panose="02040503050406030204" pitchFamily="18" charset="0"/>
                                        <a:cs typeface="Arial" panose="020B0604020202020204" pitchFamily="34" charset="0"/>
                                      </a:rPr>
                                      <m:t>𝑐</m:t>
                                    </m:r>
                                  </m:den>
                                </m:f>
                              </m:e>
                            </m:d>
                          </m:e>
                        </m:d>
                      </m:e>
                    </m:func>
                  </m:oMath>
                </a14:m>
                <a:endParaRPr lang="en-US" sz="2000" dirty="0">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7197" y="1220471"/>
                <a:ext cx="9798924" cy="5560599"/>
              </a:xfrm>
              <a:blipFill>
                <a:blip r:embed="rId2"/>
                <a:stretch>
                  <a:fillRect l="-518" t="-7763"/>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7A91E16D-0EAD-4D3D-AC22-65013F654EE2}" type="slidenum">
              <a:rPr lang="en-US" altLang="en-US" smtClean="0"/>
              <a:pPr>
                <a:defRPr/>
              </a:pPr>
              <a:t>34</a:t>
            </a:fld>
            <a:endParaRPr lang="en-US" altLang="en-US"/>
          </a:p>
        </p:txBody>
      </p:sp>
      <p:sp>
        <p:nvSpPr>
          <p:cNvPr id="5" name="TextBox 4">
            <a:extLst>
              <a:ext uri="{FF2B5EF4-FFF2-40B4-BE49-F238E27FC236}">
                <a16:creationId xmlns:a16="http://schemas.microsoft.com/office/drawing/2014/main" id="{3B636D14-815C-5C47-A982-82A1FA265E8F}"/>
              </a:ext>
            </a:extLst>
          </p:cNvPr>
          <p:cNvSpPr txBox="1"/>
          <p:nvPr/>
        </p:nvSpPr>
        <p:spPr>
          <a:xfrm>
            <a:off x="5642975" y="2974931"/>
            <a:ext cx="65" cy="276999"/>
          </a:xfrm>
          <a:prstGeom prst="rect">
            <a:avLst/>
          </a:prstGeom>
          <a:noFill/>
        </p:spPr>
        <p:txBody>
          <a:bodyPr wrap="none" lIns="0" tIns="0" rIns="0" bIns="0" rtlCol="0">
            <a:spAutoFit/>
          </a:bodyPr>
          <a:lstStyle/>
          <a:p>
            <a:endParaRPr lang="en-US" dirty="0"/>
          </a:p>
        </p:txBody>
      </p:sp>
      <p:grpSp>
        <p:nvGrpSpPr>
          <p:cNvPr id="17" name="Group 16">
            <a:extLst>
              <a:ext uri="{FF2B5EF4-FFF2-40B4-BE49-F238E27FC236}">
                <a16:creationId xmlns:a16="http://schemas.microsoft.com/office/drawing/2014/main" id="{78DD3022-7646-FA42-8CFC-0EB34567BF2C}"/>
              </a:ext>
            </a:extLst>
          </p:cNvPr>
          <p:cNvGrpSpPr/>
          <p:nvPr/>
        </p:nvGrpSpPr>
        <p:grpSpPr>
          <a:xfrm>
            <a:off x="8951216" y="2464409"/>
            <a:ext cx="3240784" cy="3843316"/>
            <a:chOff x="8229603" y="1648400"/>
            <a:chExt cx="4212921" cy="4165939"/>
          </a:xfrm>
        </p:grpSpPr>
        <p:cxnSp>
          <p:nvCxnSpPr>
            <p:cNvPr id="6" name="Straight Connector 5">
              <a:extLst>
                <a:ext uri="{FF2B5EF4-FFF2-40B4-BE49-F238E27FC236}">
                  <a16:creationId xmlns:a16="http://schemas.microsoft.com/office/drawing/2014/main" id="{857B0FD0-46FC-3C48-A999-82BF7C426FB1}"/>
                </a:ext>
              </a:extLst>
            </p:cNvPr>
            <p:cNvCxnSpPr>
              <a:cxnSpLocks/>
              <a:stCxn id="10" idx="4"/>
              <a:endCxn id="11" idx="0"/>
            </p:cNvCxnSpPr>
            <p:nvPr/>
          </p:nvCxnSpPr>
          <p:spPr>
            <a:xfrm>
              <a:off x="8758657" y="2263579"/>
              <a:ext cx="5303" cy="29942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F2FF5F4-92D6-BD46-B984-B02BD470CBE4}"/>
                </a:ext>
              </a:extLst>
            </p:cNvPr>
            <p:cNvCxnSpPr>
              <a:cxnSpLocks/>
            </p:cNvCxnSpPr>
            <p:nvPr/>
          </p:nvCxnSpPr>
          <p:spPr>
            <a:xfrm>
              <a:off x="8758657" y="3742717"/>
              <a:ext cx="262610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4F766531-77BC-E54A-87DB-2A91DFE6E23B}"/>
                </a:ext>
              </a:extLst>
            </p:cNvPr>
            <p:cNvSpPr/>
            <p:nvPr/>
          </p:nvSpPr>
          <p:spPr>
            <a:xfrm>
              <a:off x="8667217" y="2095660"/>
              <a:ext cx="182880" cy="167919"/>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2798139-76BF-AC40-A776-0FA508BBC1AA}"/>
                </a:ext>
              </a:extLst>
            </p:cNvPr>
            <p:cNvSpPr/>
            <p:nvPr/>
          </p:nvSpPr>
          <p:spPr>
            <a:xfrm>
              <a:off x="8672520" y="5257845"/>
              <a:ext cx="182880" cy="167919"/>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C54D346-3271-0D4C-84A7-398CE4742EE3}"/>
                </a:ext>
              </a:extLst>
            </p:cNvPr>
            <p:cNvSpPr txBox="1"/>
            <p:nvPr/>
          </p:nvSpPr>
          <p:spPr>
            <a:xfrm>
              <a:off x="8339273" y="4821245"/>
              <a:ext cx="282450" cy="339117"/>
            </a:xfrm>
            <a:prstGeom prst="rect">
              <a:avLst/>
            </a:prstGeom>
            <a:noFill/>
          </p:spPr>
          <p:txBody>
            <a:bodyPr wrap="none" rtlCol="0">
              <a:spAutoFit/>
            </a:bodyPr>
            <a:lstStyle/>
            <a:p>
              <a:r>
                <a:rPr lang="en-US" dirty="0"/>
                <a:t>z</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E9F73C9-824C-134A-8C40-B873A4834670}"/>
                    </a:ext>
                  </a:extLst>
                </p:cNvPr>
                <p:cNvSpPr txBox="1"/>
                <p:nvPr/>
              </p:nvSpPr>
              <p:spPr>
                <a:xfrm>
                  <a:off x="8229603" y="4136267"/>
                  <a:ext cx="377026" cy="565490"/>
                </a:xfrm>
                <a:prstGeom prst="rect">
                  <a:avLst/>
                </a:prstGeom>
                <a:noFill/>
              </p:spPr>
              <p:txBody>
                <a:bodyPr wrap="none" rtlCol="0">
                  <a:spAutoFit/>
                </a:bodyPr>
                <a:lstStyle/>
                <a:p>
                  <a:pPr/>
                  <a14:m>
                    <m:oMathPara xmlns:m="http://schemas.openxmlformats.org/officeDocument/2006/math">
                      <m:oMath>
                        <m:f>
                          <m:fPr>
                            <m:ctrlPr>
                              <a:rPr lang="en-US" i="1" smtClean="0">
                                <a:latin typeface="Cambria Math" panose="02040503050406030204" pitchFamily="18" charset="0"/>
                                <a:ea typeface="Cambria Math" panose="02040503050406030204" pitchFamily="18" charset="0"/>
                              </a:rPr>
                            </m:ctrlPr>
                          </m:fPr>
                          <m:num>
                            <m:r>
                              <m:rPr>
                                <m:sty m:val="p"/>
                              </m:rPr>
                              <a:rPr lang="en-US" i="1" smtClean="0">
                                <a:latin typeface="Cambria Math" panose="02040503050406030204" pitchFamily="18" charset="0"/>
                                <a:ea typeface="Cambria Math" panose="02040503050406030204" pitchFamily="18" charset="0"/>
                              </a:rPr>
                              <m:t>ℓ</m:t>
                            </m:r>
                          </m:num>
                          <m:den>
                            <m:r>
                              <a:rPr lang="en-US" b="0" i="1" smtClean="0">
                                <a:latin typeface="Cambria Math" panose="02040503050406030204" pitchFamily="18" charset="0"/>
                              </a:rPr>
                              <m:t>2</m:t>
                            </m:r>
                          </m:den>
                        </m:f>
                      </m:oMath>
                    </m:oMathPara>
                  </a14:m>
                  <a:endParaRPr lang="en-US" dirty="0"/>
                </a:p>
              </p:txBody>
            </p:sp>
          </mc:Choice>
          <mc:Fallback xmlns="">
            <p:sp>
              <p:nvSpPr>
                <p:cNvPr id="13" name="TextBox 12">
                  <a:extLst>
                    <a:ext uri="{FF2B5EF4-FFF2-40B4-BE49-F238E27FC236}">
                      <a16:creationId xmlns:a16="http://schemas.microsoft.com/office/drawing/2014/main" id="{AE9F73C9-824C-134A-8C40-B873A4834670}"/>
                    </a:ext>
                  </a:extLst>
                </p:cNvPr>
                <p:cNvSpPr txBox="1">
                  <a:spLocks noRot="1" noChangeAspect="1" noMove="1" noResize="1" noEditPoints="1" noAdjustHandles="1" noChangeArrowheads="1" noChangeShapeType="1" noTextEdit="1"/>
                </p:cNvSpPr>
                <p:nvPr/>
              </p:nvSpPr>
              <p:spPr>
                <a:xfrm>
                  <a:off x="8229603" y="4136267"/>
                  <a:ext cx="377026" cy="565490"/>
                </a:xfrm>
                <a:prstGeom prst="rect">
                  <a:avLst/>
                </a:prstGeom>
                <a:blipFill>
                  <a:blip r:embed="rId3"/>
                  <a:stretch>
                    <a:fillRect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5F11FB5-9877-E545-9FEB-8647EFD26654}"/>
                    </a:ext>
                  </a:extLst>
                </p:cNvPr>
                <p:cNvSpPr txBox="1"/>
                <p:nvPr/>
              </p:nvSpPr>
              <p:spPr>
                <a:xfrm>
                  <a:off x="8229603" y="2719078"/>
                  <a:ext cx="377026" cy="565490"/>
                </a:xfrm>
                <a:prstGeom prst="rect">
                  <a:avLst/>
                </a:prstGeom>
                <a:noFill/>
              </p:spPr>
              <p:txBody>
                <a:bodyPr wrap="none" rtlCol="0">
                  <a:spAutoFit/>
                </a:bodyPr>
                <a:lstStyle/>
                <a:p>
                  <a:pPr/>
                  <a14:m>
                    <m:oMathPara xmlns:m="http://schemas.openxmlformats.org/officeDocument/2006/math">
                      <m:oMath>
                        <m:f>
                          <m:fPr>
                            <m:ctrlPr>
                              <a:rPr lang="en-US" i="1" smtClean="0">
                                <a:latin typeface="Cambria Math" panose="02040503050406030204" pitchFamily="18" charset="0"/>
                                <a:ea typeface="Cambria Math" panose="02040503050406030204" pitchFamily="18" charset="0"/>
                              </a:rPr>
                            </m:ctrlPr>
                          </m:fPr>
                          <m:num>
                            <m:r>
                              <m:rPr>
                                <m:sty m:val="p"/>
                              </m:rPr>
                              <a:rPr lang="en-US" i="1" smtClean="0">
                                <a:latin typeface="Cambria Math" panose="02040503050406030204" pitchFamily="18" charset="0"/>
                                <a:ea typeface="Cambria Math" panose="02040503050406030204" pitchFamily="18" charset="0"/>
                              </a:rPr>
                              <m:t>ℓ</m:t>
                            </m:r>
                          </m:num>
                          <m:den>
                            <m:r>
                              <a:rPr lang="en-US" b="0" i="1" smtClean="0">
                                <a:latin typeface="Cambria Math" panose="02040503050406030204" pitchFamily="18" charset="0"/>
                              </a:rPr>
                              <m:t>2</m:t>
                            </m:r>
                          </m:den>
                        </m:f>
                      </m:oMath>
                    </m:oMathPara>
                  </a14:m>
                  <a:endParaRPr lang="en-US" dirty="0"/>
                </a:p>
              </p:txBody>
            </p:sp>
          </mc:Choice>
          <mc:Fallback xmlns="">
            <p:sp>
              <p:nvSpPr>
                <p:cNvPr id="14" name="TextBox 13">
                  <a:extLst>
                    <a:ext uri="{FF2B5EF4-FFF2-40B4-BE49-F238E27FC236}">
                      <a16:creationId xmlns:a16="http://schemas.microsoft.com/office/drawing/2014/main" id="{75F11FB5-9877-E545-9FEB-8647EFD26654}"/>
                    </a:ext>
                  </a:extLst>
                </p:cNvPr>
                <p:cNvSpPr txBox="1">
                  <a:spLocks noRot="1" noChangeAspect="1" noMove="1" noResize="1" noEditPoints="1" noAdjustHandles="1" noChangeArrowheads="1" noChangeShapeType="1" noTextEdit="1"/>
                </p:cNvSpPr>
                <p:nvPr/>
              </p:nvSpPr>
              <p:spPr>
                <a:xfrm>
                  <a:off x="8229603" y="2719078"/>
                  <a:ext cx="377026" cy="565490"/>
                </a:xfrm>
                <a:prstGeom prst="rect">
                  <a:avLst/>
                </a:prstGeom>
                <a:blipFill>
                  <a:blip r:embed="rId4"/>
                  <a:stretch>
                    <a:fillRect b="-13333"/>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CBFEF16F-BAFC-594B-AE20-8981B595BDCE}"/>
                </a:ext>
              </a:extLst>
            </p:cNvPr>
            <p:cNvSpPr txBox="1"/>
            <p:nvPr/>
          </p:nvSpPr>
          <p:spPr>
            <a:xfrm>
              <a:off x="11190431" y="3758361"/>
              <a:ext cx="308098" cy="339117"/>
            </a:xfrm>
            <a:prstGeom prst="rect">
              <a:avLst/>
            </a:prstGeom>
            <a:noFill/>
          </p:spPr>
          <p:txBody>
            <a:bodyPr wrap="none" rtlCol="0">
              <a:spAutoFit/>
            </a:bodyPr>
            <a:lstStyle/>
            <a:p>
              <a:r>
                <a:rPr lang="en-US" dirty="0"/>
                <a:t>y</a:t>
              </a:r>
            </a:p>
          </p:txBody>
        </p:sp>
        <p:cxnSp>
          <p:nvCxnSpPr>
            <p:cNvPr id="19" name="Straight Arrow Connector 18">
              <a:extLst>
                <a:ext uri="{FF2B5EF4-FFF2-40B4-BE49-F238E27FC236}">
                  <a16:creationId xmlns:a16="http://schemas.microsoft.com/office/drawing/2014/main" id="{B444E975-21A5-624D-B90B-EEACB025138B}"/>
                </a:ext>
              </a:extLst>
            </p:cNvPr>
            <p:cNvCxnSpPr/>
            <p:nvPr/>
          </p:nvCxnSpPr>
          <p:spPr>
            <a:xfrm flipV="1">
              <a:off x="8763960" y="2615747"/>
              <a:ext cx="2212772" cy="1057127"/>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78A941C-B51A-4146-92F8-39B097F68150}"/>
                    </a:ext>
                  </a:extLst>
                </p:cNvPr>
                <p:cNvSpPr txBox="1"/>
                <p:nvPr/>
              </p:nvSpPr>
              <p:spPr>
                <a:xfrm>
                  <a:off x="10413061" y="2858413"/>
                  <a:ext cx="674197" cy="369332"/>
                </a:xfrm>
                <a:prstGeom prst="rect">
                  <a:avLst/>
                </a:prstGeom>
                <a:noFill/>
              </p:spPr>
              <p:txBody>
                <a:bodyPr wrap="square"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𝑟</m:t>
                            </m:r>
                          </m:e>
                        </m:acc>
                      </m:oMath>
                    </m:oMathPara>
                  </a14:m>
                  <a:endParaRPr lang="en-US" dirty="0"/>
                </a:p>
              </p:txBody>
            </p:sp>
          </mc:Choice>
          <mc:Fallback xmlns="">
            <p:sp>
              <p:nvSpPr>
                <p:cNvPr id="20" name="TextBox 19">
                  <a:extLst>
                    <a:ext uri="{FF2B5EF4-FFF2-40B4-BE49-F238E27FC236}">
                      <a16:creationId xmlns:a16="http://schemas.microsoft.com/office/drawing/2014/main" id="{D78A941C-B51A-4146-92F8-39B097F68150}"/>
                    </a:ext>
                  </a:extLst>
                </p:cNvPr>
                <p:cNvSpPr txBox="1">
                  <a:spLocks noRot="1" noChangeAspect="1" noMove="1" noResize="1" noEditPoints="1" noAdjustHandles="1" noChangeArrowheads="1" noChangeShapeType="1" noTextEdit="1"/>
                </p:cNvSpPr>
                <p:nvPr/>
              </p:nvSpPr>
              <p:spPr>
                <a:xfrm>
                  <a:off x="10413061" y="2858413"/>
                  <a:ext cx="674197" cy="369332"/>
                </a:xfrm>
                <a:prstGeom prst="rect">
                  <a:avLst/>
                </a:prstGeom>
                <a:blipFill>
                  <a:blip r:embed="rId5"/>
                  <a:stretch>
                    <a:fillRect t="-13793"/>
                  </a:stretch>
                </a:blipFill>
              </p:spPr>
              <p:txBody>
                <a:bodyPr/>
                <a:lstStyle/>
                <a:p>
                  <a:r>
                    <a:rPr lang="en-US">
                      <a:noFill/>
                    </a:rPr>
                    <a:t> </a:t>
                  </a:r>
                </a:p>
              </p:txBody>
            </p:sp>
          </mc:Fallback>
        </mc:AlternateContent>
        <p:cxnSp>
          <p:nvCxnSpPr>
            <p:cNvPr id="21" name="Straight Arrow Connector 20">
              <a:extLst>
                <a:ext uri="{FF2B5EF4-FFF2-40B4-BE49-F238E27FC236}">
                  <a16:creationId xmlns:a16="http://schemas.microsoft.com/office/drawing/2014/main" id="{FEE8B23B-6258-D245-AEE7-5E780A6FD2F6}"/>
                </a:ext>
              </a:extLst>
            </p:cNvPr>
            <p:cNvCxnSpPr>
              <a:cxnSpLocks/>
            </p:cNvCxnSpPr>
            <p:nvPr/>
          </p:nvCxnSpPr>
          <p:spPr>
            <a:xfrm flipV="1">
              <a:off x="8736196" y="2573038"/>
              <a:ext cx="2240536" cy="248092"/>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470E4F2-562A-344B-B464-A60D25DA7D9F}"/>
                    </a:ext>
                  </a:extLst>
                </p:cNvPr>
                <p:cNvSpPr txBox="1"/>
                <p:nvPr/>
              </p:nvSpPr>
              <p:spPr>
                <a:xfrm>
                  <a:off x="8589633" y="2869295"/>
                  <a:ext cx="674197"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rPr>
                          <m:t>𝑧</m:t>
                        </m:r>
                        <m:r>
                          <a:rPr lang="en-US" b="0" i="1" smtClean="0">
                            <a:latin typeface="Cambria Math" panose="02040503050406030204" pitchFamily="18" charset="0"/>
                          </a:rPr>
                          <m:t>′</m:t>
                        </m:r>
                      </m:oMath>
                    </m:oMathPara>
                  </a14:m>
                  <a:endParaRPr lang="en-US" dirty="0"/>
                </a:p>
              </p:txBody>
            </p:sp>
          </mc:Choice>
          <mc:Fallback xmlns="">
            <p:sp>
              <p:nvSpPr>
                <p:cNvPr id="24" name="TextBox 23">
                  <a:extLst>
                    <a:ext uri="{FF2B5EF4-FFF2-40B4-BE49-F238E27FC236}">
                      <a16:creationId xmlns:a16="http://schemas.microsoft.com/office/drawing/2014/main" id="{4470E4F2-562A-344B-B464-A60D25DA7D9F}"/>
                    </a:ext>
                  </a:extLst>
                </p:cNvPr>
                <p:cNvSpPr txBox="1">
                  <a:spLocks noRot="1" noChangeAspect="1" noMove="1" noResize="1" noEditPoints="1" noAdjustHandles="1" noChangeArrowheads="1" noChangeShapeType="1" noTextEdit="1"/>
                </p:cNvSpPr>
                <p:nvPr/>
              </p:nvSpPr>
              <p:spPr>
                <a:xfrm>
                  <a:off x="8589633" y="2869295"/>
                  <a:ext cx="674197" cy="369332"/>
                </a:xfrm>
                <a:prstGeom prst="rect">
                  <a:avLst/>
                </a:prstGeom>
                <a:blipFill>
                  <a:blip r:embed="rId6"/>
                  <a:stretch>
                    <a:fillRect/>
                  </a:stretch>
                </a:blipFill>
              </p:spPr>
              <p:txBody>
                <a:bodyPr/>
                <a:lstStyle/>
                <a:p>
                  <a:r>
                    <a:rPr lang="en-US">
                      <a:noFill/>
                    </a:rPr>
                    <a:t> </a:t>
                  </a:r>
                </a:p>
              </p:txBody>
            </p:sp>
          </mc:Fallback>
        </mc:AlternateContent>
        <p:cxnSp>
          <p:nvCxnSpPr>
            <p:cNvPr id="27" name="Straight Connector 26">
              <a:extLst>
                <a:ext uri="{FF2B5EF4-FFF2-40B4-BE49-F238E27FC236}">
                  <a16:creationId xmlns:a16="http://schemas.microsoft.com/office/drawing/2014/main" id="{411848D3-7FC7-BD40-8D04-DFBA934C140D}"/>
                </a:ext>
              </a:extLst>
            </p:cNvPr>
            <p:cNvCxnSpPr/>
            <p:nvPr/>
          </p:nvCxnSpPr>
          <p:spPr>
            <a:xfrm>
              <a:off x="8260557" y="2363999"/>
              <a:ext cx="301743"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476EACC-8C85-E24E-B913-19EE47A8CCFD}"/>
                </a:ext>
              </a:extLst>
            </p:cNvPr>
            <p:cNvCxnSpPr/>
            <p:nvPr/>
          </p:nvCxnSpPr>
          <p:spPr>
            <a:xfrm>
              <a:off x="8300223" y="3756473"/>
              <a:ext cx="301743"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9290D49D-EC79-2C40-863B-0F5EFB890CFB}"/>
                </a:ext>
              </a:extLst>
            </p:cNvPr>
            <p:cNvCxnSpPr>
              <a:cxnSpLocks/>
            </p:cNvCxnSpPr>
            <p:nvPr/>
          </p:nvCxnSpPr>
          <p:spPr>
            <a:xfrm flipV="1">
              <a:off x="8411428" y="2357158"/>
              <a:ext cx="0" cy="378719"/>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6C4B4F73-C096-6144-A190-4F85C75D5C07}"/>
                </a:ext>
              </a:extLst>
            </p:cNvPr>
            <p:cNvCxnSpPr>
              <a:cxnSpLocks/>
            </p:cNvCxnSpPr>
            <p:nvPr/>
          </p:nvCxnSpPr>
          <p:spPr>
            <a:xfrm flipV="1">
              <a:off x="8411428" y="3354591"/>
              <a:ext cx="0" cy="378719"/>
            </a:xfrm>
            <a:prstGeom prst="straightConnector1">
              <a:avLst/>
            </a:prstGeom>
            <a:ln w="25400">
              <a:headEnd type="triangle"/>
              <a:tailEnd type="none"/>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D0F9875B-A9C1-B74A-BEB3-1C0099C656E1}"/>
                </a:ext>
              </a:extLst>
            </p:cNvPr>
            <p:cNvSpPr/>
            <p:nvPr/>
          </p:nvSpPr>
          <p:spPr>
            <a:xfrm>
              <a:off x="10953213" y="2509318"/>
              <a:ext cx="182880" cy="167919"/>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321CF79-C979-144A-BF0E-6F70938B7CF1}"/>
                    </a:ext>
                  </a:extLst>
                </p:cNvPr>
                <p:cNvSpPr txBox="1"/>
                <p:nvPr/>
              </p:nvSpPr>
              <p:spPr>
                <a:xfrm>
                  <a:off x="11119634" y="2431081"/>
                  <a:ext cx="365806" cy="36933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1</m:t>
                        </m:r>
                      </m:oMath>
                    </m:oMathPara>
                  </a14:m>
                  <a:endParaRPr lang="en-US" dirty="0"/>
                </a:p>
              </p:txBody>
            </p:sp>
          </mc:Choice>
          <mc:Fallback xmlns="">
            <p:sp>
              <p:nvSpPr>
                <p:cNvPr id="8" name="TextBox 7">
                  <a:extLst>
                    <a:ext uri="{FF2B5EF4-FFF2-40B4-BE49-F238E27FC236}">
                      <a16:creationId xmlns:a16="http://schemas.microsoft.com/office/drawing/2014/main" id="{A321CF79-C979-144A-BF0E-6F70938B7CF1}"/>
                    </a:ext>
                  </a:extLst>
                </p:cNvPr>
                <p:cNvSpPr txBox="1">
                  <a:spLocks noRot="1" noChangeAspect="1" noMove="1" noResize="1" noEditPoints="1" noAdjustHandles="1" noChangeArrowheads="1" noChangeShapeType="1" noTextEdit="1"/>
                </p:cNvSpPr>
                <p:nvPr/>
              </p:nvSpPr>
              <p:spPr>
                <a:xfrm>
                  <a:off x="11119634" y="2431081"/>
                  <a:ext cx="36580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C6733DF8-501D-2045-9BE4-4385C701C732}"/>
                    </a:ext>
                  </a:extLst>
                </p:cNvPr>
                <p:cNvSpPr txBox="1"/>
                <p:nvPr/>
              </p:nvSpPr>
              <p:spPr>
                <a:xfrm>
                  <a:off x="9639321" y="1689979"/>
                  <a:ext cx="2803203" cy="700587"/>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𝐴</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𝑡</m:t>
                            </m:r>
                          </m:e>
                        </m:d>
                      </m:oMath>
                    </m:oMathPara>
                  </a14:m>
                  <a:endParaRPr lang="en-US" b="0" i="1" dirty="0">
                    <a:latin typeface="Cambria Math" panose="02040503050406030204" pitchFamily="18" charset="0"/>
                  </a:endParaRPr>
                </a:p>
                <a:p>
                  <a:pPr/>
                  <a14:m>
                    <m:oMathPara xmlns:m="http://schemas.openxmlformats.org/officeDocument/2006/math">
                      <m:oMath>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𝑏𝑒𝑖𝑛𝑔</m:t>
                        </m:r>
                        <m:r>
                          <a:rPr lang="en-US" b="0" i="1" smtClean="0">
                            <a:latin typeface="Cambria Math" panose="02040503050406030204" pitchFamily="18" charset="0"/>
                          </a:rPr>
                          <m:t> </m:t>
                        </m:r>
                        <m:r>
                          <a:rPr lang="en-US" b="0" i="1" smtClean="0">
                            <a:latin typeface="Cambria Math" panose="02040503050406030204" pitchFamily="18" charset="0"/>
                          </a:rPr>
                          <m:t>𝑚𝑒𝑎𝑠𝑢𝑟𝑒𝑑</m:t>
                        </m:r>
                      </m:oMath>
                    </m:oMathPara>
                  </a14:m>
                  <a:endParaRPr lang="en-US" dirty="0"/>
                </a:p>
              </p:txBody>
            </p:sp>
          </mc:Choice>
          <mc:Fallback xmlns="">
            <p:sp>
              <p:nvSpPr>
                <p:cNvPr id="26" name="TextBox 25">
                  <a:extLst>
                    <a:ext uri="{FF2B5EF4-FFF2-40B4-BE49-F238E27FC236}">
                      <a16:creationId xmlns:a16="http://schemas.microsoft.com/office/drawing/2014/main" id="{C6733DF8-501D-2045-9BE4-4385C701C732}"/>
                    </a:ext>
                  </a:extLst>
                </p:cNvPr>
                <p:cNvSpPr txBox="1">
                  <a:spLocks noRot="1" noChangeAspect="1" noMove="1" noResize="1" noEditPoints="1" noAdjustHandles="1" noChangeArrowheads="1" noChangeShapeType="1" noTextEdit="1"/>
                </p:cNvSpPr>
                <p:nvPr/>
              </p:nvSpPr>
              <p:spPr>
                <a:xfrm>
                  <a:off x="9639321" y="1689979"/>
                  <a:ext cx="2803203" cy="700587"/>
                </a:xfrm>
                <a:prstGeom prst="rect">
                  <a:avLst/>
                </a:prstGeom>
                <a:blipFill>
                  <a:blip r:embed="rId8"/>
                  <a:stretch>
                    <a:fillRect b="-96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8812F253-967F-E94E-AB27-D8D9173CDF6D}"/>
                    </a:ext>
                  </a:extLst>
                </p:cNvPr>
                <p:cNvSpPr txBox="1"/>
                <p:nvPr/>
              </p:nvSpPr>
              <p:spPr>
                <a:xfrm>
                  <a:off x="8418116" y="1648400"/>
                  <a:ext cx="674197"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a:p>
              </p:txBody>
            </p:sp>
          </mc:Choice>
          <mc:Fallback xmlns="">
            <p:sp>
              <p:nvSpPr>
                <p:cNvPr id="29" name="TextBox 28">
                  <a:extLst>
                    <a:ext uri="{FF2B5EF4-FFF2-40B4-BE49-F238E27FC236}">
                      <a16:creationId xmlns:a16="http://schemas.microsoft.com/office/drawing/2014/main" id="{8812F253-967F-E94E-AB27-D8D9173CDF6D}"/>
                    </a:ext>
                  </a:extLst>
                </p:cNvPr>
                <p:cNvSpPr txBox="1">
                  <a:spLocks noRot="1" noChangeAspect="1" noMove="1" noResize="1" noEditPoints="1" noAdjustHandles="1" noChangeArrowheads="1" noChangeShapeType="1" noTextEdit="1"/>
                </p:cNvSpPr>
                <p:nvPr/>
              </p:nvSpPr>
              <p:spPr>
                <a:xfrm>
                  <a:off x="8418116" y="1648400"/>
                  <a:ext cx="674197" cy="369332"/>
                </a:xfrm>
                <a:prstGeom prst="rect">
                  <a:avLst/>
                </a:prstGeom>
                <a:blipFill>
                  <a:blip r:embed="rId9"/>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1A83066-E8C9-9341-A05A-8E9E1CB44399}"/>
                    </a:ext>
                  </a:extLst>
                </p:cNvPr>
                <p:cNvSpPr txBox="1"/>
                <p:nvPr/>
              </p:nvSpPr>
              <p:spPr>
                <a:xfrm>
                  <a:off x="8394887" y="5445007"/>
                  <a:ext cx="674197" cy="369332"/>
                </a:xfrm>
                <a:prstGeom prst="rect">
                  <a:avLst/>
                </a:prstGeom>
                <a:noFill/>
              </p:spPr>
              <p:txBody>
                <a:bodyPr wrap="square" rtlCol="0">
                  <a:spAutoFit/>
                </a:bodyPr>
                <a:lstStyle/>
                <a:p>
                  <a:pPr/>
                  <a14:m>
                    <m:oMathPara xmlns:m="http://schemas.openxmlformats.org/officeDocument/2006/math">
                      <m:oMath>
                        <m:r>
                          <a:rPr lang="en-US" b="0" i="1" smtClean="0">
                            <a:latin typeface="Cambria Math" panose="02040503050406030204" pitchFamily="18" charset="0"/>
                          </a:rPr>
                          <m:t>−</m:t>
                        </m:r>
                        <m:r>
                          <a:rPr lang="en-US"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a:p>
              </p:txBody>
            </p:sp>
          </mc:Choice>
          <mc:Fallback xmlns="">
            <p:sp>
              <p:nvSpPr>
                <p:cNvPr id="30" name="TextBox 29">
                  <a:extLst>
                    <a:ext uri="{FF2B5EF4-FFF2-40B4-BE49-F238E27FC236}">
                      <a16:creationId xmlns:a16="http://schemas.microsoft.com/office/drawing/2014/main" id="{01A83066-E8C9-9341-A05A-8E9E1CB44399}"/>
                    </a:ext>
                  </a:extLst>
                </p:cNvPr>
                <p:cNvSpPr txBox="1">
                  <a:spLocks noRot="1" noChangeAspect="1" noMove="1" noResize="1" noEditPoints="1" noAdjustHandles="1" noChangeArrowheads="1" noChangeShapeType="1" noTextEdit="1"/>
                </p:cNvSpPr>
                <p:nvPr/>
              </p:nvSpPr>
              <p:spPr>
                <a:xfrm>
                  <a:off x="8394887" y="5445007"/>
                  <a:ext cx="674197" cy="369332"/>
                </a:xfrm>
                <a:prstGeom prst="rect">
                  <a:avLst/>
                </a:prstGeom>
                <a:blipFill>
                  <a:blip r:embed="rId10"/>
                  <a:stretch>
                    <a:fillRect r="-16364"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D6EDDE6D-981A-174A-890F-78C04513D92E}"/>
                    </a:ext>
                  </a:extLst>
                </p:cNvPr>
                <p:cNvSpPr txBox="1"/>
                <p:nvPr/>
              </p:nvSpPr>
              <p:spPr>
                <a:xfrm>
                  <a:off x="9585360" y="2340435"/>
                  <a:ext cx="674197" cy="369332"/>
                </a:xfrm>
                <a:prstGeom prst="rect">
                  <a:avLst/>
                </a:prstGeom>
                <a:noFill/>
              </p:spPr>
              <p:txBody>
                <a:bodyPr wrap="square"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𝑟</m:t>
                            </m:r>
                          </m:e>
                        </m:acc>
                        <m:r>
                          <a:rPr lang="en-US" b="0" i="1" smtClean="0">
                            <a:latin typeface="Cambria Math" panose="02040503050406030204" pitchFamily="18" charset="0"/>
                          </a:rPr>
                          <m:t>′</m:t>
                        </m:r>
                      </m:oMath>
                    </m:oMathPara>
                  </a14:m>
                  <a:endParaRPr lang="en-US" dirty="0"/>
                </a:p>
              </p:txBody>
            </p:sp>
          </mc:Choice>
          <mc:Fallback xmlns="">
            <p:sp>
              <p:nvSpPr>
                <p:cNvPr id="32" name="TextBox 31">
                  <a:extLst>
                    <a:ext uri="{FF2B5EF4-FFF2-40B4-BE49-F238E27FC236}">
                      <a16:creationId xmlns:a16="http://schemas.microsoft.com/office/drawing/2014/main" id="{D6EDDE6D-981A-174A-890F-78C04513D92E}"/>
                    </a:ext>
                  </a:extLst>
                </p:cNvPr>
                <p:cNvSpPr txBox="1">
                  <a:spLocks noRot="1" noChangeAspect="1" noMove="1" noResize="1" noEditPoints="1" noAdjustHandles="1" noChangeArrowheads="1" noChangeShapeType="1" noTextEdit="1"/>
                </p:cNvSpPr>
                <p:nvPr/>
              </p:nvSpPr>
              <p:spPr>
                <a:xfrm>
                  <a:off x="9585360" y="2340435"/>
                  <a:ext cx="674197" cy="369332"/>
                </a:xfrm>
                <a:prstGeom prst="rect">
                  <a:avLst/>
                </a:prstGeom>
                <a:blipFill>
                  <a:blip r:embed="rId11"/>
                  <a:stretch>
                    <a:fillRect t="-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23C13E31-6777-2247-BC47-8E0DBAF77A3E}"/>
                    </a:ext>
                  </a:extLst>
                </p:cNvPr>
                <p:cNvSpPr txBox="1"/>
                <p:nvPr/>
              </p:nvSpPr>
              <p:spPr>
                <a:xfrm>
                  <a:off x="8551414" y="3277076"/>
                  <a:ext cx="674197"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ea typeface="Cambria Math" panose="02040503050406030204" pitchFamily="18" charset="0"/>
                          </a:rPr>
                          <m:t>𝜃</m:t>
                        </m:r>
                      </m:oMath>
                    </m:oMathPara>
                  </a14:m>
                  <a:endParaRPr lang="en-US" dirty="0"/>
                </a:p>
              </p:txBody>
            </p:sp>
          </mc:Choice>
          <mc:Fallback xmlns="">
            <p:sp>
              <p:nvSpPr>
                <p:cNvPr id="34" name="TextBox 33">
                  <a:extLst>
                    <a:ext uri="{FF2B5EF4-FFF2-40B4-BE49-F238E27FC236}">
                      <a16:creationId xmlns:a16="http://schemas.microsoft.com/office/drawing/2014/main" id="{23C13E31-6777-2247-BC47-8E0DBAF77A3E}"/>
                    </a:ext>
                  </a:extLst>
                </p:cNvPr>
                <p:cNvSpPr txBox="1">
                  <a:spLocks noRot="1" noChangeAspect="1" noMove="1" noResize="1" noEditPoints="1" noAdjustHandles="1" noChangeArrowheads="1" noChangeShapeType="1" noTextEdit="1"/>
                </p:cNvSpPr>
                <p:nvPr/>
              </p:nvSpPr>
              <p:spPr>
                <a:xfrm>
                  <a:off x="8551414" y="3277076"/>
                  <a:ext cx="674197" cy="369332"/>
                </a:xfrm>
                <a:prstGeom prst="rect">
                  <a:avLst/>
                </a:prstGeom>
                <a:blipFill>
                  <a:blip r:embed="rId12"/>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0100334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8481" y="167400"/>
            <a:ext cx="11763476" cy="767570"/>
          </a:xfrm>
        </p:spPr>
        <p:txBody>
          <a:bodyPr>
            <a:normAutofit/>
          </a:bodyPr>
          <a:lstStyle/>
          <a:p>
            <a:pPr algn="ctr"/>
            <a:r>
              <a:rPr lang="en-US" sz="4400" dirty="0">
                <a:latin typeface="Calibri" panose="020F0502020204030204" pitchFamily="34" charset="0"/>
                <a:cs typeface="Calibri" panose="020F0502020204030204" pitchFamily="34" charset="0"/>
              </a:rPr>
              <a:t>Radiation from a small dipole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99479" y="1341833"/>
                <a:ext cx="9688288" cy="5332728"/>
              </a:xfrm>
            </p:spPr>
            <p:txBody>
              <a:bodyPr>
                <a:normAutofit/>
              </a:bodyPr>
              <a:lstStyle/>
              <a:p>
                <a:pPr marL="342900" indent="-342900" algn="l">
                  <a:lnSpc>
                    <a:spcPct val="100000"/>
                  </a:lnSpc>
                  <a:spcBef>
                    <a:spcPts val="0"/>
                  </a:spcBef>
                  <a:buFont typeface="Arial" panose="020B0604020202020204" pitchFamily="34" charset="0"/>
                  <a:buChar char="•"/>
                </a:pPr>
                <a14:m>
                  <m:oMath xmlns:m="http://schemas.openxmlformats.org/officeDocument/2006/math">
                    <m:sSup>
                      <m:sSup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pPr>
                      <m:e>
                        <m:r>
                          <m:rPr>
                            <m:sty m:val="p"/>
                          </m:rPr>
                          <a:rPr lang="en-US" sz="2000" i="1" smtClean="0">
                            <a:latin typeface="Cambria Math" panose="02040503050406030204" pitchFamily="18" charset="0"/>
                            <a:ea typeface="Cambria Math" panose="02040503050406030204" pitchFamily="18" charset="0"/>
                            <a:cs typeface="Arial" panose="020B0604020202020204" pitchFamily="34" charset="0"/>
                          </a:rPr>
                          <m:t>∇</m:t>
                        </m:r>
                      </m:e>
                      <m:sup>
                        <m:r>
                          <a:rPr lang="en-US" sz="2000" b="0" i="1" smtClean="0">
                            <a:latin typeface="Cambria Math" panose="02040503050406030204" pitchFamily="18" charset="0"/>
                            <a:cs typeface="Arial" panose="020B0604020202020204" pitchFamily="34" charset="0"/>
                          </a:rPr>
                          <m:t>2</m:t>
                        </m:r>
                      </m:sup>
                    </m:sSup>
                    <m:r>
                      <a:rPr lang="en-US" sz="2000" b="0" i="1" smtClean="0">
                        <a:latin typeface="Cambria Math" panose="02040503050406030204" pitchFamily="18" charset="0"/>
                        <a:cs typeface="Arial" panose="020B0604020202020204" pitchFamily="34" charset="0"/>
                      </a:rPr>
                      <m:t>𝐻</m:t>
                    </m:r>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𝜖𝜇</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r>
                          <a:rPr lang="en-US" sz="2000" b="0" i="1" smtClean="0">
                            <a:latin typeface="Cambria Math" panose="02040503050406030204" pitchFamily="18" charset="0"/>
                            <a:ea typeface="Cambria Math" panose="02040503050406030204" pitchFamily="18" charset="0"/>
                            <a:cs typeface="Arial" panose="020B0604020202020204" pitchFamily="34" charset="0"/>
                          </a:rPr>
                          <m:t>𝐻</m:t>
                        </m:r>
                      </m:num>
                      <m:den>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𝑡</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𝜎𝜇</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𝐻</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sz="2000" b="0" i="1" smtClean="0">
                        <a:latin typeface="Cambria Math" panose="02040503050406030204" pitchFamily="18" charset="0"/>
                        <a:ea typeface="Cambria Math" panose="02040503050406030204" pitchFamily="18" charset="0"/>
                        <a:cs typeface="Arial" panose="020B0604020202020204" pitchFamily="34" charset="0"/>
                      </a:rPr>
                      <m:t>=0</m:t>
                    </m:r>
                  </m:oMath>
                </a14:m>
                <a:endParaRPr lang="en-US" sz="2000" dirty="0">
                  <a:latin typeface="Arial" panose="020B0604020202020204" pitchFamily="34" charset="0"/>
                  <a:cs typeface="Arial" panose="020B0604020202020204" pitchFamily="34" charset="0"/>
                </a:endParaRPr>
              </a:p>
              <a:p>
                <a:pPr marL="342900" indent="-342900" algn="l">
                  <a:lnSpc>
                    <a:spcPct val="100000"/>
                  </a:lnSpc>
                  <a:spcBef>
                    <a:spcPts val="0"/>
                  </a:spcBef>
                  <a:buFont typeface="Arial" panose="020B0604020202020204" pitchFamily="34" charset="0"/>
                  <a:buChar char="•"/>
                </a:pPr>
                <a14:m>
                  <m:oMath xmlns:m="http://schemas.openxmlformats.org/officeDocument/2006/math">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m:rPr>
                            <m:sty m:val="p"/>
                          </m:rPr>
                          <a:rPr lang="en-US" sz="2000" i="1">
                            <a:latin typeface="Cambria Math" panose="02040503050406030204" pitchFamily="18" charset="0"/>
                            <a:ea typeface="Cambria Math" panose="02040503050406030204" pitchFamily="18" charset="0"/>
                            <a:cs typeface="Arial" panose="020B0604020202020204" pitchFamily="34" charset="0"/>
                          </a:rPr>
                          <m:t>∇</m:t>
                        </m:r>
                      </m:e>
                      <m:sup>
                        <m:r>
                          <a:rPr lang="en-US" sz="2000" i="1">
                            <a:latin typeface="Cambria Math" panose="02040503050406030204" pitchFamily="18" charset="0"/>
                            <a:cs typeface="Arial" panose="020B0604020202020204" pitchFamily="34" charset="0"/>
                          </a:rPr>
                          <m:t>2</m:t>
                        </m:r>
                      </m:sup>
                    </m:sSup>
                    <m:r>
                      <a:rPr lang="en-US" sz="2000" b="0" i="1" smtClean="0">
                        <a:latin typeface="Cambria Math" panose="02040503050406030204" pitchFamily="18" charset="0"/>
                        <a:cs typeface="Arial" panose="020B0604020202020204" pitchFamily="34" charset="0"/>
                      </a:rPr>
                      <m:t>𝐸</m:t>
                    </m:r>
                    <m:r>
                      <a:rPr lang="en-US" sz="2000" i="1">
                        <a:latin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𝜖𝜇</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r>
                          <a:rPr lang="en-US" sz="2000" b="0" i="1" smtClean="0">
                            <a:latin typeface="Cambria Math" panose="02040503050406030204" pitchFamily="18" charset="0"/>
                            <a:ea typeface="Cambria Math" panose="02040503050406030204" pitchFamily="18" charset="0"/>
                            <a:cs typeface="Arial" panose="020B0604020202020204" pitchFamily="34" charset="0"/>
                          </a:rPr>
                          <m:t>𝐸</m:t>
                        </m:r>
                      </m:num>
                      <m:den>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𝑡</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den>
                    </m:f>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𝜎𝜇</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𝐸</m:t>
                        </m:r>
                      </m:num>
                      <m:den>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𝑡</m:t>
                        </m:r>
                      </m:den>
                    </m:f>
                    <m:r>
                      <a:rPr lang="en-US" sz="2000" i="1">
                        <a:latin typeface="Cambria Math" panose="02040503050406030204" pitchFamily="18" charset="0"/>
                        <a:ea typeface="Cambria Math" panose="02040503050406030204" pitchFamily="18" charset="0"/>
                        <a:cs typeface="Arial" panose="020B0604020202020204" pitchFamily="34" charset="0"/>
                      </a:rPr>
                      <m:t>=0</m:t>
                    </m:r>
                  </m:oMath>
                </a14:m>
                <a:endParaRPr lang="en-US" sz="2000" dirty="0">
                  <a:latin typeface="Arial" panose="020B0604020202020204" pitchFamily="34" charset="0"/>
                  <a:cs typeface="Arial" panose="020B0604020202020204" pitchFamily="34" charset="0"/>
                </a:endParaRPr>
              </a:p>
              <a:p>
                <a:pPr marL="342900" indent="-342900" algn="l">
                  <a:lnSpc>
                    <a:spcPct val="100000"/>
                  </a:lnSpc>
                  <a:spcBef>
                    <a:spcPts val="0"/>
                  </a:spcBef>
                  <a:buFont typeface="Arial" panose="020B0604020202020204" pitchFamily="34" charset="0"/>
                  <a:buChar char="•"/>
                </a:pP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𝐴</m:t>
                        </m:r>
                      </m:e>
                      <m:sub>
                        <m:r>
                          <a:rPr lang="en-US" sz="2000" b="0" i="1" smtClean="0">
                            <a:latin typeface="Cambria Math" panose="02040503050406030204" pitchFamily="18" charset="0"/>
                            <a:cs typeface="Arial" panose="020B0604020202020204" pitchFamily="34" charset="0"/>
                          </a:rPr>
                          <m:t>𝑟</m:t>
                        </m:r>
                      </m:sub>
                    </m:sSub>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 </m:t>
                    </m:r>
                    <m:f>
                      <m:fPr>
                        <m:ctrlPr>
                          <a:rPr lang="en-US" sz="2000" b="0" i="1" smtClean="0">
                            <a:latin typeface="Cambria Math" panose="02040503050406030204" pitchFamily="18" charset="0"/>
                            <a:cs typeface="Arial" panose="020B0604020202020204" pitchFamily="34" charset="0"/>
                          </a:rPr>
                        </m:ctrlPr>
                      </m:fPr>
                      <m:num>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latin typeface="Cambria Math" panose="02040503050406030204" pitchFamily="18" charset="0"/>
                                <a:cs typeface="Arial" panose="020B0604020202020204" pitchFamily="34" charset="0"/>
                              </a:rPr>
                              <m:t>0</m:t>
                            </m:r>
                          </m:sub>
                        </m:sSub>
                      </m:num>
                      <m:den>
                        <m:r>
                          <a:rPr lang="en-US" sz="2000" b="0" i="1" smtClean="0">
                            <a:latin typeface="Cambria Math" panose="02040503050406030204" pitchFamily="18" charset="0"/>
                            <a:cs typeface="Arial" panose="020B0604020202020204" pitchFamily="34" charset="0"/>
                          </a:rPr>
                          <m:t>4</m:t>
                        </m:r>
                        <m:r>
                          <a:rPr lang="en-US" sz="2000" b="0" i="1" smtClean="0">
                            <a:latin typeface="Cambria Math" panose="02040503050406030204" pitchFamily="18" charset="0"/>
                            <a:ea typeface="Cambria Math" panose="02040503050406030204" pitchFamily="18" charset="0"/>
                            <a:cs typeface="Arial" panose="020B0604020202020204" pitchFamily="34" charset="0"/>
                          </a:rPr>
                          <m:t>𝜋</m:t>
                        </m:r>
                      </m:den>
                    </m:f>
                    <m:r>
                      <a:rPr lang="en-US" sz="2000" b="0" i="1" smtClean="0">
                        <a:latin typeface="Cambria Math" panose="02040503050406030204" pitchFamily="18" charset="0"/>
                        <a:cs typeface="Arial" panose="020B0604020202020204" pitchFamily="34" charset="0"/>
                      </a:rPr>
                      <m:t> </m:t>
                    </m:r>
                    <m:f>
                      <m:fPr>
                        <m:ctrlPr>
                          <a:rPr lang="en-US" sz="2000" b="0" i="1" smtClean="0">
                            <a:latin typeface="Cambria Math" panose="02040503050406030204" pitchFamily="18" charset="0"/>
                            <a:cs typeface="Arial" panose="020B0604020202020204" pitchFamily="34" charset="0"/>
                          </a:rPr>
                        </m:ctrlPr>
                      </m:fPr>
                      <m:num>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𝐼</m:t>
                            </m:r>
                          </m:e>
                          <m:sub>
                            <m:r>
                              <a:rPr lang="en-US" sz="2000" b="0" i="1" smtClean="0">
                                <a:latin typeface="Cambria Math" panose="02040503050406030204" pitchFamily="18" charset="0"/>
                                <a:cs typeface="Arial" panose="020B0604020202020204" pitchFamily="34" charset="0"/>
                              </a:rPr>
                              <m:t>0</m:t>
                            </m:r>
                          </m:sub>
                        </m:sSub>
                        <m:r>
                          <a:rPr lang="en-US" sz="2000" b="0" i="1" smtClean="0">
                            <a:latin typeface="Cambria Math" panose="02040503050406030204" pitchFamily="18" charset="0"/>
                            <a:cs typeface="Arial" panose="020B0604020202020204" pitchFamily="34" charset="0"/>
                          </a:rPr>
                          <m:t>𝑙</m:t>
                        </m:r>
                      </m:num>
                      <m:den>
                        <m:r>
                          <a:rPr lang="en-US" sz="2000" b="0" i="1" smtClean="0">
                            <a:latin typeface="Cambria Math" panose="02040503050406030204" pitchFamily="18" charset="0"/>
                            <a:cs typeface="Arial" panose="020B0604020202020204" pitchFamily="34" charset="0"/>
                          </a:rPr>
                          <m:t>𝑟</m:t>
                        </m:r>
                      </m:den>
                    </m:f>
                    <m:func>
                      <m:funcPr>
                        <m:ctrlPr>
                          <a:rPr lang="en-US" sz="2000" b="0" i="0" smtClean="0">
                            <a:latin typeface="Cambria Math" panose="02040503050406030204" pitchFamily="18" charset="0"/>
                            <a:cs typeface="Arial" panose="020B0604020202020204" pitchFamily="34" charset="0"/>
                          </a:rPr>
                        </m:ctrlPr>
                      </m:funcPr>
                      <m:fName>
                        <m:r>
                          <m:rPr>
                            <m:sty m:val="p"/>
                          </m:rPr>
                          <a:rPr lang="en-US" sz="2000" b="0" i="0" smtClean="0">
                            <a:latin typeface="Cambria Math" panose="02040503050406030204" pitchFamily="18" charset="0"/>
                            <a:cs typeface="Arial" panose="020B0604020202020204" pitchFamily="34" charset="0"/>
                          </a:rPr>
                          <m:t>cos</m:t>
                        </m:r>
                      </m:fName>
                      <m:e>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ea typeface="Cambria Math" panose="02040503050406030204" pitchFamily="18" charset="0"/>
                                <a:cs typeface="Arial" panose="020B0604020202020204" pitchFamily="34" charset="0"/>
                              </a:rPr>
                              <m:t>𝜃</m:t>
                            </m:r>
                          </m:e>
                        </m:d>
                      </m:e>
                    </m:func>
                    <m:r>
                      <m:rPr>
                        <m:sty m:val="p"/>
                      </m:rPr>
                      <a:rPr lang="en-US" sz="2000" b="0" i="0" smtClean="0">
                        <a:latin typeface="Cambria Math" panose="02040503050406030204" pitchFamily="18" charset="0"/>
                        <a:ea typeface="Cambria Math" panose="02040503050406030204" pitchFamily="18" charset="0"/>
                        <a:cs typeface="Arial" panose="020B0604020202020204" pitchFamily="34" charset="0"/>
                      </a:rPr>
                      <m:t>sin</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𝜔</m:t>
                    </m:r>
                    <m:d>
                      <m:dPr>
                        <m:begChr m:val="["/>
                        <m:endChr m:val="]"/>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𝑡</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𝑟</m:t>
                            </m:r>
                          </m:num>
                          <m:den>
                            <m:r>
                              <a:rPr lang="en-US" sz="2000" i="1">
                                <a:latin typeface="Cambria Math" panose="02040503050406030204" pitchFamily="18" charset="0"/>
                                <a:cs typeface="Arial" panose="020B0604020202020204" pitchFamily="34" charset="0"/>
                              </a:rPr>
                              <m:t>𝑐</m:t>
                            </m:r>
                          </m:den>
                        </m:f>
                      </m:e>
                    </m:d>
                  </m:oMath>
                </a14:m>
                <a:r>
                  <a:rPr lang="en-US" sz="2000" dirty="0">
                    <a:latin typeface="Arial" panose="020B0604020202020204" pitchFamily="34" charset="0"/>
                    <a:cs typeface="Arial" panose="020B0604020202020204" pitchFamily="34" charset="0"/>
                  </a:rPr>
                  <a:t>)</a:t>
                </a:r>
              </a:p>
              <a:p>
                <a:pPr marL="342900" indent="-342900" algn="l">
                  <a:lnSpc>
                    <a:spcPct val="100000"/>
                  </a:lnSpc>
                  <a:spcBef>
                    <a:spcPts val="0"/>
                  </a:spcBef>
                  <a:buFont typeface="Arial" panose="020B0604020202020204" pitchFamily="34" charset="0"/>
                  <a:buChar char="•"/>
                </a:pP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𝐴</m:t>
                        </m:r>
                      </m:e>
                      <m:sub>
                        <m:r>
                          <a:rPr lang="en-US" sz="2000" i="1" smtClean="0">
                            <a:latin typeface="Cambria Math" panose="02040503050406030204" pitchFamily="18" charset="0"/>
                            <a:ea typeface="Cambria Math" panose="02040503050406030204" pitchFamily="18" charset="0"/>
                            <a:cs typeface="Arial" panose="020B0604020202020204" pitchFamily="34" charset="0"/>
                          </a:rPr>
                          <m:t>𝜙</m:t>
                        </m:r>
                      </m:sub>
                    </m:sSub>
                    <m:r>
                      <a:rPr lang="en-US" sz="2000" i="1">
                        <a:latin typeface="Cambria Math" panose="02040503050406030204" pitchFamily="18" charset="0"/>
                        <a:cs typeface="Arial" panose="020B0604020202020204" pitchFamily="34" charset="0"/>
                      </a:rPr>
                      <m:t>=</m:t>
                    </m:r>
                    <m:r>
                      <a:rPr lang="en-US" sz="2000" b="0" i="0" smtClean="0">
                        <a:latin typeface="Cambria Math" panose="02040503050406030204" pitchFamily="18" charset="0"/>
                        <a:cs typeface="Arial" panose="020B0604020202020204" pitchFamily="34" charset="0"/>
                      </a:rPr>
                      <m:t>0,  </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𝐴</m:t>
                        </m:r>
                      </m:e>
                      <m:sub>
                        <m:r>
                          <a:rPr lang="en-US" sz="2000" i="1" smtClean="0">
                            <a:latin typeface="Cambria Math" panose="02040503050406030204" pitchFamily="18" charset="0"/>
                            <a:ea typeface="Cambria Math" panose="02040503050406030204" pitchFamily="18" charset="0"/>
                            <a:cs typeface="Arial" panose="020B0604020202020204" pitchFamily="34" charset="0"/>
                          </a:rPr>
                          <m:t>𝜃</m:t>
                        </m:r>
                      </m:sub>
                    </m:sSub>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0</m:t>
                            </m:r>
                          </m:sub>
                        </m:sSub>
                      </m:num>
                      <m:den>
                        <m:r>
                          <a:rPr lang="en-US" sz="2000" i="1">
                            <a:latin typeface="Cambria Math" panose="02040503050406030204" pitchFamily="18" charset="0"/>
                            <a:cs typeface="Arial" panose="020B0604020202020204" pitchFamily="34" charset="0"/>
                          </a:rPr>
                          <m:t>4</m:t>
                        </m:r>
                        <m:r>
                          <a:rPr lang="en-US" sz="2000" i="1">
                            <a:latin typeface="Cambria Math" panose="02040503050406030204" pitchFamily="18" charset="0"/>
                            <a:ea typeface="Cambria Math" panose="02040503050406030204" pitchFamily="18" charset="0"/>
                            <a:cs typeface="Arial" panose="020B0604020202020204" pitchFamily="34" charset="0"/>
                          </a:rPr>
                          <m:t>𝜋</m:t>
                        </m:r>
                      </m:den>
                    </m:f>
                    <m:r>
                      <a:rPr lang="en-US" sz="2000" i="1">
                        <a:latin typeface="Cambria Math" panose="02040503050406030204" pitchFamily="18" charset="0"/>
                        <a:cs typeface="Arial" panose="020B0604020202020204" pitchFamily="34" charset="0"/>
                      </a:rPr>
                      <m:t> </m:t>
                    </m:r>
                    <m:f>
                      <m:fPr>
                        <m:ctrlPr>
                          <a:rPr lang="en-US" sz="2000" i="1">
                            <a:latin typeface="Cambria Math" panose="02040503050406030204" pitchFamily="18" charset="0"/>
                            <a:cs typeface="Arial" panose="020B0604020202020204" pitchFamily="34" charset="0"/>
                          </a:rPr>
                        </m:ctrlPr>
                      </m:fPr>
                      <m:num>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𝐼</m:t>
                            </m:r>
                          </m:e>
                          <m:sub>
                            <m:r>
                              <a:rPr lang="en-US" sz="2000" i="1">
                                <a:latin typeface="Cambria Math" panose="02040503050406030204" pitchFamily="18" charset="0"/>
                                <a:cs typeface="Arial" panose="020B0604020202020204" pitchFamily="34" charset="0"/>
                              </a:rPr>
                              <m:t>0</m:t>
                            </m:r>
                          </m:sub>
                        </m:sSub>
                        <m:r>
                          <a:rPr lang="en-US" sz="2000" i="1">
                            <a:latin typeface="Cambria Math" panose="02040503050406030204" pitchFamily="18" charset="0"/>
                            <a:cs typeface="Arial" panose="020B0604020202020204" pitchFamily="34" charset="0"/>
                          </a:rPr>
                          <m:t>𝑙</m:t>
                        </m:r>
                      </m:num>
                      <m:den>
                        <m:r>
                          <a:rPr lang="en-US" sz="2000" i="1">
                            <a:latin typeface="Cambria Math" panose="02040503050406030204" pitchFamily="18" charset="0"/>
                            <a:cs typeface="Arial" panose="020B0604020202020204" pitchFamily="34" charset="0"/>
                          </a:rPr>
                          <m:t>𝑟</m:t>
                        </m:r>
                      </m:den>
                    </m:f>
                    <m:func>
                      <m:funcPr>
                        <m:ctrlPr>
                          <a:rPr lang="en-US" sz="2000">
                            <a:latin typeface="Cambria Math" panose="02040503050406030204" pitchFamily="18" charset="0"/>
                            <a:cs typeface="Arial" panose="020B0604020202020204" pitchFamily="34" charset="0"/>
                          </a:rPr>
                        </m:ctrlPr>
                      </m:funcPr>
                      <m:fName>
                        <m:r>
                          <m:rPr>
                            <m:sty m:val="p"/>
                          </m:rPr>
                          <a:rPr lang="en-US" sz="2000">
                            <a:latin typeface="Cambria Math" panose="02040503050406030204" pitchFamily="18" charset="0"/>
                            <a:cs typeface="Arial" panose="020B0604020202020204" pitchFamily="34" charset="0"/>
                          </a:rPr>
                          <m:t>cos</m:t>
                        </m:r>
                      </m:fName>
                      <m:e>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r>
                              <a:rPr lang="en-US" sz="2000" i="1">
                                <a:latin typeface="Cambria Math" panose="02040503050406030204" pitchFamily="18" charset="0"/>
                                <a:ea typeface="Cambria Math" panose="02040503050406030204" pitchFamily="18" charset="0"/>
                                <a:cs typeface="Arial" panose="020B0604020202020204" pitchFamily="34" charset="0"/>
                              </a:rPr>
                              <m:t>𝜃</m:t>
                            </m:r>
                          </m:e>
                        </m:d>
                      </m:e>
                    </m:func>
                    <m:r>
                      <m:rPr>
                        <m:sty m:val="p"/>
                      </m:rPr>
                      <a:rPr lang="en-US" sz="2000">
                        <a:latin typeface="Cambria Math" panose="02040503050406030204" pitchFamily="18" charset="0"/>
                        <a:ea typeface="Cambria Math" panose="02040503050406030204" pitchFamily="18" charset="0"/>
                        <a:cs typeface="Arial" panose="020B0604020202020204" pitchFamily="34" charset="0"/>
                      </a:rPr>
                      <m:t>sin</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𝜔</m:t>
                    </m:r>
                    <m:d>
                      <m:dPr>
                        <m:begChr m:val="["/>
                        <m:endChr m:val="]"/>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𝑡</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𝑟</m:t>
                            </m:r>
                          </m:num>
                          <m:den>
                            <m:r>
                              <a:rPr lang="en-US" sz="2000" i="1">
                                <a:latin typeface="Cambria Math" panose="02040503050406030204" pitchFamily="18" charset="0"/>
                                <a:cs typeface="Arial" panose="020B0604020202020204" pitchFamily="34" charset="0"/>
                              </a:rPr>
                              <m:t>𝑐</m:t>
                            </m:r>
                          </m:den>
                        </m:f>
                      </m:e>
                    </m:d>
                    <m:r>
                      <m:rPr>
                        <m:nor/>
                      </m:rPr>
                      <a:rPr lang="en-US" sz="2000" i="0">
                        <a:latin typeface="Arial" panose="020B0604020202020204" pitchFamily="34" charset="0"/>
                        <a:cs typeface="Arial" panose="020B0604020202020204" pitchFamily="34" charset="0"/>
                      </a:rPr>
                      <m:t>)</m:t>
                    </m:r>
                  </m:oMath>
                </a14:m>
                <a:endParaRPr lang="en-US" sz="2000" dirty="0">
                  <a:latin typeface="Arial" panose="020B0604020202020204" pitchFamily="34" charset="0"/>
                  <a:cs typeface="Arial" panose="020B0604020202020204" pitchFamily="34" charset="0"/>
                </a:endParaRPr>
              </a:p>
              <a:p>
                <a:pPr marL="342900" indent="-342900" algn="l">
                  <a:lnSpc>
                    <a:spcPct val="100000"/>
                  </a:lnSpc>
                  <a:spcBef>
                    <a:spcPts val="0"/>
                  </a:spcBef>
                  <a:buFont typeface="Arial" panose="020B0604020202020204" pitchFamily="34" charset="0"/>
                  <a:buChar char="•"/>
                </a:pP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𝐵</m:t>
                        </m:r>
                      </m:e>
                      <m:sub>
                        <m:r>
                          <a:rPr lang="en-US" sz="2000" i="1">
                            <a:latin typeface="Cambria Math" panose="02040503050406030204" pitchFamily="18" charset="0"/>
                            <a:ea typeface="Cambria Math" panose="02040503050406030204" pitchFamily="18" charset="0"/>
                            <a:cs typeface="Arial" panose="020B0604020202020204" pitchFamily="34" charset="0"/>
                          </a:rPr>
                          <m:t>𝜙</m:t>
                        </m:r>
                      </m:sub>
                    </m:sSub>
                    <m:r>
                      <a:rPr lang="en-US" sz="2000" i="1">
                        <a:latin typeface="Cambria Math" panose="02040503050406030204" pitchFamily="18" charset="0"/>
                        <a:cs typeface="Arial" panose="020B0604020202020204" pitchFamily="34" charset="0"/>
                      </a:rPr>
                      <m:t>= </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1</m:t>
                        </m:r>
                      </m:num>
                      <m:den>
                        <m:r>
                          <a:rPr lang="en-US" sz="2000" i="1">
                            <a:latin typeface="Cambria Math" panose="02040503050406030204" pitchFamily="18" charset="0"/>
                            <a:cs typeface="Arial" panose="020B0604020202020204" pitchFamily="34" charset="0"/>
                          </a:rPr>
                          <m:t>𝑟</m:t>
                        </m:r>
                      </m:den>
                    </m:f>
                    <m:r>
                      <a:rPr lang="en-US" sz="2000" i="1">
                        <a:latin typeface="Cambria Math" panose="02040503050406030204" pitchFamily="18" charset="0"/>
                        <a:cs typeface="Arial" panose="020B0604020202020204" pitchFamily="34" charset="0"/>
                      </a:rPr>
                      <m:t> </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m:t>
                        </m:r>
                      </m:num>
                      <m:den>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𝑟</m:t>
                        </m:r>
                      </m:den>
                    </m:f>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𝑟</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𝐴</m:t>
                            </m:r>
                          </m:e>
                          <m:sub>
                            <m:r>
                              <a:rPr lang="en-US" sz="2000" i="1">
                                <a:latin typeface="Cambria Math" panose="02040503050406030204" pitchFamily="18" charset="0"/>
                                <a:ea typeface="Cambria Math" panose="02040503050406030204" pitchFamily="18" charset="0"/>
                                <a:cs typeface="Arial" panose="020B0604020202020204" pitchFamily="34" charset="0"/>
                              </a:rPr>
                              <m:t>𝜃</m:t>
                            </m:r>
                          </m:sub>
                        </m:sSub>
                      </m:e>
                    </m:d>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1</m:t>
                        </m:r>
                      </m:num>
                      <m:den>
                        <m:r>
                          <a:rPr lang="en-US" sz="2000" i="1">
                            <a:latin typeface="Cambria Math" panose="02040503050406030204" pitchFamily="18" charset="0"/>
                            <a:cs typeface="Arial" panose="020B0604020202020204" pitchFamily="34" charset="0"/>
                          </a:rPr>
                          <m:t>𝑟</m:t>
                        </m:r>
                      </m:den>
                    </m:f>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𝐴</m:t>
                            </m:r>
                          </m:e>
                          <m:sub>
                            <m:r>
                              <a:rPr lang="en-US" sz="2000" i="1">
                                <a:latin typeface="Cambria Math" panose="02040503050406030204" pitchFamily="18" charset="0"/>
                                <a:ea typeface="Cambria Math" panose="02040503050406030204" pitchFamily="18" charset="0"/>
                                <a:cs typeface="Arial" panose="020B0604020202020204" pitchFamily="34" charset="0"/>
                              </a:rPr>
                              <m:t>𝑟</m:t>
                            </m:r>
                          </m:sub>
                        </m:sSub>
                      </m:num>
                      <m:den>
                        <m:r>
                          <a:rPr lang="en-US" sz="2000" i="1">
                            <a:latin typeface="Cambria Math" panose="02040503050406030204" pitchFamily="18" charset="0"/>
                            <a:ea typeface="Cambria Math" panose="02040503050406030204" pitchFamily="18" charset="0"/>
                            <a:cs typeface="Arial" panose="020B0604020202020204" pitchFamily="34" charset="0"/>
                          </a:rPr>
                          <m:t>𝜕𝜃</m:t>
                        </m:r>
                      </m:den>
                    </m:f>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0</m:t>
                            </m:r>
                          </m:sub>
                        </m:sSub>
                      </m:num>
                      <m:den>
                        <m:r>
                          <a:rPr lang="en-US" sz="2000" i="1">
                            <a:latin typeface="Cambria Math" panose="02040503050406030204" pitchFamily="18" charset="0"/>
                            <a:cs typeface="Arial" panose="020B0604020202020204" pitchFamily="34" charset="0"/>
                          </a:rPr>
                          <m:t>4</m:t>
                        </m:r>
                        <m:r>
                          <a:rPr lang="en-US" sz="2000" i="1">
                            <a:latin typeface="Cambria Math" panose="02040503050406030204" pitchFamily="18" charset="0"/>
                            <a:ea typeface="Cambria Math" panose="02040503050406030204" pitchFamily="18" charset="0"/>
                            <a:cs typeface="Arial" panose="020B0604020202020204" pitchFamily="34" charset="0"/>
                          </a:rPr>
                          <m:t>𝜋</m:t>
                        </m:r>
                      </m:den>
                    </m:f>
                    <m:f>
                      <m:fPr>
                        <m:ctrlPr>
                          <a:rPr lang="en-US" sz="2000" i="1">
                            <a:latin typeface="Cambria Math" panose="02040503050406030204" pitchFamily="18" charset="0"/>
                            <a:cs typeface="Arial" panose="020B0604020202020204" pitchFamily="34" charset="0"/>
                          </a:rPr>
                        </m:ctrlPr>
                      </m:fPr>
                      <m:num>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𝐼</m:t>
                            </m:r>
                          </m:e>
                          <m:sub>
                            <m:r>
                              <a:rPr lang="en-US" sz="2000" i="1">
                                <a:latin typeface="Cambria Math" panose="02040503050406030204" pitchFamily="18" charset="0"/>
                                <a:cs typeface="Arial" panose="020B0604020202020204" pitchFamily="34" charset="0"/>
                              </a:rPr>
                              <m:t>0</m:t>
                            </m:r>
                          </m:sub>
                        </m:sSub>
                        <m:r>
                          <a:rPr lang="en-US" sz="2000" i="1">
                            <a:latin typeface="Cambria Math" panose="02040503050406030204" pitchFamily="18" charset="0"/>
                            <a:cs typeface="Arial" panose="020B0604020202020204" pitchFamily="34" charset="0"/>
                          </a:rPr>
                          <m:t>𝑙</m:t>
                        </m:r>
                      </m:num>
                      <m:den>
                        <m:r>
                          <a:rPr lang="en-US" sz="2000" i="1">
                            <a:latin typeface="Cambria Math" panose="02040503050406030204" pitchFamily="18" charset="0"/>
                            <a:cs typeface="Arial" panose="020B0604020202020204" pitchFamily="34" charset="0"/>
                          </a:rPr>
                          <m:t>𝑟</m:t>
                        </m:r>
                      </m:den>
                    </m:f>
                    <m:r>
                      <a:rPr lang="en-US" sz="2000" i="1">
                        <a:latin typeface="Cambria Math" panose="02040503050406030204" pitchFamily="18" charset="0"/>
                        <a:cs typeface="Arial" panose="020B0604020202020204" pitchFamily="34" charset="0"/>
                      </a:rPr>
                      <m:t> </m:t>
                    </m:r>
                    <m:r>
                      <m:rPr>
                        <m:sty m:val="p"/>
                      </m:rPr>
                      <a:rPr lang="en-US" sz="2000">
                        <a:latin typeface="Cambria Math" panose="02040503050406030204" pitchFamily="18" charset="0"/>
                        <a:cs typeface="Arial" panose="020B0604020202020204" pitchFamily="34" charset="0"/>
                      </a:rPr>
                      <m:t>sin</m:t>
                    </m:r>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r>
                          <a:rPr lang="en-US" sz="2000" i="1">
                            <a:latin typeface="Cambria Math" panose="02040503050406030204" pitchFamily="18" charset="0"/>
                            <a:ea typeface="Cambria Math" panose="02040503050406030204" pitchFamily="18" charset="0"/>
                            <a:cs typeface="Arial" panose="020B0604020202020204" pitchFamily="34" charset="0"/>
                          </a:rPr>
                          <m:t>𝜃</m:t>
                        </m:r>
                      </m:e>
                    </m:d>
                    <m:r>
                      <a:rPr lang="en-US" sz="2000">
                        <a:latin typeface="Cambria Math" panose="02040503050406030204" pitchFamily="18" charset="0"/>
                        <a:ea typeface="Cambria Math" panose="02040503050406030204" pitchFamily="18" charset="0"/>
                        <a:cs typeface="Arial" panose="020B0604020202020204" pitchFamily="34" charset="0"/>
                      </a:rPr>
                      <m:t>[</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𝜔</m:t>
                        </m:r>
                      </m:num>
                      <m:den>
                        <m:r>
                          <a:rPr lang="en-US" sz="2000" i="1">
                            <a:latin typeface="Cambria Math" panose="02040503050406030204" pitchFamily="18" charset="0"/>
                            <a:ea typeface="Cambria Math" panose="02040503050406030204" pitchFamily="18" charset="0"/>
                            <a:cs typeface="Arial" panose="020B0604020202020204" pitchFamily="34" charset="0"/>
                          </a:rPr>
                          <m:t>𝑟</m:t>
                        </m:r>
                      </m:den>
                    </m:f>
                    <m:func>
                      <m:funcPr>
                        <m:ctrlPr>
                          <a:rPr lang="en-US" sz="2000">
                            <a:latin typeface="Cambria Math" panose="02040503050406030204" pitchFamily="18" charset="0"/>
                            <a:ea typeface="Cambria Math" panose="02040503050406030204" pitchFamily="18" charset="0"/>
                            <a:cs typeface="Arial" panose="020B0604020202020204" pitchFamily="34" charset="0"/>
                          </a:rPr>
                        </m:ctrlPr>
                      </m:funcPr>
                      <m:fName>
                        <m:r>
                          <m:rPr>
                            <m:sty m:val="p"/>
                          </m:rPr>
                          <a:rPr lang="en-US" sz="2000">
                            <a:latin typeface="Cambria Math" panose="02040503050406030204" pitchFamily="18" charset="0"/>
                            <a:ea typeface="Cambria Math" panose="02040503050406030204" pitchFamily="18" charset="0"/>
                            <a:cs typeface="Arial" panose="020B0604020202020204" pitchFamily="34" charset="0"/>
                          </a:rPr>
                          <m:t>cos</m:t>
                        </m:r>
                      </m:fName>
                      <m:e>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r>
                              <a:rPr lang="en-US" sz="2000" i="1">
                                <a:latin typeface="Cambria Math" panose="02040503050406030204" pitchFamily="18" charset="0"/>
                                <a:ea typeface="Cambria Math" panose="02040503050406030204" pitchFamily="18" charset="0"/>
                                <a:cs typeface="Arial" panose="020B0604020202020204" pitchFamily="34" charset="0"/>
                              </a:rPr>
                              <m:t>𝜔</m:t>
                            </m:r>
                            <m:d>
                              <m:dPr>
                                <m:begChr m:val="["/>
                                <m:endChr m:val="]"/>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𝑡</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𝑟</m:t>
                                    </m:r>
                                  </m:num>
                                  <m:den>
                                    <m:r>
                                      <a:rPr lang="en-US" sz="2000" i="1">
                                        <a:latin typeface="Cambria Math" panose="02040503050406030204" pitchFamily="18" charset="0"/>
                                        <a:cs typeface="Arial" panose="020B0604020202020204" pitchFamily="34" charset="0"/>
                                      </a:rPr>
                                      <m:t>𝑐</m:t>
                                    </m:r>
                                  </m:den>
                                </m:f>
                              </m:e>
                            </m:d>
                          </m:e>
                        </m:d>
                      </m:e>
                    </m:func>
                    <m:r>
                      <a:rPr lang="en-US" sz="2000" i="1">
                        <a:latin typeface="Cambria Math" panose="02040503050406030204" pitchFamily="18" charset="0"/>
                        <a:ea typeface="Cambria Math" panose="02040503050406030204" pitchFamily="18" charset="0"/>
                        <a:cs typeface="Arial" panose="020B0604020202020204" pitchFamily="34" charset="0"/>
                      </a:rPr>
                      <m:t>+</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1</m:t>
                        </m:r>
                      </m:num>
                      <m:den>
                        <m:r>
                          <a:rPr lang="en-US" sz="2000" i="1">
                            <a:latin typeface="Cambria Math" panose="02040503050406030204" pitchFamily="18" charset="0"/>
                            <a:ea typeface="Cambria Math" panose="02040503050406030204" pitchFamily="18" charset="0"/>
                            <a:cs typeface="Arial" panose="020B0604020202020204" pitchFamily="34" charset="0"/>
                          </a:rPr>
                          <m:t>𝑟</m:t>
                        </m:r>
                      </m:den>
                    </m:f>
                    <m:r>
                      <m:rPr>
                        <m:sty m:val="p"/>
                      </m:rPr>
                      <a:rPr lang="en-US" sz="2000">
                        <a:latin typeface="Cambria Math" panose="02040503050406030204" pitchFamily="18" charset="0"/>
                        <a:ea typeface="Cambria Math" panose="02040503050406030204" pitchFamily="18" charset="0"/>
                        <a:cs typeface="Arial" panose="020B0604020202020204" pitchFamily="34" charset="0"/>
                      </a:rPr>
                      <m:t>sin</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𝜔</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𝑡</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𝑟</m:t>
                        </m:r>
                      </m:num>
                      <m:den>
                        <m:r>
                          <a:rPr lang="en-US" sz="2000" i="1">
                            <a:latin typeface="Cambria Math" panose="02040503050406030204" pitchFamily="18" charset="0"/>
                            <a:cs typeface="Arial" panose="020B0604020202020204" pitchFamily="34" charset="0"/>
                          </a:rPr>
                          <m:t>𝑐</m:t>
                        </m:r>
                      </m:den>
                    </m:f>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a:latin typeface="Cambria Math" panose="02040503050406030204" pitchFamily="18" charset="0"/>
                        <a:ea typeface="Cambria Math" panose="02040503050406030204" pitchFamily="18" charset="0"/>
                        <a:cs typeface="Arial" panose="020B0604020202020204" pitchFamily="34" charset="0"/>
                      </a:rPr>
                      <m:t>]</m:t>
                    </m:r>
                  </m:oMath>
                </a14:m>
                <a:endParaRPr lang="en-US" sz="2000" dirty="0">
                  <a:latin typeface="Arial" panose="020B0604020202020204" pitchFamily="34" charset="0"/>
                  <a:cs typeface="Arial" panose="020B0604020202020204" pitchFamily="34" charset="0"/>
                </a:endParaRPr>
              </a:p>
              <a:p>
                <a:pPr marL="342900" indent="-342900" algn="l">
                  <a:lnSpc>
                    <a:spcPct val="100000"/>
                  </a:lnSpc>
                  <a:spcBef>
                    <a:spcPts val="0"/>
                  </a:spcBef>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𝐸</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sub>
                    </m:sSub>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𝜕𝜙</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𝐴</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sub>
                        </m:sSub>
                      </m:num>
                      <m:den>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2</m:t>
                        </m:r>
                        <m:r>
                          <a:rPr lang="en-US" sz="2000" b="0" i="1" smtClean="0">
                            <a:latin typeface="Cambria Math" panose="02040503050406030204" pitchFamily="18" charset="0"/>
                            <a:cs typeface="Arial" panose="020B0604020202020204" pitchFamily="34" charset="0"/>
                          </a:rPr>
                          <m:t>𝑙</m:t>
                        </m:r>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𝐼</m:t>
                            </m:r>
                          </m:e>
                          <m:sub>
                            <m:r>
                              <a:rPr lang="en-US" sz="2000" b="0" i="1" smtClean="0">
                                <a:latin typeface="Cambria Math" panose="02040503050406030204" pitchFamily="18" charset="0"/>
                                <a:cs typeface="Arial" panose="020B0604020202020204" pitchFamily="34" charset="0"/>
                              </a:rPr>
                              <m:t>0</m:t>
                            </m:r>
                          </m:sub>
                        </m:sSub>
                        <m:r>
                          <m:rPr>
                            <m:sty m:val="p"/>
                          </m:rPr>
                          <a:rPr lang="en-US" sz="2000" b="0" i="0" smtClean="0">
                            <a:latin typeface="Cambria Math" panose="02040503050406030204" pitchFamily="18" charset="0"/>
                            <a:cs typeface="Arial" panose="020B0604020202020204" pitchFamily="34" charset="0"/>
                          </a:rPr>
                          <m:t>cos</m:t>
                        </m:r>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𝜃</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num>
                      <m:den>
                        <m:r>
                          <a:rPr lang="en-US" sz="2000" b="0" i="1" smtClean="0">
                            <a:latin typeface="Cambria Math" panose="02040503050406030204" pitchFamily="18" charset="0"/>
                            <a:cs typeface="Arial" panose="020B0604020202020204" pitchFamily="34" charset="0"/>
                          </a:rPr>
                          <m:t>4</m:t>
                        </m:r>
                        <m:r>
                          <a:rPr lang="en-US" sz="2000" b="0" i="1" smtClean="0">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𝜖</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0</m:t>
                            </m:r>
                          </m:sub>
                        </m:sSub>
                      </m:den>
                    </m:f>
                    <m:r>
                      <a:rPr lang="en-US" sz="2000" b="0" i="1" smtClean="0">
                        <a:latin typeface="Cambria Math" panose="02040503050406030204" pitchFamily="18" charset="0"/>
                        <a:cs typeface="Arial" panose="020B0604020202020204" pitchFamily="34" charset="0"/>
                      </a:rPr>
                      <m:t>[</m:t>
                    </m:r>
                    <m:f>
                      <m:fPr>
                        <m:ctrlPr>
                          <a:rPr lang="en-US" sz="2000" b="0" i="0" smtClean="0">
                            <a:latin typeface="Cambria Math" panose="02040503050406030204" pitchFamily="18" charset="0"/>
                            <a:cs typeface="Arial" panose="020B0604020202020204" pitchFamily="34" charset="0"/>
                          </a:rPr>
                        </m:ctrlPr>
                      </m:fPr>
                      <m:num>
                        <m:r>
                          <m:rPr>
                            <m:sty m:val="p"/>
                          </m:rPr>
                          <a:rPr lang="en-US" sz="2000" b="0" i="0" smtClean="0">
                            <a:latin typeface="Cambria Math" panose="02040503050406030204" pitchFamily="18" charset="0"/>
                            <a:cs typeface="Arial" panose="020B0604020202020204" pitchFamily="34" charset="0"/>
                          </a:rPr>
                          <m:t>sin</m:t>
                        </m:r>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𝜔</m:t>
                        </m:r>
                        <m:d>
                          <m:dPr>
                            <m:begChr m:val="["/>
                            <m:endChr m:val="]"/>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𝑡</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𝑟</m:t>
                                </m:r>
                              </m:num>
                              <m:den>
                                <m:r>
                                  <a:rPr lang="en-US" sz="2000" i="1">
                                    <a:latin typeface="Cambria Math" panose="02040503050406030204" pitchFamily="18" charset="0"/>
                                    <a:cs typeface="Arial" panose="020B0604020202020204" pitchFamily="34" charset="0"/>
                                  </a:rPr>
                                  <m:t>𝑐</m:t>
                                </m:r>
                              </m:den>
                            </m:f>
                            <m:r>
                              <a:rPr lang="en-US" sz="2000" b="0" i="1" smtClean="0">
                                <a:latin typeface="Cambria Math" panose="02040503050406030204" pitchFamily="18" charset="0"/>
                                <a:cs typeface="Arial" panose="020B0604020202020204" pitchFamily="34" charset="0"/>
                              </a:rPr>
                              <m:t>]</m:t>
                            </m:r>
                          </m:e>
                        </m:d>
                        <m:r>
                          <a:rPr lang="en-US" sz="2000" b="0" i="1" smtClean="0">
                            <a:latin typeface="Cambria Math" panose="02040503050406030204" pitchFamily="18" charset="0"/>
                            <a:ea typeface="Cambria Math" panose="02040503050406030204" pitchFamily="18" charset="0"/>
                            <a:cs typeface="Arial" panose="020B0604020202020204" pitchFamily="34" charset="0"/>
                          </a:rPr>
                          <m:t>)</m:t>
                        </m:r>
                      </m:num>
                      <m:den>
                        <m:sSup>
                          <m:sSupPr>
                            <m:ctrlPr>
                              <a:rPr lang="en-US" sz="2000" b="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𝑟</m:t>
                            </m:r>
                          </m:e>
                          <m:sup>
                            <m:r>
                              <a:rPr lang="en-US" sz="2000" b="0" i="1" smtClean="0">
                                <a:latin typeface="Cambria Math" panose="02040503050406030204" pitchFamily="18" charset="0"/>
                                <a:cs typeface="Arial" panose="020B0604020202020204" pitchFamily="34" charset="0"/>
                              </a:rPr>
                              <m:t>2</m:t>
                            </m:r>
                          </m:sup>
                        </m:sSup>
                        <m:r>
                          <a:rPr lang="en-US" sz="2000" b="0" i="1" smtClean="0">
                            <a:latin typeface="Cambria Math" panose="02040503050406030204" pitchFamily="18" charset="0"/>
                            <a:cs typeface="Arial" panose="020B0604020202020204" pitchFamily="34" charset="0"/>
                          </a:rPr>
                          <m:t>𝑐</m:t>
                        </m:r>
                      </m:den>
                    </m:f>
                    <m:r>
                      <a:rPr lang="en-US" sz="2000" b="0" i="1" smtClean="0">
                        <a:latin typeface="Cambria Math" panose="02040503050406030204" pitchFamily="18" charset="0"/>
                        <a:cs typeface="Arial" panose="020B0604020202020204" pitchFamily="34" charset="0"/>
                      </a:rPr>
                      <m:t>−</m:t>
                    </m:r>
                    <m:f>
                      <m:fPr>
                        <m:ctrlPr>
                          <a:rPr lang="en-US" sz="2000" b="0" i="0" smtClean="0">
                            <a:latin typeface="Cambria Math" panose="02040503050406030204" pitchFamily="18" charset="0"/>
                            <a:cs typeface="Arial" panose="020B0604020202020204" pitchFamily="34" charset="0"/>
                          </a:rPr>
                        </m:ctrlPr>
                      </m:fPr>
                      <m:num>
                        <m:r>
                          <m:rPr>
                            <m:sty m:val="p"/>
                          </m:rPr>
                          <a:rPr lang="en-US" sz="2000" b="0" i="0" smtClean="0">
                            <a:latin typeface="Cambria Math" panose="02040503050406030204" pitchFamily="18" charset="0"/>
                            <a:cs typeface="Arial" panose="020B0604020202020204" pitchFamily="34" charset="0"/>
                          </a:rPr>
                          <m:t>cos</m:t>
                        </m:r>
                        <m:r>
                          <a:rPr lang="en-US" sz="2000" b="0" i="1" smtClean="0">
                            <a:latin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𝜔</m:t>
                        </m:r>
                        <m:d>
                          <m:dPr>
                            <m:begChr m:val="["/>
                            <m:endChr m:val="]"/>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𝑡</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𝑟</m:t>
                                </m:r>
                              </m:num>
                              <m:den>
                                <m:r>
                                  <a:rPr lang="en-US" sz="2000" i="1">
                                    <a:latin typeface="Cambria Math" panose="02040503050406030204" pitchFamily="18" charset="0"/>
                                    <a:cs typeface="Arial" panose="020B0604020202020204" pitchFamily="34" charset="0"/>
                                  </a:rPr>
                                  <m:t>𝑐</m:t>
                                </m:r>
                              </m:den>
                            </m:f>
                            <m:r>
                              <a:rPr lang="en-US" sz="2000" i="1">
                                <a:latin typeface="Cambria Math" panose="02040503050406030204" pitchFamily="18" charset="0"/>
                                <a:cs typeface="Arial" panose="020B0604020202020204" pitchFamily="34" charset="0"/>
                              </a:rPr>
                              <m:t>]</m:t>
                            </m:r>
                          </m:e>
                        </m:d>
                        <m:r>
                          <a:rPr lang="en-US" sz="2000" b="0" i="1" smtClean="0">
                            <a:latin typeface="Cambria Math" panose="02040503050406030204" pitchFamily="18" charset="0"/>
                            <a:cs typeface="Arial" panose="020B0604020202020204" pitchFamily="34" charset="0"/>
                          </a:rPr>
                          <m:t>)</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𝜔</m:t>
                        </m:r>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3</m:t>
                            </m:r>
                          </m:sup>
                        </m:sSup>
                      </m:den>
                    </m:f>
                    <m:r>
                      <a:rPr lang="en-US" sz="2000" b="0" i="1" smtClean="0">
                        <a:latin typeface="Cambria Math" panose="02040503050406030204" pitchFamily="18" charset="0"/>
                        <a:cs typeface="Arial" panose="020B0604020202020204" pitchFamily="34" charset="0"/>
                      </a:rPr>
                      <m:t>]</m:t>
                    </m:r>
                  </m:oMath>
                </a14:m>
                <a:endParaRPr lang="en-US" sz="2000" dirty="0">
                  <a:latin typeface="Arial" panose="020B0604020202020204" pitchFamily="34" charset="0"/>
                  <a:cs typeface="Arial" panose="020B0604020202020204" pitchFamily="34" charset="0"/>
                </a:endParaRPr>
              </a:p>
              <a:p>
                <a:pPr marL="342900" indent="-342900" algn="l">
                  <a:lnSpc>
                    <a:spcPct val="100000"/>
                  </a:lnSpc>
                  <a:spcBef>
                    <a:spcPts val="0"/>
                  </a:spcBef>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𝐸</m:t>
                        </m:r>
                      </m:e>
                      <m:sub>
                        <m:r>
                          <a:rPr lang="en-US" sz="2000" i="1">
                            <a:latin typeface="Cambria Math" panose="02040503050406030204" pitchFamily="18" charset="0"/>
                            <a:ea typeface="Cambria Math" panose="02040503050406030204" pitchFamily="18" charset="0"/>
                            <a:cs typeface="Arial" panose="020B0604020202020204" pitchFamily="34" charset="0"/>
                          </a:rPr>
                          <m:t>𝜃</m:t>
                        </m:r>
                      </m:sub>
                    </m:sSub>
                    <m:r>
                      <a:rPr lang="en-US" sz="2000" i="1">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𝐼</m:t>
                            </m:r>
                          </m:e>
                          <m:sub>
                            <m:r>
                              <a:rPr lang="en-US" sz="2000" i="1">
                                <a:latin typeface="Cambria Math" panose="02040503050406030204" pitchFamily="18" charset="0"/>
                                <a:cs typeface="Arial" panose="020B0604020202020204" pitchFamily="34" charset="0"/>
                              </a:rPr>
                              <m:t>0</m:t>
                            </m:r>
                          </m:sub>
                        </m:sSub>
                        <m:func>
                          <m:funcPr>
                            <m:ctrlPr>
                              <a:rPr lang="en-US" sz="2000" i="0">
                                <a:latin typeface="Cambria Math" panose="02040503050406030204" pitchFamily="18" charset="0"/>
                                <a:cs typeface="Arial" panose="020B0604020202020204" pitchFamily="34" charset="0"/>
                              </a:rPr>
                            </m:ctrlPr>
                          </m:funcPr>
                          <m:fName>
                            <m:r>
                              <m:rPr>
                                <m:sty m:val="p"/>
                              </m:rPr>
                              <a:rPr lang="en-US" sz="2000" i="0">
                                <a:latin typeface="Cambria Math" panose="02040503050406030204" pitchFamily="18" charset="0"/>
                                <a:cs typeface="Arial" panose="020B0604020202020204" pitchFamily="34" charset="0"/>
                              </a:rPr>
                              <m:t>lsin</m:t>
                            </m:r>
                          </m:fName>
                          <m:e>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r>
                                  <a:rPr lang="en-US" sz="2000" i="1">
                                    <a:latin typeface="Cambria Math" panose="02040503050406030204" pitchFamily="18" charset="0"/>
                                    <a:ea typeface="Cambria Math" panose="02040503050406030204" pitchFamily="18" charset="0"/>
                                    <a:cs typeface="Arial" panose="020B0604020202020204" pitchFamily="34" charset="0"/>
                                  </a:rPr>
                                  <m:t>𝜃</m:t>
                                </m:r>
                              </m:e>
                            </m:d>
                          </m:e>
                        </m:func>
                      </m:num>
                      <m:den>
                        <m:r>
                          <a:rPr lang="en-US" sz="2000" i="1">
                            <a:latin typeface="Cambria Math" panose="02040503050406030204" pitchFamily="18" charset="0"/>
                            <a:cs typeface="Arial" panose="020B0604020202020204" pitchFamily="34" charset="0"/>
                          </a:rPr>
                          <m:t>4</m:t>
                        </m:r>
                        <m:r>
                          <a:rPr lang="en-US" sz="2000" i="1">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𝜖</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d>
                      <m:dPr>
                        <m:begChr m:val="["/>
                        <m:endChr m:val="]"/>
                        <m:ctrlPr>
                          <a:rPr lang="en-US" sz="2000" i="1" smtClean="0">
                            <a:latin typeface="Cambria Math" panose="02040503050406030204" pitchFamily="18" charset="0"/>
                            <a:cs typeface="Arial" panose="020B0604020202020204" pitchFamily="34" charset="0"/>
                          </a:rPr>
                        </m:ctrlPr>
                      </m:dPr>
                      <m:e>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1</m:t>
                            </m:r>
                          </m:num>
                          <m:den>
                            <m:sSup>
                              <m:sSupPr>
                                <m:ctrlPr>
                                  <a:rPr lang="en-US" sz="2000" i="1">
                                    <a:latin typeface="Cambria Math" panose="02040503050406030204" pitchFamily="18" charset="0"/>
                                    <a:cs typeface="Arial" panose="020B0604020202020204" pitchFamily="34" charset="0"/>
                                  </a:rPr>
                                </m:ctrlPr>
                              </m:sSupPr>
                              <m:e>
                                <m:r>
                                  <a:rPr lang="en-US" sz="2000" i="1">
                                    <a:latin typeface="Cambria Math" panose="02040503050406030204" pitchFamily="18" charset="0"/>
                                    <a:cs typeface="Arial" panose="020B0604020202020204" pitchFamily="34" charset="0"/>
                                  </a:rPr>
                                  <m:t>𝑟</m:t>
                                </m:r>
                              </m:e>
                              <m:sup>
                                <m:r>
                                  <a:rPr lang="en-US" sz="2000" b="0" i="1" smtClean="0">
                                    <a:latin typeface="Cambria Math" panose="02040503050406030204" pitchFamily="18" charset="0"/>
                                    <a:cs typeface="Arial" panose="020B0604020202020204" pitchFamily="34" charset="0"/>
                                  </a:rPr>
                                  <m:t>3</m:t>
                                </m:r>
                              </m:sup>
                            </m:sSup>
                            <m:r>
                              <a:rPr lang="en-US" sz="2000" i="1" smtClean="0">
                                <a:latin typeface="Cambria Math" panose="02040503050406030204" pitchFamily="18" charset="0"/>
                                <a:ea typeface="Cambria Math" panose="02040503050406030204" pitchFamily="18" charset="0"/>
                                <a:cs typeface="Arial" panose="020B0604020202020204" pitchFamily="34" charset="0"/>
                              </a:rPr>
                              <m:t>𝜔</m:t>
                            </m:r>
                          </m:den>
                        </m:f>
                        <m:r>
                          <a:rPr lang="en-US" sz="2000" i="1">
                            <a:latin typeface="Cambria Math" panose="02040503050406030204" pitchFamily="18" charset="0"/>
                            <a:cs typeface="Arial" panose="020B0604020202020204" pitchFamily="34" charset="0"/>
                          </a:rPr>
                          <m:t>−</m:t>
                        </m:r>
                        <m:f>
                          <m:f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i="1" smtClean="0">
                                <a:latin typeface="Cambria Math" panose="02040503050406030204" pitchFamily="18" charset="0"/>
                                <a:ea typeface="Cambria Math" panose="02040503050406030204" pitchFamily="18" charset="0"/>
                                <a:cs typeface="Arial" panose="020B0604020202020204" pitchFamily="34" charset="0"/>
                              </a:rPr>
                              <m:t>𝜔</m:t>
                            </m:r>
                          </m:num>
                          <m:den>
                            <m:r>
                              <a:rPr lang="en-US" sz="2000" b="0" i="1" smtClean="0">
                                <a:latin typeface="Cambria Math" panose="02040503050406030204" pitchFamily="18" charset="0"/>
                                <a:cs typeface="Arial" panose="020B0604020202020204" pitchFamily="34" charset="0"/>
                              </a:rPr>
                              <m:t>𝑟</m:t>
                            </m:r>
                            <m:sSup>
                              <m:sSupPr>
                                <m:ctrlPr>
                                  <a:rPr lang="en-US" sz="2000" b="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𝑐</m:t>
                                </m:r>
                              </m:e>
                              <m:sup>
                                <m:r>
                                  <a:rPr lang="en-US" sz="2000" b="0" i="1" smtClean="0">
                                    <a:latin typeface="Cambria Math" panose="02040503050406030204" pitchFamily="18" charset="0"/>
                                    <a:cs typeface="Arial" panose="020B0604020202020204" pitchFamily="34" charset="0"/>
                                  </a:rPr>
                                  <m:t>2</m:t>
                                </m:r>
                              </m:sup>
                            </m:sSup>
                          </m:den>
                        </m:f>
                      </m:e>
                    </m:d>
                    <m:func>
                      <m:funcPr>
                        <m:ctrlPr>
                          <a:rPr lang="en-US" sz="2000" b="0" i="0" smtClean="0">
                            <a:latin typeface="Cambria Math" panose="02040503050406030204" pitchFamily="18" charset="0"/>
                            <a:ea typeface="Cambria Math" panose="02040503050406030204" pitchFamily="18" charset="0"/>
                            <a:cs typeface="Arial" panose="020B0604020202020204" pitchFamily="34" charset="0"/>
                          </a:rPr>
                        </m:ctrlPr>
                      </m:funcPr>
                      <m:fName>
                        <m:r>
                          <m:rPr>
                            <m:sty m:val="p"/>
                          </m:rPr>
                          <a:rPr lang="en-US" sz="2000" b="0" i="0" smtClean="0">
                            <a:latin typeface="Cambria Math" panose="02040503050406030204" pitchFamily="18" charset="0"/>
                            <a:ea typeface="Cambria Math" panose="02040503050406030204" pitchFamily="18" charset="0"/>
                            <a:cs typeface="Arial" panose="020B0604020202020204" pitchFamily="34" charset="0"/>
                          </a:rPr>
                          <m:t>cos</m:t>
                        </m:r>
                      </m:fName>
                      <m:e>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r>
                              <a:rPr lang="en-US" sz="2000" i="1">
                                <a:latin typeface="Cambria Math" panose="02040503050406030204" pitchFamily="18" charset="0"/>
                                <a:ea typeface="Cambria Math" panose="02040503050406030204" pitchFamily="18" charset="0"/>
                                <a:cs typeface="Arial" panose="020B0604020202020204" pitchFamily="34" charset="0"/>
                              </a:rPr>
                              <m:t>𝜔</m:t>
                            </m:r>
                            <m:d>
                              <m:dPr>
                                <m:begChr m:val="["/>
                                <m:endChr m:val="]"/>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𝑡</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𝑟</m:t>
                                    </m:r>
                                  </m:num>
                                  <m:den>
                                    <m:r>
                                      <a:rPr lang="en-US" sz="2000" i="1">
                                        <a:latin typeface="Cambria Math" panose="02040503050406030204" pitchFamily="18" charset="0"/>
                                        <a:cs typeface="Arial" panose="020B0604020202020204" pitchFamily="34" charset="0"/>
                                      </a:rPr>
                                      <m:t>𝑐</m:t>
                                    </m:r>
                                  </m:den>
                                </m:f>
                                <m:r>
                                  <a:rPr lang="en-US" sz="2000" i="1">
                                    <a:latin typeface="Cambria Math" panose="02040503050406030204" pitchFamily="18" charset="0"/>
                                    <a:cs typeface="Arial" panose="020B0604020202020204" pitchFamily="34" charset="0"/>
                                  </a:rPr>
                                  <m:t>]</m:t>
                                </m:r>
                              </m:e>
                            </m:d>
                          </m:e>
                        </m:d>
                      </m:e>
                    </m:func>
                    <m:r>
                      <a:rPr lang="en-US" sz="2000" b="0" i="1" smtClean="0">
                        <a:latin typeface="Cambria Math" panose="02040503050406030204" pitchFamily="18" charset="0"/>
                        <a:ea typeface="Cambria Math" panose="02040503050406030204" pitchFamily="18" charset="0"/>
                        <a:cs typeface="Arial" panose="020B0604020202020204" pitchFamily="34" charset="0"/>
                      </a:rPr>
                      <m:t> − </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1</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𝑐</m:t>
                        </m:r>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den>
                    </m:f>
                    <m:func>
                      <m:funcPr>
                        <m:ctrlPr>
                          <a:rPr lang="en-US" sz="2000" b="0" i="0" smtClean="0">
                            <a:latin typeface="Cambria Math" panose="02040503050406030204" pitchFamily="18" charset="0"/>
                            <a:ea typeface="Cambria Math" panose="02040503050406030204" pitchFamily="18" charset="0"/>
                            <a:cs typeface="Arial" panose="020B0604020202020204" pitchFamily="34" charset="0"/>
                          </a:rPr>
                        </m:ctrlPr>
                      </m:funcPr>
                      <m:fName>
                        <m:r>
                          <m:rPr>
                            <m:sty m:val="p"/>
                          </m:rPr>
                          <a:rPr lang="en-US" sz="2000" b="0" i="0" smtClean="0">
                            <a:latin typeface="Cambria Math" panose="02040503050406030204" pitchFamily="18" charset="0"/>
                            <a:ea typeface="Cambria Math" panose="02040503050406030204" pitchFamily="18" charset="0"/>
                            <a:cs typeface="Arial" panose="020B0604020202020204" pitchFamily="34" charset="0"/>
                          </a:rPr>
                          <m:t>sin</m:t>
                        </m:r>
                      </m:fName>
                      <m:e>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r>
                              <a:rPr lang="en-US" sz="2000" i="1">
                                <a:latin typeface="Cambria Math" panose="02040503050406030204" pitchFamily="18" charset="0"/>
                                <a:ea typeface="Cambria Math" panose="02040503050406030204" pitchFamily="18" charset="0"/>
                                <a:cs typeface="Arial" panose="020B0604020202020204" pitchFamily="34" charset="0"/>
                              </a:rPr>
                              <m:t>𝜔</m:t>
                            </m:r>
                            <m:d>
                              <m:dPr>
                                <m:begChr m:val="["/>
                                <m:endChr m:val="]"/>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𝑡</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𝑟</m:t>
                                    </m:r>
                                  </m:num>
                                  <m:den>
                                    <m:r>
                                      <a:rPr lang="en-US" sz="2000" i="1">
                                        <a:latin typeface="Cambria Math" panose="02040503050406030204" pitchFamily="18" charset="0"/>
                                        <a:cs typeface="Arial" panose="020B0604020202020204" pitchFamily="34" charset="0"/>
                                      </a:rPr>
                                      <m:t>𝑐</m:t>
                                    </m:r>
                                  </m:den>
                                </m:f>
                                <m:r>
                                  <a:rPr lang="en-US" sz="2000" i="1">
                                    <a:latin typeface="Cambria Math" panose="02040503050406030204" pitchFamily="18" charset="0"/>
                                    <a:cs typeface="Arial" panose="020B0604020202020204" pitchFamily="34" charset="0"/>
                                  </a:rPr>
                                  <m:t>]</m:t>
                                </m:r>
                              </m:e>
                            </m:d>
                          </m:e>
                        </m:d>
                      </m:e>
                    </m:func>
                    <m:r>
                      <a:rPr lang="en-US" sz="2000" b="0" i="1" smtClean="0">
                        <a:latin typeface="Cambria Math" panose="02040503050406030204" pitchFamily="18" charset="0"/>
                        <a:ea typeface="Cambria Math" panose="02040503050406030204" pitchFamily="18" charset="0"/>
                        <a:cs typeface="Arial" panose="020B0604020202020204" pitchFamily="34" charset="0"/>
                      </a:rPr>
                      <m:t>)</m:t>
                    </m:r>
                  </m:oMath>
                </a14:m>
                <a:endParaRPr lang="en-US" sz="2000" dirty="0">
                  <a:latin typeface="Arial" panose="020B0604020202020204" pitchFamily="34" charset="0"/>
                  <a:cs typeface="Arial" panose="020B0604020202020204" pitchFamily="34" charset="0"/>
                </a:endParaRPr>
              </a:p>
              <a:p>
                <a:pPr marL="342900" indent="-342900" algn="l">
                  <a:lnSpc>
                    <a:spcPct val="100000"/>
                  </a:lnSpc>
                  <a:spcBef>
                    <a:spcPts val="0"/>
                  </a:spcBef>
                  <a:buFont typeface="Arial" panose="020B0604020202020204" pitchFamily="34" charset="0"/>
                  <a:buChar char="•"/>
                </a:pP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𝐸</m:t>
                        </m:r>
                      </m:e>
                      <m:sub>
                        <m:r>
                          <a:rPr lang="en-US" sz="2000" i="1">
                            <a:latin typeface="Cambria Math" panose="02040503050406030204" pitchFamily="18" charset="0"/>
                            <a:ea typeface="Cambria Math" panose="02040503050406030204" pitchFamily="18" charset="0"/>
                            <a:cs typeface="Arial" panose="020B0604020202020204" pitchFamily="34" charset="0"/>
                          </a:rPr>
                          <m:t>𝜙</m:t>
                        </m:r>
                      </m:sub>
                    </m:sSub>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1</m:t>
                        </m:r>
                      </m:num>
                      <m:den>
                        <m:r>
                          <a:rPr lang="en-US" sz="2000" b="0" i="1" smtClean="0">
                            <a:latin typeface="Cambria Math" panose="02040503050406030204" pitchFamily="18" charset="0"/>
                            <a:cs typeface="Arial" panose="020B0604020202020204" pitchFamily="34" charset="0"/>
                          </a:rPr>
                          <m:t>𝑟𝑠𝑖𝑛</m:t>
                        </m:r>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ea typeface="Cambria Math" panose="02040503050406030204" pitchFamily="18" charset="0"/>
                                <a:cs typeface="Arial" panose="020B0604020202020204" pitchFamily="34" charset="0"/>
                              </a:rPr>
                              <m:t>𝜃</m:t>
                            </m:r>
                          </m:e>
                        </m:d>
                      </m:den>
                    </m:f>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𝜕𝜑</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𝜕𝜙</m:t>
                        </m:r>
                      </m:den>
                    </m:f>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𝐴</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𝜙</m:t>
                            </m:r>
                          </m:sub>
                        </m:sSub>
                      </m:num>
                      <m:den>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sz="2000" b="0" i="1" smtClean="0">
                        <a:latin typeface="Cambria Math" panose="02040503050406030204" pitchFamily="18" charset="0"/>
                        <a:ea typeface="Cambria Math" panose="02040503050406030204" pitchFamily="18" charset="0"/>
                        <a:cs typeface="Arial" panose="020B0604020202020204" pitchFamily="34" charset="0"/>
                      </a:rPr>
                      <m:t>=0</m:t>
                    </m:r>
                  </m:oMath>
                </a14:m>
                <a:endParaRPr lang="en-US" sz="2000" dirty="0">
                  <a:latin typeface="Arial" panose="020B0604020202020204" pitchFamily="34" charset="0"/>
                  <a:cs typeface="Arial" panose="020B0604020202020204" pitchFamily="34" charset="0"/>
                </a:endParaRPr>
              </a:p>
              <a:p>
                <a:pPr marL="342900" indent="-342900" algn="l">
                  <a:lnSpc>
                    <a:spcPct val="120000"/>
                  </a:lnSpc>
                  <a:spcBef>
                    <a:spcPts val="0"/>
                  </a:spcBef>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l">
                  <a:lnSpc>
                    <a:spcPct val="120000"/>
                  </a:lnSpc>
                  <a:spcBef>
                    <a:spcPts val="0"/>
                  </a:spcBef>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l">
                  <a:lnSpc>
                    <a:spcPct val="120000"/>
                  </a:lnSpc>
                  <a:spcBef>
                    <a:spcPts val="0"/>
                  </a:spcBef>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l">
                  <a:lnSpc>
                    <a:spcPct val="120000"/>
                  </a:lnSpc>
                  <a:spcBef>
                    <a:spcPts val="0"/>
                  </a:spcBef>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r">
                  <a:lnSpc>
                    <a:spcPct val="120000"/>
                  </a:lnSpc>
                  <a:spcBef>
                    <a:spcPts val="0"/>
                  </a:spcBef>
                  <a:buFont typeface="Arial" panose="020B0604020202020204" pitchFamily="34" charset="0"/>
                  <a:buChar char="•"/>
                </a:pPr>
                <a:endParaRPr lang="en-US" sz="2000" i="1" dirty="0">
                  <a:latin typeface="Cambria Math" panose="02040503050406030204" pitchFamily="18" charset="0"/>
                  <a:cs typeface="Arial" panose="020B0604020202020204" pitchFamily="34" charset="0"/>
                </a:endParaRPr>
              </a:p>
              <a:p>
                <a:pPr algn="r">
                  <a:lnSpc>
                    <a:spcPct val="120000"/>
                  </a:lnSpc>
                  <a:spcBef>
                    <a:spcPts val="0"/>
                  </a:spcBef>
                </a:pPr>
                <a:endParaRPr lang="en-US" sz="2000" dirty="0">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99479" y="1341833"/>
                <a:ext cx="9688288" cy="5332728"/>
              </a:xfrm>
              <a:blipFill>
                <a:blip r:embed="rId2"/>
                <a:stretch>
                  <a:fillRect l="-524"/>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7A91E16D-0EAD-4D3D-AC22-65013F654EE2}" type="slidenum">
              <a:rPr lang="en-US" altLang="en-US" smtClean="0"/>
              <a:pPr>
                <a:defRPr/>
              </a:pPr>
              <a:t>35</a:t>
            </a:fld>
            <a:endParaRPr lang="en-US" altLang="en-US"/>
          </a:p>
        </p:txBody>
      </p:sp>
    </p:spTree>
    <p:extLst>
      <p:ext uri="{BB962C8B-B14F-4D97-AF65-F5344CB8AC3E}">
        <p14:creationId xmlns:p14="http://schemas.microsoft.com/office/powerpoint/2010/main" val="39931506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6124" y="180360"/>
            <a:ext cx="11763476" cy="764433"/>
          </a:xfrm>
        </p:spPr>
        <p:txBody>
          <a:bodyPr>
            <a:normAutofit/>
          </a:bodyPr>
          <a:lstStyle/>
          <a:p>
            <a:pPr algn="ctr"/>
            <a:r>
              <a:rPr lang="en-US" sz="4400" dirty="0">
                <a:latin typeface="Calibri" panose="020F0502020204030204" pitchFamily="34" charset="0"/>
                <a:cs typeface="Calibri" panose="020F0502020204030204" pitchFamily="34" charset="0"/>
              </a:rPr>
              <a:t>Radiation from a small dipole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82503" y="1707917"/>
                <a:ext cx="9824484" cy="4427672"/>
              </a:xfrm>
            </p:spPr>
            <p:txBody>
              <a:bodyPr>
                <a:normAutofit/>
              </a:bodyPr>
              <a:lstStyle/>
              <a:p>
                <a:pPr marL="342900" indent="-342900" algn="l">
                  <a:lnSpc>
                    <a:spcPct val="100000"/>
                  </a:lnSpc>
                  <a:spcBef>
                    <a:spcPts val="0"/>
                  </a:spcBef>
                  <a:buFont typeface="Arial" panose="020B0604020202020204" pitchFamily="34" charset="0"/>
                  <a:buChar char="•"/>
                </a:pPr>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𝐵</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latin typeface="Cambria Math" panose="02040503050406030204" pitchFamily="18" charset="0"/>
                        <a:ea typeface="Cambria Math" panose="02040503050406030204" pitchFamily="18" charset="0"/>
                        <a:cs typeface="Arial" panose="020B0604020202020204" pitchFamily="34" charset="0"/>
                      </a:rPr>
                      <m:t>𝐻</m:t>
                    </m:r>
                  </m:oMath>
                </a14:m>
                <a:endParaRPr lang="en-US" sz="2000" i="1" dirty="0">
                  <a:latin typeface="Cambria Math" panose="02040503050406030204" pitchFamily="18" charset="0"/>
                  <a:ea typeface="Cambria Math" panose="02040503050406030204" pitchFamily="18" charset="0"/>
                  <a:cs typeface="Arial" panose="020B0604020202020204" pitchFamily="34" charset="0"/>
                </a:endParaRPr>
              </a:p>
              <a:p>
                <a:pPr marL="342900" indent="-342900" algn="l">
                  <a:lnSpc>
                    <a:spcPct val="100000"/>
                  </a:lnSpc>
                  <a:spcBef>
                    <a:spcPts val="0"/>
                  </a:spcBef>
                  <a:buFont typeface="Arial" panose="020B0604020202020204" pitchFamily="34" charset="0"/>
                  <a:buChar char="•"/>
                </a:pPr>
                <a14:m>
                  <m:oMath xmlns:m="http://schemas.openxmlformats.org/officeDocument/2006/math">
                    <m:r>
                      <m:rPr>
                        <m:sty m:val="p"/>
                      </m:rPr>
                      <a:rPr lang="en-US" sz="2000" i="1" smtClean="0">
                        <a:latin typeface="Cambria Math" panose="02040503050406030204" pitchFamily="18" charset="0"/>
                        <a:ea typeface="Cambria Math" panose="02040503050406030204" pitchFamily="18" charset="0"/>
                        <a:cs typeface="Arial" panose="020B0604020202020204" pitchFamily="34" charset="0"/>
                      </a:rPr>
                      <m:t>∇</m:t>
                    </m:r>
                    <m:r>
                      <a:rPr lang="en-US" sz="2000" i="1" smtClean="0">
                        <a:latin typeface="Cambria Math" panose="02040503050406030204" pitchFamily="18" charset="0"/>
                        <a:ea typeface="Cambria Math" panose="02040503050406030204" pitchFamily="18" charset="0"/>
                        <a:cs typeface="Arial" panose="020B0604020202020204" pitchFamily="34" charset="0"/>
                      </a:rPr>
                      <m:t>∙</m:t>
                    </m:r>
                    <m:d>
                      <m:dPr>
                        <m:ctrlPr>
                          <a:rPr lang="en-US" sz="2000" b="1">
                            <a:latin typeface="Cambria Math" panose="02040503050406030204" pitchFamily="18" charset="0"/>
                            <a:ea typeface="Cambria Math" panose="02040503050406030204" pitchFamily="18" charset="0"/>
                            <a:cs typeface="Arial" panose="020B0604020202020204" pitchFamily="34" charset="0"/>
                          </a:rPr>
                        </m:ctrlPr>
                      </m:dPr>
                      <m:e>
                        <m:r>
                          <a:rPr lang="en-US" sz="2000" b="1">
                            <a:latin typeface="Cambria Math" panose="02040503050406030204" pitchFamily="18" charset="0"/>
                            <a:ea typeface="Cambria Math" panose="02040503050406030204" pitchFamily="18" charset="0"/>
                            <a:cs typeface="Arial" panose="020B0604020202020204" pitchFamily="34" charset="0"/>
                          </a:rPr>
                          <m:t>𝐄</m:t>
                        </m:r>
                        <m:r>
                          <a:rPr lang="en-US" sz="2000">
                            <a:latin typeface="Cambria Math" panose="02040503050406030204" pitchFamily="18" charset="0"/>
                            <a:ea typeface="Cambria Math" panose="02040503050406030204" pitchFamily="18" charset="0"/>
                            <a:cs typeface="Arial" panose="020B0604020202020204" pitchFamily="34" charset="0"/>
                          </a:rPr>
                          <m:t> </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b="1">
                            <a:latin typeface="Cambria Math" panose="02040503050406030204" pitchFamily="18" charset="0"/>
                            <a:ea typeface="Cambria Math" panose="02040503050406030204" pitchFamily="18" charset="0"/>
                            <a:cs typeface="Arial" panose="020B0604020202020204" pitchFamily="34" charset="0"/>
                          </a:rPr>
                          <m:t>𝐇</m:t>
                        </m:r>
                      </m:e>
                    </m:d>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b="1">
                        <a:latin typeface="Cambria Math" panose="02040503050406030204" pitchFamily="18" charset="0"/>
                        <a:ea typeface="Cambria Math" panose="02040503050406030204" pitchFamily="18" charset="0"/>
                        <a:cs typeface="Arial" panose="020B0604020202020204" pitchFamily="34" charset="0"/>
                      </a:rPr>
                      <m:t>𝐇</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b="1">
                            <a:latin typeface="Cambria Math" panose="02040503050406030204" pitchFamily="18" charset="0"/>
                            <a:ea typeface="Cambria Math" panose="02040503050406030204" pitchFamily="18" charset="0"/>
                            <a:cs typeface="Arial" panose="020B0604020202020204" pitchFamily="34" charset="0"/>
                          </a:rPr>
                          <m:t>𝐁</m:t>
                        </m:r>
                      </m:num>
                      <m:den>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𝑡</m:t>
                        </m:r>
                      </m:den>
                    </m:f>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b="1">
                        <a:latin typeface="Cambria Math" panose="02040503050406030204" pitchFamily="18" charset="0"/>
                        <a:ea typeface="Cambria Math" panose="02040503050406030204" pitchFamily="18" charset="0"/>
                        <a:cs typeface="Arial" panose="020B0604020202020204" pitchFamily="34" charset="0"/>
                      </a:rPr>
                      <m:t>𝐄</m:t>
                    </m:r>
                    <m:f>
                      <m:fPr>
                        <m:ctrlPr>
                          <a:rPr lang="en-US" sz="2000">
                            <a:latin typeface="Cambria Math" panose="02040503050406030204" pitchFamily="18" charset="0"/>
                            <a:ea typeface="Cambria Math" panose="02040503050406030204" pitchFamily="18" charset="0"/>
                            <a:cs typeface="Arial" panose="020B0604020202020204" pitchFamily="34" charset="0"/>
                          </a:rPr>
                        </m:ctrlPr>
                      </m:fPr>
                      <m:num>
                        <m:r>
                          <a:rPr lang="en-US" sz="2000">
                            <a:latin typeface="Cambria Math" panose="02040503050406030204" pitchFamily="18" charset="0"/>
                            <a:ea typeface="Cambria Math" panose="02040503050406030204" pitchFamily="18" charset="0"/>
                            <a:cs typeface="Arial" panose="020B0604020202020204" pitchFamily="34" charset="0"/>
                          </a:rPr>
                          <m:t>𝜕</m:t>
                        </m:r>
                        <m:r>
                          <a:rPr lang="en-US" sz="2000" b="1">
                            <a:latin typeface="Cambria Math" panose="02040503050406030204" pitchFamily="18" charset="0"/>
                            <a:ea typeface="Cambria Math" panose="02040503050406030204" pitchFamily="18" charset="0"/>
                            <a:cs typeface="Arial" panose="020B0604020202020204" pitchFamily="34" charset="0"/>
                          </a:rPr>
                          <m:t>𝐃</m:t>
                        </m:r>
                      </m:num>
                      <m:den>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𝑡</m:t>
                        </m:r>
                      </m:den>
                    </m:f>
                    <m:r>
                      <a:rPr lang="en-US" sz="2000">
                        <a:latin typeface="Cambria Math" panose="02040503050406030204" pitchFamily="18" charset="0"/>
                        <a:ea typeface="Cambria Math" panose="02040503050406030204" pitchFamily="18" charset="0"/>
                        <a:cs typeface="Arial" panose="020B0604020202020204" pitchFamily="34" charset="0"/>
                      </a:rPr>
                      <m:t> −</m:t>
                    </m:r>
                    <m:r>
                      <a:rPr lang="en-US" sz="2000" b="1">
                        <a:latin typeface="Cambria Math" panose="02040503050406030204" pitchFamily="18" charset="0"/>
                        <a:ea typeface="Cambria Math" panose="02040503050406030204" pitchFamily="18" charset="0"/>
                        <a:cs typeface="Arial" panose="020B0604020202020204" pitchFamily="34" charset="0"/>
                      </a:rPr>
                      <m:t>𝐄</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b="1">
                        <a:latin typeface="Cambria Math" panose="02040503050406030204" pitchFamily="18" charset="0"/>
                        <a:ea typeface="Cambria Math" panose="02040503050406030204" pitchFamily="18" charset="0"/>
                        <a:cs typeface="Arial" panose="020B0604020202020204" pitchFamily="34" charset="0"/>
                      </a:rPr>
                      <m:t>𝐣</m:t>
                    </m:r>
                  </m:oMath>
                </a14:m>
                <a:endParaRPr lang="en-US" sz="2000" b="1" dirty="0">
                  <a:latin typeface="Calibri" panose="020F0502020204030204" pitchFamily="34" charset="0"/>
                  <a:ea typeface="Cambria Math" panose="02040503050406030204" pitchFamily="18" charset="0"/>
                  <a:cs typeface="Arial" panose="020B0604020202020204" pitchFamily="34" charset="0"/>
                </a:endParaRPr>
              </a:p>
              <a:p>
                <a:pPr marL="342900" indent="-342900" algn="l">
                  <a:lnSpc>
                    <a:spcPct val="100000"/>
                  </a:lnSpc>
                  <a:spcBef>
                    <a:spcPts val="0"/>
                  </a:spcBef>
                  <a:buFont typeface="Arial" panose="020B0604020202020204" pitchFamily="34" charset="0"/>
                  <a:buChar char="•"/>
                </a:pPr>
                <a:r>
                  <a:rPr lang="en-US" sz="2000" b="1" dirty="0">
                    <a:latin typeface="Calibri" panose="020F0502020204030204" pitchFamily="34" charset="0"/>
                    <a:cs typeface="Calibri" panose="020F0502020204030204" pitchFamily="34" charset="0"/>
                  </a:rPr>
                  <a:t> </a:t>
                </a:r>
                <a14:m>
                  <m:oMath xmlns:m="http://schemas.openxmlformats.org/officeDocument/2006/math">
                    <m:r>
                      <a:rPr lang="en-US" sz="2000" b="1">
                        <a:latin typeface="Cambria Math" panose="02040503050406030204" pitchFamily="18" charset="0"/>
                        <a:cs typeface="Arial" panose="020B0604020202020204" pitchFamily="34" charset="0"/>
                      </a:rPr>
                      <m:t>𝐒</m:t>
                    </m:r>
                    <m:r>
                      <a:rPr lang="en-US" sz="2000" b="1">
                        <a:latin typeface="Cambria Math" panose="02040503050406030204" pitchFamily="18" charset="0"/>
                        <a:cs typeface="Arial" panose="020B0604020202020204" pitchFamily="34" charset="0"/>
                      </a:rPr>
                      <m:t>=</m:t>
                    </m:r>
                    <m:r>
                      <a:rPr lang="en-US" sz="2000" b="1">
                        <a:latin typeface="Cambria Math" panose="02040503050406030204" pitchFamily="18" charset="0"/>
                        <a:cs typeface="Arial" panose="020B0604020202020204" pitchFamily="34" charset="0"/>
                      </a:rPr>
                      <m:t>𝐄</m:t>
                    </m:r>
                    <m:r>
                      <a:rPr lang="en-US" sz="2000" b="1" i="1">
                        <a:latin typeface="Cambria Math" panose="02040503050406030204" pitchFamily="18" charset="0"/>
                        <a:ea typeface="Cambria Math" panose="02040503050406030204" pitchFamily="18" charset="0"/>
                        <a:cs typeface="Arial" panose="020B0604020202020204" pitchFamily="34" charset="0"/>
                      </a:rPr>
                      <m:t>×</m:t>
                    </m:r>
                    <m:r>
                      <a:rPr lang="en-US" sz="2000" b="1" i="1">
                        <a:latin typeface="Cambria Math" panose="02040503050406030204" pitchFamily="18" charset="0"/>
                        <a:ea typeface="Cambria Math" panose="02040503050406030204" pitchFamily="18" charset="0"/>
                        <a:cs typeface="Arial" panose="020B0604020202020204" pitchFamily="34" charset="0"/>
                      </a:rPr>
                      <m:t>𝑯</m:t>
                    </m:r>
                  </m:oMath>
                </a14:m>
                <a:r>
                  <a:rPr lang="en-US" sz="2000" dirty="0">
                    <a:latin typeface="Calibri" panose="020F0502020204030204" pitchFamily="34" charset="0"/>
                    <a:cs typeface="Calibri" panose="020F0502020204030204" pitchFamily="34" charset="0"/>
                  </a:rPr>
                  <a:t>, </a:t>
                </a:r>
                <a14:m>
                  <m:oMath xmlns:m="http://schemas.openxmlformats.org/officeDocument/2006/math">
                    <m:r>
                      <m:rPr>
                        <m:sty m:val="p"/>
                      </m:rP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b="1">
                        <a:latin typeface="Cambria Math" panose="02040503050406030204" pitchFamily="18" charset="0"/>
                        <a:ea typeface="Cambria Math" panose="02040503050406030204" pitchFamily="18" charset="0"/>
                        <a:cs typeface="Arial" panose="020B0604020202020204" pitchFamily="34" charset="0"/>
                      </a:rPr>
                      <m:t>𝐒</m:t>
                    </m:r>
                    <m:r>
                      <a:rPr lang="en-US" sz="2000">
                        <a:latin typeface="Cambria Math" panose="02040503050406030204" pitchFamily="18" charset="0"/>
                        <a:ea typeface="Cambria Math" panose="02040503050406030204" pitchFamily="18" charset="0"/>
                        <a:cs typeface="Arial" panose="020B0604020202020204" pitchFamily="34" charset="0"/>
                      </a:rPr>
                      <m:t>+ </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𝑢</m:t>
                        </m:r>
                      </m:num>
                      <m:den>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𝑡</m:t>
                        </m:r>
                      </m:den>
                    </m:f>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b="1">
                        <a:latin typeface="Cambria Math" panose="02040503050406030204" pitchFamily="18" charset="0"/>
                        <a:ea typeface="Cambria Math" panose="02040503050406030204" pitchFamily="18" charset="0"/>
                        <a:cs typeface="Arial" panose="020B0604020202020204" pitchFamily="34" charset="0"/>
                      </a:rPr>
                      <m:t>𝐄</m:t>
                    </m:r>
                    <m:r>
                      <a:rPr lang="en-US" sz="2000" b="1">
                        <a:latin typeface="Cambria Math" panose="02040503050406030204" pitchFamily="18" charset="0"/>
                        <a:ea typeface="Cambria Math" panose="02040503050406030204" pitchFamily="18" charset="0"/>
                        <a:cs typeface="Arial" panose="020B0604020202020204" pitchFamily="34" charset="0"/>
                      </a:rPr>
                      <m:t>∙</m:t>
                    </m:r>
                    <m:r>
                      <a:rPr lang="en-US" sz="2000" b="1">
                        <a:latin typeface="Cambria Math" panose="02040503050406030204" pitchFamily="18" charset="0"/>
                        <a:ea typeface="Cambria Math" panose="02040503050406030204" pitchFamily="18" charset="0"/>
                        <a:cs typeface="Arial" panose="020B0604020202020204" pitchFamily="34" charset="0"/>
                      </a:rPr>
                      <m:t>𝐣</m:t>
                    </m:r>
                  </m:oMath>
                </a14:m>
                <a:r>
                  <a:rPr lang="en-US" sz="2000" b="1"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(u is energy density)</a:t>
                </a:r>
                <a:endParaRPr lang="en-US" sz="2000" b="1" dirty="0">
                  <a:latin typeface="Calibri" panose="020F0502020204030204" pitchFamily="34" charset="0"/>
                  <a:cs typeface="Calibri" panose="020F0502020204030204" pitchFamily="34" charset="0"/>
                </a:endParaRPr>
              </a:p>
              <a:p>
                <a:pPr marL="342900" indent="-342900" algn="l">
                  <a:lnSpc>
                    <a:spcPct val="100000"/>
                  </a:lnSpc>
                  <a:spcBef>
                    <a:spcPts val="0"/>
                  </a:spcBef>
                  <a:buFont typeface="Arial" panose="020B0604020202020204" pitchFamily="34" charset="0"/>
                  <a:buChar char="•"/>
                </a:pPr>
                <a14:m>
                  <m:oMath xmlns:m="http://schemas.openxmlformats.org/officeDocument/2006/math">
                    <m:nary>
                      <m:naryPr>
                        <m:subHide m:val="on"/>
                        <m:supHide m:val="o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naryPr>
                      <m:sub/>
                      <m:sup/>
                      <m:e>
                        <m:r>
                          <a:rPr lang="en-US" sz="2000" b="0" i="1" smtClean="0">
                            <a:latin typeface="Cambria Math" panose="02040503050406030204" pitchFamily="18" charset="0"/>
                            <a:ea typeface="Cambria Math" panose="02040503050406030204" pitchFamily="18" charset="0"/>
                            <a:cs typeface="Arial" panose="020B0604020202020204" pitchFamily="34" charset="0"/>
                          </a:rPr>
                          <m:t>𝑆</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𝑑𝐴</m:t>
                        </m:r>
                        <m:r>
                          <a:rPr lang="en-US" sz="2000" b="0" i="1" smtClean="0">
                            <a:latin typeface="Cambria Math" panose="02040503050406030204" pitchFamily="18" charset="0"/>
                            <a:ea typeface="Cambria Math" panose="02040503050406030204" pitchFamily="18" charset="0"/>
                            <a:cs typeface="Arial" panose="020B0604020202020204" pitchFamily="34" charset="0"/>
                          </a:rPr>
                          <m:t>= </m:t>
                        </m:r>
                        <m:func>
                          <m:funcPr>
                            <m:ctrlPr>
                              <a:rPr lang="en-US" sz="2000" i="1">
                                <a:latin typeface="Cambria Math" panose="02040503050406030204" pitchFamily="18" charset="0"/>
                                <a:cs typeface="Arial" panose="020B0604020202020204" pitchFamily="34" charset="0"/>
                              </a:rPr>
                            </m:ctrlPr>
                          </m:funcPr>
                          <m:fName>
                            <m:f>
                              <m:fPr>
                                <m:ctrlPr>
                                  <a:rPr lang="en-US" sz="2000" i="1">
                                    <a:latin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cs typeface="Arial" panose="020B0604020202020204" pitchFamily="34" charset="0"/>
                                      </a:rPr>
                                    </m:ctrlPr>
                                  </m:sSupPr>
                                  <m:e>
                                    <m:r>
                                      <a:rPr lang="en-US" sz="2000" i="1">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𝑙</m:t>
                                    </m:r>
                                    <m:r>
                                      <a:rPr lang="en-US" sz="2000" i="1">
                                        <a:latin typeface="Cambria Math" panose="02040503050406030204" pitchFamily="18" charset="0"/>
                                        <a:cs typeface="Arial" panose="020B0604020202020204" pitchFamily="34" charset="0"/>
                                      </a:rPr>
                                      <m:t> </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𝐼</m:t>
                                        </m:r>
                                      </m:e>
                                      <m:sub>
                                        <m:r>
                                          <a:rPr lang="en-US" sz="2000" i="1">
                                            <a:latin typeface="Cambria Math" panose="02040503050406030204" pitchFamily="18" charset="0"/>
                                            <a:cs typeface="Arial" panose="020B0604020202020204" pitchFamily="34" charset="0"/>
                                          </a:rPr>
                                          <m:t>0</m:t>
                                        </m:r>
                                      </m:sub>
                                    </m:sSub>
                                    <m:r>
                                      <a:rPr lang="en-US" sz="2000" i="1">
                                        <a:latin typeface="Cambria Math" panose="02040503050406030204" pitchFamily="18" charset="0"/>
                                        <a:cs typeface="Arial" panose="020B0604020202020204" pitchFamily="34" charset="0"/>
                                      </a:rPr>
                                      <m:t> </m:t>
                                    </m:r>
                                    <m:r>
                                      <a:rPr lang="en-US" sz="2000" i="1">
                                        <a:latin typeface="Cambria Math" panose="02040503050406030204" pitchFamily="18" charset="0"/>
                                        <a:ea typeface="Cambria Math" panose="02040503050406030204" pitchFamily="18" charset="0"/>
                                        <a:cs typeface="Arial" panose="020B0604020202020204" pitchFamily="34" charset="0"/>
                                      </a:rPr>
                                      <m:t>𝜔</m:t>
                                    </m:r>
                                    <m:r>
                                      <a:rPr lang="en-US" sz="2000" i="1">
                                        <a:latin typeface="Cambria Math" panose="02040503050406030204" pitchFamily="18" charset="0"/>
                                        <a:cs typeface="Arial" panose="020B0604020202020204" pitchFamily="34" charset="0"/>
                                      </a:rPr>
                                      <m:t>)</m:t>
                                    </m:r>
                                  </m:e>
                                  <m:sup>
                                    <m:r>
                                      <a:rPr lang="en-US" sz="2000" i="1">
                                        <a:latin typeface="Cambria Math" panose="02040503050406030204" pitchFamily="18" charset="0"/>
                                        <a:cs typeface="Arial" panose="020B0604020202020204" pitchFamily="34" charset="0"/>
                                      </a:rPr>
                                      <m:t>2</m:t>
                                    </m:r>
                                  </m:sup>
                                </m:sSup>
                              </m:num>
                              <m:den>
                                <m:r>
                                  <a:rPr lang="en-US" sz="2000" i="1">
                                    <a:latin typeface="Cambria Math" panose="02040503050406030204" pitchFamily="18" charset="0"/>
                                    <a:cs typeface="Arial" panose="020B0604020202020204" pitchFamily="34" charset="0"/>
                                  </a:rPr>
                                  <m:t>6</m:t>
                                </m:r>
                                <m:r>
                                  <a:rPr lang="en-US" sz="2000" i="1">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i="1" smtClean="0">
                                        <a:latin typeface="Cambria Math" panose="02040503050406030204" pitchFamily="18" charset="0"/>
                                        <a:ea typeface="Cambria Math" panose="02040503050406030204" pitchFamily="18" charset="0"/>
                                        <a:cs typeface="Arial" panose="020B0604020202020204" pitchFamily="34" charset="0"/>
                                      </a:rPr>
                                      <m:t>𝜖</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0</m:t>
                                    </m:r>
                                  </m:sub>
                                </m:sSub>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𝑐</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3</m:t>
                                    </m:r>
                                  </m:sup>
                                </m:sSup>
                              </m:den>
                            </m:f>
                          </m:fName>
                          <m:e>
                            <m:sSup>
                              <m:sSupPr>
                                <m:ctrlPr>
                                  <a:rPr lang="en-US" sz="2000" b="0" i="0" smtClean="0">
                                    <a:latin typeface="Cambria Math" panose="02040503050406030204" pitchFamily="18" charset="0"/>
                                    <a:cs typeface="Arial" panose="020B0604020202020204" pitchFamily="34" charset="0"/>
                                  </a:rPr>
                                </m:ctrlPr>
                              </m:sSupPr>
                              <m:e>
                                <m:r>
                                  <m:rPr>
                                    <m:sty m:val="p"/>
                                  </m:rPr>
                                  <a:rPr lang="en-US" sz="2000" b="0" i="0" smtClean="0">
                                    <a:latin typeface="Cambria Math" panose="02040503050406030204" pitchFamily="18" charset="0"/>
                                    <a:cs typeface="Arial" panose="020B0604020202020204" pitchFamily="34" charset="0"/>
                                  </a:rPr>
                                  <m:t>cos</m:t>
                                </m:r>
                                <m:r>
                                  <a:rPr lang="en-US" sz="2000" b="0" i="1" smtClean="0">
                                    <a:latin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𝜔</m:t>
                                </m:r>
                                <m:d>
                                  <m:dPr>
                                    <m:begChr m:val="["/>
                                    <m:endChr m:val="]"/>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𝑡</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𝑟</m:t>
                                        </m:r>
                                      </m:num>
                                      <m:den>
                                        <m:r>
                                          <a:rPr lang="en-US" sz="2000" i="1">
                                            <a:latin typeface="Cambria Math" panose="02040503050406030204" pitchFamily="18" charset="0"/>
                                            <a:cs typeface="Arial" panose="020B0604020202020204" pitchFamily="34" charset="0"/>
                                          </a:rPr>
                                          <m:t>𝑐</m:t>
                                        </m:r>
                                      </m:den>
                                    </m:f>
                                  </m:e>
                                </m:d>
                                <m:r>
                                  <a:rPr lang="en-US" sz="2000" b="0" i="1" smtClean="0">
                                    <a:latin typeface="Cambria Math" panose="02040503050406030204" pitchFamily="18" charset="0"/>
                                    <a:cs typeface="Arial" panose="020B0604020202020204" pitchFamily="34" charset="0"/>
                                  </a:rPr>
                                  <m:t>)</m:t>
                                </m:r>
                              </m:e>
                              <m:sup>
                                <m:r>
                                  <a:rPr lang="en-US" sz="2000" b="0" i="1" smtClean="0">
                                    <a:latin typeface="Cambria Math" panose="02040503050406030204" pitchFamily="18" charset="0"/>
                                    <a:cs typeface="Arial" panose="020B0604020202020204" pitchFamily="34" charset="0"/>
                                  </a:rPr>
                                  <m:t>2</m:t>
                                </m:r>
                              </m:sup>
                            </m:sSup>
                          </m:e>
                        </m:func>
                      </m:e>
                    </m:nary>
                  </m:oMath>
                </a14:m>
                <a:endParaRPr lang="en-US" sz="2000" dirty="0">
                  <a:latin typeface="Calibri" panose="020F0502020204030204" pitchFamily="34" charset="0"/>
                  <a:cs typeface="Calibri" panose="020F0502020204030204" pitchFamily="34" charset="0"/>
                </a:endParaRPr>
              </a:p>
              <a:p>
                <a:pPr marL="342900" indent="-342900" algn="l">
                  <a:lnSpc>
                    <a:spcPct val="100000"/>
                  </a:lnSpc>
                  <a:spcBef>
                    <a:spcPts val="0"/>
                  </a:spcBef>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𝑃</m:t>
                        </m:r>
                      </m:e>
                      <m:sub>
                        <m:r>
                          <a:rPr lang="en-US" sz="2000" b="0" i="1" smtClean="0">
                            <a:latin typeface="Cambria Math" panose="02040503050406030204" pitchFamily="18" charset="0"/>
                            <a:cs typeface="Arial" panose="020B0604020202020204" pitchFamily="34" charset="0"/>
                          </a:rPr>
                          <m:t>𝑎𝑣</m:t>
                        </m:r>
                      </m:sub>
                    </m:sSub>
                    <m:r>
                      <a:rPr lang="en-US" sz="2000" b="0" i="1" smtClean="0">
                        <a:latin typeface="Cambria Math" panose="02040503050406030204" pitchFamily="18" charset="0"/>
                        <a:cs typeface="Arial" panose="020B0604020202020204" pitchFamily="34" charset="0"/>
                      </a:rPr>
                      <m:t>=</m:t>
                    </m:r>
                    <m:func>
                      <m:funcPr>
                        <m:ctrlPr>
                          <a:rPr lang="en-US" sz="2000" i="1">
                            <a:latin typeface="Cambria Math" panose="02040503050406030204" pitchFamily="18" charset="0"/>
                            <a:cs typeface="Arial" panose="020B0604020202020204" pitchFamily="34" charset="0"/>
                          </a:rPr>
                        </m:ctrlPr>
                      </m:funcPr>
                      <m:fName>
                        <m:f>
                          <m:fPr>
                            <m:ctrlPr>
                              <a:rPr lang="en-US" sz="2000" i="1">
                                <a:latin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cs typeface="Arial" panose="020B0604020202020204" pitchFamily="34" charset="0"/>
                                  </a:rPr>
                                </m:ctrlPr>
                              </m:sSupPr>
                              <m:e>
                                <m:r>
                                  <a:rPr lang="en-US" sz="2000" i="1">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𝑙</m:t>
                                </m:r>
                                <m:r>
                                  <a:rPr lang="en-US" sz="2000" i="1">
                                    <a:latin typeface="Cambria Math" panose="02040503050406030204" pitchFamily="18" charset="0"/>
                                    <a:ea typeface="Cambria Math" panose="02040503050406030204" pitchFamily="18" charset="0"/>
                                    <a:cs typeface="Arial" panose="020B0604020202020204" pitchFamily="34" charset="0"/>
                                  </a:rPr>
                                  <m:t>𝜔</m:t>
                                </m:r>
                                <m:r>
                                  <a:rPr lang="en-US" sz="2000" i="1">
                                    <a:latin typeface="Cambria Math" panose="02040503050406030204" pitchFamily="18" charset="0"/>
                                    <a:cs typeface="Arial" panose="020B0604020202020204" pitchFamily="34" charset="0"/>
                                  </a:rPr>
                                  <m:t>)</m:t>
                                </m:r>
                              </m:e>
                              <m:sup>
                                <m:r>
                                  <a:rPr lang="en-US" sz="2000" i="1">
                                    <a:latin typeface="Cambria Math" panose="02040503050406030204" pitchFamily="18" charset="0"/>
                                    <a:cs typeface="Arial" panose="020B0604020202020204" pitchFamily="34" charset="0"/>
                                  </a:rPr>
                                  <m:t>2</m:t>
                                </m:r>
                              </m:sup>
                            </m:sSup>
                          </m:num>
                          <m:den>
                            <m:r>
                              <a:rPr lang="en-US" sz="2000" i="1">
                                <a:latin typeface="Cambria Math" panose="02040503050406030204" pitchFamily="18" charset="0"/>
                                <a:cs typeface="Arial" panose="020B0604020202020204" pitchFamily="34" charset="0"/>
                              </a:rPr>
                              <m:t>6</m:t>
                            </m:r>
                            <m:r>
                              <a:rPr lang="en-US" sz="2000" i="1">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𝜖</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𝑐</m:t>
                                </m:r>
                              </m:e>
                              <m:sup>
                                <m:r>
                                  <a:rPr lang="en-US" sz="2000" i="1">
                                    <a:latin typeface="Cambria Math" panose="02040503050406030204" pitchFamily="18" charset="0"/>
                                    <a:ea typeface="Cambria Math" panose="02040503050406030204" pitchFamily="18" charset="0"/>
                                    <a:cs typeface="Arial" panose="020B0604020202020204" pitchFamily="34" charset="0"/>
                                  </a:rPr>
                                  <m:t>3</m:t>
                                </m:r>
                              </m:sup>
                            </m:sSup>
                          </m:den>
                        </m:f>
                        <m:f>
                          <m:fPr>
                            <m:ctrlPr>
                              <a:rPr lang="en-US" sz="2000" i="1">
                                <a:latin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cs typeface="Arial" panose="020B0604020202020204" pitchFamily="34" charset="0"/>
                                  </a:rPr>
                                </m:ctrlPr>
                              </m:sSupPr>
                              <m:e>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𝐼</m:t>
                                    </m:r>
                                  </m:e>
                                  <m:sub>
                                    <m:r>
                                      <a:rPr lang="en-US" sz="2000" i="1">
                                        <a:latin typeface="Cambria Math" panose="02040503050406030204" pitchFamily="18" charset="0"/>
                                        <a:cs typeface="Arial" panose="020B0604020202020204" pitchFamily="34" charset="0"/>
                                      </a:rPr>
                                      <m:t>0</m:t>
                                    </m:r>
                                  </m:sub>
                                </m:sSub>
                              </m:e>
                              <m:sup>
                                <m:r>
                                  <a:rPr lang="en-US" sz="2000" i="1">
                                    <a:latin typeface="Cambria Math" panose="02040503050406030204" pitchFamily="18" charset="0"/>
                                    <a:cs typeface="Arial" panose="020B0604020202020204" pitchFamily="34" charset="0"/>
                                  </a:rPr>
                                  <m:t>2</m:t>
                                </m:r>
                              </m:sup>
                            </m:sSup>
                          </m:num>
                          <m:den>
                            <m:r>
                              <a:rPr lang="en-US" sz="2000" i="1">
                                <a:latin typeface="Cambria Math" panose="02040503050406030204" pitchFamily="18" charset="0"/>
                                <a:cs typeface="Arial" panose="020B0604020202020204" pitchFamily="34" charset="0"/>
                              </a:rPr>
                              <m:t>2</m:t>
                            </m:r>
                          </m:den>
                        </m:f>
                      </m:fName>
                      <m:e>
                        <m:r>
                          <a:rPr lang="en-US" sz="2000" b="0" i="1" smtClean="0">
                            <a:latin typeface="Cambria Math" panose="02040503050406030204" pitchFamily="18" charset="0"/>
                            <a:cs typeface="Arial" panose="020B0604020202020204" pitchFamily="34" charset="0"/>
                          </a:rPr>
                          <m:t>=</m:t>
                        </m:r>
                      </m:e>
                    </m:func>
                    <m:r>
                      <a:rPr lang="en-US" sz="2000" b="0" i="1" smtClean="0">
                        <a:latin typeface="Cambria Math" panose="02040503050406030204" pitchFamily="18" charset="0"/>
                        <a:cs typeface="Arial" panose="020B0604020202020204" pitchFamily="34" charset="0"/>
                      </a:rPr>
                      <m:t> </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2</m:t>
                        </m:r>
                        <m:r>
                          <a:rPr lang="en-US" sz="2000" b="0" i="1" smtClean="0">
                            <a:latin typeface="Cambria Math" panose="02040503050406030204" pitchFamily="18" charset="0"/>
                            <a:ea typeface="Cambria Math" panose="02040503050406030204" pitchFamily="18" charset="0"/>
                            <a:cs typeface="Arial" panose="020B0604020202020204" pitchFamily="34" charset="0"/>
                          </a:rPr>
                          <m:t>𝜋</m:t>
                        </m:r>
                      </m:num>
                      <m:den>
                        <m:r>
                          <a:rPr lang="en-US" sz="2000" b="0" i="1" smtClean="0">
                            <a:latin typeface="Cambria Math" panose="02040503050406030204" pitchFamily="18" charset="0"/>
                            <a:cs typeface="Arial" panose="020B0604020202020204" pitchFamily="34" charset="0"/>
                          </a:rPr>
                          <m:t>3</m:t>
                        </m:r>
                      </m:den>
                    </m:f>
                    <m:r>
                      <a:rPr lang="en-US" sz="2000" b="0" i="1" smtClean="0">
                        <a:latin typeface="Cambria Math" panose="02040503050406030204" pitchFamily="18" charset="0"/>
                        <a:cs typeface="Arial" panose="020B0604020202020204" pitchFamily="34" charset="0"/>
                      </a:rPr>
                      <m:t> </m:t>
                    </m:r>
                    <m:rad>
                      <m:radPr>
                        <m:degHide m:val="on"/>
                        <m:ctrlPr>
                          <a:rPr lang="en-US" sz="2000" b="0" i="1" smtClean="0">
                            <a:latin typeface="Cambria Math" panose="02040503050406030204" pitchFamily="18" charset="0"/>
                            <a:cs typeface="Arial" panose="020B0604020202020204" pitchFamily="34" charset="0"/>
                          </a:rPr>
                        </m:ctrlPr>
                      </m:radPr>
                      <m:deg/>
                      <m:e>
                        <m:f>
                          <m:fPr>
                            <m:ctrlPr>
                              <a:rPr lang="en-US" sz="2000" b="0" i="1" smtClean="0">
                                <a:latin typeface="Cambria Math" panose="02040503050406030204" pitchFamily="18" charset="0"/>
                                <a:cs typeface="Arial" panose="020B0604020202020204" pitchFamily="34" charset="0"/>
                              </a:rPr>
                            </m:ctrlPr>
                          </m:fPr>
                          <m:num>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latin typeface="Cambria Math" panose="02040503050406030204" pitchFamily="18" charset="0"/>
                                    <a:cs typeface="Arial" panose="020B0604020202020204" pitchFamily="34" charset="0"/>
                                  </a:rPr>
                                  <m:t>0</m:t>
                                </m:r>
                              </m:sub>
                            </m:sSub>
                          </m:num>
                          <m:den>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𝜖</m:t>
                                </m:r>
                              </m:e>
                              <m:sub>
                                <m:r>
                                  <a:rPr lang="en-US" sz="2000" b="0" i="1" smtClean="0">
                                    <a:latin typeface="Cambria Math" panose="02040503050406030204" pitchFamily="18" charset="0"/>
                                    <a:cs typeface="Arial" panose="020B0604020202020204" pitchFamily="34" charset="0"/>
                                  </a:rPr>
                                  <m:t>0</m:t>
                                </m:r>
                              </m:sub>
                            </m:sSub>
                          </m:den>
                        </m:f>
                      </m:e>
                    </m:rad>
                    <m:r>
                      <a:rPr lang="en-US" sz="2000" b="0" i="1" smtClean="0">
                        <a:latin typeface="Cambria Math" panose="02040503050406030204" pitchFamily="18" charset="0"/>
                        <a:cs typeface="Arial" panose="020B0604020202020204" pitchFamily="34" charset="0"/>
                      </a:rPr>
                      <m:t> </m:t>
                    </m:r>
                    <m:sSup>
                      <m:sSupPr>
                        <m:ctrlPr>
                          <a:rPr lang="en-US" sz="2000" b="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𝑙</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𝜆</m:t>
                            </m:r>
                          </m:den>
                        </m:f>
                        <m:r>
                          <a:rPr lang="en-US" sz="2000" b="0" i="1" smtClean="0">
                            <a:latin typeface="Cambria Math" panose="02040503050406030204" pitchFamily="18" charset="0"/>
                            <a:cs typeface="Arial" panose="020B0604020202020204" pitchFamily="34" charset="0"/>
                          </a:rPr>
                          <m:t>)</m:t>
                        </m:r>
                      </m:e>
                      <m:sup>
                        <m:r>
                          <a:rPr lang="en-US" sz="2000" b="0" i="1" smtClean="0">
                            <a:latin typeface="Cambria Math" panose="02040503050406030204" pitchFamily="18" charset="0"/>
                            <a:cs typeface="Arial" panose="020B0604020202020204" pitchFamily="34" charset="0"/>
                          </a:rPr>
                          <m:t>2</m:t>
                        </m:r>
                      </m:sup>
                    </m:sSup>
                    <m:r>
                      <a:rPr lang="en-US" sz="2000" b="0" i="1" smtClean="0">
                        <a:latin typeface="Cambria Math" panose="02040503050406030204" pitchFamily="18" charset="0"/>
                        <a:cs typeface="Arial" panose="020B0604020202020204" pitchFamily="34" charset="0"/>
                      </a:rPr>
                      <m:t> </m:t>
                    </m:r>
                    <m:f>
                      <m:fPr>
                        <m:ctrlPr>
                          <a:rPr lang="en-US" sz="2000" i="1">
                            <a:latin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cs typeface="Arial" panose="020B0604020202020204" pitchFamily="34" charset="0"/>
                              </a:rPr>
                            </m:ctrlPr>
                          </m:sSupPr>
                          <m:e>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𝐼</m:t>
                                </m:r>
                              </m:e>
                              <m:sub>
                                <m:r>
                                  <a:rPr lang="en-US" sz="2000" i="1">
                                    <a:latin typeface="Cambria Math" panose="02040503050406030204" pitchFamily="18" charset="0"/>
                                    <a:cs typeface="Arial" panose="020B0604020202020204" pitchFamily="34" charset="0"/>
                                  </a:rPr>
                                  <m:t>0</m:t>
                                </m:r>
                              </m:sub>
                            </m:sSub>
                          </m:e>
                          <m:sup>
                            <m:r>
                              <a:rPr lang="en-US" sz="2000" i="1">
                                <a:latin typeface="Cambria Math" panose="02040503050406030204" pitchFamily="18" charset="0"/>
                                <a:cs typeface="Arial" panose="020B0604020202020204" pitchFamily="34" charset="0"/>
                              </a:rPr>
                              <m:t>2</m:t>
                            </m:r>
                          </m:sup>
                        </m:sSup>
                      </m:num>
                      <m:den>
                        <m:r>
                          <a:rPr lang="en-US" sz="2000" i="1">
                            <a:latin typeface="Cambria Math" panose="02040503050406030204" pitchFamily="18" charset="0"/>
                            <a:cs typeface="Arial" panose="020B0604020202020204" pitchFamily="34" charset="0"/>
                          </a:rPr>
                          <m:t>2</m:t>
                        </m:r>
                      </m:den>
                    </m:f>
                  </m:oMath>
                </a14:m>
                <a:endParaRPr lang="en-US" sz="2000" dirty="0">
                  <a:latin typeface="Calibri" panose="020F0502020204030204" pitchFamily="34" charset="0"/>
                  <a:cs typeface="Calibri" panose="020F0502020204030204" pitchFamily="34" charset="0"/>
                </a:endParaRPr>
              </a:p>
              <a:p>
                <a:pPr marL="342900" indent="-342900" algn="l">
                  <a:lnSpc>
                    <a:spcPct val="100000"/>
                  </a:lnSpc>
                  <a:spcBef>
                    <a:spcPts val="0"/>
                  </a:spcBef>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𝑅</m:t>
                        </m:r>
                      </m:e>
                      <m:sub>
                        <m:r>
                          <a:rPr lang="en-US" sz="2000" b="0" i="1" smtClean="0">
                            <a:latin typeface="Cambria Math" panose="02040503050406030204" pitchFamily="18" charset="0"/>
                            <a:cs typeface="Arial" panose="020B0604020202020204" pitchFamily="34" charset="0"/>
                          </a:rPr>
                          <m:t>𝑟</m:t>
                        </m:r>
                      </m:sub>
                    </m:sSub>
                    <m:r>
                      <a:rPr lang="en-US" sz="2000" b="0" i="1" smtClean="0">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2</m:t>
                        </m:r>
                        <m:r>
                          <a:rPr lang="en-US" sz="2000" i="1">
                            <a:latin typeface="Cambria Math" panose="02040503050406030204" pitchFamily="18" charset="0"/>
                            <a:ea typeface="Cambria Math" panose="02040503050406030204" pitchFamily="18" charset="0"/>
                            <a:cs typeface="Arial" panose="020B0604020202020204" pitchFamily="34" charset="0"/>
                          </a:rPr>
                          <m:t>𝜋</m:t>
                        </m:r>
                      </m:num>
                      <m:den>
                        <m:r>
                          <a:rPr lang="en-US" sz="2000" i="1">
                            <a:latin typeface="Cambria Math" panose="02040503050406030204" pitchFamily="18" charset="0"/>
                            <a:cs typeface="Arial" panose="020B0604020202020204" pitchFamily="34" charset="0"/>
                          </a:rPr>
                          <m:t>3</m:t>
                        </m:r>
                      </m:den>
                    </m:f>
                    <m:r>
                      <a:rPr lang="en-US" sz="2000" i="1">
                        <a:latin typeface="Cambria Math" panose="02040503050406030204" pitchFamily="18" charset="0"/>
                        <a:cs typeface="Arial" panose="020B0604020202020204" pitchFamily="34" charset="0"/>
                      </a:rPr>
                      <m:t> </m:t>
                    </m:r>
                    <m:rad>
                      <m:radPr>
                        <m:degHide m:val="on"/>
                        <m:ctrlPr>
                          <a:rPr lang="en-US" sz="2000" i="1">
                            <a:latin typeface="Cambria Math" panose="02040503050406030204" pitchFamily="18" charset="0"/>
                            <a:cs typeface="Arial" panose="020B0604020202020204" pitchFamily="34" charset="0"/>
                          </a:rPr>
                        </m:ctrlPr>
                      </m:radPr>
                      <m:deg/>
                      <m:e>
                        <m:f>
                          <m:fPr>
                            <m:ctrlPr>
                              <a:rPr lang="en-US" sz="2000" i="1">
                                <a:latin typeface="Cambria Math" panose="02040503050406030204" pitchFamily="18" charset="0"/>
                                <a:cs typeface="Arial" panose="020B0604020202020204" pitchFamily="34" charset="0"/>
                              </a:rPr>
                            </m:ctrlPr>
                          </m:fPr>
                          <m:num>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0</m:t>
                                </m:r>
                              </m:sub>
                            </m:sSub>
                          </m:num>
                          <m:den>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𝜖</m:t>
                                </m:r>
                              </m:e>
                              <m:sub>
                                <m:r>
                                  <a:rPr lang="en-US" sz="2000" i="1">
                                    <a:latin typeface="Cambria Math" panose="02040503050406030204" pitchFamily="18" charset="0"/>
                                    <a:cs typeface="Arial" panose="020B0604020202020204" pitchFamily="34" charset="0"/>
                                  </a:rPr>
                                  <m:t>0</m:t>
                                </m:r>
                              </m:sub>
                            </m:sSub>
                          </m:den>
                        </m:f>
                      </m:e>
                    </m:rad>
                    <m:r>
                      <a:rPr lang="en-US" sz="2000" i="1">
                        <a:latin typeface="Cambria Math" panose="02040503050406030204" pitchFamily="18" charset="0"/>
                        <a:cs typeface="Arial" panose="020B0604020202020204" pitchFamily="34" charset="0"/>
                      </a:rPr>
                      <m:t> </m:t>
                    </m:r>
                    <m:sSup>
                      <m:sSupPr>
                        <m:ctrlPr>
                          <a:rPr lang="en-US" sz="2000" i="1">
                            <a:latin typeface="Cambria Math" panose="02040503050406030204" pitchFamily="18" charset="0"/>
                            <a:cs typeface="Arial" panose="020B0604020202020204" pitchFamily="34" charset="0"/>
                          </a:rPr>
                        </m:ctrlPr>
                      </m:sSupPr>
                      <m:e>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𝑙</m:t>
                            </m:r>
                          </m:num>
                          <m:den>
                            <m:r>
                              <a:rPr lang="en-US" sz="2000" i="1">
                                <a:latin typeface="Cambria Math" panose="02040503050406030204" pitchFamily="18" charset="0"/>
                                <a:ea typeface="Cambria Math" panose="02040503050406030204" pitchFamily="18" charset="0"/>
                                <a:cs typeface="Arial" panose="020B0604020202020204" pitchFamily="34" charset="0"/>
                              </a:rPr>
                              <m:t>𝜆</m:t>
                            </m:r>
                          </m:den>
                        </m:f>
                        <m:r>
                          <a:rPr lang="en-US" sz="2000" i="1">
                            <a:latin typeface="Cambria Math" panose="02040503050406030204" pitchFamily="18" charset="0"/>
                            <a:cs typeface="Arial" panose="020B0604020202020204" pitchFamily="34" charset="0"/>
                          </a:rPr>
                          <m:t>)</m:t>
                        </m:r>
                      </m:e>
                      <m:sup>
                        <m:r>
                          <a:rPr lang="en-US" sz="2000" i="1">
                            <a:latin typeface="Cambria Math" panose="02040503050406030204" pitchFamily="18" charset="0"/>
                            <a:cs typeface="Arial" panose="020B0604020202020204" pitchFamily="34" charset="0"/>
                          </a:rPr>
                          <m:t>2</m:t>
                        </m:r>
                      </m:sup>
                    </m:sSup>
                  </m:oMath>
                </a14:m>
                <a:endParaRPr lang="en-US" sz="2000" dirty="0">
                  <a:latin typeface="Calibri" panose="020F0502020204030204" pitchFamily="34" charset="0"/>
                  <a:cs typeface="Calibri" panose="020F0502020204030204" pitchFamily="34" charset="0"/>
                </a:endParaRPr>
              </a:p>
              <a:p>
                <a:pPr marL="342900" indent="-342900" algn="r">
                  <a:lnSpc>
                    <a:spcPct val="120000"/>
                  </a:lnSpc>
                  <a:spcBef>
                    <a:spcPts val="0"/>
                  </a:spcBef>
                  <a:buFont typeface="Arial" panose="020B0604020202020204" pitchFamily="34" charset="0"/>
                  <a:buChar char="•"/>
                </a:pPr>
                <a:endParaRPr lang="en-US" sz="2000" i="1" dirty="0">
                  <a:latin typeface="Cambria Math" panose="02040503050406030204" pitchFamily="18" charset="0"/>
                  <a:cs typeface="Arial" panose="020B0604020202020204" pitchFamily="34" charset="0"/>
                </a:endParaRPr>
              </a:p>
              <a:p>
                <a:pPr algn="r">
                  <a:lnSpc>
                    <a:spcPct val="120000"/>
                  </a:lnSpc>
                  <a:spcBef>
                    <a:spcPts val="0"/>
                  </a:spcBef>
                </a:pPr>
                <a:endParaRPr lang="en-US" sz="2000" dirty="0">
                  <a:latin typeface="Arial" panose="020B0604020202020204" pitchFamily="34" charset="0"/>
                  <a:cs typeface="Arial" panose="020B0604020202020204" pitchFamily="34"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82503" y="1707917"/>
                <a:ext cx="9824484" cy="4427672"/>
              </a:xfrm>
              <a:blipFill>
                <a:blip r:embed="rId2"/>
                <a:stretch>
                  <a:fillRect l="-1292" t="-287"/>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7A91E16D-0EAD-4D3D-AC22-65013F654EE2}" type="slidenum">
              <a:rPr lang="en-US" altLang="en-US" smtClean="0"/>
              <a:pPr>
                <a:defRPr/>
              </a:pPr>
              <a:t>36</a:t>
            </a:fld>
            <a:endParaRPr lang="en-US" altLang="en-US"/>
          </a:p>
        </p:txBody>
      </p:sp>
    </p:spTree>
    <p:extLst>
      <p:ext uri="{BB962C8B-B14F-4D97-AF65-F5344CB8AC3E}">
        <p14:creationId xmlns:p14="http://schemas.microsoft.com/office/powerpoint/2010/main" val="13405573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629" y="121383"/>
            <a:ext cx="11908971" cy="817955"/>
          </a:xfrm>
        </p:spPr>
        <p:txBody>
          <a:bodyPr>
            <a:normAutofit/>
          </a:bodyPr>
          <a:lstStyle/>
          <a:p>
            <a:pPr algn="ctr"/>
            <a:r>
              <a:rPr lang="en-US" sz="4400" dirty="0">
                <a:latin typeface="Calibri" panose="020F0502020204030204" pitchFamily="34" charset="0"/>
                <a:cs typeface="Calibri" panose="020F0502020204030204" pitchFamily="34" charset="0"/>
              </a:rPr>
              <a:t>Large half wave dipole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75878" y="1562968"/>
                <a:ext cx="11563722" cy="3732064"/>
              </a:xfrm>
            </p:spPr>
            <p:txBody>
              <a:bodyPr>
                <a:noAutofit/>
              </a:bodyPr>
              <a:lstStyle/>
              <a:p>
                <a:pPr marL="342900" indent="-342900" algn="l">
                  <a:lnSpc>
                    <a:spcPct val="100000"/>
                  </a:lnSpc>
                  <a:spcBef>
                    <a:spcPts val="0"/>
                  </a:spcBef>
                  <a:buFont typeface="Arial" panose="020B0604020202020204" pitchFamily="34" charset="0"/>
                  <a:buChar char="•"/>
                </a:pPr>
                <a:r>
                  <a:rPr lang="en-US" sz="2000" dirty="0">
                    <a:latin typeface="Arial" panose="020B0604020202020204" pitchFamily="34" charset="0"/>
                    <a:cs typeface="Arial" panose="020B0604020202020204" pitchFamily="34" charset="0"/>
                  </a:rPr>
                  <a:t>For large half wave, add small dipoles to produce half wave antenna.</a:t>
                </a:r>
              </a:p>
              <a:p>
                <a:pPr algn="l">
                  <a:lnSpc>
                    <a:spcPct val="100000"/>
                  </a:lnSpc>
                  <a:spcBef>
                    <a:spcPts val="0"/>
                  </a:spcBef>
                </a:pPr>
                <a:endParaRPr lang="en-US" sz="2000" dirty="0">
                  <a:latin typeface="Arial" panose="020B0604020202020204" pitchFamily="34" charset="0"/>
                  <a:cs typeface="Arial" panose="020B0604020202020204" pitchFamily="34" charset="0"/>
                </a:endParaRPr>
              </a:p>
              <a:p>
                <a:pPr marL="342900" indent="-342900" algn="l">
                  <a:lnSpc>
                    <a:spcPct val="100000"/>
                  </a:lnSpc>
                  <a:spcBef>
                    <a:spcPts val="0"/>
                  </a:spcBef>
                  <a:buFont typeface="Arial" panose="020B0604020202020204" pitchFamily="34" charset="0"/>
                  <a:buChar char="•"/>
                </a:pPr>
                <a14:m>
                  <m:oMath xmlns:m="http://schemas.openxmlformats.org/officeDocument/2006/math">
                    <m:r>
                      <a:rPr lang="en-US" sz="2000" b="0" i="1" smtClean="0">
                        <a:latin typeface="Cambria Math" panose="02040503050406030204" pitchFamily="18" charset="0"/>
                        <a:cs typeface="Arial" panose="020B0604020202020204" pitchFamily="34" charset="0"/>
                      </a:rPr>
                      <m:t>𝑑</m:t>
                    </m:r>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𝐸</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𝜃</m:t>
                        </m:r>
                      </m:sub>
                    </m:sSub>
                    <m:r>
                      <a:rPr lang="en-US" sz="2000" b="0" i="1" smtClean="0">
                        <a:latin typeface="Cambria Math" panose="02040503050406030204" pitchFamily="18" charset="0"/>
                        <a:cs typeface="Arial" panose="020B0604020202020204" pitchFamily="34" charset="0"/>
                      </a:rPr>
                      <m:t>=</m:t>
                    </m:r>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𝐼</m:t>
                        </m:r>
                      </m:e>
                      <m:sub>
                        <m:r>
                          <a:rPr lang="en-US" sz="2000" b="0" i="1" smtClean="0">
                            <a:latin typeface="Cambria Math" panose="02040503050406030204" pitchFamily="18" charset="0"/>
                            <a:cs typeface="Arial" panose="020B0604020202020204" pitchFamily="34" charset="0"/>
                          </a:rPr>
                          <m:t>0</m:t>
                        </m:r>
                      </m:sub>
                    </m:sSub>
                    <m:r>
                      <a:rPr lang="en-US" sz="2000" b="0" i="1" smtClean="0">
                        <a:latin typeface="Cambria Math" panose="02040503050406030204" pitchFamily="18" charset="0"/>
                        <a:cs typeface="Arial" panose="020B0604020202020204" pitchFamily="34" charset="0"/>
                      </a:rPr>
                      <m:t> </m:t>
                    </m:r>
                    <m:f>
                      <m:fPr>
                        <m:ctrlPr>
                          <a:rPr lang="en-US" sz="2000" b="0" i="0" smtClean="0">
                            <a:latin typeface="Cambria Math" panose="02040503050406030204" pitchFamily="18" charset="0"/>
                            <a:cs typeface="Arial" panose="020B0604020202020204" pitchFamily="34" charset="0"/>
                          </a:rPr>
                        </m:ctrlPr>
                      </m:fPr>
                      <m:num>
                        <m:r>
                          <m:rPr>
                            <m:sty m:val="p"/>
                          </m:rPr>
                          <a:rPr lang="en-US" sz="2000" b="0" i="0" smtClean="0">
                            <a:latin typeface="Cambria Math" panose="02040503050406030204" pitchFamily="18" charset="0"/>
                            <a:cs typeface="Arial" panose="020B0604020202020204" pitchFamily="34" charset="0"/>
                          </a:rPr>
                          <m:t>sin</m:t>
                        </m:r>
                        <m:r>
                          <a:rPr lang="en-US" sz="2000" b="0" i="1" smtClean="0">
                            <a:latin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𝜃</m:t>
                        </m:r>
                        <m:r>
                          <a:rPr lang="en-US" sz="2000" b="0" i="1" smtClean="0">
                            <a:latin typeface="Cambria Math" panose="02040503050406030204" pitchFamily="18" charset="0"/>
                            <a:cs typeface="Arial" panose="020B0604020202020204" pitchFamily="34" charset="0"/>
                          </a:rPr>
                          <m:t>)</m:t>
                        </m:r>
                      </m:num>
                      <m:den>
                        <m:r>
                          <a:rPr lang="en-US" sz="2000" b="0" i="1" smtClean="0">
                            <a:latin typeface="Cambria Math" panose="02040503050406030204" pitchFamily="18" charset="0"/>
                            <a:cs typeface="Arial" panose="020B0604020202020204" pitchFamily="34" charset="0"/>
                          </a:rPr>
                          <m:t>4</m:t>
                        </m:r>
                        <m:r>
                          <a:rPr lang="en-US" sz="2000" b="0" i="1" smtClean="0">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𝜖</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0</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𝑅</m:t>
                        </m:r>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𝑐</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den>
                    </m:f>
                    <m:r>
                      <a:rPr lang="en-US" sz="2000" b="0" i="1" smtClean="0">
                        <a:latin typeface="Cambria Math" panose="02040503050406030204" pitchFamily="18" charset="0"/>
                        <a:cs typeface="Arial" panose="020B0604020202020204" pitchFamily="34" charset="0"/>
                      </a:rPr>
                      <m:t> </m:t>
                    </m:r>
                    <m:r>
                      <a:rPr lang="en-US" sz="2000" b="0" i="1" smtClean="0">
                        <a:latin typeface="Cambria Math" panose="02040503050406030204" pitchFamily="18" charset="0"/>
                        <a:ea typeface="Cambria Math" panose="02040503050406030204" pitchFamily="18" charset="0"/>
                        <a:cs typeface="Arial" panose="020B0604020202020204" pitchFamily="34" charset="0"/>
                      </a:rPr>
                      <m:t>𝜔</m:t>
                    </m:r>
                    <m:func>
                      <m:funcPr>
                        <m:ctrlPr>
                          <a:rPr lang="en-US" sz="2000" b="0" i="0" smtClean="0">
                            <a:latin typeface="Cambria Math" panose="02040503050406030204" pitchFamily="18" charset="0"/>
                            <a:ea typeface="Cambria Math" panose="02040503050406030204" pitchFamily="18" charset="0"/>
                            <a:cs typeface="Arial" panose="020B0604020202020204" pitchFamily="34" charset="0"/>
                          </a:rPr>
                        </m:ctrlPr>
                      </m:funcPr>
                      <m:fName>
                        <m:r>
                          <m:rPr>
                            <m:sty m:val="p"/>
                          </m:rPr>
                          <a:rPr lang="en-US" sz="2000" b="0" i="0" smtClean="0">
                            <a:latin typeface="Cambria Math" panose="02040503050406030204" pitchFamily="18" charset="0"/>
                            <a:ea typeface="Cambria Math" panose="02040503050406030204" pitchFamily="18" charset="0"/>
                            <a:cs typeface="Arial" panose="020B0604020202020204" pitchFamily="34" charset="0"/>
                          </a:rPr>
                          <m:t>cos</m:t>
                        </m:r>
                      </m:fName>
                      <m:e>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ea typeface="Cambria Math" panose="02040503050406030204" pitchFamily="18" charset="0"/>
                                <a:cs typeface="Arial" panose="020B0604020202020204" pitchFamily="34" charset="0"/>
                              </a:rPr>
                              <m:t>𝜔</m:t>
                            </m:r>
                          </m:e>
                        </m:d>
                      </m:e>
                    </m:func>
                    <m:func>
                      <m:funcPr>
                        <m:ctrlPr>
                          <a:rPr lang="en-US" sz="2000" b="0" i="0" smtClean="0">
                            <a:latin typeface="Cambria Math" panose="02040503050406030204" pitchFamily="18" charset="0"/>
                            <a:ea typeface="Cambria Math" panose="02040503050406030204" pitchFamily="18" charset="0"/>
                            <a:cs typeface="Arial" panose="020B0604020202020204" pitchFamily="34" charset="0"/>
                          </a:rPr>
                        </m:ctrlPr>
                      </m:funcPr>
                      <m:fName>
                        <m:r>
                          <m:rPr>
                            <m:sty m:val="p"/>
                          </m:rPr>
                          <a:rPr lang="en-US" sz="2000" b="0" i="0" smtClean="0">
                            <a:latin typeface="Cambria Math" panose="02040503050406030204" pitchFamily="18" charset="0"/>
                            <a:ea typeface="Cambria Math" panose="02040503050406030204" pitchFamily="18" charset="0"/>
                            <a:cs typeface="Arial" panose="020B0604020202020204" pitchFamily="34" charset="0"/>
                          </a:rPr>
                          <m:t>cos</m:t>
                        </m:r>
                      </m:fName>
                      <m:e>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2</m:t>
                                </m:r>
                                <m:r>
                                  <a:rPr lang="en-US" sz="2000" b="0" i="1" smtClean="0">
                                    <a:latin typeface="Cambria Math" panose="02040503050406030204" pitchFamily="18" charset="0"/>
                                    <a:ea typeface="Cambria Math" panose="02040503050406030204" pitchFamily="18" charset="0"/>
                                    <a:cs typeface="Arial" panose="020B0604020202020204" pitchFamily="34" charset="0"/>
                                  </a:rPr>
                                  <m:t>𝜋</m:t>
                                </m:r>
                                <m:r>
                                  <a:rPr lang="en-US" sz="2000" b="0" i="1" smtClean="0">
                                    <a:latin typeface="Cambria Math" panose="02040503050406030204" pitchFamily="18" charset="0"/>
                                    <a:ea typeface="Cambria Math" panose="02040503050406030204" pitchFamily="18" charset="0"/>
                                    <a:cs typeface="Arial" panose="020B0604020202020204" pitchFamily="34" charset="0"/>
                                  </a:rPr>
                                  <m:t>𝑧</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𝜆</m:t>
                                </m:r>
                              </m:den>
                            </m:f>
                          </m:e>
                        </m:d>
                      </m:e>
                    </m:func>
                    <m:r>
                      <a:rPr lang="en-US" sz="2000" b="0" i="1" smtClean="0">
                        <a:latin typeface="Cambria Math" panose="02040503050406030204" pitchFamily="18" charset="0"/>
                        <a:ea typeface="Cambria Math" panose="02040503050406030204" pitchFamily="18" charset="0"/>
                        <a:cs typeface="Arial" panose="020B0604020202020204" pitchFamily="34" charset="0"/>
                      </a:rPr>
                      <m:t> </m:t>
                    </m:r>
                    <m:r>
                      <a:rPr lang="en-US" sz="2000" b="0" i="1" smtClean="0">
                        <a:latin typeface="Cambria Math" panose="02040503050406030204" pitchFamily="18" charset="0"/>
                        <a:ea typeface="Cambria Math" panose="02040503050406030204" pitchFamily="18" charset="0"/>
                        <a:cs typeface="Arial" panose="020B0604020202020204" pitchFamily="34" charset="0"/>
                      </a:rPr>
                      <m:t>𝑑𝑧</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oMath>
                </a14:m>
                <a:endParaRPr lang="en-US" sz="2000" dirty="0">
                  <a:latin typeface="Arial" panose="020B0604020202020204" pitchFamily="34" charset="0"/>
                  <a:cs typeface="Arial" panose="020B0604020202020204" pitchFamily="34" charset="0"/>
                </a:endParaRPr>
              </a:p>
              <a:p>
                <a:pPr marL="342900" indent="-342900" algn="l">
                  <a:lnSpc>
                    <a:spcPct val="100000"/>
                  </a:lnSpc>
                  <a:spcBef>
                    <a:spcPts val="0"/>
                  </a:spcBef>
                  <a:buFont typeface="Arial" panose="020B0604020202020204" pitchFamily="34" charset="0"/>
                  <a:buChar char="•"/>
                </a:pPr>
                <a14:m>
                  <m:oMath xmlns:m="http://schemas.openxmlformats.org/officeDocument/2006/math">
                    <m:r>
                      <a:rPr lang="en-US" sz="2000" i="1">
                        <a:latin typeface="Cambria Math" panose="02040503050406030204" pitchFamily="18" charset="0"/>
                        <a:cs typeface="Arial" panose="020B0604020202020204" pitchFamily="34" charset="0"/>
                      </a:rPr>
                      <m:t>𝑑</m:t>
                    </m:r>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𝐵</m:t>
                        </m:r>
                      </m:e>
                      <m:sub>
                        <m:r>
                          <a:rPr lang="en-US" sz="2000" i="1" smtClean="0">
                            <a:latin typeface="Cambria Math" panose="02040503050406030204" pitchFamily="18" charset="0"/>
                            <a:ea typeface="Cambria Math" panose="02040503050406030204" pitchFamily="18" charset="0"/>
                            <a:cs typeface="Arial" panose="020B0604020202020204" pitchFamily="34" charset="0"/>
                          </a:rPr>
                          <m:t>𝜙</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𝐼</m:t>
                        </m:r>
                      </m:e>
                      <m:sub>
                        <m:r>
                          <a:rPr lang="en-US" sz="2000" i="1">
                            <a:latin typeface="Cambria Math" panose="02040503050406030204" pitchFamily="18" charset="0"/>
                            <a:cs typeface="Arial" panose="020B0604020202020204" pitchFamily="34" charset="0"/>
                          </a:rPr>
                          <m:t>0</m:t>
                        </m:r>
                      </m:sub>
                    </m:sSub>
                    <m:r>
                      <a:rPr lang="en-US" sz="2000" i="1">
                        <a:latin typeface="Cambria Math" panose="02040503050406030204" pitchFamily="18" charset="0"/>
                        <a:cs typeface="Arial" panose="020B0604020202020204" pitchFamily="34" charset="0"/>
                      </a:rPr>
                      <m:t> </m:t>
                    </m:r>
                    <m:f>
                      <m:fPr>
                        <m:ctrlPr>
                          <a:rPr lang="en-US" sz="2000" i="1" smtClean="0">
                            <a:latin typeface="Cambria Math" panose="02040503050406030204" pitchFamily="18" charset="0"/>
                            <a:cs typeface="Arial" panose="020B0604020202020204" pitchFamily="34" charset="0"/>
                          </a:rPr>
                        </m:ctrlPr>
                      </m:fPr>
                      <m:num>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i="1" smtClean="0">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latin typeface="Cambria Math" panose="02040503050406030204" pitchFamily="18" charset="0"/>
                                <a:cs typeface="Arial" panose="020B0604020202020204" pitchFamily="34" charset="0"/>
                              </a:rPr>
                              <m:t>0</m:t>
                            </m:r>
                          </m:sub>
                        </m:sSub>
                        <m:r>
                          <a:rPr lang="en-US" sz="2000" i="1" smtClean="0">
                            <a:latin typeface="Cambria Math" panose="02040503050406030204" pitchFamily="18" charset="0"/>
                            <a:ea typeface="Cambria Math" panose="02040503050406030204" pitchFamily="18" charset="0"/>
                            <a:cs typeface="Arial" panose="020B0604020202020204" pitchFamily="34" charset="0"/>
                          </a:rPr>
                          <m:t>𝜔</m:t>
                        </m:r>
                      </m:num>
                      <m:den>
                        <m:r>
                          <a:rPr lang="en-US" sz="2000" i="1">
                            <a:latin typeface="Cambria Math" panose="02040503050406030204" pitchFamily="18" charset="0"/>
                            <a:cs typeface="Arial" panose="020B0604020202020204" pitchFamily="34" charset="0"/>
                          </a:rPr>
                          <m:t>4</m:t>
                        </m:r>
                        <m:r>
                          <a:rPr lang="en-US" sz="2000" i="1">
                            <a:latin typeface="Cambria Math" panose="02040503050406030204" pitchFamily="18" charset="0"/>
                            <a:ea typeface="Cambria Math" panose="02040503050406030204" pitchFamily="18" charset="0"/>
                            <a:cs typeface="Arial" panose="020B0604020202020204" pitchFamily="34" charset="0"/>
                          </a:rPr>
                          <m:t>𝜋</m:t>
                        </m:r>
                        <m:r>
                          <a:rPr lang="en-US" sz="2000" i="1">
                            <a:latin typeface="Cambria Math" panose="02040503050406030204" pitchFamily="18" charset="0"/>
                            <a:ea typeface="Cambria Math" panose="02040503050406030204" pitchFamily="18" charset="0"/>
                            <a:cs typeface="Arial" panose="020B0604020202020204" pitchFamily="34" charset="0"/>
                          </a:rPr>
                          <m:t>𝑅𝑐</m:t>
                        </m:r>
                      </m:den>
                    </m:f>
                    <m:r>
                      <a:rPr lang="en-US" sz="2000" i="1">
                        <a:latin typeface="Cambria Math" panose="02040503050406030204" pitchFamily="18" charset="0"/>
                        <a:cs typeface="Arial" panose="020B0604020202020204" pitchFamily="34" charset="0"/>
                      </a:rPr>
                      <m:t> </m:t>
                    </m:r>
                    <m:r>
                      <a:rPr lang="en-US" sz="2000" i="1">
                        <a:latin typeface="Cambria Math" panose="02040503050406030204" pitchFamily="18" charset="0"/>
                        <a:ea typeface="Cambria Math" panose="02040503050406030204" pitchFamily="18" charset="0"/>
                        <a:cs typeface="Arial" panose="020B0604020202020204" pitchFamily="34" charset="0"/>
                      </a:rPr>
                      <m:t>𝜔</m:t>
                    </m:r>
                    <m:func>
                      <m:funcPr>
                        <m:ctrlPr>
                          <a:rPr lang="en-US" sz="2000">
                            <a:latin typeface="Cambria Math" panose="02040503050406030204" pitchFamily="18" charset="0"/>
                            <a:ea typeface="Cambria Math" panose="02040503050406030204" pitchFamily="18" charset="0"/>
                            <a:cs typeface="Arial" panose="020B0604020202020204" pitchFamily="34" charset="0"/>
                          </a:rPr>
                        </m:ctrlPr>
                      </m:funcPr>
                      <m:fName>
                        <m:r>
                          <m:rPr>
                            <m:sty m:val="p"/>
                          </m:rPr>
                          <a:rPr lang="en-US" sz="2000">
                            <a:latin typeface="Cambria Math" panose="02040503050406030204" pitchFamily="18" charset="0"/>
                            <a:ea typeface="Cambria Math" panose="02040503050406030204" pitchFamily="18" charset="0"/>
                            <a:cs typeface="Arial" panose="020B0604020202020204" pitchFamily="34" charset="0"/>
                          </a:rPr>
                          <m:t>cos</m:t>
                        </m:r>
                      </m:fName>
                      <m:e>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r>
                              <a:rPr lang="en-US" sz="2000" i="1">
                                <a:latin typeface="Cambria Math" panose="02040503050406030204" pitchFamily="18" charset="0"/>
                                <a:ea typeface="Cambria Math" panose="02040503050406030204" pitchFamily="18" charset="0"/>
                                <a:cs typeface="Arial" panose="020B0604020202020204" pitchFamily="34" charset="0"/>
                              </a:rPr>
                              <m:t>𝜔</m:t>
                            </m:r>
                            <m:d>
                              <m:dPr>
                                <m:begChr m:val="["/>
                                <m:endChr m:val="]"/>
                                <m:ctrlPr>
                                  <a:rPr lang="en-US" sz="2000" i="1">
                                    <a:latin typeface="Cambria Math" panose="02040503050406030204" pitchFamily="18" charset="0"/>
                                    <a:ea typeface="Cambria Math" panose="02040503050406030204" pitchFamily="18" charset="0"/>
                                    <a:cs typeface="Arial" panose="020B0604020202020204" pitchFamily="34" charset="0"/>
                                  </a:rPr>
                                </m:ctrlPr>
                              </m:dPr>
                              <m:e>
                                <m:d>
                                  <m:dPr>
                                    <m:begChr m:val="["/>
                                    <m:endChr m:val="]"/>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𝑡</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𝑟</m:t>
                                        </m:r>
                                      </m:num>
                                      <m:den>
                                        <m:r>
                                          <a:rPr lang="en-US" sz="2000" i="1">
                                            <a:latin typeface="Cambria Math" panose="02040503050406030204" pitchFamily="18" charset="0"/>
                                            <a:cs typeface="Arial" panose="020B0604020202020204" pitchFamily="34" charset="0"/>
                                          </a:rPr>
                                          <m:t>𝑐</m:t>
                                        </m:r>
                                      </m:den>
                                    </m:f>
                                  </m:e>
                                </m:d>
                              </m:e>
                            </m:d>
                          </m:e>
                        </m:d>
                      </m:e>
                    </m:func>
                    <m:func>
                      <m:funcPr>
                        <m:ctrlPr>
                          <a:rPr lang="en-US" sz="2000">
                            <a:latin typeface="Cambria Math" panose="02040503050406030204" pitchFamily="18" charset="0"/>
                            <a:ea typeface="Cambria Math" panose="02040503050406030204" pitchFamily="18" charset="0"/>
                            <a:cs typeface="Arial" panose="020B0604020202020204" pitchFamily="34" charset="0"/>
                          </a:rPr>
                        </m:ctrlPr>
                      </m:funcPr>
                      <m:fName>
                        <m:r>
                          <m:rPr>
                            <m:sty m:val="p"/>
                          </m:rPr>
                          <a:rPr lang="en-US" sz="2000">
                            <a:latin typeface="Cambria Math" panose="02040503050406030204" pitchFamily="18" charset="0"/>
                            <a:ea typeface="Cambria Math" panose="02040503050406030204" pitchFamily="18" charset="0"/>
                            <a:cs typeface="Arial" panose="020B0604020202020204" pitchFamily="34" charset="0"/>
                          </a:rPr>
                          <m:t>cos</m:t>
                        </m:r>
                      </m:fName>
                      <m:e>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2</m:t>
                                </m:r>
                                <m:r>
                                  <a:rPr lang="en-US" sz="2000" i="1">
                                    <a:latin typeface="Cambria Math" panose="02040503050406030204" pitchFamily="18" charset="0"/>
                                    <a:ea typeface="Cambria Math" panose="02040503050406030204" pitchFamily="18" charset="0"/>
                                    <a:cs typeface="Arial" panose="020B0604020202020204" pitchFamily="34" charset="0"/>
                                  </a:rPr>
                                  <m:t>𝜋</m:t>
                                </m:r>
                                <m:r>
                                  <a:rPr lang="en-US" sz="2000" i="1">
                                    <a:latin typeface="Cambria Math" panose="02040503050406030204" pitchFamily="18" charset="0"/>
                                    <a:ea typeface="Cambria Math" panose="02040503050406030204" pitchFamily="18" charset="0"/>
                                    <a:cs typeface="Arial" panose="020B0604020202020204" pitchFamily="34" charset="0"/>
                                  </a:rPr>
                                  <m:t>𝑧</m:t>
                                </m:r>
                                <m:r>
                                  <a:rPr lang="en-US" sz="2000" i="1">
                                    <a:latin typeface="Cambria Math" panose="02040503050406030204" pitchFamily="18" charset="0"/>
                                    <a:ea typeface="Cambria Math" panose="02040503050406030204" pitchFamily="18" charset="0"/>
                                    <a:cs typeface="Arial" panose="020B0604020202020204" pitchFamily="34" charset="0"/>
                                  </a:rPr>
                                  <m:t>′</m:t>
                                </m:r>
                              </m:num>
                              <m:den>
                                <m:r>
                                  <a:rPr lang="en-US" sz="2000" i="1">
                                    <a:latin typeface="Cambria Math" panose="02040503050406030204" pitchFamily="18" charset="0"/>
                                    <a:ea typeface="Cambria Math" panose="02040503050406030204" pitchFamily="18" charset="0"/>
                                    <a:cs typeface="Arial" panose="020B0604020202020204" pitchFamily="34" charset="0"/>
                                  </a:rPr>
                                  <m:t>𝜆</m:t>
                                </m:r>
                              </m:den>
                            </m:f>
                          </m:e>
                        </m:d>
                      </m:e>
                    </m:func>
                    <m:r>
                      <a:rPr lang="en-US" sz="2000" i="1">
                        <a:latin typeface="Cambria Math" panose="02040503050406030204" pitchFamily="18" charset="0"/>
                        <a:ea typeface="Cambria Math" panose="02040503050406030204" pitchFamily="18" charset="0"/>
                        <a:cs typeface="Arial" panose="020B0604020202020204" pitchFamily="34" charset="0"/>
                      </a:rPr>
                      <m:t> </m:t>
                    </m:r>
                    <m:r>
                      <a:rPr lang="en-US" sz="2000" i="1">
                        <a:latin typeface="Cambria Math" panose="02040503050406030204" pitchFamily="18" charset="0"/>
                        <a:ea typeface="Cambria Math" panose="02040503050406030204" pitchFamily="18" charset="0"/>
                        <a:cs typeface="Arial" panose="020B0604020202020204" pitchFamily="34" charset="0"/>
                      </a:rPr>
                      <m:t>𝑑𝑧</m:t>
                    </m:r>
                    <m:r>
                      <a:rPr lang="en-US" sz="2000" i="1">
                        <a:latin typeface="Cambria Math" panose="02040503050406030204" pitchFamily="18" charset="0"/>
                        <a:ea typeface="Cambria Math" panose="02040503050406030204" pitchFamily="18" charset="0"/>
                        <a:cs typeface="Arial" panose="020B0604020202020204" pitchFamily="34" charset="0"/>
                      </a:rPr>
                      <m:t>′</m:t>
                    </m:r>
                  </m:oMath>
                </a14:m>
                <a:endParaRPr lang="en-US" sz="2000" dirty="0">
                  <a:latin typeface="Arial" panose="020B0604020202020204" pitchFamily="34" charset="0"/>
                  <a:cs typeface="Arial" panose="020B0604020202020204" pitchFamily="34" charset="0"/>
                </a:endParaRPr>
              </a:p>
              <a:p>
                <a:pPr marL="342900" indent="-342900" algn="l">
                  <a:lnSpc>
                    <a:spcPct val="100000"/>
                  </a:lnSpc>
                  <a:spcBef>
                    <a:spcPts val="0"/>
                  </a:spcBef>
                  <a:buFont typeface="Arial" panose="020B0604020202020204" pitchFamily="34" charset="0"/>
                  <a:buChar char="•"/>
                </a:pPr>
                <a:r>
                  <a:rPr lang="en-US" sz="2000" b="0" dirty="0">
                    <a:cs typeface="Arial" panose="020B0604020202020204" pitchFamily="34" charset="0"/>
                  </a:rPr>
                  <a:t>Suffices to find: </a:t>
                </a:r>
                <a14:m>
                  <m:oMath xmlns:m="http://schemas.openxmlformats.org/officeDocument/2006/math">
                    <m:r>
                      <a:rPr lang="en-US" sz="2000" b="0" i="1" smtClean="0">
                        <a:latin typeface="Cambria Math" panose="02040503050406030204" pitchFamily="18" charset="0"/>
                        <a:cs typeface="Arial" panose="020B0604020202020204" pitchFamily="34" charset="0"/>
                      </a:rPr>
                      <m:t>𝐾</m:t>
                    </m:r>
                    <m:r>
                      <a:rPr lang="en-US" sz="2000" b="0" i="1" smtClean="0">
                        <a:latin typeface="Cambria Math" panose="02040503050406030204" pitchFamily="18" charset="0"/>
                        <a:cs typeface="Arial" panose="020B0604020202020204" pitchFamily="34" charset="0"/>
                      </a:rPr>
                      <m:t>= </m:t>
                    </m:r>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m:t>
                        </m:r>
                      </m:e>
                      <m:sub>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𝜋</m:t>
                            </m:r>
                          </m:num>
                          <m:den>
                            <m:r>
                              <a:rPr lang="en-US" sz="2000" b="0" i="1" smtClean="0">
                                <a:latin typeface="Cambria Math" panose="02040503050406030204" pitchFamily="18" charset="0"/>
                                <a:cs typeface="Arial" panose="020B0604020202020204" pitchFamily="34" charset="0"/>
                              </a:rPr>
                              <m:t>2</m:t>
                            </m:r>
                          </m:den>
                        </m:f>
                        <m:r>
                          <a:rPr lang="en-US" sz="2000" b="0" i="1" smtClean="0">
                            <a:latin typeface="Cambria Math" panose="02040503050406030204" pitchFamily="18" charset="0"/>
                            <a:cs typeface="Arial" panose="020B0604020202020204" pitchFamily="34" charset="0"/>
                          </a:rPr>
                          <m:t>,</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𝜋</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 </m:t>
                            </m:r>
                            <m:r>
                              <a:rPr lang="en-US" sz="2000" i="1">
                                <a:latin typeface="Cambria Math" panose="02040503050406030204" pitchFamily="18" charset="0"/>
                                <a:cs typeface="Arial" panose="020B0604020202020204" pitchFamily="34" charset="0"/>
                              </a:rPr>
                              <m:t>2</m:t>
                            </m:r>
                          </m:den>
                        </m:f>
                        <m:r>
                          <a:rPr lang="en-US" sz="2000" b="0" i="1" smtClean="0">
                            <a:latin typeface="Cambria Math" panose="02040503050406030204" pitchFamily="18" charset="0"/>
                            <a:cs typeface="Arial" panose="020B0604020202020204" pitchFamily="34" charset="0"/>
                          </a:rPr>
                          <m:t>]</m:t>
                        </m:r>
                      </m:sub>
                    </m:sSub>
                    <m:r>
                      <a:rPr lang="en-US" sz="2000" b="0" i="1" smtClean="0">
                        <a:latin typeface="Cambria Math" panose="02040503050406030204" pitchFamily="18" charset="0"/>
                        <a:cs typeface="Arial" panose="020B0604020202020204" pitchFamily="34" charset="0"/>
                      </a:rPr>
                      <m:t> </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1</m:t>
                        </m:r>
                      </m:num>
                      <m:den>
                        <m:r>
                          <a:rPr lang="en-US" sz="2000" b="0" i="1" smtClean="0">
                            <a:latin typeface="Cambria Math" panose="02040503050406030204" pitchFamily="18" charset="0"/>
                            <a:cs typeface="Arial" panose="020B0604020202020204" pitchFamily="34" charset="0"/>
                          </a:rPr>
                          <m:t>𝑅</m:t>
                        </m:r>
                      </m:den>
                    </m:f>
                    <m:func>
                      <m:funcPr>
                        <m:ctrlPr>
                          <a:rPr lang="en-US" sz="2000" b="0" i="0" smtClean="0">
                            <a:latin typeface="Cambria Math" panose="02040503050406030204" pitchFamily="18" charset="0"/>
                            <a:cs typeface="Arial" panose="020B0604020202020204" pitchFamily="34" charset="0"/>
                          </a:rPr>
                        </m:ctrlPr>
                      </m:funcPr>
                      <m:fName>
                        <m:r>
                          <m:rPr>
                            <m:sty m:val="p"/>
                          </m:rPr>
                          <a:rPr lang="en-US" sz="2000" b="0" i="0" smtClean="0">
                            <a:latin typeface="Cambria Math" panose="02040503050406030204" pitchFamily="18" charset="0"/>
                            <a:cs typeface="Arial" panose="020B0604020202020204" pitchFamily="34" charset="0"/>
                          </a:rPr>
                          <m:t>cos</m:t>
                        </m:r>
                      </m:fName>
                      <m:e>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𝑡</m:t>
                            </m:r>
                            <m:r>
                              <a:rPr lang="en-US" sz="2000" b="0" i="1" smtClean="0">
                                <a:latin typeface="Cambria Math" panose="02040503050406030204" pitchFamily="18" charset="0"/>
                                <a:cs typeface="Arial" panose="020B0604020202020204" pitchFamily="34" charset="0"/>
                              </a:rPr>
                              <m:t> − </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𝑅</m:t>
                                </m:r>
                              </m:num>
                              <m:den>
                                <m:r>
                                  <a:rPr lang="en-US" sz="2000" b="0" i="1" smtClean="0">
                                    <a:latin typeface="Cambria Math" panose="02040503050406030204" pitchFamily="18" charset="0"/>
                                    <a:cs typeface="Arial" panose="020B0604020202020204" pitchFamily="34" charset="0"/>
                                  </a:rPr>
                                  <m:t>𝑐</m:t>
                                </m:r>
                              </m:den>
                            </m:f>
                          </m:e>
                        </m:d>
                      </m:e>
                    </m:func>
                    <m:func>
                      <m:funcPr>
                        <m:ctrlPr>
                          <a:rPr lang="en-US" sz="2000" b="0" i="0" smtClean="0">
                            <a:latin typeface="Cambria Math" panose="02040503050406030204" pitchFamily="18" charset="0"/>
                            <a:cs typeface="Arial" panose="020B0604020202020204" pitchFamily="34" charset="0"/>
                          </a:rPr>
                        </m:ctrlPr>
                      </m:funcPr>
                      <m:fName>
                        <m:r>
                          <m:rPr>
                            <m:sty m:val="p"/>
                          </m:rPr>
                          <a:rPr lang="en-US" sz="2000" b="0" i="0" smtClean="0">
                            <a:latin typeface="Cambria Math" panose="02040503050406030204" pitchFamily="18" charset="0"/>
                            <a:cs typeface="Arial" panose="020B0604020202020204" pitchFamily="34" charset="0"/>
                          </a:rPr>
                          <m:t>cos</m:t>
                        </m:r>
                      </m:fName>
                      <m:e>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𝑢</m:t>
                            </m:r>
                          </m:e>
                        </m:d>
                      </m:e>
                    </m:func>
                    <m:r>
                      <a:rPr lang="en-US" sz="2000" b="0" i="1" smtClean="0">
                        <a:latin typeface="Cambria Math" panose="02040503050406030204" pitchFamily="18" charset="0"/>
                        <a:cs typeface="Arial" panose="020B0604020202020204" pitchFamily="34" charset="0"/>
                      </a:rPr>
                      <m:t>𝑑𝑢</m:t>
                    </m:r>
                    <m:r>
                      <a:rPr lang="en-US" sz="2000" b="0" i="1" smtClean="0">
                        <a:latin typeface="Cambria Math" panose="02040503050406030204" pitchFamily="18" charset="0"/>
                        <a:cs typeface="Arial" panose="020B0604020202020204" pitchFamily="34" charset="0"/>
                      </a:rPr>
                      <m:t>= </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1</m:t>
                        </m:r>
                      </m:num>
                      <m:den>
                        <m:r>
                          <a:rPr lang="en-US" sz="2000" b="0" i="1" smtClean="0">
                            <a:latin typeface="Cambria Math" panose="02040503050406030204" pitchFamily="18" charset="0"/>
                            <a:cs typeface="Arial" panose="020B0604020202020204" pitchFamily="34" charset="0"/>
                          </a:rPr>
                          <m:t>2</m:t>
                        </m:r>
                        <m:r>
                          <a:rPr lang="en-US" sz="2000" b="0" i="1" smtClean="0">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𝜖</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0</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𝑟𝑐</m:t>
                        </m:r>
                      </m:den>
                    </m:f>
                    <m:func>
                      <m:funcPr>
                        <m:ctrlPr>
                          <a:rPr lang="en-US" sz="2000" b="0" i="0" smtClean="0">
                            <a:latin typeface="Cambria Math" panose="02040503050406030204" pitchFamily="18" charset="0"/>
                            <a:cs typeface="Arial" panose="020B0604020202020204" pitchFamily="34" charset="0"/>
                          </a:rPr>
                        </m:ctrlPr>
                      </m:funcPr>
                      <m:fName>
                        <m:r>
                          <m:rPr>
                            <m:sty m:val="p"/>
                          </m:rPr>
                          <a:rPr lang="en-US" sz="2000" b="0" i="0" smtClean="0">
                            <a:latin typeface="Cambria Math" panose="02040503050406030204" pitchFamily="18" charset="0"/>
                            <a:cs typeface="Arial" panose="020B0604020202020204" pitchFamily="34" charset="0"/>
                          </a:rPr>
                          <m:t>cos</m:t>
                        </m:r>
                      </m:fName>
                      <m:e>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ea typeface="Cambria Math" panose="02040503050406030204" pitchFamily="18" charset="0"/>
                                <a:cs typeface="Arial" panose="020B0604020202020204" pitchFamily="34" charset="0"/>
                              </a:rPr>
                              <m:t>𝜔</m:t>
                            </m:r>
                            <m:d>
                              <m:dPr>
                                <m:begChr m:val="["/>
                                <m:endChr m:val="]"/>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𝑡</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𝑟</m:t>
                                    </m:r>
                                  </m:num>
                                  <m:den>
                                    <m:r>
                                      <a:rPr lang="en-US" sz="2000" i="1">
                                        <a:latin typeface="Cambria Math" panose="02040503050406030204" pitchFamily="18" charset="0"/>
                                        <a:cs typeface="Arial" panose="020B0604020202020204" pitchFamily="34" charset="0"/>
                                      </a:rPr>
                                      <m:t>𝑐</m:t>
                                    </m:r>
                                  </m:den>
                                </m:f>
                              </m:e>
                            </m:d>
                          </m:e>
                        </m:d>
                      </m:e>
                    </m:func>
                    <m:f>
                      <m:fPr>
                        <m:ctrlPr>
                          <a:rPr lang="en-US" sz="2000" b="0" i="1" smtClean="0">
                            <a:latin typeface="Cambria Math" panose="02040503050406030204" pitchFamily="18" charset="0"/>
                            <a:cs typeface="Arial" panose="020B0604020202020204" pitchFamily="34" charset="0"/>
                          </a:rPr>
                        </m:ctrlPr>
                      </m:fPr>
                      <m:num>
                        <m:func>
                          <m:funcPr>
                            <m:ctrlPr>
                              <a:rPr lang="en-US" sz="2000" b="0" i="0" smtClean="0">
                                <a:latin typeface="Cambria Math" panose="02040503050406030204" pitchFamily="18" charset="0"/>
                                <a:cs typeface="Arial" panose="020B0604020202020204" pitchFamily="34" charset="0"/>
                              </a:rPr>
                            </m:ctrlPr>
                          </m:funcPr>
                          <m:fName>
                            <m:r>
                              <m:rPr>
                                <m:sty m:val="p"/>
                              </m:rPr>
                              <a:rPr lang="en-US" sz="2000" b="0" i="0" smtClean="0">
                                <a:latin typeface="Cambria Math" panose="02040503050406030204" pitchFamily="18" charset="0"/>
                                <a:cs typeface="Arial" panose="020B0604020202020204" pitchFamily="34" charset="0"/>
                              </a:rPr>
                              <m:t>cos</m:t>
                            </m:r>
                          </m:fName>
                          <m:e>
                            <m:d>
                              <m:dPr>
                                <m:ctrlPr>
                                  <a:rPr lang="en-US" sz="2000" b="0" i="1" smtClean="0">
                                    <a:latin typeface="Cambria Math" panose="02040503050406030204" pitchFamily="18" charset="0"/>
                                    <a:cs typeface="Arial" panose="020B0604020202020204" pitchFamily="34" charset="0"/>
                                  </a:rPr>
                                </m:ctrlPr>
                              </m:dPr>
                              <m:e>
                                <m:func>
                                  <m:funcPr>
                                    <m:ctrlPr>
                                      <a:rPr lang="en-US" sz="2000" b="0" i="1" smtClean="0">
                                        <a:latin typeface="Cambria Math" panose="02040503050406030204" pitchFamily="18" charset="0"/>
                                        <a:cs typeface="Arial" panose="020B0604020202020204" pitchFamily="34" charset="0"/>
                                      </a:rPr>
                                    </m:ctrlPr>
                                  </m:funcPr>
                                  <m:fName>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𝜋</m:t>
                                        </m:r>
                                      </m:num>
                                      <m:den>
                                        <m:r>
                                          <a:rPr lang="en-US" sz="2000" b="0" i="1" smtClean="0">
                                            <a:latin typeface="Cambria Math" panose="02040503050406030204" pitchFamily="18" charset="0"/>
                                            <a:cs typeface="Arial" panose="020B0604020202020204" pitchFamily="34" charset="0"/>
                                          </a:rPr>
                                          <m:t>2</m:t>
                                        </m:r>
                                      </m:den>
                                    </m:f>
                                    <m:r>
                                      <m:rPr>
                                        <m:sty m:val="p"/>
                                      </m:rPr>
                                      <a:rPr lang="en-US" sz="2000" b="0" i="0" smtClean="0">
                                        <a:latin typeface="Cambria Math" panose="02040503050406030204" pitchFamily="18" charset="0"/>
                                        <a:cs typeface="Arial" panose="020B0604020202020204" pitchFamily="34" charset="0"/>
                                      </a:rPr>
                                      <m:t>cos</m:t>
                                    </m:r>
                                  </m:fName>
                                  <m:e>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ea typeface="Cambria Math" panose="02040503050406030204" pitchFamily="18" charset="0"/>
                                            <a:cs typeface="Arial" panose="020B0604020202020204" pitchFamily="34" charset="0"/>
                                          </a:rPr>
                                          <m:t>𝜃</m:t>
                                        </m:r>
                                      </m:e>
                                    </m:d>
                                  </m:e>
                                </m:func>
                              </m:e>
                            </m:d>
                          </m:e>
                        </m:func>
                      </m:num>
                      <m:den>
                        <m:sSup>
                          <m:sSupPr>
                            <m:ctrlPr>
                              <a:rPr lang="en-US" sz="2000" b="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𝑠𝑖𝑛</m:t>
                            </m:r>
                          </m:e>
                          <m:sup>
                            <m:r>
                              <a:rPr lang="en-US" sz="2000" b="0" i="1" smtClean="0">
                                <a:latin typeface="Cambria Math" panose="02040503050406030204" pitchFamily="18" charset="0"/>
                                <a:cs typeface="Arial" panose="020B0604020202020204" pitchFamily="34" charset="0"/>
                              </a:rPr>
                              <m:t>2</m:t>
                            </m:r>
                          </m:sup>
                        </m:sSup>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𝜃</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den>
                    </m:f>
                    <m:r>
                      <a:rPr lang="en-US" sz="2000" b="0" i="1" smtClean="0">
                        <a:latin typeface="Cambria Math" panose="02040503050406030204" pitchFamily="18" charset="0"/>
                        <a:cs typeface="Arial" panose="020B0604020202020204" pitchFamily="34" charset="0"/>
                      </a:rPr>
                      <m:t>, </m:t>
                    </m:r>
                    <m:r>
                      <a:rPr lang="en-US" sz="2000" b="0" i="1" smtClean="0">
                        <a:latin typeface="Cambria Math" panose="02040503050406030204" pitchFamily="18" charset="0"/>
                        <a:cs typeface="Arial" panose="020B0604020202020204" pitchFamily="34" charset="0"/>
                      </a:rPr>
                      <m:t>𝑢</m:t>
                    </m:r>
                    <m:r>
                      <a:rPr lang="en-US" sz="2000" b="0" i="1" smtClean="0">
                        <a:latin typeface="Cambria Math" panose="02040503050406030204" pitchFamily="18" charset="0"/>
                        <a:cs typeface="Arial" panose="020B0604020202020204" pitchFamily="34" charset="0"/>
                      </a:rPr>
                      <m:t>= </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2</m:t>
                        </m:r>
                        <m:r>
                          <a:rPr lang="en-US" sz="2000" b="0" i="1" smtClean="0">
                            <a:latin typeface="Cambria Math" panose="02040503050406030204" pitchFamily="18" charset="0"/>
                            <a:ea typeface="Cambria Math" panose="02040503050406030204" pitchFamily="18" charset="0"/>
                            <a:cs typeface="Arial" panose="020B0604020202020204" pitchFamily="34" charset="0"/>
                          </a:rPr>
                          <m:t>𝜋</m:t>
                        </m:r>
                        <m:r>
                          <a:rPr lang="en-US" sz="2000" b="0" i="1" smtClean="0">
                            <a:latin typeface="Cambria Math" panose="02040503050406030204" pitchFamily="18" charset="0"/>
                            <a:ea typeface="Cambria Math" panose="02040503050406030204" pitchFamily="18" charset="0"/>
                            <a:cs typeface="Arial" panose="020B0604020202020204" pitchFamily="34" charset="0"/>
                          </a:rPr>
                          <m:t>𝑧</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𝜆</m:t>
                        </m:r>
                      </m:den>
                    </m:f>
                  </m:oMath>
                </a14:m>
                <a:endParaRPr lang="en-US" sz="2000" dirty="0">
                  <a:latin typeface="Arial" panose="020B0604020202020204" pitchFamily="34" charset="0"/>
                  <a:cs typeface="Arial" panose="020B0604020202020204" pitchFamily="34" charset="0"/>
                </a:endParaRPr>
              </a:p>
              <a:p>
                <a:pPr marL="342900" indent="-342900" algn="l">
                  <a:lnSpc>
                    <a:spcPct val="100000"/>
                  </a:lnSpc>
                  <a:spcBef>
                    <a:spcPts val="0"/>
                  </a:spcBef>
                  <a:buFont typeface="Arial" panose="020B0604020202020204" pitchFamily="34" charset="0"/>
                  <a:buChar char="•"/>
                </a:pP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𝐸</m:t>
                        </m:r>
                      </m:e>
                      <m:sub>
                        <m:r>
                          <a:rPr lang="en-US" sz="2000" i="1">
                            <a:latin typeface="Cambria Math" panose="02040503050406030204" pitchFamily="18" charset="0"/>
                            <a:ea typeface="Cambria Math" panose="02040503050406030204" pitchFamily="18" charset="0"/>
                            <a:cs typeface="Arial" panose="020B0604020202020204" pitchFamily="34" charset="0"/>
                          </a:rPr>
                          <m:t>𝜃</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𝐼</m:t>
                        </m:r>
                      </m:e>
                      <m:sub>
                        <m:r>
                          <a:rPr lang="en-US" sz="2000" i="1">
                            <a:latin typeface="Cambria Math" panose="02040503050406030204" pitchFamily="18" charset="0"/>
                            <a:cs typeface="Arial" panose="020B0604020202020204" pitchFamily="34" charset="0"/>
                          </a:rPr>
                          <m:t>0</m:t>
                        </m:r>
                      </m:sub>
                    </m:sSub>
                    <m:r>
                      <a:rPr lang="en-US" sz="2000" i="1">
                        <a:latin typeface="Cambria Math" panose="02040503050406030204" pitchFamily="18" charset="0"/>
                        <a:cs typeface="Arial" panose="020B0604020202020204" pitchFamily="34" charset="0"/>
                      </a:rPr>
                      <m:t> </m:t>
                    </m:r>
                    <m:f>
                      <m:fPr>
                        <m:ctrlPr>
                          <a:rPr lang="en-US" sz="2000" b="0" i="0" smtClean="0">
                            <a:latin typeface="Cambria Math" panose="02040503050406030204" pitchFamily="18" charset="0"/>
                            <a:cs typeface="Arial" panose="020B0604020202020204" pitchFamily="34" charset="0"/>
                          </a:rPr>
                        </m:ctrlPr>
                      </m:fPr>
                      <m:num>
                        <m:r>
                          <a:rPr lang="en-US" sz="2000" b="0" i="0" smtClean="0">
                            <a:latin typeface="Cambria Math" panose="02040503050406030204" pitchFamily="18" charset="0"/>
                            <a:cs typeface="Arial" panose="020B0604020202020204" pitchFamily="34" charset="0"/>
                          </a:rPr>
                          <m:t>1</m:t>
                        </m:r>
                      </m:num>
                      <m:den>
                        <m:r>
                          <a:rPr lang="en-US" sz="2000" b="0" i="1" smtClean="0">
                            <a:latin typeface="Cambria Math" panose="02040503050406030204" pitchFamily="18" charset="0"/>
                            <a:cs typeface="Arial" panose="020B0604020202020204" pitchFamily="34" charset="0"/>
                          </a:rPr>
                          <m:t>2</m:t>
                        </m:r>
                        <m:r>
                          <a:rPr lang="en-US" sz="2000" i="1">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𝜖</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𝑟𝑐</m:t>
                        </m:r>
                      </m:den>
                    </m:f>
                    <m:r>
                      <a:rPr lang="en-US" sz="2000" i="1">
                        <a:latin typeface="Cambria Math" panose="02040503050406030204" pitchFamily="18" charset="0"/>
                        <a:cs typeface="Arial" panose="020B0604020202020204" pitchFamily="34" charset="0"/>
                      </a:rPr>
                      <m:t> </m:t>
                    </m:r>
                    <m:func>
                      <m:funcPr>
                        <m:ctrlPr>
                          <a:rPr lang="en-US" sz="2000">
                            <a:latin typeface="Cambria Math" panose="02040503050406030204" pitchFamily="18" charset="0"/>
                            <a:ea typeface="Cambria Math" panose="02040503050406030204" pitchFamily="18" charset="0"/>
                            <a:cs typeface="Arial" panose="020B0604020202020204" pitchFamily="34" charset="0"/>
                          </a:rPr>
                        </m:ctrlPr>
                      </m:funcPr>
                      <m:fName>
                        <m:r>
                          <m:rPr>
                            <m:sty m:val="p"/>
                          </m:rPr>
                          <a:rPr lang="en-US" sz="2000">
                            <a:latin typeface="Cambria Math" panose="02040503050406030204" pitchFamily="18" charset="0"/>
                            <a:ea typeface="Cambria Math" panose="02040503050406030204" pitchFamily="18" charset="0"/>
                            <a:cs typeface="Arial" panose="020B0604020202020204" pitchFamily="34" charset="0"/>
                          </a:rPr>
                          <m:t>cos</m:t>
                        </m:r>
                      </m:fName>
                      <m:e>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r>
                              <a:rPr lang="en-US" sz="2000" i="1">
                                <a:latin typeface="Cambria Math" panose="02040503050406030204" pitchFamily="18" charset="0"/>
                                <a:ea typeface="Cambria Math" panose="02040503050406030204" pitchFamily="18" charset="0"/>
                                <a:cs typeface="Arial" panose="020B0604020202020204" pitchFamily="34" charset="0"/>
                              </a:rPr>
                              <m:t>𝜔</m:t>
                            </m:r>
                            <m:d>
                              <m:dPr>
                                <m:begChr m:val="["/>
                                <m:endChr m:val="]"/>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𝑡</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𝑟</m:t>
                                    </m:r>
                                  </m:num>
                                  <m:den>
                                    <m:r>
                                      <a:rPr lang="en-US" sz="2000" i="1">
                                        <a:latin typeface="Cambria Math" panose="02040503050406030204" pitchFamily="18" charset="0"/>
                                        <a:cs typeface="Arial" panose="020B0604020202020204" pitchFamily="34" charset="0"/>
                                      </a:rPr>
                                      <m:t>𝑐</m:t>
                                    </m:r>
                                  </m:den>
                                </m:f>
                              </m:e>
                            </m:d>
                          </m:e>
                        </m:d>
                      </m:e>
                    </m:func>
                  </m:oMath>
                </a14:m>
                <a:r>
                  <a:rPr lang="en-US" sz="2000" dirty="0">
                    <a:cs typeface="Arial" panose="020B0604020202020204" pitchFamily="34" charset="0"/>
                  </a:rPr>
                  <a:t> </a:t>
                </a:r>
                <a14:m>
                  <m:oMath xmlns:m="http://schemas.openxmlformats.org/officeDocument/2006/math">
                    <m:f>
                      <m:fPr>
                        <m:ctrlPr>
                          <a:rPr lang="en-US" sz="2000" i="1">
                            <a:latin typeface="Cambria Math" panose="02040503050406030204" pitchFamily="18" charset="0"/>
                            <a:cs typeface="Arial" panose="020B0604020202020204" pitchFamily="34" charset="0"/>
                          </a:rPr>
                        </m:ctrlPr>
                      </m:fPr>
                      <m:num>
                        <m:func>
                          <m:funcPr>
                            <m:ctrlPr>
                              <a:rPr lang="en-US" sz="2000">
                                <a:latin typeface="Cambria Math" panose="02040503050406030204" pitchFamily="18" charset="0"/>
                                <a:cs typeface="Arial" panose="020B0604020202020204" pitchFamily="34" charset="0"/>
                              </a:rPr>
                            </m:ctrlPr>
                          </m:funcPr>
                          <m:fName>
                            <m:r>
                              <m:rPr>
                                <m:sty m:val="p"/>
                              </m:rPr>
                              <a:rPr lang="en-US" sz="2000">
                                <a:latin typeface="Cambria Math" panose="02040503050406030204" pitchFamily="18" charset="0"/>
                                <a:cs typeface="Arial" panose="020B0604020202020204" pitchFamily="34" charset="0"/>
                              </a:rPr>
                              <m:t>cos</m:t>
                            </m:r>
                          </m:fName>
                          <m:e>
                            <m:d>
                              <m:dPr>
                                <m:ctrlPr>
                                  <a:rPr lang="en-US" sz="2000" i="1">
                                    <a:latin typeface="Cambria Math" panose="02040503050406030204" pitchFamily="18" charset="0"/>
                                    <a:cs typeface="Arial" panose="020B0604020202020204" pitchFamily="34" charset="0"/>
                                  </a:rPr>
                                </m:ctrlPr>
                              </m:dPr>
                              <m:e>
                                <m:func>
                                  <m:funcPr>
                                    <m:ctrlPr>
                                      <a:rPr lang="en-US" sz="2000" i="1">
                                        <a:latin typeface="Cambria Math" panose="02040503050406030204" pitchFamily="18" charset="0"/>
                                        <a:cs typeface="Arial" panose="020B0604020202020204" pitchFamily="34" charset="0"/>
                                      </a:rPr>
                                    </m:ctrlPr>
                                  </m:funcPr>
                                  <m:fName>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𝜋</m:t>
                                        </m:r>
                                      </m:num>
                                      <m:den>
                                        <m:r>
                                          <a:rPr lang="en-US" sz="2000" i="1">
                                            <a:latin typeface="Cambria Math" panose="02040503050406030204" pitchFamily="18" charset="0"/>
                                            <a:cs typeface="Arial" panose="020B0604020202020204" pitchFamily="34" charset="0"/>
                                          </a:rPr>
                                          <m:t>2</m:t>
                                        </m:r>
                                      </m:den>
                                    </m:f>
                                    <m:r>
                                      <m:rPr>
                                        <m:sty m:val="p"/>
                                      </m:rPr>
                                      <a:rPr lang="en-US" sz="2000">
                                        <a:latin typeface="Cambria Math" panose="02040503050406030204" pitchFamily="18" charset="0"/>
                                        <a:cs typeface="Arial" panose="020B0604020202020204" pitchFamily="34" charset="0"/>
                                      </a:rPr>
                                      <m:t>cos</m:t>
                                    </m:r>
                                  </m:fName>
                                  <m:e>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r>
                                          <a:rPr lang="en-US" sz="2000" i="1">
                                            <a:latin typeface="Cambria Math" panose="02040503050406030204" pitchFamily="18" charset="0"/>
                                            <a:ea typeface="Cambria Math" panose="02040503050406030204" pitchFamily="18" charset="0"/>
                                            <a:cs typeface="Arial" panose="020B0604020202020204" pitchFamily="34" charset="0"/>
                                          </a:rPr>
                                          <m:t>𝜃</m:t>
                                        </m:r>
                                      </m:e>
                                    </m:d>
                                  </m:e>
                                </m:func>
                              </m:e>
                            </m:d>
                          </m:e>
                        </m:func>
                      </m:num>
                      <m:den>
                        <m:r>
                          <a:rPr lang="en-US" sz="2000" b="0" i="1" smtClean="0">
                            <a:latin typeface="Cambria Math" panose="02040503050406030204" pitchFamily="18" charset="0"/>
                            <a:ea typeface="Cambria Math" panose="02040503050406030204" pitchFamily="18" charset="0"/>
                            <a:cs typeface="Arial" panose="020B0604020202020204" pitchFamily="34" charset="0"/>
                          </a:rPr>
                          <m:t>𝑠𝑖𝑛</m:t>
                        </m:r>
                        <m:r>
                          <a:rPr lang="en-US" sz="2000" i="1" smtClean="0">
                            <a:latin typeface="Cambria Math" panose="02040503050406030204" pitchFamily="18" charset="0"/>
                            <a:cs typeface="Arial" panose="020B0604020202020204" pitchFamily="34" charset="0"/>
                          </a:rPr>
                          <m:t> </m:t>
                        </m:r>
                        <m:r>
                          <a:rPr lang="en-US" sz="2000" i="1">
                            <a:latin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𝜃</m:t>
                        </m:r>
                        <m:r>
                          <a:rPr lang="en-US" sz="2000" i="1">
                            <a:latin typeface="Cambria Math" panose="02040503050406030204" pitchFamily="18" charset="0"/>
                            <a:ea typeface="Cambria Math" panose="02040503050406030204" pitchFamily="18" charset="0"/>
                            <a:cs typeface="Arial" panose="020B0604020202020204" pitchFamily="34" charset="0"/>
                          </a:rPr>
                          <m:t>)</m:t>
                        </m:r>
                      </m:den>
                    </m:f>
                    <m:r>
                      <a:rPr lang="en-US" sz="2000" i="1">
                        <a:latin typeface="Cambria Math" panose="02040503050406030204" pitchFamily="18" charset="0"/>
                        <a:cs typeface="Arial" panose="020B0604020202020204" pitchFamily="34" charset="0"/>
                      </a:rPr>
                      <m:t> </m:t>
                    </m:r>
                  </m:oMath>
                </a14:m>
                <a:endParaRPr lang="en-US" sz="2000" i="1" dirty="0">
                  <a:latin typeface="Cambria Math" panose="02040503050406030204" pitchFamily="18" charset="0"/>
                  <a:ea typeface="Cambria Math" panose="02040503050406030204" pitchFamily="18" charset="0"/>
                  <a:cs typeface="Arial" panose="020B0604020202020204" pitchFamily="34" charset="0"/>
                </a:endParaRPr>
              </a:p>
              <a:p>
                <a:pPr marL="342900" indent="-342900" algn="l">
                  <a:lnSpc>
                    <a:spcPct val="100000"/>
                  </a:lnSpc>
                  <a:spcBef>
                    <a:spcPts val="0"/>
                  </a:spcBef>
                  <a:buFont typeface="Arial" panose="020B0604020202020204" pitchFamily="34" charset="0"/>
                  <a:buChar char="•"/>
                </a:pP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𝐵</m:t>
                        </m:r>
                      </m:e>
                      <m:sub>
                        <m:r>
                          <a:rPr lang="en-US" sz="2000" i="1">
                            <a:latin typeface="Cambria Math" panose="02040503050406030204" pitchFamily="18" charset="0"/>
                            <a:ea typeface="Cambria Math" panose="02040503050406030204" pitchFamily="18" charset="0"/>
                            <a:cs typeface="Arial" panose="020B0604020202020204" pitchFamily="34" charset="0"/>
                          </a:rPr>
                          <m:t>𝜙</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𝐼</m:t>
                        </m:r>
                      </m:e>
                      <m:sub>
                        <m:r>
                          <a:rPr lang="en-US" sz="2000" i="1">
                            <a:latin typeface="Cambria Math" panose="02040503050406030204" pitchFamily="18" charset="0"/>
                            <a:cs typeface="Arial" panose="020B0604020202020204" pitchFamily="34" charset="0"/>
                          </a:rPr>
                          <m:t>0</m:t>
                        </m:r>
                      </m:sub>
                    </m:sSub>
                    <m:r>
                      <a:rPr lang="en-US" sz="2000" i="1">
                        <a:latin typeface="Cambria Math" panose="02040503050406030204" pitchFamily="18" charset="0"/>
                        <a:cs typeface="Arial" panose="020B0604020202020204" pitchFamily="34" charset="0"/>
                      </a:rPr>
                      <m:t> </m:t>
                    </m:r>
                    <m:f>
                      <m:fPr>
                        <m:ctrlPr>
                          <a:rPr lang="en-US" sz="2000" i="1">
                            <a:latin typeface="Cambria Math" panose="02040503050406030204" pitchFamily="18" charset="0"/>
                            <a:cs typeface="Arial" panose="020B0604020202020204" pitchFamily="34" charset="0"/>
                          </a:rPr>
                        </m:ctrlPr>
                      </m:fPr>
                      <m:num>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0</m:t>
                            </m:r>
                          </m:sub>
                        </m:sSub>
                      </m:num>
                      <m:den>
                        <m:r>
                          <a:rPr lang="en-US" sz="2000" b="0" i="1" smtClean="0">
                            <a:latin typeface="Cambria Math" panose="02040503050406030204" pitchFamily="18" charset="0"/>
                            <a:ea typeface="Cambria Math" panose="02040503050406030204" pitchFamily="18" charset="0"/>
                            <a:cs typeface="Arial" panose="020B0604020202020204" pitchFamily="34" charset="0"/>
                          </a:rPr>
                          <m:t>2</m:t>
                        </m:r>
                        <m:r>
                          <a:rPr lang="en-US" sz="2000" i="1">
                            <a:latin typeface="Cambria Math" panose="02040503050406030204" pitchFamily="18" charset="0"/>
                            <a:ea typeface="Cambria Math" panose="02040503050406030204" pitchFamily="18" charset="0"/>
                            <a:cs typeface="Arial" panose="020B0604020202020204" pitchFamily="34" charset="0"/>
                          </a:rPr>
                          <m:t>𝜋</m:t>
                        </m:r>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den>
                    </m:f>
                    <m:r>
                      <a:rPr lang="en-US" sz="2000" i="1">
                        <a:latin typeface="Cambria Math" panose="02040503050406030204" pitchFamily="18" charset="0"/>
                        <a:cs typeface="Arial" panose="020B0604020202020204" pitchFamily="34" charset="0"/>
                      </a:rPr>
                      <m:t> </m:t>
                    </m:r>
                    <m:r>
                      <a:rPr lang="en-US" sz="2000" i="1">
                        <a:latin typeface="Cambria Math" panose="02040503050406030204" pitchFamily="18" charset="0"/>
                        <a:ea typeface="Cambria Math" panose="02040503050406030204" pitchFamily="18" charset="0"/>
                        <a:cs typeface="Arial" panose="020B0604020202020204" pitchFamily="34" charset="0"/>
                      </a:rPr>
                      <m:t>𝜔</m:t>
                    </m:r>
                    <m:func>
                      <m:funcPr>
                        <m:ctrlPr>
                          <a:rPr lang="en-US" sz="2000">
                            <a:latin typeface="Cambria Math" panose="02040503050406030204" pitchFamily="18" charset="0"/>
                            <a:ea typeface="Cambria Math" panose="02040503050406030204" pitchFamily="18" charset="0"/>
                            <a:cs typeface="Arial" panose="020B0604020202020204" pitchFamily="34" charset="0"/>
                          </a:rPr>
                        </m:ctrlPr>
                      </m:funcPr>
                      <m:fName>
                        <m:r>
                          <m:rPr>
                            <m:sty m:val="p"/>
                          </m:rPr>
                          <a:rPr lang="en-US" sz="2000">
                            <a:latin typeface="Cambria Math" panose="02040503050406030204" pitchFamily="18" charset="0"/>
                            <a:ea typeface="Cambria Math" panose="02040503050406030204" pitchFamily="18" charset="0"/>
                            <a:cs typeface="Arial" panose="020B0604020202020204" pitchFamily="34" charset="0"/>
                          </a:rPr>
                          <m:t>cos</m:t>
                        </m:r>
                      </m:fName>
                      <m:e>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r>
                              <a:rPr lang="en-US" sz="2000" i="1">
                                <a:latin typeface="Cambria Math" panose="02040503050406030204" pitchFamily="18" charset="0"/>
                                <a:ea typeface="Cambria Math" panose="02040503050406030204" pitchFamily="18" charset="0"/>
                                <a:cs typeface="Arial" panose="020B0604020202020204" pitchFamily="34" charset="0"/>
                              </a:rPr>
                              <m:t>𝜔</m:t>
                            </m:r>
                            <m:d>
                              <m:dPr>
                                <m:begChr m:val="["/>
                                <m:endChr m:val="]"/>
                                <m:ctrlPr>
                                  <a:rPr lang="en-US" sz="2000" i="1">
                                    <a:latin typeface="Cambria Math" panose="02040503050406030204" pitchFamily="18" charset="0"/>
                                    <a:ea typeface="Cambria Math" panose="02040503050406030204" pitchFamily="18" charset="0"/>
                                    <a:cs typeface="Arial" panose="020B0604020202020204" pitchFamily="34" charset="0"/>
                                  </a:rPr>
                                </m:ctrlPr>
                              </m:dPr>
                              <m:e>
                                <m:d>
                                  <m:dPr>
                                    <m:begChr m:val="["/>
                                    <m:endChr m:val="]"/>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𝑡</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𝑟</m:t>
                                        </m:r>
                                      </m:num>
                                      <m:den>
                                        <m:r>
                                          <a:rPr lang="en-US" sz="2000" i="1">
                                            <a:latin typeface="Cambria Math" panose="02040503050406030204" pitchFamily="18" charset="0"/>
                                            <a:cs typeface="Arial" panose="020B0604020202020204" pitchFamily="34" charset="0"/>
                                          </a:rPr>
                                          <m:t>𝑐</m:t>
                                        </m:r>
                                      </m:den>
                                    </m:f>
                                  </m:e>
                                </m:d>
                              </m:e>
                            </m:d>
                          </m:e>
                        </m:d>
                        <m:f>
                          <m:fPr>
                            <m:ctrlPr>
                              <a:rPr lang="en-US" sz="2000" i="1">
                                <a:latin typeface="Cambria Math" panose="02040503050406030204" pitchFamily="18" charset="0"/>
                                <a:cs typeface="Arial" panose="020B0604020202020204" pitchFamily="34" charset="0"/>
                              </a:rPr>
                            </m:ctrlPr>
                          </m:fPr>
                          <m:num>
                            <m:func>
                              <m:funcPr>
                                <m:ctrlPr>
                                  <a:rPr lang="en-US" sz="2000">
                                    <a:latin typeface="Cambria Math" panose="02040503050406030204" pitchFamily="18" charset="0"/>
                                    <a:cs typeface="Arial" panose="020B0604020202020204" pitchFamily="34" charset="0"/>
                                  </a:rPr>
                                </m:ctrlPr>
                              </m:funcPr>
                              <m:fName>
                                <m:r>
                                  <m:rPr>
                                    <m:sty m:val="p"/>
                                  </m:rPr>
                                  <a:rPr lang="en-US" sz="2000">
                                    <a:latin typeface="Cambria Math" panose="02040503050406030204" pitchFamily="18" charset="0"/>
                                    <a:cs typeface="Arial" panose="020B0604020202020204" pitchFamily="34" charset="0"/>
                                  </a:rPr>
                                  <m:t>cos</m:t>
                                </m:r>
                              </m:fName>
                              <m:e>
                                <m:d>
                                  <m:dPr>
                                    <m:ctrlPr>
                                      <a:rPr lang="en-US" sz="2000" i="1">
                                        <a:latin typeface="Cambria Math" panose="02040503050406030204" pitchFamily="18" charset="0"/>
                                        <a:cs typeface="Arial" panose="020B0604020202020204" pitchFamily="34" charset="0"/>
                                      </a:rPr>
                                    </m:ctrlPr>
                                  </m:dPr>
                                  <m:e>
                                    <m:func>
                                      <m:funcPr>
                                        <m:ctrlPr>
                                          <a:rPr lang="en-US" sz="2000" i="1">
                                            <a:latin typeface="Cambria Math" panose="02040503050406030204" pitchFamily="18" charset="0"/>
                                            <a:cs typeface="Arial" panose="020B0604020202020204" pitchFamily="34" charset="0"/>
                                          </a:rPr>
                                        </m:ctrlPr>
                                      </m:funcPr>
                                      <m:fName>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𝜋</m:t>
                                            </m:r>
                                          </m:num>
                                          <m:den>
                                            <m:r>
                                              <a:rPr lang="en-US" sz="2000" i="1">
                                                <a:latin typeface="Cambria Math" panose="02040503050406030204" pitchFamily="18" charset="0"/>
                                                <a:cs typeface="Arial" panose="020B0604020202020204" pitchFamily="34" charset="0"/>
                                              </a:rPr>
                                              <m:t>2</m:t>
                                            </m:r>
                                          </m:den>
                                        </m:f>
                                        <m:r>
                                          <m:rPr>
                                            <m:sty m:val="p"/>
                                          </m:rPr>
                                          <a:rPr lang="en-US" sz="2000">
                                            <a:latin typeface="Cambria Math" panose="02040503050406030204" pitchFamily="18" charset="0"/>
                                            <a:cs typeface="Arial" panose="020B0604020202020204" pitchFamily="34" charset="0"/>
                                          </a:rPr>
                                          <m:t>cos</m:t>
                                        </m:r>
                                      </m:fName>
                                      <m:e>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r>
                                              <a:rPr lang="en-US" sz="2000" i="1">
                                                <a:latin typeface="Cambria Math" panose="02040503050406030204" pitchFamily="18" charset="0"/>
                                                <a:ea typeface="Cambria Math" panose="02040503050406030204" pitchFamily="18" charset="0"/>
                                                <a:cs typeface="Arial" panose="020B0604020202020204" pitchFamily="34" charset="0"/>
                                              </a:rPr>
                                              <m:t>𝜃</m:t>
                                            </m:r>
                                          </m:e>
                                        </m:d>
                                      </m:e>
                                    </m:func>
                                  </m:e>
                                </m:d>
                              </m:e>
                            </m:func>
                          </m:num>
                          <m:den>
                            <m:r>
                              <a:rPr lang="en-US" sz="2000" i="1">
                                <a:latin typeface="Cambria Math" panose="02040503050406030204" pitchFamily="18" charset="0"/>
                                <a:ea typeface="Cambria Math" panose="02040503050406030204" pitchFamily="18" charset="0"/>
                                <a:cs typeface="Arial" panose="020B0604020202020204" pitchFamily="34" charset="0"/>
                              </a:rPr>
                              <m:t>𝑠𝑖𝑛</m:t>
                            </m:r>
                            <m:r>
                              <a:rPr lang="en-US" sz="2000" i="1">
                                <a:latin typeface="Cambria Math" panose="02040503050406030204" pitchFamily="18" charset="0"/>
                                <a:cs typeface="Arial" panose="020B0604020202020204" pitchFamily="34" charset="0"/>
                              </a:rPr>
                              <m:t> (</m:t>
                            </m:r>
                            <m:r>
                              <a:rPr lang="en-US" sz="2000" i="1">
                                <a:latin typeface="Cambria Math" panose="02040503050406030204" pitchFamily="18" charset="0"/>
                                <a:ea typeface="Cambria Math" panose="02040503050406030204" pitchFamily="18" charset="0"/>
                                <a:cs typeface="Arial" panose="020B0604020202020204" pitchFamily="34" charset="0"/>
                              </a:rPr>
                              <m:t>𝜃</m:t>
                            </m:r>
                            <m:r>
                              <a:rPr lang="en-US" sz="2000" i="1">
                                <a:latin typeface="Cambria Math" panose="02040503050406030204" pitchFamily="18" charset="0"/>
                                <a:ea typeface="Cambria Math" panose="02040503050406030204" pitchFamily="18" charset="0"/>
                                <a:cs typeface="Arial" panose="020B0604020202020204" pitchFamily="34" charset="0"/>
                              </a:rPr>
                              <m:t>)</m:t>
                            </m:r>
                          </m:den>
                        </m:f>
                      </m:e>
                    </m:func>
                  </m:oMath>
                </a14:m>
                <a:endParaRPr lang="en-US" sz="2000" dirty="0">
                  <a:latin typeface="Arial" panose="020B0604020202020204" pitchFamily="34" charset="0"/>
                  <a:cs typeface="Arial" panose="020B0604020202020204" pitchFamily="34" charset="0"/>
                </a:endParaRPr>
              </a:p>
              <a:p>
                <a:pPr marL="342900" indent="-342900" algn="l">
                  <a:lnSpc>
                    <a:spcPct val="100000"/>
                  </a:lnSpc>
                  <a:spcBef>
                    <a:spcPts val="0"/>
                  </a:spcBef>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𝑃</m:t>
                        </m:r>
                      </m:e>
                      <m:sub>
                        <m:r>
                          <a:rPr lang="en-US" sz="2000" b="0" i="1" smtClean="0">
                            <a:latin typeface="Cambria Math" panose="02040503050406030204" pitchFamily="18" charset="0"/>
                            <a:cs typeface="Arial" panose="020B0604020202020204" pitchFamily="34" charset="0"/>
                          </a:rPr>
                          <m:t>𝑎𝑣</m:t>
                        </m:r>
                      </m:sub>
                    </m:sSub>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1</m:t>
                        </m:r>
                      </m:num>
                      <m:den>
                        <m:r>
                          <a:rPr lang="en-US" sz="2000" b="0" i="1" smtClean="0">
                            <a:latin typeface="Cambria Math" panose="02040503050406030204" pitchFamily="18" charset="0"/>
                            <a:cs typeface="Arial" panose="020B0604020202020204" pitchFamily="34" charset="0"/>
                          </a:rPr>
                          <m:t>4</m:t>
                        </m:r>
                        <m:r>
                          <a:rPr lang="en-US" sz="2000" b="0" i="1" smtClean="0">
                            <a:latin typeface="Cambria Math" panose="02040503050406030204" pitchFamily="18" charset="0"/>
                            <a:ea typeface="Cambria Math" panose="02040503050406030204" pitchFamily="18" charset="0"/>
                            <a:cs typeface="Arial" panose="020B0604020202020204" pitchFamily="34" charset="0"/>
                          </a:rPr>
                          <m:t>𝜋</m:t>
                        </m:r>
                      </m:den>
                    </m:f>
                    <m:rad>
                      <m:radPr>
                        <m:degHide m:val="on"/>
                        <m:ctrlPr>
                          <a:rPr lang="en-US" sz="2000" b="0" i="1" smtClean="0">
                            <a:latin typeface="Cambria Math" panose="02040503050406030204" pitchFamily="18" charset="0"/>
                            <a:cs typeface="Arial" panose="020B0604020202020204" pitchFamily="34" charset="0"/>
                          </a:rPr>
                        </m:ctrlPr>
                      </m:radPr>
                      <m:deg/>
                      <m:e>
                        <m:f>
                          <m:fPr>
                            <m:ctrlPr>
                              <a:rPr lang="en-US" sz="2000" i="1">
                                <a:latin typeface="Cambria Math" panose="02040503050406030204" pitchFamily="18" charset="0"/>
                                <a:cs typeface="Arial" panose="020B0604020202020204" pitchFamily="34" charset="0"/>
                              </a:rPr>
                            </m:ctrlPr>
                          </m:fPr>
                          <m:num>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0</m:t>
                                </m:r>
                              </m:sub>
                            </m:sSub>
                          </m:num>
                          <m:den>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𝜖</m:t>
                                </m:r>
                              </m:e>
                              <m:sub>
                                <m:r>
                                  <a:rPr lang="en-US" sz="2000" i="1">
                                    <a:latin typeface="Cambria Math" panose="02040503050406030204" pitchFamily="18" charset="0"/>
                                    <a:cs typeface="Arial" panose="020B0604020202020204" pitchFamily="34" charset="0"/>
                                  </a:rPr>
                                  <m:t>0</m:t>
                                </m:r>
                              </m:sub>
                            </m:sSub>
                          </m:den>
                        </m:f>
                      </m:e>
                    </m:rad>
                    <m:r>
                      <a:rPr lang="en-US" sz="2000" b="0" i="1" smtClean="0">
                        <a:latin typeface="Cambria Math" panose="02040503050406030204" pitchFamily="18" charset="0"/>
                        <a:cs typeface="Arial" panose="020B0604020202020204" pitchFamily="34" charset="0"/>
                      </a:rPr>
                      <m:t> </m:t>
                    </m:r>
                    <m:sSup>
                      <m:sSupPr>
                        <m:ctrlPr>
                          <a:rPr lang="en-US" sz="2000" b="0" i="1" smtClean="0">
                            <a:latin typeface="Cambria Math" panose="02040503050406030204" pitchFamily="18" charset="0"/>
                            <a:cs typeface="Arial" panose="020B0604020202020204" pitchFamily="34" charset="0"/>
                          </a:rPr>
                        </m:ctrlPr>
                      </m:sSupPr>
                      <m:e>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𝐼</m:t>
                            </m:r>
                          </m:e>
                          <m:sub>
                            <m:r>
                              <a:rPr lang="en-US" sz="2000" b="0" i="1" smtClean="0">
                                <a:latin typeface="Cambria Math" panose="02040503050406030204" pitchFamily="18" charset="0"/>
                                <a:cs typeface="Arial" panose="020B0604020202020204" pitchFamily="34" charset="0"/>
                              </a:rPr>
                              <m:t>0</m:t>
                            </m:r>
                          </m:sub>
                        </m:sSub>
                      </m:e>
                      <m:sup>
                        <m:r>
                          <a:rPr lang="en-US" sz="2000" b="0" i="1" smtClean="0">
                            <a:latin typeface="Cambria Math" panose="02040503050406030204" pitchFamily="18" charset="0"/>
                            <a:cs typeface="Arial" panose="020B0604020202020204" pitchFamily="34" charset="0"/>
                          </a:rPr>
                          <m:t>2</m:t>
                        </m:r>
                      </m:sup>
                    </m:sSup>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m:t>
                        </m:r>
                      </m:e>
                      <m:sub>
                        <m:r>
                          <a:rPr lang="en-US" sz="2000" b="0" i="1" smtClean="0">
                            <a:latin typeface="Cambria Math" panose="02040503050406030204" pitchFamily="18" charset="0"/>
                            <a:cs typeface="Arial" panose="020B0604020202020204" pitchFamily="34" charset="0"/>
                          </a:rPr>
                          <m:t>[0, </m:t>
                        </m:r>
                        <m:r>
                          <a:rPr lang="en-US" sz="2000" b="0" i="1" smtClean="0">
                            <a:latin typeface="Cambria Math" panose="02040503050406030204" pitchFamily="18" charset="0"/>
                            <a:ea typeface="Cambria Math" panose="02040503050406030204" pitchFamily="18" charset="0"/>
                            <a:cs typeface="Arial" panose="020B0604020202020204" pitchFamily="34" charset="0"/>
                          </a:rPr>
                          <m:t>𝜋</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sub>
                    </m:sSub>
                    <m:f>
                      <m:fPr>
                        <m:ctrlPr>
                          <a:rPr lang="en-US" sz="2000" i="1" smtClean="0">
                            <a:latin typeface="Cambria Math" panose="02040503050406030204" pitchFamily="18" charset="0"/>
                            <a:cs typeface="Arial" panose="020B0604020202020204" pitchFamily="34" charset="0"/>
                          </a:rPr>
                        </m:ctrlPr>
                      </m:fPr>
                      <m:num>
                        <m:sSup>
                          <m:sSupPr>
                            <m:ctrlPr>
                              <a:rPr lang="en-US" sz="2000" b="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𝑐𝑜𝑠</m:t>
                            </m:r>
                          </m:e>
                          <m:sup>
                            <m:r>
                              <a:rPr lang="en-US" sz="2000" b="0" i="1" smtClean="0">
                                <a:latin typeface="Cambria Math" panose="02040503050406030204" pitchFamily="18" charset="0"/>
                                <a:cs typeface="Arial" panose="020B0604020202020204" pitchFamily="34" charset="0"/>
                              </a:rPr>
                              <m:t>2</m:t>
                            </m:r>
                          </m:sup>
                        </m:sSup>
                        <m:r>
                          <a:rPr lang="en-US" sz="2000" b="0" i="1" smtClean="0">
                            <a:latin typeface="Cambria Math" panose="02040503050406030204" pitchFamily="18" charset="0"/>
                            <a:cs typeface="Arial" panose="020B0604020202020204" pitchFamily="34" charset="0"/>
                          </a:rPr>
                          <m:t>(</m:t>
                        </m:r>
                        <m:func>
                          <m:funcPr>
                            <m:ctrlPr>
                              <a:rPr lang="en-US" sz="2000" i="1">
                                <a:latin typeface="Cambria Math" panose="02040503050406030204" pitchFamily="18" charset="0"/>
                                <a:cs typeface="Arial" panose="020B0604020202020204" pitchFamily="34" charset="0"/>
                              </a:rPr>
                            </m:ctrlPr>
                          </m:funcPr>
                          <m:fName>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𝜋</m:t>
                                </m:r>
                              </m:num>
                              <m:den>
                                <m:r>
                                  <a:rPr lang="en-US" sz="2000" i="1">
                                    <a:latin typeface="Cambria Math" panose="02040503050406030204" pitchFamily="18" charset="0"/>
                                    <a:cs typeface="Arial" panose="020B0604020202020204" pitchFamily="34" charset="0"/>
                                  </a:rPr>
                                  <m:t>2</m:t>
                                </m:r>
                              </m:den>
                            </m:f>
                            <m:r>
                              <m:rPr>
                                <m:sty m:val="p"/>
                              </m:rPr>
                              <a:rPr lang="en-US" sz="2000">
                                <a:latin typeface="Cambria Math" panose="02040503050406030204" pitchFamily="18" charset="0"/>
                                <a:cs typeface="Arial" panose="020B0604020202020204" pitchFamily="34" charset="0"/>
                              </a:rPr>
                              <m:t>cos</m:t>
                            </m:r>
                          </m:fName>
                          <m:e>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r>
                                  <a:rPr lang="en-US" sz="2000" i="1">
                                    <a:latin typeface="Cambria Math" panose="02040503050406030204" pitchFamily="18" charset="0"/>
                                    <a:ea typeface="Cambria Math" panose="02040503050406030204" pitchFamily="18" charset="0"/>
                                    <a:cs typeface="Arial" panose="020B0604020202020204" pitchFamily="34" charset="0"/>
                                  </a:rPr>
                                  <m:t>𝜃</m:t>
                                </m:r>
                              </m:e>
                            </m:d>
                          </m:e>
                        </m:func>
                        <m:r>
                          <a:rPr lang="en-US" sz="2000" b="0" i="1" smtClean="0">
                            <a:latin typeface="Cambria Math" panose="02040503050406030204" pitchFamily="18" charset="0"/>
                            <a:cs typeface="Arial" panose="020B0604020202020204" pitchFamily="34" charset="0"/>
                          </a:rPr>
                          <m:t>)</m:t>
                        </m:r>
                      </m:num>
                      <m:den>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𝑠𝑖𝑛</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𝜃</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den>
                    </m:f>
                    <m:r>
                      <a:rPr lang="en-US" sz="2000" b="0" i="0" smtClean="0">
                        <a:latin typeface="Cambria Math" panose="02040503050406030204" pitchFamily="18" charset="0"/>
                        <a:ea typeface="Cambria Math" panose="02040503050406030204" pitchFamily="18" charset="0"/>
                        <a:cs typeface="Arial" panose="020B0604020202020204" pitchFamily="34" charset="0"/>
                      </a:rPr>
                      <m:t> </m:t>
                    </m:r>
                    <m:r>
                      <m:rPr>
                        <m:sty m:val="p"/>
                      </m:rPr>
                      <a:rPr lang="en-US" sz="2000" b="0" i="0" smtClean="0">
                        <a:latin typeface="Cambria Math" panose="02040503050406030204" pitchFamily="18" charset="0"/>
                        <a:ea typeface="Cambria Math" panose="02040503050406030204" pitchFamily="18" charset="0"/>
                        <a:cs typeface="Arial" panose="020B0604020202020204" pitchFamily="34" charset="0"/>
                      </a:rPr>
                      <m:t>sin</m:t>
                    </m:r>
                    <m:d>
                      <m:dPr>
                        <m:ctrlPr>
                          <a:rPr lang="el-GR" sz="2000" b="0" i="1" smtClean="0">
                            <a:latin typeface="Cambria Math" panose="02040503050406030204" pitchFamily="18" charset="0"/>
                            <a:ea typeface="Cambria Math" panose="02040503050406030204" pitchFamily="18" charset="0"/>
                            <a:cs typeface="Arial" panose="020B0604020202020204" pitchFamily="34" charset="0"/>
                          </a:rPr>
                        </m:ctrlPr>
                      </m:dPr>
                      <m:e>
                        <m:r>
                          <m:rPr>
                            <m:sty m:val="p"/>
                          </m:rPr>
                          <a:rPr lang="el-GR" sz="2000" b="0" i="1" smtClean="0">
                            <a:latin typeface="Cambria Math" panose="02040503050406030204" pitchFamily="18" charset="0"/>
                            <a:ea typeface="Cambria Math" panose="02040503050406030204" pitchFamily="18" charset="0"/>
                            <a:cs typeface="Arial" panose="020B0604020202020204" pitchFamily="34" charset="0"/>
                          </a:rPr>
                          <m:t>θ</m:t>
                        </m:r>
                      </m:e>
                    </m:d>
                    <m:r>
                      <a:rPr lang="en-US" sz="2000" b="0" i="1" smtClean="0">
                        <a:latin typeface="Cambria Math" panose="02040503050406030204" pitchFamily="18" charset="0"/>
                        <a:ea typeface="Cambria Math" panose="02040503050406030204" pitchFamily="18" charset="0"/>
                        <a:cs typeface="Arial" panose="020B0604020202020204" pitchFamily="34" charset="0"/>
                      </a:rPr>
                      <m:t>𝑑</m:t>
                    </m:r>
                    <m:r>
                      <a:rPr lang="en-US" sz="2000" b="0" i="1" smtClean="0">
                        <a:latin typeface="Cambria Math" panose="02040503050406030204" pitchFamily="18" charset="0"/>
                        <a:ea typeface="Cambria Math" panose="02040503050406030204" pitchFamily="18" charset="0"/>
                        <a:cs typeface="Arial" panose="020B0604020202020204" pitchFamily="34" charset="0"/>
                      </a:rPr>
                      <m:t>𝜃</m:t>
                    </m:r>
                    <m:r>
                      <a:rPr lang="en-US" sz="2000" b="0" i="1" smtClean="0">
                        <a:latin typeface="Cambria Math" panose="02040503050406030204" pitchFamily="18" charset="0"/>
                        <a:ea typeface="Cambria Math" panose="02040503050406030204" pitchFamily="18" charset="0"/>
                        <a:cs typeface="Arial" panose="020B0604020202020204" pitchFamily="34" charset="0"/>
                      </a:rPr>
                      <m:t>=73.1</m:t>
                    </m:r>
                    <m:r>
                      <m:rPr>
                        <m:sty m:val="p"/>
                      </m:rPr>
                      <a:rPr lang="el-GR" sz="2000" b="0" i="1" smtClean="0">
                        <a:latin typeface="Cambria Math" panose="02040503050406030204" pitchFamily="18" charset="0"/>
                        <a:ea typeface="Cambria Math" panose="02040503050406030204" pitchFamily="18" charset="0"/>
                        <a:cs typeface="Arial" panose="020B0604020202020204" pitchFamily="34" charset="0"/>
                      </a:rPr>
                      <m:t>Ω</m:t>
                    </m:r>
                    <m:r>
                      <a:rPr lang="en-US" sz="2000" b="0" i="1" smtClean="0">
                        <a:latin typeface="Cambria Math" panose="02040503050406030204" pitchFamily="18" charset="0"/>
                        <a:ea typeface="Cambria Math" panose="02040503050406030204" pitchFamily="18" charset="0"/>
                        <a:cs typeface="Arial" panose="020B0604020202020204" pitchFamily="34" charset="0"/>
                      </a:rPr>
                      <m:t> </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𝐼</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0</m:t>
                                </m:r>
                              </m:sub>
                            </m:sSub>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num>
                      <m:den>
                        <m:r>
                          <a:rPr lang="en-US" sz="2000" b="0" i="1" smtClean="0">
                            <a:latin typeface="Cambria Math" panose="02040503050406030204" pitchFamily="18" charset="0"/>
                            <a:ea typeface="Cambria Math" panose="02040503050406030204" pitchFamily="18" charset="0"/>
                            <a:cs typeface="Arial" panose="020B0604020202020204" pitchFamily="34" charset="0"/>
                          </a:rPr>
                          <m:t>2</m:t>
                        </m:r>
                      </m:den>
                    </m:f>
                  </m:oMath>
                </a14:m>
                <a:r>
                  <a:rPr lang="en-US" sz="2000" dirty="0">
                    <a:latin typeface="Arial" panose="020B0604020202020204" pitchFamily="34" charset="0"/>
                    <a:cs typeface="Arial" panose="020B0604020202020204" pitchFamily="34" charset="0"/>
                  </a:rPr>
                  <a:t>  </a:t>
                </a:r>
              </a:p>
              <a:p>
                <a:pPr marL="342900" indent="-342900" algn="l">
                  <a:lnSpc>
                    <a:spcPct val="100000"/>
                  </a:lnSpc>
                  <a:spcBef>
                    <a:spcPts val="0"/>
                  </a:spcBef>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l">
                  <a:lnSpc>
                    <a:spcPct val="100000"/>
                  </a:lnSpc>
                  <a:spcBef>
                    <a:spcPts val="0"/>
                  </a:spcBef>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r">
                  <a:lnSpc>
                    <a:spcPct val="120000"/>
                  </a:lnSpc>
                  <a:spcBef>
                    <a:spcPts val="0"/>
                  </a:spcBef>
                  <a:buFont typeface="Arial" panose="020B0604020202020204" pitchFamily="34" charset="0"/>
                  <a:buChar char="•"/>
                </a:pPr>
                <a:endParaRPr lang="en-US" sz="2000" i="1" dirty="0">
                  <a:latin typeface="Cambria Math" panose="02040503050406030204" pitchFamily="18" charset="0"/>
                  <a:cs typeface="Arial" panose="020B0604020202020204" pitchFamily="34" charset="0"/>
                </a:endParaRPr>
              </a:p>
              <a:p>
                <a:pPr algn="r">
                  <a:lnSpc>
                    <a:spcPct val="120000"/>
                  </a:lnSpc>
                  <a:spcBef>
                    <a:spcPts val="0"/>
                  </a:spcBef>
                </a:pPr>
                <a:endParaRPr lang="en-US" sz="2000" dirty="0">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75878" y="1562968"/>
                <a:ext cx="11563722" cy="3732064"/>
              </a:xfrm>
              <a:blipFill>
                <a:blip r:embed="rId2"/>
                <a:stretch>
                  <a:fillRect l="-439" t="-676" b="-1250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7A91E16D-0EAD-4D3D-AC22-65013F654EE2}" type="slidenum">
              <a:rPr lang="en-US" altLang="en-US" smtClean="0"/>
              <a:pPr>
                <a:defRPr/>
              </a:pPr>
              <a:t>37</a:t>
            </a:fld>
            <a:endParaRPr lang="en-US" altLang="en-US"/>
          </a:p>
        </p:txBody>
      </p:sp>
    </p:spTree>
    <p:extLst>
      <p:ext uri="{BB962C8B-B14F-4D97-AF65-F5344CB8AC3E}">
        <p14:creationId xmlns:p14="http://schemas.microsoft.com/office/powerpoint/2010/main" val="27541831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977" y="229616"/>
            <a:ext cx="11840817" cy="982810"/>
          </a:xfrm>
        </p:spPr>
        <p:txBody>
          <a:bodyPr>
            <a:normAutofit/>
          </a:bodyPr>
          <a:lstStyle/>
          <a:p>
            <a:pPr algn="ctr"/>
            <a:r>
              <a:rPr lang="en-US" sz="4400" dirty="0">
                <a:latin typeface="Calibri" panose="020F0502020204030204" pitchFamily="34" charset="0"/>
                <a:cs typeface="Calibri" panose="020F0502020204030204" pitchFamily="34" charset="0"/>
              </a:rPr>
              <a:t>Radiation from charge distribution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68939" y="1404475"/>
                <a:ext cx="7580255" cy="4847470"/>
              </a:xfrm>
            </p:spPr>
            <p:txBody>
              <a:bodyPr>
                <a:normAutofit/>
              </a:bodyPr>
              <a:lstStyle/>
              <a:p>
                <a:pPr marL="342900" indent="-342900">
                  <a:lnSpc>
                    <a:spcPct val="100000"/>
                  </a:lnSpc>
                  <a:spcBef>
                    <a:spcPts val="0"/>
                  </a:spcBef>
                </a:pPr>
                <a14:m>
                  <m:oMath xmlns:m="http://schemas.openxmlformats.org/officeDocument/2006/math">
                    <m:sSup>
                      <m:sSupPr>
                        <m:ctrlPr>
                          <a:rPr lang="en-US" sz="2000" b="0" i="0" smtClean="0">
                            <a:latin typeface="Cambria Math" panose="02040503050406030204" pitchFamily="18" charset="0"/>
                            <a:ea typeface="Cambria Math" panose="02040503050406030204" pitchFamily="18" charset="0"/>
                            <a:cs typeface="Arial" panose="020B0604020202020204" pitchFamily="34" charset="0"/>
                          </a:rPr>
                        </m:ctrlPr>
                      </m:sSupPr>
                      <m:e>
                        <m:r>
                          <m:rPr>
                            <m:sty m:val="p"/>
                          </m:rPr>
                          <a:rPr lang="en-US" sz="2000" b="0" i="0" smtClean="0">
                            <a:latin typeface="Cambria Math" panose="02040503050406030204" pitchFamily="18" charset="0"/>
                            <a:ea typeface="Cambria Math" panose="02040503050406030204" pitchFamily="18" charset="0"/>
                            <a:cs typeface="Arial" panose="020B0604020202020204" pitchFamily="34" charset="0"/>
                          </a:rPr>
                          <m:t>r</m:t>
                        </m:r>
                      </m:e>
                      <m:sup>
                        <m:r>
                          <a:rPr lang="en-US" sz="2000" b="0" i="0" smtClean="0">
                            <a:latin typeface="Cambria Math" panose="02040503050406030204" pitchFamily="18" charset="0"/>
                            <a:ea typeface="Cambria Math" panose="02040503050406030204" pitchFamily="18" charset="0"/>
                            <a:cs typeface="Arial" panose="020B0604020202020204" pitchFamily="34" charset="0"/>
                          </a:rPr>
                          <m:t>′</m:t>
                        </m:r>
                      </m:sup>
                    </m:sSup>
                    <m:r>
                      <a:rPr lang="en-US" sz="2000" b="0" i="0" smtClean="0">
                        <a:latin typeface="Cambria Math" panose="02040503050406030204" pitchFamily="18" charset="0"/>
                        <a:ea typeface="Cambria Math" panose="02040503050406030204" pitchFamily="18" charset="0"/>
                        <a:cs typeface="Arial" panose="020B0604020202020204" pitchFamily="34" charset="0"/>
                      </a:rPr>
                      <m:t>+</m:t>
                    </m:r>
                    <m:r>
                      <m:rPr>
                        <m:sty m:val="p"/>
                      </m:rPr>
                      <a:rPr lang="en-US" sz="2000" b="0" i="0" smtClean="0">
                        <a:latin typeface="Cambria Math" panose="02040503050406030204" pitchFamily="18" charset="0"/>
                        <a:ea typeface="Cambria Math" panose="02040503050406030204" pitchFamily="18" charset="0"/>
                        <a:cs typeface="Arial" panose="020B0604020202020204" pitchFamily="34" charset="0"/>
                      </a:rPr>
                      <m:t>R</m:t>
                    </m:r>
                    <m:r>
                      <a:rPr lang="en-US" sz="2000" b="0" i="0" smtClean="0">
                        <a:latin typeface="Cambria Math" panose="02040503050406030204" pitchFamily="18" charset="0"/>
                        <a:ea typeface="Cambria Math" panose="02040503050406030204" pitchFamily="18" charset="0"/>
                        <a:cs typeface="Arial" panose="020B0604020202020204" pitchFamily="34" charset="0"/>
                      </a:rPr>
                      <m:t>=</m:t>
                    </m:r>
                    <m:r>
                      <m:rPr>
                        <m:sty m:val="p"/>
                      </m:rPr>
                      <a:rPr lang="en-US" sz="2000" b="0" i="0" smtClean="0">
                        <a:latin typeface="Cambria Math" panose="02040503050406030204" pitchFamily="18" charset="0"/>
                        <a:ea typeface="Cambria Math" panose="02040503050406030204" pitchFamily="18" charset="0"/>
                        <a:cs typeface="Arial" panose="020B0604020202020204" pitchFamily="34" charset="0"/>
                      </a:rPr>
                      <m:t>r</m:t>
                    </m:r>
                  </m:oMath>
                </a14:m>
                <a:r>
                  <a:rPr lang="en-US" sz="2000" dirty="0">
                    <a:ea typeface="Cambria Math" panose="02040503050406030204" pitchFamily="18" charset="0"/>
                    <a:cs typeface="Arial" panose="020B0604020202020204" pitchFamily="34" charset="0"/>
                  </a:rPr>
                  <a:t>,  </a:t>
                </a:r>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𝑅</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m:t>
                        </m:r>
                      </m:sup>
                    </m:sSup>
                    <m:r>
                      <a:rPr lang="en-US" sz="2000" b="0" i="1" smtClean="0">
                        <a:latin typeface="Cambria Math" panose="02040503050406030204" pitchFamily="18" charset="0"/>
                        <a:ea typeface="Cambria Math" panose="02040503050406030204" pitchFamily="18" charset="0"/>
                        <a:cs typeface="Arial" panose="020B0604020202020204" pitchFamily="34" charset="0"/>
                      </a:rPr>
                      <m:t>|</m:t>
                    </m:r>
                  </m:oMath>
                </a14:m>
                <a:r>
                  <a:rPr lang="en-US" sz="2000" dirty="0">
                    <a:ea typeface="Cambria Math" panose="02040503050406030204" pitchFamily="18" charset="0"/>
                    <a:cs typeface="Arial" panose="020B0604020202020204" pitchFamily="34" charset="0"/>
                  </a:rPr>
                  <a:t>  </a:t>
                </a:r>
              </a:p>
              <a:p>
                <a:pPr marL="342900" indent="-342900">
                  <a:lnSpc>
                    <a:spcPct val="100000"/>
                  </a:lnSpc>
                  <a:spcBef>
                    <a:spcPts val="0"/>
                  </a:spcBef>
                </a:pPr>
                <a14:m>
                  <m:oMath xmlns:m="http://schemas.openxmlformats.org/officeDocument/2006/math">
                    <m:r>
                      <a:rPr lang="en-US" sz="2000" i="1" smtClean="0">
                        <a:latin typeface="Cambria Math" panose="02040503050406030204" pitchFamily="18" charset="0"/>
                        <a:ea typeface="Cambria Math" panose="02040503050406030204" pitchFamily="18" charset="0"/>
                        <a:cs typeface="Arial" panose="020B0604020202020204" pitchFamily="34" charset="0"/>
                      </a:rPr>
                      <m:t>𝜑</m:t>
                    </m:r>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𝑡</m:t>
                        </m:r>
                      </m:e>
                    </m:d>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1</m:t>
                        </m:r>
                      </m:num>
                      <m:den>
                        <m:r>
                          <a:rPr lang="en-US" sz="2000" i="1">
                            <a:latin typeface="Cambria Math" panose="02040503050406030204" pitchFamily="18" charset="0"/>
                            <a:ea typeface="Cambria Math" panose="02040503050406030204" pitchFamily="18" charset="0"/>
                            <a:cs typeface="Arial" panose="020B0604020202020204" pitchFamily="34" charset="0"/>
                          </a:rPr>
                          <m:t>4</m:t>
                        </m:r>
                        <m:r>
                          <a:rPr lang="en-US" sz="2000" i="1">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𝜖</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den>
                    </m:f>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i="1" smtClean="0">
                            <a:latin typeface="Cambria Math" panose="02040503050406030204" pitchFamily="18" charset="0"/>
                            <a:ea typeface="Cambria Math" panose="02040503050406030204" pitchFamily="18" charset="0"/>
                            <a:cs typeface="Arial" panose="020B0604020202020204" pitchFamily="34" charset="0"/>
                          </a:rPr>
                          <m:t>∫</m:t>
                        </m:r>
                      </m:e>
                      <m:sub>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𝑉</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Sub>
                      </m:sub>
                    </m:sSub>
                    <m:f>
                      <m:f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i="1" smtClean="0">
                            <a:latin typeface="Cambria Math" panose="02040503050406030204" pitchFamily="18" charset="0"/>
                            <a:ea typeface="Cambria Math" panose="02040503050406030204" pitchFamily="18" charset="0"/>
                            <a:cs typeface="Arial" panose="020B0604020202020204" pitchFamily="34" charset="0"/>
                          </a:rPr>
                          <m:t>𝜌</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m:t>
                            </m:r>
                          </m:sup>
                        </m:sSup>
                        <m:r>
                          <a:rPr lang="en-US" sz="2000" b="0" i="1" smtClean="0">
                            <a:latin typeface="Cambria Math" panose="02040503050406030204" pitchFamily="18" charset="0"/>
                            <a:ea typeface="Cambria Math" panose="02040503050406030204" pitchFamily="18" charset="0"/>
                            <a:cs typeface="Arial" panose="020B0604020202020204" pitchFamily="34" charset="0"/>
                          </a:rPr>
                          <m:t>,  </m:t>
                        </m:r>
                        <m:r>
                          <a:rPr lang="en-US" sz="2000" b="0" i="1" smtClean="0">
                            <a:latin typeface="Cambria Math" panose="02040503050406030204" pitchFamily="18" charset="0"/>
                            <a:ea typeface="Cambria Math" panose="02040503050406030204" pitchFamily="18" charset="0"/>
                            <a:cs typeface="Arial" panose="020B0604020202020204" pitchFamily="34" charset="0"/>
                          </a:rPr>
                          <m:t>𝑡</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𝑅</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𝑐</m:t>
                            </m:r>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m:t>
                            </m:r>
                          </m:sup>
                        </m:sSup>
                        <m:r>
                          <a:rPr lang="en-US" sz="2000" b="0" i="1" smtClean="0">
                            <a:latin typeface="Cambria Math" panose="02040503050406030204" pitchFamily="18" charset="0"/>
                            <a:ea typeface="Cambria Math" panose="02040503050406030204" pitchFamily="18" charset="0"/>
                            <a:cs typeface="Arial" panose="020B0604020202020204" pitchFamily="34" charset="0"/>
                          </a:rPr>
                          <m:t>|</m:t>
                        </m:r>
                      </m:den>
                    </m:f>
                    <m:r>
                      <a:rPr lang="en-US" sz="2000" b="0" i="1" smtClean="0">
                        <a:latin typeface="Cambria Math" panose="02040503050406030204" pitchFamily="18" charset="0"/>
                        <a:ea typeface="Cambria Math" panose="02040503050406030204" pitchFamily="18" charset="0"/>
                        <a:cs typeface="Arial" panose="020B0604020202020204" pitchFamily="34" charset="0"/>
                      </a:rPr>
                      <m:t>𝑑</m:t>
                    </m:r>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𝑣</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m:t>
                        </m:r>
                      </m:sup>
                    </m:sSup>
                    <m:r>
                      <a:rPr lang="en-US" sz="2000" b="0" i="1" smtClean="0">
                        <a:latin typeface="Cambria Math" panose="02040503050406030204" pitchFamily="18" charset="0"/>
                        <a:ea typeface="Cambria Math" panose="02040503050406030204" pitchFamily="18" charset="0"/>
                        <a:cs typeface="Arial" panose="020B0604020202020204" pitchFamily="34" charset="0"/>
                      </a:rPr>
                      <m:t>= </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1</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4</m:t>
                        </m:r>
                        <m:r>
                          <a:rPr lang="en-US" sz="2000" b="0" i="1" smtClean="0">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𝜖</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0</m:t>
                            </m:r>
                          </m:sub>
                        </m:sSub>
                      </m:den>
                    </m:f>
                    <m:d>
                      <m:dPr>
                        <m:begChr m:val="["/>
                        <m:endChr m:val="]"/>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𝑄</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den>
                        </m:f>
                        <m:r>
                          <a:rPr lang="en-US" sz="2000" b="0" i="1" smtClean="0">
                            <a:latin typeface="Cambria Math" panose="02040503050406030204" pitchFamily="18" charset="0"/>
                            <a:ea typeface="Cambria Math" panose="02040503050406030204" pitchFamily="18" charset="0"/>
                            <a:cs typeface="Arial" panose="020B0604020202020204" pitchFamily="34" charset="0"/>
                          </a:rPr>
                          <m:t>+ </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𝑝</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𝑡</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𝑟</m:t>
                                </m:r>
                              </m:num>
                              <m:den>
                                <m:r>
                                  <a:rPr lang="en-US" sz="2000" i="1">
                                    <a:latin typeface="Cambria Math" panose="02040503050406030204" pitchFamily="18" charset="0"/>
                                    <a:cs typeface="Arial" panose="020B0604020202020204" pitchFamily="34" charset="0"/>
                                  </a:rPr>
                                  <m:t>𝑐</m:t>
                                </m:r>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num>
                          <m:den>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3</m:t>
                                </m:r>
                              </m:sup>
                            </m:sSup>
                          </m:den>
                        </m:f>
                        <m:r>
                          <a:rPr lang="en-US" sz="2000" b="0" i="1" smtClean="0">
                            <a:latin typeface="Cambria Math" panose="02040503050406030204" pitchFamily="18" charset="0"/>
                            <a:ea typeface="Cambria Math" panose="02040503050406030204" pitchFamily="18" charset="0"/>
                            <a:cs typeface="Arial" panose="020B0604020202020204" pitchFamily="34" charset="0"/>
                          </a:rPr>
                          <m:t>+ </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𝑑𝑝</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𝑑𝑡</m:t>
                                </m:r>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𝑡</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𝑟</m:t>
                                </m:r>
                              </m:num>
                              <m:den>
                                <m:r>
                                  <a:rPr lang="en-US" sz="2000" i="1">
                                    <a:latin typeface="Cambria Math" panose="02040503050406030204" pitchFamily="18" charset="0"/>
                                    <a:cs typeface="Arial" panose="020B0604020202020204" pitchFamily="34" charset="0"/>
                                  </a:rPr>
                                  <m:t>𝑐</m:t>
                                </m:r>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𝑐</m:t>
                            </m:r>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den>
                        </m:f>
                      </m:e>
                    </m:d>
                  </m:oMath>
                </a14:m>
                <a:endParaRPr lang="en-US" sz="2000" b="0" dirty="0">
                  <a:ea typeface="Cambria Math" panose="02040503050406030204" pitchFamily="18" charset="0"/>
                  <a:cs typeface="Arial" panose="020B0604020202020204" pitchFamily="34" charset="0"/>
                </a:endParaRPr>
              </a:p>
              <a:p>
                <a:pPr marL="342900" indent="-342900" algn="l">
                  <a:lnSpc>
                    <a:spcPct val="100000"/>
                  </a:lnSpc>
                  <a:spcBef>
                    <a:spcPts val="0"/>
                  </a:spcBef>
                  <a:buFont typeface="Arial" panose="020B0604020202020204" pitchFamily="34" charset="0"/>
                  <a:buChar char="•"/>
                </a:pPr>
                <a14:m>
                  <m:oMath xmlns:m="http://schemas.openxmlformats.org/officeDocument/2006/math">
                    <m:r>
                      <a:rPr lang="en-US" sz="2000" b="1" i="1" smtClean="0">
                        <a:latin typeface="Cambria Math" panose="02040503050406030204" pitchFamily="18" charset="0"/>
                        <a:cs typeface="Arial" panose="020B0604020202020204" pitchFamily="34" charset="0"/>
                      </a:rPr>
                      <m:t>𝑨</m:t>
                    </m:r>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𝑟</m:t>
                        </m:r>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𝑡</m:t>
                        </m:r>
                      </m:e>
                    </m:d>
                    <m:r>
                      <a:rPr lang="en-US" sz="2000" b="0" i="1" smtClean="0">
                        <a:latin typeface="Cambria Math" panose="02040503050406030204" pitchFamily="18" charset="0"/>
                        <a:cs typeface="Arial" panose="020B0604020202020204" pitchFamily="34" charset="0"/>
                      </a:rPr>
                      <m:t>=</m:t>
                    </m:r>
                  </m:oMath>
                </a14:m>
                <a:r>
                  <a:rPr lang="en-US" sz="2000" b="0" i="1" dirty="0">
                    <a:cs typeface="Arial" panose="020B0604020202020204" pitchFamily="34" charset="0"/>
                  </a:rPr>
                  <a:t> </a:t>
                </a:r>
                <a14:m>
                  <m:oMath xmlns:m="http://schemas.openxmlformats.org/officeDocument/2006/math">
                    <m:f>
                      <m:f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i="1" smtClean="0">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0</m:t>
                            </m:r>
                          </m:sub>
                        </m:sSub>
                      </m:num>
                      <m:den>
                        <m:r>
                          <a:rPr lang="en-US" sz="2000" i="1">
                            <a:latin typeface="Cambria Math" panose="02040503050406030204" pitchFamily="18" charset="0"/>
                            <a:ea typeface="Cambria Math" panose="02040503050406030204" pitchFamily="18" charset="0"/>
                            <a:cs typeface="Arial" panose="020B0604020202020204" pitchFamily="34" charset="0"/>
                          </a:rPr>
                          <m:t>4</m:t>
                        </m:r>
                        <m:r>
                          <a:rPr lang="en-US" sz="2000" i="1">
                            <a:latin typeface="Cambria Math" panose="02040503050406030204" pitchFamily="18" charset="0"/>
                            <a:ea typeface="Cambria Math" panose="02040503050406030204" pitchFamily="18" charset="0"/>
                            <a:cs typeface="Arial" panose="020B0604020202020204" pitchFamily="34" charset="0"/>
                          </a:rPr>
                          <m:t>𝜋</m:t>
                        </m:r>
                      </m:den>
                    </m:f>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m:t>
                        </m:r>
                      </m:e>
                      <m:sub>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𝑉</m:t>
                            </m:r>
                          </m:e>
                          <m:sub>
                            <m:r>
                              <a:rPr lang="en-US" sz="2000" i="1">
                                <a:latin typeface="Cambria Math" panose="02040503050406030204" pitchFamily="18" charset="0"/>
                                <a:ea typeface="Cambria Math" panose="02040503050406030204" pitchFamily="18" charset="0"/>
                                <a:cs typeface="Arial" panose="020B0604020202020204" pitchFamily="34" charset="0"/>
                              </a:rPr>
                              <m:t>1</m:t>
                            </m:r>
                          </m:sub>
                        </m:sSub>
                      </m:sub>
                    </m:sSub>
                    <m:f>
                      <m:fPr>
                        <m:ctrlPr>
                          <a:rPr lang="en-US" sz="2000" b="1"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1" i="1" smtClean="0">
                            <a:latin typeface="Cambria Math" panose="02040503050406030204" pitchFamily="18" charset="0"/>
                            <a:ea typeface="Cambria Math" panose="02040503050406030204" pitchFamily="18" charset="0"/>
                            <a:cs typeface="Arial" panose="020B0604020202020204" pitchFamily="34" charset="0"/>
                          </a:rPr>
                          <m:t>𝒋</m:t>
                        </m:r>
                        <m:r>
                          <a:rPr lang="en-US" sz="2000" i="1">
                            <a:latin typeface="Cambria Math" panose="02040503050406030204" pitchFamily="18" charset="0"/>
                            <a:ea typeface="Cambria Math" panose="02040503050406030204" pitchFamily="18" charset="0"/>
                            <a:cs typeface="Arial" panose="020B0604020202020204" pitchFamily="34" charset="0"/>
                          </a:rPr>
                          <m:t>(</m:t>
                        </m:r>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𝑟</m:t>
                            </m:r>
                          </m:e>
                          <m:sup>
                            <m:r>
                              <a:rPr lang="en-US" sz="2000" i="1">
                                <a:latin typeface="Cambria Math" panose="02040503050406030204" pitchFamily="18" charset="0"/>
                                <a:ea typeface="Cambria Math" panose="02040503050406030204" pitchFamily="18" charset="0"/>
                                <a:cs typeface="Arial" panose="020B0604020202020204" pitchFamily="34" charset="0"/>
                              </a:rPr>
                              <m:t>′</m:t>
                            </m:r>
                          </m:sup>
                        </m:sSup>
                        <m:r>
                          <a:rPr lang="en-US" sz="2000" i="1">
                            <a:latin typeface="Cambria Math" panose="02040503050406030204" pitchFamily="18" charset="0"/>
                            <a:ea typeface="Cambria Math" panose="02040503050406030204" pitchFamily="18" charset="0"/>
                            <a:cs typeface="Arial" panose="020B0604020202020204" pitchFamily="34" charset="0"/>
                          </a:rPr>
                          <m:t>, </m:t>
                        </m:r>
                        <m:r>
                          <a:rPr lang="en-US" sz="2000" b="0" i="1" smtClean="0">
                            <a:latin typeface="Cambria Math" panose="02040503050406030204" pitchFamily="18" charset="0"/>
                            <a:ea typeface="Cambria Math" panose="02040503050406030204" pitchFamily="18" charset="0"/>
                            <a:cs typeface="Arial" panose="020B0604020202020204" pitchFamily="34" charset="0"/>
                          </a:rPr>
                          <m:t> </m:t>
                        </m:r>
                        <m:r>
                          <a:rPr lang="en-US" sz="2000" i="1">
                            <a:latin typeface="Cambria Math" panose="02040503050406030204" pitchFamily="18" charset="0"/>
                            <a:ea typeface="Cambria Math" panose="02040503050406030204" pitchFamily="18" charset="0"/>
                            <a:cs typeface="Arial" panose="020B0604020202020204" pitchFamily="34" charset="0"/>
                          </a:rPr>
                          <m:t>𝑡</m:t>
                        </m:r>
                        <m:r>
                          <a:rPr lang="en-US" sz="2000" i="1">
                            <a:latin typeface="Cambria Math" panose="02040503050406030204" pitchFamily="18" charset="0"/>
                            <a:ea typeface="Cambria Math" panose="02040503050406030204" pitchFamily="18" charset="0"/>
                            <a:cs typeface="Arial" panose="020B0604020202020204" pitchFamily="34" charset="0"/>
                          </a:rPr>
                          <m:t>−</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𝑅</m:t>
                            </m:r>
                          </m:num>
                          <m:den>
                            <m:r>
                              <a:rPr lang="en-US" sz="2000" i="1">
                                <a:latin typeface="Cambria Math" panose="02040503050406030204" pitchFamily="18" charset="0"/>
                                <a:ea typeface="Cambria Math" panose="02040503050406030204" pitchFamily="18" charset="0"/>
                                <a:cs typeface="Arial" panose="020B0604020202020204" pitchFamily="34" charset="0"/>
                              </a:rPr>
                              <m:t>𝑐</m:t>
                            </m:r>
                          </m:den>
                        </m:f>
                        <m:r>
                          <a:rPr lang="en-US" sz="2000" i="1">
                            <a:latin typeface="Cambria Math" panose="02040503050406030204" pitchFamily="18" charset="0"/>
                            <a:ea typeface="Cambria Math" panose="02040503050406030204" pitchFamily="18" charset="0"/>
                            <a:cs typeface="Arial" panose="020B0604020202020204" pitchFamily="34" charset="0"/>
                          </a:rPr>
                          <m:t>)</m:t>
                        </m:r>
                      </m:num>
                      <m:den>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𝑟</m:t>
                        </m:r>
                        <m:r>
                          <a:rPr lang="en-US" sz="2000" i="1">
                            <a:latin typeface="Cambria Math" panose="02040503050406030204" pitchFamily="18" charset="0"/>
                            <a:ea typeface="Cambria Math" panose="02040503050406030204" pitchFamily="18" charset="0"/>
                            <a:cs typeface="Arial" panose="020B0604020202020204" pitchFamily="34" charset="0"/>
                          </a:rPr>
                          <m:t>−</m:t>
                        </m:r>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𝑟</m:t>
                            </m:r>
                          </m:e>
                          <m:sup>
                            <m:r>
                              <a:rPr lang="en-US" sz="2000" i="1">
                                <a:latin typeface="Cambria Math" panose="02040503050406030204" pitchFamily="18" charset="0"/>
                                <a:ea typeface="Cambria Math" panose="02040503050406030204" pitchFamily="18" charset="0"/>
                                <a:cs typeface="Arial" panose="020B0604020202020204" pitchFamily="34" charset="0"/>
                              </a:rPr>
                              <m:t>′</m:t>
                            </m:r>
                          </m:sup>
                        </m:sSup>
                        <m:r>
                          <a:rPr lang="en-US" sz="2000" i="1">
                            <a:latin typeface="Cambria Math" panose="02040503050406030204" pitchFamily="18" charset="0"/>
                            <a:ea typeface="Cambria Math" panose="02040503050406030204" pitchFamily="18" charset="0"/>
                            <a:cs typeface="Arial" panose="020B0604020202020204" pitchFamily="34" charset="0"/>
                          </a:rPr>
                          <m:t>|</m:t>
                        </m:r>
                      </m:den>
                    </m:f>
                    <m:r>
                      <a:rPr lang="en-US" sz="2000" i="1">
                        <a:latin typeface="Cambria Math" panose="02040503050406030204" pitchFamily="18" charset="0"/>
                        <a:ea typeface="Cambria Math" panose="02040503050406030204" pitchFamily="18" charset="0"/>
                        <a:cs typeface="Arial" panose="020B0604020202020204" pitchFamily="34" charset="0"/>
                      </a:rPr>
                      <m:t>𝑑</m:t>
                    </m:r>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𝑣</m:t>
                        </m:r>
                      </m:e>
                      <m:sup>
                        <m:r>
                          <a:rPr lang="en-US" sz="2000" i="1">
                            <a:latin typeface="Cambria Math" panose="02040503050406030204" pitchFamily="18" charset="0"/>
                            <a:ea typeface="Cambria Math" panose="02040503050406030204" pitchFamily="18" charset="0"/>
                            <a:cs typeface="Arial" panose="020B0604020202020204" pitchFamily="34" charset="0"/>
                          </a:rPr>
                          <m:t>′</m:t>
                        </m:r>
                      </m:sup>
                    </m:sSup>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 </m:t>
                    </m:r>
                    <m:f>
                      <m:fPr>
                        <m:ctrlPr>
                          <a:rPr lang="en-US" sz="2000" b="0" i="1" smtClean="0">
                            <a:latin typeface="Cambria Math" panose="02040503050406030204" pitchFamily="18" charset="0"/>
                            <a:cs typeface="Arial" panose="020B0604020202020204" pitchFamily="34" charset="0"/>
                          </a:rPr>
                        </m:ctrlPr>
                      </m:fPr>
                      <m:num>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latin typeface="Cambria Math" panose="02040503050406030204" pitchFamily="18" charset="0"/>
                                <a:cs typeface="Arial" panose="020B0604020202020204" pitchFamily="34" charset="0"/>
                              </a:rPr>
                              <m:t>0</m:t>
                            </m:r>
                          </m:sub>
                        </m:sSub>
                      </m:num>
                      <m:den>
                        <m:r>
                          <a:rPr lang="en-US" sz="2000" b="0" i="1" smtClean="0">
                            <a:latin typeface="Cambria Math" panose="02040503050406030204" pitchFamily="18" charset="0"/>
                            <a:cs typeface="Arial" panose="020B0604020202020204" pitchFamily="34" charset="0"/>
                          </a:rPr>
                          <m:t>4</m:t>
                        </m:r>
                        <m:r>
                          <a:rPr lang="en-US" sz="2000" b="0" i="1" smtClean="0">
                            <a:latin typeface="Cambria Math" panose="02040503050406030204" pitchFamily="18" charset="0"/>
                            <a:ea typeface="Cambria Math" panose="02040503050406030204" pitchFamily="18" charset="0"/>
                            <a:cs typeface="Arial" panose="020B0604020202020204" pitchFamily="34" charset="0"/>
                          </a:rPr>
                          <m:t>𝜋</m:t>
                        </m:r>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den>
                    </m:f>
                    <m:r>
                      <a:rPr lang="en-US" sz="2000" b="0" i="1" smtClean="0">
                        <a:latin typeface="Cambria Math" panose="02040503050406030204" pitchFamily="18" charset="0"/>
                        <a:cs typeface="Arial" panose="020B0604020202020204" pitchFamily="34" charset="0"/>
                      </a:rPr>
                      <m:t> </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𝑑</m:t>
                        </m:r>
                      </m:num>
                      <m:den>
                        <m:r>
                          <a:rPr lang="en-US" sz="2000" b="0" i="1" smtClean="0">
                            <a:latin typeface="Cambria Math" panose="02040503050406030204" pitchFamily="18" charset="0"/>
                            <a:cs typeface="Arial" panose="020B0604020202020204" pitchFamily="34" charset="0"/>
                          </a:rPr>
                          <m:t>𝑑𝑡</m:t>
                        </m:r>
                      </m:den>
                    </m:f>
                    <m:r>
                      <a:rPr lang="en-US" sz="2000" b="1" i="1" smtClean="0">
                        <a:latin typeface="Cambria Math" panose="02040503050406030204" pitchFamily="18" charset="0"/>
                        <a:cs typeface="Arial" panose="020B0604020202020204" pitchFamily="34" charset="0"/>
                      </a:rPr>
                      <m:t>𝒑</m:t>
                    </m:r>
                    <m:r>
                      <a:rPr lang="en-US" sz="2000" b="0" i="1" smtClean="0">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𝑡</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𝑟</m:t>
                        </m:r>
                      </m:num>
                      <m:den>
                        <m:r>
                          <a:rPr lang="en-US" sz="2000" i="1">
                            <a:latin typeface="Cambria Math" panose="02040503050406030204" pitchFamily="18" charset="0"/>
                            <a:cs typeface="Arial" panose="020B0604020202020204" pitchFamily="34" charset="0"/>
                          </a:rPr>
                          <m:t>𝑐</m:t>
                        </m:r>
                      </m:den>
                    </m:f>
                    <m:r>
                      <a:rPr lang="en-US" sz="2000" b="0" i="1" smtClean="0">
                        <a:latin typeface="Cambria Math" panose="02040503050406030204" pitchFamily="18" charset="0"/>
                        <a:cs typeface="Arial" panose="020B0604020202020204" pitchFamily="34" charset="0"/>
                      </a:rPr>
                      <m:t>)</m:t>
                    </m:r>
                  </m:oMath>
                </a14:m>
                <a:endParaRPr lang="en-US" sz="2000" dirty="0">
                  <a:cs typeface="Arial" panose="020B0604020202020204" pitchFamily="34" charset="0"/>
                </a:endParaRPr>
              </a:p>
              <a:p>
                <a:pPr marL="342900" indent="-342900" algn="l">
                  <a:lnSpc>
                    <a:spcPct val="100000"/>
                  </a:lnSpc>
                  <a:spcBef>
                    <a:spcPts val="0"/>
                  </a:spcBef>
                  <a:buFont typeface="Arial" panose="020B0604020202020204" pitchFamily="34" charset="0"/>
                  <a:buChar char="•"/>
                </a:pPr>
                <a14:m>
                  <m:oMath xmlns:m="http://schemas.openxmlformats.org/officeDocument/2006/math">
                    <m:r>
                      <a:rPr lang="en-US" sz="2000" b="1" i="1" smtClean="0">
                        <a:latin typeface="Cambria Math" panose="02040503050406030204" pitchFamily="18" charset="0"/>
                        <a:cs typeface="Arial" panose="020B0604020202020204" pitchFamily="34" charset="0"/>
                      </a:rPr>
                      <m:t>𝑬</m:t>
                    </m:r>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1" i="1" smtClean="0">
                            <a:latin typeface="Cambria Math" panose="02040503050406030204" pitchFamily="18" charset="0"/>
                            <a:ea typeface="Cambria Math" panose="02040503050406030204" pitchFamily="18" charset="0"/>
                            <a:cs typeface="Arial" panose="020B0604020202020204" pitchFamily="34" charset="0"/>
                          </a:rPr>
                          <m:t>𝑨</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sz="2000" b="0" i="1" smtClean="0">
                        <a:latin typeface="Cambria Math" panose="02040503050406030204" pitchFamily="18" charset="0"/>
                        <a:cs typeface="Arial" panose="020B0604020202020204" pitchFamily="34" charset="0"/>
                      </a:rPr>
                      <m:t>−</m:t>
                    </m:r>
                    <m:r>
                      <m:rPr>
                        <m:sty m:val="p"/>
                      </m:rP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𝜑</m:t>
                    </m:r>
                  </m:oMath>
                </a14:m>
                <a:endParaRPr lang="en-US" sz="2000" dirty="0">
                  <a:cs typeface="Arial" panose="020B0604020202020204" pitchFamily="34" charset="0"/>
                </a:endParaRPr>
              </a:p>
              <a:p>
                <a:pPr marL="342900" indent="-342900" algn="l">
                  <a:lnSpc>
                    <a:spcPct val="100000"/>
                  </a:lnSpc>
                  <a:spcBef>
                    <a:spcPts val="0"/>
                  </a:spcBef>
                  <a:buFont typeface="Arial" panose="020B0604020202020204" pitchFamily="34" charset="0"/>
                  <a:buChar char="•"/>
                </a:pPr>
                <a14:m>
                  <m:oMath xmlns:m="http://schemas.openxmlformats.org/officeDocument/2006/math">
                    <m:r>
                      <a:rPr lang="en-US" sz="2000" b="1" i="1" smtClean="0">
                        <a:latin typeface="Cambria Math" panose="02040503050406030204" pitchFamily="18" charset="0"/>
                        <a:cs typeface="Arial" panose="020B0604020202020204" pitchFamily="34" charset="0"/>
                      </a:rPr>
                      <m:t>𝑩</m:t>
                    </m:r>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𝑟</m:t>
                        </m:r>
                        <m:r>
                          <a:rPr lang="en-US" sz="2000" i="1">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𝑡</m:t>
                        </m:r>
                      </m:e>
                    </m:d>
                    <m:r>
                      <a:rPr lang="en-US" sz="2000" i="1">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0</m:t>
                            </m:r>
                          </m:sub>
                        </m:sSub>
                      </m:num>
                      <m:den>
                        <m:r>
                          <a:rPr lang="en-US" sz="2000" i="1">
                            <a:latin typeface="Cambria Math" panose="02040503050406030204" pitchFamily="18" charset="0"/>
                            <a:cs typeface="Arial" panose="020B0604020202020204" pitchFamily="34" charset="0"/>
                          </a:rPr>
                          <m:t>4</m:t>
                        </m:r>
                        <m:r>
                          <a:rPr lang="en-US" sz="2000" i="1">
                            <a:latin typeface="Cambria Math" panose="02040503050406030204" pitchFamily="18" charset="0"/>
                            <a:ea typeface="Cambria Math" panose="02040503050406030204" pitchFamily="18" charset="0"/>
                            <a:cs typeface="Arial" panose="020B0604020202020204" pitchFamily="34" charset="0"/>
                          </a:rPr>
                          <m:t>𝜋</m:t>
                        </m:r>
                        <m:r>
                          <a:rPr lang="en-US" sz="2000" b="0" i="1" smtClean="0">
                            <a:latin typeface="Cambria Math" panose="02040503050406030204" pitchFamily="18" charset="0"/>
                            <a:ea typeface="Cambria Math" panose="02040503050406030204" pitchFamily="18" charset="0"/>
                            <a:cs typeface="Arial" panose="020B0604020202020204" pitchFamily="34" charset="0"/>
                          </a:rPr>
                          <m:t>𝑐</m:t>
                        </m:r>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den>
                    </m:f>
                    <m:r>
                      <a:rPr lang="en-US" sz="2000" b="1" i="1" smtClean="0">
                        <a:latin typeface="Cambria Math" panose="02040503050406030204" pitchFamily="18" charset="0"/>
                        <a:ea typeface="Cambria Math" panose="02040503050406030204" pitchFamily="18" charset="0"/>
                        <a:cs typeface="Arial" panose="020B0604020202020204" pitchFamily="34" charset="0"/>
                      </a:rPr>
                      <m:t>𝒓</m:t>
                    </m:r>
                    <m:r>
                      <a:rPr lang="en-US" sz="2000" b="0" i="1" smtClean="0">
                        <a:latin typeface="Cambria Math" panose="02040503050406030204" pitchFamily="18" charset="0"/>
                        <a:ea typeface="Cambria Math" panose="02040503050406030204" pitchFamily="18" charset="0"/>
                        <a:cs typeface="Arial" panose="020B0604020202020204" pitchFamily="34" charset="0"/>
                      </a:rPr>
                      <m:t> ×</m:t>
                    </m:r>
                    <m:acc>
                      <m:accPr>
                        <m:chr m:val="̈"/>
                        <m:ctrlPr>
                          <a:rPr lang="en-US" sz="2000" b="1" i="1" smtClean="0">
                            <a:latin typeface="Cambria Math" panose="02040503050406030204" pitchFamily="18" charset="0"/>
                            <a:ea typeface="Cambria Math" panose="02040503050406030204" pitchFamily="18" charset="0"/>
                            <a:cs typeface="Arial" panose="020B0604020202020204" pitchFamily="34" charset="0"/>
                          </a:rPr>
                        </m:ctrlPr>
                      </m:accPr>
                      <m:e>
                        <m:r>
                          <a:rPr lang="en-US" sz="2000" b="1" i="1" smtClean="0">
                            <a:latin typeface="Cambria Math" panose="02040503050406030204" pitchFamily="18" charset="0"/>
                            <a:ea typeface="Cambria Math" panose="02040503050406030204" pitchFamily="18" charset="0"/>
                            <a:cs typeface="Arial" panose="020B0604020202020204" pitchFamily="34" charset="0"/>
                          </a:rPr>
                          <m:t>𝒑</m:t>
                        </m:r>
                      </m:e>
                    </m:acc>
                    <m:r>
                      <a:rPr lang="en-US" sz="2000" i="1">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𝑡</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𝑟</m:t>
                        </m:r>
                      </m:num>
                      <m:den>
                        <m:r>
                          <a:rPr lang="en-US" sz="2000" i="1">
                            <a:latin typeface="Cambria Math" panose="02040503050406030204" pitchFamily="18" charset="0"/>
                            <a:cs typeface="Arial" panose="020B0604020202020204" pitchFamily="34" charset="0"/>
                          </a:rPr>
                          <m:t>𝑐</m:t>
                        </m:r>
                      </m:den>
                    </m:f>
                    <m:r>
                      <a:rPr lang="en-US" sz="2000" i="1">
                        <a:latin typeface="Cambria Math" panose="02040503050406030204" pitchFamily="18" charset="0"/>
                        <a:cs typeface="Arial" panose="020B0604020202020204" pitchFamily="34" charset="0"/>
                      </a:rPr>
                      <m:t>)</m:t>
                    </m:r>
                  </m:oMath>
                </a14:m>
                <a:endParaRPr lang="en-US" sz="2000" dirty="0">
                  <a:cs typeface="Arial" panose="020B0604020202020204" pitchFamily="34" charset="0"/>
                </a:endParaRPr>
              </a:p>
              <a:p>
                <a:pPr marL="342900" indent="-342900" algn="l">
                  <a:lnSpc>
                    <a:spcPct val="100000"/>
                  </a:lnSpc>
                  <a:spcBef>
                    <a:spcPts val="0"/>
                  </a:spcBef>
                  <a:buFont typeface="Arial" panose="020B0604020202020204" pitchFamily="34" charset="0"/>
                  <a:buChar char="•"/>
                </a:pPr>
                <a14:m>
                  <m:oMath xmlns:m="http://schemas.openxmlformats.org/officeDocument/2006/math">
                    <m:r>
                      <a:rPr lang="en-US" sz="2000" b="1" i="1" smtClean="0">
                        <a:latin typeface="Cambria Math" panose="02040503050406030204" pitchFamily="18" charset="0"/>
                        <a:cs typeface="Arial" panose="020B0604020202020204" pitchFamily="34" charset="0"/>
                      </a:rPr>
                      <m:t>𝑬</m:t>
                    </m:r>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𝑟</m:t>
                        </m:r>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𝑡</m:t>
                        </m:r>
                      </m:e>
                    </m:d>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𝑐</m:t>
                        </m:r>
                      </m:num>
                      <m:den>
                        <m:r>
                          <a:rPr lang="en-US" sz="2000" b="0" i="1" smtClean="0">
                            <a:latin typeface="Cambria Math" panose="02040503050406030204" pitchFamily="18" charset="0"/>
                            <a:cs typeface="Arial" panose="020B0604020202020204" pitchFamily="34" charset="0"/>
                          </a:rPr>
                          <m:t>𝑟</m:t>
                        </m:r>
                      </m:den>
                    </m:f>
                    <m:r>
                      <a:rPr lang="en-US" sz="2000" b="1" i="1" smtClean="0">
                        <a:latin typeface="Cambria Math" panose="02040503050406030204" pitchFamily="18" charset="0"/>
                        <a:cs typeface="Arial" panose="020B0604020202020204" pitchFamily="34" charset="0"/>
                      </a:rPr>
                      <m:t>𝒓</m:t>
                    </m:r>
                    <m:r>
                      <a:rPr lang="en-US" sz="2000" b="0" i="1" smtClean="0">
                        <a:latin typeface="Cambria Math" panose="02040503050406030204" pitchFamily="18" charset="0"/>
                        <a:ea typeface="Cambria Math" panose="02040503050406030204" pitchFamily="18" charset="0"/>
                        <a:cs typeface="Arial" panose="020B0604020202020204" pitchFamily="34" charset="0"/>
                      </a:rPr>
                      <m:t>× </m:t>
                    </m:r>
                    <m:r>
                      <a:rPr lang="en-US" sz="2000" b="1" i="1">
                        <a:latin typeface="Cambria Math" panose="02040503050406030204" pitchFamily="18" charset="0"/>
                        <a:cs typeface="Arial" panose="020B0604020202020204" pitchFamily="34" charset="0"/>
                      </a:rPr>
                      <m:t>𝑩</m:t>
                    </m:r>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𝑟</m:t>
                        </m:r>
                        <m:r>
                          <a:rPr lang="en-US" sz="2000" i="1">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𝑡</m:t>
                        </m:r>
                      </m:e>
                    </m:d>
                  </m:oMath>
                </a14:m>
                <a:endParaRPr lang="en-US" sz="2000" dirty="0">
                  <a:cs typeface="Arial" panose="020B0604020202020204" pitchFamily="34" charset="0"/>
                </a:endParaRPr>
              </a:p>
              <a:p>
                <a:pPr marL="342900" indent="-342900" algn="l">
                  <a:lnSpc>
                    <a:spcPct val="100000"/>
                  </a:lnSpc>
                  <a:spcBef>
                    <a:spcPts val="0"/>
                  </a:spcBef>
                  <a:buFont typeface="Arial" panose="020B0604020202020204" pitchFamily="34" charset="0"/>
                  <a:buChar char="•"/>
                </a:pPr>
                <a14:m>
                  <m:oMath xmlns:m="http://schemas.openxmlformats.org/officeDocument/2006/math">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𝑑</m:t>
                        </m:r>
                        <m:r>
                          <a:rPr lang="en-US" sz="2000" b="1" i="1" smtClean="0">
                            <a:latin typeface="Cambria Math" panose="02040503050406030204" pitchFamily="18" charset="0"/>
                            <a:cs typeface="Arial" panose="020B0604020202020204" pitchFamily="34" charset="0"/>
                          </a:rPr>
                          <m:t>𝒑</m:t>
                        </m:r>
                      </m:num>
                      <m:den>
                        <m:r>
                          <a:rPr lang="en-US" sz="2000" b="0" i="1" smtClean="0">
                            <a:latin typeface="Cambria Math" panose="02040503050406030204" pitchFamily="18" charset="0"/>
                            <a:cs typeface="Arial" panose="020B0604020202020204" pitchFamily="34" charset="0"/>
                          </a:rPr>
                          <m:t>𝑑𝑡</m:t>
                        </m:r>
                      </m:den>
                    </m:f>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𝑞</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𝑑</m:t>
                        </m:r>
                        <m:sSup>
                          <m:sSupPr>
                            <m:ctrlPr>
                              <a:rPr lang="en-US" sz="2000" b="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𝑟</m:t>
                            </m:r>
                          </m:e>
                          <m:sup>
                            <m:r>
                              <a:rPr lang="en-US" sz="2000" b="0" i="1" smtClean="0">
                                <a:latin typeface="Cambria Math" panose="02040503050406030204" pitchFamily="18" charset="0"/>
                                <a:cs typeface="Arial" panose="020B0604020202020204" pitchFamily="34" charset="0"/>
                              </a:rPr>
                              <m:t>′</m:t>
                            </m:r>
                          </m:sup>
                        </m:sSup>
                      </m:num>
                      <m:den>
                        <m:r>
                          <a:rPr lang="en-US" sz="2000" b="0" i="1" smtClean="0">
                            <a:latin typeface="Cambria Math" panose="02040503050406030204" pitchFamily="18" charset="0"/>
                            <a:cs typeface="Arial" panose="020B0604020202020204" pitchFamily="34" charset="0"/>
                          </a:rPr>
                          <m:t>𝑑𝑡</m:t>
                        </m:r>
                      </m:den>
                    </m:f>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𝑞𝑣</m:t>
                    </m:r>
                    <m:r>
                      <a:rPr lang="en-US" sz="2000" b="0" i="1" smtClean="0">
                        <a:latin typeface="Cambria Math" panose="02040503050406030204" pitchFamily="18" charset="0"/>
                        <a:cs typeface="Arial" panose="020B0604020202020204" pitchFamily="34" charset="0"/>
                      </a:rPr>
                      <m:t>,  </m:t>
                    </m:r>
                    <m:f>
                      <m:fPr>
                        <m:ctrlPr>
                          <a:rPr lang="en-US" sz="2000" b="0" i="1" smtClean="0">
                            <a:latin typeface="Cambria Math" panose="02040503050406030204" pitchFamily="18" charset="0"/>
                            <a:cs typeface="Arial" panose="020B0604020202020204" pitchFamily="34" charset="0"/>
                          </a:rPr>
                        </m:ctrlPr>
                      </m:fPr>
                      <m:num>
                        <m:sSup>
                          <m:sSupPr>
                            <m:ctrlPr>
                              <a:rPr lang="en-US" sz="2000" b="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𝑑</m:t>
                            </m:r>
                          </m:e>
                          <m:sup>
                            <m:r>
                              <a:rPr lang="en-US" sz="2000" b="0" i="1" smtClean="0">
                                <a:latin typeface="Cambria Math" panose="02040503050406030204" pitchFamily="18" charset="0"/>
                                <a:cs typeface="Arial" panose="020B0604020202020204" pitchFamily="34" charset="0"/>
                              </a:rPr>
                              <m:t>2</m:t>
                            </m:r>
                          </m:sup>
                        </m:sSup>
                      </m:num>
                      <m:den>
                        <m:sSup>
                          <m:sSupPr>
                            <m:ctrlPr>
                              <a:rPr lang="en-US" sz="2000" b="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𝑑𝑡</m:t>
                            </m:r>
                          </m:e>
                          <m:sup>
                            <m:r>
                              <a:rPr lang="en-US" sz="2000" b="0" i="1" smtClean="0">
                                <a:latin typeface="Cambria Math" panose="02040503050406030204" pitchFamily="18" charset="0"/>
                                <a:cs typeface="Arial" panose="020B0604020202020204" pitchFamily="34" charset="0"/>
                              </a:rPr>
                              <m:t>2</m:t>
                            </m:r>
                          </m:sup>
                        </m:sSup>
                      </m:den>
                    </m:f>
                    <m:r>
                      <a:rPr lang="en-US" sz="2000" b="1" i="1" smtClean="0">
                        <a:latin typeface="Cambria Math" panose="02040503050406030204" pitchFamily="18" charset="0"/>
                        <a:cs typeface="Arial" panose="020B0604020202020204" pitchFamily="34" charset="0"/>
                      </a:rPr>
                      <m:t>𝒑</m:t>
                    </m:r>
                    <m:r>
                      <a:rPr lang="en-US" sz="2000" b="0" i="1" smtClean="0">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𝑡</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𝑟</m:t>
                        </m:r>
                      </m:num>
                      <m:den>
                        <m:r>
                          <a:rPr lang="en-US" sz="2000" i="1">
                            <a:latin typeface="Cambria Math" panose="02040503050406030204" pitchFamily="18" charset="0"/>
                            <a:cs typeface="Arial" panose="020B0604020202020204" pitchFamily="34" charset="0"/>
                          </a:rPr>
                          <m:t>𝑐</m:t>
                        </m:r>
                      </m:den>
                    </m:f>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𝑞</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𝑑𝑣</m:t>
                        </m:r>
                      </m:num>
                      <m:den>
                        <m:r>
                          <a:rPr lang="en-US" sz="2000" b="0" i="1" smtClean="0">
                            <a:latin typeface="Cambria Math" panose="02040503050406030204" pitchFamily="18" charset="0"/>
                            <a:cs typeface="Arial" panose="020B0604020202020204" pitchFamily="34" charset="0"/>
                          </a:rPr>
                          <m:t>𝑑𝑡</m:t>
                        </m:r>
                      </m:den>
                    </m:f>
                  </m:oMath>
                </a14:m>
                <a:endParaRPr lang="en-US" sz="2000" dirty="0">
                  <a:cs typeface="Arial" panose="020B0604020202020204" pitchFamily="34" charset="0"/>
                </a:endParaRPr>
              </a:p>
              <a:p>
                <a:pPr marL="342900" indent="-342900" algn="l">
                  <a:lnSpc>
                    <a:spcPct val="100000"/>
                  </a:lnSpc>
                  <a:spcBef>
                    <a:spcPts val="0"/>
                  </a:spcBef>
                  <a:buFont typeface="Arial" panose="020B0604020202020204" pitchFamily="34" charset="0"/>
                  <a:buChar char="•"/>
                </a:pPr>
                <a14:m>
                  <m:oMath xmlns:m="http://schemas.openxmlformats.org/officeDocument/2006/math">
                    <m:r>
                      <a:rPr lang="en-US" sz="2000" b="0" i="1" smtClean="0">
                        <a:latin typeface="Cambria Math" panose="02040503050406030204" pitchFamily="18" charset="0"/>
                        <a:cs typeface="Arial" panose="020B0604020202020204" pitchFamily="34" charset="0"/>
                      </a:rPr>
                      <m:t>𝑆</m:t>
                    </m:r>
                    <m:r>
                      <a:rPr lang="en-US" sz="2000" b="0" i="1" smtClean="0">
                        <a:latin typeface="Cambria Math" panose="02040503050406030204" pitchFamily="18" charset="0"/>
                        <a:cs typeface="Arial" panose="020B0604020202020204" pitchFamily="34" charset="0"/>
                      </a:rPr>
                      <m:t>= </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1</m:t>
                        </m:r>
                      </m:num>
                      <m:den>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latin typeface="Cambria Math" panose="02040503050406030204" pitchFamily="18" charset="0"/>
                                <a:cs typeface="Arial" panose="020B0604020202020204" pitchFamily="34" charset="0"/>
                              </a:rPr>
                              <m:t>0</m:t>
                            </m:r>
                          </m:sub>
                        </m:sSub>
                      </m:den>
                    </m:f>
                    <m:r>
                      <a:rPr lang="en-US" sz="2000" b="0" i="1" smtClean="0">
                        <a:latin typeface="Cambria Math" panose="02040503050406030204" pitchFamily="18" charset="0"/>
                        <a:cs typeface="Arial" panose="020B0604020202020204" pitchFamily="34" charset="0"/>
                      </a:rPr>
                      <m:t>𝐸</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𝐵</m:t>
                    </m:r>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sSup>
                          <m:sSupPr>
                            <m:ctrlPr>
                              <a:rPr lang="en-US" sz="2000" b="0" i="1" smtClean="0">
                                <a:latin typeface="Cambria Math" panose="02040503050406030204" pitchFamily="18" charset="0"/>
                                <a:cs typeface="Arial" panose="020B0604020202020204" pitchFamily="34" charset="0"/>
                              </a:rPr>
                            </m:ctrlPr>
                          </m:sSupPr>
                          <m:e>
                            <m:acc>
                              <m:accPr>
                                <m:chr m:val="̈"/>
                                <m:ctrlPr>
                                  <a:rPr lang="en-US" sz="2000" b="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𝑝</m:t>
                                </m:r>
                              </m:e>
                            </m:acc>
                          </m:e>
                          <m:sup>
                            <m:r>
                              <a:rPr lang="en-US" sz="2000" b="0" i="1" smtClean="0">
                                <a:latin typeface="Cambria Math" panose="02040503050406030204" pitchFamily="18" charset="0"/>
                                <a:cs typeface="Arial" panose="020B0604020202020204" pitchFamily="34" charset="0"/>
                              </a:rPr>
                              <m:t>2</m:t>
                            </m:r>
                          </m:sup>
                        </m:sSup>
                        <m:r>
                          <a:rPr lang="en-US" sz="2000" b="0" i="1" smtClean="0">
                            <a:latin typeface="Cambria Math" panose="02040503050406030204" pitchFamily="18" charset="0"/>
                            <a:cs typeface="Arial" panose="020B0604020202020204" pitchFamily="34" charset="0"/>
                          </a:rPr>
                          <m:t> </m:t>
                        </m:r>
                        <m:sSup>
                          <m:sSupPr>
                            <m:ctrlPr>
                              <a:rPr lang="en-US" sz="2000" b="0" i="0" smtClean="0">
                                <a:latin typeface="Cambria Math" panose="02040503050406030204" pitchFamily="18" charset="0"/>
                                <a:cs typeface="Arial" panose="020B0604020202020204" pitchFamily="34" charset="0"/>
                              </a:rPr>
                            </m:ctrlPr>
                          </m:sSupPr>
                          <m:e>
                            <m:r>
                              <m:rPr>
                                <m:sty m:val="p"/>
                              </m:rPr>
                              <a:rPr lang="en-US" sz="2000" b="0" i="0" smtClean="0">
                                <a:latin typeface="Cambria Math" panose="02040503050406030204" pitchFamily="18" charset="0"/>
                                <a:cs typeface="Arial" panose="020B0604020202020204" pitchFamily="34" charset="0"/>
                              </a:rPr>
                              <m:t>sin</m:t>
                            </m:r>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𝜃</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e>
                          <m:sup>
                            <m:r>
                              <a:rPr lang="en-US" sz="2000" b="0" i="1" smtClean="0">
                                <a:latin typeface="Cambria Math" panose="02040503050406030204" pitchFamily="18" charset="0"/>
                                <a:cs typeface="Arial" panose="020B0604020202020204" pitchFamily="34" charset="0"/>
                              </a:rPr>
                              <m:t>2</m:t>
                            </m:r>
                          </m:sup>
                        </m:sSup>
                      </m:num>
                      <m:den>
                        <m:r>
                          <a:rPr lang="en-US" sz="2000" b="0" i="1" smtClean="0">
                            <a:latin typeface="Cambria Math" panose="02040503050406030204" pitchFamily="18" charset="0"/>
                            <a:cs typeface="Arial" panose="020B0604020202020204" pitchFamily="34" charset="0"/>
                          </a:rPr>
                          <m:t>16</m:t>
                        </m:r>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𝜋</m:t>
                            </m:r>
                          </m:e>
                          <m:sup>
                            <m:r>
                              <a:rPr lang="en-US" sz="2000" b="0" i="1" smtClean="0">
                                <a:latin typeface="Cambria Math" panose="02040503050406030204" pitchFamily="18" charset="0"/>
                                <a:cs typeface="Arial" panose="020B0604020202020204" pitchFamily="34" charset="0"/>
                              </a:rPr>
                              <m:t>2</m:t>
                            </m:r>
                          </m:sup>
                        </m:sSup>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𝜖</m:t>
                            </m:r>
                          </m:e>
                          <m:sub>
                            <m:r>
                              <a:rPr lang="en-US" sz="2000" b="0" i="1" smtClean="0">
                                <a:latin typeface="Cambria Math" panose="02040503050406030204" pitchFamily="18" charset="0"/>
                                <a:cs typeface="Arial" panose="020B0604020202020204" pitchFamily="34" charset="0"/>
                              </a:rPr>
                              <m:t>0</m:t>
                            </m:r>
                          </m:sub>
                        </m:sSub>
                        <m:sSup>
                          <m:sSupPr>
                            <m:ctrlPr>
                              <a:rPr lang="en-US" sz="2000" b="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𝑐</m:t>
                            </m:r>
                          </m:e>
                          <m:sup>
                            <m:r>
                              <a:rPr lang="en-US" sz="2000" b="0" i="1" smtClean="0">
                                <a:latin typeface="Cambria Math" panose="02040503050406030204" pitchFamily="18" charset="0"/>
                                <a:cs typeface="Arial" panose="020B0604020202020204" pitchFamily="34" charset="0"/>
                              </a:rPr>
                              <m:t>3</m:t>
                            </m:r>
                          </m:sup>
                        </m:sSup>
                        <m:sSup>
                          <m:sSupPr>
                            <m:ctrlPr>
                              <a:rPr lang="en-US" sz="2000" b="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𝑟</m:t>
                            </m:r>
                          </m:e>
                          <m:sup>
                            <m:r>
                              <a:rPr lang="en-US" sz="2000" b="0" i="1" smtClean="0">
                                <a:latin typeface="Cambria Math" panose="02040503050406030204" pitchFamily="18" charset="0"/>
                                <a:cs typeface="Arial" panose="020B0604020202020204" pitchFamily="34" charset="0"/>
                              </a:rPr>
                              <m:t>𝑟</m:t>
                            </m:r>
                          </m:sup>
                        </m:sSup>
                      </m:den>
                    </m:f>
                    <m:f>
                      <m:fPr>
                        <m:ctrlPr>
                          <a:rPr lang="en-US" sz="2000" b="0" i="1" smtClean="0">
                            <a:latin typeface="Cambria Math" panose="02040503050406030204" pitchFamily="18" charset="0"/>
                            <a:cs typeface="Arial" panose="020B0604020202020204" pitchFamily="34" charset="0"/>
                          </a:rPr>
                        </m:ctrlPr>
                      </m:fPr>
                      <m:num>
                        <m:acc>
                          <m:accPr>
                            <m:chr m:val="⃗"/>
                            <m:ctrlPr>
                              <a:rPr lang="en-US" sz="2000" b="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𝑟</m:t>
                            </m:r>
                          </m:e>
                        </m:acc>
                      </m:num>
                      <m:den>
                        <m:r>
                          <a:rPr lang="en-US" sz="2000" b="0" i="1" smtClean="0">
                            <a:latin typeface="Cambria Math" panose="02040503050406030204" pitchFamily="18" charset="0"/>
                            <a:cs typeface="Arial" panose="020B0604020202020204" pitchFamily="34" charset="0"/>
                          </a:rPr>
                          <m:t>𝑟</m:t>
                        </m:r>
                      </m:den>
                    </m:f>
                  </m:oMath>
                </a14:m>
                <a:endParaRPr lang="en-US" sz="2000" dirty="0">
                  <a:cs typeface="Arial" panose="020B0604020202020204" pitchFamily="34" charset="0"/>
                </a:endParaRPr>
              </a:p>
              <a:p>
                <a:pPr marL="342900" indent="-342900" algn="l">
                  <a:lnSpc>
                    <a:spcPct val="100000"/>
                  </a:lnSpc>
                  <a:spcBef>
                    <a:spcPts val="0"/>
                  </a:spcBef>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𝑃</m:t>
                        </m:r>
                      </m:e>
                      <m:sub>
                        <m:r>
                          <a:rPr lang="en-US" sz="2000" b="0" i="1" smtClean="0">
                            <a:latin typeface="Cambria Math" panose="02040503050406030204" pitchFamily="18" charset="0"/>
                            <a:cs typeface="Arial" panose="020B0604020202020204" pitchFamily="34" charset="0"/>
                          </a:rPr>
                          <m:t>𝑅</m:t>
                        </m:r>
                      </m:sub>
                    </m:sSub>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𝑑𝑊</m:t>
                        </m:r>
                      </m:num>
                      <m:den>
                        <m:r>
                          <a:rPr lang="en-US" sz="2000" b="0" i="1" smtClean="0">
                            <a:latin typeface="Cambria Math" panose="02040503050406030204" pitchFamily="18" charset="0"/>
                            <a:cs typeface="Arial" panose="020B0604020202020204" pitchFamily="34" charset="0"/>
                          </a:rPr>
                          <m:t>𝑑𝑡</m:t>
                        </m:r>
                      </m:den>
                    </m:f>
                    <m:r>
                      <a:rPr lang="en-US" sz="2000" b="0" i="1" smtClean="0">
                        <a:latin typeface="Cambria Math" panose="02040503050406030204" pitchFamily="18" charset="0"/>
                        <a:cs typeface="Arial" panose="020B0604020202020204" pitchFamily="34" charset="0"/>
                      </a:rPr>
                      <m:t>= </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2</m:t>
                        </m:r>
                      </m:num>
                      <m:den>
                        <m:r>
                          <a:rPr lang="en-US" sz="2000" b="0" i="1" smtClean="0">
                            <a:latin typeface="Cambria Math" panose="02040503050406030204" pitchFamily="18" charset="0"/>
                            <a:cs typeface="Arial" panose="020B0604020202020204" pitchFamily="34" charset="0"/>
                          </a:rPr>
                          <m:t>3</m:t>
                        </m:r>
                      </m:den>
                    </m:f>
                    <m:f>
                      <m:fPr>
                        <m:ctrlPr>
                          <a:rPr lang="en-US" sz="2000" b="0" i="1" smtClean="0">
                            <a:latin typeface="Cambria Math" panose="02040503050406030204" pitchFamily="18" charset="0"/>
                            <a:cs typeface="Arial" panose="020B0604020202020204" pitchFamily="34" charset="0"/>
                          </a:rPr>
                        </m:ctrlPr>
                      </m:fPr>
                      <m:num>
                        <m:sSup>
                          <m:sSupPr>
                            <m:ctrlPr>
                              <a:rPr lang="en-US" sz="2000" b="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𝑞</m:t>
                            </m:r>
                          </m:e>
                          <m:sup>
                            <m:r>
                              <a:rPr lang="en-US" sz="2000" b="0" i="1" smtClean="0">
                                <a:latin typeface="Cambria Math" panose="02040503050406030204" pitchFamily="18" charset="0"/>
                                <a:cs typeface="Arial" panose="020B0604020202020204" pitchFamily="34" charset="0"/>
                              </a:rPr>
                              <m:t>2</m:t>
                            </m:r>
                          </m:sup>
                        </m:sSup>
                      </m:num>
                      <m:den>
                        <m:r>
                          <a:rPr lang="en-US" sz="2000" i="1">
                            <a:latin typeface="Cambria Math" panose="02040503050406030204" pitchFamily="18" charset="0"/>
                            <a:ea typeface="Cambria Math" panose="02040503050406030204" pitchFamily="18" charset="0"/>
                            <a:cs typeface="Arial" panose="020B0604020202020204" pitchFamily="34" charset="0"/>
                          </a:rPr>
                          <m:t>4</m:t>
                        </m:r>
                        <m:r>
                          <a:rPr lang="en-US" sz="2000" i="1">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𝜖</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𝑐</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3</m:t>
                            </m:r>
                          </m:sup>
                        </m:sSup>
                      </m:den>
                    </m:f>
                    <m:sSup>
                      <m:sSupPr>
                        <m:ctrlPr>
                          <a:rPr lang="en-US" sz="2000" b="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𝑑𝑣</m:t>
                            </m:r>
                          </m:num>
                          <m:den>
                            <m:r>
                              <a:rPr lang="en-US" sz="2000" b="0" i="1" smtClean="0">
                                <a:latin typeface="Cambria Math" panose="02040503050406030204" pitchFamily="18" charset="0"/>
                                <a:cs typeface="Arial" panose="020B0604020202020204" pitchFamily="34" charset="0"/>
                              </a:rPr>
                              <m:t>𝑑𝑡</m:t>
                            </m:r>
                          </m:den>
                        </m:f>
                        <m:r>
                          <a:rPr lang="en-US" sz="2000" b="0" i="1" smtClean="0">
                            <a:latin typeface="Cambria Math" panose="02040503050406030204" pitchFamily="18" charset="0"/>
                            <a:cs typeface="Arial" panose="020B0604020202020204" pitchFamily="34" charset="0"/>
                          </a:rPr>
                          <m:t>)</m:t>
                        </m:r>
                      </m:e>
                      <m:sup>
                        <m:r>
                          <a:rPr lang="en-US" sz="2000" b="0" i="1" smtClean="0">
                            <a:latin typeface="Cambria Math" panose="02040503050406030204" pitchFamily="18" charset="0"/>
                            <a:cs typeface="Arial" panose="020B0604020202020204" pitchFamily="34" charset="0"/>
                          </a:rPr>
                          <m:t>2</m:t>
                        </m:r>
                      </m:sup>
                    </m:sSup>
                  </m:oMath>
                </a14:m>
                <a:endParaRPr lang="en-US" sz="2000" dirty="0">
                  <a:cs typeface="Arial" panose="020B0604020202020204" pitchFamily="34" charset="0"/>
                </a:endParaRPr>
              </a:p>
              <a:p>
                <a:pPr>
                  <a:lnSpc>
                    <a:spcPct val="100000"/>
                  </a:lnSpc>
                  <a:spcBef>
                    <a:spcPts val="0"/>
                  </a:spcBef>
                </a:pPr>
                <a:r>
                  <a:rPr lang="en-US" sz="2000" dirty="0">
                    <a:cs typeface="Arial" panose="020B0604020202020204" pitchFamily="34" charset="0"/>
                  </a:rPr>
                  <a:t>Compare to Feynman later</a:t>
                </a:r>
              </a:p>
              <a:p>
                <a:pPr marL="342900" indent="-342900" algn="l">
                  <a:lnSpc>
                    <a:spcPct val="120000"/>
                  </a:lnSpc>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342900" indent="-342900" algn="l">
                  <a:lnSpc>
                    <a:spcPct val="120000"/>
                  </a:lnSpc>
                  <a:buFont typeface="Arial" panose="020B0604020202020204" pitchFamily="34" charset="0"/>
                  <a:buChar char="•"/>
                </a:pPr>
                <a:endParaRPr lang="en-US" dirty="0">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68939" y="1404475"/>
                <a:ext cx="7580255" cy="4847470"/>
              </a:xfrm>
              <a:blipFill>
                <a:blip r:embed="rId2"/>
                <a:stretch>
                  <a:fillRect l="-669" t="-522"/>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7A91E16D-0EAD-4D3D-AC22-65013F654EE2}" type="slidenum">
              <a:rPr lang="en-US" altLang="en-US" smtClean="0"/>
              <a:pPr>
                <a:defRPr/>
              </a:pPr>
              <a:t>38</a:t>
            </a:fld>
            <a:endParaRPr lang="en-US" altLang="en-US"/>
          </a:p>
        </p:txBody>
      </p:sp>
      <p:grpSp>
        <p:nvGrpSpPr>
          <p:cNvPr id="29" name="Group 28">
            <a:extLst>
              <a:ext uri="{FF2B5EF4-FFF2-40B4-BE49-F238E27FC236}">
                <a16:creationId xmlns:a16="http://schemas.microsoft.com/office/drawing/2014/main" id="{F245B0D4-E3A5-C345-92F0-0808A5E87F46}"/>
              </a:ext>
            </a:extLst>
          </p:cNvPr>
          <p:cNvGrpSpPr/>
          <p:nvPr/>
        </p:nvGrpSpPr>
        <p:grpSpPr>
          <a:xfrm>
            <a:off x="8472781" y="1855627"/>
            <a:ext cx="3477013" cy="3721862"/>
            <a:chOff x="7125673" y="1805991"/>
            <a:chExt cx="3477013" cy="3721862"/>
          </a:xfrm>
        </p:grpSpPr>
        <p:sp>
          <p:nvSpPr>
            <p:cNvPr id="5" name="Oval 4">
              <a:extLst>
                <a:ext uri="{FF2B5EF4-FFF2-40B4-BE49-F238E27FC236}">
                  <a16:creationId xmlns:a16="http://schemas.microsoft.com/office/drawing/2014/main" id="{8BE3ED86-E6E1-204A-8E6B-6A5DEECD44FF}"/>
                </a:ext>
              </a:extLst>
            </p:cNvPr>
            <p:cNvSpPr/>
            <p:nvPr/>
          </p:nvSpPr>
          <p:spPr>
            <a:xfrm>
              <a:off x="7125673" y="3927653"/>
              <a:ext cx="1600200" cy="1600200"/>
            </a:xfrm>
            <a:prstGeom prst="ellipse">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B0230C63-9F06-E840-B430-CFCE5A6A22A2}"/>
                </a:ext>
              </a:extLst>
            </p:cNvPr>
            <p:cNvSpPr/>
            <p:nvPr/>
          </p:nvSpPr>
          <p:spPr>
            <a:xfrm>
              <a:off x="7680399" y="4085423"/>
              <a:ext cx="109728" cy="1088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18BEACF5-CD09-8246-9911-44A023AB36A8}"/>
                </a:ext>
              </a:extLst>
            </p:cNvPr>
            <p:cNvSpPr/>
            <p:nvPr/>
          </p:nvSpPr>
          <p:spPr>
            <a:xfrm>
              <a:off x="8071387" y="4052766"/>
              <a:ext cx="109728" cy="1088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D3B27AB3-108D-394D-A115-E076A92DBFD5}"/>
                </a:ext>
              </a:extLst>
            </p:cNvPr>
            <p:cNvSpPr/>
            <p:nvPr/>
          </p:nvSpPr>
          <p:spPr>
            <a:xfrm>
              <a:off x="7369337" y="4425713"/>
              <a:ext cx="109728" cy="1088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789FC9D6-2DA7-8440-AA5A-E1A19C79C849}"/>
                </a:ext>
              </a:extLst>
            </p:cNvPr>
            <p:cNvSpPr/>
            <p:nvPr/>
          </p:nvSpPr>
          <p:spPr>
            <a:xfrm>
              <a:off x="7621945" y="5091679"/>
              <a:ext cx="109728" cy="1088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7D4F5F5D-CE46-7248-9BA8-7CEC766E5709}"/>
                </a:ext>
              </a:extLst>
            </p:cNvPr>
            <p:cNvSpPr txBox="1"/>
            <p:nvPr/>
          </p:nvSpPr>
          <p:spPr>
            <a:xfrm>
              <a:off x="7621945" y="4686971"/>
              <a:ext cx="646258" cy="369332"/>
            </a:xfrm>
            <a:prstGeom prst="rect">
              <a:avLst/>
            </a:prstGeom>
            <a:noFill/>
          </p:spPr>
          <p:txBody>
            <a:bodyPr wrap="square" rtlCol="0">
              <a:spAutoFit/>
            </a:bodyPr>
            <a:lstStyle/>
            <a:p>
              <a:r>
                <a:rPr lang="en-US" dirty="0"/>
                <a:t>(</a:t>
              </a:r>
              <a:r>
                <a:rPr lang="en-US" sz="1600" dirty="0"/>
                <a:t>0,0)</a:t>
              </a:r>
              <a:endParaRPr lang="en-US" dirty="0"/>
            </a:p>
          </p:txBody>
        </p:sp>
        <p:sp>
          <p:nvSpPr>
            <p:cNvPr id="12" name="Oval 11">
              <a:extLst>
                <a:ext uri="{FF2B5EF4-FFF2-40B4-BE49-F238E27FC236}">
                  <a16:creationId xmlns:a16="http://schemas.microsoft.com/office/drawing/2014/main" id="{985F2503-2F94-7846-B033-50BA2941BEB4}"/>
                </a:ext>
              </a:extLst>
            </p:cNvPr>
            <p:cNvSpPr/>
            <p:nvPr/>
          </p:nvSpPr>
          <p:spPr>
            <a:xfrm>
              <a:off x="7857851" y="4638655"/>
              <a:ext cx="109728" cy="108858"/>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Straight Arrow Connector 13">
              <a:extLst>
                <a:ext uri="{FF2B5EF4-FFF2-40B4-BE49-F238E27FC236}">
                  <a16:creationId xmlns:a16="http://schemas.microsoft.com/office/drawing/2014/main" id="{00048EAA-C74C-CA44-8B28-24F31A278D60}"/>
                </a:ext>
              </a:extLst>
            </p:cNvPr>
            <p:cNvCxnSpPr>
              <a:cxnSpLocks/>
            </p:cNvCxnSpPr>
            <p:nvPr/>
          </p:nvCxnSpPr>
          <p:spPr>
            <a:xfrm flipV="1">
              <a:off x="7905025" y="4128181"/>
              <a:ext cx="226604" cy="58931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7598A31-D7E1-444C-A39D-15506DE1D7FB}"/>
                    </a:ext>
                  </a:extLst>
                </p:cNvPr>
                <p:cNvSpPr txBox="1"/>
                <p:nvPr/>
              </p:nvSpPr>
              <p:spPr>
                <a:xfrm>
                  <a:off x="7682039" y="4079434"/>
                  <a:ext cx="549654" cy="338554"/>
                </a:xfrm>
                <a:prstGeom prst="rect">
                  <a:avLst/>
                </a:prstGeom>
                <a:noFill/>
              </p:spPr>
              <p:txBody>
                <a:bodyPr wrap="square" rtlCol="0">
                  <a:spAutoFit/>
                </a:bodyPr>
                <a:lstStyle/>
                <a:p>
                  <a:pPr/>
                  <a14:m>
                    <m:oMathPara xmlns:m="http://schemas.openxmlformats.org/officeDocument/2006/math">
                      <m:o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𝑟</m:t>
                            </m:r>
                          </m:e>
                          <m:sup>
                            <m:r>
                              <a:rPr lang="en-US" sz="1600" b="0" i="1" smtClean="0">
                                <a:latin typeface="Cambria Math" panose="02040503050406030204" pitchFamily="18" charset="0"/>
                              </a:rPr>
                              <m:t>′</m:t>
                            </m:r>
                          </m:sup>
                        </m:sSup>
                      </m:oMath>
                    </m:oMathPara>
                  </a14:m>
                  <a:endParaRPr lang="en-US" dirty="0"/>
                </a:p>
              </p:txBody>
            </p:sp>
          </mc:Choice>
          <mc:Fallback xmlns="">
            <p:sp>
              <p:nvSpPr>
                <p:cNvPr id="15" name="TextBox 14">
                  <a:extLst>
                    <a:ext uri="{FF2B5EF4-FFF2-40B4-BE49-F238E27FC236}">
                      <a16:creationId xmlns:a16="http://schemas.microsoft.com/office/drawing/2014/main" id="{A7598A31-D7E1-444C-A39D-15506DE1D7FB}"/>
                    </a:ext>
                  </a:extLst>
                </p:cNvPr>
                <p:cNvSpPr txBox="1">
                  <a:spLocks noRot="1" noChangeAspect="1" noMove="1" noResize="1" noEditPoints="1" noAdjustHandles="1" noChangeArrowheads="1" noChangeShapeType="1" noTextEdit="1"/>
                </p:cNvSpPr>
                <p:nvPr/>
              </p:nvSpPr>
              <p:spPr>
                <a:xfrm>
                  <a:off x="7682039" y="4079434"/>
                  <a:ext cx="549654" cy="33855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8D0F1FE-0650-7A46-84F1-96D08213D1BD}"/>
                    </a:ext>
                  </a:extLst>
                </p:cNvPr>
                <p:cNvSpPr txBox="1"/>
                <p:nvPr/>
              </p:nvSpPr>
              <p:spPr>
                <a:xfrm>
                  <a:off x="8725873" y="2692935"/>
                  <a:ext cx="549654" cy="338554"/>
                </a:xfrm>
                <a:prstGeom prst="rect">
                  <a:avLst/>
                </a:prstGeom>
                <a:noFill/>
              </p:spPr>
              <p:txBody>
                <a:bodyPr wrap="square" rtlCol="0">
                  <a:spAutoFit/>
                </a:bodyPr>
                <a:lstStyle/>
                <a:p>
                  <a:pPr/>
                  <a14:m>
                    <m:oMathPara xmlns:m="http://schemas.openxmlformats.org/officeDocument/2006/math">
                      <m:oMath>
                        <m:r>
                          <a:rPr lang="en-US" sz="1600" i="1" smtClean="0">
                            <a:latin typeface="Cambria Math" panose="02040503050406030204" pitchFamily="18" charset="0"/>
                          </a:rPr>
                          <m:t>𝑅</m:t>
                        </m:r>
                      </m:oMath>
                    </m:oMathPara>
                  </a14:m>
                  <a:endParaRPr lang="en-US" dirty="0"/>
                </a:p>
              </p:txBody>
            </p:sp>
          </mc:Choice>
          <mc:Fallback xmlns="">
            <p:sp>
              <p:nvSpPr>
                <p:cNvPr id="16" name="TextBox 15">
                  <a:extLst>
                    <a:ext uri="{FF2B5EF4-FFF2-40B4-BE49-F238E27FC236}">
                      <a16:creationId xmlns:a16="http://schemas.microsoft.com/office/drawing/2014/main" id="{08D0F1FE-0650-7A46-84F1-96D08213D1BD}"/>
                    </a:ext>
                  </a:extLst>
                </p:cNvPr>
                <p:cNvSpPr txBox="1">
                  <a:spLocks noRot="1" noChangeAspect="1" noMove="1" noResize="1" noEditPoints="1" noAdjustHandles="1" noChangeArrowheads="1" noChangeShapeType="1" noTextEdit="1"/>
                </p:cNvSpPr>
                <p:nvPr/>
              </p:nvSpPr>
              <p:spPr>
                <a:xfrm>
                  <a:off x="8725873" y="2692935"/>
                  <a:ext cx="549654" cy="33855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0C0610A-F82E-8145-88FA-65307F9C97F8}"/>
                    </a:ext>
                  </a:extLst>
                </p:cNvPr>
                <p:cNvSpPr txBox="1"/>
                <p:nvPr/>
              </p:nvSpPr>
              <p:spPr>
                <a:xfrm>
                  <a:off x="9126689" y="3259723"/>
                  <a:ext cx="549654" cy="338554"/>
                </a:xfrm>
                <a:prstGeom prst="rect">
                  <a:avLst/>
                </a:prstGeom>
                <a:noFill/>
              </p:spPr>
              <p:txBody>
                <a:bodyPr wrap="square" rtlCol="0">
                  <a:spAutoFit/>
                </a:bodyPr>
                <a:lstStyle/>
                <a:p>
                  <a:pPr/>
                  <a14:m>
                    <m:oMathPara xmlns:m="http://schemas.openxmlformats.org/officeDocument/2006/math">
                      <m:oMath>
                        <m:r>
                          <a:rPr lang="en-US" sz="1600" b="0" i="1" smtClean="0">
                            <a:latin typeface="Cambria Math" panose="02040503050406030204" pitchFamily="18" charset="0"/>
                          </a:rPr>
                          <m:t>𝑟</m:t>
                        </m:r>
                      </m:oMath>
                    </m:oMathPara>
                  </a14:m>
                  <a:endParaRPr lang="en-US" dirty="0"/>
                </a:p>
              </p:txBody>
            </p:sp>
          </mc:Choice>
          <mc:Fallback xmlns="">
            <p:sp>
              <p:nvSpPr>
                <p:cNvPr id="17" name="TextBox 16">
                  <a:extLst>
                    <a:ext uri="{FF2B5EF4-FFF2-40B4-BE49-F238E27FC236}">
                      <a16:creationId xmlns:a16="http://schemas.microsoft.com/office/drawing/2014/main" id="{30C0610A-F82E-8145-88FA-65307F9C97F8}"/>
                    </a:ext>
                  </a:extLst>
                </p:cNvPr>
                <p:cNvSpPr txBox="1">
                  <a:spLocks noRot="1" noChangeAspect="1" noMove="1" noResize="1" noEditPoints="1" noAdjustHandles="1" noChangeArrowheads="1" noChangeShapeType="1" noTextEdit="1"/>
                </p:cNvSpPr>
                <p:nvPr/>
              </p:nvSpPr>
              <p:spPr>
                <a:xfrm>
                  <a:off x="9126689" y="3259723"/>
                  <a:ext cx="549654" cy="338554"/>
                </a:xfrm>
                <a:prstGeom prst="rect">
                  <a:avLst/>
                </a:prstGeom>
                <a:blipFill>
                  <a:blip r:embed="rId5"/>
                  <a:stretch>
                    <a:fillRect/>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9FCA4D0F-763C-EE44-9B74-CFDA1FEA1DB0}"/>
                </a:ext>
              </a:extLst>
            </p:cNvPr>
            <p:cNvCxnSpPr>
              <a:cxnSpLocks/>
              <a:stCxn id="7" idx="7"/>
              <a:endCxn id="21" idx="3"/>
            </p:cNvCxnSpPr>
            <p:nvPr/>
          </p:nvCxnSpPr>
          <p:spPr>
            <a:xfrm flipV="1">
              <a:off x="8165046" y="2173429"/>
              <a:ext cx="2125502" cy="1895279"/>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C8508EF-3138-294C-9940-417C87805A3B}"/>
                    </a:ext>
                  </a:extLst>
                </p:cNvPr>
                <p:cNvSpPr txBox="1"/>
                <p:nvPr/>
              </p:nvSpPr>
              <p:spPr>
                <a:xfrm>
                  <a:off x="10053032" y="1805991"/>
                  <a:ext cx="549654" cy="338554"/>
                </a:xfrm>
                <a:prstGeom prst="rect">
                  <a:avLst/>
                </a:prstGeom>
                <a:noFill/>
              </p:spPr>
              <p:txBody>
                <a:bodyPr wrap="square" rtlCol="0">
                  <a:spAutoFit/>
                </a:bodyPr>
                <a:lstStyle/>
                <a:p>
                  <a:pPr/>
                  <a14:m>
                    <m:oMathPara xmlns:m="http://schemas.openxmlformats.org/officeDocument/2006/math">
                      <m:oMath>
                        <m:r>
                          <a:rPr lang="en-US" sz="1600" b="0" i="1" smtClean="0">
                            <a:latin typeface="Cambria Math" panose="02040503050406030204" pitchFamily="18" charset="0"/>
                          </a:rPr>
                          <m:t>1</m:t>
                        </m:r>
                      </m:oMath>
                    </m:oMathPara>
                  </a14:m>
                  <a:endParaRPr lang="en-US" dirty="0"/>
                </a:p>
              </p:txBody>
            </p:sp>
          </mc:Choice>
          <mc:Fallback xmlns="">
            <p:sp>
              <p:nvSpPr>
                <p:cNvPr id="20" name="TextBox 19">
                  <a:extLst>
                    <a:ext uri="{FF2B5EF4-FFF2-40B4-BE49-F238E27FC236}">
                      <a16:creationId xmlns:a16="http://schemas.microsoft.com/office/drawing/2014/main" id="{0C8508EF-3138-294C-9940-417C87805A3B}"/>
                    </a:ext>
                  </a:extLst>
                </p:cNvPr>
                <p:cNvSpPr txBox="1">
                  <a:spLocks noRot="1" noChangeAspect="1" noMove="1" noResize="1" noEditPoints="1" noAdjustHandles="1" noChangeArrowheads="1" noChangeShapeType="1" noTextEdit="1"/>
                </p:cNvSpPr>
                <p:nvPr/>
              </p:nvSpPr>
              <p:spPr>
                <a:xfrm>
                  <a:off x="10053032" y="1805991"/>
                  <a:ext cx="549654" cy="338554"/>
                </a:xfrm>
                <a:prstGeom prst="rect">
                  <a:avLst/>
                </a:prstGeom>
                <a:blipFill>
                  <a:blip r:embed="rId6"/>
                  <a:stretch>
                    <a:fillRect/>
                  </a:stretch>
                </a:blipFill>
              </p:spPr>
              <p:txBody>
                <a:bodyPr/>
                <a:lstStyle/>
                <a:p>
                  <a:r>
                    <a:rPr lang="en-US">
                      <a:noFill/>
                    </a:rPr>
                    <a:t> </a:t>
                  </a:r>
                </a:p>
              </p:txBody>
            </p:sp>
          </mc:Fallback>
        </mc:AlternateContent>
        <p:sp>
          <p:nvSpPr>
            <p:cNvPr id="21" name="Oval 20">
              <a:extLst>
                <a:ext uri="{FF2B5EF4-FFF2-40B4-BE49-F238E27FC236}">
                  <a16:creationId xmlns:a16="http://schemas.microsoft.com/office/drawing/2014/main" id="{982E89F6-DA42-F94B-88C9-23F975F438FD}"/>
                </a:ext>
              </a:extLst>
            </p:cNvPr>
            <p:cNvSpPr/>
            <p:nvPr/>
          </p:nvSpPr>
          <p:spPr>
            <a:xfrm>
              <a:off x="10274479" y="2080513"/>
              <a:ext cx="109728" cy="108858"/>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Arrow Connector 22">
              <a:extLst>
                <a:ext uri="{FF2B5EF4-FFF2-40B4-BE49-F238E27FC236}">
                  <a16:creationId xmlns:a16="http://schemas.microsoft.com/office/drawing/2014/main" id="{729A8E33-DEB9-5B49-B23C-1D8E2AD578DE}"/>
                </a:ext>
              </a:extLst>
            </p:cNvPr>
            <p:cNvCxnSpPr>
              <a:cxnSpLocks/>
              <a:endCxn id="21" idx="4"/>
            </p:cNvCxnSpPr>
            <p:nvPr/>
          </p:nvCxnSpPr>
          <p:spPr>
            <a:xfrm flipV="1">
              <a:off x="7924035" y="2189371"/>
              <a:ext cx="2405308" cy="2497602"/>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898208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3521" y="136525"/>
            <a:ext cx="11201400" cy="982810"/>
          </a:xfrm>
        </p:spPr>
        <p:txBody>
          <a:bodyPr>
            <a:normAutofit/>
          </a:bodyPr>
          <a:lstStyle/>
          <a:p>
            <a:pPr algn="ctr"/>
            <a:r>
              <a:rPr lang="en-US" sz="4400" dirty="0">
                <a:latin typeface="Calibri" panose="020F0502020204030204" pitchFamily="34" charset="0"/>
                <a:cs typeface="Calibri" panose="020F0502020204030204" pitchFamily="34" charset="0"/>
              </a:rPr>
              <a:t>Radiation from a single accelerating charge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71847" y="1831409"/>
                <a:ext cx="9464749" cy="3757862"/>
              </a:xfrm>
            </p:spPr>
            <p:txBody>
              <a:bodyPr>
                <a:normAutofit/>
              </a:bodyPr>
              <a:lstStyle/>
              <a:p>
                <a:pPr marL="342900" indent="-342900" algn="l">
                  <a:lnSpc>
                    <a:spcPct val="100000"/>
                  </a:lnSpc>
                  <a:spcBef>
                    <a:spcPts val="400"/>
                  </a:spcBef>
                  <a:buFont typeface="Arial" panose="020B0604020202020204" pitchFamily="34" charset="0"/>
                  <a:buChar char="•"/>
                </a:pPr>
                <a:r>
                  <a:rPr lang="en-US" sz="2000" dirty="0">
                    <a:ea typeface="Cambria Math" panose="02040503050406030204" pitchFamily="18" charset="0"/>
                    <a:cs typeface="Arial" panose="020B0604020202020204" pitchFamily="34" charset="0"/>
                  </a:rPr>
                  <a:t>Near zone</a:t>
                </a:r>
              </a:p>
              <a:p>
                <a:pPr marL="800100" lvl="1" indent="-342900" algn="l">
                  <a:lnSpc>
                    <a:spcPct val="100000"/>
                  </a:lnSpc>
                  <a:spcBef>
                    <a:spcPts val="0"/>
                  </a:spcBef>
                  <a:buFont typeface="Arial" panose="020B0604020202020204" pitchFamily="34" charset="0"/>
                  <a:buChar char="•"/>
                </a:pPr>
                <a14:m>
                  <m:oMath xmlns:m="http://schemas.openxmlformats.org/officeDocument/2006/math">
                    <m:r>
                      <a:rPr lang="en-US" sz="2000" i="1" smtClean="0">
                        <a:latin typeface="Cambria Math" panose="02040503050406030204" pitchFamily="18" charset="0"/>
                        <a:ea typeface="Cambria Math" panose="02040503050406030204" pitchFamily="18" charset="0"/>
                        <a:cs typeface="Arial" panose="020B0604020202020204" pitchFamily="34" charset="0"/>
                      </a:rPr>
                      <m:t>𝜑</m:t>
                    </m:r>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𝑡</m:t>
                        </m:r>
                      </m:e>
                    </m:d>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𝑞</m:t>
                        </m:r>
                      </m:num>
                      <m:den>
                        <m:r>
                          <a:rPr lang="en-US" sz="2000" i="1">
                            <a:latin typeface="Cambria Math" panose="02040503050406030204" pitchFamily="18" charset="0"/>
                            <a:ea typeface="Cambria Math" panose="02040503050406030204" pitchFamily="18" charset="0"/>
                            <a:cs typeface="Arial" panose="020B0604020202020204" pitchFamily="34" charset="0"/>
                          </a:rPr>
                          <m:t>4</m:t>
                        </m:r>
                        <m:r>
                          <a:rPr lang="en-US" sz="2000" i="1">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𝜖</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den>
                    </m:f>
                    <m:d>
                      <m:dPr>
                        <m:begChr m:val="["/>
                        <m:endChr m:val="]"/>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1</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𝑅</m:t>
                            </m:r>
                            <m:r>
                              <a:rPr lang="en-US" sz="2000" b="0" i="1" smtClean="0">
                                <a:latin typeface="Cambria Math" panose="02040503050406030204" pitchFamily="18" charset="0"/>
                                <a:ea typeface="Cambria Math" panose="02040503050406030204" pitchFamily="18" charset="0"/>
                                <a:cs typeface="Arial" panose="020B0604020202020204" pitchFamily="34" charset="0"/>
                              </a:rPr>
                              <m:t>′(1+</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𝑣</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𝑛</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m:t>
                                    </m:r>
                                  </m:sup>
                                </m:sSup>
                              </m:num>
                              <m:den>
                                <m:r>
                                  <a:rPr lang="en-US" sz="2000" b="0" i="1" smtClean="0">
                                    <a:latin typeface="Cambria Math" panose="02040503050406030204" pitchFamily="18" charset="0"/>
                                    <a:ea typeface="Cambria Math" panose="02040503050406030204" pitchFamily="18" charset="0"/>
                                    <a:cs typeface="Arial" panose="020B0604020202020204" pitchFamily="34" charset="0"/>
                                  </a:rPr>
                                  <m:t>𝑐</m:t>
                                </m:r>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den>
                        </m:f>
                      </m:e>
                    </m:d>
                  </m:oMath>
                </a14:m>
                <a:endParaRPr lang="en-US" sz="2000" b="0" dirty="0">
                  <a:ea typeface="Cambria Math" panose="02040503050406030204" pitchFamily="18" charset="0"/>
                  <a:cs typeface="Arial" panose="020B0604020202020204" pitchFamily="34" charset="0"/>
                </a:endParaRPr>
              </a:p>
              <a:p>
                <a:pPr marL="800100" lvl="1" indent="-342900" algn="l">
                  <a:lnSpc>
                    <a:spcPct val="100000"/>
                  </a:lnSpc>
                  <a:spcBef>
                    <a:spcPts val="0"/>
                  </a:spcBef>
                  <a:buFont typeface="Arial" panose="020B0604020202020204" pitchFamily="34" charset="0"/>
                  <a:buChar char="•"/>
                </a:pPr>
                <a14:m>
                  <m:oMath xmlns:m="http://schemas.openxmlformats.org/officeDocument/2006/math">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𝑅</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m:t>
                        </m:r>
                      </m:sup>
                    </m:sSup>
                    <m:r>
                      <a:rPr lang="en-US" sz="2000"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𝑅</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m:t>
                        </m:r>
                      </m:sup>
                    </m:sSup>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𝑣</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𝑐</m:t>
                        </m:r>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𝑥</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0</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𝑥</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m:t>
                    </m:r>
                  </m:oMath>
                </a14:m>
                <a:endParaRPr lang="en-US" sz="2000" b="0" dirty="0">
                  <a:ea typeface="Cambria Math" panose="02040503050406030204" pitchFamily="18" charset="0"/>
                  <a:cs typeface="Arial" panose="020B0604020202020204" pitchFamily="34" charset="0"/>
                </a:endParaRPr>
              </a:p>
              <a:p>
                <a:pPr marL="800100" lvl="1" indent="-342900">
                  <a:lnSpc>
                    <a:spcPct val="100000"/>
                  </a:lnSpc>
                  <a:spcBef>
                    <a:spcPts val="0"/>
                  </a:spcBef>
                </a:pPr>
                <a14:m>
                  <m:oMath xmlns:m="http://schemas.openxmlformats.org/officeDocument/2006/math">
                    <m:r>
                      <a:rPr lang="en-US" sz="2000" b="0" i="1" smtClean="0">
                        <a:latin typeface="Cambria Math" panose="02040503050406030204" pitchFamily="18" charset="0"/>
                        <a:cs typeface="Arial" panose="020B0604020202020204" pitchFamily="34" charset="0"/>
                      </a:rPr>
                      <m:t>𝐸</m:t>
                    </m:r>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𝑟</m:t>
                        </m:r>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𝑡</m:t>
                        </m:r>
                      </m:e>
                    </m:d>
                    <m:r>
                      <a:rPr lang="en-US" sz="2000" b="0" i="1" smtClean="0">
                        <a:latin typeface="Cambria Math" panose="02040503050406030204" pitchFamily="18" charset="0"/>
                        <a:cs typeface="Arial" panose="020B0604020202020204" pitchFamily="34" charset="0"/>
                      </a:rPr>
                      <m:t>=</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1</m:t>
                        </m:r>
                      </m:num>
                      <m:den>
                        <m:r>
                          <a:rPr lang="en-US" sz="2000" i="1">
                            <a:latin typeface="Cambria Math" panose="02040503050406030204" pitchFamily="18" charset="0"/>
                            <a:ea typeface="Cambria Math" panose="02040503050406030204" pitchFamily="18" charset="0"/>
                            <a:cs typeface="Arial" panose="020B0604020202020204" pitchFamily="34" charset="0"/>
                          </a:rPr>
                          <m:t>4</m:t>
                        </m:r>
                        <m:r>
                          <a:rPr lang="en-US" sz="2000" i="1">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𝜖</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den>
                    </m:f>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1</m:t>
                        </m:r>
                      </m:num>
                      <m:den>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𝑅</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∗3</m:t>
                            </m:r>
                          </m:sup>
                        </m:sSup>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𝑅</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m:t>
                            </m:r>
                          </m:sup>
                        </m:sSup>
                        <m:r>
                          <a:rPr lang="en-US" sz="2000" b="0" i="1" smtClean="0">
                            <a:latin typeface="Cambria Math" panose="02040503050406030204" pitchFamily="18" charset="0"/>
                            <a:ea typeface="Cambria Math" panose="02040503050406030204" pitchFamily="18" charset="0"/>
                            <a:cs typeface="Arial" panose="020B0604020202020204" pitchFamily="34" charset="0"/>
                          </a:rPr>
                          <m:t>− </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𝑅</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m:t>
                                </m:r>
                              </m:sup>
                            </m:sSup>
                            <m:r>
                              <a:rPr lang="en-US" sz="2000" b="0" i="1" smtClean="0">
                                <a:latin typeface="Cambria Math" panose="02040503050406030204" pitchFamily="18" charset="0"/>
                                <a:ea typeface="Cambria Math" panose="02040503050406030204" pitchFamily="18" charset="0"/>
                                <a:cs typeface="Arial" panose="020B0604020202020204" pitchFamily="34" charset="0"/>
                              </a:rPr>
                              <m:t> </m:t>
                            </m:r>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𝑣</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m:t>
                                </m:r>
                              </m:sup>
                            </m:sSup>
                          </m:num>
                          <m:den>
                            <m:r>
                              <a:rPr lang="en-US" sz="2000" b="0" i="1" smtClean="0">
                                <a:latin typeface="Cambria Math" panose="02040503050406030204" pitchFamily="18" charset="0"/>
                                <a:ea typeface="Cambria Math" panose="02040503050406030204" pitchFamily="18" charset="0"/>
                                <a:cs typeface="Arial" panose="020B0604020202020204" pitchFamily="34" charset="0"/>
                              </a:rPr>
                              <m:t>𝑐</m:t>
                            </m:r>
                          </m:den>
                        </m:f>
                      </m:e>
                    </m:d>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ea typeface="Cambria Math" panose="02040503050406030204" pitchFamily="18" charset="0"/>
                            <a:cs typeface="Arial" panose="020B0604020202020204" pitchFamily="34" charset="0"/>
                          </a:rPr>
                          <m:t>1− </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𝑣</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num>
                          <m:den>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𝑐</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den>
                        </m:f>
                      </m:e>
                    </m:d>
                    <m:r>
                      <a:rPr lang="en-US" sz="2000" b="0" i="1" smtClean="0">
                        <a:latin typeface="Cambria Math" panose="02040503050406030204" pitchFamily="18" charset="0"/>
                        <a:ea typeface="Cambria Math" panose="02040503050406030204" pitchFamily="18" charset="0"/>
                        <a:cs typeface="Arial" panose="020B0604020202020204" pitchFamily="34" charset="0"/>
                      </a:rPr>
                      <m:t>+ </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𝑅</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num>
                      <m:den>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𝑐</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den>
                    </m:f>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ea typeface="Cambria Math" panose="02040503050406030204" pitchFamily="18" charset="0"/>
                            <a:cs typeface="Arial" panose="020B0604020202020204" pitchFamily="34" charset="0"/>
                          </a:rPr>
                          <m:t>𝑅</m:t>
                        </m:r>
                        <m:r>
                          <a:rPr lang="en-US" sz="2000" b="0" i="1" smtClean="0">
                            <a:latin typeface="Cambria Math" panose="02040503050406030204" pitchFamily="18" charset="0"/>
                            <a:ea typeface="Cambria Math" panose="02040503050406030204" pitchFamily="18" charset="0"/>
                            <a:cs typeface="Arial" panose="020B0604020202020204" pitchFamily="34" charset="0"/>
                          </a:rPr>
                          <m:t>′ − </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𝑅</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𝑣</m:t>
                                </m:r>
                              </m:e>
                              <m:sup>
                                <m:r>
                                  <a:rPr lang="en-US" sz="2000" i="1">
                                    <a:latin typeface="Cambria Math" panose="02040503050406030204" pitchFamily="18" charset="0"/>
                                    <a:ea typeface="Cambria Math" panose="02040503050406030204" pitchFamily="18" charset="0"/>
                                    <a:cs typeface="Arial" panose="020B0604020202020204" pitchFamily="34" charset="0"/>
                                  </a:rPr>
                                  <m:t>′</m:t>
                                </m:r>
                              </m:sup>
                            </m:sSup>
                          </m:num>
                          <m:den>
                            <m:r>
                              <a:rPr lang="en-US" sz="2000" b="0" i="1" smtClean="0">
                                <a:latin typeface="Cambria Math" panose="02040503050406030204" pitchFamily="18" charset="0"/>
                                <a:ea typeface="Cambria Math" panose="02040503050406030204" pitchFamily="18" charset="0"/>
                                <a:cs typeface="Arial" panose="020B0604020202020204" pitchFamily="34" charset="0"/>
                              </a:rPr>
                              <m:t>𝑐</m:t>
                            </m:r>
                          </m:den>
                        </m:f>
                      </m:e>
                    </m:d>
                    <m:r>
                      <a:rPr lang="en-US" sz="2000" b="0" i="1" smtClean="0">
                        <a:latin typeface="Cambria Math" panose="02040503050406030204" pitchFamily="18" charset="0"/>
                        <a:ea typeface="Cambria Math" panose="02040503050406030204" pitchFamily="18" charset="0"/>
                        <a:cs typeface="Arial" panose="020B0604020202020204" pitchFamily="34" charset="0"/>
                      </a:rPr>
                      <m:t>× </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𝑑</m:t>
                        </m:r>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𝑣</m:t>
                            </m:r>
                          </m:e>
                          <m:sup>
                            <m:r>
                              <a:rPr lang="en-US" sz="2000" i="1">
                                <a:latin typeface="Cambria Math" panose="02040503050406030204" pitchFamily="18" charset="0"/>
                                <a:ea typeface="Cambria Math" panose="02040503050406030204" pitchFamily="18" charset="0"/>
                                <a:cs typeface="Arial" panose="020B0604020202020204" pitchFamily="34" charset="0"/>
                              </a:rPr>
                              <m:t>′</m:t>
                            </m:r>
                          </m:sup>
                        </m:sSup>
                      </m:num>
                      <m:den>
                        <m:r>
                          <a:rPr lang="en-US" sz="2000" b="0" i="1" smtClean="0">
                            <a:latin typeface="Cambria Math" panose="02040503050406030204" pitchFamily="18" charset="0"/>
                            <a:ea typeface="Cambria Math" panose="02040503050406030204" pitchFamily="18" charset="0"/>
                            <a:cs typeface="Arial" panose="020B0604020202020204" pitchFamily="34" charset="0"/>
                          </a:rPr>
                          <m:t>𝑑𝑡</m:t>
                        </m:r>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oMath>
                </a14:m>
                <a:endParaRPr lang="en-US" sz="2000" dirty="0">
                  <a:cs typeface="Arial" panose="020B0604020202020204" pitchFamily="34" charset="0"/>
                </a:endParaRPr>
              </a:p>
              <a:p>
                <a:pPr marL="800100" lvl="1" indent="-342900" algn="l">
                  <a:lnSpc>
                    <a:spcPct val="100000"/>
                  </a:lnSpc>
                  <a:spcBef>
                    <a:spcPts val="0"/>
                  </a:spcBef>
                  <a:buFont typeface="Arial" panose="020B0604020202020204" pitchFamily="34" charset="0"/>
                  <a:buChar char="•"/>
                </a:pPr>
                <a14:m>
                  <m:oMath xmlns:m="http://schemas.openxmlformats.org/officeDocument/2006/math">
                    <m:r>
                      <a:rPr lang="en-US" sz="2000" b="0" i="1" smtClean="0">
                        <a:latin typeface="Cambria Math" panose="02040503050406030204" pitchFamily="18" charset="0"/>
                        <a:cs typeface="Arial" panose="020B0604020202020204" pitchFamily="34" charset="0"/>
                      </a:rPr>
                      <m:t>𝐵</m:t>
                    </m:r>
                    <m:r>
                      <a:rPr lang="en-US" sz="2000" b="0" i="1" smtClean="0">
                        <a:latin typeface="Cambria Math" panose="02040503050406030204" pitchFamily="18" charset="0"/>
                        <a:cs typeface="Arial" panose="020B0604020202020204" pitchFamily="34" charset="0"/>
                      </a:rPr>
                      <m:t>= </m:t>
                    </m:r>
                    <m:f>
                      <m:fPr>
                        <m:ctrlPr>
                          <a:rPr lang="en-US" sz="2000" b="0" i="1" smtClean="0">
                            <a:latin typeface="Cambria Math" panose="02040503050406030204" pitchFamily="18" charset="0"/>
                            <a:cs typeface="Arial" panose="020B0604020202020204" pitchFamily="34" charset="0"/>
                          </a:rPr>
                        </m:ctrlPr>
                      </m:fPr>
                      <m:num>
                        <m:sSup>
                          <m:sSupPr>
                            <m:ctrlPr>
                              <a:rPr lang="en-US" sz="2000" b="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𝑅</m:t>
                            </m:r>
                          </m:e>
                          <m:sup>
                            <m:r>
                              <a:rPr lang="en-US" sz="2000" b="0" i="1" smtClean="0">
                                <a:latin typeface="Cambria Math" panose="02040503050406030204" pitchFamily="18" charset="0"/>
                                <a:cs typeface="Arial" panose="020B0604020202020204" pitchFamily="34" charset="0"/>
                              </a:rPr>
                              <m:t>′</m:t>
                            </m:r>
                          </m:sup>
                        </m:sSup>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𝐸</m:t>
                        </m:r>
                      </m:num>
                      <m:den>
                        <m:sSup>
                          <m:sSupPr>
                            <m:ctrlPr>
                              <a:rPr lang="en-US" sz="2000" b="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𝑅</m:t>
                            </m:r>
                          </m:e>
                          <m:sup>
                            <m:r>
                              <a:rPr lang="en-US" sz="2000" b="0" i="1" smtClean="0">
                                <a:latin typeface="Cambria Math" panose="02040503050406030204" pitchFamily="18" charset="0"/>
                                <a:cs typeface="Arial" panose="020B0604020202020204" pitchFamily="34" charset="0"/>
                              </a:rPr>
                              <m:t>′</m:t>
                            </m:r>
                          </m:sup>
                        </m:sSup>
                        <m:r>
                          <a:rPr lang="en-US" sz="2000" b="0" i="1" smtClean="0">
                            <a:latin typeface="Cambria Math" panose="02040503050406030204" pitchFamily="18" charset="0"/>
                            <a:cs typeface="Arial" panose="020B0604020202020204" pitchFamily="34" charset="0"/>
                          </a:rPr>
                          <m:t>𝑐</m:t>
                        </m:r>
                      </m:den>
                    </m:f>
                  </m:oMath>
                </a14:m>
                <a:endParaRPr lang="en-US" sz="2000" dirty="0">
                  <a:cs typeface="Arial" panose="020B0604020202020204" pitchFamily="34" charset="0"/>
                </a:endParaRPr>
              </a:p>
              <a:p>
                <a:pPr marL="800100" lvl="1" indent="-342900">
                  <a:lnSpc>
                    <a:spcPct val="100000"/>
                  </a:lnSpc>
                  <a:spcBef>
                    <a:spcPts val="0"/>
                  </a:spcBef>
                </a:pPr>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𝑆</m:t>
                    </m:r>
                    <m:r>
                      <a:rPr lang="en-US" sz="2000" b="0" i="1" smtClean="0">
                        <a:latin typeface="Cambria Math" panose="02040503050406030204" pitchFamily="18" charset="0"/>
                        <a:ea typeface="Cambria Math" panose="02040503050406030204" pitchFamily="18" charset="0"/>
                        <a:cs typeface="Arial" panose="020B0604020202020204" pitchFamily="34" charset="0"/>
                      </a:rPr>
                      <m:t>= </m:t>
                    </m:r>
                    <m:f>
                      <m:f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𝑞</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num>
                      <m:den>
                        <m:r>
                          <a:rPr lang="en-US" sz="2000" b="0" i="1" smtClean="0">
                            <a:latin typeface="Cambria Math" panose="02040503050406030204" pitchFamily="18" charset="0"/>
                            <a:ea typeface="Cambria Math" panose="02040503050406030204" pitchFamily="18" charset="0"/>
                            <a:cs typeface="Arial" panose="020B0604020202020204" pitchFamily="34" charset="0"/>
                          </a:rPr>
                          <m:t>16</m:t>
                        </m:r>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𝜋</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𝑐</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3</m:t>
                            </m:r>
                          </m:sup>
                        </m:sSup>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𝜖</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den>
                    </m:f>
                    <m:r>
                      <a:rPr lang="en-US" sz="2000" b="0" i="1" smtClean="0">
                        <a:latin typeface="Cambria Math" panose="02040503050406030204" pitchFamily="18" charset="0"/>
                        <a:ea typeface="Cambria Math" panose="02040503050406030204" pitchFamily="18" charset="0"/>
                        <a:cs typeface="Arial" panose="020B0604020202020204" pitchFamily="34" charset="0"/>
                      </a:rPr>
                      <m:t> </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𝑅</m:t>
                            </m:r>
                          </m:e>
                          <m:sup>
                            <m:r>
                              <a:rPr lang="en-US" sz="2000"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m:t>
                            </m:r>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𝑅</m:t>
                                </m:r>
                              </m:e>
                              <m:sup>
                                <m:r>
                                  <a:rPr lang="en-US" sz="2000" i="1">
                                    <a:latin typeface="Cambria Math" panose="02040503050406030204" pitchFamily="18" charset="0"/>
                                    <a:ea typeface="Cambria Math" panose="02040503050406030204" pitchFamily="18" charset="0"/>
                                    <a:cs typeface="Arial" panose="020B0604020202020204" pitchFamily="34" charset="0"/>
                                  </a:rPr>
                                  <m:t>′</m:t>
                                </m:r>
                              </m:sup>
                            </m:sSup>
                            <m:r>
                              <a:rPr lang="en-US" sz="2000" i="1">
                                <a:latin typeface="Cambria Math" panose="02040503050406030204" pitchFamily="18" charset="0"/>
                                <a:ea typeface="Cambria Math" panose="02040503050406030204" pitchFamily="18" charset="0"/>
                                <a:cs typeface="Arial" panose="020B0604020202020204" pitchFamily="34" charset="0"/>
                              </a:rPr>
                              <m:t>×</m:t>
                            </m:r>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𝑣</m:t>
                                </m:r>
                              </m:e>
                              <m:sup>
                                <m:r>
                                  <a:rPr lang="en-US" sz="2000" i="1">
                                    <a:latin typeface="Cambria Math" panose="02040503050406030204" pitchFamily="18" charset="0"/>
                                    <a:ea typeface="Cambria Math" panose="02040503050406030204" pitchFamily="18" charset="0"/>
                                    <a:cs typeface="Arial" panose="020B0604020202020204" pitchFamily="34" charset="0"/>
                                  </a:rPr>
                                  <m:t>′</m:t>
                                </m:r>
                              </m:sup>
                            </m:sSup>
                            <m:r>
                              <a:rPr lang="en-US" sz="2000" i="1">
                                <a:latin typeface="Cambria Math" panose="02040503050406030204" pitchFamily="18" charset="0"/>
                                <a:ea typeface="Cambria Math" panose="02040503050406030204" pitchFamily="18" charset="0"/>
                                <a:cs typeface="Arial" panose="020B0604020202020204" pitchFamily="34" charset="0"/>
                              </a:rPr>
                              <m:t>)</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num>
                      <m:den>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m:t>
                            </m:r>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𝑅</m:t>
                                </m:r>
                              </m:e>
                              <m:sup>
                                <m:r>
                                  <a:rPr lang="en-US" sz="2000" i="1">
                                    <a:latin typeface="Cambria Math" panose="02040503050406030204" pitchFamily="18" charset="0"/>
                                    <a:ea typeface="Cambria Math" panose="02040503050406030204" pitchFamily="18" charset="0"/>
                                    <a:cs typeface="Arial" panose="020B0604020202020204" pitchFamily="34" charset="0"/>
                                  </a:rPr>
                                  <m:t>′</m:t>
                                </m:r>
                              </m:sup>
                            </m:sSup>
                            <m:r>
                              <a:rPr lang="en-US" sz="2000" i="1">
                                <a:latin typeface="Cambria Math" panose="02040503050406030204" pitchFamily="18" charset="0"/>
                                <a:ea typeface="Cambria Math" panose="02040503050406030204" pitchFamily="18" charset="0"/>
                                <a:cs typeface="Arial" panose="020B0604020202020204" pitchFamily="34" charset="0"/>
                              </a:rPr>
                              <m:t>)</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5</m:t>
                            </m:r>
                          </m:sup>
                        </m:sSup>
                      </m:den>
                    </m:f>
                  </m:oMath>
                </a14:m>
                <a:endParaRPr lang="en-US" sz="2000" dirty="0">
                  <a:cs typeface="Arial" panose="020B0604020202020204" pitchFamily="34" charset="0"/>
                </a:endParaRPr>
              </a:p>
              <a:p>
                <a:pPr marL="342900" indent="-342900" algn="l">
                  <a:lnSpc>
                    <a:spcPct val="120000"/>
                  </a:lnSpc>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342900" indent="-342900" algn="l">
                  <a:lnSpc>
                    <a:spcPct val="120000"/>
                  </a:lnSpc>
                  <a:buFont typeface="Arial" panose="020B0604020202020204" pitchFamily="34" charset="0"/>
                  <a:buChar char="•"/>
                </a:pPr>
                <a:endParaRPr lang="en-US" dirty="0">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71847" y="1831409"/>
                <a:ext cx="9464749" cy="3757862"/>
              </a:xfrm>
              <a:blipFill>
                <a:blip r:embed="rId2"/>
                <a:stretch>
                  <a:fillRect l="-536" t="-101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7A91E16D-0EAD-4D3D-AC22-65013F654EE2}" type="slidenum">
              <a:rPr lang="en-US" altLang="en-US" smtClean="0"/>
              <a:pPr>
                <a:defRPr/>
              </a:pPr>
              <a:t>39</a:t>
            </a:fld>
            <a:endParaRPr lang="en-US" altLang="en-US"/>
          </a:p>
        </p:txBody>
      </p:sp>
    </p:spTree>
    <p:extLst>
      <p:ext uri="{BB962C8B-B14F-4D97-AF65-F5344CB8AC3E}">
        <p14:creationId xmlns:p14="http://schemas.microsoft.com/office/powerpoint/2010/main" val="22154344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6" y="203818"/>
            <a:ext cx="12039600" cy="982810"/>
          </a:xfrm>
        </p:spPr>
        <p:txBody>
          <a:bodyPr>
            <a:normAutofit/>
          </a:bodyPr>
          <a:lstStyle/>
          <a:p>
            <a:pPr algn="ctr"/>
            <a:r>
              <a:rPr lang="en-US" sz="4000" dirty="0">
                <a:latin typeface="Calibri" panose="020F0502020204030204" pitchFamily="34" charset="0"/>
                <a:cs typeface="Calibri" panose="020F0502020204030204" pitchFamily="34" charset="0"/>
              </a:rPr>
              <a:t>Feynman’s Treatment - 1</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28561" y="2199130"/>
                <a:ext cx="5872716" cy="4344941"/>
              </a:xfrm>
            </p:spPr>
            <p:txBody>
              <a:bodyPr>
                <a:normAutofit/>
              </a:bodyPr>
              <a:lstStyle/>
              <a:p>
                <a:pPr marL="342900" indent="-342900">
                  <a:lnSpc>
                    <a:spcPct val="100000"/>
                  </a:lnSpc>
                  <a:spcBef>
                    <a:spcPts val="0"/>
                  </a:spcBef>
                </a:pPr>
                <a:r>
                  <a:rPr lang="en-US" sz="2000" dirty="0">
                    <a:latin typeface="Calibri" panose="020F0502020204030204" pitchFamily="34" charset="0"/>
                    <a:cs typeface="Calibri" panose="020F0502020204030204" pitchFamily="34" charset="0"/>
                  </a:rPr>
                  <a:t>Want to derive the Heaviside-Feynman equation:</a:t>
                </a:r>
              </a:p>
              <a:p>
                <a:pPr marL="800100" lvl="1" indent="-342900">
                  <a:lnSpc>
                    <a:spcPct val="100000"/>
                  </a:lnSpc>
                  <a:spcBef>
                    <a:spcPts val="0"/>
                  </a:spcBef>
                </a:pPr>
                <a:r>
                  <a:rPr lang="en-US" sz="2000" dirty="0">
                    <a:latin typeface="Calibri" panose="020F0502020204030204" pitchFamily="34" charset="0"/>
                    <a:cs typeface="Calibri" panose="020F0502020204030204" pitchFamily="34" charset="0"/>
                  </a:rPr>
                  <a:t> </a:t>
                </a:r>
                <a14:m>
                  <m:oMath xmlns:m="http://schemas.openxmlformats.org/officeDocument/2006/math">
                    <m:r>
                      <a:rPr lang="en-US" sz="2000" b="0" i="1" smtClean="0">
                        <a:latin typeface="Cambria Math" panose="02040503050406030204" pitchFamily="18" charset="0"/>
                        <a:cs typeface="Calibri" panose="020F0502020204030204" pitchFamily="34" charset="0"/>
                      </a:rPr>
                      <m:t>𝐸</m:t>
                    </m:r>
                    <m:r>
                      <a:rPr lang="en-US" sz="2000" b="0" i="1" smtClean="0">
                        <a:latin typeface="Cambria Math" panose="02040503050406030204" pitchFamily="18" charset="0"/>
                        <a:cs typeface="Calibri" panose="020F0502020204030204" pitchFamily="34" charset="0"/>
                      </a:rPr>
                      <m:t>= </m:t>
                    </m:r>
                    <m:f>
                      <m:fPr>
                        <m:ctrlPr>
                          <a:rPr lang="en-US" sz="2000" b="0" i="1" smtClean="0">
                            <a:latin typeface="Cambria Math" panose="02040503050406030204" pitchFamily="18" charset="0"/>
                            <a:cs typeface="Calibri" panose="020F0502020204030204" pitchFamily="34" charset="0"/>
                          </a:rPr>
                        </m:ctrlPr>
                      </m:fPr>
                      <m:num>
                        <m:r>
                          <a:rPr lang="en-US" sz="2000" b="0" i="1" smtClean="0">
                            <a:latin typeface="Cambria Math" panose="02040503050406030204" pitchFamily="18" charset="0"/>
                            <a:cs typeface="Calibri" panose="020F0502020204030204" pitchFamily="34" charset="0"/>
                          </a:rPr>
                          <m:t>𝑞</m:t>
                        </m:r>
                      </m:num>
                      <m:den>
                        <m:r>
                          <a:rPr lang="en-US" sz="2000" b="0" i="1" smtClean="0">
                            <a:latin typeface="Cambria Math" panose="02040503050406030204" pitchFamily="18" charset="0"/>
                            <a:cs typeface="Calibri" panose="020F0502020204030204" pitchFamily="34" charset="0"/>
                          </a:rPr>
                          <m:t>4</m:t>
                        </m:r>
                        <m:r>
                          <a:rPr lang="en-US" sz="2000" b="0" i="1" smtClean="0">
                            <a:latin typeface="Cambria Math" panose="02040503050406030204" pitchFamily="18" charset="0"/>
                            <a:ea typeface="Cambria Math" panose="02040503050406030204" pitchFamily="18" charset="0"/>
                            <a:cs typeface="Calibri" panose="020F0502020204030204" pitchFamily="34" charset="0"/>
                          </a:rPr>
                          <m:t>𝜋</m:t>
                        </m:r>
                        <m:sSub>
                          <m:sSubPr>
                            <m:ctrlPr>
                              <a:rPr lang="en-US" sz="2000" b="0" i="1" smtClean="0">
                                <a:latin typeface="Cambria Math" panose="02040503050406030204" pitchFamily="18" charset="0"/>
                                <a:ea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ea typeface="Cambria Math" panose="02040503050406030204" pitchFamily="18" charset="0"/>
                                <a:cs typeface="Calibri" panose="020F0502020204030204" pitchFamily="34" charset="0"/>
                              </a:rPr>
                              <m:t>𝜖</m:t>
                            </m:r>
                          </m:e>
                          <m:sub>
                            <m:r>
                              <a:rPr lang="en-US" sz="2000" b="0" i="1" smtClean="0">
                                <a:latin typeface="Cambria Math" panose="02040503050406030204" pitchFamily="18" charset="0"/>
                                <a:ea typeface="Cambria Math" panose="02040503050406030204" pitchFamily="18" charset="0"/>
                                <a:cs typeface="Calibri" panose="020F0502020204030204" pitchFamily="34" charset="0"/>
                              </a:rPr>
                              <m:t>0</m:t>
                            </m:r>
                          </m:sub>
                        </m:sSub>
                      </m:den>
                    </m:f>
                    <m:r>
                      <a:rPr lang="en-US" sz="2000" b="0" i="1" smtClean="0">
                        <a:latin typeface="Cambria Math" panose="02040503050406030204" pitchFamily="18" charset="0"/>
                        <a:cs typeface="Calibri" panose="020F0502020204030204" pitchFamily="34" charset="0"/>
                      </a:rPr>
                      <m:t>[</m:t>
                    </m:r>
                    <m:f>
                      <m:fPr>
                        <m:ctrlPr>
                          <a:rPr lang="en-US" sz="2000" b="0" i="1" smtClean="0">
                            <a:latin typeface="Cambria Math" panose="02040503050406030204" pitchFamily="18" charset="0"/>
                            <a:cs typeface="Calibri" panose="020F0502020204030204" pitchFamily="34" charset="0"/>
                          </a:rPr>
                        </m:ctrlPr>
                      </m:fPr>
                      <m:num>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𝑒</m:t>
                            </m:r>
                          </m:e>
                          <m:sub>
                            <m:r>
                              <a:rPr lang="en-US" sz="2000" b="0" i="1" smtClean="0">
                                <a:latin typeface="Cambria Math" panose="02040503050406030204" pitchFamily="18" charset="0"/>
                                <a:cs typeface="Calibri" panose="020F0502020204030204" pitchFamily="34" charset="0"/>
                              </a:rPr>
                              <m:t>𝑟</m:t>
                            </m:r>
                            <m:r>
                              <a:rPr lang="en-US" sz="2000" b="0" i="1" smtClean="0">
                                <a:latin typeface="Cambria Math" panose="02040503050406030204" pitchFamily="18" charset="0"/>
                                <a:cs typeface="Calibri" panose="020F0502020204030204" pitchFamily="34" charset="0"/>
                              </a:rPr>
                              <m:t>′</m:t>
                            </m:r>
                          </m:sub>
                        </m:sSub>
                      </m:num>
                      <m:den>
                        <m:sSup>
                          <m:sSupPr>
                            <m:ctrlPr>
                              <a:rPr lang="en-US" sz="2000" b="0" i="1" smtClean="0">
                                <a:latin typeface="Cambria Math" panose="02040503050406030204" pitchFamily="18" charset="0"/>
                                <a:cs typeface="Calibri" panose="020F0502020204030204" pitchFamily="34" charset="0"/>
                              </a:rPr>
                            </m:ctrlPr>
                          </m:sSupPr>
                          <m:e>
                            <m:r>
                              <a:rPr lang="en-US" sz="2000" b="0" i="1" smtClean="0">
                                <a:latin typeface="Cambria Math" panose="02040503050406030204" pitchFamily="18" charset="0"/>
                                <a:cs typeface="Calibri" panose="020F0502020204030204" pitchFamily="34" charset="0"/>
                              </a:rPr>
                              <m:t>𝑟</m:t>
                            </m:r>
                          </m:e>
                          <m:sup>
                            <m:r>
                              <a:rPr lang="en-US" sz="2000" b="0" i="1" smtClean="0">
                                <a:latin typeface="Cambria Math" panose="02040503050406030204" pitchFamily="18" charset="0"/>
                                <a:cs typeface="Calibri" panose="020F0502020204030204" pitchFamily="34" charset="0"/>
                              </a:rPr>
                              <m:t>′2</m:t>
                            </m:r>
                          </m:sup>
                        </m:sSup>
                      </m:den>
                    </m:f>
                    <m:r>
                      <a:rPr lang="en-US" sz="2000" b="0" i="1" smtClean="0">
                        <a:latin typeface="Cambria Math" panose="02040503050406030204" pitchFamily="18" charset="0"/>
                        <a:cs typeface="Calibri" panose="020F0502020204030204" pitchFamily="34" charset="0"/>
                      </a:rPr>
                      <m:t>+</m:t>
                    </m:r>
                    <m:f>
                      <m:fPr>
                        <m:ctrlPr>
                          <a:rPr lang="en-US" sz="2000" b="0" i="1" smtClean="0">
                            <a:latin typeface="Cambria Math" panose="02040503050406030204" pitchFamily="18" charset="0"/>
                            <a:cs typeface="Calibri" panose="020F0502020204030204" pitchFamily="34" charset="0"/>
                          </a:rPr>
                        </m:ctrlPr>
                      </m:fPr>
                      <m:num>
                        <m:sSup>
                          <m:sSupPr>
                            <m:ctrlPr>
                              <a:rPr lang="en-US" sz="2000" b="0" i="1" smtClean="0">
                                <a:latin typeface="Cambria Math" panose="02040503050406030204" pitchFamily="18" charset="0"/>
                                <a:cs typeface="Calibri" panose="020F0502020204030204" pitchFamily="34" charset="0"/>
                              </a:rPr>
                            </m:ctrlPr>
                          </m:sSupPr>
                          <m:e>
                            <m:r>
                              <a:rPr lang="en-US" sz="2000" b="0" i="1" smtClean="0">
                                <a:latin typeface="Cambria Math" panose="02040503050406030204" pitchFamily="18" charset="0"/>
                                <a:cs typeface="Calibri" panose="020F0502020204030204" pitchFamily="34" charset="0"/>
                              </a:rPr>
                              <m:t>𝑟</m:t>
                            </m:r>
                          </m:e>
                          <m:sup>
                            <m:r>
                              <a:rPr lang="en-US" sz="2000" b="0" i="1" smtClean="0">
                                <a:latin typeface="Cambria Math" panose="02040503050406030204" pitchFamily="18" charset="0"/>
                                <a:cs typeface="Calibri" panose="020F0502020204030204" pitchFamily="34" charset="0"/>
                              </a:rPr>
                              <m:t>′</m:t>
                            </m:r>
                          </m:sup>
                        </m:sSup>
                      </m:num>
                      <m:den>
                        <m:r>
                          <a:rPr lang="en-US" sz="2000" b="0" i="1" smtClean="0">
                            <a:latin typeface="Cambria Math" panose="02040503050406030204" pitchFamily="18" charset="0"/>
                            <a:cs typeface="Calibri" panose="020F0502020204030204" pitchFamily="34" charset="0"/>
                          </a:rPr>
                          <m:t>𝑐</m:t>
                        </m:r>
                      </m:den>
                    </m:f>
                    <m:f>
                      <m:fPr>
                        <m:ctrlPr>
                          <a:rPr lang="en-US" sz="2000" b="0" i="1" smtClean="0">
                            <a:latin typeface="Cambria Math" panose="02040503050406030204" pitchFamily="18" charset="0"/>
                            <a:cs typeface="Calibri" panose="020F0502020204030204" pitchFamily="34" charset="0"/>
                          </a:rPr>
                        </m:ctrlPr>
                      </m:fPr>
                      <m:num>
                        <m:r>
                          <a:rPr lang="en-US" sz="2000" b="0" i="1" smtClean="0">
                            <a:latin typeface="Cambria Math" panose="02040503050406030204" pitchFamily="18" charset="0"/>
                            <a:cs typeface="Calibri" panose="020F0502020204030204" pitchFamily="34" charset="0"/>
                          </a:rPr>
                          <m:t>𝑑</m:t>
                        </m:r>
                      </m:num>
                      <m:den>
                        <m:r>
                          <a:rPr lang="en-US" sz="2000" b="0" i="1" smtClean="0">
                            <a:latin typeface="Cambria Math" panose="02040503050406030204" pitchFamily="18" charset="0"/>
                            <a:cs typeface="Calibri" panose="020F0502020204030204" pitchFamily="34" charset="0"/>
                          </a:rPr>
                          <m:t>𝑑𝑡</m:t>
                        </m:r>
                      </m:den>
                    </m:f>
                    <m:f>
                      <m:fPr>
                        <m:ctrlPr>
                          <a:rPr lang="en-US" sz="2000" i="1">
                            <a:latin typeface="Cambria Math" panose="02040503050406030204" pitchFamily="18" charset="0"/>
                            <a:cs typeface="Calibri" panose="020F0502020204030204" pitchFamily="34" charset="0"/>
                          </a:rPr>
                        </m:ctrlPr>
                      </m:fPr>
                      <m:num>
                        <m:sSub>
                          <m:sSubPr>
                            <m:ctrlPr>
                              <a:rPr lang="en-US" sz="2000" i="1">
                                <a:latin typeface="Cambria Math" panose="02040503050406030204" pitchFamily="18" charset="0"/>
                                <a:cs typeface="Calibri" panose="020F0502020204030204" pitchFamily="34" charset="0"/>
                              </a:rPr>
                            </m:ctrlPr>
                          </m:sSubPr>
                          <m:e>
                            <m:r>
                              <a:rPr lang="en-US" sz="2000" i="1">
                                <a:latin typeface="Cambria Math" panose="02040503050406030204" pitchFamily="18" charset="0"/>
                                <a:cs typeface="Calibri" panose="020F0502020204030204" pitchFamily="34" charset="0"/>
                              </a:rPr>
                              <m:t>𝑒</m:t>
                            </m:r>
                          </m:e>
                          <m:sub>
                            <m:r>
                              <a:rPr lang="en-US" sz="2000" i="1">
                                <a:latin typeface="Cambria Math" panose="02040503050406030204" pitchFamily="18" charset="0"/>
                                <a:cs typeface="Calibri" panose="020F0502020204030204" pitchFamily="34" charset="0"/>
                              </a:rPr>
                              <m:t>𝑟</m:t>
                            </m:r>
                            <m:r>
                              <a:rPr lang="en-US" sz="2000" i="1">
                                <a:latin typeface="Cambria Math" panose="02040503050406030204" pitchFamily="18" charset="0"/>
                                <a:cs typeface="Calibri" panose="020F0502020204030204" pitchFamily="34" charset="0"/>
                              </a:rPr>
                              <m:t>′</m:t>
                            </m:r>
                          </m:sub>
                        </m:sSub>
                      </m:num>
                      <m:den>
                        <m:sSup>
                          <m:sSupPr>
                            <m:ctrlPr>
                              <a:rPr lang="en-US" sz="2000" i="1">
                                <a:latin typeface="Cambria Math" panose="02040503050406030204" pitchFamily="18" charset="0"/>
                                <a:cs typeface="Calibri" panose="020F0502020204030204" pitchFamily="34" charset="0"/>
                              </a:rPr>
                            </m:ctrlPr>
                          </m:sSupPr>
                          <m:e>
                            <m:r>
                              <a:rPr lang="en-US" sz="2000" i="1">
                                <a:latin typeface="Cambria Math" panose="02040503050406030204" pitchFamily="18" charset="0"/>
                                <a:cs typeface="Calibri" panose="020F0502020204030204" pitchFamily="34" charset="0"/>
                              </a:rPr>
                              <m:t>𝑟</m:t>
                            </m:r>
                          </m:e>
                          <m:sup>
                            <m:r>
                              <a:rPr lang="en-US" sz="2000" i="1">
                                <a:latin typeface="Cambria Math" panose="02040503050406030204" pitchFamily="18" charset="0"/>
                                <a:cs typeface="Calibri" panose="020F0502020204030204" pitchFamily="34" charset="0"/>
                              </a:rPr>
                              <m:t>′2</m:t>
                            </m:r>
                          </m:sup>
                        </m:sSup>
                      </m:den>
                    </m:f>
                    <m:r>
                      <a:rPr lang="en-US" sz="2000" b="0" i="1" smtClean="0">
                        <a:latin typeface="Cambria Math" panose="02040503050406030204" pitchFamily="18" charset="0"/>
                        <a:cs typeface="Calibri" panose="020F0502020204030204" pitchFamily="34" charset="0"/>
                      </a:rPr>
                      <m:t>+</m:t>
                    </m:r>
                    <m:f>
                      <m:fPr>
                        <m:ctrlPr>
                          <a:rPr lang="en-US" sz="2000" b="0" i="1" smtClean="0">
                            <a:latin typeface="Cambria Math" panose="02040503050406030204" pitchFamily="18" charset="0"/>
                            <a:cs typeface="Calibri" panose="020F0502020204030204" pitchFamily="34" charset="0"/>
                          </a:rPr>
                        </m:ctrlPr>
                      </m:fPr>
                      <m:num>
                        <m:r>
                          <a:rPr lang="en-US" sz="2000" b="0" i="1" smtClean="0">
                            <a:latin typeface="Cambria Math" panose="02040503050406030204" pitchFamily="18" charset="0"/>
                            <a:cs typeface="Calibri" panose="020F0502020204030204" pitchFamily="34" charset="0"/>
                          </a:rPr>
                          <m:t>1</m:t>
                        </m:r>
                      </m:num>
                      <m:den>
                        <m:sSup>
                          <m:sSupPr>
                            <m:ctrlPr>
                              <a:rPr lang="en-US" sz="2000" b="0" i="1" smtClean="0">
                                <a:latin typeface="Cambria Math" panose="02040503050406030204" pitchFamily="18" charset="0"/>
                                <a:cs typeface="Calibri" panose="020F0502020204030204" pitchFamily="34" charset="0"/>
                              </a:rPr>
                            </m:ctrlPr>
                          </m:sSupPr>
                          <m:e>
                            <m:r>
                              <a:rPr lang="en-US" sz="2000" b="0" i="1" smtClean="0">
                                <a:latin typeface="Cambria Math" panose="02040503050406030204" pitchFamily="18" charset="0"/>
                                <a:cs typeface="Calibri" panose="020F0502020204030204" pitchFamily="34" charset="0"/>
                              </a:rPr>
                              <m:t>𝑐</m:t>
                            </m:r>
                          </m:e>
                          <m:sup>
                            <m:r>
                              <a:rPr lang="en-US" sz="2000" b="0" i="1" smtClean="0">
                                <a:latin typeface="Cambria Math" panose="02040503050406030204" pitchFamily="18" charset="0"/>
                                <a:cs typeface="Calibri" panose="020F0502020204030204" pitchFamily="34" charset="0"/>
                              </a:rPr>
                              <m:t>2</m:t>
                            </m:r>
                          </m:sup>
                        </m:sSup>
                      </m:den>
                    </m:f>
                    <m:f>
                      <m:fPr>
                        <m:ctrlPr>
                          <a:rPr lang="en-US" sz="2000" b="0" i="1" smtClean="0">
                            <a:latin typeface="Cambria Math" panose="02040503050406030204" pitchFamily="18" charset="0"/>
                            <a:cs typeface="Calibri" panose="020F0502020204030204" pitchFamily="34" charset="0"/>
                          </a:rPr>
                        </m:ctrlPr>
                      </m:fPr>
                      <m:num>
                        <m:sSup>
                          <m:sSupPr>
                            <m:ctrlPr>
                              <a:rPr lang="en-US" sz="2000" b="0" i="1" smtClean="0">
                                <a:latin typeface="Cambria Math" panose="02040503050406030204" pitchFamily="18" charset="0"/>
                                <a:cs typeface="Calibri" panose="020F0502020204030204" pitchFamily="34" charset="0"/>
                              </a:rPr>
                            </m:ctrlPr>
                          </m:sSupPr>
                          <m:e>
                            <m:r>
                              <a:rPr lang="en-US" sz="2000" b="0" i="1" smtClean="0">
                                <a:latin typeface="Cambria Math" panose="02040503050406030204" pitchFamily="18" charset="0"/>
                                <a:cs typeface="Calibri" panose="020F0502020204030204" pitchFamily="34" charset="0"/>
                              </a:rPr>
                              <m:t>𝑑</m:t>
                            </m:r>
                          </m:e>
                          <m:sup>
                            <m:r>
                              <a:rPr lang="en-US" sz="2000" b="0" i="1" smtClean="0">
                                <a:latin typeface="Cambria Math" panose="02040503050406030204" pitchFamily="18" charset="0"/>
                                <a:cs typeface="Calibri" panose="020F0502020204030204" pitchFamily="34" charset="0"/>
                              </a:rPr>
                              <m:t>2</m:t>
                            </m:r>
                          </m:sup>
                        </m:sSup>
                        <m:sSub>
                          <m:sSubPr>
                            <m:ctrlPr>
                              <a:rPr lang="en-US" sz="2000" i="1">
                                <a:latin typeface="Cambria Math" panose="02040503050406030204" pitchFamily="18" charset="0"/>
                                <a:cs typeface="Calibri" panose="020F0502020204030204" pitchFamily="34" charset="0"/>
                              </a:rPr>
                            </m:ctrlPr>
                          </m:sSubPr>
                          <m:e>
                            <m:r>
                              <a:rPr lang="en-US" sz="2000" i="1">
                                <a:latin typeface="Cambria Math" panose="02040503050406030204" pitchFamily="18" charset="0"/>
                                <a:cs typeface="Calibri" panose="020F0502020204030204" pitchFamily="34" charset="0"/>
                              </a:rPr>
                              <m:t>𝑒</m:t>
                            </m:r>
                          </m:e>
                          <m:sub>
                            <m:r>
                              <a:rPr lang="en-US" sz="2000" i="1">
                                <a:latin typeface="Cambria Math" panose="02040503050406030204" pitchFamily="18" charset="0"/>
                                <a:cs typeface="Calibri" panose="020F0502020204030204" pitchFamily="34" charset="0"/>
                              </a:rPr>
                              <m:t>𝑟</m:t>
                            </m:r>
                            <m:r>
                              <a:rPr lang="en-US" sz="2000" i="1">
                                <a:latin typeface="Cambria Math" panose="02040503050406030204" pitchFamily="18" charset="0"/>
                                <a:cs typeface="Calibri" panose="020F0502020204030204" pitchFamily="34" charset="0"/>
                              </a:rPr>
                              <m:t>′</m:t>
                            </m:r>
                          </m:sub>
                        </m:sSub>
                      </m:num>
                      <m:den>
                        <m:sSup>
                          <m:sSupPr>
                            <m:ctrlPr>
                              <a:rPr lang="en-US" sz="2000" b="0" i="1" smtClean="0">
                                <a:latin typeface="Cambria Math" panose="02040503050406030204" pitchFamily="18" charset="0"/>
                                <a:cs typeface="Calibri" panose="020F0502020204030204" pitchFamily="34" charset="0"/>
                              </a:rPr>
                            </m:ctrlPr>
                          </m:sSupPr>
                          <m:e>
                            <m:r>
                              <a:rPr lang="en-US" sz="2000" b="0" i="1" smtClean="0">
                                <a:latin typeface="Cambria Math" panose="02040503050406030204" pitchFamily="18" charset="0"/>
                                <a:cs typeface="Calibri" panose="020F0502020204030204" pitchFamily="34" charset="0"/>
                              </a:rPr>
                              <m:t>𝑑𝑡</m:t>
                            </m:r>
                          </m:e>
                          <m:sup>
                            <m:r>
                              <a:rPr lang="en-US" sz="2000" b="0" i="1" smtClean="0">
                                <a:latin typeface="Cambria Math" panose="02040503050406030204" pitchFamily="18" charset="0"/>
                                <a:cs typeface="Calibri" panose="020F0502020204030204" pitchFamily="34" charset="0"/>
                              </a:rPr>
                              <m:t>2</m:t>
                            </m:r>
                          </m:sup>
                        </m:sSup>
                      </m:den>
                    </m:f>
                    <m:r>
                      <a:rPr lang="en-US" sz="2000" b="0" i="1" smtClean="0">
                        <a:latin typeface="Cambria Math" panose="02040503050406030204" pitchFamily="18" charset="0"/>
                        <a:cs typeface="Calibri" panose="020F0502020204030204" pitchFamily="34" charset="0"/>
                      </a:rPr>
                      <m:t>]</m:t>
                    </m:r>
                  </m:oMath>
                </a14:m>
                <a:r>
                  <a:rPr lang="en-US" sz="2000" dirty="0">
                    <a:latin typeface="Calibri" panose="020F0502020204030204" pitchFamily="34" charset="0"/>
                    <a:cs typeface="Calibri" panose="020F0502020204030204" pitchFamily="34" charset="0"/>
                  </a:rPr>
                  <a:t> </a:t>
                </a:r>
                <a:endParaRPr lang="en-US" sz="2000" b="0" i="1" dirty="0">
                  <a:latin typeface="Cambria Math" panose="02040503050406030204" pitchFamily="18" charset="0"/>
                  <a:cs typeface="Calibri" panose="020F0502020204030204" pitchFamily="34" charset="0"/>
                </a:endParaRPr>
              </a:p>
              <a:p>
                <a:pPr marL="800100" lvl="1" indent="-342900">
                  <a:lnSpc>
                    <a:spcPct val="100000"/>
                  </a:lnSpc>
                  <a:spcBef>
                    <a:spcPts val="0"/>
                  </a:spcBef>
                </a:pPr>
                <a14:m>
                  <m:oMath xmlns:m="http://schemas.openxmlformats.org/officeDocument/2006/math">
                    <m:r>
                      <a:rPr lang="en-US" sz="2000" b="0" i="1" dirty="0" smtClean="0">
                        <a:latin typeface="Cambria Math" panose="02040503050406030204" pitchFamily="18" charset="0"/>
                        <a:cs typeface="Calibri" panose="020F0502020204030204" pitchFamily="34" charset="0"/>
                      </a:rPr>
                      <m:t>𝑐𝐵</m:t>
                    </m:r>
                    <m:r>
                      <a:rPr lang="en-US" sz="2000" b="0" i="1" dirty="0" smtClean="0">
                        <a:latin typeface="Cambria Math" panose="02040503050406030204" pitchFamily="18" charset="0"/>
                        <a:cs typeface="Calibri" panose="020F0502020204030204" pitchFamily="34" charset="0"/>
                      </a:rPr>
                      <m:t>=</m:t>
                    </m:r>
                    <m:sSub>
                      <m:sSubPr>
                        <m:ctrlPr>
                          <a:rPr lang="en-US" sz="2000" b="0" i="1" dirty="0" smtClean="0">
                            <a:latin typeface="Cambria Math" panose="02040503050406030204" pitchFamily="18" charset="0"/>
                            <a:cs typeface="Calibri" panose="020F0502020204030204" pitchFamily="34" charset="0"/>
                          </a:rPr>
                        </m:ctrlPr>
                      </m:sSubPr>
                      <m:e>
                        <m:r>
                          <a:rPr lang="en-US" sz="2000" b="0" i="1" dirty="0" smtClean="0">
                            <a:latin typeface="Cambria Math" panose="02040503050406030204" pitchFamily="18" charset="0"/>
                            <a:cs typeface="Calibri" panose="020F0502020204030204" pitchFamily="34" charset="0"/>
                          </a:rPr>
                          <m:t>𝑒</m:t>
                        </m:r>
                      </m:e>
                      <m:sub>
                        <m:sSup>
                          <m:sSupPr>
                            <m:ctrlPr>
                              <a:rPr lang="en-US" sz="2000" b="0" i="1" dirty="0" smtClean="0">
                                <a:latin typeface="Cambria Math" panose="02040503050406030204" pitchFamily="18" charset="0"/>
                                <a:cs typeface="Calibri" panose="020F0502020204030204" pitchFamily="34" charset="0"/>
                              </a:rPr>
                            </m:ctrlPr>
                          </m:sSupPr>
                          <m:e>
                            <m:r>
                              <a:rPr lang="en-US" sz="2000" b="0" i="1" dirty="0" smtClean="0">
                                <a:latin typeface="Cambria Math" panose="02040503050406030204" pitchFamily="18" charset="0"/>
                                <a:cs typeface="Calibri" panose="020F0502020204030204" pitchFamily="34" charset="0"/>
                              </a:rPr>
                              <m:t>𝑟</m:t>
                            </m:r>
                          </m:e>
                          <m:sup>
                            <m:r>
                              <a:rPr lang="en-US" sz="2000" b="0" i="1" dirty="0" smtClean="0">
                                <a:latin typeface="Cambria Math" panose="02040503050406030204" pitchFamily="18" charset="0"/>
                                <a:cs typeface="Calibri" panose="020F0502020204030204" pitchFamily="34" charset="0"/>
                              </a:rPr>
                              <m:t>′ </m:t>
                            </m:r>
                          </m:sup>
                        </m:sSup>
                      </m:sub>
                    </m:sSub>
                    <m:r>
                      <a:rPr lang="en-US" sz="2000" b="0" i="1" dirty="0" smtClean="0">
                        <a:latin typeface="Cambria Math" panose="02040503050406030204" pitchFamily="18" charset="0"/>
                        <a:ea typeface="Cambria Math" panose="02040503050406030204" pitchFamily="18" charset="0"/>
                        <a:cs typeface="Calibri" panose="020F0502020204030204" pitchFamily="34" charset="0"/>
                      </a:rPr>
                      <m:t>×</m:t>
                    </m:r>
                    <m:r>
                      <a:rPr lang="en-US" sz="2000" b="0" i="1" dirty="0" smtClean="0">
                        <a:latin typeface="Cambria Math" panose="02040503050406030204" pitchFamily="18" charset="0"/>
                        <a:ea typeface="Cambria Math" panose="02040503050406030204" pitchFamily="18" charset="0"/>
                        <a:cs typeface="Calibri" panose="020F0502020204030204" pitchFamily="34" charset="0"/>
                      </a:rPr>
                      <m:t>𝐸</m:t>
                    </m:r>
                  </m:oMath>
                </a14:m>
                <a:endParaRPr lang="en-US" sz="2000" dirty="0">
                  <a:latin typeface="Calibri" panose="020F0502020204030204" pitchFamily="34" charset="0"/>
                  <a:cs typeface="Calibri" panose="020F0502020204030204" pitchFamily="34" charset="0"/>
                </a:endParaRPr>
              </a:p>
              <a:p>
                <a:pPr marL="342900" indent="-342900">
                  <a:lnSpc>
                    <a:spcPct val="100000"/>
                  </a:lnSpc>
                  <a:spcBef>
                    <a:spcPts val="0"/>
                  </a:spcBef>
                </a:pPr>
                <a:r>
                  <a:rPr lang="en-US" sz="2000" dirty="0">
                    <a:latin typeface="Calibri" panose="020F0502020204030204" pitchFamily="34" charset="0"/>
                    <a:cs typeface="Calibri" panose="020F0502020204030204" pitchFamily="34" charset="0"/>
                  </a:rPr>
                  <a:t>Solution to Maxwell: </a:t>
                </a:r>
              </a:p>
              <a:p>
                <a:pPr marL="800100" lvl="1" indent="-342900">
                  <a:lnSpc>
                    <a:spcPct val="100000"/>
                  </a:lnSpc>
                  <a:spcBef>
                    <a:spcPts val="0"/>
                  </a:spcBef>
                </a:pPr>
                <a14:m>
                  <m:oMath xmlns:m="http://schemas.openxmlformats.org/officeDocument/2006/math">
                    <m:r>
                      <a:rPr lang="en-US" sz="2000" b="0" i="1" smtClean="0">
                        <a:latin typeface="Cambria Math" panose="02040503050406030204" pitchFamily="18" charset="0"/>
                        <a:cs typeface="Calibri" panose="020F0502020204030204" pitchFamily="34" charset="0"/>
                      </a:rPr>
                      <m:t>𝐸</m:t>
                    </m:r>
                    <m:r>
                      <a:rPr lang="en-US" sz="2000" b="0" i="1" smtClean="0">
                        <a:latin typeface="Cambria Math" panose="02040503050406030204" pitchFamily="18" charset="0"/>
                        <a:cs typeface="Calibri" panose="020F0502020204030204" pitchFamily="34" charset="0"/>
                      </a:rPr>
                      <m:t>=−</m:t>
                    </m:r>
                    <m:r>
                      <m:rPr>
                        <m:sty m:val="p"/>
                      </m:rPr>
                      <a:rPr lang="en-US" sz="2000" b="0" i="1" smtClean="0">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𝜙</m:t>
                    </m:r>
                    <m:r>
                      <a:rPr lang="en-US" sz="2000" b="0" i="1" smtClean="0">
                        <a:latin typeface="Cambria Math" panose="02040503050406030204" pitchFamily="18" charset="0"/>
                        <a:ea typeface="Cambria Math" panose="02040503050406030204" pitchFamily="18" charset="0"/>
                        <a:cs typeface="Calibri" panose="020F0502020204030204" pitchFamily="34" charset="0"/>
                      </a:rPr>
                      <m:t>−</m:t>
                    </m:r>
                    <m:f>
                      <m:fPr>
                        <m:ctrlPr>
                          <a:rPr lang="en-US" sz="2000" b="0" i="1" smtClean="0">
                            <a:latin typeface="Cambria Math" panose="02040503050406030204" pitchFamily="18" charset="0"/>
                            <a:ea typeface="Cambria Math" panose="02040503050406030204" pitchFamily="18" charset="0"/>
                            <a:cs typeface="Calibri" panose="020F0502020204030204" pitchFamily="34" charset="0"/>
                          </a:rPr>
                        </m:ctrlPr>
                      </m:fPr>
                      <m:num>
                        <m:r>
                          <a:rPr lang="en-US" sz="2000" b="0" i="1" smtClean="0">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𝐴</m:t>
                        </m:r>
                      </m:num>
                      <m:den>
                        <m:r>
                          <a:rPr lang="en-US" sz="2000" b="0" i="1" smtClean="0">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𝑡</m:t>
                        </m:r>
                      </m:den>
                    </m:f>
                  </m:oMath>
                </a14:m>
                <a:r>
                  <a:rPr lang="en-US" sz="2000" dirty="0">
                    <a:latin typeface="Calibri" panose="020F0502020204030204" pitchFamily="34" charset="0"/>
                    <a:cs typeface="Calibri" panose="020F0502020204030204" pitchFamily="34" charset="0"/>
                  </a:rPr>
                  <a:t>, </a:t>
                </a:r>
                <a14:m>
                  <m:oMath xmlns:m="http://schemas.openxmlformats.org/officeDocument/2006/math">
                    <m:r>
                      <a:rPr lang="en-US" sz="2000" b="0" i="1" smtClean="0">
                        <a:latin typeface="Cambria Math" panose="02040503050406030204" pitchFamily="18" charset="0"/>
                        <a:cs typeface="Calibri" panose="020F0502020204030204" pitchFamily="34" charset="0"/>
                      </a:rPr>
                      <m:t>𝐵</m:t>
                    </m:r>
                    <m:r>
                      <a:rPr lang="en-US" sz="2000" b="0" i="1" smtClean="0">
                        <a:latin typeface="Cambria Math" panose="02040503050406030204" pitchFamily="18" charset="0"/>
                        <a:cs typeface="Calibri" panose="020F0502020204030204" pitchFamily="34" charset="0"/>
                      </a:rPr>
                      <m:t>=</m:t>
                    </m:r>
                    <m:r>
                      <m:rPr>
                        <m:sty m:val="p"/>
                      </m:rPr>
                      <a:rPr lang="en-US" sz="2000" b="0" i="1" smtClean="0">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𝐴</m:t>
                    </m:r>
                  </m:oMath>
                </a14:m>
                <a:endParaRPr lang="en-US" sz="2000" b="0" dirty="0">
                  <a:latin typeface="Calibri" panose="020F0502020204030204" pitchFamily="34" charset="0"/>
                  <a:ea typeface="Cambria Math" panose="02040503050406030204" pitchFamily="18" charset="0"/>
                  <a:cs typeface="Calibri" panose="020F0502020204030204" pitchFamily="34" charset="0"/>
                </a:endParaRPr>
              </a:p>
              <a:p>
                <a:pPr marL="800100" lvl="1" indent="-342900">
                  <a:lnSpc>
                    <a:spcPct val="100000"/>
                  </a:lnSpc>
                  <a:spcBef>
                    <a:spcPts val="0"/>
                  </a:spcBef>
                </a:pPr>
                <a14:m>
                  <m:oMath xmlns:m="http://schemas.openxmlformats.org/officeDocument/2006/math">
                    <m:sSup>
                      <m:sSupPr>
                        <m:ctrlPr>
                          <a:rPr lang="en-US" sz="2000" i="1" smtClean="0">
                            <a:latin typeface="Cambria Math" panose="02040503050406030204" pitchFamily="18" charset="0"/>
                            <a:ea typeface="Cambria Math" panose="02040503050406030204" pitchFamily="18" charset="0"/>
                            <a:cs typeface="Calibri" panose="020F0502020204030204" pitchFamily="34" charset="0"/>
                          </a:rPr>
                        </m:ctrlPr>
                      </m:sSupPr>
                      <m:e>
                        <m:r>
                          <m:rPr>
                            <m:sty m:val="p"/>
                          </m:rPr>
                          <a:rPr lang="en-US" sz="2000" i="1" smtClean="0">
                            <a:latin typeface="Cambria Math" panose="02040503050406030204" pitchFamily="18" charset="0"/>
                            <a:ea typeface="Cambria Math" panose="02040503050406030204" pitchFamily="18" charset="0"/>
                            <a:cs typeface="Calibri" panose="020F0502020204030204" pitchFamily="34" charset="0"/>
                          </a:rPr>
                          <m:t>∇</m:t>
                        </m:r>
                      </m:e>
                      <m:sup>
                        <m:r>
                          <a:rPr lang="en-US" sz="2000" b="0" i="1" smtClean="0">
                            <a:latin typeface="Cambria Math" panose="02040503050406030204" pitchFamily="18" charset="0"/>
                            <a:cs typeface="Calibri" panose="020F0502020204030204" pitchFamily="34" charset="0"/>
                          </a:rPr>
                          <m:t>2</m:t>
                        </m:r>
                      </m:sup>
                    </m:sSup>
                    <m:r>
                      <a:rPr lang="en-US" sz="2000" i="1" smtClean="0">
                        <a:latin typeface="Cambria Math" panose="02040503050406030204" pitchFamily="18" charset="0"/>
                        <a:ea typeface="Cambria Math" panose="02040503050406030204" pitchFamily="18" charset="0"/>
                        <a:cs typeface="Calibri" panose="020F0502020204030204" pitchFamily="34" charset="0"/>
                      </a:rPr>
                      <m:t>𝜙</m:t>
                    </m:r>
                    <m:r>
                      <a:rPr lang="en-US" sz="2000" b="0" i="1" smtClean="0">
                        <a:latin typeface="Cambria Math" panose="02040503050406030204" pitchFamily="18" charset="0"/>
                        <a:ea typeface="Cambria Math" panose="02040503050406030204" pitchFamily="18" charset="0"/>
                        <a:cs typeface="Calibri" panose="020F0502020204030204" pitchFamily="34" charset="0"/>
                      </a:rPr>
                      <m:t>−</m:t>
                    </m:r>
                    <m:f>
                      <m:fPr>
                        <m:ctrlPr>
                          <a:rPr lang="en-US" sz="2000" b="0" i="1" smtClean="0">
                            <a:latin typeface="Cambria Math" panose="02040503050406030204" pitchFamily="18" charset="0"/>
                            <a:ea typeface="Cambria Math" panose="02040503050406030204" pitchFamily="18" charset="0"/>
                            <a:cs typeface="Calibri" panose="020F0502020204030204" pitchFamily="34" charset="0"/>
                          </a:rPr>
                        </m:ctrlPr>
                      </m:fPr>
                      <m:num>
                        <m:r>
                          <a:rPr lang="en-US" sz="2000" b="0" i="1" smtClean="0">
                            <a:latin typeface="Cambria Math" panose="02040503050406030204" pitchFamily="18" charset="0"/>
                            <a:ea typeface="Cambria Math" panose="02040503050406030204" pitchFamily="18" charset="0"/>
                            <a:cs typeface="Calibri" panose="020F0502020204030204" pitchFamily="34" charset="0"/>
                          </a:rPr>
                          <m:t>1</m:t>
                        </m:r>
                      </m:num>
                      <m:den>
                        <m:sSup>
                          <m:sSupPr>
                            <m:ctrlPr>
                              <a:rPr lang="en-US" sz="2000" b="0" i="1" smtClean="0">
                                <a:latin typeface="Cambria Math" panose="02040503050406030204" pitchFamily="18" charset="0"/>
                                <a:ea typeface="Cambria Math" panose="02040503050406030204" pitchFamily="18" charset="0"/>
                                <a:cs typeface="Calibri" panose="020F0502020204030204" pitchFamily="34" charset="0"/>
                              </a:rPr>
                            </m:ctrlPr>
                          </m:sSupPr>
                          <m:e>
                            <m:r>
                              <a:rPr lang="en-US" sz="2000" b="0" i="1" smtClean="0">
                                <a:latin typeface="Cambria Math" panose="02040503050406030204" pitchFamily="18" charset="0"/>
                                <a:ea typeface="Cambria Math" panose="02040503050406030204" pitchFamily="18" charset="0"/>
                                <a:cs typeface="Calibri" panose="020F0502020204030204" pitchFamily="34" charset="0"/>
                              </a:rPr>
                              <m:t>𝑐</m:t>
                            </m:r>
                          </m:e>
                          <m:sup>
                            <m:r>
                              <a:rPr lang="en-US" sz="2000" b="0" i="1" smtClean="0">
                                <a:latin typeface="Cambria Math" panose="02040503050406030204" pitchFamily="18" charset="0"/>
                                <a:ea typeface="Cambria Math" panose="02040503050406030204" pitchFamily="18" charset="0"/>
                                <a:cs typeface="Calibri" panose="020F0502020204030204" pitchFamily="34" charset="0"/>
                              </a:rPr>
                              <m:t>2</m:t>
                            </m:r>
                          </m:sup>
                        </m:sSup>
                      </m:den>
                    </m:f>
                    <m:f>
                      <m:fPr>
                        <m:ctrlPr>
                          <a:rPr lang="en-US" sz="2000" b="0" i="1" smtClean="0">
                            <a:latin typeface="Cambria Math" panose="02040503050406030204" pitchFamily="18" charset="0"/>
                            <a:ea typeface="Cambria Math" panose="02040503050406030204" pitchFamily="18" charset="0"/>
                            <a:cs typeface="Calibri" panose="020F0502020204030204" pitchFamily="34" charset="0"/>
                          </a:rPr>
                        </m:ctrlPr>
                      </m:fPr>
                      <m:num>
                        <m:sSup>
                          <m:sSupPr>
                            <m:ctrlPr>
                              <a:rPr lang="en-US" sz="2000" b="0" i="1" smtClean="0">
                                <a:latin typeface="Cambria Math" panose="02040503050406030204" pitchFamily="18" charset="0"/>
                                <a:ea typeface="Cambria Math" panose="02040503050406030204" pitchFamily="18" charset="0"/>
                                <a:cs typeface="Calibri" panose="020F0502020204030204" pitchFamily="34" charset="0"/>
                              </a:rPr>
                            </m:ctrlPr>
                          </m:sSupPr>
                          <m:e>
                            <m:r>
                              <a:rPr lang="en-US" sz="2000" b="0" i="1" smtClean="0">
                                <a:latin typeface="Cambria Math" panose="02040503050406030204" pitchFamily="18" charset="0"/>
                                <a:ea typeface="Cambria Math" panose="02040503050406030204" pitchFamily="18" charset="0"/>
                                <a:cs typeface="Calibri" panose="020F0502020204030204" pitchFamily="34" charset="0"/>
                              </a:rPr>
                              <m:t>𝜕</m:t>
                            </m:r>
                          </m:e>
                          <m:sup>
                            <m:r>
                              <a:rPr lang="en-US" sz="2000" b="0" i="1" smtClean="0">
                                <a:latin typeface="Cambria Math" panose="02040503050406030204" pitchFamily="18" charset="0"/>
                                <a:ea typeface="Cambria Math" panose="02040503050406030204" pitchFamily="18" charset="0"/>
                                <a:cs typeface="Calibri" panose="020F0502020204030204" pitchFamily="34" charset="0"/>
                              </a:rPr>
                              <m:t>2</m:t>
                            </m:r>
                          </m:sup>
                        </m:sSup>
                        <m:r>
                          <a:rPr lang="en-US" sz="2000" b="0" i="1" smtClean="0">
                            <a:latin typeface="Cambria Math" panose="02040503050406030204" pitchFamily="18" charset="0"/>
                            <a:ea typeface="Cambria Math" panose="02040503050406030204" pitchFamily="18" charset="0"/>
                            <a:cs typeface="Calibri" panose="020F0502020204030204" pitchFamily="34" charset="0"/>
                          </a:rPr>
                          <m:t>𝜙</m:t>
                        </m:r>
                      </m:num>
                      <m:den>
                        <m:sSup>
                          <m:sSupPr>
                            <m:ctrlPr>
                              <a:rPr lang="en-US" sz="2000" b="0" i="1" smtClean="0">
                                <a:latin typeface="Cambria Math" panose="02040503050406030204" pitchFamily="18" charset="0"/>
                                <a:ea typeface="Cambria Math" panose="02040503050406030204" pitchFamily="18" charset="0"/>
                                <a:cs typeface="Calibri" panose="020F0502020204030204" pitchFamily="34" charset="0"/>
                              </a:rPr>
                            </m:ctrlPr>
                          </m:sSupPr>
                          <m:e>
                            <m:r>
                              <a:rPr lang="en-US" sz="2000" b="0" i="1" smtClean="0">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𝑡</m:t>
                            </m:r>
                          </m:e>
                          <m:sup>
                            <m:r>
                              <a:rPr lang="en-US" sz="2000" b="0" i="1" smtClean="0">
                                <a:latin typeface="Cambria Math" panose="02040503050406030204" pitchFamily="18" charset="0"/>
                                <a:ea typeface="Cambria Math" panose="02040503050406030204" pitchFamily="18" charset="0"/>
                                <a:cs typeface="Calibri" panose="020F0502020204030204" pitchFamily="34" charset="0"/>
                              </a:rPr>
                              <m:t>2</m:t>
                            </m:r>
                          </m:sup>
                        </m:sSup>
                      </m:den>
                    </m:f>
                    <m:r>
                      <a:rPr lang="en-US" sz="2000" b="0" i="1" smtClean="0">
                        <a:latin typeface="Cambria Math" panose="02040503050406030204" pitchFamily="18" charset="0"/>
                        <a:ea typeface="Cambria Math" panose="02040503050406030204" pitchFamily="18" charset="0"/>
                        <a:cs typeface="Calibri" panose="020F0502020204030204" pitchFamily="34" charset="0"/>
                      </a:rPr>
                      <m:t>=−</m:t>
                    </m:r>
                    <m:f>
                      <m:fPr>
                        <m:ctrlPr>
                          <a:rPr lang="en-US" sz="2000" b="0" i="1" smtClean="0">
                            <a:latin typeface="Cambria Math" panose="02040503050406030204" pitchFamily="18" charset="0"/>
                            <a:ea typeface="Cambria Math" panose="02040503050406030204" pitchFamily="18" charset="0"/>
                            <a:cs typeface="Calibri" panose="020F0502020204030204" pitchFamily="34" charset="0"/>
                          </a:rPr>
                        </m:ctrlPr>
                      </m:fPr>
                      <m:num>
                        <m:r>
                          <a:rPr lang="en-US" sz="2000" b="0" i="1" smtClean="0">
                            <a:latin typeface="Cambria Math" panose="02040503050406030204" pitchFamily="18" charset="0"/>
                            <a:ea typeface="Cambria Math" panose="02040503050406030204" pitchFamily="18" charset="0"/>
                            <a:cs typeface="Calibri" panose="020F0502020204030204" pitchFamily="34" charset="0"/>
                          </a:rPr>
                          <m:t>𝜌</m:t>
                        </m:r>
                      </m:num>
                      <m:den>
                        <m:sSub>
                          <m:sSubPr>
                            <m:ctrlPr>
                              <a:rPr lang="en-US" sz="2000" b="0" i="1" smtClean="0">
                                <a:latin typeface="Cambria Math" panose="02040503050406030204" pitchFamily="18" charset="0"/>
                                <a:ea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ea typeface="Cambria Math" panose="02040503050406030204" pitchFamily="18" charset="0"/>
                                <a:cs typeface="Calibri" panose="020F0502020204030204" pitchFamily="34" charset="0"/>
                              </a:rPr>
                              <m:t>𝜖</m:t>
                            </m:r>
                          </m:e>
                          <m:sub>
                            <m:r>
                              <a:rPr lang="en-US" sz="2000" b="0" i="1" smtClean="0">
                                <a:latin typeface="Cambria Math" panose="02040503050406030204" pitchFamily="18" charset="0"/>
                                <a:ea typeface="Cambria Math" panose="02040503050406030204" pitchFamily="18" charset="0"/>
                                <a:cs typeface="Calibri" panose="020F0502020204030204" pitchFamily="34" charset="0"/>
                              </a:rPr>
                              <m:t>0</m:t>
                            </m:r>
                          </m:sub>
                        </m:sSub>
                      </m:den>
                    </m:f>
                  </m:oMath>
                </a14:m>
                <a:r>
                  <a:rPr lang="en-US" sz="2000" dirty="0">
                    <a:latin typeface="Calibri" panose="020F0502020204030204" pitchFamily="34" charset="0"/>
                    <a:cs typeface="Calibri" panose="020F0502020204030204" pitchFamily="34" charset="0"/>
                  </a:rPr>
                  <a:t>, </a:t>
                </a:r>
                <a14:m>
                  <m:oMath xmlns:m="http://schemas.openxmlformats.org/officeDocument/2006/math">
                    <m:sSup>
                      <m:sSupPr>
                        <m:ctrlPr>
                          <a:rPr lang="en-US" sz="2000" i="1">
                            <a:latin typeface="Cambria Math" panose="02040503050406030204" pitchFamily="18" charset="0"/>
                            <a:ea typeface="Cambria Math" panose="02040503050406030204" pitchFamily="18" charset="0"/>
                            <a:cs typeface="Calibri" panose="020F0502020204030204" pitchFamily="34" charset="0"/>
                          </a:rPr>
                        </m:ctrlPr>
                      </m:sSupPr>
                      <m:e>
                        <m:r>
                          <m:rPr>
                            <m:sty m:val="p"/>
                          </m:rPr>
                          <a:rPr lang="en-US" sz="2000" i="1">
                            <a:latin typeface="Cambria Math" panose="02040503050406030204" pitchFamily="18" charset="0"/>
                            <a:ea typeface="Cambria Math" panose="02040503050406030204" pitchFamily="18" charset="0"/>
                            <a:cs typeface="Calibri" panose="020F0502020204030204" pitchFamily="34" charset="0"/>
                          </a:rPr>
                          <m:t>∇</m:t>
                        </m:r>
                      </m:e>
                      <m:sup>
                        <m:r>
                          <a:rPr lang="en-US" sz="2000" i="1">
                            <a:latin typeface="Cambria Math" panose="02040503050406030204" pitchFamily="18" charset="0"/>
                            <a:cs typeface="Calibri" panose="020F0502020204030204" pitchFamily="34" charset="0"/>
                          </a:rPr>
                          <m:t>2</m:t>
                        </m:r>
                      </m:sup>
                    </m:sSup>
                    <m:r>
                      <a:rPr lang="en-US" sz="2000" b="0" i="1" smtClean="0">
                        <a:latin typeface="Cambria Math" panose="02040503050406030204" pitchFamily="18" charset="0"/>
                        <a:ea typeface="Cambria Math" panose="02040503050406030204" pitchFamily="18" charset="0"/>
                        <a:cs typeface="Calibri" panose="020F0502020204030204" pitchFamily="34" charset="0"/>
                      </a:rPr>
                      <m:t>𝐴</m:t>
                    </m:r>
                    <m:r>
                      <a:rPr lang="en-US" sz="2000" i="1">
                        <a:latin typeface="Cambria Math" panose="02040503050406030204" pitchFamily="18" charset="0"/>
                        <a:ea typeface="Cambria Math" panose="02040503050406030204" pitchFamily="18" charset="0"/>
                        <a:cs typeface="Calibri" panose="020F0502020204030204" pitchFamily="34" charset="0"/>
                      </a:rPr>
                      <m:t>−</m:t>
                    </m:r>
                    <m:f>
                      <m:fPr>
                        <m:ctrlPr>
                          <a:rPr lang="en-US" sz="2000" i="1">
                            <a:latin typeface="Cambria Math" panose="02040503050406030204" pitchFamily="18" charset="0"/>
                            <a:ea typeface="Cambria Math" panose="02040503050406030204" pitchFamily="18" charset="0"/>
                            <a:cs typeface="Calibri" panose="020F0502020204030204" pitchFamily="34" charset="0"/>
                          </a:rPr>
                        </m:ctrlPr>
                      </m:fPr>
                      <m:num>
                        <m:r>
                          <a:rPr lang="en-US" sz="2000" i="1">
                            <a:latin typeface="Cambria Math" panose="02040503050406030204" pitchFamily="18" charset="0"/>
                            <a:ea typeface="Cambria Math" panose="02040503050406030204" pitchFamily="18" charset="0"/>
                            <a:cs typeface="Calibri" panose="020F0502020204030204" pitchFamily="34" charset="0"/>
                          </a:rPr>
                          <m:t>1</m:t>
                        </m:r>
                      </m:num>
                      <m:den>
                        <m:sSup>
                          <m:sSupPr>
                            <m:ctrlPr>
                              <a:rPr lang="en-US" sz="2000" i="1">
                                <a:latin typeface="Cambria Math" panose="02040503050406030204" pitchFamily="18" charset="0"/>
                                <a:ea typeface="Cambria Math" panose="02040503050406030204" pitchFamily="18" charset="0"/>
                                <a:cs typeface="Calibri" panose="020F0502020204030204" pitchFamily="34" charset="0"/>
                              </a:rPr>
                            </m:ctrlPr>
                          </m:sSupPr>
                          <m:e>
                            <m:r>
                              <a:rPr lang="en-US" sz="2000" i="1">
                                <a:latin typeface="Cambria Math" panose="02040503050406030204" pitchFamily="18" charset="0"/>
                                <a:ea typeface="Cambria Math" panose="02040503050406030204" pitchFamily="18" charset="0"/>
                                <a:cs typeface="Calibri" panose="020F0502020204030204" pitchFamily="34" charset="0"/>
                              </a:rPr>
                              <m:t>𝑐</m:t>
                            </m:r>
                          </m:e>
                          <m:sup>
                            <m:r>
                              <a:rPr lang="en-US" sz="2000" i="1">
                                <a:latin typeface="Cambria Math" panose="02040503050406030204" pitchFamily="18" charset="0"/>
                                <a:ea typeface="Cambria Math" panose="02040503050406030204" pitchFamily="18" charset="0"/>
                                <a:cs typeface="Calibri" panose="020F0502020204030204" pitchFamily="34" charset="0"/>
                              </a:rPr>
                              <m:t>2</m:t>
                            </m:r>
                          </m:sup>
                        </m:sSup>
                      </m:den>
                    </m:f>
                    <m:f>
                      <m:fPr>
                        <m:ctrlPr>
                          <a:rPr lang="en-US" sz="2000" i="1">
                            <a:latin typeface="Cambria Math" panose="02040503050406030204" pitchFamily="18" charset="0"/>
                            <a:ea typeface="Cambria Math" panose="02040503050406030204" pitchFamily="18" charset="0"/>
                            <a:cs typeface="Calibri" panose="020F0502020204030204" pitchFamily="34" charset="0"/>
                          </a:rPr>
                        </m:ctrlPr>
                      </m:fPr>
                      <m:num>
                        <m:sSup>
                          <m:sSupPr>
                            <m:ctrlPr>
                              <a:rPr lang="en-US" sz="2000" i="1">
                                <a:latin typeface="Cambria Math" panose="02040503050406030204" pitchFamily="18" charset="0"/>
                                <a:ea typeface="Cambria Math" panose="02040503050406030204" pitchFamily="18" charset="0"/>
                                <a:cs typeface="Calibri" panose="020F0502020204030204" pitchFamily="34" charset="0"/>
                              </a:rPr>
                            </m:ctrlPr>
                          </m:sSupPr>
                          <m:e>
                            <m:r>
                              <a:rPr lang="en-US" sz="2000" i="1">
                                <a:latin typeface="Cambria Math" panose="02040503050406030204" pitchFamily="18" charset="0"/>
                                <a:ea typeface="Cambria Math" panose="02040503050406030204" pitchFamily="18" charset="0"/>
                                <a:cs typeface="Calibri" panose="020F0502020204030204" pitchFamily="34" charset="0"/>
                              </a:rPr>
                              <m:t>𝜕</m:t>
                            </m:r>
                          </m:e>
                          <m:sup>
                            <m:r>
                              <a:rPr lang="en-US" sz="2000" i="1">
                                <a:latin typeface="Cambria Math" panose="02040503050406030204" pitchFamily="18" charset="0"/>
                                <a:ea typeface="Cambria Math" panose="02040503050406030204" pitchFamily="18" charset="0"/>
                                <a:cs typeface="Calibri" panose="020F0502020204030204" pitchFamily="34" charset="0"/>
                              </a:rPr>
                              <m:t>2</m:t>
                            </m:r>
                          </m:sup>
                        </m:sSup>
                        <m:r>
                          <a:rPr lang="en-US" sz="2000" b="0" i="1" smtClean="0">
                            <a:latin typeface="Cambria Math" panose="02040503050406030204" pitchFamily="18" charset="0"/>
                            <a:ea typeface="Cambria Math" panose="02040503050406030204" pitchFamily="18" charset="0"/>
                            <a:cs typeface="Calibri" panose="020F0502020204030204" pitchFamily="34" charset="0"/>
                          </a:rPr>
                          <m:t>𝐴</m:t>
                        </m:r>
                      </m:num>
                      <m:den>
                        <m:sSup>
                          <m:sSupPr>
                            <m:ctrlPr>
                              <a:rPr lang="en-US" sz="2000" i="1">
                                <a:latin typeface="Cambria Math" panose="02040503050406030204" pitchFamily="18" charset="0"/>
                                <a:ea typeface="Cambria Math" panose="02040503050406030204" pitchFamily="18" charset="0"/>
                                <a:cs typeface="Calibri" panose="020F0502020204030204" pitchFamily="34" charset="0"/>
                              </a:rPr>
                            </m:ctrlPr>
                          </m:sSupPr>
                          <m:e>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𝑡</m:t>
                            </m:r>
                          </m:e>
                          <m:sup>
                            <m:r>
                              <a:rPr lang="en-US" sz="2000" i="1">
                                <a:latin typeface="Cambria Math" panose="02040503050406030204" pitchFamily="18" charset="0"/>
                                <a:ea typeface="Cambria Math" panose="02040503050406030204" pitchFamily="18" charset="0"/>
                                <a:cs typeface="Calibri" panose="020F0502020204030204" pitchFamily="34" charset="0"/>
                              </a:rPr>
                              <m:t>2</m:t>
                            </m:r>
                          </m:sup>
                        </m:sSup>
                      </m:den>
                    </m:f>
                    <m:r>
                      <a:rPr lang="en-US" sz="2000" i="1">
                        <a:latin typeface="Cambria Math" panose="02040503050406030204" pitchFamily="18" charset="0"/>
                        <a:ea typeface="Cambria Math" panose="02040503050406030204" pitchFamily="18" charset="0"/>
                        <a:cs typeface="Calibri" panose="020F0502020204030204" pitchFamily="34" charset="0"/>
                      </a:rPr>
                      <m:t>=−</m:t>
                    </m:r>
                    <m:f>
                      <m:fPr>
                        <m:ctrlPr>
                          <a:rPr lang="en-US" sz="2000" b="0" i="1" smtClean="0">
                            <a:latin typeface="Cambria Math" panose="02040503050406030204" pitchFamily="18" charset="0"/>
                            <a:ea typeface="Cambria Math" panose="02040503050406030204" pitchFamily="18" charset="0"/>
                            <a:cs typeface="Calibri" panose="020F0502020204030204" pitchFamily="34" charset="0"/>
                          </a:rPr>
                        </m:ctrlPr>
                      </m:fPr>
                      <m:num>
                        <m:r>
                          <a:rPr lang="en-US" sz="2000" b="0" i="1" smtClean="0">
                            <a:latin typeface="Cambria Math" panose="02040503050406030204" pitchFamily="18" charset="0"/>
                            <a:ea typeface="Cambria Math" panose="02040503050406030204" pitchFamily="18" charset="0"/>
                            <a:cs typeface="Calibri" panose="020F0502020204030204" pitchFamily="34" charset="0"/>
                          </a:rPr>
                          <m:t>𝑗</m:t>
                        </m:r>
                      </m:num>
                      <m:den>
                        <m:sSup>
                          <m:sSupPr>
                            <m:ctrlPr>
                              <a:rPr lang="en-US" sz="2000" b="0" i="1" smtClean="0">
                                <a:latin typeface="Cambria Math" panose="02040503050406030204" pitchFamily="18" charset="0"/>
                                <a:ea typeface="Cambria Math" panose="02040503050406030204" pitchFamily="18" charset="0"/>
                                <a:cs typeface="Calibri" panose="020F0502020204030204" pitchFamily="34" charset="0"/>
                              </a:rPr>
                            </m:ctrlPr>
                          </m:sSupPr>
                          <m:e>
                            <m:r>
                              <a:rPr lang="en-US" sz="2000" b="0" i="1" smtClean="0">
                                <a:latin typeface="Cambria Math" panose="02040503050406030204" pitchFamily="18" charset="0"/>
                                <a:ea typeface="Cambria Math" panose="02040503050406030204" pitchFamily="18" charset="0"/>
                                <a:cs typeface="Calibri" panose="020F0502020204030204" pitchFamily="34" charset="0"/>
                              </a:rPr>
                              <m:t>𝑐</m:t>
                            </m:r>
                          </m:e>
                          <m:sup>
                            <m:r>
                              <a:rPr lang="en-US" sz="2000" b="0" i="1" smtClean="0">
                                <a:latin typeface="Cambria Math" panose="02040503050406030204" pitchFamily="18" charset="0"/>
                                <a:ea typeface="Cambria Math" panose="02040503050406030204" pitchFamily="18" charset="0"/>
                                <a:cs typeface="Calibri" panose="020F0502020204030204" pitchFamily="34" charset="0"/>
                              </a:rPr>
                              <m:t>2</m:t>
                            </m:r>
                          </m:sup>
                        </m:sSup>
                        <m:sSub>
                          <m:sSubPr>
                            <m:ctrlPr>
                              <a:rPr lang="en-US" sz="2000" i="1" smtClean="0">
                                <a:latin typeface="Cambria Math" panose="02040503050406030204" pitchFamily="18" charset="0"/>
                                <a:ea typeface="Cambria Math" panose="02040503050406030204" pitchFamily="18" charset="0"/>
                                <a:cs typeface="Calibri" panose="020F0502020204030204" pitchFamily="34" charset="0"/>
                              </a:rPr>
                            </m:ctrlPr>
                          </m:sSubPr>
                          <m:e>
                            <m:r>
                              <a:rPr lang="en-US" sz="2000" i="1" smtClean="0">
                                <a:latin typeface="Cambria Math" panose="02040503050406030204" pitchFamily="18" charset="0"/>
                                <a:ea typeface="Cambria Math" panose="02040503050406030204" pitchFamily="18" charset="0"/>
                                <a:cs typeface="Calibri" panose="020F0502020204030204" pitchFamily="34" charset="0"/>
                              </a:rPr>
                              <m:t>𝜖</m:t>
                            </m:r>
                          </m:e>
                          <m:sub>
                            <m:r>
                              <a:rPr lang="en-US" sz="2000" b="0" i="1" smtClean="0">
                                <a:latin typeface="Cambria Math" panose="02040503050406030204" pitchFamily="18" charset="0"/>
                                <a:ea typeface="Cambria Math" panose="02040503050406030204" pitchFamily="18" charset="0"/>
                                <a:cs typeface="Calibri" panose="020F0502020204030204" pitchFamily="34" charset="0"/>
                              </a:rPr>
                              <m:t>0</m:t>
                            </m:r>
                          </m:sub>
                        </m:sSub>
                      </m:den>
                    </m:f>
                  </m:oMath>
                </a14:m>
                <a:endParaRPr lang="en-US" sz="2000" dirty="0">
                  <a:latin typeface="Calibri" panose="020F0502020204030204" pitchFamily="34" charset="0"/>
                  <a:cs typeface="Calibri" panose="020F0502020204030204" pitchFamily="34" charset="0"/>
                </a:endParaRPr>
              </a:p>
              <a:p>
                <a:pPr marL="800100" lvl="1" indent="-342900">
                  <a:lnSpc>
                    <a:spcPct val="100000"/>
                  </a:lnSpc>
                  <a:spcBef>
                    <a:spcPts val="0"/>
                  </a:spcBef>
                </a:pPr>
                <a:r>
                  <a:rPr lang="en-US" sz="2000" dirty="0">
                    <a:latin typeface="Calibri" panose="020F0502020204030204" pitchFamily="34" charset="0"/>
                    <a:cs typeface="Calibri" panose="020F0502020204030204" pitchFamily="34" charset="0"/>
                  </a:rPr>
                  <a:t>With gauge </a:t>
                </a:r>
                <a14:m>
                  <m:oMath xmlns:m="http://schemas.openxmlformats.org/officeDocument/2006/math">
                    <m:r>
                      <m:rPr>
                        <m:sty m:val="p"/>
                      </m:rPr>
                      <a:rPr lang="en-US" sz="2000" i="1" smtClean="0">
                        <a:latin typeface="Cambria Math" panose="02040503050406030204" pitchFamily="18" charset="0"/>
                        <a:ea typeface="Cambria Math" panose="02040503050406030204" pitchFamily="18" charset="0"/>
                        <a:cs typeface="Calibri" panose="020F0502020204030204" pitchFamily="34" charset="0"/>
                      </a:rPr>
                      <m:t>∇</m:t>
                    </m:r>
                    <m:r>
                      <a:rPr lang="en-US" sz="2000" i="1" smtClean="0">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𝐴</m:t>
                    </m:r>
                    <m:r>
                      <a:rPr lang="en-US" sz="2000" b="0" i="1" smtClean="0">
                        <a:latin typeface="Cambria Math" panose="02040503050406030204" pitchFamily="18" charset="0"/>
                        <a:ea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Calibri" panose="020F0502020204030204" pitchFamily="34" charset="0"/>
                          </a:rPr>
                        </m:ctrlPr>
                      </m:fPr>
                      <m:num>
                        <m:r>
                          <a:rPr lang="en-US" sz="2000" i="1">
                            <a:latin typeface="Cambria Math" panose="02040503050406030204" pitchFamily="18" charset="0"/>
                            <a:cs typeface="Calibri" panose="020F0502020204030204" pitchFamily="34" charset="0"/>
                          </a:rPr>
                          <m:t>1</m:t>
                        </m:r>
                      </m:num>
                      <m:den>
                        <m:sSup>
                          <m:sSupPr>
                            <m:ctrlPr>
                              <a:rPr lang="en-US" sz="2000" i="1">
                                <a:latin typeface="Cambria Math" panose="02040503050406030204" pitchFamily="18" charset="0"/>
                                <a:cs typeface="Calibri" panose="020F0502020204030204" pitchFamily="34" charset="0"/>
                              </a:rPr>
                            </m:ctrlPr>
                          </m:sSupPr>
                          <m:e>
                            <m:r>
                              <a:rPr lang="en-US" sz="2000" i="1">
                                <a:latin typeface="Cambria Math" panose="02040503050406030204" pitchFamily="18" charset="0"/>
                                <a:cs typeface="Calibri" panose="020F0502020204030204" pitchFamily="34" charset="0"/>
                              </a:rPr>
                              <m:t>𝑐</m:t>
                            </m:r>
                          </m:e>
                          <m:sup>
                            <m:r>
                              <a:rPr lang="en-US" sz="2000" i="1">
                                <a:latin typeface="Cambria Math" panose="02040503050406030204" pitchFamily="18" charset="0"/>
                                <a:cs typeface="Calibri" panose="020F0502020204030204" pitchFamily="34" charset="0"/>
                              </a:rPr>
                              <m:t>2</m:t>
                            </m:r>
                          </m:sup>
                        </m:sSup>
                      </m:den>
                    </m:f>
                    <m:f>
                      <m:fPr>
                        <m:ctrlPr>
                          <a:rPr lang="en-US" sz="2000" i="1" smtClean="0">
                            <a:latin typeface="Cambria Math" panose="02040503050406030204" pitchFamily="18" charset="0"/>
                            <a:ea typeface="Cambria Math" panose="02040503050406030204" pitchFamily="18" charset="0"/>
                            <a:cs typeface="Calibri" panose="020F0502020204030204" pitchFamily="34" charset="0"/>
                          </a:rPr>
                        </m:ctrlPr>
                      </m:fPr>
                      <m:num>
                        <m:r>
                          <a:rPr lang="en-US" sz="2000" i="1" smtClean="0">
                            <a:latin typeface="Cambria Math" panose="02040503050406030204" pitchFamily="18" charset="0"/>
                            <a:ea typeface="Cambria Math" panose="02040503050406030204" pitchFamily="18" charset="0"/>
                            <a:cs typeface="Calibri" panose="020F0502020204030204" pitchFamily="34" charset="0"/>
                          </a:rPr>
                          <m:t>𝜕𝜙</m:t>
                        </m:r>
                      </m:num>
                      <m:den>
                        <m:r>
                          <a:rPr lang="en-US" sz="2000" i="1" smtClean="0">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𝑡</m:t>
                        </m:r>
                      </m:den>
                    </m:f>
                  </m:oMath>
                </a14:m>
                <a:endParaRPr lang="en-US" sz="2000" dirty="0">
                  <a:latin typeface="Calibri" panose="020F0502020204030204" pitchFamily="34" charset="0"/>
                  <a:cs typeface="Calibri" panose="020F0502020204030204" pitchFamily="34" charset="0"/>
                </a:endParaRPr>
              </a:p>
              <a:p>
                <a:pPr marL="342900" indent="-342900">
                  <a:lnSpc>
                    <a:spcPct val="100000"/>
                  </a:lnSpc>
                  <a:spcBef>
                    <a:spcPts val="0"/>
                  </a:spcBef>
                </a:pPr>
                <a:r>
                  <a:rPr lang="en-US" sz="2000" dirty="0">
                    <a:cs typeface="Calibri" panose="020F0502020204030204" pitchFamily="34" charset="0"/>
                  </a:rPr>
                  <a:t>Consider solution to </a:t>
                </a:r>
                <a14:m>
                  <m:oMath xmlns:m="http://schemas.openxmlformats.org/officeDocument/2006/math">
                    <m:sSup>
                      <m:sSupPr>
                        <m:ctrlPr>
                          <a:rPr lang="en-US" sz="2000" i="1">
                            <a:latin typeface="Cambria Math" panose="02040503050406030204" pitchFamily="18" charset="0"/>
                            <a:ea typeface="Cambria Math" panose="02040503050406030204" pitchFamily="18" charset="0"/>
                            <a:cs typeface="Calibri" panose="020F0502020204030204" pitchFamily="34" charset="0"/>
                          </a:rPr>
                        </m:ctrlPr>
                      </m:sSupPr>
                      <m:e>
                        <m:r>
                          <m:rPr>
                            <m:sty m:val="p"/>
                          </m:rPr>
                          <a:rPr lang="en-US" sz="2000" i="1">
                            <a:latin typeface="Cambria Math" panose="02040503050406030204" pitchFamily="18" charset="0"/>
                            <a:ea typeface="Cambria Math" panose="02040503050406030204" pitchFamily="18" charset="0"/>
                            <a:cs typeface="Calibri" panose="020F0502020204030204" pitchFamily="34" charset="0"/>
                          </a:rPr>
                          <m:t>∇</m:t>
                        </m:r>
                      </m:e>
                      <m:sup>
                        <m:r>
                          <a:rPr lang="en-US" sz="2000" i="1">
                            <a:latin typeface="Cambria Math" panose="02040503050406030204" pitchFamily="18" charset="0"/>
                            <a:cs typeface="Calibri" panose="020F0502020204030204" pitchFamily="34" charset="0"/>
                          </a:rPr>
                          <m:t>2</m:t>
                        </m:r>
                      </m:sup>
                    </m:sSup>
                    <m:r>
                      <a:rPr lang="en-US" sz="2000" i="1">
                        <a:latin typeface="Cambria Math" panose="02040503050406030204" pitchFamily="18" charset="0"/>
                        <a:ea typeface="Cambria Math" panose="02040503050406030204" pitchFamily="18" charset="0"/>
                        <a:cs typeface="Calibri" panose="020F0502020204030204" pitchFamily="34" charset="0"/>
                      </a:rPr>
                      <m:t>𝜓</m:t>
                    </m:r>
                    <m:r>
                      <a:rPr lang="en-US" sz="2000" i="1">
                        <a:latin typeface="Cambria Math" panose="02040503050406030204" pitchFamily="18" charset="0"/>
                        <a:ea typeface="Cambria Math" panose="02040503050406030204" pitchFamily="18" charset="0"/>
                        <a:cs typeface="Calibri" panose="020F0502020204030204" pitchFamily="34" charset="0"/>
                      </a:rPr>
                      <m:t>−</m:t>
                    </m:r>
                    <m:f>
                      <m:fPr>
                        <m:ctrlPr>
                          <a:rPr lang="en-US" sz="2000" i="1">
                            <a:latin typeface="Cambria Math" panose="02040503050406030204" pitchFamily="18" charset="0"/>
                            <a:ea typeface="Cambria Math" panose="02040503050406030204" pitchFamily="18" charset="0"/>
                            <a:cs typeface="Calibri" panose="020F0502020204030204" pitchFamily="34" charset="0"/>
                          </a:rPr>
                        </m:ctrlPr>
                      </m:fPr>
                      <m:num>
                        <m:r>
                          <a:rPr lang="en-US" sz="2000" i="1">
                            <a:latin typeface="Cambria Math" panose="02040503050406030204" pitchFamily="18" charset="0"/>
                            <a:ea typeface="Cambria Math" panose="02040503050406030204" pitchFamily="18" charset="0"/>
                            <a:cs typeface="Calibri" panose="020F0502020204030204" pitchFamily="34" charset="0"/>
                          </a:rPr>
                          <m:t>1</m:t>
                        </m:r>
                      </m:num>
                      <m:den>
                        <m:sSup>
                          <m:sSupPr>
                            <m:ctrlPr>
                              <a:rPr lang="en-US" sz="2000" i="1">
                                <a:latin typeface="Cambria Math" panose="02040503050406030204" pitchFamily="18" charset="0"/>
                                <a:ea typeface="Cambria Math" panose="02040503050406030204" pitchFamily="18" charset="0"/>
                                <a:cs typeface="Calibri" panose="020F0502020204030204" pitchFamily="34" charset="0"/>
                              </a:rPr>
                            </m:ctrlPr>
                          </m:sSupPr>
                          <m:e>
                            <m:r>
                              <a:rPr lang="en-US" sz="2000" i="1">
                                <a:latin typeface="Cambria Math" panose="02040503050406030204" pitchFamily="18" charset="0"/>
                                <a:ea typeface="Cambria Math" panose="02040503050406030204" pitchFamily="18" charset="0"/>
                                <a:cs typeface="Calibri" panose="020F0502020204030204" pitchFamily="34" charset="0"/>
                              </a:rPr>
                              <m:t>𝑐</m:t>
                            </m:r>
                          </m:e>
                          <m:sup>
                            <m:r>
                              <a:rPr lang="en-US" sz="2000" i="1">
                                <a:latin typeface="Cambria Math" panose="02040503050406030204" pitchFamily="18" charset="0"/>
                                <a:ea typeface="Cambria Math" panose="02040503050406030204" pitchFamily="18" charset="0"/>
                                <a:cs typeface="Calibri" panose="020F0502020204030204" pitchFamily="34" charset="0"/>
                              </a:rPr>
                              <m:t>2</m:t>
                            </m:r>
                          </m:sup>
                        </m:sSup>
                      </m:den>
                    </m:f>
                    <m:f>
                      <m:fPr>
                        <m:ctrlPr>
                          <a:rPr lang="en-US" sz="2000" i="1">
                            <a:latin typeface="Cambria Math" panose="02040503050406030204" pitchFamily="18" charset="0"/>
                            <a:ea typeface="Cambria Math" panose="02040503050406030204" pitchFamily="18" charset="0"/>
                            <a:cs typeface="Calibri" panose="020F0502020204030204" pitchFamily="34" charset="0"/>
                          </a:rPr>
                        </m:ctrlPr>
                      </m:fPr>
                      <m:num>
                        <m:sSup>
                          <m:sSupPr>
                            <m:ctrlPr>
                              <a:rPr lang="en-US" sz="2000" i="1">
                                <a:latin typeface="Cambria Math" panose="02040503050406030204" pitchFamily="18" charset="0"/>
                                <a:ea typeface="Cambria Math" panose="02040503050406030204" pitchFamily="18" charset="0"/>
                                <a:cs typeface="Calibri" panose="020F0502020204030204" pitchFamily="34" charset="0"/>
                              </a:rPr>
                            </m:ctrlPr>
                          </m:sSupPr>
                          <m:e>
                            <m:r>
                              <a:rPr lang="en-US" sz="2000" i="1">
                                <a:latin typeface="Cambria Math" panose="02040503050406030204" pitchFamily="18" charset="0"/>
                                <a:ea typeface="Cambria Math" panose="02040503050406030204" pitchFamily="18" charset="0"/>
                                <a:cs typeface="Calibri" panose="020F0502020204030204" pitchFamily="34" charset="0"/>
                              </a:rPr>
                              <m:t>𝜕</m:t>
                            </m:r>
                          </m:e>
                          <m:sup>
                            <m:r>
                              <a:rPr lang="en-US" sz="2000" i="1">
                                <a:latin typeface="Cambria Math" panose="02040503050406030204" pitchFamily="18" charset="0"/>
                                <a:ea typeface="Cambria Math" panose="02040503050406030204" pitchFamily="18" charset="0"/>
                                <a:cs typeface="Calibri" panose="020F0502020204030204" pitchFamily="34" charset="0"/>
                              </a:rPr>
                              <m:t>2</m:t>
                            </m:r>
                          </m:sup>
                        </m:sSup>
                        <m:r>
                          <a:rPr lang="en-US" sz="2000" i="1">
                            <a:latin typeface="Cambria Math" panose="02040503050406030204" pitchFamily="18" charset="0"/>
                            <a:ea typeface="Cambria Math" panose="02040503050406030204" pitchFamily="18" charset="0"/>
                            <a:cs typeface="Calibri" panose="020F0502020204030204" pitchFamily="34" charset="0"/>
                          </a:rPr>
                          <m:t>𝜓</m:t>
                        </m:r>
                      </m:num>
                      <m:den>
                        <m:sSup>
                          <m:sSupPr>
                            <m:ctrlPr>
                              <a:rPr lang="en-US" sz="2000" i="1">
                                <a:latin typeface="Cambria Math" panose="02040503050406030204" pitchFamily="18" charset="0"/>
                                <a:ea typeface="Cambria Math" panose="02040503050406030204" pitchFamily="18" charset="0"/>
                                <a:cs typeface="Calibri" panose="020F0502020204030204" pitchFamily="34" charset="0"/>
                              </a:rPr>
                            </m:ctrlPr>
                          </m:sSupPr>
                          <m:e>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𝑡</m:t>
                            </m:r>
                          </m:e>
                          <m:sup>
                            <m:r>
                              <a:rPr lang="en-US" sz="2000" i="1">
                                <a:latin typeface="Cambria Math" panose="02040503050406030204" pitchFamily="18" charset="0"/>
                                <a:ea typeface="Cambria Math" panose="02040503050406030204" pitchFamily="18" charset="0"/>
                                <a:cs typeface="Calibri" panose="020F0502020204030204" pitchFamily="34" charset="0"/>
                              </a:rPr>
                              <m:t>2</m:t>
                            </m:r>
                          </m:sup>
                        </m:sSup>
                      </m:den>
                    </m:f>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𝑠</m:t>
                    </m:r>
                  </m:oMath>
                </a14:m>
                <a:endParaRPr lang="en-US" sz="2000" dirty="0">
                  <a:latin typeface="Calibri" panose="020F0502020204030204" pitchFamily="34" charset="0"/>
                  <a:cs typeface="Calibri" panose="020F0502020204030204" pitchFamily="34" charset="0"/>
                </a:endParaRPr>
              </a:p>
              <a:p>
                <a:pPr marL="342900" indent="-342900">
                  <a:lnSpc>
                    <a:spcPct val="100000"/>
                  </a:lnSpc>
                  <a:spcBef>
                    <a:spcPts val="0"/>
                  </a:spcBef>
                </a:pPr>
                <a:r>
                  <a:rPr lang="en-US" sz="2000" dirty="0">
                    <a:latin typeface="Calibri" panose="020F0502020204030204" pitchFamily="34" charset="0"/>
                    <a:cs typeface="Calibri" panose="020F0502020204030204" pitchFamily="34" charset="0"/>
                  </a:rPr>
                  <a:t>First solve </a:t>
                </a:r>
                <a14:m>
                  <m:oMath xmlns:m="http://schemas.openxmlformats.org/officeDocument/2006/math">
                    <m:sSup>
                      <m:sSupPr>
                        <m:ctrlPr>
                          <a:rPr lang="en-US" sz="2000" i="1">
                            <a:latin typeface="Cambria Math" panose="02040503050406030204" pitchFamily="18" charset="0"/>
                            <a:ea typeface="Cambria Math" panose="02040503050406030204" pitchFamily="18" charset="0"/>
                            <a:cs typeface="Calibri" panose="020F0502020204030204" pitchFamily="34" charset="0"/>
                          </a:rPr>
                        </m:ctrlPr>
                      </m:sSupPr>
                      <m:e>
                        <m:r>
                          <m:rPr>
                            <m:sty m:val="p"/>
                          </m:rPr>
                          <a:rPr lang="en-US" sz="2000" i="1">
                            <a:latin typeface="Cambria Math" panose="02040503050406030204" pitchFamily="18" charset="0"/>
                            <a:ea typeface="Cambria Math" panose="02040503050406030204" pitchFamily="18" charset="0"/>
                            <a:cs typeface="Calibri" panose="020F0502020204030204" pitchFamily="34" charset="0"/>
                          </a:rPr>
                          <m:t>∇</m:t>
                        </m:r>
                      </m:e>
                      <m:sup>
                        <m:r>
                          <a:rPr lang="en-US" sz="2000" i="1">
                            <a:latin typeface="Cambria Math" panose="02040503050406030204" pitchFamily="18" charset="0"/>
                            <a:cs typeface="Calibri" panose="020F0502020204030204" pitchFamily="34" charset="0"/>
                          </a:rPr>
                          <m:t>2</m:t>
                        </m:r>
                      </m:sup>
                    </m:sSup>
                    <m:r>
                      <a:rPr lang="en-US" sz="2000" i="1">
                        <a:latin typeface="Cambria Math" panose="02040503050406030204" pitchFamily="18" charset="0"/>
                        <a:ea typeface="Cambria Math" panose="02040503050406030204" pitchFamily="18" charset="0"/>
                        <a:cs typeface="Calibri" panose="020F0502020204030204" pitchFamily="34" charset="0"/>
                      </a:rPr>
                      <m:t>𝜓</m:t>
                    </m:r>
                    <m:r>
                      <a:rPr lang="en-US" sz="2000" i="1">
                        <a:latin typeface="Cambria Math" panose="02040503050406030204" pitchFamily="18" charset="0"/>
                        <a:ea typeface="Cambria Math" panose="02040503050406030204" pitchFamily="18" charset="0"/>
                        <a:cs typeface="Calibri" panose="020F0502020204030204" pitchFamily="34" charset="0"/>
                      </a:rPr>
                      <m:t>−</m:t>
                    </m:r>
                    <m:f>
                      <m:fPr>
                        <m:ctrlPr>
                          <a:rPr lang="en-US" sz="2000" i="1">
                            <a:latin typeface="Cambria Math" panose="02040503050406030204" pitchFamily="18" charset="0"/>
                            <a:ea typeface="Cambria Math" panose="02040503050406030204" pitchFamily="18" charset="0"/>
                            <a:cs typeface="Calibri" panose="020F0502020204030204" pitchFamily="34" charset="0"/>
                          </a:rPr>
                        </m:ctrlPr>
                      </m:fPr>
                      <m:num>
                        <m:r>
                          <a:rPr lang="en-US" sz="2000" i="1">
                            <a:latin typeface="Cambria Math" panose="02040503050406030204" pitchFamily="18" charset="0"/>
                            <a:ea typeface="Cambria Math" panose="02040503050406030204" pitchFamily="18" charset="0"/>
                            <a:cs typeface="Calibri" panose="020F0502020204030204" pitchFamily="34" charset="0"/>
                          </a:rPr>
                          <m:t>1</m:t>
                        </m:r>
                      </m:num>
                      <m:den>
                        <m:sSup>
                          <m:sSupPr>
                            <m:ctrlPr>
                              <a:rPr lang="en-US" sz="2000" i="1">
                                <a:latin typeface="Cambria Math" panose="02040503050406030204" pitchFamily="18" charset="0"/>
                                <a:ea typeface="Cambria Math" panose="02040503050406030204" pitchFamily="18" charset="0"/>
                                <a:cs typeface="Calibri" panose="020F0502020204030204" pitchFamily="34" charset="0"/>
                              </a:rPr>
                            </m:ctrlPr>
                          </m:sSupPr>
                          <m:e>
                            <m:r>
                              <a:rPr lang="en-US" sz="2000" i="1">
                                <a:latin typeface="Cambria Math" panose="02040503050406030204" pitchFamily="18" charset="0"/>
                                <a:ea typeface="Cambria Math" panose="02040503050406030204" pitchFamily="18" charset="0"/>
                                <a:cs typeface="Calibri" panose="020F0502020204030204" pitchFamily="34" charset="0"/>
                              </a:rPr>
                              <m:t>𝑐</m:t>
                            </m:r>
                          </m:e>
                          <m:sup>
                            <m:r>
                              <a:rPr lang="en-US" sz="2000" i="1">
                                <a:latin typeface="Cambria Math" panose="02040503050406030204" pitchFamily="18" charset="0"/>
                                <a:ea typeface="Cambria Math" panose="02040503050406030204" pitchFamily="18" charset="0"/>
                                <a:cs typeface="Calibri" panose="020F0502020204030204" pitchFamily="34" charset="0"/>
                              </a:rPr>
                              <m:t>2</m:t>
                            </m:r>
                          </m:sup>
                        </m:sSup>
                      </m:den>
                    </m:f>
                    <m:f>
                      <m:fPr>
                        <m:ctrlPr>
                          <a:rPr lang="en-US" sz="2000" i="1">
                            <a:latin typeface="Cambria Math" panose="02040503050406030204" pitchFamily="18" charset="0"/>
                            <a:ea typeface="Cambria Math" panose="02040503050406030204" pitchFamily="18" charset="0"/>
                            <a:cs typeface="Calibri" panose="020F0502020204030204" pitchFamily="34" charset="0"/>
                          </a:rPr>
                        </m:ctrlPr>
                      </m:fPr>
                      <m:num>
                        <m:sSup>
                          <m:sSupPr>
                            <m:ctrlPr>
                              <a:rPr lang="en-US" sz="2000" i="1">
                                <a:latin typeface="Cambria Math" panose="02040503050406030204" pitchFamily="18" charset="0"/>
                                <a:ea typeface="Cambria Math" panose="02040503050406030204" pitchFamily="18" charset="0"/>
                                <a:cs typeface="Calibri" panose="020F0502020204030204" pitchFamily="34" charset="0"/>
                              </a:rPr>
                            </m:ctrlPr>
                          </m:sSupPr>
                          <m:e>
                            <m:r>
                              <a:rPr lang="en-US" sz="2000" i="1">
                                <a:latin typeface="Cambria Math" panose="02040503050406030204" pitchFamily="18" charset="0"/>
                                <a:ea typeface="Cambria Math" panose="02040503050406030204" pitchFamily="18" charset="0"/>
                                <a:cs typeface="Calibri" panose="020F0502020204030204" pitchFamily="34" charset="0"/>
                              </a:rPr>
                              <m:t>𝜕</m:t>
                            </m:r>
                          </m:e>
                          <m:sup>
                            <m:r>
                              <a:rPr lang="en-US" sz="2000" i="1">
                                <a:latin typeface="Cambria Math" panose="02040503050406030204" pitchFamily="18" charset="0"/>
                                <a:ea typeface="Cambria Math" panose="02040503050406030204" pitchFamily="18" charset="0"/>
                                <a:cs typeface="Calibri" panose="020F0502020204030204" pitchFamily="34" charset="0"/>
                              </a:rPr>
                              <m:t>2</m:t>
                            </m:r>
                          </m:sup>
                        </m:sSup>
                        <m:r>
                          <a:rPr lang="en-US" sz="2000" i="1">
                            <a:latin typeface="Cambria Math" panose="02040503050406030204" pitchFamily="18" charset="0"/>
                            <a:ea typeface="Cambria Math" panose="02040503050406030204" pitchFamily="18" charset="0"/>
                            <a:cs typeface="Calibri" panose="020F0502020204030204" pitchFamily="34" charset="0"/>
                          </a:rPr>
                          <m:t>𝜓</m:t>
                        </m:r>
                      </m:num>
                      <m:den>
                        <m:sSup>
                          <m:sSupPr>
                            <m:ctrlPr>
                              <a:rPr lang="en-US" sz="2000" i="1">
                                <a:latin typeface="Cambria Math" panose="02040503050406030204" pitchFamily="18" charset="0"/>
                                <a:ea typeface="Cambria Math" panose="02040503050406030204" pitchFamily="18" charset="0"/>
                                <a:cs typeface="Calibri" panose="020F0502020204030204" pitchFamily="34" charset="0"/>
                              </a:rPr>
                            </m:ctrlPr>
                          </m:sSupPr>
                          <m:e>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𝑡</m:t>
                            </m:r>
                          </m:e>
                          <m:sup>
                            <m:r>
                              <a:rPr lang="en-US" sz="2000" i="1">
                                <a:latin typeface="Cambria Math" panose="02040503050406030204" pitchFamily="18" charset="0"/>
                                <a:ea typeface="Cambria Math" panose="02040503050406030204" pitchFamily="18" charset="0"/>
                                <a:cs typeface="Calibri" panose="020F0502020204030204" pitchFamily="34" charset="0"/>
                              </a:rPr>
                              <m:t>2</m:t>
                            </m:r>
                          </m:sup>
                        </m:sSup>
                      </m:den>
                    </m:f>
                    <m:r>
                      <a:rPr lang="en-US" sz="2000" i="1">
                        <a:latin typeface="Cambria Math" panose="02040503050406030204" pitchFamily="18" charset="0"/>
                        <a:ea typeface="Cambria Math" panose="02040503050406030204" pitchFamily="18" charset="0"/>
                        <a:cs typeface="Calibri" panose="020F0502020204030204" pitchFamily="34" charset="0"/>
                      </a:rPr>
                      <m:t>=</m:t>
                    </m:r>
                  </m:oMath>
                </a14:m>
                <a:r>
                  <a:rPr lang="en-US" sz="2000" dirty="0">
                    <a:latin typeface="Calibri" panose="020F0502020204030204" pitchFamily="34" charset="0"/>
                    <a:cs typeface="Calibri" panose="020F0502020204030204" pitchFamily="34" charset="0"/>
                  </a:rPr>
                  <a:t>0</a:t>
                </a:r>
              </a:p>
              <a:p>
                <a:pPr marL="0" indent="0">
                  <a:lnSpc>
                    <a:spcPct val="120000"/>
                  </a:lnSpc>
                  <a:spcBef>
                    <a:spcPts val="400"/>
                  </a:spcBef>
                  <a:buNone/>
                </a:pPr>
                <a:endParaRPr lang="en-US" sz="1800" dirty="0">
                  <a:latin typeface="Calibri" panose="020F0502020204030204" pitchFamily="34" charset="0"/>
                  <a:cs typeface="Calibri" panose="020F0502020204030204" pitchFamily="34"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328561" y="2199130"/>
                <a:ext cx="5872716" cy="4344941"/>
              </a:xfrm>
              <a:blipFill>
                <a:blip r:embed="rId2"/>
                <a:stretch>
                  <a:fillRect l="-862" t="-875"/>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7A91E16D-0EAD-4D3D-AC22-65013F654EE2}" type="slidenum">
              <a:rPr lang="en-US" altLang="en-US" smtClean="0"/>
              <a:pPr>
                <a:defRPr/>
              </a:pPr>
              <a:t>40</a:t>
            </a:fld>
            <a:endParaRPr lang="en-US" altLang="en-US"/>
          </a:p>
        </p:txBody>
      </p:sp>
      <mc:AlternateContent xmlns:mc="http://schemas.openxmlformats.org/markup-compatibility/2006">
        <mc:Choice xmlns:a14="http://schemas.microsoft.com/office/drawing/2010/main" Requires="a14">
          <p:sp>
            <p:nvSpPr>
              <p:cNvPr id="5" name="Content Placeholder 2">
                <a:extLst>
                  <a:ext uri="{FF2B5EF4-FFF2-40B4-BE49-F238E27FC236}">
                    <a16:creationId xmlns:a16="http://schemas.microsoft.com/office/drawing/2014/main" id="{8791BBC4-B22B-0B48-BC02-83D12D9EF373}"/>
                  </a:ext>
                </a:extLst>
              </p:cNvPr>
              <p:cNvSpPr txBox="1">
                <a:spLocks/>
              </p:cNvSpPr>
              <p:nvPr/>
            </p:nvSpPr>
            <p:spPr>
              <a:xfrm>
                <a:off x="6504265" y="2161284"/>
                <a:ext cx="5295014" cy="36855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00000"/>
                  </a:lnSpc>
                  <a:spcBef>
                    <a:spcPts val="0"/>
                  </a:spcBef>
                </a:pPr>
                <a:r>
                  <a:rPr lang="en-US" sz="2000" dirty="0">
                    <a:latin typeface="Calibri" panose="020F0502020204030204" pitchFamily="34" charset="0"/>
                    <a:cs typeface="Calibri" panose="020F0502020204030204" pitchFamily="34" charset="0"/>
                  </a:rPr>
                  <a:t>The solution of </a:t>
                </a:r>
                <a14:m>
                  <m:oMath xmlns:m="http://schemas.openxmlformats.org/officeDocument/2006/math">
                    <m:f>
                      <m:fPr>
                        <m:ctrlPr>
                          <a:rPr lang="en-US" sz="2000" i="1" smtClean="0">
                            <a:latin typeface="Cambria Math" panose="02040503050406030204" pitchFamily="18" charset="0"/>
                            <a:cs typeface="Calibri" panose="020F0502020204030204" pitchFamily="34" charset="0"/>
                          </a:rPr>
                        </m:ctrlPr>
                      </m:fPr>
                      <m:num>
                        <m:sSup>
                          <m:sSupPr>
                            <m:ctrlPr>
                              <a:rPr lang="en-US" sz="2000" i="1" smtClean="0">
                                <a:latin typeface="Cambria Math" panose="02040503050406030204" pitchFamily="18" charset="0"/>
                                <a:ea typeface="Cambria Math" panose="02040503050406030204" pitchFamily="18" charset="0"/>
                                <a:cs typeface="Calibri" panose="020F0502020204030204" pitchFamily="34" charset="0"/>
                              </a:rPr>
                            </m:ctrlPr>
                          </m:sSupPr>
                          <m:e>
                            <m:r>
                              <a:rPr lang="en-US" sz="2000" i="1" smtClean="0">
                                <a:latin typeface="Cambria Math" panose="02040503050406030204" pitchFamily="18" charset="0"/>
                                <a:ea typeface="Cambria Math" panose="02040503050406030204" pitchFamily="18" charset="0"/>
                                <a:cs typeface="Calibri" panose="020F0502020204030204" pitchFamily="34" charset="0"/>
                              </a:rPr>
                              <m:t>𝜕</m:t>
                            </m:r>
                          </m:e>
                          <m:sup>
                            <m:r>
                              <a:rPr lang="en-US" sz="2000" b="0" i="1" smtClean="0">
                                <a:latin typeface="Cambria Math" panose="02040503050406030204" pitchFamily="18" charset="0"/>
                                <a:cs typeface="Calibri" panose="020F0502020204030204" pitchFamily="34" charset="0"/>
                              </a:rPr>
                              <m:t>2</m:t>
                            </m:r>
                          </m:sup>
                        </m:sSup>
                        <m:r>
                          <a:rPr lang="en-US" sz="2000" i="1" smtClean="0">
                            <a:latin typeface="Cambria Math" panose="02040503050406030204" pitchFamily="18" charset="0"/>
                            <a:ea typeface="Cambria Math" panose="02040503050406030204" pitchFamily="18" charset="0"/>
                            <a:cs typeface="Calibri" panose="020F0502020204030204" pitchFamily="34" charset="0"/>
                          </a:rPr>
                          <m:t>𝜑</m:t>
                        </m:r>
                      </m:num>
                      <m:den>
                        <m:sSup>
                          <m:sSupPr>
                            <m:ctrlPr>
                              <a:rPr lang="en-US" sz="2000" i="1" smtClean="0">
                                <a:latin typeface="Cambria Math" panose="02040503050406030204" pitchFamily="18" charset="0"/>
                                <a:ea typeface="Cambria Math" panose="02040503050406030204" pitchFamily="18" charset="0"/>
                                <a:cs typeface="Calibri" panose="020F0502020204030204" pitchFamily="34" charset="0"/>
                              </a:rPr>
                            </m:ctrlPr>
                          </m:sSupPr>
                          <m:e>
                            <m:r>
                              <a:rPr lang="en-US" sz="2000" i="1" smtClean="0">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𝑥</m:t>
                            </m:r>
                          </m:e>
                          <m:sup>
                            <m:r>
                              <a:rPr lang="en-US" sz="2000" b="0" i="1" smtClean="0">
                                <a:latin typeface="Cambria Math" panose="02040503050406030204" pitchFamily="18" charset="0"/>
                                <a:cs typeface="Calibri" panose="020F0502020204030204" pitchFamily="34" charset="0"/>
                              </a:rPr>
                              <m:t>2</m:t>
                            </m:r>
                          </m:sup>
                        </m:sSup>
                      </m:den>
                    </m:f>
                    <m:r>
                      <a:rPr lang="en-US" sz="2000" b="0" i="1" smtClean="0">
                        <a:latin typeface="Cambria Math" panose="02040503050406030204" pitchFamily="18" charset="0"/>
                        <a:cs typeface="Calibri" panose="020F0502020204030204" pitchFamily="34" charset="0"/>
                      </a:rPr>
                      <m:t>− </m:t>
                    </m:r>
                    <m:f>
                      <m:fPr>
                        <m:ctrlPr>
                          <a:rPr lang="en-US" sz="2000" b="0" i="1" smtClean="0">
                            <a:latin typeface="Cambria Math" panose="02040503050406030204" pitchFamily="18" charset="0"/>
                            <a:cs typeface="Calibri" panose="020F0502020204030204" pitchFamily="34" charset="0"/>
                          </a:rPr>
                        </m:ctrlPr>
                      </m:fPr>
                      <m:num>
                        <m:r>
                          <a:rPr lang="en-US" sz="2000" b="0" i="1" smtClean="0">
                            <a:latin typeface="Cambria Math" panose="02040503050406030204" pitchFamily="18" charset="0"/>
                            <a:cs typeface="Calibri" panose="020F0502020204030204" pitchFamily="34" charset="0"/>
                          </a:rPr>
                          <m:t>1</m:t>
                        </m:r>
                      </m:num>
                      <m:den>
                        <m:sSup>
                          <m:sSupPr>
                            <m:ctrlPr>
                              <a:rPr lang="en-US" sz="2000" b="0" i="1" smtClean="0">
                                <a:latin typeface="Cambria Math" panose="02040503050406030204" pitchFamily="18" charset="0"/>
                                <a:cs typeface="Calibri" panose="020F0502020204030204" pitchFamily="34" charset="0"/>
                              </a:rPr>
                            </m:ctrlPr>
                          </m:sSupPr>
                          <m:e>
                            <m:r>
                              <a:rPr lang="en-US" sz="2000" b="0" i="1" smtClean="0">
                                <a:latin typeface="Cambria Math" panose="02040503050406030204" pitchFamily="18" charset="0"/>
                                <a:cs typeface="Calibri" panose="020F0502020204030204" pitchFamily="34" charset="0"/>
                              </a:rPr>
                              <m:t>𝑐</m:t>
                            </m:r>
                          </m:e>
                          <m:sup>
                            <m:r>
                              <a:rPr lang="en-US" sz="2000" b="0" i="1" smtClean="0">
                                <a:latin typeface="Cambria Math" panose="02040503050406030204" pitchFamily="18" charset="0"/>
                                <a:cs typeface="Calibri" panose="020F0502020204030204" pitchFamily="34" charset="0"/>
                              </a:rPr>
                              <m:t>2</m:t>
                            </m:r>
                          </m:sup>
                        </m:sSup>
                      </m:den>
                    </m:f>
                    <m:f>
                      <m:fPr>
                        <m:ctrlPr>
                          <a:rPr lang="en-US" sz="2000" b="0" i="1" smtClean="0">
                            <a:latin typeface="Cambria Math" panose="02040503050406030204" pitchFamily="18" charset="0"/>
                            <a:cs typeface="Calibri" panose="020F0502020204030204" pitchFamily="34" charset="0"/>
                          </a:rPr>
                        </m:ctrlPr>
                      </m:fPr>
                      <m:num>
                        <m:sSup>
                          <m:sSupPr>
                            <m:ctrlPr>
                              <a:rPr lang="en-US" sz="2000" b="0" i="1" smtClean="0">
                                <a:latin typeface="Cambria Math" panose="02040503050406030204" pitchFamily="18" charset="0"/>
                                <a:ea typeface="Cambria Math" panose="02040503050406030204" pitchFamily="18" charset="0"/>
                                <a:cs typeface="Calibri" panose="020F0502020204030204" pitchFamily="34" charset="0"/>
                              </a:rPr>
                            </m:ctrlPr>
                          </m:sSupPr>
                          <m:e>
                            <m:r>
                              <a:rPr lang="en-US" sz="2000" b="0" i="1" smtClean="0">
                                <a:latin typeface="Cambria Math" panose="02040503050406030204" pitchFamily="18" charset="0"/>
                                <a:ea typeface="Cambria Math" panose="02040503050406030204" pitchFamily="18" charset="0"/>
                                <a:cs typeface="Calibri" panose="020F0502020204030204" pitchFamily="34" charset="0"/>
                              </a:rPr>
                              <m:t>𝜕</m:t>
                            </m:r>
                          </m:e>
                          <m:sup>
                            <m:r>
                              <a:rPr lang="en-US" sz="2000" b="0" i="1" smtClean="0">
                                <a:latin typeface="Cambria Math" panose="02040503050406030204" pitchFamily="18" charset="0"/>
                                <a:cs typeface="Calibri" panose="020F0502020204030204" pitchFamily="34" charset="0"/>
                              </a:rPr>
                              <m:t>2</m:t>
                            </m:r>
                          </m:sup>
                        </m:sSup>
                        <m:r>
                          <a:rPr lang="en-US" sz="2000" b="0" i="1" smtClean="0">
                            <a:latin typeface="Cambria Math" panose="02040503050406030204" pitchFamily="18" charset="0"/>
                            <a:ea typeface="Cambria Math" panose="02040503050406030204" pitchFamily="18" charset="0"/>
                            <a:cs typeface="Calibri" panose="020F0502020204030204" pitchFamily="34" charset="0"/>
                          </a:rPr>
                          <m:t>𝜑</m:t>
                        </m:r>
                      </m:num>
                      <m:den>
                        <m:sSup>
                          <m:sSupPr>
                            <m:ctrlPr>
                              <a:rPr lang="en-US" sz="2000" b="0" i="1" smtClean="0">
                                <a:latin typeface="Cambria Math" panose="02040503050406030204" pitchFamily="18" charset="0"/>
                                <a:ea typeface="Cambria Math" panose="02040503050406030204" pitchFamily="18" charset="0"/>
                                <a:cs typeface="Calibri" panose="020F0502020204030204" pitchFamily="34" charset="0"/>
                              </a:rPr>
                            </m:ctrlPr>
                          </m:sSupPr>
                          <m:e>
                            <m:r>
                              <a:rPr lang="en-US" sz="2000" b="0" i="1" smtClean="0">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𝑥</m:t>
                            </m:r>
                          </m:e>
                          <m:sup>
                            <m:r>
                              <a:rPr lang="en-US" sz="2000" b="0" i="1" smtClean="0">
                                <a:latin typeface="Cambria Math" panose="02040503050406030204" pitchFamily="18" charset="0"/>
                                <a:cs typeface="Calibri" panose="020F0502020204030204" pitchFamily="34" charset="0"/>
                              </a:rPr>
                              <m:t>2</m:t>
                            </m:r>
                          </m:sup>
                        </m:sSup>
                      </m:den>
                    </m:f>
                    <m:r>
                      <a:rPr lang="en-US" sz="2000" b="0" i="1" smtClean="0">
                        <a:latin typeface="Cambria Math" panose="02040503050406030204" pitchFamily="18" charset="0"/>
                        <a:cs typeface="Calibri" panose="020F0502020204030204" pitchFamily="34" charset="0"/>
                      </a:rPr>
                      <m:t>=0</m:t>
                    </m:r>
                  </m:oMath>
                </a14:m>
                <a:r>
                  <a:rPr lang="en-US" sz="2000" dirty="0">
                    <a:latin typeface="Calibri" panose="020F0502020204030204" pitchFamily="34" charset="0"/>
                    <a:cs typeface="Calibri" panose="020F0502020204030204" pitchFamily="34" charset="0"/>
                  </a:rPr>
                  <a:t> is</a:t>
                </a:r>
              </a:p>
              <a:p>
                <a:pPr marL="342900" indent="-342900">
                  <a:lnSpc>
                    <a:spcPct val="100000"/>
                  </a:lnSpc>
                  <a:spcBef>
                    <a:spcPts val="0"/>
                  </a:spcBef>
                </a:pPr>
                <a14:m>
                  <m:oMath xmlns:m="http://schemas.openxmlformats.org/officeDocument/2006/math">
                    <m:r>
                      <a:rPr lang="en-US" sz="2000" i="1" smtClean="0">
                        <a:latin typeface="Cambria Math" panose="02040503050406030204" pitchFamily="18" charset="0"/>
                        <a:ea typeface="Cambria Math" panose="02040503050406030204" pitchFamily="18" charset="0"/>
                        <a:cs typeface="Calibri" panose="020F0502020204030204" pitchFamily="34" charset="0"/>
                      </a:rPr>
                      <m:t>𝜑</m:t>
                    </m:r>
                    <m:d>
                      <m:dPr>
                        <m:ctrlPr>
                          <a:rPr lang="en-US" sz="2000" b="0" i="1" smtClean="0">
                            <a:latin typeface="Cambria Math" panose="02040503050406030204" pitchFamily="18" charset="0"/>
                            <a:ea typeface="Cambria Math" panose="02040503050406030204" pitchFamily="18" charset="0"/>
                            <a:cs typeface="Calibri" panose="020F0502020204030204" pitchFamily="34" charset="0"/>
                          </a:rPr>
                        </m:ctrlPr>
                      </m:dPr>
                      <m:e>
                        <m:r>
                          <a:rPr lang="en-US" sz="2000" b="0" i="1" smtClean="0">
                            <a:latin typeface="Cambria Math" panose="02040503050406030204" pitchFamily="18" charset="0"/>
                            <a:ea typeface="Cambria Math" panose="02040503050406030204" pitchFamily="18" charset="0"/>
                            <a:cs typeface="Calibri" panose="020F0502020204030204" pitchFamily="34" charset="0"/>
                          </a:rPr>
                          <m:t>𝑥</m:t>
                        </m:r>
                        <m:r>
                          <a:rPr lang="en-US" sz="2000" b="0" i="1" smtClean="0">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𝑡</m:t>
                        </m:r>
                      </m:e>
                    </m:d>
                    <m:r>
                      <a:rPr lang="en-US" sz="2000" b="0" i="1" smtClean="0">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𝐴𝑓</m:t>
                    </m:r>
                    <m:d>
                      <m:dPr>
                        <m:ctrlPr>
                          <a:rPr lang="en-US" sz="2000" b="0" i="1" smtClean="0">
                            <a:latin typeface="Cambria Math" panose="02040503050406030204" pitchFamily="18" charset="0"/>
                            <a:ea typeface="Cambria Math" panose="02040503050406030204" pitchFamily="18" charset="0"/>
                            <a:cs typeface="Calibri" panose="020F0502020204030204" pitchFamily="34" charset="0"/>
                          </a:rPr>
                        </m:ctrlPr>
                      </m:dPr>
                      <m:e>
                        <m:r>
                          <a:rPr lang="en-US" sz="2000" b="0" i="1" smtClean="0">
                            <a:latin typeface="Cambria Math" panose="02040503050406030204" pitchFamily="18" charset="0"/>
                            <a:ea typeface="Cambria Math" panose="02040503050406030204" pitchFamily="18" charset="0"/>
                            <a:cs typeface="Calibri" panose="020F0502020204030204" pitchFamily="34" charset="0"/>
                          </a:rPr>
                          <m:t>𝑥</m:t>
                        </m:r>
                        <m:r>
                          <a:rPr lang="en-US" sz="2000" b="0" i="1" smtClean="0">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𝑐𝑡</m:t>
                        </m:r>
                      </m:e>
                    </m:d>
                    <m:r>
                      <a:rPr lang="en-US" sz="2000" b="0" i="1" smtClean="0">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𝐵𝑔</m:t>
                    </m:r>
                    <m:d>
                      <m:dPr>
                        <m:ctrlPr>
                          <a:rPr lang="en-US" sz="2000" i="1">
                            <a:latin typeface="Cambria Math" panose="02040503050406030204" pitchFamily="18" charset="0"/>
                            <a:ea typeface="Cambria Math" panose="02040503050406030204" pitchFamily="18" charset="0"/>
                            <a:cs typeface="Calibri" panose="020F0502020204030204" pitchFamily="34" charset="0"/>
                          </a:rPr>
                        </m:ctrlPr>
                      </m:dPr>
                      <m:e>
                        <m:r>
                          <a:rPr lang="en-US" sz="2000" i="1">
                            <a:latin typeface="Cambria Math" panose="02040503050406030204" pitchFamily="18" charset="0"/>
                            <a:ea typeface="Cambria Math" panose="02040503050406030204" pitchFamily="18" charset="0"/>
                            <a:cs typeface="Calibri" panose="020F0502020204030204" pitchFamily="34" charset="0"/>
                          </a:rPr>
                          <m:t>𝑥</m:t>
                        </m:r>
                        <m:r>
                          <a:rPr lang="en-US" sz="2000" b="0" i="1" smtClean="0">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𝑐𝑡</m:t>
                        </m:r>
                      </m:e>
                    </m:d>
                  </m:oMath>
                </a14:m>
                <a:endParaRPr lang="en-US" sz="2000" dirty="0">
                  <a:latin typeface="Calibri" panose="020F0502020204030204" pitchFamily="34" charset="0"/>
                  <a:cs typeface="Calibri" panose="020F0502020204030204" pitchFamily="34" charset="0"/>
                </a:endParaRPr>
              </a:p>
              <a:p>
                <a:pPr marL="342900" indent="-342900">
                  <a:lnSpc>
                    <a:spcPct val="100000"/>
                  </a:lnSpc>
                  <a:spcBef>
                    <a:spcPts val="0"/>
                  </a:spcBef>
                </a:pPr>
                <a14:m>
                  <m:oMath xmlns:m="http://schemas.openxmlformats.org/officeDocument/2006/math">
                    <m:f>
                      <m:fPr>
                        <m:ctrlPr>
                          <a:rPr lang="en-US" sz="2000" i="1" smtClean="0">
                            <a:latin typeface="Cambria Math" panose="02040503050406030204" pitchFamily="18" charset="0"/>
                            <a:ea typeface="Cambria Math" panose="02040503050406030204" pitchFamily="18" charset="0"/>
                            <a:cs typeface="Calibri" panose="020F0502020204030204" pitchFamily="34" charset="0"/>
                          </a:rPr>
                        </m:ctrlPr>
                      </m:fPr>
                      <m:num>
                        <m:r>
                          <a:rPr lang="en-US" sz="2000" i="1" smtClean="0">
                            <a:latin typeface="Cambria Math" panose="02040503050406030204" pitchFamily="18" charset="0"/>
                            <a:ea typeface="Cambria Math" panose="02040503050406030204" pitchFamily="18" charset="0"/>
                            <a:cs typeface="Calibri" panose="020F0502020204030204" pitchFamily="34" charset="0"/>
                          </a:rPr>
                          <m:t>𝜕𝜓</m:t>
                        </m:r>
                        <m:r>
                          <a:rPr lang="en-US" sz="2000" b="0" i="1" smtClean="0">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𝑟</m:t>
                        </m:r>
                        <m:r>
                          <a:rPr lang="en-US" sz="2000" b="0" i="1" smtClean="0">
                            <a:latin typeface="Cambria Math" panose="02040503050406030204" pitchFamily="18" charset="0"/>
                            <a:ea typeface="Cambria Math" panose="02040503050406030204" pitchFamily="18" charset="0"/>
                            <a:cs typeface="Calibri" panose="020F0502020204030204" pitchFamily="34" charset="0"/>
                          </a:rPr>
                          <m:t>)</m:t>
                        </m:r>
                      </m:num>
                      <m:den>
                        <m:r>
                          <a:rPr lang="en-US" sz="2000" i="1" smtClean="0">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𝑥</m:t>
                        </m:r>
                      </m:den>
                    </m:f>
                    <m:r>
                      <a:rPr lang="en-US" sz="2000" b="0" i="1" smtClean="0">
                        <a:latin typeface="Cambria Math" panose="02040503050406030204" pitchFamily="18" charset="0"/>
                        <a:cs typeface="Calibri" panose="020F0502020204030204" pitchFamily="34" charset="0"/>
                      </a:rPr>
                      <m:t>= </m:t>
                    </m:r>
                    <m:sSup>
                      <m:sSupPr>
                        <m:ctrlPr>
                          <a:rPr lang="en-US" sz="2000" b="0" i="1" smtClean="0">
                            <a:latin typeface="Cambria Math" panose="02040503050406030204" pitchFamily="18" charset="0"/>
                            <a:ea typeface="Cambria Math" panose="02040503050406030204" pitchFamily="18" charset="0"/>
                            <a:cs typeface="Calibri" panose="020F0502020204030204" pitchFamily="34" charset="0"/>
                          </a:rPr>
                        </m:ctrlPr>
                      </m:sSupPr>
                      <m:e>
                        <m:r>
                          <a:rPr lang="en-US" sz="2000" b="0" i="1" smtClean="0">
                            <a:latin typeface="Cambria Math" panose="02040503050406030204" pitchFamily="18" charset="0"/>
                            <a:ea typeface="Cambria Math" panose="02040503050406030204" pitchFamily="18" charset="0"/>
                            <a:cs typeface="Calibri" panose="020F0502020204030204" pitchFamily="34" charset="0"/>
                          </a:rPr>
                          <m:t>𝜓</m:t>
                        </m:r>
                      </m:e>
                      <m:sup>
                        <m:r>
                          <a:rPr lang="en-US" sz="2000" b="0" i="1" smtClean="0">
                            <a:latin typeface="Cambria Math" panose="02040503050406030204" pitchFamily="18" charset="0"/>
                            <a:cs typeface="Calibri" panose="020F0502020204030204" pitchFamily="34" charset="0"/>
                          </a:rPr>
                          <m:t>′</m:t>
                        </m:r>
                      </m:sup>
                    </m:sSup>
                    <m:f>
                      <m:fPr>
                        <m:ctrlPr>
                          <a:rPr lang="en-US" sz="2000" b="0" i="1" smtClean="0">
                            <a:latin typeface="Cambria Math" panose="02040503050406030204" pitchFamily="18" charset="0"/>
                            <a:ea typeface="Cambria Math" panose="02040503050406030204" pitchFamily="18" charset="0"/>
                            <a:cs typeface="Calibri" panose="020F0502020204030204" pitchFamily="34" charset="0"/>
                          </a:rPr>
                        </m:ctrlPr>
                      </m:fPr>
                      <m:num>
                        <m:r>
                          <a:rPr lang="en-US" sz="2000" b="0" i="1" smtClean="0">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𝑟</m:t>
                        </m:r>
                      </m:num>
                      <m:den>
                        <m:r>
                          <a:rPr lang="en-US" sz="2000" b="0" i="1" smtClean="0">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𝑥</m:t>
                        </m:r>
                      </m:den>
                    </m:f>
                  </m:oMath>
                </a14:m>
                <a:r>
                  <a:rPr lang="en-US" sz="2000" dirty="0">
                    <a:latin typeface="Calibri" panose="020F0502020204030204" pitchFamily="34" charset="0"/>
                    <a:cs typeface="Calibri" panose="020F0502020204030204" pitchFamily="34" charset="0"/>
                  </a:rPr>
                  <a:t> and </a:t>
                </a:r>
                <a14:m>
                  <m:oMath xmlns:m="http://schemas.openxmlformats.org/officeDocument/2006/math">
                    <m:f>
                      <m:fPr>
                        <m:ctrlPr>
                          <a:rPr lang="en-US" sz="2000" i="1">
                            <a:latin typeface="Cambria Math" panose="02040503050406030204" pitchFamily="18" charset="0"/>
                            <a:ea typeface="Cambria Math" panose="02040503050406030204" pitchFamily="18" charset="0"/>
                            <a:cs typeface="Calibri" panose="020F0502020204030204" pitchFamily="34" charset="0"/>
                          </a:rPr>
                        </m:ctrlPr>
                      </m:fPr>
                      <m:num>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𝑟</m:t>
                        </m:r>
                      </m:num>
                      <m:den>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𝑥</m:t>
                        </m:r>
                      </m:den>
                    </m:f>
                    <m:r>
                      <a:rPr lang="en-US" sz="2000" b="0" i="0" smtClean="0">
                        <a:latin typeface="Cambria Math" panose="02040503050406030204" pitchFamily="18" charset="0"/>
                        <a:ea typeface="Cambria Math" panose="02040503050406030204" pitchFamily="18" charset="0"/>
                        <a:cs typeface="Calibri" panose="020F0502020204030204" pitchFamily="34" charset="0"/>
                      </a:rPr>
                      <m:t>=</m:t>
                    </m:r>
                    <m:f>
                      <m:fPr>
                        <m:ctrlPr>
                          <a:rPr lang="en-US" sz="2000" b="0" i="1" smtClean="0">
                            <a:latin typeface="Cambria Math" panose="02040503050406030204" pitchFamily="18" charset="0"/>
                            <a:ea typeface="Cambria Math" panose="02040503050406030204" pitchFamily="18" charset="0"/>
                            <a:cs typeface="Calibri" panose="020F0502020204030204" pitchFamily="34" charset="0"/>
                          </a:rPr>
                        </m:ctrlPr>
                      </m:fPr>
                      <m:num>
                        <m:r>
                          <a:rPr lang="en-US" sz="2000" b="0" i="1" smtClean="0">
                            <a:latin typeface="Cambria Math" panose="02040503050406030204" pitchFamily="18" charset="0"/>
                            <a:ea typeface="Cambria Math" panose="02040503050406030204" pitchFamily="18" charset="0"/>
                            <a:cs typeface="Calibri" panose="020F0502020204030204" pitchFamily="34" charset="0"/>
                          </a:rPr>
                          <m:t>𝑥</m:t>
                        </m:r>
                      </m:num>
                      <m:den>
                        <m:r>
                          <a:rPr lang="en-US" sz="2000" b="0" i="1" smtClean="0">
                            <a:latin typeface="Cambria Math" panose="02040503050406030204" pitchFamily="18" charset="0"/>
                            <a:ea typeface="Cambria Math" panose="02040503050406030204" pitchFamily="18" charset="0"/>
                            <a:cs typeface="Calibri" panose="020F0502020204030204" pitchFamily="34" charset="0"/>
                          </a:rPr>
                          <m:t>𝑟</m:t>
                        </m:r>
                      </m:den>
                    </m:f>
                  </m:oMath>
                </a14:m>
                <a:r>
                  <a:rPr lang="en-US" sz="2000" dirty="0">
                    <a:latin typeface="Calibri" panose="020F0502020204030204" pitchFamily="34" charset="0"/>
                    <a:cs typeface="Calibri" panose="020F0502020204030204" pitchFamily="34" charset="0"/>
                  </a:rPr>
                  <a:t> </a:t>
                </a:r>
              </a:p>
              <a:p>
                <a:pPr marL="342900" indent="-342900">
                  <a:lnSpc>
                    <a:spcPct val="100000"/>
                  </a:lnSpc>
                  <a:spcBef>
                    <a:spcPts val="0"/>
                  </a:spcBef>
                </a:pPr>
                <a14:m>
                  <m:oMath xmlns:m="http://schemas.openxmlformats.org/officeDocument/2006/math">
                    <m:f>
                      <m:fPr>
                        <m:ctrlPr>
                          <a:rPr lang="en-US" sz="2000" i="1">
                            <a:latin typeface="Cambria Math" panose="02040503050406030204" pitchFamily="18" charset="0"/>
                            <a:cs typeface="Calibri" panose="020F0502020204030204" pitchFamily="34" charset="0"/>
                          </a:rPr>
                        </m:ctrlPr>
                      </m:fPr>
                      <m:num>
                        <m:sSup>
                          <m:sSupPr>
                            <m:ctrlPr>
                              <a:rPr lang="en-US" sz="2000" i="1">
                                <a:latin typeface="Cambria Math" panose="02040503050406030204" pitchFamily="18" charset="0"/>
                                <a:ea typeface="Cambria Math" panose="02040503050406030204" pitchFamily="18" charset="0"/>
                                <a:cs typeface="Calibri" panose="020F0502020204030204" pitchFamily="34" charset="0"/>
                              </a:rPr>
                            </m:ctrlPr>
                          </m:sSupPr>
                          <m:e>
                            <m:r>
                              <a:rPr lang="en-US" sz="2000" i="1">
                                <a:latin typeface="Cambria Math" panose="02040503050406030204" pitchFamily="18" charset="0"/>
                                <a:ea typeface="Cambria Math" panose="02040503050406030204" pitchFamily="18" charset="0"/>
                                <a:cs typeface="Calibri" panose="020F0502020204030204" pitchFamily="34" charset="0"/>
                              </a:rPr>
                              <m:t>𝜕</m:t>
                            </m:r>
                          </m:e>
                          <m:sup>
                            <m:r>
                              <a:rPr lang="en-US" sz="2000" i="1">
                                <a:latin typeface="Cambria Math" panose="02040503050406030204" pitchFamily="18" charset="0"/>
                                <a:cs typeface="Calibri" panose="020F0502020204030204" pitchFamily="34" charset="0"/>
                              </a:rPr>
                              <m:t>2</m:t>
                            </m:r>
                          </m:sup>
                        </m:sSup>
                        <m:r>
                          <a:rPr lang="en-US" sz="2000" i="1" smtClean="0">
                            <a:latin typeface="Cambria Math" panose="02040503050406030204" pitchFamily="18" charset="0"/>
                            <a:ea typeface="Cambria Math" panose="02040503050406030204" pitchFamily="18" charset="0"/>
                            <a:cs typeface="Calibri" panose="020F0502020204030204" pitchFamily="34" charset="0"/>
                          </a:rPr>
                          <m:t>𝜓</m:t>
                        </m:r>
                      </m:num>
                      <m:den>
                        <m:sSup>
                          <m:sSupPr>
                            <m:ctrlPr>
                              <a:rPr lang="en-US" sz="2000" i="1">
                                <a:latin typeface="Cambria Math" panose="02040503050406030204" pitchFamily="18" charset="0"/>
                                <a:ea typeface="Cambria Math" panose="02040503050406030204" pitchFamily="18" charset="0"/>
                                <a:cs typeface="Calibri" panose="020F0502020204030204" pitchFamily="34" charset="0"/>
                              </a:rPr>
                            </m:ctrlPr>
                          </m:sSupPr>
                          <m:e>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𝑥</m:t>
                            </m:r>
                          </m:e>
                          <m:sup>
                            <m:r>
                              <a:rPr lang="en-US" sz="2000" i="1">
                                <a:latin typeface="Cambria Math" panose="02040503050406030204" pitchFamily="18" charset="0"/>
                                <a:cs typeface="Calibri" panose="020F0502020204030204" pitchFamily="34" charset="0"/>
                              </a:rPr>
                              <m:t>2</m:t>
                            </m:r>
                          </m:sup>
                        </m:sSup>
                      </m:den>
                    </m:f>
                    <m:r>
                      <a:rPr lang="en-US" sz="2000" b="0" i="1" smtClean="0">
                        <a:latin typeface="Cambria Math" panose="02040503050406030204" pitchFamily="18" charset="0"/>
                        <a:cs typeface="Calibri" panose="020F0502020204030204" pitchFamily="34" charset="0"/>
                      </a:rPr>
                      <m:t>=</m:t>
                    </m:r>
                    <m:sSup>
                      <m:sSupPr>
                        <m:ctrlPr>
                          <a:rPr lang="en-US" sz="2000" i="1">
                            <a:latin typeface="Cambria Math" panose="02040503050406030204" pitchFamily="18" charset="0"/>
                            <a:ea typeface="Cambria Math" panose="02040503050406030204" pitchFamily="18" charset="0"/>
                            <a:cs typeface="Calibri" panose="020F0502020204030204" pitchFamily="34" charset="0"/>
                          </a:rPr>
                        </m:ctrlPr>
                      </m:sSupPr>
                      <m:e>
                        <m:r>
                          <a:rPr lang="en-US" sz="2000" i="1">
                            <a:latin typeface="Cambria Math" panose="02040503050406030204" pitchFamily="18" charset="0"/>
                            <a:ea typeface="Cambria Math" panose="02040503050406030204" pitchFamily="18" charset="0"/>
                            <a:cs typeface="Calibri" panose="020F0502020204030204" pitchFamily="34" charset="0"/>
                          </a:rPr>
                          <m:t>𝜓</m:t>
                        </m:r>
                      </m:e>
                      <m:sup>
                        <m:r>
                          <a:rPr lang="en-US" sz="2000" b="0" i="1" smtClean="0">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cs typeface="Calibri" panose="020F0502020204030204" pitchFamily="34" charset="0"/>
                          </a:rPr>
                          <m:t>′</m:t>
                        </m:r>
                      </m:sup>
                    </m:sSup>
                    <m:sSup>
                      <m:sSupPr>
                        <m:ctrlPr>
                          <a:rPr lang="en-US" sz="2000" b="0" i="1" smtClean="0">
                            <a:latin typeface="Cambria Math" panose="02040503050406030204" pitchFamily="18" charset="0"/>
                            <a:cs typeface="Calibri" panose="020F0502020204030204" pitchFamily="34" charset="0"/>
                          </a:rPr>
                        </m:ctrlPr>
                      </m:sSupPr>
                      <m:e>
                        <m:r>
                          <a:rPr lang="en-US" sz="2000" b="0" i="1" smtClean="0">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ea typeface="Cambria Math" panose="02040503050406030204" pitchFamily="18" charset="0"/>
                                <a:cs typeface="Calibri" panose="020F0502020204030204" pitchFamily="34" charset="0"/>
                              </a:rPr>
                            </m:ctrlPr>
                          </m:fPr>
                          <m:num>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𝑟</m:t>
                            </m:r>
                          </m:num>
                          <m:den>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𝑥</m:t>
                            </m:r>
                          </m:den>
                        </m:f>
                        <m:r>
                          <a:rPr lang="en-US" sz="2000" b="0" i="1" smtClean="0">
                            <a:latin typeface="Cambria Math" panose="02040503050406030204" pitchFamily="18" charset="0"/>
                            <a:ea typeface="Cambria Math" panose="02040503050406030204" pitchFamily="18" charset="0"/>
                            <a:cs typeface="Calibri" panose="020F0502020204030204" pitchFamily="34" charset="0"/>
                          </a:rPr>
                          <m:t>)</m:t>
                        </m:r>
                      </m:e>
                      <m:sup>
                        <m:r>
                          <a:rPr lang="en-US" sz="2000" b="0" i="1" smtClean="0">
                            <a:latin typeface="Cambria Math" panose="02040503050406030204" pitchFamily="18" charset="0"/>
                            <a:cs typeface="Calibri" panose="020F0502020204030204" pitchFamily="34" charset="0"/>
                          </a:rPr>
                          <m:t>2</m:t>
                        </m:r>
                      </m:sup>
                    </m:sSup>
                    <m:r>
                      <a:rPr lang="en-US" sz="2000" b="0" i="1" smtClean="0">
                        <a:latin typeface="Cambria Math" panose="02040503050406030204" pitchFamily="18" charset="0"/>
                        <a:cs typeface="Calibri" panose="020F0502020204030204" pitchFamily="34" charset="0"/>
                      </a:rPr>
                      <m:t>+</m:t>
                    </m:r>
                    <m:sSup>
                      <m:sSupPr>
                        <m:ctrlPr>
                          <a:rPr lang="en-US" sz="2000" i="1">
                            <a:latin typeface="Cambria Math" panose="02040503050406030204" pitchFamily="18" charset="0"/>
                            <a:ea typeface="Cambria Math" panose="02040503050406030204" pitchFamily="18" charset="0"/>
                            <a:cs typeface="Calibri" panose="020F0502020204030204" pitchFamily="34" charset="0"/>
                          </a:rPr>
                        </m:ctrlPr>
                      </m:sSupPr>
                      <m:e>
                        <m:r>
                          <a:rPr lang="en-US" sz="2000" i="1">
                            <a:latin typeface="Cambria Math" panose="02040503050406030204" pitchFamily="18" charset="0"/>
                            <a:ea typeface="Cambria Math" panose="02040503050406030204" pitchFamily="18" charset="0"/>
                            <a:cs typeface="Calibri" panose="020F0502020204030204" pitchFamily="34" charset="0"/>
                          </a:rPr>
                          <m:t>𝜓</m:t>
                        </m:r>
                      </m:e>
                      <m:sup>
                        <m:r>
                          <a:rPr lang="en-US" sz="2000" i="1">
                            <a:latin typeface="Cambria Math" panose="02040503050406030204" pitchFamily="18" charset="0"/>
                            <a:ea typeface="Cambria Math" panose="02040503050406030204" pitchFamily="18" charset="0"/>
                            <a:cs typeface="Calibri" panose="020F0502020204030204" pitchFamily="34" charset="0"/>
                          </a:rPr>
                          <m:t>′</m:t>
                        </m:r>
                      </m:sup>
                    </m:sSup>
                    <m:f>
                      <m:fPr>
                        <m:ctrlPr>
                          <a:rPr lang="en-US" sz="2000" i="1">
                            <a:latin typeface="Cambria Math" panose="02040503050406030204" pitchFamily="18" charset="0"/>
                            <a:cs typeface="Calibri" panose="020F0502020204030204" pitchFamily="34" charset="0"/>
                          </a:rPr>
                        </m:ctrlPr>
                      </m:fPr>
                      <m:num>
                        <m:sSup>
                          <m:sSupPr>
                            <m:ctrlPr>
                              <a:rPr lang="en-US" sz="2000" i="1">
                                <a:latin typeface="Cambria Math" panose="02040503050406030204" pitchFamily="18" charset="0"/>
                                <a:ea typeface="Cambria Math" panose="02040503050406030204" pitchFamily="18" charset="0"/>
                                <a:cs typeface="Calibri" panose="020F0502020204030204" pitchFamily="34" charset="0"/>
                              </a:rPr>
                            </m:ctrlPr>
                          </m:sSupPr>
                          <m:e>
                            <m:r>
                              <a:rPr lang="en-US" sz="2000" i="1">
                                <a:latin typeface="Cambria Math" panose="02040503050406030204" pitchFamily="18" charset="0"/>
                                <a:ea typeface="Cambria Math" panose="02040503050406030204" pitchFamily="18" charset="0"/>
                                <a:cs typeface="Calibri" panose="020F0502020204030204" pitchFamily="34" charset="0"/>
                              </a:rPr>
                              <m:t>𝜕</m:t>
                            </m:r>
                          </m:e>
                          <m:sup>
                            <m:r>
                              <a:rPr lang="en-US" sz="2000" i="1">
                                <a:latin typeface="Cambria Math" panose="02040503050406030204" pitchFamily="18" charset="0"/>
                                <a:cs typeface="Calibri" panose="020F0502020204030204" pitchFamily="34" charset="0"/>
                              </a:rPr>
                              <m:t>2</m:t>
                            </m:r>
                          </m:sup>
                        </m:sSup>
                        <m:r>
                          <a:rPr lang="en-US" sz="2000" b="0" i="1" smtClean="0">
                            <a:latin typeface="Cambria Math" panose="02040503050406030204" pitchFamily="18" charset="0"/>
                            <a:cs typeface="Calibri" panose="020F0502020204030204" pitchFamily="34" charset="0"/>
                          </a:rPr>
                          <m:t>𝑟</m:t>
                        </m:r>
                      </m:num>
                      <m:den>
                        <m:sSup>
                          <m:sSupPr>
                            <m:ctrlPr>
                              <a:rPr lang="en-US" sz="2000" i="1">
                                <a:latin typeface="Cambria Math" panose="02040503050406030204" pitchFamily="18" charset="0"/>
                                <a:ea typeface="Cambria Math" panose="02040503050406030204" pitchFamily="18" charset="0"/>
                                <a:cs typeface="Calibri" panose="020F0502020204030204" pitchFamily="34" charset="0"/>
                              </a:rPr>
                            </m:ctrlPr>
                          </m:sSupPr>
                          <m:e>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𝑥</m:t>
                            </m:r>
                          </m:e>
                          <m:sup>
                            <m:r>
                              <a:rPr lang="en-US" sz="2000" i="1">
                                <a:latin typeface="Cambria Math" panose="02040503050406030204" pitchFamily="18" charset="0"/>
                                <a:cs typeface="Calibri" panose="020F0502020204030204" pitchFamily="34" charset="0"/>
                              </a:rPr>
                              <m:t>2</m:t>
                            </m:r>
                          </m:sup>
                        </m:sSup>
                      </m:den>
                    </m:f>
                  </m:oMath>
                </a14:m>
                <a:r>
                  <a:rPr lang="en-US" sz="2000" dirty="0">
                    <a:latin typeface="Calibri" panose="020F0502020204030204" pitchFamily="34" charset="0"/>
                    <a:cs typeface="Calibri" panose="020F0502020204030204" pitchFamily="34" charset="0"/>
                  </a:rPr>
                  <a:t> and </a:t>
                </a:r>
                <a14:m>
                  <m:oMath xmlns:m="http://schemas.openxmlformats.org/officeDocument/2006/math">
                    <m:f>
                      <m:fPr>
                        <m:ctrlPr>
                          <a:rPr lang="en-US" sz="2000" i="1">
                            <a:latin typeface="Cambria Math" panose="02040503050406030204" pitchFamily="18" charset="0"/>
                            <a:cs typeface="Calibri" panose="020F0502020204030204" pitchFamily="34" charset="0"/>
                          </a:rPr>
                        </m:ctrlPr>
                      </m:fPr>
                      <m:num>
                        <m:sSup>
                          <m:sSupPr>
                            <m:ctrlPr>
                              <a:rPr lang="en-US" sz="2000" i="1">
                                <a:latin typeface="Cambria Math" panose="02040503050406030204" pitchFamily="18" charset="0"/>
                                <a:ea typeface="Cambria Math" panose="02040503050406030204" pitchFamily="18" charset="0"/>
                                <a:cs typeface="Calibri" panose="020F0502020204030204" pitchFamily="34" charset="0"/>
                              </a:rPr>
                            </m:ctrlPr>
                          </m:sSupPr>
                          <m:e>
                            <m:r>
                              <a:rPr lang="en-US" sz="2000" i="1">
                                <a:latin typeface="Cambria Math" panose="02040503050406030204" pitchFamily="18" charset="0"/>
                                <a:ea typeface="Cambria Math" panose="02040503050406030204" pitchFamily="18" charset="0"/>
                                <a:cs typeface="Calibri" panose="020F0502020204030204" pitchFamily="34" charset="0"/>
                              </a:rPr>
                              <m:t>𝜕</m:t>
                            </m:r>
                          </m:e>
                          <m:sup>
                            <m:r>
                              <a:rPr lang="en-US" sz="2000" i="1">
                                <a:latin typeface="Cambria Math" panose="02040503050406030204" pitchFamily="18" charset="0"/>
                                <a:cs typeface="Calibri" panose="020F0502020204030204" pitchFamily="34" charset="0"/>
                              </a:rPr>
                              <m:t>2</m:t>
                            </m:r>
                          </m:sup>
                        </m:sSup>
                        <m:r>
                          <a:rPr lang="en-US" sz="2000" i="1">
                            <a:latin typeface="Cambria Math" panose="02040503050406030204" pitchFamily="18" charset="0"/>
                            <a:cs typeface="Calibri" panose="020F0502020204030204" pitchFamily="34" charset="0"/>
                          </a:rPr>
                          <m:t>𝑟</m:t>
                        </m:r>
                      </m:num>
                      <m:den>
                        <m:sSup>
                          <m:sSupPr>
                            <m:ctrlPr>
                              <a:rPr lang="en-US" sz="2000" i="1">
                                <a:latin typeface="Cambria Math" panose="02040503050406030204" pitchFamily="18" charset="0"/>
                                <a:ea typeface="Cambria Math" panose="02040503050406030204" pitchFamily="18" charset="0"/>
                                <a:cs typeface="Calibri" panose="020F0502020204030204" pitchFamily="34" charset="0"/>
                              </a:rPr>
                            </m:ctrlPr>
                          </m:sSupPr>
                          <m:e>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𝑥</m:t>
                            </m:r>
                          </m:e>
                          <m:sup>
                            <m:r>
                              <a:rPr lang="en-US" sz="2000" i="1">
                                <a:latin typeface="Cambria Math" panose="02040503050406030204" pitchFamily="18" charset="0"/>
                                <a:cs typeface="Calibri" panose="020F0502020204030204" pitchFamily="34" charset="0"/>
                              </a:rPr>
                              <m:t>2</m:t>
                            </m:r>
                          </m:sup>
                        </m:sSup>
                      </m:den>
                    </m:f>
                    <m:r>
                      <a:rPr lang="en-US" sz="2000" b="0" i="1" smtClean="0">
                        <a:latin typeface="Cambria Math" panose="02040503050406030204" pitchFamily="18" charset="0"/>
                        <a:cs typeface="Calibri" panose="020F0502020204030204" pitchFamily="34" charset="0"/>
                      </a:rPr>
                      <m:t>=</m:t>
                    </m:r>
                    <m:f>
                      <m:fPr>
                        <m:ctrlPr>
                          <a:rPr lang="en-US" sz="2000" b="0" i="1" smtClean="0">
                            <a:latin typeface="Cambria Math" panose="02040503050406030204" pitchFamily="18" charset="0"/>
                            <a:cs typeface="Calibri" panose="020F0502020204030204" pitchFamily="34" charset="0"/>
                          </a:rPr>
                        </m:ctrlPr>
                      </m:fPr>
                      <m:num>
                        <m:r>
                          <a:rPr lang="en-US" sz="2000" b="0" i="1" smtClean="0">
                            <a:latin typeface="Cambria Math" panose="02040503050406030204" pitchFamily="18" charset="0"/>
                            <a:cs typeface="Calibri" panose="020F0502020204030204" pitchFamily="34" charset="0"/>
                          </a:rPr>
                          <m:t>1</m:t>
                        </m:r>
                      </m:num>
                      <m:den>
                        <m:r>
                          <a:rPr lang="en-US" sz="2000" b="0" i="1" smtClean="0">
                            <a:latin typeface="Cambria Math" panose="02040503050406030204" pitchFamily="18" charset="0"/>
                            <a:cs typeface="Calibri" panose="020F0502020204030204" pitchFamily="34" charset="0"/>
                          </a:rPr>
                          <m:t>𝑟</m:t>
                        </m:r>
                      </m:den>
                    </m:f>
                    <m:r>
                      <a:rPr lang="en-US" sz="2000" b="0" i="1" smtClean="0">
                        <a:latin typeface="Cambria Math" panose="02040503050406030204" pitchFamily="18" charset="0"/>
                        <a:cs typeface="Calibri" panose="020F0502020204030204" pitchFamily="34" charset="0"/>
                      </a:rPr>
                      <m:t>(1−</m:t>
                    </m:r>
                    <m:f>
                      <m:fPr>
                        <m:ctrlPr>
                          <a:rPr lang="en-US" sz="2000" b="0" i="1" smtClean="0">
                            <a:latin typeface="Cambria Math" panose="02040503050406030204" pitchFamily="18" charset="0"/>
                            <a:cs typeface="Calibri" panose="020F0502020204030204" pitchFamily="34" charset="0"/>
                          </a:rPr>
                        </m:ctrlPr>
                      </m:fPr>
                      <m:num>
                        <m:sSup>
                          <m:sSupPr>
                            <m:ctrlPr>
                              <a:rPr lang="en-US" sz="2000" b="0" i="1" smtClean="0">
                                <a:latin typeface="Cambria Math" panose="02040503050406030204" pitchFamily="18" charset="0"/>
                                <a:cs typeface="Calibri" panose="020F0502020204030204" pitchFamily="34" charset="0"/>
                              </a:rPr>
                            </m:ctrlPr>
                          </m:sSupPr>
                          <m:e>
                            <m:r>
                              <a:rPr lang="en-US" sz="2000" b="0" i="1" smtClean="0">
                                <a:latin typeface="Cambria Math" panose="02040503050406030204" pitchFamily="18" charset="0"/>
                                <a:cs typeface="Calibri" panose="020F0502020204030204" pitchFamily="34" charset="0"/>
                              </a:rPr>
                              <m:t>𝑥</m:t>
                            </m:r>
                          </m:e>
                          <m:sup>
                            <m:r>
                              <a:rPr lang="en-US" sz="2000" b="0" i="1" smtClean="0">
                                <a:latin typeface="Cambria Math" panose="02040503050406030204" pitchFamily="18" charset="0"/>
                                <a:cs typeface="Calibri" panose="020F0502020204030204" pitchFamily="34" charset="0"/>
                              </a:rPr>
                              <m:t>2</m:t>
                            </m:r>
                          </m:sup>
                        </m:sSup>
                      </m:num>
                      <m:den>
                        <m:sSup>
                          <m:sSupPr>
                            <m:ctrlPr>
                              <a:rPr lang="en-US" sz="2000" b="0" i="1" smtClean="0">
                                <a:latin typeface="Cambria Math" panose="02040503050406030204" pitchFamily="18" charset="0"/>
                                <a:cs typeface="Calibri" panose="020F0502020204030204" pitchFamily="34" charset="0"/>
                              </a:rPr>
                            </m:ctrlPr>
                          </m:sSupPr>
                          <m:e>
                            <m:r>
                              <a:rPr lang="en-US" sz="2000" b="0" i="1" smtClean="0">
                                <a:latin typeface="Cambria Math" panose="02040503050406030204" pitchFamily="18" charset="0"/>
                                <a:cs typeface="Calibri" panose="020F0502020204030204" pitchFamily="34" charset="0"/>
                              </a:rPr>
                              <m:t>𝑟</m:t>
                            </m:r>
                          </m:e>
                          <m:sup>
                            <m:r>
                              <a:rPr lang="en-US" sz="2000" b="0" i="1" smtClean="0">
                                <a:latin typeface="Cambria Math" panose="02040503050406030204" pitchFamily="18" charset="0"/>
                                <a:cs typeface="Calibri" panose="020F0502020204030204" pitchFamily="34" charset="0"/>
                              </a:rPr>
                              <m:t>2</m:t>
                            </m:r>
                          </m:sup>
                        </m:sSup>
                      </m:den>
                    </m:f>
                    <m:r>
                      <a:rPr lang="en-US" sz="2000" b="0" i="1" smtClean="0">
                        <a:latin typeface="Cambria Math" panose="02040503050406030204" pitchFamily="18" charset="0"/>
                        <a:cs typeface="Calibri" panose="020F0502020204030204" pitchFamily="34" charset="0"/>
                      </a:rPr>
                      <m:t>)</m:t>
                    </m:r>
                  </m:oMath>
                </a14:m>
                <a:endParaRPr lang="en-US" sz="2000" dirty="0">
                  <a:latin typeface="Calibri" panose="020F0502020204030204" pitchFamily="34" charset="0"/>
                  <a:cs typeface="Calibri" panose="020F0502020204030204" pitchFamily="34" charset="0"/>
                </a:endParaRPr>
              </a:p>
              <a:p>
                <a:pPr marL="342900" indent="-342900">
                  <a:lnSpc>
                    <a:spcPct val="100000"/>
                  </a:lnSpc>
                  <a:spcBef>
                    <a:spcPts val="0"/>
                  </a:spcBef>
                </a:pPr>
                <a:r>
                  <a:rPr lang="en-US" sz="2000" dirty="0">
                    <a:latin typeface="Calibri" panose="020F0502020204030204" pitchFamily="34" charset="0"/>
                    <a:cs typeface="Calibri" panose="020F0502020204030204" pitchFamily="34" charset="0"/>
                  </a:rPr>
                  <a:t>So, </a:t>
                </a:r>
                <a14:m>
                  <m:oMath xmlns:m="http://schemas.openxmlformats.org/officeDocument/2006/math">
                    <m:f>
                      <m:fPr>
                        <m:ctrlPr>
                          <a:rPr lang="en-US" sz="2000" i="1">
                            <a:latin typeface="Cambria Math" panose="02040503050406030204" pitchFamily="18" charset="0"/>
                            <a:cs typeface="Calibri" panose="020F0502020204030204" pitchFamily="34" charset="0"/>
                          </a:rPr>
                        </m:ctrlPr>
                      </m:fPr>
                      <m:num>
                        <m:sSup>
                          <m:sSupPr>
                            <m:ctrlPr>
                              <a:rPr lang="en-US" sz="2000" i="1">
                                <a:latin typeface="Cambria Math" panose="02040503050406030204" pitchFamily="18" charset="0"/>
                                <a:ea typeface="Cambria Math" panose="02040503050406030204" pitchFamily="18" charset="0"/>
                                <a:cs typeface="Calibri" panose="020F0502020204030204" pitchFamily="34" charset="0"/>
                              </a:rPr>
                            </m:ctrlPr>
                          </m:sSupPr>
                          <m:e>
                            <m:r>
                              <a:rPr lang="en-US" sz="2000" i="1">
                                <a:latin typeface="Cambria Math" panose="02040503050406030204" pitchFamily="18" charset="0"/>
                                <a:ea typeface="Cambria Math" panose="02040503050406030204" pitchFamily="18" charset="0"/>
                                <a:cs typeface="Calibri" panose="020F0502020204030204" pitchFamily="34" charset="0"/>
                              </a:rPr>
                              <m:t>𝜕</m:t>
                            </m:r>
                          </m:e>
                          <m:sup>
                            <m:r>
                              <a:rPr lang="en-US" sz="2000" i="1">
                                <a:latin typeface="Cambria Math" panose="02040503050406030204" pitchFamily="18" charset="0"/>
                                <a:cs typeface="Calibri" panose="020F0502020204030204" pitchFamily="34" charset="0"/>
                              </a:rPr>
                              <m:t>2</m:t>
                            </m:r>
                          </m:sup>
                        </m:sSup>
                        <m:r>
                          <a:rPr lang="en-US" sz="2000" i="1">
                            <a:latin typeface="Cambria Math" panose="02040503050406030204" pitchFamily="18" charset="0"/>
                            <a:ea typeface="Cambria Math" panose="02040503050406030204" pitchFamily="18" charset="0"/>
                            <a:cs typeface="Calibri" panose="020F0502020204030204" pitchFamily="34" charset="0"/>
                          </a:rPr>
                          <m:t>𝜓</m:t>
                        </m:r>
                      </m:num>
                      <m:den>
                        <m:sSup>
                          <m:sSupPr>
                            <m:ctrlPr>
                              <a:rPr lang="en-US" sz="2000" i="1">
                                <a:latin typeface="Cambria Math" panose="02040503050406030204" pitchFamily="18" charset="0"/>
                                <a:ea typeface="Cambria Math" panose="02040503050406030204" pitchFamily="18" charset="0"/>
                                <a:cs typeface="Calibri" panose="020F0502020204030204" pitchFamily="34" charset="0"/>
                              </a:rPr>
                            </m:ctrlPr>
                          </m:sSupPr>
                          <m:e>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𝑥</m:t>
                            </m:r>
                          </m:e>
                          <m:sup>
                            <m:r>
                              <a:rPr lang="en-US" sz="2000" i="1">
                                <a:latin typeface="Cambria Math" panose="02040503050406030204" pitchFamily="18" charset="0"/>
                                <a:cs typeface="Calibri" panose="020F0502020204030204" pitchFamily="34" charset="0"/>
                              </a:rPr>
                              <m:t>2</m:t>
                            </m:r>
                          </m:sup>
                        </m:sSup>
                      </m:den>
                    </m:f>
                    <m:r>
                      <a:rPr lang="en-US" sz="2000" b="0" i="1" smtClean="0">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Calibri" panose="020F0502020204030204" pitchFamily="34" charset="0"/>
                          </a:rPr>
                        </m:ctrlPr>
                      </m:fPr>
                      <m:num>
                        <m:sSup>
                          <m:sSupPr>
                            <m:ctrlPr>
                              <a:rPr lang="en-US" sz="2000" i="1">
                                <a:latin typeface="Cambria Math" panose="02040503050406030204" pitchFamily="18" charset="0"/>
                                <a:ea typeface="Cambria Math" panose="02040503050406030204" pitchFamily="18" charset="0"/>
                                <a:cs typeface="Calibri" panose="020F0502020204030204" pitchFamily="34" charset="0"/>
                              </a:rPr>
                            </m:ctrlPr>
                          </m:sSupPr>
                          <m:e>
                            <m:r>
                              <a:rPr lang="en-US" sz="2000" i="1">
                                <a:latin typeface="Cambria Math" panose="02040503050406030204" pitchFamily="18" charset="0"/>
                                <a:ea typeface="Cambria Math" panose="02040503050406030204" pitchFamily="18" charset="0"/>
                                <a:cs typeface="Calibri" panose="020F0502020204030204" pitchFamily="34" charset="0"/>
                              </a:rPr>
                              <m:t>𝜕</m:t>
                            </m:r>
                          </m:e>
                          <m:sup>
                            <m:r>
                              <a:rPr lang="en-US" sz="2000" i="1">
                                <a:latin typeface="Cambria Math" panose="02040503050406030204" pitchFamily="18" charset="0"/>
                                <a:cs typeface="Calibri" panose="020F0502020204030204" pitchFamily="34" charset="0"/>
                              </a:rPr>
                              <m:t>2</m:t>
                            </m:r>
                          </m:sup>
                        </m:sSup>
                        <m:r>
                          <a:rPr lang="en-US" sz="2000" i="1">
                            <a:latin typeface="Cambria Math" panose="02040503050406030204" pitchFamily="18" charset="0"/>
                            <a:ea typeface="Cambria Math" panose="02040503050406030204" pitchFamily="18" charset="0"/>
                            <a:cs typeface="Calibri" panose="020F0502020204030204" pitchFamily="34" charset="0"/>
                          </a:rPr>
                          <m:t>𝜓</m:t>
                        </m:r>
                      </m:num>
                      <m:den>
                        <m:sSup>
                          <m:sSupPr>
                            <m:ctrlPr>
                              <a:rPr lang="en-US" sz="2000" i="1">
                                <a:latin typeface="Cambria Math" panose="02040503050406030204" pitchFamily="18" charset="0"/>
                                <a:ea typeface="Cambria Math" panose="02040503050406030204" pitchFamily="18" charset="0"/>
                                <a:cs typeface="Calibri" panose="020F0502020204030204" pitchFamily="34" charset="0"/>
                              </a:rPr>
                            </m:ctrlPr>
                          </m:sSupPr>
                          <m:e>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𝑦</m:t>
                            </m:r>
                          </m:e>
                          <m:sup>
                            <m:r>
                              <a:rPr lang="en-US" sz="2000" i="1">
                                <a:latin typeface="Cambria Math" panose="02040503050406030204" pitchFamily="18" charset="0"/>
                                <a:cs typeface="Calibri" panose="020F0502020204030204" pitchFamily="34" charset="0"/>
                              </a:rPr>
                              <m:t>2</m:t>
                            </m:r>
                          </m:sup>
                        </m:sSup>
                      </m:den>
                    </m:f>
                    <m:r>
                      <a:rPr lang="en-US" sz="2000" b="0" i="1" smtClean="0">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Calibri" panose="020F0502020204030204" pitchFamily="34" charset="0"/>
                          </a:rPr>
                        </m:ctrlPr>
                      </m:fPr>
                      <m:num>
                        <m:sSup>
                          <m:sSupPr>
                            <m:ctrlPr>
                              <a:rPr lang="en-US" sz="2000" i="1">
                                <a:latin typeface="Cambria Math" panose="02040503050406030204" pitchFamily="18" charset="0"/>
                                <a:ea typeface="Cambria Math" panose="02040503050406030204" pitchFamily="18" charset="0"/>
                                <a:cs typeface="Calibri" panose="020F0502020204030204" pitchFamily="34" charset="0"/>
                              </a:rPr>
                            </m:ctrlPr>
                          </m:sSupPr>
                          <m:e>
                            <m:r>
                              <a:rPr lang="en-US" sz="2000" i="1">
                                <a:latin typeface="Cambria Math" panose="02040503050406030204" pitchFamily="18" charset="0"/>
                                <a:ea typeface="Cambria Math" panose="02040503050406030204" pitchFamily="18" charset="0"/>
                                <a:cs typeface="Calibri" panose="020F0502020204030204" pitchFamily="34" charset="0"/>
                              </a:rPr>
                              <m:t>𝜕</m:t>
                            </m:r>
                          </m:e>
                          <m:sup>
                            <m:r>
                              <a:rPr lang="en-US" sz="2000" i="1">
                                <a:latin typeface="Cambria Math" panose="02040503050406030204" pitchFamily="18" charset="0"/>
                                <a:cs typeface="Calibri" panose="020F0502020204030204" pitchFamily="34" charset="0"/>
                              </a:rPr>
                              <m:t>2</m:t>
                            </m:r>
                          </m:sup>
                        </m:sSup>
                        <m:r>
                          <a:rPr lang="en-US" sz="2000" i="1">
                            <a:latin typeface="Cambria Math" panose="02040503050406030204" pitchFamily="18" charset="0"/>
                            <a:ea typeface="Cambria Math" panose="02040503050406030204" pitchFamily="18" charset="0"/>
                            <a:cs typeface="Calibri" panose="020F0502020204030204" pitchFamily="34" charset="0"/>
                          </a:rPr>
                          <m:t>𝜓</m:t>
                        </m:r>
                      </m:num>
                      <m:den>
                        <m:sSup>
                          <m:sSupPr>
                            <m:ctrlPr>
                              <a:rPr lang="en-US" sz="2000" i="1">
                                <a:latin typeface="Cambria Math" panose="02040503050406030204" pitchFamily="18" charset="0"/>
                                <a:ea typeface="Cambria Math" panose="02040503050406030204" pitchFamily="18" charset="0"/>
                                <a:cs typeface="Calibri" panose="020F0502020204030204" pitchFamily="34" charset="0"/>
                              </a:rPr>
                            </m:ctrlPr>
                          </m:sSupPr>
                          <m:e>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𝑧</m:t>
                            </m:r>
                          </m:e>
                          <m:sup>
                            <m:r>
                              <a:rPr lang="en-US" sz="2000" i="1">
                                <a:latin typeface="Cambria Math" panose="02040503050406030204" pitchFamily="18" charset="0"/>
                                <a:cs typeface="Calibri" panose="020F0502020204030204" pitchFamily="34" charset="0"/>
                              </a:rPr>
                              <m:t>2</m:t>
                            </m:r>
                          </m:sup>
                        </m:sSup>
                      </m:den>
                    </m:f>
                    <m:r>
                      <a:rPr lang="en-US" sz="2000" b="0" i="1" smtClean="0">
                        <a:latin typeface="Cambria Math" panose="02040503050406030204" pitchFamily="18" charset="0"/>
                        <a:cs typeface="Calibri" panose="020F0502020204030204" pitchFamily="34" charset="0"/>
                      </a:rPr>
                      <m:t>=</m:t>
                    </m:r>
                    <m:sSup>
                      <m:sSupPr>
                        <m:ctrlPr>
                          <a:rPr lang="en-US" sz="2000" i="1">
                            <a:latin typeface="Cambria Math" panose="02040503050406030204" pitchFamily="18" charset="0"/>
                            <a:ea typeface="Cambria Math" panose="02040503050406030204" pitchFamily="18" charset="0"/>
                            <a:cs typeface="Calibri" panose="020F0502020204030204" pitchFamily="34" charset="0"/>
                          </a:rPr>
                        </m:ctrlPr>
                      </m:sSupPr>
                      <m:e>
                        <m:r>
                          <a:rPr lang="en-US" sz="2000" i="1">
                            <a:latin typeface="Cambria Math" panose="02040503050406030204" pitchFamily="18" charset="0"/>
                            <a:ea typeface="Cambria Math" panose="02040503050406030204" pitchFamily="18" charset="0"/>
                            <a:cs typeface="Calibri" panose="020F0502020204030204" pitchFamily="34" charset="0"/>
                          </a:rPr>
                          <m:t>𝜓</m:t>
                        </m:r>
                      </m:e>
                      <m:sup>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cs typeface="Calibri" panose="020F0502020204030204" pitchFamily="34" charset="0"/>
                          </a:rPr>
                          <m:t>′</m:t>
                        </m:r>
                      </m:sup>
                    </m:sSup>
                    <m:r>
                      <a:rPr lang="en-US" sz="2000" b="0" i="1" smtClean="0">
                        <a:latin typeface="Cambria Math" panose="02040503050406030204" pitchFamily="18" charset="0"/>
                        <a:cs typeface="Calibri" panose="020F0502020204030204" pitchFamily="34" charset="0"/>
                      </a:rPr>
                      <m:t>+</m:t>
                    </m:r>
                    <m:f>
                      <m:fPr>
                        <m:ctrlPr>
                          <a:rPr lang="en-US" sz="2000" b="0" i="1" smtClean="0">
                            <a:latin typeface="Cambria Math" panose="02040503050406030204" pitchFamily="18" charset="0"/>
                            <a:cs typeface="Calibri" panose="020F0502020204030204" pitchFamily="34" charset="0"/>
                          </a:rPr>
                        </m:ctrlPr>
                      </m:fPr>
                      <m:num>
                        <m:r>
                          <a:rPr lang="en-US" sz="2000" b="0" i="1" smtClean="0">
                            <a:latin typeface="Cambria Math" panose="02040503050406030204" pitchFamily="18" charset="0"/>
                            <a:cs typeface="Calibri" panose="020F0502020204030204" pitchFamily="34" charset="0"/>
                          </a:rPr>
                          <m:t>2</m:t>
                        </m:r>
                      </m:num>
                      <m:den>
                        <m:r>
                          <a:rPr lang="en-US" sz="2000" b="0" i="1" smtClean="0">
                            <a:latin typeface="Cambria Math" panose="02040503050406030204" pitchFamily="18" charset="0"/>
                            <a:cs typeface="Calibri" panose="020F0502020204030204" pitchFamily="34" charset="0"/>
                          </a:rPr>
                          <m:t>𝑟</m:t>
                        </m:r>
                      </m:den>
                    </m:f>
                    <m:sSup>
                      <m:sSupPr>
                        <m:ctrlPr>
                          <a:rPr lang="en-US" sz="2000" i="1">
                            <a:latin typeface="Cambria Math" panose="02040503050406030204" pitchFamily="18" charset="0"/>
                            <a:ea typeface="Cambria Math" panose="02040503050406030204" pitchFamily="18" charset="0"/>
                            <a:cs typeface="Calibri" panose="020F0502020204030204" pitchFamily="34" charset="0"/>
                          </a:rPr>
                        </m:ctrlPr>
                      </m:sSupPr>
                      <m:e>
                        <m:r>
                          <a:rPr lang="en-US" sz="2000" i="1">
                            <a:latin typeface="Cambria Math" panose="02040503050406030204" pitchFamily="18" charset="0"/>
                            <a:ea typeface="Cambria Math" panose="02040503050406030204" pitchFamily="18" charset="0"/>
                            <a:cs typeface="Calibri" panose="020F0502020204030204" pitchFamily="34" charset="0"/>
                          </a:rPr>
                          <m:t>𝜓</m:t>
                        </m:r>
                      </m:e>
                      <m:sup>
                        <m:r>
                          <a:rPr lang="en-US" sz="2000" i="1">
                            <a:latin typeface="Cambria Math" panose="02040503050406030204" pitchFamily="18" charset="0"/>
                            <a:cs typeface="Calibri" panose="020F0502020204030204" pitchFamily="34" charset="0"/>
                          </a:rPr>
                          <m:t>′</m:t>
                        </m:r>
                      </m:sup>
                    </m:sSup>
                  </m:oMath>
                </a14:m>
                <a:endParaRPr lang="en-US" sz="2000" dirty="0">
                  <a:latin typeface="Calibri" panose="020F0502020204030204" pitchFamily="34" charset="0"/>
                  <a:cs typeface="Calibri" panose="020F0502020204030204" pitchFamily="34" charset="0"/>
                </a:endParaRPr>
              </a:p>
              <a:p>
                <a:pPr marL="342900" indent="-342900">
                  <a:lnSpc>
                    <a:spcPct val="100000"/>
                  </a:lnSpc>
                  <a:spcBef>
                    <a:spcPts val="0"/>
                  </a:spcBef>
                </a:pPr>
                <a14:m>
                  <m:oMath xmlns:m="http://schemas.openxmlformats.org/officeDocument/2006/math">
                    <m:sSup>
                      <m:sSupPr>
                        <m:ctrlPr>
                          <a:rPr lang="en-US" sz="2000" i="1" smtClean="0">
                            <a:latin typeface="Cambria Math" panose="02040503050406030204" pitchFamily="18" charset="0"/>
                            <a:ea typeface="Cambria Math" panose="02040503050406030204" pitchFamily="18" charset="0"/>
                            <a:cs typeface="Calibri" panose="020F0502020204030204" pitchFamily="34" charset="0"/>
                          </a:rPr>
                        </m:ctrlPr>
                      </m:sSupPr>
                      <m:e>
                        <m:r>
                          <m:rPr>
                            <m:sty m:val="p"/>
                          </m:rPr>
                          <a:rPr lang="en-US" sz="2000" i="1" smtClean="0">
                            <a:latin typeface="Cambria Math" panose="02040503050406030204" pitchFamily="18" charset="0"/>
                            <a:ea typeface="Cambria Math" panose="02040503050406030204" pitchFamily="18" charset="0"/>
                            <a:cs typeface="Calibri" panose="020F0502020204030204" pitchFamily="34" charset="0"/>
                          </a:rPr>
                          <m:t>∇</m:t>
                        </m:r>
                      </m:e>
                      <m:sup>
                        <m:r>
                          <a:rPr lang="en-US" sz="2000" b="0" i="1" smtClean="0">
                            <a:latin typeface="Cambria Math" panose="02040503050406030204" pitchFamily="18" charset="0"/>
                            <a:cs typeface="Calibri" panose="020F0502020204030204" pitchFamily="34" charset="0"/>
                          </a:rPr>
                          <m:t>2</m:t>
                        </m:r>
                      </m:sup>
                    </m:sSup>
                    <m:d>
                      <m:dPr>
                        <m:ctrlPr>
                          <a:rPr lang="en-US" sz="2000" b="0" i="1" smtClean="0">
                            <a:latin typeface="Cambria Math" panose="02040503050406030204" pitchFamily="18" charset="0"/>
                            <a:cs typeface="Calibri" panose="020F0502020204030204" pitchFamily="34" charset="0"/>
                          </a:rPr>
                        </m:ctrlPr>
                      </m:dPr>
                      <m:e>
                        <m:r>
                          <a:rPr lang="en-US" sz="2000" b="0" i="1" smtClean="0">
                            <a:latin typeface="Cambria Math" panose="02040503050406030204" pitchFamily="18" charset="0"/>
                            <a:cs typeface="Calibri" panose="020F0502020204030204" pitchFamily="34" charset="0"/>
                          </a:rPr>
                          <m:t>𝑟</m:t>
                        </m:r>
                        <m:r>
                          <a:rPr lang="en-US" sz="2000" i="1" smtClean="0">
                            <a:latin typeface="Cambria Math" panose="02040503050406030204" pitchFamily="18" charset="0"/>
                            <a:ea typeface="Cambria Math" panose="02040503050406030204" pitchFamily="18" charset="0"/>
                            <a:cs typeface="Calibri" panose="020F0502020204030204" pitchFamily="34" charset="0"/>
                          </a:rPr>
                          <m:t>𝜓</m:t>
                        </m:r>
                      </m:e>
                    </m:d>
                    <m:r>
                      <a:rPr lang="en-US" sz="2000" b="0" i="1" smtClean="0">
                        <a:latin typeface="Cambria Math" panose="02040503050406030204" pitchFamily="18" charset="0"/>
                        <a:ea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Calibri" panose="020F0502020204030204" pitchFamily="34" charset="0"/>
                          </a:rPr>
                        </m:ctrlPr>
                      </m:fPr>
                      <m:num>
                        <m:r>
                          <a:rPr lang="en-US" sz="2000" i="1">
                            <a:latin typeface="Cambria Math" panose="02040503050406030204" pitchFamily="18" charset="0"/>
                            <a:cs typeface="Calibri" panose="020F0502020204030204" pitchFamily="34" charset="0"/>
                          </a:rPr>
                          <m:t>1</m:t>
                        </m:r>
                      </m:num>
                      <m:den>
                        <m:sSup>
                          <m:sSupPr>
                            <m:ctrlPr>
                              <a:rPr lang="en-US" sz="2000" i="1">
                                <a:latin typeface="Cambria Math" panose="02040503050406030204" pitchFamily="18" charset="0"/>
                                <a:cs typeface="Calibri" panose="020F0502020204030204" pitchFamily="34" charset="0"/>
                              </a:rPr>
                            </m:ctrlPr>
                          </m:sSupPr>
                          <m:e>
                            <m:r>
                              <a:rPr lang="en-US" sz="2000" i="1">
                                <a:latin typeface="Cambria Math" panose="02040503050406030204" pitchFamily="18" charset="0"/>
                                <a:cs typeface="Calibri" panose="020F0502020204030204" pitchFamily="34" charset="0"/>
                              </a:rPr>
                              <m:t>𝑐</m:t>
                            </m:r>
                          </m:e>
                          <m:sup>
                            <m:r>
                              <a:rPr lang="en-US" sz="2000" i="1">
                                <a:latin typeface="Cambria Math" panose="02040503050406030204" pitchFamily="18" charset="0"/>
                                <a:cs typeface="Calibri" panose="020F0502020204030204" pitchFamily="34" charset="0"/>
                              </a:rPr>
                              <m:t>2</m:t>
                            </m:r>
                          </m:sup>
                        </m:sSup>
                      </m:den>
                    </m:f>
                    <m:f>
                      <m:fPr>
                        <m:ctrlPr>
                          <a:rPr lang="en-US" sz="2000" i="1">
                            <a:latin typeface="Cambria Math" panose="02040503050406030204" pitchFamily="18" charset="0"/>
                            <a:cs typeface="Calibri" panose="020F0502020204030204" pitchFamily="34" charset="0"/>
                          </a:rPr>
                        </m:ctrlPr>
                      </m:fPr>
                      <m:num>
                        <m:sSup>
                          <m:sSupPr>
                            <m:ctrlPr>
                              <a:rPr lang="en-US" sz="2000" i="1">
                                <a:latin typeface="Cambria Math" panose="02040503050406030204" pitchFamily="18" charset="0"/>
                                <a:ea typeface="Cambria Math" panose="02040503050406030204" pitchFamily="18" charset="0"/>
                                <a:cs typeface="Calibri" panose="020F0502020204030204" pitchFamily="34" charset="0"/>
                              </a:rPr>
                            </m:ctrlPr>
                          </m:sSupPr>
                          <m:e>
                            <m:r>
                              <a:rPr lang="en-US" sz="2000" i="1">
                                <a:latin typeface="Cambria Math" panose="02040503050406030204" pitchFamily="18" charset="0"/>
                                <a:ea typeface="Cambria Math" panose="02040503050406030204" pitchFamily="18" charset="0"/>
                                <a:cs typeface="Calibri" panose="020F0502020204030204" pitchFamily="34" charset="0"/>
                              </a:rPr>
                              <m:t>𝜕</m:t>
                            </m:r>
                          </m:e>
                          <m:sup>
                            <m:r>
                              <a:rPr lang="en-US" sz="2000" i="1">
                                <a:latin typeface="Cambria Math" panose="02040503050406030204" pitchFamily="18" charset="0"/>
                                <a:cs typeface="Calibri" panose="020F0502020204030204" pitchFamily="34" charset="0"/>
                              </a:rPr>
                              <m:t>2</m:t>
                            </m:r>
                          </m:sup>
                        </m:sSup>
                        <m:d>
                          <m:dPr>
                            <m:ctrlPr>
                              <a:rPr lang="en-US" sz="2000" b="0" i="1" smtClean="0">
                                <a:latin typeface="Cambria Math" panose="02040503050406030204" pitchFamily="18" charset="0"/>
                                <a:cs typeface="Calibri" panose="020F0502020204030204" pitchFamily="34" charset="0"/>
                              </a:rPr>
                            </m:ctrlPr>
                          </m:dPr>
                          <m:e>
                            <m:r>
                              <a:rPr lang="en-US" sz="2000" b="0" i="1" smtClean="0">
                                <a:latin typeface="Cambria Math" panose="02040503050406030204" pitchFamily="18" charset="0"/>
                                <a:cs typeface="Calibri" panose="020F0502020204030204" pitchFamily="34" charset="0"/>
                              </a:rPr>
                              <m:t>𝑟</m:t>
                            </m:r>
                            <m:r>
                              <a:rPr lang="en-US" sz="2000" i="1" smtClean="0">
                                <a:latin typeface="Cambria Math" panose="02040503050406030204" pitchFamily="18" charset="0"/>
                                <a:ea typeface="Cambria Math" panose="02040503050406030204" pitchFamily="18" charset="0"/>
                                <a:cs typeface="Calibri" panose="020F0502020204030204" pitchFamily="34" charset="0"/>
                              </a:rPr>
                              <m:t>𝜓</m:t>
                            </m:r>
                          </m:e>
                        </m:d>
                      </m:num>
                      <m:den>
                        <m:sSup>
                          <m:sSupPr>
                            <m:ctrlPr>
                              <a:rPr lang="en-US" sz="2000" i="1">
                                <a:latin typeface="Cambria Math" panose="02040503050406030204" pitchFamily="18" charset="0"/>
                                <a:ea typeface="Cambria Math" panose="02040503050406030204" pitchFamily="18" charset="0"/>
                                <a:cs typeface="Calibri" panose="020F0502020204030204" pitchFamily="34" charset="0"/>
                              </a:rPr>
                            </m:ctrlPr>
                          </m:sSupPr>
                          <m:e>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𝑡</m:t>
                            </m:r>
                          </m:e>
                          <m:sup>
                            <m:r>
                              <a:rPr lang="en-US" sz="2000" i="1">
                                <a:latin typeface="Cambria Math" panose="02040503050406030204" pitchFamily="18" charset="0"/>
                                <a:cs typeface="Calibri" panose="020F0502020204030204" pitchFamily="34" charset="0"/>
                              </a:rPr>
                              <m:t>2</m:t>
                            </m:r>
                          </m:sup>
                        </m:sSup>
                      </m:den>
                    </m:f>
                    <m:r>
                      <a:rPr lang="en-US" sz="2000" b="0" i="1" smtClean="0">
                        <a:latin typeface="Cambria Math" panose="02040503050406030204" pitchFamily="18" charset="0"/>
                        <a:cs typeface="Calibri" panose="020F0502020204030204" pitchFamily="34" charset="0"/>
                      </a:rPr>
                      <m:t>=0</m:t>
                    </m:r>
                  </m:oMath>
                </a14:m>
                <a:endParaRPr lang="en-US" sz="2000" dirty="0">
                  <a:latin typeface="Calibri" panose="020F0502020204030204" pitchFamily="34" charset="0"/>
                  <a:cs typeface="Calibri" panose="020F0502020204030204" pitchFamily="34" charset="0"/>
                </a:endParaRPr>
              </a:p>
              <a:p>
                <a:pPr marL="342900" indent="-342900">
                  <a:lnSpc>
                    <a:spcPct val="100000"/>
                  </a:lnSpc>
                  <a:spcBef>
                    <a:spcPts val="0"/>
                  </a:spcBef>
                </a:pPr>
                <a:r>
                  <a:rPr lang="en-US" sz="2000" dirty="0">
                    <a:latin typeface="Calibri" panose="020F0502020204030204" pitchFamily="34" charset="0"/>
                    <a:cs typeface="Calibri" panose="020F0502020204030204" pitchFamily="34" charset="0"/>
                  </a:rPr>
                  <a:t>So, </a:t>
                </a:r>
                <a14:m>
                  <m:oMath xmlns:m="http://schemas.openxmlformats.org/officeDocument/2006/math">
                    <m:r>
                      <a:rPr lang="en-US" sz="2000" i="1">
                        <a:latin typeface="Cambria Math" panose="02040503050406030204" pitchFamily="18" charset="0"/>
                        <a:ea typeface="Cambria Math" panose="02040503050406030204" pitchFamily="18" charset="0"/>
                        <a:cs typeface="Calibri" panose="020F0502020204030204" pitchFamily="34" charset="0"/>
                      </a:rPr>
                      <m:t>𝜓</m:t>
                    </m:r>
                    <m:d>
                      <m:dPr>
                        <m:ctrlPr>
                          <a:rPr lang="en-US" sz="2000" i="1">
                            <a:latin typeface="Cambria Math" panose="02040503050406030204" pitchFamily="18" charset="0"/>
                            <a:ea typeface="Cambria Math" panose="02040503050406030204" pitchFamily="18" charset="0"/>
                            <a:cs typeface="Calibri" panose="020F0502020204030204" pitchFamily="34" charset="0"/>
                          </a:rPr>
                        </m:ctrlPr>
                      </m:dPr>
                      <m:e>
                        <m:r>
                          <a:rPr lang="en-US" sz="2000" i="1">
                            <a:latin typeface="Cambria Math" panose="02040503050406030204" pitchFamily="18" charset="0"/>
                            <a:ea typeface="Cambria Math" panose="02040503050406030204" pitchFamily="18" charset="0"/>
                            <a:cs typeface="Calibri" panose="020F0502020204030204" pitchFamily="34" charset="0"/>
                          </a:rPr>
                          <m:t>𝑥</m:t>
                        </m:r>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𝑡</m:t>
                        </m:r>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𝑧</m:t>
                        </m:r>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𝑡</m:t>
                        </m:r>
                      </m:e>
                    </m:d>
                    <m:r>
                      <a:rPr lang="en-US" sz="2000" i="1">
                        <a:latin typeface="Cambria Math" panose="02040503050406030204" pitchFamily="18" charset="0"/>
                        <a:ea typeface="Cambria Math" panose="02040503050406030204" pitchFamily="18" charset="0"/>
                        <a:cs typeface="Calibri" panose="020F0502020204030204" pitchFamily="34" charset="0"/>
                      </a:rPr>
                      <m:t>=</m:t>
                    </m:r>
                    <m:f>
                      <m:fPr>
                        <m:ctrlPr>
                          <a:rPr lang="en-US" sz="2000" i="1">
                            <a:latin typeface="Cambria Math" panose="02040503050406030204" pitchFamily="18" charset="0"/>
                            <a:ea typeface="Cambria Math" panose="02040503050406030204" pitchFamily="18" charset="0"/>
                            <a:cs typeface="Calibri" panose="020F0502020204030204" pitchFamily="34" charset="0"/>
                          </a:rPr>
                        </m:ctrlPr>
                      </m:fPr>
                      <m:num>
                        <m:r>
                          <a:rPr lang="en-US" sz="2000" i="1">
                            <a:latin typeface="Cambria Math" panose="02040503050406030204" pitchFamily="18" charset="0"/>
                            <a:ea typeface="Cambria Math" panose="02040503050406030204" pitchFamily="18" charset="0"/>
                            <a:cs typeface="Calibri" panose="020F0502020204030204" pitchFamily="34" charset="0"/>
                          </a:rPr>
                          <m:t>𝑓</m:t>
                        </m:r>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𝑡</m:t>
                        </m:r>
                        <m:r>
                          <a:rPr lang="en-US" sz="2000" i="1">
                            <a:latin typeface="Cambria Math" panose="02040503050406030204" pitchFamily="18" charset="0"/>
                            <a:ea typeface="Cambria Math" panose="02040503050406030204" pitchFamily="18" charset="0"/>
                            <a:cs typeface="Calibri" panose="020F0502020204030204" pitchFamily="34" charset="0"/>
                          </a:rPr>
                          <m:t>−</m:t>
                        </m:r>
                        <m:f>
                          <m:fPr>
                            <m:ctrlPr>
                              <a:rPr lang="en-US" sz="2000" i="1">
                                <a:latin typeface="Cambria Math" panose="02040503050406030204" pitchFamily="18" charset="0"/>
                                <a:ea typeface="Cambria Math" panose="02040503050406030204" pitchFamily="18" charset="0"/>
                                <a:cs typeface="Calibri" panose="020F0502020204030204" pitchFamily="34" charset="0"/>
                              </a:rPr>
                            </m:ctrlPr>
                          </m:fPr>
                          <m:num>
                            <m:r>
                              <a:rPr lang="en-US" sz="2000" i="1">
                                <a:latin typeface="Cambria Math" panose="02040503050406030204" pitchFamily="18" charset="0"/>
                                <a:ea typeface="Cambria Math" panose="02040503050406030204" pitchFamily="18" charset="0"/>
                                <a:cs typeface="Calibri" panose="020F0502020204030204" pitchFamily="34" charset="0"/>
                              </a:rPr>
                              <m:t>𝑟</m:t>
                            </m:r>
                          </m:num>
                          <m:den>
                            <m:r>
                              <a:rPr lang="en-US" sz="2000" i="1">
                                <a:latin typeface="Cambria Math" panose="02040503050406030204" pitchFamily="18" charset="0"/>
                                <a:ea typeface="Cambria Math" panose="02040503050406030204" pitchFamily="18" charset="0"/>
                                <a:cs typeface="Calibri" panose="020F0502020204030204" pitchFamily="34" charset="0"/>
                              </a:rPr>
                              <m:t>𝑐</m:t>
                            </m:r>
                          </m:den>
                        </m:f>
                        <m:r>
                          <a:rPr lang="en-US" sz="2000" i="1">
                            <a:latin typeface="Cambria Math" panose="02040503050406030204" pitchFamily="18" charset="0"/>
                            <a:ea typeface="Cambria Math" panose="02040503050406030204" pitchFamily="18" charset="0"/>
                            <a:cs typeface="Calibri" panose="020F0502020204030204" pitchFamily="34" charset="0"/>
                          </a:rPr>
                          <m:t>)</m:t>
                        </m:r>
                      </m:num>
                      <m:den>
                        <m:r>
                          <a:rPr lang="en-US" sz="2000" i="1">
                            <a:latin typeface="Cambria Math" panose="02040503050406030204" pitchFamily="18" charset="0"/>
                            <a:ea typeface="Cambria Math" panose="02040503050406030204" pitchFamily="18" charset="0"/>
                            <a:cs typeface="Calibri" panose="020F0502020204030204" pitchFamily="34" charset="0"/>
                          </a:rPr>
                          <m:t>𝑟</m:t>
                        </m:r>
                      </m:den>
                    </m:f>
                  </m:oMath>
                </a14:m>
                <a:endParaRPr lang="en-US" sz="1400" dirty="0">
                  <a:latin typeface="Calibri" panose="020F0502020204030204" pitchFamily="34" charset="0"/>
                  <a:ea typeface="Cambria Math" panose="02040503050406030204" pitchFamily="18" charset="0"/>
                  <a:cs typeface="Calibri" panose="020F0502020204030204" pitchFamily="34" charset="0"/>
                </a:endParaRPr>
              </a:p>
              <a:p>
                <a:pPr marL="800100" lvl="1" indent="-342900">
                  <a:lnSpc>
                    <a:spcPct val="120000"/>
                  </a:lnSpc>
                  <a:spcBef>
                    <a:spcPts val="400"/>
                  </a:spcBef>
                </a:pPr>
                <a:endParaRPr lang="en-US" sz="1400" dirty="0">
                  <a:latin typeface="Calibri" panose="020F0502020204030204" pitchFamily="34" charset="0"/>
                  <a:cs typeface="Calibri" panose="020F0502020204030204" pitchFamily="34" charset="0"/>
                </a:endParaRPr>
              </a:p>
              <a:p>
                <a:pPr marL="800100" lvl="1" indent="-342900">
                  <a:lnSpc>
                    <a:spcPct val="120000"/>
                  </a:lnSpc>
                  <a:spcBef>
                    <a:spcPts val="400"/>
                  </a:spcBef>
                </a:pPr>
                <a:endParaRPr lang="en-US" sz="1400" dirty="0">
                  <a:latin typeface="Calibri" panose="020F0502020204030204" pitchFamily="34" charset="0"/>
                  <a:cs typeface="Calibri" panose="020F0502020204030204" pitchFamily="34" charset="0"/>
                </a:endParaRPr>
              </a:p>
              <a:p>
                <a:pPr marL="342900" indent="-342900">
                  <a:lnSpc>
                    <a:spcPct val="120000"/>
                  </a:lnSpc>
                  <a:spcBef>
                    <a:spcPts val="400"/>
                  </a:spcBef>
                </a:pPr>
                <a:endParaRPr lang="en-US" sz="1800" dirty="0">
                  <a:latin typeface="Calibri" panose="020F0502020204030204" pitchFamily="34" charset="0"/>
                  <a:cs typeface="Calibri" panose="020F0502020204030204" pitchFamily="34" charset="0"/>
                </a:endParaRPr>
              </a:p>
              <a:p>
                <a:pPr marL="342900" indent="-342900">
                  <a:lnSpc>
                    <a:spcPct val="120000"/>
                  </a:lnSpc>
                  <a:spcBef>
                    <a:spcPts val="400"/>
                  </a:spcBef>
                </a:pPr>
                <a:endParaRPr lang="en-US" sz="1800" dirty="0">
                  <a:latin typeface="Calibri" panose="020F0502020204030204" pitchFamily="34" charset="0"/>
                  <a:cs typeface="Calibri" panose="020F0502020204030204" pitchFamily="34" charset="0"/>
                </a:endParaRPr>
              </a:p>
            </p:txBody>
          </p:sp>
        </mc:Choice>
        <mc:Fallback>
          <p:sp>
            <p:nvSpPr>
              <p:cNvPr id="5" name="Content Placeholder 2">
                <a:extLst>
                  <a:ext uri="{FF2B5EF4-FFF2-40B4-BE49-F238E27FC236}">
                    <a16:creationId xmlns:a16="http://schemas.microsoft.com/office/drawing/2014/main" id="{8791BBC4-B22B-0B48-BC02-83D12D9EF373}"/>
                  </a:ext>
                </a:extLst>
              </p:cNvPr>
              <p:cNvSpPr txBox="1">
                <a:spLocks noRot="1" noChangeAspect="1" noMove="1" noResize="1" noEditPoints="1" noAdjustHandles="1" noChangeArrowheads="1" noChangeShapeType="1" noTextEdit="1"/>
              </p:cNvSpPr>
              <p:nvPr/>
            </p:nvSpPr>
            <p:spPr>
              <a:xfrm>
                <a:off x="6504265" y="2161284"/>
                <a:ext cx="5295014" cy="3685557"/>
              </a:xfrm>
              <a:prstGeom prst="rect">
                <a:avLst/>
              </a:prstGeom>
              <a:blipFill>
                <a:blip r:embed="rId3"/>
                <a:stretch>
                  <a:fillRect l="-957"/>
                </a:stretch>
              </a:blipFill>
            </p:spPr>
            <p:txBody>
              <a:bodyPr/>
              <a:lstStyle/>
              <a:p>
                <a:r>
                  <a:rPr lang="en-US">
                    <a:noFill/>
                  </a:rPr>
                  <a:t> </a:t>
                </a:r>
              </a:p>
            </p:txBody>
          </p:sp>
        </mc:Fallback>
      </mc:AlternateContent>
    </p:spTree>
    <p:extLst>
      <p:ext uri="{BB962C8B-B14F-4D97-AF65-F5344CB8AC3E}">
        <p14:creationId xmlns:p14="http://schemas.microsoft.com/office/powerpoint/2010/main" val="34563712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6" y="203818"/>
            <a:ext cx="12039600" cy="982810"/>
          </a:xfrm>
        </p:spPr>
        <p:txBody>
          <a:bodyPr>
            <a:normAutofit/>
          </a:bodyPr>
          <a:lstStyle/>
          <a:p>
            <a:pPr algn="ctr"/>
            <a:r>
              <a:rPr lang="en-US" sz="4000" dirty="0">
                <a:latin typeface="Calibri" panose="020F0502020204030204" pitchFamily="34" charset="0"/>
                <a:cs typeface="Calibri" panose="020F0502020204030204" pitchFamily="34" charset="0"/>
              </a:rPr>
              <a:t>Feynman’s Treatment - 2</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88601" y="1373251"/>
                <a:ext cx="10515599" cy="5040249"/>
              </a:xfrm>
            </p:spPr>
            <p:txBody>
              <a:bodyPr>
                <a:normAutofit/>
              </a:bodyPr>
              <a:lstStyle/>
              <a:p>
                <a:pPr marL="342900" indent="-342900">
                  <a:lnSpc>
                    <a:spcPct val="100000"/>
                  </a:lnSpc>
                  <a:spcBef>
                    <a:spcPts val="0"/>
                  </a:spcBef>
                </a:pPr>
                <a:r>
                  <a:rPr lang="en-US" sz="2000" dirty="0">
                    <a:latin typeface="Calibri" panose="020F0502020204030204" pitchFamily="34" charset="0"/>
                    <a:cs typeface="Calibri" panose="020F0502020204030204" pitchFamily="34" charset="0"/>
                  </a:rPr>
                  <a:t>As </a:t>
                </a:r>
                <a14:m>
                  <m:oMath xmlns:m="http://schemas.openxmlformats.org/officeDocument/2006/math">
                    <m:r>
                      <a:rPr lang="en-US" sz="2000" i="1">
                        <a:latin typeface="Cambria Math" panose="02040503050406030204" pitchFamily="18" charset="0"/>
                        <a:cs typeface="Calibri" panose="020F0502020204030204" pitchFamily="34" charset="0"/>
                      </a:rPr>
                      <m:t>𝑟</m:t>
                    </m:r>
                    <m:r>
                      <a:rPr lang="en-US" sz="2000" i="1">
                        <a:latin typeface="Cambria Math" panose="02040503050406030204" pitchFamily="18" charset="0"/>
                        <a:ea typeface="Cambria Math" panose="02040503050406030204" pitchFamily="18" charset="0"/>
                        <a:cs typeface="Calibri" panose="020F0502020204030204" pitchFamily="34" charset="0"/>
                      </a:rPr>
                      <m:t>→0,</m:t>
                    </m:r>
                    <m:r>
                      <a:rPr lang="en-US" sz="2000" i="1">
                        <a:latin typeface="Cambria Math" panose="02040503050406030204" pitchFamily="18" charset="0"/>
                        <a:ea typeface="Cambria Math" panose="02040503050406030204" pitchFamily="18" charset="0"/>
                        <a:cs typeface="Calibri" panose="020F0502020204030204" pitchFamily="34" charset="0"/>
                      </a:rPr>
                      <m:t>𝜓</m:t>
                    </m:r>
                    <m:d>
                      <m:dPr>
                        <m:ctrlPr>
                          <a:rPr lang="en-US" sz="2000" i="1">
                            <a:latin typeface="Cambria Math" panose="02040503050406030204" pitchFamily="18" charset="0"/>
                            <a:ea typeface="Cambria Math" panose="02040503050406030204" pitchFamily="18" charset="0"/>
                            <a:cs typeface="Calibri" panose="020F0502020204030204" pitchFamily="34" charset="0"/>
                          </a:rPr>
                        </m:ctrlPr>
                      </m:dPr>
                      <m:e>
                        <m:r>
                          <a:rPr lang="en-US" sz="2000" i="1">
                            <a:latin typeface="Cambria Math" panose="02040503050406030204" pitchFamily="18" charset="0"/>
                            <a:ea typeface="Cambria Math" panose="02040503050406030204" pitchFamily="18" charset="0"/>
                            <a:cs typeface="Calibri" panose="020F0502020204030204" pitchFamily="34" charset="0"/>
                          </a:rPr>
                          <m:t>𝑥</m:t>
                        </m:r>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𝑡</m:t>
                        </m:r>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𝑧</m:t>
                        </m:r>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𝑡</m:t>
                        </m:r>
                      </m:e>
                    </m:d>
                    <m:r>
                      <a:rPr lang="en-US" sz="2000" i="1">
                        <a:latin typeface="Cambria Math" panose="02040503050406030204" pitchFamily="18" charset="0"/>
                        <a:ea typeface="Cambria Math" panose="02040503050406030204" pitchFamily="18" charset="0"/>
                        <a:cs typeface="Calibri" panose="020F0502020204030204" pitchFamily="34" charset="0"/>
                      </a:rPr>
                      <m:t>=</m:t>
                    </m:r>
                    <m:f>
                      <m:fPr>
                        <m:ctrlPr>
                          <a:rPr lang="en-US" sz="2000" i="1">
                            <a:latin typeface="Cambria Math" panose="02040503050406030204" pitchFamily="18" charset="0"/>
                            <a:ea typeface="Cambria Math" panose="02040503050406030204" pitchFamily="18" charset="0"/>
                            <a:cs typeface="Calibri" panose="020F0502020204030204" pitchFamily="34" charset="0"/>
                          </a:rPr>
                        </m:ctrlPr>
                      </m:fPr>
                      <m:num>
                        <m:r>
                          <a:rPr lang="en-US" sz="2000" i="1">
                            <a:latin typeface="Cambria Math" panose="02040503050406030204" pitchFamily="18" charset="0"/>
                            <a:ea typeface="Cambria Math" panose="02040503050406030204" pitchFamily="18" charset="0"/>
                            <a:cs typeface="Calibri" panose="020F0502020204030204" pitchFamily="34" charset="0"/>
                          </a:rPr>
                          <m:t>𝑓</m:t>
                        </m:r>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𝑡</m:t>
                        </m:r>
                        <m:r>
                          <a:rPr lang="en-US" sz="2000" i="1">
                            <a:latin typeface="Cambria Math" panose="02040503050406030204" pitchFamily="18" charset="0"/>
                            <a:ea typeface="Cambria Math" panose="02040503050406030204" pitchFamily="18" charset="0"/>
                            <a:cs typeface="Calibri" panose="020F0502020204030204" pitchFamily="34" charset="0"/>
                          </a:rPr>
                          <m:t>)</m:t>
                        </m:r>
                      </m:num>
                      <m:den>
                        <m:r>
                          <a:rPr lang="en-US" sz="2000" i="1">
                            <a:latin typeface="Cambria Math" panose="02040503050406030204" pitchFamily="18" charset="0"/>
                            <a:ea typeface="Cambria Math" panose="02040503050406030204" pitchFamily="18" charset="0"/>
                            <a:cs typeface="Calibri" panose="020F0502020204030204" pitchFamily="34" charset="0"/>
                          </a:rPr>
                          <m:t>𝑟</m:t>
                        </m:r>
                      </m:den>
                    </m:f>
                  </m:oMath>
                </a14:m>
                <a:r>
                  <a:rPr lang="en-US" sz="2000" dirty="0">
                    <a:latin typeface="Calibri" panose="020F0502020204030204" pitchFamily="34" charset="0"/>
                    <a:cs typeface="Calibri" panose="020F0502020204030204" pitchFamily="34" charset="0"/>
                  </a:rPr>
                  <a:t>.</a:t>
                </a:r>
              </a:p>
              <a:p>
                <a:pPr marL="342900" indent="-342900">
                  <a:lnSpc>
                    <a:spcPct val="100000"/>
                  </a:lnSpc>
                  <a:spcBef>
                    <a:spcPts val="0"/>
                  </a:spcBef>
                </a:pPr>
                <a:r>
                  <a:rPr lang="en-US" sz="2000" dirty="0">
                    <a:latin typeface="Calibri" panose="020F0502020204030204" pitchFamily="34" charset="0"/>
                    <a:cs typeface="Calibri" panose="020F0502020204030204" pitchFamily="34" charset="0"/>
                  </a:rPr>
                  <a:t>Consider the electrostatic case where </a:t>
                </a:r>
                <a14:m>
                  <m:oMath xmlns:m="http://schemas.openxmlformats.org/officeDocument/2006/math">
                    <m:sSup>
                      <m:sSupPr>
                        <m:ctrlPr>
                          <a:rPr lang="en-US" sz="2000" i="1">
                            <a:latin typeface="Cambria Math" panose="02040503050406030204" pitchFamily="18" charset="0"/>
                            <a:ea typeface="Cambria Math" panose="02040503050406030204" pitchFamily="18" charset="0"/>
                            <a:cs typeface="Calibri" panose="020F0502020204030204" pitchFamily="34" charset="0"/>
                          </a:rPr>
                        </m:ctrlPr>
                      </m:sSupPr>
                      <m:e>
                        <m:r>
                          <m:rPr>
                            <m:sty m:val="p"/>
                          </m:rPr>
                          <a:rPr lang="en-US" sz="2000" i="1">
                            <a:latin typeface="Cambria Math" panose="02040503050406030204" pitchFamily="18" charset="0"/>
                            <a:ea typeface="Cambria Math" panose="02040503050406030204" pitchFamily="18" charset="0"/>
                            <a:cs typeface="Calibri" panose="020F0502020204030204" pitchFamily="34" charset="0"/>
                          </a:rPr>
                          <m:t>∇</m:t>
                        </m:r>
                      </m:e>
                      <m:sup>
                        <m:r>
                          <a:rPr lang="en-US" sz="2000" i="1">
                            <a:latin typeface="Cambria Math" panose="02040503050406030204" pitchFamily="18" charset="0"/>
                            <a:cs typeface="Calibri" panose="020F0502020204030204" pitchFamily="34" charset="0"/>
                          </a:rPr>
                          <m:t>2</m:t>
                        </m:r>
                      </m:sup>
                    </m:sSup>
                    <m:r>
                      <a:rPr lang="en-US" sz="2000" i="1">
                        <a:latin typeface="Cambria Math" panose="02040503050406030204" pitchFamily="18" charset="0"/>
                        <a:ea typeface="Cambria Math" panose="02040503050406030204" pitchFamily="18" charset="0"/>
                        <a:cs typeface="Calibri" panose="020F0502020204030204" pitchFamily="34" charset="0"/>
                      </a:rPr>
                      <m:t>𝜙</m:t>
                    </m:r>
                    <m:r>
                      <a:rPr lang="en-US" sz="2000" i="1">
                        <a:latin typeface="Cambria Math" panose="02040503050406030204" pitchFamily="18" charset="0"/>
                        <a:ea typeface="Cambria Math" panose="02040503050406030204" pitchFamily="18" charset="0"/>
                        <a:cs typeface="Calibri" panose="020F0502020204030204" pitchFamily="34" charset="0"/>
                      </a:rPr>
                      <m:t>=−</m:t>
                    </m:r>
                    <m:f>
                      <m:fPr>
                        <m:ctrlPr>
                          <a:rPr lang="en-US" sz="2000" i="1">
                            <a:latin typeface="Cambria Math" panose="02040503050406030204" pitchFamily="18" charset="0"/>
                            <a:ea typeface="Cambria Math" panose="02040503050406030204" pitchFamily="18" charset="0"/>
                            <a:cs typeface="Calibri" panose="020F0502020204030204" pitchFamily="34" charset="0"/>
                          </a:rPr>
                        </m:ctrlPr>
                      </m:fPr>
                      <m:num>
                        <m:r>
                          <a:rPr lang="en-US" sz="2000" i="1">
                            <a:latin typeface="Cambria Math" panose="02040503050406030204" pitchFamily="18" charset="0"/>
                            <a:ea typeface="Cambria Math" panose="02040503050406030204" pitchFamily="18" charset="0"/>
                            <a:cs typeface="Calibri" panose="020F0502020204030204" pitchFamily="34" charset="0"/>
                          </a:rPr>
                          <m:t>𝜌</m:t>
                        </m:r>
                      </m:num>
                      <m:den>
                        <m:sSub>
                          <m:sSubPr>
                            <m:ctrlPr>
                              <a:rPr lang="en-US" sz="2000" i="1">
                                <a:latin typeface="Cambria Math" panose="02040503050406030204" pitchFamily="18" charset="0"/>
                                <a:ea typeface="Cambria Math" panose="02040503050406030204" pitchFamily="18" charset="0"/>
                                <a:cs typeface="Calibri" panose="020F0502020204030204" pitchFamily="34" charset="0"/>
                              </a:rPr>
                            </m:ctrlPr>
                          </m:sSubPr>
                          <m:e>
                            <m:r>
                              <a:rPr lang="en-US" sz="2000" i="1">
                                <a:latin typeface="Cambria Math" panose="02040503050406030204" pitchFamily="18" charset="0"/>
                                <a:ea typeface="Cambria Math" panose="02040503050406030204" pitchFamily="18" charset="0"/>
                                <a:cs typeface="Calibri" panose="020F0502020204030204" pitchFamily="34" charset="0"/>
                              </a:rPr>
                              <m:t>𝜖</m:t>
                            </m:r>
                          </m:e>
                          <m:sub>
                            <m:r>
                              <a:rPr lang="en-US" sz="2000" i="1">
                                <a:latin typeface="Cambria Math" panose="02040503050406030204" pitchFamily="18" charset="0"/>
                                <a:ea typeface="Cambria Math" panose="02040503050406030204" pitchFamily="18" charset="0"/>
                                <a:cs typeface="Calibri" panose="020F0502020204030204" pitchFamily="34" charset="0"/>
                              </a:rPr>
                              <m:t>0</m:t>
                            </m:r>
                          </m:sub>
                        </m:sSub>
                      </m:den>
                    </m:f>
                  </m:oMath>
                </a14:m>
                <a:r>
                  <a:rPr lang="en-US" sz="2000" dirty="0">
                    <a:latin typeface="Calibri" panose="020F0502020204030204" pitchFamily="34" charset="0"/>
                    <a:cs typeface="Calibri" panose="020F0502020204030204" pitchFamily="34" charset="0"/>
                  </a:rPr>
                  <a:t> where </a:t>
                </a:r>
                <a14:m>
                  <m:oMath xmlns:m="http://schemas.openxmlformats.org/officeDocument/2006/math">
                    <m:r>
                      <a:rPr lang="en-US" sz="2000" i="1">
                        <a:latin typeface="Cambria Math" panose="02040503050406030204" pitchFamily="18" charset="0"/>
                        <a:ea typeface="Cambria Math" panose="02040503050406030204" pitchFamily="18" charset="0"/>
                        <a:cs typeface="Calibri" panose="020F0502020204030204" pitchFamily="34" charset="0"/>
                      </a:rPr>
                      <m:t>𝜙</m:t>
                    </m:r>
                    <m:r>
                      <a:rPr lang="en-US" sz="2000" i="1">
                        <a:latin typeface="Cambria Math" panose="02040503050406030204" pitchFamily="18" charset="0"/>
                        <a:ea typeface="Cambria Math" panose="02040503050406030204" pitchFamily="18" charset="0"/>
                        <a:cs typeface="Calibri" panose="020F0502020204030204" pitchFamily="34" charset="0"/>
                      </a:rPr>
                      <m:t>= </m:t>
                    </m:r>
                    <m:f>
                      <m:fPr>
                        <m:ctrlPr>
                          <a:rPr lang="en-US" sz="2000" i="1">
                            <a:latin typeface="Cambria Math" panose="02040503050406030204" pitchFamily="18" charset="0"/>
                            <a:ea typeface="Cambria Math" panose="02040503050406030204" pitchFamily="18" charset="0"/>
                            <a:cs typeface="Calibri" panose="020F0502020204030204" pitchFamily="34" charset="0"/>
                          </a:rPr>
                        </m:ctrlPr>
                      </m:fPr>
                      <m:num>
                        <m:r>
                          <a:rPr lang="en-US" sz="2000" i="1">
                            <a:latin typeface="Cambria Math" panose="02040503050406030204" pitchFamily="18" charset="0"/>
                            <a:ea typeface="Cambria Math" panose="02040503050406030204" pitchFamily="18" charset="0"/>
                            <a:cs typeface="Calibri" panose="020F0502020204030204" pitchFamily="34" charset="0"/>
                          </a:rPr>
                          <m:t>𝑞</m:t>
                        </m:r>
                      </m:num>
                      <m:den>
                        <m:r>
                          <a:rPr lang="en-US" sz="2000" i="1">
                            <a:latin typeface="Cambria Math" panose="02040503050406030204" pitchFamily="18" charset="0"/>
                            <a:ea typeface="Cambria Math" panose="02040503050406030204" pitchFamily="18" charset="0"/>
                            <a:cs typeface="Calibri" panose="020F0502020204030204" pitchFamily="34" charset="0"/>
                          </a:rPr>
                          <m:t>4</m:t>
                        </m:r>
                        <m:r>
                          <a:rPr lang="en-US" sz="2000" i="1">
                            <a:latin typeface="Cambria Math" panose="02040503050406030204" pitchFamily="18" charset="0"/>
                            <a:ea typeface="Cambria Math" panose="02040503050406030204" pitchFamily="18" charset="0"/>
                            <a:cs typeface="Calibri" panose="020F0502020204030204" pitchFamily="34" charset="0"/>
                          </a:rPr>
                          <m:t>𝜋</m:t>
                        </m:r>
                        <m:sSub>
                          <m:sSubPr>
                            <m:ctrlPr>
                              <a:rPr lang="en-US" sz="2000" i="1">
                                <a:latin typeface="Cambria Math" panose="02040503050406030204" pitchFamily="18" charset="0"/>
                                <a:ea typeface="Cambria Math" panose="02040503050406030204" pitchFamily="18" charset="0"/>
                                <a:cs typeface="Calibri" panose="020F0502020204030204" pitchFamily="34" charset="0"/>
                              </a:rPr>
                            </m:ctrlPr>
                          </m:sSubPr>
                          <m:e>
                            <m:r>
                              <a:rPr lang="en-US" sz="2000" i="1">
                                <a:latin typeface="Cambria Math" panose="02040503050406030204" pitchFamily="18" charset="0"/>
                                <a:ea typeface="Cambria Math" panose="02040503050406030204" pitchFamily="18" charset="0"/>
                                <a:cs typeface="Calibri" panose="020F0502020204030204" pitchFamily="34" charset="0"/>
                              </a:rPr>
                              <m:t>𝜖</m:t>
                            </m:r>
                          </m:e>
                          <m:sub>
                            <m:r>
                              <a:rPr lang="en-US" sz="2000" i="1">
                                <a:latin typeface="Cambria Math" panose="02040503050406030204" pitchFamily="18" charset="0"/>
                                <a:ea typeface="Cambria Math" panose="02040503050406030204" pitchFamily="18" charset="0"/>
                                <a:cs typeface="Calibri" panose="020F0502020204030204" pitchFamily="34" charset="0"/>
                              </a:rPr>
                              <m:t>0</m:t>
                            </m:r>
                          </m:sub>
                        </m:sSub>
                        <m:r>
                          <a:rPr lang="en-US" sz="2000" i="1">
                            <a:latin typeface="Cambria Math" panose="02040503050406030204" pitchFamily="18" charset="0"/>
                            <a:ea typeface="Cambria Math" panose="02040503050406030204" pitchFamily="18" charset="0"/>
                            <a:cs typeface="Calibri" panose="020F0502020204030204" pitchFamily="34" charset="0"/>
                          </a:rPr>
                          <m:t>𝑟</m:t>
                        </m:r>
                      </m:den>
                    </m:f>
                    <m:r>
                      <a:rPr lang="en-US" sz="2000" b="0" i="0" smtClean="0">
                        <a:latin typeface="Cambria Math" panose="02040503050406030204" pitchFamily="18" charset="0"/>
                        <a:ea typeface="Cambria Math" panose="02040503050406030204" pitchFamily="18" charset="0"/>
                        <a:cs typeface="Calibri" panose="020F0502020204030204" pitchFamily="34" charset="0"/>
                      </a:rPr>
                      <m:t>.</m:t>
                    </m:r>
                  </m:oMath>
                </a14:m>
                <a:endParaRPr lang="en-US" sz="2000" b="0" dirty="0">
                  <a:latin typeface="Calibri" panose="020F0502020204030204" pitchFamily="34" charset="0"/>
                  <a:ea typeface="Cambria Math" panose="02040503050406030204" pitchFamily="18" charset="0"/>
                  <a:cs typeface="Calibri" panose="020F0502020204030204" pitchFamily="34" charset="0"/>
                </a:endParaRPr>
              </a:p>
              <a:p>
                <a:pPr marL="342900" indent="-342900">
                  <a:lnSpc>
                    <a:spcPct val="100000"/>
                  </a:lnSpc>
                  <a:spcBef>
                    <a:spcPts val="0"/>
                  </a:spcBef>
                </a:pPr>
                <a:r>
                  <a:rPr lang="en-US" sz="2000" dirty="0">
                    <a:latin typeface="Calibri" panose="020F0502020204030204" pitchFamily="34" charset="0"/>
                    <a:cs typeface="Calibri" panose="020F0502020204030204" pitchFamily="34" charset="0"/>
                  </a:rPr>
                  <a:t>By analogy:</a:t>
                </a:r>
              </a:p>
              <a:p>
                <a:pPr marL="800100" lvl="1" indent="-342900">
                  <a:lnSpc>
                    <a:spcPct val="100000"/>
                  </a:lnSpc>
                  <a:spcBef>
                    <a:spcPts val="0"/>
                  </a:spcBef>
                </a:pPr>
                <a:r>
                  <a:rPr lang="en-US" sz="2000" dirty="0">
                    <a:latin typeface="Calibri" panose="020F0502020204030204" pitchFamily="34" charset="0"/>
                    <a:cs typeface="Calibri" panose="020F0502020204030204" pitchFamily="34" charset="0"/>
                  </a:rPr>
                  <a:t> </a:t>
                </a:r>
                <a14:m>
                  <m:oMath xmlns:m="http://schemas.openxmlformats.org/officeDocument/2006/math">
                    <m:r>
                      <a:rPr lang="en-US" sz="2000" i="1">
                        <a:latin typeface="Cambria Math" panose="02040503050406030204" pitchFamily="18" charset="0"/>
                        <a:cs typeface="Calibri" panose="020F0502020204030204" pitchFamily="34" charset="0"/>
                      </a:rPr>
                      <m:t>𝑓</m:t>
                    </m:r>
                    <m:d>
                      <m:dPr>
                        <m:ctrlPr>
                          <a:rPr lang="en-US" sz="2000" i="1">
                            <a:latin typeface="Cambria Math" panose="02040503050406030204" pitchFamily="18" charset="0"/>
                            <a:cs typeface="Calibri" panose="020F0502020204030204" pitchFamily="34" charset="0"/>
                          </a:rPr>
                        </m:ctrlPr>
                      </m:dPr>
                      <m:e>
                        <m:r>
                          <a:rPr lang="en-US" sz="2000" i="1">
                            <a:latin typeface="Cambria Math" panose="02040503050406030204" pitchFamily="18" charset="0"/>
                            <a:cs typeface="Calibri" panose="020F0502020204030204" pitchFamily="34" charset="0"/>
                          </a:rPr>
                          <m:t>𝑡</m:t>
                        </m:r>
                        <m:r>
                          <a:rPr lang="en-US" sz="2000" i="1">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Calibri" panose="020F0502020204030204" pitchFamily="34" charset="0"/>
                              </a:rPr>
                            </m:ctrlPr>
                          </m:fPr>
                          <m:num>
                            <m:r>
                              <a:rPr lang="en-US" sz="2000" i="1">
                                <a:latin typeface="Cambria Math" panose="02040503050406030204" pitchFamily="18" charset="0"/>
                                <a:cs typeface="Calibri" panose="020F0502020204030204" pitchFamily="34" charset="0"/>
                              </a:rPr>
                              <m:t>𝑟</m:t>
                            </m:r>
                          </m:num>
                          <m:den>
                            <m:r>
                              <a:rPr lang="en-US" sz="2000" i="1">
                                <a:latin typeface="Cambria Math" panose="02040503050406030204" pitchFamily="18" charset="0"/>
                                <a:cs typeface="Calibri" panose="020F0502020204030204" pitchFamily="34" charset="0"/>
                              </a:rPr>
                              <m:t>𝑐</m:t>
                            </m:r>
                          </m:den>
                        </m:f>
                      </m:e>
                    </m:d>
                    <m:r>
                      <a:rPr lang="en-US" sz="2000" i="1">
                        <a:latin typeface="Cambria Math" panose="02040503050406030204" pitchFamily="18" charset="0"/>
                        <a:cs typeface="Calibri" panose="020F0502020204030204" pitchFamily="34" charset="0"/>
                      </a:rPr>
                      <m:t>= </m:t>
                    </m:r>
                    <m:f>
                      <m:fPr>
                        <m:ctrlPr>
                          <a:rPr lang="en-US" sz="2000" i="1">
                            <a:latin typeface="Cambria Math" panose="02040503050406030204" pitchFamily="18" charset="0"/>
                            <a:cs typeface="Calibri" panose="020F0502020204030204" pitchFamily="34" charset="0"/>
                          </a:rPr>
                        </m:ctrlPr>
                      </m:fPr>
                      <m:num>
                        <m:r>
                          <a:rPr lang="en-US" sz="2000" i="1">
                            <a:latin typeface="Cambria Math" panose="02040503050406030204" pitchFamily="18" charset="0"/>
                            <a:cs typeface="Calibri" panose="020F0502020204030204" pitchFamily="34" charset="0"/>
                          </a:rPr>
                          <m:t>𝑆</m:t>
                        </m:r>
                        <m:r>
                          <a:rPr lang="en-US" sz="2000" i="1">
                            <a:latin typeface="Cambria Math" panose="02040503050406030204" pitchFamily="18" charset="0"/>
                            <a:cs typeface="Calibri" panose="020F0502020204030204" pitchFamily="34" charset="0"/>
                          </a:rPr>
                          <m:t>(</m:t>
                        </m:r>
                        <m:r>
                          <a:rPr lang="en-US" sz="2000" i="1">
                            <a:latin typeface="Cambria Math" panose="02040503050406030204" pitchFamily="18" charset="0"/>
                            <a:cs typeface="Calibri" panose="020F0502020204030204" pitchFamily="34" charset="0"/>
                          </a:rPr>
                          <m:t>𝑡</m:t>
                        </m:r>
                        <m:r>
                          <a:rPr lang="en-US" sz="2000" i="1">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Calibri" panose="020F0502020204030204" pitchFamily="34" charset="0"/>
                              </a:rPr>
                            </m:ctrlPr>
                          </m:fPr>
                          <m:num>
                            <m:r>
                              <a:rPr lang="en-US" sz="2000" i="1">
                                <a:latin typeface="Cambria Math" panose="02040503050406030204" pitchFamily="18" charset="0"/>
                                <a:cs typeface="Calibri" panose="020F0502020204030204" pitchFamily="34" charset="0"/>
                              </a:rPr>
                              <m:t>𝑟</m:t>
                            </m:r>
                          </m:num>
                          <m:den>
                            <m:r>
                              <a:rPr lang="en-US" sz="2000" i="1">
                                <a:latin typeface="Cambria Math" panose="02040503050406030204" pitchFamily="18" charset="0"/>
                                <a:cs typeface="Calibri" panose="020F0502020204030204" pitchFamily="34" charset="0"/>
                              </a:rPr>
                              <m:t>𝑐</m:t>
                            </m:r>
                          </m:den>
                        </m:f>
                        <m:r>
                          <a:rPr lang="en-US" sz="2000" i="1">
                            <a:latin typeface="Cambria Math" panose="02040503050406030204" pitchFamily="18" charset="0"/>
                            <a:cs typeface="Calibri" panose="020F0502020204030204" pitchFamily="34" charset="0"/>
                          </a:rPr>
                          <m:t>)</m:t>
                        </m:r>
                      </m:num>
                      <m:den>
                        <m:r>
                          <a:rPr lang="en-US" sz="2000" i="1">
                            <a:latin typeface="Cambria Math" panose="02040503050406030204" pitchFamily="18" charset="0"/>
                            <a:cs typeface="Calibri" panose="020F0502020204030204" pitchFamily="34" charset="0"/>
                          </a:rPr>
                          <m:t>4</m:t>
                        </m:r>
                        <m:r>
                          <a:rPr lang="en-US" sz="2000" i="1">
                            <a:latin typeface="Cambria Math" panose="02040503050406030204" pitchFamily="18" charset="0"/>
                            <a:ea typeface="Cambria Math" panose="02040503050406030204" pitchFamily="18" charset="0"/>
                            <a:cs typeface="Calibri" panose="020F0502020204030204" pitchFamily="34" charset="0"/>
                          </a:rPr>
                          <m:t>𝜋</m:t>
                        </m:r>
                      </m:den>
                    </m:f>
                  </m:oMath>
                </a14:m>
                <a:endParaRPr lang="en-US" sz="2000" dirty="0">
                  <a:latin typeface="Calibri" panose="020F0502020204030204" pitchFamily="34" charset="0"/>
                  <a:ea typeface="Cambria Math" panose="02040503050406030204" pitchFamily="18" charset="0"/>
                  <a:cs typeface="Calibri" panose="020F0502020204030204" pitchFamily="34" charset="0"/>
                </a:endParaRPr>
              </a:p>
              <a:p>
                <a:pPr marL="800100" lvl="1" indent="-342900">
                  <a:lnSpc>
                    <a:spcPct val="100000"/>
                  </a:lnSpc>
                  <a:spcBef>
                    <a:spcPts val="0"/>
                  </a:spcBef>
                </a:pPr>
                <a:r>
                  <a:rPr lang="en-US" sz="2000" dirty="0">
                    <a:latin typeface="Calibri" panose="020F0502020204030204" pitchFamily="34" charset="0"/>
                    <a:cs typeface="Calibri" panose="020F0502020204030204" pitchFamily="34" charset="0"/>
                  </a:rPr>
                  <a:t> </a:t>
                </a:r>
                <a14:m>
                  <m:oMath xmlns:m="http://schemas.openxmlformats.org/officeDocument/2006/math">
                    <m:r>
                      <a:rPr lang="en-US" sz="2000" i="1">
                        <a:latin typeface="Cambria Math" panose="02040503050406030204" pitchFamily="18" charset="0"/>
                        <a:cs typeface="Calibri" panose="020F0502020204030204" pitchFamily="34" charset="0"/>
                      </a:rPr>
                      <m:t>𝑆</m:t>
                    </m:r>
                    <m:r>
                      <a:rPr lang="en-US" sz="2000" i="1">
                        <a:latin typeface="Cambria Math" panose="02040503050406030204" pitchFamily="18" charset="0"/>
                        <a:cs typeface="Calibri" panose="020F0502020204030204" pitchFamily="34" charset="0"/>
                      </a:rPr>
                      <m:t>= </m:t>
                    </m:r>
                    <m:nary>
                      <m:naryPr>
                        <m:limLoc m:val="undOvr"/>
                        <m:subHide m:val="on"/>
                        <m:supHide m:val="on"/>
                        <m:ctrlPr>
                          <a:rPr lang="en-US" sz="2000" i="1">
                            <a:latin typeface="Cambria Math" panose="02040503050406030204" pitchFamily="18" charset="0"/>
                            <a:cs typeface="Calibri" panose="020F0502020204030204" pitchFamily="34" charset="0"/>
                          </a:rPr>
                        </m:ctrlPr>
                      </m:naryPr>
                      <m:sub/>
                      <m:sup/>
                      <m:e>
                        <m:r>
                          <a:rPr lang="en-US" sz="2000" i="1">
                            <a:latin typeface="Cambria Math" panose="02040503050406030204" pitchFamily="18" charset="0"/>
                            <a:cs typeface="Calibri" panose="020F0502020204030204" pitchFamily="34" charset="0"/>
                          </a:rPr>
                          <m:t>𝑠</m:t>
                        </m:r>
                        <m:r>
                          <a:rPr lang="en-US" sz="2000" i="1">
                            <a:latin typeface="Cambria Math" panose="02040503050406030204" pitchFamily="18" charset="0"/>
                            <a:cs typeface="Calibri" panose="020F0502020204030204" pitchFamily="34" charset="0"/>
                          </a:rPr>
                          <m:t> </m:t>
                        </m:r>
                        <m:r>
                          <a:rPr lang="en-US" sz="2000" i="1">
                            <a:latin typeface="Cambria Math" panose="02040503050406030204" pitchFamily="18" charset="0"/>
                            <a:cs typeface="Calibri" panose="020F0502020204030204" pitchFamily="34" charset="0"/>
                          </a:rPr>
                          <m:t>𝑑𝑉</m:t>
                        </m:r>
                      </m:e>
                    </m:nary>
                  </m:oMath>
                </a14:m>
                <a:r>
                  <a:rPr lang="en-US" sz="2000" dirty="0">
                    <a:latin typeface="Calibri" panose="020F0502020204030204" pitchFamily="34" charset="0"/>
                    <a:cs typeface="Calibri" panose="020F0502020204030204" pitchFamily="34" charset="0"/>
                  </a:rPr>
                  <a:t> </a:t>
                </a:r>
              </a:p>
              <a:p>
                <a:pPr marL="342900" indent="-342900">
                  <a:lnSpc>
                    <a:spcPct val="100000"/>
                  </a:lnSpc>
                  <a:spcBef>
                    <a:spcPts val="0"/>
                  </a:spcBef>
                </a:pPr>
                <a:r>
                  <a:rPr lang="en-US" sz="2000" dirty="0">
                    <a:latin typeface="Calibri" panose="020F0502020204030204" pitchFamily="34" charset="0"/>
                    <a:cs typeface="Calibri" panose="020F0502020204030204" pitchFamily="34" charset="0"/>
                  </a:rPr>
                  <a:t>So, solution is: </a:t>
                </a:r>
                <a14:m>
                  <m:oMath xmlns:m="http://schemas.openxmlformats.org/officeDocument/2006/math">
                    <m:r>
                      <a:rPr lang="en-US" sz="2000" i="1">
                        <a:latin typeface="Cambria Math" panose="02040503050406030204" pitchFamily="18" charset="0"/>
                        <a:ea typeface="Cambria Math" panose="02040503050406030204" pitchFamily="18" charset="0"/>
                        <a:cs typeface="Calibri" panose="020F0502020204030204" pitchFamily="34" charset="0"/>
                      </a:rPr>
                      <m:t>𝜓</m:t>
                    </m:r>
                    <m:d>
                      <m:dPr>
                        <m:ctrlPr>
                          <a:rPr lang="en-US" sz="2000" i="1">
                            <a:latin typeface="Cambria Math" panose="02040503050406030204" pitchFamily="18" charset="0"/>
                            <a:ea typeface="Cambria Math" panose="02040503050406030204" pitchFamily="18" charset="0"/>
                            <a:cs typeface="Calibri" panose="020F0502020204030204" pitchFamily="34" charset="0"/>
                          </a:rPr>
                        </m:ctrlPr>
                      </m:dPr>
                      <m:e>
                        <m:r>
                          <a:rPr lang="en-US" sz="2000" i="1">
                            <a:latin typeface="Cambria Math" panose="02040503050406030204" pitchFamily="18" charset="0"/>
                            <a:ea typeface="Cambria Math" panose="02040503050406030204" pitchFamily="18" charset="0"/>
                            <a:cs typeface="Calibri" panose="020F0502020204030204" pitchFamily="34" charset="0"/>
                          </a:rPr>
                          <m:t>𝑥</m:t>
                        </m:r>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𝑡</m:t>
                        </m:r>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𝑧</m:t>
                        </m:r>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𝑡</m:t>
                        </m:r>
                      </m:e>
                    </m:d>
                    <m:r>
                      <a:rPr lang="en-US" sz="2000" i="1">
                        <a:latin typeface="Cambria Math" panose="02040503050406030204" pitchFamily="18" charset="0"/>
                        <a:ea typeface="Cambria Math" panose="02040503050406030204" pitchFamily="18" charset="0"/>
                        <a:cs typeface="Calibri" panose="020F0502020204030204" pitchFamily="34" charset="0"/>
                      </a:rPr>
                      <m:t>=</m:t>
                    </m:r>
                    <m:f>
                      <m:fPr>
                        <m:ctrlPr>
                          <a:rPr lang="en-US" sz="2000" i="1">
                            <a:latin typeface="Cambria Math" panose="02040503050406030204" pitchFamily="18" charset="0"/>
                            <a:ea typeface="Cambria Math" panose="02040503050406030204" pitchFamily="18" charset="0"/>
                            <a:cs typeface="Calibri" panose="020F0502020204030204" pitchFamily="34" charset="0"/>
                          </a:rPr>
                        </m:ctrlPr>
                      </m:fPr>
                      <m:num>
                        <m:r>
                          <a:rPr lang="en-US" sz="2000" i="1">
                            <a:latin typeface="Cambria Math" panose="02040503050406030204" pitchFamily="18" charset="0"/>
                            <a:ea typeface="Cambria Math" panose="02040503050406030204" pitchFamily="18" charset="0"/>
                            <a:cs typeface="Calibri" panose="020F0502020204030204" pitchFamily="34" charset="0"/>
                          </a:rPr>
                          <m:t>1</m:t>
                        </m:r>
                      </m:num>
                      <m:den>
                        <m:r>
                          <a:rPr lang="en-US" sz="2000" i="1">
                            <a:latin typeface="Cambria Math" panose="02040503050406030204" pitchFamily="18" charset="0"/>
                            <a:ea typeface="Cambria Math" panose="02040503050406030204" pitchFamily="18" charset="0"/>
                            <a:cs typeface="Calibri" panose="020F0502020204030204" pitchFamily="34" charset="0"/>
                          </a:rPr>
                          <m:t>4</m:t>
                        </m:r>
                        <m:r>
                          <a:rPr lang="en-US" sz="2000" i="1">
                            <a:latin typeface="Cambria Math" panose="02040503050406030204" pitchFamily="18" charset="0"/>
                            <a:ea typeface="Cambria Math" panose="02040503050406030204" pitchFamily="18" charset="0"/>
                            <a:cs typeface="Calibri" panose="020F0502020204030204" pitchFamily="34" charset="0"/>
                          </a:rPr>
                          <m:t>𝜋</m:t>
                        </m:r>
                      </m:den>
                    </m:f>
                    <m:f>
                      <m:fPr>
                        <m:ctrlPr>
                          <a:rPr lang="en-US" sz="2000" i="1">
                            <a:latin typeface="Cambria Math" panose="02040503050406030204" pitchFamily="18" charset="0"/>
                            <a:cs typeface="Calibri" panose="020F0502020204030204" pitchFamily="34" charset="0"/>
                          </a:rPr>
                        </m:ctrlPr>
                      </m:fPr>
                      <m:num>
                        <m:r>
                          <a:rPr lang="en-US" sz="2000" i="1">
                            <a:latin typeface="Cambria Math" panose="02040503050406030204" pitchFamily="18" charset="0"/>
                            <a:cs typeface="Calibri" panose="020F0502020204030204" pitchFamily="34" charset="0"/>
                          </a:rPr>
                          <m:t>𝑆</m:t>
                        </m:r>
                        <m:r>
                          <a:rPr lang="en-US" sz="2000" i="1">
                            <a:latin typeface="Cambria Math" panose="02040503050406030204" pitchFamily="18" charset="0"/>
                            <a:cs typeface="Calibri" panose="020F0502020204030204" pitchFamily="34" charset="0"/>
                          </a:rPr>
                          <m:t>(</m:t>
                        </m:r>
                        <m:r>
                          <a:rPr lang="en-US" sz="2000" i="1">
                            <a:latin typeface="Cambria Math" panose="02040503050406030204" pitchFamily="18" charset="0"/>
                            <a:cs typeface="Calibri" panose="020F0502020204030204" pitchFamily="34" charset="0"/>
                          </a:rPr>
                          <m:t>𝑡</m:t>
                        </m:r>
                        <m:r>
                          <a:rPr lang="en-US" sz="2000" i="1">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Calibri" panose="020F0502020204030204" pitchFamily="34" charset="0"/>
                              </a:rPr>
                            </m:ctrlPr>
                          </m:fPr>
                          <m:num>
                            <m:r>
                              <a:rPr lang="en-US" sz="2000" i="1">
                                <a:latin typeface="Cambria Math" panose="02040503050406030204" pitchFamily="18" charset="0"/>
                                <a:cs typeface="Calibri" panose="020F0502020204030204" pitchFamily="34" charset="0"/>
                              </a:rPr>
                              <m:t>𝑟</m:t>
                            </m:r>
                          </m:num>
                          <m:den>
                            <m:r>
                              <a:rPr lang="en-US" sz="2000" i="1">
                                <a:latin typeface="Cambria Math" panose="02040503050406030204" pitchFamily="18" charset="0"/>
                                <a:cs typeface="Calibri" panose="020F0502020204030204" pitchFamily="34" charset="0"/>
                              </a:rPr>
                              <m:t>𝑐</m:t>
                            </m:r>
                          </m:den>
                        </m:f>
                        <m:r>
                          <a:rPr lang="en-US" sz="2000" i="1">
                            <a:latin typeface="Cambria Math" panose="02040503050406030204" pitchFamily="18" charset="0"/>
                            <a:cs typeface="Calibri" panose="020F0502020204030204" pitchFamily="34" charset="0"/>
                          </a:rPr>
                          <m:t>)</m:t>
                        </m:r>
                      </m:num>
                      <m:den>
                        <m:r>
                          <a:rPr lang="en-US" sz="2000" i="1">
                            <a:latin typeface="Cambria Math" panose="02040503050406030204" pitchFamily="18" charset="0"/>
                            <a:ea typeface="Cambria Math" panose="02040503050406030204" pitchFamily="18" charset="0"/>
                            <a:cs typeface="Calibri" panose="020F0502020204030204" pitchFamily="34" charset="0"/>
                          </a:rPr>
                          <m:t>𝑟</m:t>
                        </m:r>
                      </m:den>
                    </m:f>
                  </m:oMath>
                </a14:m>
                <a:r>
                  <a:rPr lang="en-US" sz="2000" dirty="0">
                    <a:latin typeface="Calibri" panose="020F0502020204030204" pitchFamily="34" charset="0"/>
                    <a:cs typeface="Calibri" panose="020F0502020204030204" pitchFamily="34" charset="0"/>
                  </a:rPr>
                  <a:t>.  Thus,</a:t>
                </a:r>
              </a:p>
              <a:p>
                <a:pPr marL="800100" lvl="1" indent="-342900">
                  <a:lnSpc>
                    <a:spcPct val="100000"/>
                  </a:lnSpc>
                  <a:spcBef>
                    <a:spcPts val="0"/>
                  </a:spcBef>
                </a:pPr>
                <a14:m>
                  <m:oMath xmlns:m="http://schemas.openxmlformats.org/officeDocument/2006/math">
                    <m:r>
                      <a:rPr lang="en-US" sz="2000" i="1">
                        <a:latin typeface="Cambria Math" panose="02040503050406030204" pitchFamily="18" charset="0"/>
                        <a:cs typeface="Arial" panose="020B0604020202020204" pitchFamily="34" charset="0"/>
                      </a:rPr>
                      <m:t>𝐴</m:t>
                    </m:r>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1,</m:t>
                        </m:r>
                        <m:r>
                          <a:rPr lang="en-US" sz="2000" i="1">
                            <a:latin typeface="Cambria Math" panose="02040503050406030204" pitchFamily="18" charset="0"/>
                            <a:cs typeface="Arial" panose="020B0604020202020204" pitchFamily="34" charset="0"/>
                          </a:rPr>
                          <m:t>𝑡</m:t>
                        </m:r>
                      </m:e>
                    </m:d>
                    <m:r>
                      <a:rPr lang="en-US" sz="2000" i="1">
                        <a:latin typeface="Cambria Math" panose="02040503050406030204" pitchFamily="18" charset="0"/>
                        <a:cs typeface="Arial" panose="020B0604020202020204" pitchFamily="34" charset="0"/>
                      </a:rPr>
                      <m:t>= </m:t>
                    </m:r>
                    <m:nary>
                      <m:naryPr>
                        <m:limLoc m:val="undOvr"/>
                        <m:subHide m:val="on"/>
                        <m:supHide m:val="on"/>
                        <m:ctrlPr>
                          <a:rPr lang="en-US" sz="2000" i="1">
                            <a:latin typeface="Cambria Math" panose="02040503050406030204" pitchFamily="18" charset="0"/>
                            <a:cs typeface="Arial" panose="020B0604020202020204" pitchFamily="34" charset="0"/>
                          </a:rPr>
                        </m:ctrlPr>
                      </m:naryPr>
                      <m:sub/>
                      <m:sup/>
                      <m:e>
                        <m:f>
                          <m:fPr>
                            <m:ctrlPr>
                              <a:rPr lang="en-US" sz="2000" i="1">
                                <a:latin typeface="Cambria Math" panose="02040503050406030204" pitchFamily="18" charset="0"/>
                                <a:cs typeface="Arial" panose="020B0604020202020204" pitchFamily="34" charset="0"/>
                              </a:rPr>
                            </m:ctrlPr>
                          </m:fPr>
                          <m:num>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𝑗</m:t>
                                </m:r>
                              </m:e>
                            </m:acc>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2, </m:t>
                                </m:r>
                                <m:r>
                                  <a:rPr lang="en-US" sz="2000" i="1">
                                    <a:latin typeface="Cambria Math" panose="02040503050406030204" pitchFamily="18" charset="0"/>
                                    <a:cs typeface="Arial" panose="020B0604020202020204" pitchFamily="34" charset="0"/>
                                  </a:rPr>
                                  <m:t>𝑡</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𝑟</m:t>
                                        </m:r>
                                      </m:e>
                                      <m:sub>
                                        <m:r>
                                          <a:rPr lang="en-US" sz="2000" i="1">
                                            <a:latin typeface="Cambria Math" panose="02040503050406030204" pitchFamily="18" charset="0"/>
                                            <a:cs typeface="Arial" panose="020B0604020202020204" pitchFamily="34" charset="0"/>
                                          </a:rPr>
                                          <m:t>12</m:t>
                                        </m:r>
                                      </m:sub>
                                    </m:sSub>
                                  </m:num>
                                  <m:den>
                                    <m:r>
                                      <a:rPr lang="en-US" sz="2000" i="1">
                                        <a:latin typeface="Cambria Math" panose="02040503050406030204" pitchFamily="18" charset="0"/>
                                        <a:cs typeface="Arial" panose="020B0604020202020204" pitchFamily="34" charset="0"/>
                                      </a:rPr>
                                      <m:t>𝑐</m:t>
                                    </m:r>
                                  </m:den>
                                </m:f>
                              </m:e>
                            </m:d>
                          </m:num>
                          <m:den>
                            <m:r>
                              <a:rPr lang="en-US" sz="2000" i="1">
                                <a:latin typeface="Cambria Math" panose="02040503050406030204" pitchFamily="18" charset="0"/>
                                <a:cs typeface="Arial" panose="020B0604020202020204" pitchFamily="34" charset="0"/>
                              </a:rPr>
                              <m:t>4</m:t>
                            </m:r>
                            <m:r>
                              <a:rPr lang="en-US" sz="2000" i="1">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𝜖</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𝑐</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𝑟</m:t>
                                </m:r>
                              </m:e>
                              <m:sub>
                                <m:r>
                                  <a:rPr lang="en-US" sz="2000" i="1">
                                    <a:latin typeface="Cambria Math" panose="02040503050406030204" pitchFamily="18" charset="0"/>
                                    <a:ea typeface="Cambria Math" panose="02040503050406030204" pitchFamily="18" charset="0"/>
                                    <a:cs typeface="Arial" panose="020B0604020202020204" pitchFamily="34" charset="0"/>
                                  </a:rPr>
                                  <m:t>12</m:t>
                                </m:r>
                              </m:sub>
                            </m:sSub>
                          </m:den>
                        </m:f>
                      </m:e>
                    </m:nary>
                    <m:r>
                      <a:rPr lang="en-US" sz="2000" i="1">
                        <a:latin typeface="Cambria Math" panose="02040503050406030204" pitchFamily="18" charset="0"/>
                        <a:cs typeface="Arial" panose="020B0604020202020204" pitchFamily="34" charset="0"/>
                      </a:rPr>
                      <m:t> </m:t>
                    </m:r>
                    <m:r>
                      <a:rPr lang="en-US" sz="2000" i="1">
                        <a:latin typeface="Cambria Math" panose="02040503050406030204" pitchFamily="18" charset="0"/>
                        <a:cs typeface="Arial" panose="020B0604020202020204" pitchFamily="34" charset="0"/>
                      </a:rPr>
                      <m:t>𝑑</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𝑉</m:t>
                        </m:r>
                      </m:e>
                      <m:sub>
                        <m:r>
                          <a:rPr lang="en-US" sz="2000" i="1">
                            <a:latin typeface="Cambria Math" panose="02040503050406030204" pitchFamily="18" charset="0"/>
                            <a:cs typeface="Arial" panose="020B0604020202020204" pitchFamily="34" charset="0"/>
                          </a:rPr>
                          <m:t>2</m:t>
                        </m:r>
                      </m:sub>
                    </m:sSub>
                  </m:oMath>
                </a14:m>
                <a:endParaRPr lang="en-US" sz="2000" dirty="0">
                  <a:latin typeface="Calibri" panose="020F0502020204030204" pitchFamily="34" charset="0"/>
                  <a:cs typeface="Calibri" panose="020F0502020204030204" pitchFamily="34" charset="0"/>
                </a:endParaRPr>
              </a:p>
              <a:p>
                <a:pPr marL="800100" lvl="1" indent="-342900">
                  <a:lnSpc>
                    <a:spcPct val="100000"/>
                  </a:lnSpc>
                  <a:spcBef>
                    <a:spcPts val="0"/>
                  </a:spcBef>
                </a:pPr>
                <a:r>
                  <a:rPr lang="en-US" sz="2000" dirty="0">
                    <a:latin typeface="Calibri" panose="020F0502020204030204" pitchFamily="34" charset="0"/>
                    <a:cs typeface="Calibri" panose="020F0502020204030204" pitchFamily="34" charset="0"/>
                  </a:rPr>
                  <a:t> </a:t>
                </a:r>
                <a14:m>
                  <m:oMath xmlns:m="http://schemas.openxmlformats.org/officeDocument/2006/math">
                    <m:r>
                      <a:rPr lang="en-US" sz="2000" i="1">
                        <a:latin typeface="Cambria Math" panose="02040503050406030204" pitchFamily="18" charset="0"/>
                        <a:ea typeface="Cambria Math" panose="02040503050406030204" pitchFamily="18" charset="0"/>
                        <a:cs typeface="Arial" panose="020B0604020202020204" pitchFamily="34" charset="0"/>
                      </a:rPr>
                      <m:t>𝜙</m:t>
                    </m:r>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1,</m:t>
                        </m:r>
                        <m:r>
                          <a:rPr lang="en-US" sz="2000" i="1">
                            <a:latin typeface="Cambria Math" panose="02040503050406030204" pitchFamily="18" charset="0"/>
                            <a:cs typeface="Arial" panose="020B0604020202020204" pitchFamily="34" charset="0"/>
                          </a:rPr>
                          <m:t>𝑡</m:t>
                        </m:r>
                      </m:e>
                    </m:d>
                    <m:r>
                      <a:rPr lang="en-US" sz="2000" i="1">
                        <a:latin typeface="Cambria Math" panose="02040503050406030204" pitchFamily="18" charset="0"/>
                        <a:cs typeface="Arial" panose="020B0604020202020204" pitchFamily="34" charset="0"/>
                      </a:rPr>
                      <m:t>= </m:t>
                    </m:r>
                    <m:nary>
                      <m:naryPr>
                        <m:limLoc m:val="undOvr"/>
                        <m:subHide m:val="on"/>
                        <m:supHide m:val="on"/>
                        <m:ctrlPr>
                          <a:rPr lang="en-US" sz="2000" i="1">
                            <a:latin typeface="Cambria Math" panose="02040503050406030204" pitchFamily="18" charset="0"/>
                            <a:cs typeface="Arial" panose="020B0604020202020204" pitchFamily="34" charset="0"/>
                          </a:rPr>
                        </m:ctrlPr>
                      </m:naryPr>
                      <m:sub/>
                      <m:sup/>
                      <m:e>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𝜌</m:t>
                            </m:r>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2, </m:t>
                                </m:r>
                                <m:r>
                                  <a:rPr lang="en-US" sz="2000" i="1">
                                    <a:latin typeface="Cambria Math" panose="02040503050406030204" pitchFamily="18" charset="0"/>
                                    <a:cs typeface="Arial" panose="020B0604020202020204" pitchFamily="34" charset="0"/>
                                  </a:rPr>
                                  <m:t>𝑡</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𝑟</m:t>
                                        </m:r>
                                      </m:e>
                                      <m:sub>
                                        <m:r>
                                          <a:rPr lang="en-US" sz="2000" i="1">
                                            <a:latin typeface="Cambria Math" panose="02040503050406030204" pitchFamily="18" charset="0"/>
                                            <a:cs typeface="Arial" panose="020B0604020202020204" pitchFamily="34" charset="0"/>
                                          </a:rPr>
                                          <m:t>12</m:t>
                                        </m:r>
                                      </m:sub>
                                    </m:sSub>
                                  </m:num>
                                  <m:den>
                                    <m:r>
                                      <a:rPr lang="en-US" sz="2000" i="1">
                                        <a:latin typeface="Cambria Math" panose="02040503050406030204" pitchFamily="18" charset="0"/>
                                        <a:cs typeface="Arial" panose="020B0604020202020204" pitchFamily="34" charset="0"/>
                                      </a:rPr>
                                      <m:t>𝑐</m:t>
                                    </m:r>
                                  </m:den>
                                </m:f>
                              </m:e>
                            </m:d>
                          </m:num>
                          <m:den>
                            <m:r>
                              <a:rPr lang="en-US" sz="2000" i="1">
                                <a:latin typeface="Cambria Math" panose="02040503050406030204" pitchFamily="18" charset="0"/>
                                <a:cs typeface="Arial" panose="020B0604020202020204" pitchFamily="34" charset="0"/>
                              </a:rPr>
                              <m:t>4</m:t>
                            </m:r>
                            <m:r>
                              <a:rPr lang="en-US" sz="2000" i="1">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𝜖</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𝑟</m:t>
                                </m:r>
                              </m:e>
                              <m:sub>
                                <m:r>
                                  <a:rPr lang="en-US" sz="2000" i="1">
                                    <a:latin typeface="Cambria Math" panose="02040503050406030204" pitchFamily="18" charset="0"/>
                                    <a:ea typeface="Cambria Math" panose="02040503050406030204" pitchFamily="18" charset="0"/>
                                    <a:cs typeface="Arial" panose="020B0604020202020204" pitchFamily="34" charset="0"/>
                                  </a:rPr>
                                  <m:t>12</m:t>
                                </m:r>
                              </m:sub>
                            </m:sSub>
                          </m:den>
                        </m:f>
                      </m:e>
                    </m:nary>
                    <m:r>
                      <a:rPr lang="en-US" sz="2000" i="1">
                        <a:latin typeface="Cambria Math" panose="02040503050406030204" pitchFamily="18" charset="0"/>
                        <a:cs typeface="Arial" panose="020B0604020202020204" pitchFamily="34" charset="0"/>
                      </a:rPr>
                      <m:t> </m:t>
                    </m:r>
                    <m:r>
                      <a:rPr lang="en-US" sz="2000" i="1">
                        <a:latin typeface="Cambria Math" panose="02040503050406030204" pitchFamily="18" charset="0"/>
                        <a:cs typeface="Arial" panose="020B0604020202020204" pitchFamily="34" charset="0"/>
                      </a:rPr>
                      <m:t>𝑑</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𝑉</m:t>
                        </m:r>
                      </m:e>
                      <m:sub>
                        <m:r>
                          <a:rPr lang="en-US" sz="2000" i="1">
                            <a:latin typeface="Cambria Math" panose="02040503050406030204" pitchFamily="18" charset="0"/>
                            <a:cs typeface="Arial" panose="020B0604020202020204" pitchFamily="34" charset="0"/>
                          </a:rPr>
                          <m:t>2</m:t>
                        </m:r>
                      </m:sub>
                    </m:sSub>
                  </m:oMath>
                </a14:m>
                <a:endParaRPr lang="en-US" sz="2000" dirty="0">
                  <a:latin typeface="Calibri" panose="020F0502020204030204" pitchFamily="34" charset="0"/>
                  <a:cs typeface="Calibri" panose="020F0502020204030204" pitchFamily="34" charset="0"/>
                </a:endParaRPr>
              </a:p>
              <a:p>
                <a:pPr marL="800100" lvl="1" indent="-342900">
                  <a:lnSpc>
                    <a:spcPct val="100000"/>
                  </a:lnSpc>
                  <a:spcBef>
                    <a:spcPts val="0"/>
                  </a:spcBef>
                </a:pPr>
                <a14:m>
                  <m:oMath xmlns:m="http://schemas.openxmlformats.org/officeDocument/2006/math">
                    <m:r>
                      <a:rPr lang="en-US" sz="2000" i="1">
                        <a:latin typeface="Cambria Math" panose="02040503050406030204" pitchFamily="18" charset="0"/>
                        <a:cs typeface="Calibri" panose="020F0502020204030204" pitchFamily="34" charset="0"/>
                      </a:rPr>
                      <m:t>𝐸</m:t>
                    </m:r>
                    <m:r>
                      <a:rPr lang="en-US" sz="2000" i="1">
                        <a:latin typeface="Cambria Math" panose="02040503050406030204" pitchFamily="18" charset="0"/>
                        <a:cs typeface="Calibri" panose="020F0502020204030204" pitchFamily="34" charset="0"/>
                      </a:rPr>
                      <m:t>=−</m:t>
                    </m:r>
                    <m:r>
                      <m:rPr>
                        <m:sty m:val="p"/>
                      </m:rP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𝜙</m:t>
                    </m:r>
                    <m:r>
                      <a:rPr lang="en-US" sz="2000" i="1">
                        <a:latin typeface="Cambria Math" panose="02040503050406030204" pitchFamily="18" charset="0"/>
                        <a:ea typeface="Cambria Math" panose="02040503050406030204" pitchFamily="18" charset="0"/>
                        <a:cs typeface="Calibri" panose="020F0502020204030204" pitchFamily="34" charset="0"/>
                      </a:rPr>
                      <m:t>−</m:t>
                    </m:r>
                    <m:f>
                      <m:fPr>
                        <m:ctrlPr>
                          <a:rPr lang="en-US" sz="2000" i="1">
                            <a:latin typeface="Cambria Math" panose="02040503050406030204" pitchFamily="18" charset="0"/>
                            <a:ea typeface="Cambria Math" panose="02040503050406030204" pitchFamily="18" charset="0"/>
                            <a:cs typeface="Calibri" panose="020F0502020204030204" pitchFamily="34" charset="0"/>
                          </a:rPr>
                        </m:ctrlPr>
                      </m:fPr>
                      <m:num>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𝐴</m:t>
                        </m:r>
                      </m:num>
                      <m:den>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𝑡</m:t>
                        </m:r>
                      </m:den>
                    </m:f>
                  </m:oMath>
                </a14:m>
                <a:r>
                  <a:rPr lang="en-US" sz="2000" dirty="0">
                    <a:latin typeface="Calibri" panose="020F0502020204030204" pitchFamily="34" charset="0"/>
                    <a:cs typeface="Calibri" panose="020F0502020204030204" pitchFamily="34" charset="0"/>
                  </a:rPr>
                  <a:t>, </a:t>
                </a:r>
                <a14:m>
                  <m:oMath xmlns:m="http://schemas.openxmlformats.org/officeDocument/2006/math">
                    <m:r>
                      <a:rPr lang="en-US" sz="2000" i="1">
                        <a:latin typeface="Cambria Math" panose="02040503050406030204" pitchFamily="18" charset="0"/>
                        <a:cs typeface="Calibri" panose="020F0502020204030204" pitchFamily="34" charset="0"/>
                      </a:rPr>
                      <m:t>𝐵</m:t>
                    </m:r>
                    <m:r>
                      <a:rPr lang="en-US" sz="2000" i="1">
                        <a:latin typeface="Cambria Math" panose="02040503050406030204" pitchFamily="18" charset="0"/>
                        <a:cs typeface="Calibri" panose="020F0502020204030204" pitchFamily="34" charset="0"/>
                      </a:rPr>
                      <m:t>=</m:t>
                    </m:r>
                    <m:r>
                      <m:rPr>
                        <m:sty m:val="p"/>
                      </m:rP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𝐴</m:t>
                    </m:r>
                  </m:oMath>
                </a14:m>
                <a:endParaRPr lang="en-US" sz="2000" dirty="0">
                  <a:latin typeface="Calibri" panose="020F0502020204030204" pitchFamily="34" charset="0"/>
                  <a:ea typeface="Cambria Math" panose="02040503050406030204" pitchFamily="18" charset="0"/>
                  <a:cs typeface="Calibri" panose="020F0502020204030204" pitchFamily="34" charset="0"/>
                </a:endParaRPr>
              </a:p>
              <a:p>
                <a:pPr marL="800100" lvl="1" indent="-342900">
                  <a:lnSpc>
                    <a:spcPct val="100000"/>
                  </a:lnSpc>
                  <a:spcBef>
                    <a:spcPts val="0"/>
                  </a:spcBef>
                </a:pPr>
                <a:r>
                  <a:rPr lang="en-US" sz="2000" dirty="0">
                    <a:latin typeface="Calibri" panose="020F0502020204030204" pitchFamily="34" charset="0"/>
                    <a:cs typeface="Calibri" panose="020F0502020204030204" pitchFamily="34" charset="0"/>
                  </a:rPr>
                  <a:t>With gauge </a:t>
                </a:r>
                <a14:m>
                  <m:oMath xmlns:m="http://schemas.openxmlformats.org/officeDocument/2006/math">
                    <m:r>
                      <m:rPr>
                        <m:sty m:val="p"/>
                      </m:rP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𝐴</m:t>
                    </m:r>
                    <m:r>
                      <a:rPr lang="en-US" sz="2000" i="1">
                        <a:latin typeface="Cambria Math" panose="02040503050406030204" pitchFamily="18" charset="0"/>
                        <a:ea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Calibri" panose="020F0502020204030204" pitchFamily="34" charset="0"/>
                          </a:rPr>
                        </m:ctrlPr>
                      </m:fPr>
                      <m:num>
                        <m:r>
                          <a:rPr lang="en-US" sz="2000" i="1">
                            <a:latin typeface="Cambria Math" panose="02040503050406030204" pitchFamily="18" charset="0"/>
                            <a:cs typeface="Calibri" panose="020F0502020204030204" pitchFamily="34" charset="0"/>
                          </a:rPr>
                          <m:t>1</m:t>
                        </m:r>
                      </m:num>
                      <m:den>
                        <m:sSup>
                          <m:sSupPr>
                            <m:ctrlPr>
                              <a:rPr lang="en-US" sz="2000" i="1">
                                <a:latin typeface="Cambria Math" panose="02040503050406030204" pitchFamily="18" charset="0"/>
                                <a:cs typeface="Calibri" panose="020F0502020204030204" pitchFamily="34" charset="0"/>
                              </a:rPr>
                            </m:ctrlPr>
                          </m:sSupPr>
                          <m:e>
                            <m:r>
                              <a:rPr lang="en-US" sz="2000" i="1">
                                <a:latin typeface="Cambria Math" panose="02040503050406030204" pitchFamily="18" charset="0"/>
                                <a:cs typeface="Calibri" panose="020F0502020204030204" pitchFamily="34" charset="0"/>
                              </a:rPr>
                              <m:t>𝑐</m:t>
                            </m:r>
                          </m:e>
                          <m:sup>
                            <m:r>
                              <a:rPr lang="en-US" sz="2000" i="1">
                                <a:latin typeface="Cambria Math" panose="02040503050406030204" pitchFamily="18" charset="0"/>
                                <a:cs typeface="Calibri" panose="020F0502020204030204" pitchFamily="34" charset="0"/>
                              </a:rPr>
                              <m:t>2</m:t>
                            </m:r>
                          </m:sup>
                        </m:sSup>
                      </m:den>
                    </m:f>
                    <m:f>
                      <m:fPr>
                        <m:ctrlPr>
                          <a:rPr lang="en-US" sz="2000" i="1">
                            <a:latin typeface="Cambria Math" panose="02040503050406030204" pitchFamily="18" charset="0"/>
                            <a:ea typeface="Cambria Math" panose="02040503050406030204" pitchFamily="18" charset="0"/>
                            <a:cs typeface="Calibri" panose="020F0502020204030204" pitchFamily="34" charset="0"/>
                          </a:rPr>
                        </m:ctrlPr>
                      </m:fPr>
                      <m:num>
                        <m:r>
                          <a:rPr lang="en-US" sz="2000" i="1">
                            <a:latin typeface="Cambria Math" panose="02040503050406030204" pitchFamily="18" charset="0"/>
                            <a:ea typeface="Cambria Math" panose="02040503050406030204" pitchFamily="18" charset="0"/>
                            <a:cs typeface="Calibri" panose="020F0502020204030204" pitchFamily="34" charset="0"/>
                          </a:rPr>
                          <m:t>𝜕𝜙</m:t>
                        </m:r>
                      </m:num>
                      <m:den>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𝑡</m:t>
                        </m:r>
                      </m:den>
                    </m:f>
                  </m:oMath>
                </a14:m>
                <a:endParaRPr lang="en-US" sz="1800" dirty="0">
                  <a:latin typeface="Calibri" panose="020F0502020204030204" pitchFamily="34" charset="0"/>
                  <a:cs typeface="Calibri" panose="020F0502020204030204" pitchFamily="34" charset="0"/>
                </a:endParaRPr>
              </a:p>
              <a:p>
                <a:pPr marL="0" indent="0">
                  <a:lnSpc>
                    <a:spcPct val="120000"/>
                  </a:lnSpc>
                  <a:spcBef>
                    <a:spcPts val="400"/>
                  </a:spcBef>
                  <a:buNone/>
                </a:pPr>
                <a:endParaRPr lang="en-US" sz="1800" dirty="0">
                  <a:latin typeface="Calibri" panose="020F0502020204030204" pitchFamily="34" charset="0"/>
                  <a:cs typeface="Calibri" panose="020F050202020403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88601" y="1373251"/>
                <a:ext cx="10515599" cy="5040249"/>
              </a:xfrm>
              <a:blipFill>
                <a:blip r:embed="rId2"/>
                <a:stretch>
                  <a:fillRect l="-483"/>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7A91E16D-0EAD-4D3D-AC22-65013F654EE2}" type="slidenum">
              <a:rPr lang="en-US" altLang="en-US" smtClean="0"/>
              <a:pPr>
                <a:defRPr/>
              </a:pPr>
              <a:t>41</a:t>
            </a:fld>
            <a:endParaRPr lang="en-US" altLang="en-US"/>
          </a:p>
        </p:txBody>
      </p:sp>
    </p:spTree>
    <p:extLst>
      <p:ext uri="{BB962C8B-B14F-4D97-AF65-F5344CB8AC3E}">
        <p14:creationId xmlns:p14="http://schemas.microsoft.com/office/powerpoint/2010/main" val="29508961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40" y="124545"/>
            <a:ext cx="11719560" cy="982810"/>
          </a:xfrm>
        </p:spPr>
        <p:txBody>
          <a:bodyPr>
            <a:normAutofit/>
          </a:bodyPr>
          <a:lstStyle/>
          <a:p>
            <a:pPr algn="ctr"/>
            <a:r>
              <a:rPr lang="en-US" sz="4000" dirty="0">
                <a:latin typeface="Calibri" panose="020F0502020204030204" pitchFamily="34" charset="0"/>
                <a:cs typeface="Calibri" panose="020F0502020204030204" pitchFamily="34" charset="0"/>
              </a:rPr>
              <a:t>Feynman’s Treatment - 3</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606534"/>
                <a:ext cx="10727635" cy="4411498"/>
              </a:xfrm>
            </p:spPr>
            <p:txBody>
              <a:bodyPr>
                <a:normAutofit/>
              </a:bodyPr>
              <a:lstStyle/>
              <a:p>
                <a:pPr marL="342900" indent="-342900">
                  <a:lnSpc>
                    <a:spcPct val="100000"/>
                  </a:lnSpc>
                  <a:spcBef>
                    <a:spcPts val="0"/>
                  </a:spcBef>
                </a:pPr>
                <a:r>
                  <a:rPr lang="en-US" sz="2000" dirty="0">
                    <a:latin typeface="Calibri" panose="020F0502020204030204" pitchFamily="34" charset="0"/>
                    <a:cs typeface="Calibri" panose="020F0502020204030204" pitchFamily="34" charset="0"/>
                  </a:rPr>
                  <a:t>For small blob of charge moving with velocity v, </a:t>
                </a:r>
                <a14:m>
                  <m:oMath xmlns:m="http://schemas.openxmlformats.org/officeDocument/2006/math">
                    <m:r>
                      <a:rPr lang="en-US" sz="2000" b="0" i="1" smtClean="0">
                        <a:latin typeface="Cambria Math" panose="02040503050406030204" pitchFamily="18" charset="0"/>
                        <a:cs typeface="Calibri" panose="020F0502020204030204" pitchFamily="34" charset="0"/>
                      </a:rPr>
                      <m:t>𝑗</m:t>
                    </m:r>
                    <m:r>
                      <a:rPr lang="en-US" sz="2000" b="0" i="1" smtClean="0">
                        <a:latin typeface="Cambria Math" panose="02040503050406030204" pitchFamily="18" charset="0"/>
                        <a:cs typeface="Calibri" panose="020F0502020204030204" pitchFamily="34" charset="0"/>
                      </a:rPr>
                      <m:t>=</m:t>
                    </m:r>
                    <m:r>
                      <a:rPr lang="en-US" sz="2000" b="0" i="1" smtClean="0">
                        <a:latin typeface="Cambria Math" panose="02040503050406030204" pitchFamily="18" charset="0"/>
                        <a:cs typeface="Calibri" panose="020F0502020204030204" pitchFamily="34" charset="0"/>
                      </a:rPr>
                      <m:t>𝑣</m:t>
                    </m:r>
                    <m:r>
                      <a:rPr lang="en-US" sz="2000" b="0" i="1" smtClean="0">
                        <a:latin typeface="Cambria Math" panose="02040503050406030204" pitchFamily="18" charset="0"/>
                        <a:ea typeface="Cambria Math" panose="02040503050406030204" pitchFamily="18" charset="0"/>
                        <a:cs typeface="Calibri" panose="020F0502020204030204" pitchFamily="34" charset="0"/>
                      </a:rPr>
                      <m:t>𝜌</m:t>
                    </m:r>
                  </m:oMath>
                </a14:m>
                <a:r>
                  <a:rPr lang="en-US" sz="2000" b="0" i="1" dirty="0">
                    <a:latin typeface="Cambria Math" panose="02040503050406030204" pitchFamily="18" charset="0"/>
                    <a:ea typeface="Cambria Math" panose="02040503050406030204" pitchFamily="18" charset="0"/>
                    <a:cs typeface="Calibri" panose="020F0502020204030204" pitchFamily="34" charset="0"/>
                  </a:rPr>
                  <a:t>.</a:t>
                </a:r>
              </a:p>
              <a:p>
                <a:pPr marL="342900" indent="-342900">
                  <a:lnSpc>
                    <a:spcPct val="100000"/>
                  </a:lnSpc>
                  <a:spcBef>
                    <a:spcPts val="0"/>
                  </a:spcBef>
                </a:pPr>
                <a14:m>
                  <m:oMath xmlns:m="http://schemas.openxmlformats.org/officeDocument/2006/math">
                    <m:r>
                      <a:rPr lang="en-US" sz="2000" i="1">
                        <a:latin typeface="Cambria Math" panose="02040503050406030204" pitchFamily="18" charset="0"/>
                        <a:cs typeface="Arial" panose="020B0604020202020204" pitchFamily="34" charset="0"/>
                      </a:rPr>
                      <m:t>𝐴</m:t>
                    </m:r>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1,</m:t>
                        </m:r>
                        <m:r>
                          <a:rPr lang="en-US" sz="2000" i="1">
                            <a:latin typeface="Cambria Math" panose="02040503050406030204" pitchFamily="18" charset="0"/>
                            <a:cs typeface="Arial" panose="020B0604020202020204" pitchFamily="34" charset="0"/>
                          </a:rPr>
                          <m:t>𝑡</m:t>
                        </m:r>
                      </m:e>
                    </m:d>
                    <m:r>
                      <a:rPr lang="en-US" sz="2000" i="1">
                        <a:latin typeface="Cambria Math" panose="02040503050406030204" pitchFamily="18" charset="0"/>
                        <a:cs typeface="Arial" panose="020B0604020202020204" pitchFamily="34" charset="0"/>
                      </a:rPr>
                      <m:t>= </m:t>
                    </m:r>
                    <m:nary>
                      <m:naryPr>
                        <m:limLoc m:val="undOvr"/>
                        <m:subHide m:val="on"/>
                        <m:supHide m:val="on"/>
                        <m:ctrlPr>
                          <a:rPr lang="en-US" sz="2000" i="1">
                            <a:latin typeface="Cambria Math" panose="02040503050406030204" pitchFamily="18" charset="0"/>
                            <a:cs typeface="Arial" panose="020B0604020202020204" pitchFamily="34" charset="0"/>
                          </a:rPr>
                        </m:ctrlPr>
                      </m:naryPr>
                      <m:sub/>
                      <m:sup/>
                      <m:e>
                        <m:f>
                          <m:fPr>
                            <m:ctrlPr>
                              <a:rPr lang="en-US" sz="2000" i="1">
                                <a:latin typeface="Cambria Math" panose="02040503050406030204" pitchFamily="18" charset="0"/>
                                <a:cs typeface="Arial" panose="020B0604020202020204" pitchFamily="34" charset="0"/>
                              </a:rPr>
                            </m:ctrlPr>
                          </m:fPr>
                          <m:num>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𝑗</m:t>
                                </m:r>
                              </m:e>
                            </m:acc>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2, </m:t>
                                </m:r>
                                <m:r>
                                  <a:rPr lang="en-US" sz="2000" i="1">
                                    <a:latin typeface="Cambria Math" panose="02040503050406030204" pitchFamily="18" charset="0"/>
                                    <a:cs typeface="Arial" panose="020B0604020202020204" pitchFamily="34" charset="0"/>
                                  </a:rPr>
                                  <m:t>𝑡</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𝑟</m:t>
                                        </m:r>
                                      </m:e>
                                      <m:sub>
                                        <m:r>
                                          <a:rPr lang="en-US" sz="2000" i="1">
                                            <a:latin typeface="Cambria Math" panose="02040503050406030204" pitchFamily="18" charset="0"/>
                                            <a:cs typeface="Arial" panose="020B0604020202020204" pitchFamily="34" charset="0"/>
                                          </a:rPr>
                                          <m:t>12</m:t>
                                        </m:r>
                                      </m:sub>
                                    </m:sSub>
                                  </m:num>
                                  <m:den>
                                    <m:r>
                                      <a:rPr lang="en-US" sz="2000" i="1">
                                        <a:latin typeface="Cambria Math" panose="02040503050406030204" pitchFamily="18" charset="0"/>
                                        <a:cs typeface="Arial" panose="020B0604020202020204" pitchFamily="34" charset="0"/>
                                      </a:rPr>
                                      <m:t>𝑐</m:t>
                                    </m:r>
                                  </m:den>
                                </m:f>
                              </m:e>
                            </m:d>
                          </m:num>
                          <m:den>
                            <m:r>
                              <a:rPr lang="en-US" sz="2000" i="1">
                                <a:latin typeface="Cambria Math" panose="02040503050406030204" pitchFamily="18" charset="0"/>
                                <a:cs typeface="Arial" panose="020B0604020202020204" pitchFamily="34" charset="0"/>
                              </a:rPr>
                              <m:t>4</m:t>
                            </m:r>
                            <m:r>
                              <a:rPr lang="en-US" sz="2000" i="1">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𝜖</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𝑐</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𝑟</m:t>
                                </m:r>
                              </m:e>
                              <m:sub>
                                <m:r>
                                  <a:rPr lang="en-US" sz="2000" i="1">
                                    <a:latin typeface="Cambria Math" panose="02040503050406030204" pitchFamily="18" charset="0"/>
                                    <a:ea typeface="Cambria Math" panose="02040503050406030204" pitchFamily="18" charset="0"/>
                                    <a:cs typeface="Arial" panose="020B0604020202020204" pitchFamily="34" charset="0"/>
                                  </a:rPr>
                                  <m:t>12</m:t>
                                </m:r>
                              </m:sub>
                            </m:sSub>
                          </m:den>
                        </m:f>
                      </m:e>
                    </m:nary>
                    <m:r>
                      <a:rPr lang="en-US" sz="2000" i="1">
                        <a:latin typeface="Cambria Math" panose="02040503050406030204" pitchFamily="18" charset="0"/>
                        <a:cs typeface="Arial" panose="020B0604020202020204" pitchFamily="34" charset="0"/>
                      </a:rPr>
                      <m:t> </m:t>
                    </m:r>
                    <m:r>
                      <a:rPr lang="en-US" sz="2000" i="1">
                        <a:latin typeface="Cambria Math" panose="02040503050406030204" pitchFamily="18" charset="0"/>
                        <a:cs typeface="Arial" panose="020B0604020202020204" pitchFamily="34" charset="0"/>
                      </a:rPr>
                      <m:t>𝑑</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𝑉</m:t>
                        </m:r>
                      </m:e>
                      <m:sub>
                        <m:r>
                          <a:rPr lang="en-US" sz="2000" i="1">
                            <a:latin typeface="Cambria Math" panose="02040503050406030204" pitchFamily="18" charset="0"/>
                            <a:cs typeface="Arial" panose="020B0604020202020204" pitchFamily="34" charset="0"/>
                          </a:rPr>
                          <m:t>2</m:t>
                        </m:r>
                      </m:sub>
                    </m:sSub>
                    <m:r>
                      <a:rPr lang="en-US" sz="2000" b="0" i="0"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1</m:t>
                        </m:r>
                      </m:num>
                      <m:den>
                        <m:r>
                          <a:rPr lang="en-US" sz="2000" b="0" i="1" smtClean="0">
                            <a:latin typeface="Cambria Math" panose="02040503050406030204" pitchFamily="18" charset="0"/>
                            <a:cs typeface="Arial" panose="020B0604020202020204" pitchFamily="34" charset="0"/>
                          </a:rPr>
                          <m:t>𝑟</m:t>
                        </m:r>
                      </m:den>
                    </m:f>
                    <m:nary>
                      <m:naryPr>
                        <m:limLoc m:val="undOvr"/>
                        <m:subHide m:val="on"/>
                        <m:supHide m:val="on"/>
                        <m:ctrlPr>
                          <a:rPr lang="en-US" sz="2000" b="0" i="1" smtClean="0">
                            <a:latin typeface="Cambria Math" panose="02040503050406030204" pitchFamily="18" charset="0"/>
                            <a:cs typeface="Arial" panose="020B0604020202020204" pitchFamily="34" charset="0"/>
                          </a:rPr>
                        </m:ctrlPr>
                      </m:naryPr>
                      <m:sub/>
                      <m:sup/>
                      <m:e>
                        <m:r>
                          <a:rPr lang="en-US" sz="2000" b="0" i="1" smtClean="0">
                            <a:latin typeface="Cambria Math" panose="02040503050406030204" pitchFamily="18" charset="0"/>
                            <a:cs typeface="Arial" panose="020B0604020202020204" pitchFamily="34" charset="0"/>
                          </a:rPr>
                          <m:t>𝑣</m:t>
                        </m:r>
                        <m:r>
                          <a:rPr lang="en-US" sz="2000" b="0" i="1" smtClean="0">
                            <a:latin typeface="Cambria Math" panose="02040503050406030204" pitchFamily="18" charset="0"/>
                            <a:ea typeface="Cambria Math" panose="02040503050406030204" pitchFamily="18" charset="0"/>
                            <a:cs typeface="Arial" panose="020B0604020202020204" pitchFamily="34" charset="0"/>
                          </a:rPr>
                          <m:t>𝜌</m:t>
                        </m:r>
                        <m:r>
                          <a:rPr lang="en-US" sz="2000" b="0" i="1" smtClean="0">
                            <a:latin typeface="Cambria Math" panose="02040503050406030204" pitchFamily="18" charset="0"/>
                            <a:ea typeface="Cambria Math" panose="02040503050406030204" pitchFamily="18" charset="0"/>
                            <a:cs typeface="Arial" panose="020B0604020202020204" pitchFamily="34" charset="0"/>
                          </a:rPr>
                          <m:t>𝑑</m:t>
                        </m:r>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𝑉</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𝑞𝑣</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den>
                        </m:f>
                      </m:e>
                    </m:nary>
                  </m:oMath>
                </a14:m>
                <a:endParaRPr lang="en-US" sz="2000" dirty="0">
                  <a:latin typeface="Calibri" panose="020F0502020204030204" pitchFamily="34" charset="0"/>
                  <a:cs typeface="Calibri" panose="020F0502020204030204" pitchFamily="34" charset="0"/>
                </a:endParaRPr>
              </a:p>
              <a:p>
                <a:pPr marL="342900" indent="-342900">
                  <a:lnSpc>
                    <a:spcPct val="100000"/>
                  </a:lnSpc>
                  <a:spcBef>
                    <a:spcPts val="0"/>
                  </a:spcBef>
                </a:pPr>
                <a:r>
                  <a:rPr lang="en-US" sz="2000" dirty="0">
                    <a:latin typeface="Calibri" panose="020F0502020204030204" pitchFamily="34" charset="0"/>
                    <a:cs typeface="Calibri" panose="020F0502020204030204" pitchFamily="34" charset="0"/>
                  </a:rPr>
                  <a:t>So, for a dipole with </a:t>
                </a:r>
                <a14:m>
                  <m:oMath xmlns:m="http://schemas.openxmlformats.org/officeDocument/2006/math">
                    <m:acc>
                      <m:accPr>
                        <m:chr m:val="⃗"/>
                        <m:ctrlPr>
                          <a:rPr lang="en-US" sz="2000" b="0" i="1" smtClean="0">
                            <a:latin typeface="Cambria Math" panose="02040503050406030204" pitchFamily="18" charset="0"/>
                            <a:cs typeface="Calibri" panose="020F0502020204030204" pitchFamily="34" charset="0"/>
                          </a:rPr>
                        </m:ctrlPr>
                      </m:accPr>
                      <m:e>
                        <m:r>
                          <a:rPr lang="en-US" sz="2000" b="0" i="1" smtClean="0">
                            <a:latin typeface="Cambria Math" panose="02040503050406030204" pitchFamily="18" charset="0"/>
                            <a:cs typeface="Calibri" panose="020F0502020204030204" pitchFamily="34" charset="0"/>
                          </a:rPr>
                          <m:t>𝑝</m:t>
                        </m:r>
                      </m:e>
                    </m:acc>
                    <m:d>
                      <m:dPr>
                        <m:ctrlPr>
                          <a:rPr lang="en-US" sz="2000" b="0" i="1" smtClean="0">
                            <a:latin typeface="Cambria Math" panose="02040503050406030204" pitchFamily="18" charset="0"/>
                            <a:cs typeface="Calibri" panose="020F0502020204030204" pitchFamily="34" charset="0"/>
                          </a:rPr>
                        </m:ctrlPr>
                      </m:dPr>
                      <m:e>
                        <m:r>
                          <a:rPr lang="en-US" sz="2000" b="0" i="1" smtClean="0">
                            <a:latin typeface="Cambria Math" panose="02040503050406030204" pitchFamily="18" charset="0"/>
                            <a:cs typeface="Calibri" panose="020F0502020204030204" pitchFamily="34" charset="0"/>
                          </a:rPr>
                          <m:t>𝑟</m:t>
                        </m:r>
                        <m:r>
                          <a:rPr lang="en-US" sz="2000" b="0" i="1" smtClean="0">
                            <a:latin typeface="Cambria Math" panose="02040503050406030204" pitchFamily="18" charset="0"/>
                            <a:cs typeface="Calibri" panose="020F0502020204030204" pitchFamily="34" charset="0"/>
                          </a:rPr>
                          <m:t>,</m:t>
                        </m:r>
                        <m:r>
                          <a:rPr lang="en-US" sz="2000" b="0" i="1" smtClean="0">
                            <a:latin typeface="Cambria Math" panose="02040503050406030204" pitchFamily="18" charset="0"/>
                            <a:cs typeface="Calibri" panose="020F0502020204030204" pitchFamily="34" charset="0"/>
                          </a:rPr>
                          <m:t>𝑡</m:t>
                        </m:r>
                      </m:e>
                    </m:d>
                    <m:r>
                      <a:rPr lang="en-US" sz="2000" b="0" i="1" smtClean="0">
                        <a:latin typeface="Cambria Math" panose="02040503050406030204" pitchFamily="18" charset="0"/>
                        <a:cs typeface="Calibri" panose="020F0502020204030204" pitchFamily="34" charset="0"/>
                      </a:rPr>
                      <m:t>=</m:t>
                    </m:r>
                    <m:r>
                      <a:rPr lang="en-US" sz="2000" b="0" i="1" smtClean="0">
                        <a:latin typeface="Cambria Math" panose="02040503050406030204" pitchFamily="18" charset="0"/>
                        <a:cs typeface="Calibri" panose="020F0502020204030204" pitchFamily="34" charset="0"/>
                      </a:rPr>
                      <m:t>𝑞𝑑</m:t>
                    </m:r>
                    <m:acc>
                      <m:accPr>
                        <m:chr m:val="⃗"/>
                        <m:ctrlPr>
                          <a:rPr lang="en-US" sz="2000" b="0" i="1" smtClean="0">
                            <a:latin typeface="Cambria Math" panose="02040503050406030204" pitchFamily="18" charset="0"/>
                            <a:cs typeface="Calibri" panose="020F0502020204030204" pitchFamily="34" charset="0"/>
                          </a:rPr>
                        </m:ctrlPr>
                      </m:accPr>
                      <m:e>
                        <m:r>
                          <a:rPr lang="en-US" sz="2000" b="0" i="1" smtClean="0">
                            <a:latin typeface="Cambria Math" panose="02040503050406030204" pitchFamily="18" charset="0"/>
                            <a:cs typeface="Calibri" panose="020F0502020204030204" pitchFamily="34" charset="0"/>
                          </a:rPr>
                          <m:t>𝑘</m:t>
                        </m:r>
                      </m:e>
                    </m:acc>
                    <m:r>
                      <a:rPr lang="en-US" sz="2000" b="0" i="0" smtClean="0">
                        <a:latin typeface="Cambria Math" panose="02040503050406030204" pitchFamily="18" charset="0"/>
                        <a:cs typeface="Calibri" panose="020F0502020204030204" pitchFamily="34" charset="0"/>
                      </a:rPr>
                      <m:t>,  </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𝑞𝑣</m:t>
                        </m:r>
                      </m:num>
                      <m:den>
                        <m:r>
                          <a:rPr lang="en-US" sz="2000" i="1">
                            <a:latin typeface="Cambria Math" panose="02040503050406030204" pitchFamily="18" charset="0"/>
                            <a:ea typeface="Cambria Math" panose="02040503050406030204" pitchFamily="18" charset="0"/>
                            <a:cs typeface="Arial" panose="020B0604020202020204" pitchFamily="34" charset="0"/>
                          </a:rPr>
                          <m:t>𝑟</m:t>
                        </m:r>
                      </m:den>
                    </m:f>
                    <m:r>
                      <a:rPr lang="en-US" sz="2000" b="0" i="1" smtClean="0">
                        <a:latin typeface="Cambria Math" panose="02040503050406030204" pitchFamily="18" charset="0"/>
                        <a:ea typeface="Cambria Math" panose="02040503050406030204" pitchFamily="18" charset="0"/>
                        <a:cs typeface="Arial" panose="020B0604020202020204" pitchFamily="34" charset="0"/>
                      </a:rPr>
                      <m:t>= </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ea typeface="Cambria Math" panose="02040503050406030204" pitchFamily="18" charset="0"/>
                                <a:cs typeface="Arial" panose="020B0604020202020204" pitchFamily="34" charset="0"/>
                              </a:rPr>
                              <m:t>𝑝</m:t>
                            </m:r>
                          </m:e>
                        </m:acc>
                      </m:num>
                      <m:den>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𝑡</m:t>
                        </m:r>
                      </m:den>
                    </m:f>
                  </m:oMath>
                </a14:m>
                <a:r>
                  <a:rPr lang="en-US" sz="2000" dirty="0">
                    <a:latin typeface="Calibri" panose="020F0502020204030204" pitchFamily="34" charset="0"/>
                    <a:cs typeface="Calibri" panose="020F0502020204030204" pitchFamily="34" charset="0"/>
                  </a:rPr>
                  <a:t> </a:t>
                </a:r>
              </a:p>
              <a:p>
                <a:pPr marL="342900" indent="-342900">
                  <a:lnSpc>
                    <a:spcPct val="100000"/>
                  </a:lnSpc>
                  <a:spcBef>
                    <a:spcPts val="0"/>
                  </a:spcBef>
                </a:pPr>
                <a14:m>
                  <m:oMath xmlns:m="http://schemas.openxmlformats.org/officeDocument/2006/math">
                    <m:r>
                      <a:rPr lang="en-US" sz="2000" i="1">
                        <a:latin typeface="Cambria Math" panose="02040503050406030204" pitchFamily="18" charset="0"/>
                        <a:cs typeface="Arial" panose="020B0604020202020204" pitchFamily="34" charset="0"/>
                      </a:rPr>
                      <m:t>𝐴</m:t>
                    </m:r>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1,</m:t>
                        </m:r>
                        <m:r>
                          <a:rPr lang="en-US" sz="2000" i="1">
                            <a:latin typeface="Cambria Math" panose="02040503050406030204" pitchFamily="18" charset="0"/>
                            <a:cs typeface="Arial" panose="020B0604020202020204" pitchFamily="34" charset="0"/>
                          </a:rPr>
                          <m:t>𝑡</m:t>
                        </m:r>
                      </m:e>
                    </m:d>
                    <m:r>
                      <a:rPr lang="en-US" sz="2000" i="1">
                        <a:latin typeface="Cambria Math" panose="02040503050406030204" pitchFamily="18" charset="0"/>
                        <a:cs typeface="Arial" panose="020B0604020202020204" pitchFamily="34" charset="0"/>
                      </a:rPr>
                      <m:t>=</m:t>
                    </m:r>
                    <m:f>
                      <m:fPr>
                        <m:ctrlPr>
                          <a:rPr lang="en-US" sz="2000" i="1" smtClean="0">
                            <a:latin typeface="Cambria Math" panose="02040503050406030204" pitchFamily="18" charset="0"/>
                            <a:cs typeface="Arial" panose="020B0604020202020204" pitchFamily="34" charset="0"/>
                          </a:rPr>
                        </m:ctrlPr>
                      </m:fPr>
                      <m:num>
                        <m:acc>
                          <m:accPr>
                            <m:chr m:val="̇"/>
                            <m:ctrlPr>
                              <a:rPr lang="en-US" sz="2000" b="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𝑝</m:t>
                            </m:r>
                          </m:e>
                        </m:acc>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𝑡</m:t>
                        </m:r>
                        <m:r>
                          <a:rPr lang="en-US" sz="2000" b="0" i="1" smtClean="0">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Calibri" panose="020F0502020204030204" pitchFamily="34" charset="0"/>
                              </a:rPr>
                            </m:ctrlPr>
                          </m:fPr>
                          <m:num>
                            <m:r>
                              <a:rPr lang="en-US" sz="2000" i="1">
                                <a:latin typeface="Cambria Math" panose="02040503050406030204" pitchFamily="18" charset="0"/>
                                <a:cs typeface="Calibri" panose="020F0502020204030204" pitchFamily="34" charset="0"/>
                              </a:rPr>
                              <m:t>𝑟</m:t>
                            </m:r>
                          </m:num>
                          <m:den>
                            <m:r>
                              <a:rPr lang="en-US" sz="2000" i="1">
                                <a:latin typeface="Cambria Math" panose="02040503050406030204" pitchFamily="18" charset="0"/>
                                <a:cs typeface="Calibri" panose="020F0502020204030204" pitchFamily="34" charset="0"/>
                              </a:rPr>
                              <m:t>𝑐</m:t>
                            </m:r>
                          </m:den>
                        </m:f>
                        <m:r>
                          <a:rPr lang="en-US" sz="2000" b="0" i="1" smtClean="0">
                            <a:latin typeface="Cambria Math" panose="02040503050406030204" pitchFamily="18" charset="0"/>
                            <a:cs typeface="Calibri" panose="020F0502020204030204" pitchFamily="34" charset="0"/>
                          </a:rPr>
                          <m:t>)</m:t>
                        </m:r>
                      </m:num>
                      <m:den>
                        <m:r>
                          <a:rPr lang="en-US" sz="2000" i="1">
                            <a:latin typeface="Cambria Math" panose="02040503050406030204" pitchFamily="18" charset="0"/>
                            <a:cs typeface="Arial" panose="020B0604020202020204" pitchFamily="34" charset="0"/>
                          </a:rPr>
                          <m:t>4</m:t>
                        </m:r>
                        <m:r>
                          <a:rPr lang="en-US" sz="2000" i="1">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𝜖</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𝑐</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den>
                    </m:f>
                    <m:r>
                      <a:rPr lang="en-US" sz="2000" b="0" i="1" smtClean="0">
                        <a:latin typeface="Cambria Math" panose="02040503050406030204" pitchFamily="18" charset="0"/>
                        <a:ea typeface="Cambria Math" panose="02040503050406030204" pitchFamily="18" charset="0"/>
                        <a:cs typeface="Arial" panose="020B0604020202020204" pitchFamily="34" charset="0"/>
                      </a:rPr>
                      <m:t>, </m:t>
                    </m:r>
                    <m:r>
                      <a:rPr lang="en-US" sz="2000" b="0" i="1" smtClean="0">
                        <a:latin typeface="Cambria Math" panose="02040503050406030204" pitchFamily="18" charset="0"/>
                        <a:cs typeface="Calibri" panose="020F0502020204030204" pitchFamily="34" charset="0"/>
                      </a:rPr>
                      <m:t>𝐵</m:t>
                    </m:r>
                    <m:r>
                      <a:rPr lang="en-US" sz="2000" b="0" i="1" smtClean="0">
                        <a:latin typeface="Cambria Math" panose="02040503050406030204" pitchFamily="18" charset="0"/>
                        <a:cs typeface="Calibri" panose="020F0502020204030204" pitchFamily="34" charset="0"/>
                      </a:rPr>
                      <m:t>=</m:t>
                    </m:r>
                    <m:r>
                      <m:rPr>
                        <m:sty m:val="p"/>
                      </m:rPr>
                      <a:rPr lang="en-US" sz="2000" b="0" i="1" smtClean="0">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𝐴</m:t>
                    </m:r>
                  </m:oMath>
                </a14:m>
                <a:r>
                  <a:rPr lang="en-US" sz="2000" dirty="0">
                    <a:latin typeface="Calibri" panose="020F0502020204030204" pitchFamily="34" charset="0"/>
                    <a:cs typeface="Calibri" panose="020F0502020204030204" pitchFamily="34" charset="0"/>
                  </a:rPr>
                  <a:t> and </a:t>
                </a:r>
                <a14:m>
                  <m:oMath xmlns:m="http://schemas.openxmlformats.org/officeDocument/2006/math">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𝐵</m:t>
                        </m:r>
                      </m:e>
                      <m:sub>
                        <m:r>
                          <a:rPr lang="en-US" sz="2000" b="0" i="1" smtClean="0">
                            <a:latin typeface="Cambria Math" panose="02040503050406030204" pitchFamily="18" charset="0"/>
                            <a:cs typeface="Calibri" panose="020F0502020204030204" pitchFamily="34" charset="0"/>
                          </a:rPr>
                          <m:t>𝑧</m:t>
                        </m:r>
                      </m:sub>
                    </m:sSub>
                    <m:r>
                      <a:rPr lang="en-US" sz="2000" b="0" i="1" smtClean="0">
                        <a:latin typeface="Cambria Math" panose="02040503050406030204" pitchFamily="18" charset="0"/>
                        <a:cs typeface="Calibri" panose="020F0502020204030204" pitchFamily="34" charset="0"/>
                      </a:rPr>
                      <m:t>=0</m:t>
                    </m:r>
                  </m:oMath>
                </a14:m>
                <a:r>
                  <a:rPr lang="en-US" sz="2000" dirty="0">
                    <a:latin typeface="Calibri" panose="020F0502020204030204" pitchFamily="34" charset="0"/>
                    <a:cs typeface="Calibri" panose="020F0502020204030204" pitchFamily="34" charset="0"/>
                  </a:rPr>
                  <a:t>. </a:t>
                </a:r>
                <a14:m>
                  <m:oMath xmlns:m="http://schemas.openxmlformats.org/officeDocument/2006/math">
                    <m:r>
                      <a:rPr lang="en-US" sz="2000" b="0" i="1" smtClean="0">
                        <a:latin typeface="Cambria Math" panose="02040503050406030204" pitchFamily="18" charset="0"/>
                        <a:cs typeface="Calibri" panose="020F0502020204030204" pitchFamily="34" charset="0"/>
                      </a:rPr>
                      <m:t>𝐴</m:t>
                    </m:r>
                  </m:oMath>
                </a14:m>
                <a:r>
                  <a:rPr lang="en-US" sz="2000" dirty="0">
                    <a:latin typeface="Calibri" panose="020F0502020204030204" pitchFamily="34" charset="0"/>
                    <a:cs typeface="Calibri" panose="020F0502020204030204" pitchFamily="34" charset="0"/>
                  </a:rPr>
                  <a:t> is due to dipole current. If the dipole charges oscillate </a:t>
                </a:r>
                <a14:m>
                  <m:oMath xmlns:m="http://schemas.openxmlformats.org/officeDocument/2006/math">
                    <m:r>
                      <a:rPr lang="en-US" sz="2000" b="0" i="1" smtClean="0">
                        <a:latin typeface="Cambria Math" panose="02040503050406030204" pitchFamily="18" charset="0"/>
                        <a:cs typeface="Calibri" panose="020F0502020204030204" pitchFamily="34" charset="0"/>
                      </a:rPr>
                      <m:t>𝑝</m:t>
                    </m:r>
                    <m:d>
                      <m:dPr>
                        <m:ctrlPr>
                          <a:rPr lang="en-US" sz="2000" i="1">
                            <a:latin typeface="Cambria Math" panose="02040503050406030204" pitchFamily="18" charset="0"/>
                            <a:cs typeface="Calibri" panose="020F0502020204030204" pitchFamily="34" charset="0"/>
                          </a:rPr>
                        </m:ctrlPr>
                      </m:dPr>
                      <m:e>
                        <m:r>
                          <a:rPr lang="en-US" sz="2000" i="1">
                            <a:latin typeface="Cambria Math" panose="02040503050406030204" pitchFamily="18" charset="0"/>
                            <a:cs typeface="Calibri" panose="020F0502020204030204" pitchFamily="34" charset="0"/>
                          </a:rPr>
                          <m:t>𝑡</m:t>
                        </m:r>
                      </m:e>
                    </m:d>
                    <m:r>
                      <a:rPr lang="en-US" sz="2000" i="1">
                        <a:latin typeface="Cambria Math" panose="02040503050406030204" pitchFamily="18" charset="0"/>
                        <a:cs typeface="Calibri" panose="020F0502020204030204" pitchFamily="34" charset="0"/>
                      </a:rPr>
                      <m:t>=</m:t>
                    </m:r>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𝑝</m:t>
                        </m:r>
                      </m:e>
                      <m:sub>
                        <m:r>
                          <a:rPr lang="en-US" sz="2000" i="1">
                            <a:latin typeface="Cambria Math" panose="02040503050406030204" pitchFamily="18" charset="0"/>
                            <a:cs typeface="Calibri" panose="020F0502020204030204" pitchFamily="34" charset="0"/>
                          </a:rPr>
                          <m:t>0</m:t>
                        </m:r>
                      </m:sub>
                    </m:sSub>
                    <m:func>
                      <m:funcPr>
                        <m:ctrlPr>
                          <a:rPr lang="en-US" sz="2000">
                            <a:latin typeface="Cambria Math" panose="02040503050406030204" pitchFamily="18" charset="0"/>
                            <a:cs typeface="Calibri" panose="020F0502020204030204" pitchFamily="34" charset="0"/>
                          </a:rPr>
                        </m:ctrlPr>
                      </m:funcPr>
                      <m:fName>
                        <m:r>
                          <m:rPr>
                            <m:sty m:val="p"/>
                          </m:rPr>
                          <a:rPr lang="en-US" sz="2000">
                            <a:latin typeface="Cambria Math" panose="02040503050406030204" pitchFamily="18" charset="0"/>
                            <a:cs typeface="Calibri" panose="020F0502020204030204" pitchFamily="34" charset="0"/>
                          </a:rPr>
                          <m:t>sin</m:t>
                        </m:r>
                      </m:fName>
                      <m:e>
                        <m:d>
                          <m:dPr>
                            <m:ctrlPr>
                              <a:rPr lang="en-US" sz="2000" i="1">
                                <a:latin typeface="Cambria Math" panose="02040503050406030204" pitchFamily="18" charset="0"/>
                                <a:ea typeface="Cambria Math" panose="02040503050406030204" pitchFamily="18" charset="0"/>
                                <a:cs typeface="Calibri" panose="020F0502020204030204" pitchFamily="34" charset="0"/>
                              </a:rPr>
                            </m:ctrlPr>
                          </m:dPr>
                          <m:e>
                            <m:r>
                              <a:rPr lang="en-US" sz="2000" i="1">
                                <a:latin typeface="Cambria Math" panose="02040503050406030204" pitchFamily="18" charset="0"/>
                                <a:ea typeface="Cambria Math" panose="02040503050406030204" pitchFamily="18" charset="0"/>
                                <a:cs typeface="Calibri" panose="020F0502020204030204" pitchFamily="34" charset="0"/>
                              </a:rPr>
                              <m:t>𝜔</m:t>
                            </m:r>
                            <m:r>
                              <a:rPr lang="en-US" sz="2000" i="1">
                                <a:latin typeface="Cambria Math" panose="02040503050406030204" pitchFamily="18" charset="0"/>
                                <a:ea typeface="Cambria Math" panose="02040503050406030204" pitchFamily="18" charset="0"/>
                                <a:cs typeface="Calibri" panose="020F0502020204030204" pitchFamily="34" charset="0"/>
                              </a:rPr>
                              <m:t>𝑡</m:t>
                            </m:r>
                          </m:e>
                        </m:d>
                      </m:e>
                    </m:func>
                  </m:oMath>
                </a14:m>
                <a:r>
                  <a:rPr lang="en-US" sz="2000" dirty="0">
                    <a:latin typeface="Calibri" panose="020F0502020204030204" pitchFamily="34" charset="0"/>
                    <a:cs typeface="Calibri" panose="020F0502020204030204" pitchFamily="34" charset="0"/>
                  </a:rPr>
                  <a:t>, </a:t>
                </a:r>
                <a14:m>
                  <m:oMath xmlns:m="http://schemas.openxmlformats.org/officeDocument/2006/math">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𝐴</m:t>
                        </m:r>
                      </m:e>
                      <m:sub>
                        <m:r>
                          <a:rPr lang="en-US" sz="2000" b="0" i="1" smtClean="0">
                            <a:latin typeface="Cambria Math" panose="02040503050406030204" pitchFamily="18" charset="0"/>
                            <a:cs typeface="Calibri" panose="020F0502020204030204" pitchFamily="34" charset="0"/>
                          </a:rPr>
                          <m:t>𝑧</m:t>
                        </m:r>
                      </m:sub>
                    </m:sSub>
                    <m:d>
                      <m:dPr>
                        <m:ctrlPr>
                          <a:rPr lang="en-US" sz="2000" b="0" i="1" smtClean="0">
                            <a:latin typeface="Cambria Math" panose="02040503050406030204" pitchFamily="18" charset="0"/>
                            <a:cs typeface="Calibri" panose="020F0502020204030204" pitchFamily="34" charset="0"/>
                          </a:rPr>
                        </m:ctrlPr>
                      </m:dPr>
                      <m:e>
                        <m:r>
                          <a:rPr lang="en-US" sz="2000" b="0" i="1" smtClean="0">
                            <a:latin typeface="Cambria Math" panose="02040503050406030204" pitchFamily="18" charset="0"/>
                            <a:cs typeface="Calibri" panose="020F0502020204030204" pitchFamily="34" charset="0"/>
                          </a:rPr>
                          <m:t>1, </m:t>
                        </m:r>
                        <m:r>
                          <a:rPr lang="en-US" sz="2000" b="0" i="1" smtClean="0">
                            <a:latin typeface="Cambria Math" panose="02040503050406030204" pitchFamily="18" charset="0"/>
                            <a:cs typeface="Calibri" panose="020F0502020204030204" pitchFamily="34" charset="0"/>
                          </a:rPr>
                          <m:t>𝑡</m:t>
                        </m:r>
                      </m:e>
                    </m:d>
                    <m:r>
                      <a:rPr lang="en-US" sz="2000" b="0" i="1" smtClean="0">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1</m:t>
                        </m:r>
                      </m:num>
                      <m:den>
                        <m:r>
                          <a:rPr lang="en-US" sz="2000" i="1">
                            <a:latin typeface="Cambria Math" panose="02040503050406030204" pitchFamily="18" charset="0"/>
                            <a:cs typeface="Arial" panose="020B0604020202020204" pitchFamily="34" charset="0"/>
                          </a:rPr>
                          <m:t>4</m:t>
                        </m:r>
                        <m:r>
                          <a:rPr lang="en-US" sz="2000" i="1">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𝜖</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𝑐</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den>
                    </m:f>
                    <m:r>
                      <a:rPr lang="en-US" sz="2000" b="0" i="1" smtClean="0">
                        <a:latin typeface="Cambria Math" panose="02040503050406030204" pitchFamily="18" charset="0"/>
                        <a:ea typeface="Cambria Math" panose="02040503050406030204" pitchFamily="18" charset="0"/>
                        <a:cs typeface="Arial" panose="020B0604020202020204" pitchFamily="34" charset="0"/>
                      </a:rPr>
                      <m:t> </m:t>
                    </m:r>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𝑝</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0</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𝜔</m:t>
                    </m:r>
                    <m:r>
                      <m:rPr>
                        <m:sty m:val="p"/>
                      </m:rPr>
                      <a:rPr lang="en-US" sz="2000" b="0" i="0" smtClean="0">
                        <a:latin typeface="Cambria Math" panose="02040503050406030204" pitchFamily="18" charset="0"/>
                        <a:ea typeface="Cambria Math" panose="02040503050406030204" pitchFamily="18" charset="0"/>
                        <a:cs typeface="Arial" panose="020B0604020202020204" pitchFamily="34" charset="0"/>
                      </a:rPr>
                      <m:t>cos</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𝜔</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𝑡</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Calibri" panose="020F0502020204030204" pitchFamily="34" charset="0"/>
                          </a:rPr>
                        </m:ctrlPr>
                      </m:fPr>
                      <m:num>
                        <m:r>
                          <a:rPr lang="en-US" sz="2000" i="1">
                            <a:latin typeface="Cambria Math" panose="02040503050406030204" pitchFamily="18" charset="0"/>
                            <a:cs typeface="Calibri" panose="020F0502020204030204" pitchFamily="34" charset="0"/>
                          </a:rPr>
                          <m:t>𝑟</m:t>
                        </m:r>
                      </m:num>
                      <m:den>
                        <m:r>
                          <a:rPr lang="en-US" sz="2000" i="1">
                            <a:latin typeface="Cambria Math" panose="02040503050406030204" pitchFamily="18" charset="0"/>
                            <a:cs typeface="Calibri" panose="020F0502020204030204" pitchFamily="34" charset="0"/>
                          </a:rPr>
                          <m:t>𝑐</m:t>
                        </m:r>
                      </m:den>
                    </m:f>
                    <m:r>
                      <a:rPr lang="en-US" sz="2000" b="0" i="1" smtClean="0">
                        <a:latin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oMath>
                </a14:m>
                <a:endParaRPr lang="en-US" sz="2000" dirty="0">
                  <a:latin typeface="Calibri" panose="020F0502020204030204" pitchFamily="34" charset="0"/>
                  <a:cs typeface="Calibri" panose="020F0502020204030204" pitchFamily="34" charset="0"/>
                </a:endParaRPr>
              </a:p>
              <a:p>
                <a:pPr marL="342900" indent="-342900">
                  <a:lnSpc>
                    <a:spcPct val="100000"/>
                  </a:lnSpc>
                  <a:spcBef>
                    <a:spcPts val="0"/>
                  </a:spcBef>
                </a:pPr>
                <a14:m>
                  <m:oMath xmlns:m="http://schemas.openxmlformats.org/officeDocument/2006/math">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𝐵</m:t>
                        </m:r>
                      </m:e>
                      <m:sub>
                        <m:r>
                          <a:rPr lang="en-US" sz="2000" b="0" i="1" smtClean="0">
                            <a:latin typeface="Cambria Math" panose="02040503050406030204" pitchFamily="18" charset="0"/>
                            <a:cs typeface="Calibri" panose="020F0502020204030204" pitchFamily="34" charset="0"/>
                          </a:rPr>
                          <m:t>𝑥</m:t>
                        </m:r>
                      </m:sub>
                    </m:sSub>
                    <m:r>
                      <a:rPr lang="en-US" sz="2000" b="0" i="1" smtClean="0">
                        <a:latin typeface="Cambria Math" panose="02040503050406030204" pitchFamily="18" charset="0"/>
                        <a:cs typeface="Calibri" panose="020F0502020204030204" pitchFamily="34" charset="0"/>
                      </a:rPr>
                      <m:t>=</m:t>
                    </m:r>
                    <m:f>
                      <m:fPr>
                        <m:ctrlPr>
                          <a:rPr lang="en-US" sz="2000" b="0" i="1" smtClean="0">
                            <a:latin typeface="Cambria Math" panose="02040503050406030204" pitchFamily="18" charset="0"/>
                            <a:ea typeface="Cambria Math" panose="02040503050406030204" pitchFamily="18" charset="0"/>
                            <a:cs typeface="Calibri" panose="020F0502020204030204" pitchFamily="34" charset="0"/>
                          </a:rPr>
                        </m:ctrlPr>
                      </m:fPr>
                      <m:num>
                        <m:r>
                          <a:rPr lang="en-US" sz="2000" b="0" i="1" smtClean="0">
                            <a:latin typeface="Cambria Math" panose="02040503050406030204" pitchFamily="18" charset="0"/>
                            <a:ea typeface="Cambria Math" panose="02040503050406030204" pitchFamily="18" charset="0"/>
                            <a:cs typeface="Calibri" panose="020F0502020204030204" pitchFamily="34" charset="0"/>
                          </a:rPr>
                          <m:t>𝜕</m:t>
                        </m:r>
                        <m:sSub>
                          <m:sSubPr>
                            <m:ctrlPr>
                              <a:rPr lang="en-US" sz="2000" b="0" i="1" smtClean="0">
                                <a:latin typeface="Cambria Math" panose="02040503050406030204" pitchFamily="18" charset="0"/>
                                <a:ea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ea typeface="Cambria Math" panose="02040503050406030204" pitchFamily="18" charset="0"/>
                                <a:cs typeface="Calibri" panose="020F0502020204030204" pitchFamily="34" charset="0"/>
                              </a:rPr>
                              <m:t>𝐴</m:t>
                            </m:r>
                          </m:e>
                          <m:sub>
                            <m:r>
                              <a:rPr lang="en-US" sz="2000" b="0" i="1" smtClean="0">
                                <a:latin typeface="Cambria Math" panose="02040503050406030204" pitchFamily="18" charset="0"/>
                                <a:ea typeface="Cambria Math" panose="02040503050406030204" pitchFamily="18" charset="0"/>
                                <a:cs typeface="Calibri" panose="020F0502020204030204" pitchFamily="34" charset="0"/>
                              </a:rPr>
                              <m:t>𝑧</m:t>
                            </m:r>
                          </m:sub>
                        </m:sSub>
                      </m:num>
                      <m:den>
                        <m:r>
                          <a:rPr lang="en-US" sz="2000" b="0" i="1" smtClean="0">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𝑦</m:t>
                        </m:r>
                      </m:den>
                    </m:f>
                    <m:r>
                      <a:rPr lang="en-US" sz="2000" b="0" i="1" smtClean="0">
                        <a:latin typeface="Cambria Math" panose="02040503050406030204" pitchFamily="18" charset="0"/>
                        <a:cs typeface="Calibri" panose="020F0502020204030204" pitchFamily="34" charset="0"/>
                      </a:rPr>
                      <m:t>=</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1</m:t>
                        </m:r>
                      </m:num>
                      <m:den>
                        <m:r>
                          <a:rPr lang="en-US" sz="2000" i="1">
                            <a:latin typeface="Cambria Math" panose="02040503050406030204" pitchFamily="18" charset="0"/>
                            <a:cs typeface="Arial" panose="020B0604020202020204" pitchFamily="34" charset="0"/>
                          </a:rPr>
                          <m:t>4</m:t>
                        </m:r>
                        <m:r>
                          <a:rPr lang="en-US" sz="2000" i="1">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𝜖</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𝑐</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r>
                          <a:rPr lang="en-US" sz="2000" i="1">
                            <a:latin typeface="Cambria Math" panose="02040503050406030204" pitchFamily="18" charset="0"/>
                            <a:ea typeface="Cambria Math" panose="02040503050406030204" pitchFamily="18" charset="0"/>
                            <a:cs typeface="Arial" panose="020B0604020202020204" pitchFamily="34" charset="0"/>
                          </a:rPr>
                          <m:t>𝑟</m:t>
                        </m:r>
                      </m:den>
                    </m:f>
                    <m:f>
                      <m:f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ea typeface="Cambria Math" panose="02040503050406030204" pitchFamily="18" charset="0"/>
                                <a:cs typeface="Arial" panose="020B0604020202020204" pitchFamily="34" charset="0"/>
                              </a:rPr>
                              <m:t>𝑝</m:t>
                            </m:r>
                          </m:e>
                        </m:acc>
                        <m:r>
                          <a:rPr lang="en-US" sz="2000" b="0" i="1" smtClean="0">
                            <a:latin typeface="Cambria Math" panose="02040503050406030204" pitchFamily="18" charset="0"/>
                            <a:cs typeface="Calibri" panose="020F0502020204030204" pitchFamily="34" charset="0"/>
                          </a:rPr>
                          <m:t>(</m:t>
                        </m:r>
                        <m:r>
                          <a:rPr lang="en-US" sz="2000" b="0" i="1" smtClean="0">
                            <a:latin typeface="Cambria Math" panose="02040503050406030204" pitchFamily="18" charset="0"/>
                            <a:cs typeface="Calibri" panose="020F0502020204030204" pitchFamily="34" charset="0"/>
                          </a:rPr>
                          <m:t>𝑡</m:t>
                        </m:r>
                        <m:r>
                          <a:rPr lang="en-US" sz="2000" b="0" i="1" smtClean="0">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Calibri" panose="020F0502020204030204" pitchFamily="34" charset="0"/>
                              </a:rPr>
                            </m:ctrlPr>
                          </m:fPr>
                          <m:num>
                            <m:r>
                              <a:rPr lang="en-US" sz="2000" i="1">
                                <a:latin typeface="Cambria Math" panose="02040503050406030204" pitchFamily="18" charset="0"/>
                                <a:cs typeface="Calibri" panose="020F0502020204030204" pitchFamily="34" charset="0"/>
                              </a:rPr>
                              <m:t>𝑟</m:t>
                            </m:r>
                          </m:num>
                          <m:den>
                            <m:r>
                              <a:rPr lang="en-US" sz="2000" i="1">
                                <a:latin typeface="Cambria Math" panose="02040503050406030204" pitchFamily="18" charset="0"/>
                                <a:cs typeface="Calibri" panose="020F0502020204030204" pitchFamily="34" charset="0"/>
                              </a:rPr>
                              <m:t>𝑐</m:t>
                            </m:r>
                          </m:den>
                        </m:f>
                        <m:r>
                          <a:rPr lang="en-US" sz="2000" b="0" i="1" smtClean="0">
                            <a:latin typeface="Cambria Math" panose="02040503050406030204" pitchFamily="18" charset="0"/>
                            <a:cs typeface="Calibri" panose="020F0502020204030204" pitchFamily="34" charset="0"/>
                          </a:rPr>
                          <m:t>)</m:t>
                        </m:r>
                      </m:num>
                      <m:den>
                        <m:r>
                          <a:rPr lang="en-US" sz="200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sz="2000" b="0" i="1" smtClean="0">
                        <a:latin typeface="Cambria Math" panose="02040503050406030204" pitchFamily="18" charset="0"/>
                        <a:ea typeface="Cambria Math" panose="02040503050406030204" pitchFamily="18" charset="0"/>
                        <a:cs typeface="Arial" panose="020B0604020202020204" pitchFamily="34" charset="0"/>
                      </a:rPr>
                      <m:t>.  </m:t>
                    </m:r>
                  </m:oMath>
                </a14:m>
                <a:endParaRPr lang="en-US" sz="2000" b="0" i="1" dirty="0">
                  <a:latin typeface="Cambria Math" panose="02040503050406030204" pitchFamily="18" charset="0"/>
                  <a:ea typeface="Cambria Math" panose="02040503050406030204" pitchFamily="18" charset="0"/>
                  <a:cs typeface="Arial" panose="020B0604020202020204" pitchFamily="34" charset="0"/>
                </a:endParaRPr>
              </a:p>
              <a:p>
                <a:pPr marL="342900" indent="-342900">
                  <a:lnSpc>
                    <a:spcPct val="100000"/>
                  </a:lnSpc>
                  <a:spcBef>
                    <a:spcPts val="0"/>
                  </a:spcBef>
                </a:pPr>
                <a14:m>
                  <m:oMath xmlns:m="http://schemas.openxmlformats.org/officeDocument/2006/math">
                    <m:sSub>
                      <m:sSubPr>
                        <m:ctrlPr>
                          <a:rPr lang="en-US" sz="2000" i="1">
                            <a:latin typeface="Cambria Math" panose="02040503050406030204" pitchFamily="18" charset="0"/>
                            <a:cs typeface="Calibri" panose="020F0502020204030204" pitchFamily="34" charset="0"/>
                          </a:rPr>
                        </m:ctrlPr>
                      </m:sSubPr>
                      <m:e>
                        <m:r>
                          <a:rPr lang="en-US" sz="2000" i="1">
                            <a:latin typeface="Cambria Math" panose="02040503050406030204" pitchFamily="18" charset="0"/>
                            <a:cs typeface="Calibri" panose="020F0502020204030204" pitchFamily="34" charset="0"/>
                          </a:rPr>
                          <m:t>𝐵</m:t>
                        </m:r>
                      </m:e>
                      <m:sub>
                        <m:r>
                          <a:rPr lang="en-US" sz="2000" b="0" i="1" smtClean="0">
                            <a:latin typeface="Cambria Math" panose="02040503050406030204" pitchFamily="18" charset="0"/>
                            <a:cs typeface="Calibri" panose="020F0502020204030204" pitchFamily="34" charset="0"/>
                          </a:rPr>
                          <m:t>𝑦</m:t>
                        </m:r>
                      </m:sub>
                    </m:sSub>
                    <m:r>
                      <a:rPr lang="en-US" sz="2000" i="1">
                        <a:latin typeface="Cambria Math" panose="02040503050406030204" pitchFamily="18" charset="0"/>
                        <a:cs typeface="Calibri" panose="020F0502020204030204" pitchFamily="34" charset="0"/>
                      </a:rPr>
                      <m:t>=</m:t>
                    </m:r>
                    <m:r>
                      <a:rPr lang="en-US" sz="2000" b="0" i="1" smtClean="0">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ea typeface="Cambria Math" panose="02040503050406030204" pitchFamily="18" charset="0"/>
                            <a:cs typeface="Calibri" panose="020F0502020204030204" pitchFamily="34" charset="0"/>
                          </a:rPr>
                        </m:ctrlPr>
                      </m:fPr>
                      <m:num>
                        <m:r>
                          <a:rPr lang="en-US" sz="2000" i="1">
                            <a:latin typeface="Cambria Math" panose="02040503050406030204" pitchFamily="18" charset="0"/>
                            <a:ea typeface="Cambria Math" panose="02040503050406030204" pitchFamily="18" charset="0"/>
                            <a:cs typeface="Calibri" panose="020F0502020204030204" pitchFamily="34" charset="0"/>
                          </a:rPr>
                          <m:t>𝜕</m:t>
                        </m:r>
                        <m:sSub>
                          <m:sSubPr>
                            <m:ctrlPr>
                              <a:rPr lang="en-US" sz="2000" i="1">
                                <a:latin typeface="Cambria Math" panose="02040503050406030204" pitchFamily="18" charset="0"/>
                                <a:ea typeface="Cambria Math" panose="02040503050406030204" pitchFamily="18" charset="0"/>
                                <a:cs typeface="Calibri" panose="020F0502020204030204" pitchFamily="34" charset="0"/>
                              </a:rPr>
                            </m:ctrlPr>
                          </m:sSubPr>
                          <m:e>
                            <m:r>
                              <a:rPr lang="en-US" sz="2000" i="1">
                                <a:latin typeface="Cambria Math" panose="02040503050406030204" pitchFamily="18" charset="0"/>
                                <a:ea typeface="Cambria Math" panose="02040503050406030204" pitchFamily="18" charset="0"/>
                                <a:cs typeface="Calibri" panose="020F0502020204030204" pitchFamily="34" charset="0"/>
                              </a:rPr>
                              <m:t>𝐴</m:t>
                            </m:r>
                          </m:e>
                          <m:sub>
                            <m:r>
                              <a:rPr lang="en-US" sz="2000" i="1">
                                <a:latin typeface="Cambria Math" panose="02040503050406030204" pitchFamily="18" charset="0"/>
                                <a:ea typeface="Cambria Math" panose="02040503050406030204" pitchFamily="18" charset="0"/>
                                <a:cs typeface="Calibri" panose="020F0502020204030204" pitchFamily="34" charset="0"/>
                              </a:rPr>
                              <m:t>𝑧</m:t>
                            </m:r>
                          </m:sub>
                        </m:sSub>
                      </m:num>
                      <m:den>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𝑥</m:t>
                        </m:r>
                      </m:den>
                    </m:f>
                    <m:r>
                      <a:rPr lang="en-US" sz="2000" i="1">
                        <a:latin typeface="Cambria Math" panose="02040503050406030204" pitchFamily="18" charset="0"/>
                        <a:cs typeface="Calibri" panose="020F0502020204030204" pitchFamily="34" charset="0"/>
                      </a:rPr>
                      <m:t>=</m:t>
                    </m:r>
                    <m:r>
                      <a:rPr lang="en-US" sz="2000" b="0" i="1" smtClean="0">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1</m:t>
                        </m:r>
                      </m:num>
                      <m:den>
                        <m:r>
                          <a:rPr lang="en-US" sz="2000" i="1">
                            <a:latin typeface="Cambria Math" panose="02040503050406030204" pitchFamily="18" charset="0"/>
                            <a:cs typeface="Arial" panose="020B0604020202020204" pitchFamily="34" charset="0"/>
                          </a:rPr>
                          <m:t>4</m:t>
                        </m:r>
                        <m:r>
                          <a:rPr lang="en-US" sz="2000" i="1">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𝜖</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𝑐</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r>
                          <a:rPr lang="en-US" sz="2000" i="1">
                            <a:latin typeface="Cambria Math" panose="02040503050406030204" pitchFamily="18" charset="0"/>
                            <a:ea typeface="Cambria Math" panose="02040503050406030204" pitchFamily="18" charset="0"/>
                            <a:cs typeface="Arial" panose="020B0604020202020204" pitchFamily="34" charset="0"/>
                          </a:rPr>
                          <m:t>𝑟</m:t>
                        </m:r>
                      </m:den>
                    </m:f>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i="1">
                                <a:latin typeface="Cambria Math" panose="02040503050406030204" pitchFamily="18" charset="0"/>
                                <a:ea typeface="Cambria Math" panose="02040503050406030204" pitchFamily="18" charset="0"/>
                                <a:cs typeface="Arial" panose="020B0604020202020204" pitchFamily="34" charset="0"/>
                              </a:rPr>
                              <m:t>𝑝</m:t>
                            </m:r>
                          </m:e>
                        </m:acc>
                        <m:r>
                          <a:rPr lang="en-US" sz="2000" i="1">
                            <a:latin typeface="Cambria Math" panose="02040503050406030204" pitchFamily="18" charset="0"/>
                            <a:cs typeface="Calibri" panose="020F0502020204030204" pitchFamily="34" charset="0"/>
                          </a:rPr>
                          <m:t>(</m:t>
                        </m:r>
                        <m:r>
                          <a:rPr lang="en-US" sz="2000" i="1">
                            <a:latin typeface="Cambria Math" panose="02040503050406030204" pitchFamily="18" charset="0"/>
                            <a:cs typeface="Calibri" panose="020F0502020204030204" pitchFamily="34" charset="0"/>
                          </a:rPr>
                          <m:t>𝑡</m:t>
                        </m:r>
                        <m:r>
                          <a:rPr lang="en-US" sz="2000" i="1">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Calibri" panose="020F0502020204030204" pitchFamily="34" charset="0"/>
                              </a:rPr>
                            </m:ctrlPr>
                          </m:fPr>
                          <m:num>
                            <m:r>
                              <a:rPr lang="en-US" sz="2000" i="1">
                                <a:latin typeface="Cambria Math" panose="02040503050406030204" pitchFamily="18" charset="0"/>
                                <a:cs typeface="Calibri" panose="020F0502020204030204" pitchFamily="34" charset="0"/>
                              </a:rPr>
                              <m:t>𝑟</m:t>
                            </m:r>
                          </m:num>
                          <m:den>
                            <m:r>
                              <a:rPr lang="en-US" sz="2000" i="1">
                                <a:latin typeface="Cambria Math" panose="02040503050406030204" pitchFamily="18" charset="0"/>
                                <a:cs typeface="Calibri" panose="020F0502020204030204" pitchFamily="34" charset="0"/>
                              </a:rPr>
                              <m:t>𝑐</m:t>
                            </m:r>
                          </m:den>
                        </m:f>
                        <m:r>
                          <a:rPr lang="en-US" sz="2000" i="1">
                            <a:latin typeface="Cambria Math" panose="02040503050406030204" pitchFamily="18" charset="0"/>
                            <a:cs typeface="Calibri" panose="020F0502020204030204" pitchFamily="34" charset="0"/>
                          </a:rPr>
                          <m:t>)</m:t>
                        </m:r>
                      </m:num>
                      <m:den>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𝑥</m:t>
                        </m:r>
                      </m:den>
                    </m:f>
                  </m:oMath>
                </a14:m>
                <a:endParaRPr lang="en-US" sz="2000" dirty="0">
                  <a:latin typeface="Calibri" panose="020F0502020204030204" pitchFamily="34" charset="0"/>
                  <a:cs typeface="Calibri" panose="020F0502020204030204" pitchFamily="34" charset="0"/>
                </a:endParaRPr>
              </a:p>
              <a:p>
                <a:pPr marL="342900" indent="-342900">
                  <a:lnSpc>
                    <a:spcPct val="100000"/>
                  </a:lnSpc>
                  <a:spcBef>
                    <a:spcPts val="0"/>
                  </a:spcBef>
                </a:pPr>
                <a14:m>
                  <m:oMath xmlns:m="http://schemas.openxmlformats.org/officeDocument/2006/math">
                    <m:sSub>
                      <m:sSubPr>
                        <m:ctrlPr>
                          <a:rPr lang="en-US" sz="2000" i="1">
                            <a:latin typeface="Cambria Math" panose="02040503050406030204" pitchFamily="18" charset="0"/>
                            <a:cs typeface="Calibri" panose="020F0502020204030204" pitchFamily="34" charset="0"/>
                          </a:rPr>
                        </m:ctrlPr>
                      </m:sSubPr>
                      <m:e>
                        <m:r>
                          <a:rPr lang="en-US" sz="2000" i="1">
                            <a:latin typeface="Cambria Math" panose="02040503050406030204" pitchFamily="18" charset="0"/>
                            <a:cs typeface="Calibri" panose="020F0502020204030204" pitchFamily="34" charset="0"/>
                          </a:rPr>
                          <m:t>𝐵</m:t>
                        </m:r>
                      </m:e>
                      <m:sub>
                        <m:r>
                          <a:rPr lang="en-US" sz="2000" i="1">
                            <a:latin typeface="Cambria Math" panose="02040503050406030204" pitchFamily="18" charset="0"/>
                            <a:cs typeface="Calibri" panose="020F0502020204030204" pitchFamily="34" charset="0"/>
                          </a:rPr>
                          <m:t>𝑥</m:t>
                        </m:r>
                      </m:sub>
                    </m:sSub>
                    <m:r>
                      <a:rPr lang="en-US" sz="2000" i="1">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1</m:t>
                        </m:r>
                      </m:num>
                      <m:den>
                        <m:r>
                          <a:rPr lang="en-US" sz="2000" i="1">
                            <a:latin typeface="Cambria Math" panose="02040503050406030204" pitchFamily="18" charset="0"/>
                            <a:cs typeface="Arial" panose="020B0604020202020204" pitchFamily="34" charset="0"/>
                          </a:rPr>
                          <m:t>4</m:t>
                        </m:r>
                        <m:r>
                          <a:rPr lang="en-US" sz="2000" i="1">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𝜖</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𝑐</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r>
                          <a:rPr lang="en-US" sz="2000" i="1">
                            <a:latin typeface="Cambria Math" panose="02040503050406030204" pitchFamily="18" charset="0"/>
                            <a:ea typeface="Cambria Math" panose="02040503050406030204" pitchFamily="18" charset="0"/>
                            <a:cs typeface="Arial" panose="020B0604020202020204" pitchFamily="34" charset="0"/>
                          </a:rPr>
                          <m:t>𝑟</m:t>
                        </m:r>
                      </m:den>
                    </m:f>
                    <m:d>
                      <m:dPr>
                        <m:begChr m:val="["/>
                        <m:endChr m:val="]"/>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𝑦</m:t>
                            </m:r>
                            <m:d>
                              <m:dPr>
                                <m:ctrlPr>
                                  <a:rPr lang="en-US" sz="2000" i="1">
                                    <a:latin typeface="Cambria Math" panose="02040503050406030204" pitchFamily="18" charset="0"/>
                                    <a:cs typeface="Calibri" panose="020F0502020204030204" pitchFamily="34" charset="0"/>
                                  </a:rPr>
                                </m:ctrlPr>
                              </m:dPr>
                              <m:e>
                                <m:r>
                                  <a:rPr lang="en-US" sz="2000" i="1">
                                    <a:latin typeface="Cambria Math" panose="02040503050406030204" pitchFamily="18" charset="0"/>
                                    <a:cs typeface="Calibri" panose="020F0502020204030204" pitchFamily="34" charset="0"/>
                                  </a:rPr>
                                  <m:t>𝑡</m:t>
                                </m:r>
                                <m:r>
                                  <a:rPr lang="en-US" sz="2000" i="1">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Calibri" panose="020F0502020204030204" pitchFamily="34" charset="0"/>
                                      </a:rPr>
                                    </m:ctrlPr>
                                  </m:fPr>
                                  <m:num>
                                    <m:r>
                                      <a:rPr lang="en-US" sz="2000" i="1">
                                        <a:latin typeface="Cambria Math" panose="02040503050406030204" pitchFamily="18" charset="0"/>
                                        <a:cs typeface="Calibri" panose="020F0502020204030204" pitchFamily="34" charset="0"/>
                                      </a:rPr>
                                      <m:t>𝑟</m:t>
                                    </m:r>
                                  </m:num>
                                  <m:den>
                                    <m:r>
                                      <a:rPr lang="en-US" sz="2000" i="1">
                                        <a:latin typeface="Cambria Math" panose="02040503050406030204" pitchFamily="18" charset="0"/>
                                        <a:cs typeface="Calibri" panose="020F0502020204030204" pitchFamily="34" charset="0"/>
                                      </a:rPr>
                                      <m:t>𝑐</m:t>
                                    </m:r>
                                  </m:den>
                                </m:f>
                              </m:e>
                            </m:d>
                          </m:num>
                          <m:den>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3</m:t>
                                </m:r>
                              </m:sup>
                            </m:sSup>
                          </m:den>
                        </m:f>
                        <m:r>
                          <a:rPr lang="en-US" sz="2000" i="1">
                            <a:latin typeface="Cambria Math" panose="02040503050406030204" pitchFamily="18" charset="0"/>
                            <a:ea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𝑦</m:t>
                            </m:r>
                            <m:acc>
                              <m:accPr>
                                <m:chr m:val="̈"/>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ea typeface="Cambria Math" panose="02040503050406030204" pitchFamily="18" charset="0"/>
                                    <a:cs typeface="Arial" panose="020B0604020202020204" pitchFamily="34" charset="0"/>
                                  </a:rPr>
                                  <m:t>𝑝</m:t>
                                </m:r>
                              </m:e>
                            </m:acc>
                            <m:d>
                              <m:dPr>
                                <m:ctrlPr>
                                  <a:rPr lang="en-US" sz="2000" i="1">
                                    <a:latin typeface="Cambria Math" panose="02040503050406030204" pitchFamily="18" charset="0"/>
                                    <a:cs typeface="Calibri" panose="020F0502020204030204" pitchFamily="34" charset="0"/>
                                  </a:rPr>
                                </m:ctrlPr>
                              </m:dPr>
                              <m:e>
                                <m:r>
                                  <a:rPr lang="en-US" sz="2000" i="1">
                                    <a:latin typeface="Cambria Math" panose="02040503050406030204" pitchFamily="18" charset="0"/>
                                    <a:cs typeface="Calibri" panose="020F0502020204030204" pitchFamily="34" charset="0"/>
                                  </a:rPr>
                                  <m:t>𝑡</m:t>
                                </m:r>
                                <m:r>
                                  <a:rPr lang="en-US" sz="2000" i="1">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Calibri" panose="020F0502020204030204" pitchFamily="34" charset="0"/>
                                      </a:rPr>
                                    </m:ctrlPr>
                                  </m:fPr>
                                  <m:num>
                                    <m:r>
                                      <a:rPr lang="en-US" sz="2000" i="1">
                                        <a:latin typeface="Cambria Math" panose="02040503050406030204" pitchFamily="18" charset="0"/>
                                        <a:cs typeface="Calibri" panose="020F0502020204030204" pitchFamily="34" charset="0"/>
                                      </a:rPr>
                                      <m:t>𝑟</m:t>
                                    </m:r>
                                  </m:num>
                                  <m:den>
                                    <m:r>
                                      <a:rPr lang="en-US" sz="2000" i="1">
                                        <a:latin typeface="Cambria Math" panose="02040503050406030204" pitchFamily="18" charset="0"/>
                                        <a:cs typeface="Calibri" panose="020F0502020204030204" pitchFamily="34" charset="0"/>
                                      </a:rPr>
                                      <m:t>𝑐</m:t>
                                    </m:r>
                                  </m:den>
                                </m:f>
                              </m:e>
                            </m:d>
                          </m:num>
                          <m:den>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𝑐</m:t>
                                </m:r>
                                <m:r>
                                  <a:rPr lang="en-US" sz="2000" i="1">
                                    <a:latin typeface="Cambria Math" panose="02040503050406030204" pitchFamily="18" charset="0"/>
                                    <a:ea typeface="Cambria Math" panose="02040503050406030204" pitchFamily="18" charset="0"/>
                                    <a:cs typeface="Arial" panose="020B0604020202020204" pitchFamily="34" charset="0"/>
                                  </a:rPr>
                                  <m:t>𝑟</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den>
                        </m:f>
                      </m:e>
                    </m:d>
                    <m:r>
                      <a:rPr lang="en-US" sz="2000" b="0" i="1" smtClean="0">
                        <a:latin typeface="Cambria Math" panose="02040503050406030204" pitchFamily="18" charset="0"/>
                        <a:ea typeface="Cambria Math" panose="02040503050406030204" pitchFamily="18" charset="0"/>
                        <a:cs typeface="Arial" panose="020B0604020202020204" pitchFamily="34" charset="0"/>
                      </a:rPr>
                      <m:t>,  </m:t>
                    </m:r>
                    <m:sSub>
                      <m:sSubPr>
                        <m:ctrlPr>
                          <a:rPr lang="en-US" sz="2000" i="1">
                            <a:latin typeface="Cambria Math" panose="02040503050406030204" pitchFamily="18" charset="0"/>
                            <a:cs typeface="Calibri" panose="020F0502020204030204" pitchFamily="34" charset="0"/>
                          </a:rPr>
                        </m:ctrlPr>
                      </m:sSubPr>
                      <m:e>
                        <m:r>
                          <a:rPr lang="en-US" sz="2000" i="1">
                            <a:latin typeface="Cambria Math" panose="02040503050406030204" pitchFamily="18" charset="0"/>
                            <a:cs typeface="Calibri" panose="020F0502020204030204" pitchFamily="34" charset="0"/>
                          </a:rPr>
                          <m:t>𝐵</m:t>
                        </m:r>
                      </m:e>
                      <m:sub>
                        <m:r>
                          <a:rPr lang="en-US" sz="2000" i="1">
                            <a:latin typeface="Cambria Math" panose="02040503050406030204" pitchFamily="18" charset="0"/>
                            <a:cs typeface="Calibri" panose="020F0502020204030204" pitchFamily="34" charset="0"/>
                          </a:rPr>
                          <m:t>𝑦</m:t>
                        </m:r>
                      </m:sub>
                    </m:sSub>
                    <m:r>
                      <a:rPr lang="en-US" sz="2000" i="1">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1</m:t>
                        </m:r>
                      </m:num>
                      <m:den>
                        <m:r>
                          <a:rPr lang="en-US" sz="2000" i="1">
                            <a:latin typeface="Cambria Math" panose="02040503050406030204" pitchFamily="18" charset="0"/>
                            <a:cs typeface="Arial" panose="020B0604020202020204" pitchFamily="34" charset="0"/>
                          </a:rPr>
                          <m:t>4</m:t>
                        </m:r>
                        <m:r>
                          <a:rPr lang="en-US" sz="2000" i="1">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𝜖</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𝑐</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r>
                          <a:rPr lang="en-US" sz="2000" i="1">
                            <a:latin typeface="Cambria Math" panose="02040503050406030204" pitchFamily="18" charset="0"/>
                            <a:ea typeface="Cambria Math" panose="02040503050406030204" pitchFamily="18" charset="0"/>
                            <a:cs typeface="Arial" panose="020B0604020202020204" pitchFamily="34" charset="0"/>
                          </a:rPr>
                          <m:t>𝑟</m:t>
                        </m:r>
                      </m:den>
                    </m:f>
                    <m:r>
                      <a:rPr lang="en-US" sz="2000" i="1">
                        <a:latin typeface="Cambria Math" panose="02040503050406030204" pitchFamily="18" charset="0"/>
                        <a:ea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𝑥</m:t>
                        </m:r>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i="1">
                                <a:latin typeface="Cambria Math" panose="02040503050406030204" pitchFamily="18" charset="0"/>
                                <a:ea typeface="Cambria Math" panose="02040503050406030204" pitchFamily="18" charset="0"/>
                                <a:cs typeface="Arial" panose="020B0604020202020204" pitchFamily="34" charset="0"/>
                              </a:rPr>
                              <m:t>𝑝</m:t>
                            </m:r>
                          </m:e>
                        </m:acc>
                        <m:d>
                          <m:dPr>
                            <m:ctrlPr>
                              <a:rPr lang="en-US" sz="2000" i="1">
                                <a:latin typeface="Cambria Math" panose="02040503050406030204" pitchFamily="18" charset="0"/>
                                <a:cs typeface="Calibri" panose="020F0502020204030204" pitchFamily="34" charset="0"/>
                              </a:rPr>
                            </m:ctrlPr>
                          </m:dPr>
                          <m:e>
                            <m:r>
                              <a:rPr lang="en-US" sz="2000" i="1">
                                <a:latin typeface="Cambria Math" panose="02040503050406030204" pitchFamily="18" charset="0"/>
                                <a:cs typeface="Calibri" panose="020F0502020204030204" pitchFamily="34" charset="0"/>
                              </a:rPr>
                              <m:t>𝑡</m:t>
                            </m:r>
                            <m:r>
                              <a:rPr lang="en-US" sz="2000" i="1">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Calibri" panose="020F0502020204030204" pitchFamily="34" charset="0"/>
                                  </a:rPr>
                                </m:ctrlPr>
                              </m:fPr>
                              <m:num>
                                <m:r>
                                  <a:rPr lang="en-US" sz="2000" i="1">
                                    <a:latin typeface="Cambria Math" panose="02040503050406030204" pitchFamily="18" charset="0"/>
                                    <a:cs typeface="Calibri" panose="020F0502020204030204" pitchFamily="34" charset="0"/>
                                  </a:rPr>
                                  <m:t>𝑟</m:t>
                                </m:r>
                              </m:num>
                              <m:den>
                                <m:r>
                                  <a:rPr lang="en-US" sz="2000" i="1">
                                    <a:latin typeface="Cambria Math" panose="02040503050406030204" pitchFamily="18" charset="0"/>
                                    <a:cs typeface="Calibri" panose="020F0502020204030204" pitchFamily="34" charset="0"/>
                                  </a:rPr>
                                  <m:t>𝑐</m:t>
                                </m:r>
                              </m:den>
                            </m:f>
                          </m:e>
                        </m:d>
                      </m:num>
                      <m:den>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𝑟</m:t>
                            </m:r>
                          </m:e>
                          <m:sup>
                            <m:r>
                              <a:rPr lang="en-US" sz="2000" i="1">
                                <a:latin typeface="Cambria Math" panose="02040503050406030204" pitchFamily="18" charset="0"/>
                                <a:ea typeface="Cambria Math" panose="02040503050406030204" pitchFamily="18" charset="0"/>
                                <a:cs typeface="Arial" panose="020B0604020202020204" pitchFamily="34" charset="0"/>
                              </a:rPr>
                              <m:t>3</m:t>
                            </m:r>
                          </m:sup>
                        </m:sSup>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𝑥</m:t>
                        </m:r>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i="1">
                                <a:latin typeface="Cambria Math" panose="02040503050406030204" pitchFamily="18" charset="0"/>
                                <a:ea typeface="Cambria Math" panose="02040503050406030204" pitchFamily="18" charset="0"/>
                                <a:cs typeface="Arial" panose="020B0604020202020204" pitchFamily="34" charset="0"/>
                              </a:rPr>
                              <m:t>𝑝</m:t>
                            </m:r>
                          </m:e>
                        </m:acc>
                        <m:d>
                          <m:dPr>
                            <m:ctrlPr>
                              <a:rPr lang="en-US" sz="2000" i="1">
                                <a:latin typeface="Cambria Math" panose="02040503050406030204" pitchFamily="18" charset="0"/>
                                <a:cs typeface="Calibri" panose="020F0502020204030204" pitchFamily="34" charset="0"/>
                              </a:rPr>
                            </m:ctrlPr>
                          </m:dPr>
                          <m:e>
                            <m:r>
                              <a:rPr lang="en-US" sz="2000" i="1">
                                <a:latin typeface="Cambria Math" panose="02040503050406030204" pitchFamily="18" charset="0"/>
                                <a:cs typeface="Calibri" panose="020F0502020204030204" pitchFamily="34" charset="0"/>
                              </a:rPr>
                              <m:t>𝑡</m:t>
                            </m:r>
                            <m:r>
                              <a:rPr lang="en-US" sz="2000" i="1">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Calibri" panose="020F0502020204030204" pitchFamily="34" charset="0"/>
                                  </a:rPr>
                                </m:ctrlPr>
                              </m:fPr>
                              <m:num>
                                <m:r>
                                  <a:rPr lang="en-US" sz="2000" i="1">
                                    <a:latin typeface="Cambria Math" panose="02040503050406030204" pitchFamily="18" charset="0"/>
                                    <a:cs typeface="Calibri" panose="020F0502020204030204" pitchFamily="34" charset="0"/>
                                  </a:rPr>
                                  <m:t>𝑟</m:t>
                                </m:r>
                              </m:num>
                              <m:den>
                                <m:r>
                                  <a:rPr lang="en-US" sz="2000" i="1">
                                    <a:latin typeface="Cambria Math" panose="02040503050406030204" pitchFamily="18" charset="0"/>
                                    <a:cs typeface="Calibri" panose="020F0502020204030204" pitchFamily="34" charset="0"/>
                                  </a:rPr>
                                  <m:t>𝑐</m:t>
                                </m:r>
                              </m:den>
                            </m:f>
                          </m:e>
                        </m:d>
                      </m:num>
                      <m:den>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𝑐𝑟</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den>
                    </m:f>
                    <m:r>
                      <a:rPr lang="en-US" sz="2000" i="1">
                        <a:latin typeface="Cambria Math" panose="02040503050406030204" pitchFamily="18" charset="0"/>
                        <a:ea typeface="Cambria Math" panose="02040503050406030204" pitchFamily="18" charset="0"/>
                        <a:cs typeface="Arial" panose="020B0604020202020204" pitchFamily="34" charset="0"/>
                      </a:rPr>
                      <m:t>]</m:t>
                    </m:r>
                  </m:oMath>
                </a14:m>
                <a:endParaRPr lang="en-US" sz="2000" dirty="0">
                  <a:latin typeface="Calibri" panose="020F0502020204030204" pitchFamily="34" charset="0"/>
                  <a:cs typeface="Calibri" panose="020F0502020204030204" pitchFamily="34" charset="0"/>
                </a:endParaRPr>
              </a:p>
              <a:p>
                <a:pPr marL="342900" indent="-342900">
                  <a:lnSpc>
                    <a:spcPct val="120000"/>
                  </a:lnSpc>
                  <a:spcBef>
                    <a:spcPts val="400"/>
                  </a:spcBef>
                </a:pPr>
                <a:endParaRPr lang="en-US" sz="1800" dirty="0">
                  <a:latin typeface="Calibri" panose="020F0502020204030204" pitchFamily="34" charset="0"/>
                  <a:cs typeface="Calibri" panose="020F050202020403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606534"/>
                <a:ext cx="10727635" cy="4411498"/>
              </a:xfrm>
              <a:blipFill>
                <a:blip r:embed="rId2"/>
                <a:stretch>
                  <a:fillRect l="-592" t="-2874"/>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7A91E16D-0EAD-4D3D-AC22-65013F654EE2}" type="slidenum">
              <a:rPr lang="en-US" altLang="en-US" smtClean="0"/>
              <a:pPr>
                <a:defRPr/>
              </a:pPr>
              <a:t>42</a:t>
            </a:fld>
            <a:endParaRPr lang="en-US" altLang="en-US"/>
          </a:p>
        </p:txBody>
      </p:sp>
    </p:spTree>
    <p:extLst>
      <p:ext uri="{BB962C8B-B14F-4D97-AF65-F5344CB8AC3E}">
        <p14:creationId xmlns:p14="http://schemas.microsoft.com/office/powerpoint/2010/main" val="908517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3135"/>
            <a:ext cx="12039600" cy="982810"/>
          </a:xfrm>
        </p:spPr>
        <p:txBody>
          <a:bodyPr>
            <a:normAutofit/>
          </a:bodyPr>
          <a:lstStyle/>
          <a:p>
            <a:pPr algn="ctr"/>
            <a:r>
              <a:rPr lang="en-US" sz="4000" dirty="0">
                <a:latin typeface="Calibri" panose="020F0502020204030204" pitchFamily="34" charset="0"/>
                <a:cs typeface="Calibri" panose="020F0502020204030204" pitchFamily="34" charset="0"/>
              </a:rPr>
              <a:t>Feynman’s Treatment - 4</a:t>
            </a:r>
          </a:p>
        </p:txBody>
      </p:sp>
      <p:sp>
        <p:nvSpPr>
          <p:cNvPr id="4" name="Slide Number Placeholder 3"/>
          <p:cNvSpPr>
            <a:spLocks noGrp="1"/>
          </p:cNvSpPr>
          <p:nvPr>
            <p:ph type="sldNum" sz="quarter" idx="12"/>
          </p:nvPr>
        </p:nvSpPr>
        <p:spPr/>
        <p:txBody>
          <a:bodyPr/>
          <a:lstStyle/>
          <a:p>
            <a:pPr>
              <a:defRPr/>
            </a:pPr>
            <a:fld id="{7A91E16D-0EAD-4D3D-AC22-65013F654EE2}" type="slidenum">
              <a:rPr lang="en-US" altLang="en-US" smtClean="0"/>
              <a:pPr>
                <a:defRPr/>
              </a:pPr>
              <a:t>43</a:t>
            </a:fld>
            <a:endParaRPr lang="en-US" altLang="en-US"/>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8791BBC4-B22B-0B48-BC02-83D12D9EF373}"/>
                  </a:ext>
                </a:extLst>
              </p:cNvPr>
              <p:cNvSpPr txBox="1">
                <a:spLocks/>
              </p:cNvSpPr>
              <p:nvPr/>
            </p:nvSpPr>
            <p:spPr>
              <a:xfrm>
                <a:off x="817880" y="1830240"/>
                <a:ext cx="10756900" cy="45147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00000"/>
                  </a:lnSpc>
                  <a:spcBef>
                    <a:spcPts val="0"/>
                  </a:spcBef>
                </a:pPr>
                <a:r>
                  <a:rPr lang="en-US" sz="2000" dirty="0">
                    <a:latin typeface="Calibri" panose="020F0502020204030204" pitchFamily="34" charset="0"/>
                    <a:cs typeface="Calibri" panose="020F0502020204030204" pitchFamily="34" charset="0"/>
                  </a:rPr>
                  <a:t>Rewrite previous equation as</a:t>
                </a:r>
              </a:p>
              <a:p>
                <a:pPr marL="800100" lvl="1" indent="-342900">
                  <a:lnSpc>
                    <a:spcPct val="100000"/>
                  </a:lnSpc>
                  <a:spcBef>
                    <a:spcPts val="0"/>
                  </a:spcBef>
                </a:pPr>
                <a14:m>
                  <m:oMath xmlns:m="http://schemas.openxmlformats.org/officeDocument/2006/math">
                    <m:acc>
                      <m:accPr>
                        <m:chr m:val="⃗"/>
                        <m:ctrlPr>
                          <a:rPr lang="en-US" sz="2000" b="0" i="1" smtClean="0">
                            <a:latin typeface="Cambria Math" panose="02040503050406030204" pitchFamily="18" charset="0"/>
                            <a:cs typeface="Calibri" panose="020F0502020204030204" pitchFamily="34" charset="0"/>
                          </a:rPr>
                        </m:ctrlPr>
                      </m:accPr>
                      <m:e>
                        <m:r>
                          <a:rPr lang="en-US" sz="2000" b="0" i="1" smtClean="0">
                            <a:latin typeface="Cambria Math" panose="02040503050406030204" pitchFamily="18" charset="0"/>
                            <a:cs typeface="Calibri" panose="020F0502020204030204" pitchFamily="34" charset="0"/>
                          </a:rPr>
                          <m:t>𝐵</m:t>
                        </m:r>
                      </m:e>
                    </m:acc>
                    <m:r>
                      <a:rPr lang="en-US" sz="2000" b="0" i="1" smtClean="0">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1</m:t>
                        </m:r>
                      </m:num>
                      <m:den>
                        <m:r>
                          <a:rPr lang="en-US" sz="2000" i="1">
                            <a:latin typeface="Cambria Math" panose="02040503050406030204" pitchFamily="18" charset="0"/>
                            <a:cs typeface="Arial" panose="020B0604020202020204" pitchFamily="34" charset="0"/>
                          </a:rPr>
                          <m:t>4</m:t>
                        </m:r>
                        <m:r>
                          <a:rPr lang="en-US" sz="2000" i="1">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𝜖</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𝑐</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3</m:t>
                            </m:r>
                          </m:sup>
                        </m:sSup>
                      </m:den>
                    </m:f>
                    <m:d>
                      <m:dPr>
                        <m:begChr m:val="["/>
                        <m:endChr m:val="]"/>
                        <m:ctrlPr>
                          <a:rPr lang="en-US" sz="2000" i="1" smtClean="0">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ea typeface="Cambria Math" panose="02040503050406030204" pitchFamily="18" charset="0"/>
                                <a:cs typeface="Arial" panose="020B0604020202020204" pitchFamily="34" charset="0"/>
                              </a:rPr>
                              <m:t>𝑝</m:t>
                            </m:r>
                          </m:e>
                        </m:acc>
                        <m:d>
                          <m:dPr>
                            <m:ctrlPr>
                              <a:rPr lang="en-US" sz="2000" i="1">
                                <a:latin typeface="Cambria Math" panose="02040503050406030204" pitchFamily="18" charset="0"/>
                                <a:cs typeface="Calibri" panose="020F0502020204030204" pitchFamily="34" charset="0"/>
                              </a:rPr>
                            </m:ctrlPr>
                          </m:dPr>
                          <m:e>
                            <m:r>
                              <a:rPr lang="en-US" sz="2000" i="1">
                                <a:latin typeface="Cambria Math" panose="02040503050406030204" pitchFamily="18" charset="0"/>
                                <a:cs typeface="Calibri" panose="020F0502020204030204" pitchFamily="34" charset="0"/>
                              </a:rPr>
                              <m:t>𝑡</m:t>
                            </m:r>
                            <m:r>
                              <a:rPr lang="en-US" sz="2000" i="1">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Calibri" panose="020F0502020204030204" pitchFamily="34" charset="0"/>
                                  </a:rPr>
                                </m:ctrlPr>
                              </m:fPr>
                              <m:num>
                                <m:r>
                                  <a:rPr lang="en-US" sz="2000" i="1">
                                    <a:latin typeface="Cambria Math" panose="02040503050406030204" pitchFamily="18" charset="0"/>
                                    <a:cs typeface="Calibri" panose="020F0502020204030204" pitchFamily="34" charset="0"/>
                                  </a:rPr>
                                  <m:t>𝑟</m:t>
                                </m:r>
                              </m:num>
                              <m:den>
                                <m:r>
                                  <a:rPr lang="en-US" sz="2000" i="1">
                                    <a:latin typeface="Cambria Math" panose="02040503050406030204" pitchFamily="18" charset="0"/>
                                    <a:cs typeface="Calibri" panose="020F0502020204030204" pitchFamily="34" charset="0"/>
                                  </a:rPr>
                                  <m:t>𝑐</m:t>
                                </m:r>
                              </m:den>
                            </m:f>
                          </m:e>
                        </m:d>
                        <m:r>
                          <a:rPr lang="en-US" sz="2000" b="0" i="1" smtClean="0">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Calibri" panose="020F0502020204030204" pitchFamily="34" charset="0"/>
                              </a:rPr>
                            </m:ctrlPr>
                          </m:fPr>
                          <m:num>
                            <m:r>
                              <a:rPr lang="en-US" sz="2000" i="1">
                                <a:latin typeface="Cambria Math" panose="02040503050406030204" pitchFamily="18" charset="0"/>
                                <a:cs typeface="Calibri" panose="020F0502020204030204" pitchFamily="34" charset="0"/>
                              </a:rPr>
                              <m:t>𝑟</m:t>
                            </m:r>
                          </m:num>
                          <m:den>
                            <m:r>
                              <a:rPr lang="en-US" sz="2000" i="1">
                                <a:latin typeface="Cambria Math" panose="02040503050406030204" pitchFamily="18" charset="0"/>
                                <a:cs typeface="Calibri" panose="020F0502020204030204" pitchFamily="34" charset="0"/>
                              </a:rPr>
                              <m:t>𝑐</m:t>
                            </m:r>
                          </m:den>
                        </m:f>
                        <m:acc>
                          <m:accPr>
                            <m:chr m:val="̈"/>
                            <m:ctrlPr>
                              <a:rPr lang="en-US" sz="2000" b="0" i="1" smtClean="0">
                                <a:latin typeface="Cambria Math" panose="02040503050406030204" pitchFamily="18" charset="0"/>
                                <a:cs typeface="Calibri" panose="020F0502020204030204" pitchFamily="34" charset="0"/>
                              </a:rPr>
                            </m:ctrlPr>
                          </m:accPr>
                          <m:e>
                            <m:r>
                              <a:rPr lang="en-US" sz="2000" b="0" i="1" smtClean="0">
                                <a:latin typeface="Cambria Math" panose="02040503050406030204" pitchFamily="18" charset="0"/>
                                <a:cs typeface="Calibri" panose="020F0502020204030204" pitchFamily="34" charset="0"/>
                              </a:rPr>
                              <m:t>𝑝</m:t>
                            </m:r>
                          </m:e>
                        </m:acc>
                        <m:d>
                          <m:dPr>
                            <m:ctrlPr>
                              <a:rPr lang="en-US" sz="2000" i="1">
                                <a:latin typeface="Cambria Math" panose="02040503050406030204" pitchFamily="18" charset="0"/>
                                <a:cs typeface="Calibri" panose="020F0502020204030204" pitchFamily="34" charset="0"/>
                              </a:rPr>
                            </m:ctrlPr>
                          </m:dPr>
                          <m:e>
                            <m:r>
                              <a:rPr lang="en-US" sz="2000" i="1">
                                <a:latin typeface="Cambria Math" panose="02040503050406030204" pitchFamily="18" charset="0"/>
                                <a:cs typeface="Calibri" panose="020F0502020204030204" pitchFamily="34" charset="0"/>
                              </a:rPr>
                              <m:t>𝑡</m:t>
                            </m:r>
                            <m:r>
                              <a:rPr lang="en-US" sz="2000" i="1">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Calibri" panose="020F0502020204030204" pitchFamily="34" charset="0"/>
                                  </a:rPr>
                                </m:ctrlPr>
                              </m:fPr>
                              <m:num>
                                <m:r>
                                  <a:rPr lang="en-US" sz="2000" i="1">
                                    <a:latin typeface="Cambria Math" panose="02040503050406030204" pitchFamily="18" charset="0"/>
                                    <a:cs typeface="Calibri" panose="020F0502020204030204" pitchFamily="34" charset="0"/>
                                  </a:rPr>
                                  <m:t>𝑟</m:t>
                                </m:r>
                              </m:num>
                              <m:den>
                                <m:r>
                                  <a:rPr lang="en-US" sz="2000" i="1">
                                    <a:latin typeface="Cambria Math" panose="02040503050406030204" pitchFamily="18" charset="0"/>
                                    <a:cs typeface="Calibri" panose="020F0502020204030204" pitchFamily="34" charset="0"/>
                                  </a:rPr>
                                  <m:t>𝑐</m:t>
                                </m:r>
                              </m:den>
                            </m:f>
                          </m:e>
                        </m:d>
                      </m:e>
                    </m:d>
                    <m:r>
                      <a:rPr lang="en-US" sz="200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 </m:t>
                    </m:r>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oMath>
                </a14:m>
                <a:endParaRPr lang="en-US" sz="2000" b="0" dirty="0">
                  <a:latin typeface="Calibri" panose="020F0502020204030204" pitchFamily="34" charset="0"/>
                  <a:ea typeface="Cambria Math" panose="02040503050406030204" pitchFamily="18" charset="0"/>
                  <a:cs typeface="Arial" panose="020B0604020202020204" pitchFamily="34" charset="0"/>
                </a:endParaRPr>
              </a:p>
              <a:p>
                <a:pPr marL="800100" lvl="1" indent="-342900">
                  <a:lnSpc>
                    <a:spcPct val="100000"/>
                  </a:lnSpc>
                  <a:spcBef>
                    <a:spcPts val="0"/>
                  </a:spcBef>
                </a:pPr>
                <a:r>
                  <a:rPr lang="en-US" sz="2000" dirty="0">
                    <a:latin typeface="Calibri" panose="020F0502020204030204" pitchFamily="34" charset="0"/>
                    <a:ea typeface="Cambria Math" panose="02040503050406030204" pitchFamily="18" charset="0"/>
                    <a:cs typeface="Arial" panose="020B0604020202020204" pitchFamily="34" charset="0"/>
                  </a:rPr>
                  <a:t>Compare this to </a:t>
                </a:r>
                <a:r>
                  <a:rPr lang="en-US" sz="2000" dirty="0" err="1">
                    <a:latin typeface="Calibri" panose="020F0502020204030204" pitchFamily="34" charset="0"/>
                    <a:ea typeface="Cambria Math" panose="02040503050406030204" pitchFamily="18" charset="0"/>
                    <a:cs typeface="Arial" panose="020B0604020202020204" pitchFamily="34" charset="0"/>
                  </a:rPr>
                  <a:t>Biot</a:t>
                </a:r>
                <a:r>
                  <a:rPr lang="en-US" sz="2000" dirty="0">
                    <a:latin typeface="Calibri" panose="020F0502020204030204" pitchFamily="34" charset="0"/>
                    <a:ea typeface="Cambria Math" panose="02040503050406030204" pitchFamily="18" charset="0"/>
                    <a:cs typeface="Arial" panose="020B0604020202020204" pitchFamily="34" charset="0"/>
                  </a:rPr>
                  <a:t> Savart: </a:t>
                </a:r>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𝑑𝐵</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1</m:t>
                        </m:r>
                      </m:num>
                      <m:den>
                        <m:r>
                          <a:rPr lang="en-US" sz="2000" i="1">
                            <a:latin typeface="Cambria Math" panose="02040503050406030204" pitchFamily="18" charset="0"/>
                            <a:cs typeface="Arial" panose="020B0604020202020204" pitchFamily="34" charset="0"/>
                          </a:rPr>
                          <m:t>4</m:t>
                        </m:r>
                        <m:r>
                          <a:rPr lang="en-US" sz="2000" i="1">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𝜖</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𝑐</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den>
                    </m:f>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𝑗</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num>
                      <m:den>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3</m:t>
                            </m:r>
                          </m:sup>
                        </m:sSup>
                      </m:den>
                    </m:f>
                    <m:r>
                      <a:rPr lang="en-US" sz="2000" b="0" i="1" smtClean="0">
                        <a:latin typeface="Cambria Math" panose="02040503050406030204" pitchFamily="18" charset="0"/>
                        <a:ea typeface="Cambria Math" panose="02040503050406030204" pitchFamily="18" charset="0"/>
                        <a:cs typeface="Arial" panose="020B0604020202020204" pitchFamily="34" charset="0"/>
                      </a:rPr>
                      <m:t>𝑑𝑉</m:t>
                    </m:r>
                  </m:oMath>
                </a14:m>
                <a:endParaRPr lang="en-US" sz="2000" b="0" dirty="0">
                  <a:latin typeface="Calibri" panose="020F0502020204030204" pitchFamily="34" charset="0"/>
                  <a:ea typeface="Cambria Math" panose="02040503050406030204" pitchFamily="18" charset="0"/>
                  <a:cs typeface="Arial" panose="020B0604020202020204" pitchFamily="34" charset="0"/>
                </a:endParaRPr>
              </a:p>
              <a:p>
                <a:pPr marL="342900" indent="-342900">
                  <a:lnSpc>
                    <a:spcPct val="100000"/>
                  </a:lnSpc>
                  <a:spcBef>
                    <a:spcPts val="0"/>
                  </a:spcBef>
                </a:pPr>
                <a:r>
                  <a:rPr lang="en-US" sz="2000" dirty="0">
                    <a:latin typeface="Calibri" panose="020F0502020204030204" pitchFamily="34" charset="0"/>
                    <a:cs typeface="Calibri" panose="020F0502020204030204" pitchFamily="34" charset="0"/>
                  </a:rPr>
                  <a:t>Now suppose the dipole charges oscillate </a:t>
                </a:r>
                <a14:m>
                  <m:oMath xmlns:m="http://schemas.openxmlformats.org/officeDocument/2006/math">
                    <m:r>
                      <a:rPr lang="en-US" sz="2000" b="0" i="1" smtClean="0">
                        <a:latin typeface="Cambria Math" panose="02040503050406030204" pitchFamily="18" charset="0"/>
                        <a:cs typeface="Calibri" panose="020F0502020204030204" pitchFamily="34" charset="0"/>
                      </a:rPr>
                      <m:t>𝑞</m:t>
                    </m:r>
                    <m:d>
                      <m:dPr>
                        <m:ctrlPr>
                          <a:rPr lang="en-US" sz="2000" b="0" i="1" smtClean="0">
                            <a:latin typeface="Cambria Math" panose="02040503050406030204" pitchFamily="18" charset="0"/>
                            <a:cs typeface="Calibri" panose="020F0502020204030204" pitchFamily="34" charset="0"/>
                          </a:rPr>
                        </m:ctrlPr>
                      </m:dPr>
                      <m:e>
                        <m:r>
                          <a:rPr lang="en-US" sz="2000" b="0" i="1" smtClean="0">
                            <a:latin typeface="Cambria Math" panose="02040503050406030204" pitchFamily="18" charset="0"/>
                            <a:cs typeface="Calibri" panose="020F0502020204030204" pitchFamily="34" charset="0"/>
                          </a:rPr>
                          <m:t>𝑡</m:t>
                        </m:r>
                      </m:e>
                    </m:d>
                    <m:r>
                      <a:rPr lang="en-US" sz="2000" b="0" i="1" smtClean="0">
                        <a:latin typeface="Cambria Math" panose="02040503050406030204" pitchFamily="18" charset="0"/>
                        <a:cs typeface="Calibri" panose="020F0502020204030204" pitchFamily="34" charset="0"/>
                      </a:rPr>
                      <m:t>=</m:t>
                    </m:r>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𝑞</m:t>
                        </m:r>
                      </m:e>
                      <m:sub>
                        <m:r>
                          <a:rPr lang="en-US" sz="2000" b="0" i="1" smtClean="0">
                            <a:latin typeface="Cambria Math" panose="02040503050406030204" pitchFamily="18" charset="0"/>
                            <a:cs typeface="Calibri" panose="020F0502020204030204" pitchFamily="34" charset="0"/>
                          </a:rPr>
                          <m:t>0</m:t>
                        </m:r>
                      </m:sub>
                    </m:sSub>
                    <m:func>
                      <m:funcPr>
                        <m:ctrlPr>
                          <a:rPr lang="en-US" sz="2000" b="0" i="0" smtClean="0">
                            <a:latin typeface="Cambria Math" panose="02040503050406030204" pitchFamily="18" charset="0"/>
                            <a:cs typeface="Calibri" panose="020F0502020204030204" pitchFamily="34" charset="0"/>
                          </a:rPr>
                        </m:ctrlPr>
                      </m:funcPr>
                      <m:fName>
                        <m:r>
                          <m:rPr>
                            <m:sty m:val="p"/>
                          </m:rPr>
                          <a:rPr lang="en-US" sz="2000" b="0" i="0" smtClean="0">
                            <a:latin typeface="Cambria Math" panose="02040503050406030204" pitchFamily="18" charset="0"/>
                            <a:cs typeface="Calibri" panose="020F0502020204030204" pitchFamily="34" charset="0"/>
                          </a:rPr>
                          <m:t>sin</m:t>
                        </m:r>
                      </m:fName>
                      <m:e>
                        <m:d>
                          <m:dPr>
                            <m:ctrlPr>
                              <a:rPr lang="en-US" sz="2000" b="0" i="1" smtClean="0">
                                <a:latin typeface="Cambria Math" panose="02040503050406030204" pitchFamily="18" charset="0"/>
                                <a:ea typeface="Cambria Math" panose="02040503050406030204" pitchFamily="18" charset="0"/>
                                <a:cs typeface="Calibri" panose="020F0502020204030204" pitchFamily="34" charset="0"/>
                              </a:rPr>
                            </m:ctrlPr>
                          </m:dPr>
                          <m:e>
                            <m:r>
                              <a:rPr lang="en-US" sz="2000" b="0" i="1" smtClean="0">
                                <a:latin typeface="Cambria Math" panose="02040503050406030204" pitchFamily="18" charset="0"/>
                                <a:ea typeface="Cambria Math" panose="02040503050406030204" pitchFamily="18" charset="0"/>
                                <a:cs typeface="Calibri" panose="020F0502020204030204" pitchFamily="34" charset="0"/>
                              </a:rPr>
                              <m:t>𝜔</m:t>
                            </m:r>
                            <m:r>
                              <a:rPr lang="en-US" sz="2000" b="0" i="1" smtClean="0">
                                <a:latin typeface="Cambria Math" panose="02040503050406030204" pitchFamily="18" charset="0"/>
                                <a:ea typeface="Cambria Math" panose="02040503050406030204" pitchFamily="18" charset="0"/>
                                <a:cs typeface="Calibri" panose="020F0502020204030204" pitchFamily="34" charset="0"/>
                              </a:rPr>
                              <m:t>𝑡</m:t>
                            </m:r>
                          </m:e>
                        </m:d>
                      </m:e>
                    </m:func>
                  </m:oMath>
                </a14:m>
                <a:endParaRPr lang="en-US" sz="2000" b="0" dirty="0">
                  <a:latin typeface="Calibri" panose="020F0502020204030204" pitchFamily="34" charset="0"/>
                  <a:ea typeface="Cambria Math" panose="02040503050406030204" pitchFamily="18" charset="0"/>
                  <a:cs typeface="Calibri" panose="020F0502020204030204" pitchFamily="34" charset="0"/>
                </a:endParaRPr>
              </a:p>
              <a:p>
                <a:pPr marL="342900" indent="-342900">
                  <a:lnSpc>
                    <a:spcPct val="100000"/>
                  </a:lnSpc>
                  <a:spcBef>
                    <a:spcPts val="0"/>
                  </a:spcBef>
                </a:pPr>
                <a:r>
                  <a:rPr lang="en-US" sz="2000" dirty="0">
                    <a:latin typeface="Calibri" panose="020F0502020204030204" pitchFamily="34" charset="0"/>
                    <a:cs typeface="Calibri" panose="020F0502020204030204" pitchFamily="34" charset="0"/>
                  </a:rPr>
                  <a:t>When </a:t>
                </a:r>
                <a14:m>
                  <m:oMath xmlns:m="http://schemas.openxmlformats.org/officeDocument/2006/math">
                    <m:f>
                      <m:fPr>
                        <m:ctrlPr>
                          <a:rPr lang="en-US" sz="2000" i="1">
                            <a:latin typeface="Cambria Math" panose="02040503050406030204" pitchFamily="18" charset="0"/>
                            <a:cs typeface="Calibri" panose="020F0502020204030204" pitchFamily="34" charset="0"/>
                          </a:rPr>
                        </m:ctrlPr>
                      </m:fPr>
                      <m:num>
                        <m:r>
                          <a:rPr lang="en-US" sz="2000" i="1">
                            <a:latin typeface="Cambria Math" panose="02040503050406030204" pitchFamily="18" charset="0"/>
                            <a:cs typeface="Calibri" panose="020F0502020204030204" pitchFamily="34" charset="0"/>
                          </a:rPr>
                          <m:t>𝑟</m:t>
                        </m:r>
                      </m:num>
                      <m:den>
                        <m:r>
                          <a:rPr lang="en-US" sz="2000" i="1">
                            <a:latin typeface="Cambria Math" panose="02040503050406030204" pitchFamily="18" charset="0"/>
                            <a:cs typeface="Calibri" panose="020F0502020204030204" pitchFamily="34" charset="0"/>
                          </a:rPr>
                          <m:t>𝑐</m:t>
                        </m:r>
                      </m:den>
                    </m:f>
                  </m:oMath>
                </a14:m>
                <a:r>
                  <a:rPr lang="en-US" sz="2000" dirty="0">
                    <a:latin typeface="Calibri" panose="020F0502020204030204" pitchFamily="34" charset="0"/>
                    <a:cs typeface="Calibri" panose="020F0502020204030204" pitchFamily="34" charset="0"/>
                  </a:rPr>
                  <a:t> is small, </a:t>
                </a:r>
                <a14:m>
                  <m:oMath xmlns:m="http://schemas.openxmlformats.org/officeDocument/2006/math">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i="1">
                            <a:latin typeface="Cambria Math" panose="02040503050406030204" pitchFamily="18" charset="0"/>
                            <a:ea typeface="Cambria Math" panose="02040503050406030204" pitchFamily="18" charset="0"/>
                            <a:cs typeface="Arial" panose="020B0604020202020204" pitchFamily="34" charset="0"/>
                          </a:rPr>
                          <m:t>𝑝</m:t>
                        </m:r>
                      </m:e>
                    </m:acc>
                    <m:d>
                      <m:dPr>
                        <m:ctrlPr>
                          <a:rPr lang="en-US" sz="2000" i="1">
                            <a:latin typeface="Cambria Math" panose="02040503050406030204" pitchFamily="18" charset="0"/>
                            <a:cs typeface="Calibri" panose="020F0502020204030204" pitchFamily="34" charset="0"/>
                          </a:rPr>
                        </m:ctrlPr>
                      </m:dPr>
                      <m:e>
                        <m:r>
                          <a:rPr lang="en-US" sz="2000" i="1">
                            <a:latin typeface="Cambria Math" panose="02040503050406030204" pitchFamily="18" charset="0"/>
                            <a:cs typeface="Calibri" panose="020F0502020204030204" pitchFamily="34" charset="0"/>
                          </a:rPr>
                          <m:t>𝑡</m:t>
                        </m:r>
                        <m:r>
                          <a:rPr lang="en-US" sz="2000" i="1">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Calibri" panose="020F0502020204030204" pitchFamily="34" charset="0"/>
                              </a:rPr>
                            </m:ctrlPr>
                          </m:fPr>
                          <m:num>
                            <m:r>
                              <a:rPr lang="en-US" sz="2000" i="1">
                                <a:latin typeface="Cambria Math" panose="02040503050406030204" pitchFamily="18" charset="0"/>
                                <a:cs typeface="Calibri" panose="020F0502020204030204" pitchFamily="34" charset="0"/>
                              </a:rPr>
                              <m:t>𝑟</m:t>
                            </m:r>
                          </m:num>
                          <m:den>
                            <m:r>
                              <a:rPr lang="en-US" sz="2000" i="1">
                                <a:latin typeface="Cambria Math" panose="02040503050406030204" pitchFamily="18" charset="0"/>
                                <a:cs typeface="Calibri" panose="020F0502020204030204" pitchFamily="34" charset="0"/>
                              </a:rPr>
                              <m:t>𝑐</m:t>
                            </m:r>
                          </m:den>
                        </m:f>
                      </m:e>
                    </m:d>
                    <m:r>
                      <a:rPr lang="en-US" sz="2000" b="0" i="0" smtClean="0">
                        <a:latin typeface="Cambria Math" panose="02040503050406030204" pitchFamily="18" charset="0"/>
                        <a:cs typeface="Calibri" panose="020F0502020204030204" pitchFamily="34" charset="0"/>
                      </a:rPr>
                      <m:t>= </m:t>
                    </m:r>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i="1">
                            <a:latin typeface="Cambria Math" panose="02040503050406030204" pitchFamily="18" charset="0"/>
                            <a:ea typeface="Cambria Math" panose="02040503050406030204" pitchFamily="18" charset="0"/>
                            <a:cs typeface="Arial" panose="020B0604020202020204" pitchFamily="34" charset="0"/>
                          </a:rPr>
                          <m:t>𝑝</m:t>
                        </m:r>
                      </m:e>
                    </m:acc>
                    <m:d>
                      <m:dPr>
                        <m:ctrlPr>
                          <a:rPr lang="en-US" sz="2000" i="1">
                            <a:latin typeface="Cambria Math" panose="02040503050406030204" pitchFamily="18" charset="0"/>
                            <a:cs typeface="Calibri" panose="020F0502020204030204" pitchFamily="34" charset="0"/>
                          </a:rPr>
                        </m:ctrlPr>
                      </m:dPr>
                      <m:e>
                        <m:r>
                          <a:rPr lang="en-US" sz="2000" i="1">
                            <a:latin typeface="Cambria Math" panose="02040503050406030204" pitchFamily="18" charset="0"/>
                            <a:cs typeface="Calibri" panose="020F0502020204030204" pitchFamily="34" charset="0"/>
                          </a:rPr>
                          <m:t>𝑡</m:t>
                        </m:r>
                      </m:e>
                    </m:d>
                    <m:r>
                      <a:rPr lang="en-US" sz="2000" b="0" i="1" smtClean="0">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Calibri" panose="020F0502020204030204" pitchFamily="34" charset="0"/>
                          </a:rPr>
                        </m:ctrlPr>
                      </m:fPr>
                      <m:num>
                        <m:r>
                          <a:rPr lang="en-US" sz="2000" i="1">
                            <a:latin typeface="Cambria Math" panose="02040503050406030204" pitchFamily="18" charset="0"/>
                            <a:cs typeface="Calibri" panose="020F0502020204030204" pitchFamily="34" charset="0"/>
                          </a:rPr>
                          <m:t>𝑟</m:t>
                        </m:r>
                      </m:num>
                      <m:den>
                        <m:r>
                          <a:rPr lang="en-US" sz="2000" i="1">
                            <a:latin typeface="Cambria Math" panose="02040503050406030204" pitchFamily="18" charset="0"/>
                            <a:cs typeface="Calibri" panose="020F0502020204030204" pitchFamily="34" charset="0"/>
                          </a:rPr>
                          <m:t>𝑐</m:t>
                        </m:r>
                      </m:den>
                    </m:f>
                    <m:acc>
                      <m:accPr>
                        <m:chr m:val="̈"/>
                        <m:ctrlPr>
                          <a:rPr lang="en-US" sz="2000" i="1">
                            <a:latin typeface="Cambria Math" panose="02040503050406030204" pitchFamily="18" charset="0"/>
                            <a:cs typeface="Calibri" panose="020F0502020204030204" pitchFamily="34" charset="0"/>
                          </a:rPr>
                        </m:ctrlPr>
                      </m:accPr>
                      <m:e>
                        <m:r>
                          <a:rPr lang="en-US" sz="2000" i="1">
                            <a:latin typeface="Cambria Math" panose="02040503050406030204" pitchFamily="18" charset="0"/>
                            <a:cs typeface="Calibri" panose="020F0502020204030204" pitchFamily="34" charset="0"/>
                          </a:rPr>
                          <m:t>𝑝</m:t>
                        </m:r>
                      </m:e>
                    </m:acc>
                    <m:d>
                      <m:dPr>
                        <m:ctrlPr>
                          <a:rPr lang="en-US" sz="2000" i="1">
                            <a:latin typeface="Cambria Math" panose="02040503050406030204" pitchFamily="18" charset="0"/>
                            <a:cs typeface="Calibri" panose="020F0502020204030204" pitchFamily="34" charset="0"/>
                          </a:rPr>
                        </m:ctrlPr>
                      </m:dPr>
                      <m:e>
                        <m:r>
                          <a:rPr lang="en-US" sz="2000" i="1">
                            <a:latin typeface="Cambria Math" panose="02040503050406030204" pitchFamily="18" charset="0"/>
                            <a:cs typeface="Calibri" panose="020F0502020204030204" pitchFamily="34" charset="0"/>
                          </a:rPr>
                          <m:t>𝑡</m:t>
                        </m:r>
                      </m:e>
                    </m:d>
                    <m:r>
                      <a:rPr lang="en-US" sz="2000" b="0" i="1" smtClean="0">
                        <a:latin typeface="Cambria Math" panose="02040503050406030204" pitchFamily="18" charset="0"/>
                        <a:cs typeface="Calibri" panose="020F0502020204030204" pitchFamily="34" charset="0"/>
                      </a:rPr>
                      <m:t>+ …</m:t>
                    </m:r>
                  </m:oMath>
                </a14:m>
                <a:endParaRPr lang="en-US" sz="2000" dirty="0">
                  <a:latin typeface="Calibri" panose="020F0502020204030204" pitchFamily="34" charset="0"/>
                  <a:cs typeface="Calibri" panose="020F0502020204030204" pitchFamily="34" charset="0"/>
                </a:endParaRPr>
              </a:p>
              <a:p>
                <a:pPr marL="342900" indent="-342900">
                  <a:lnSpc>
                    <a:spcPct val="100000"/>
                  </a:lnSpc>
                  <a:spcBef>
                    <a:spcPts val="0"/>
                  </a:spcBef>
                </a:pPr>
                <a14:m>
                  <m:oMath xmlns:m="http://schemas.openxmlformats.org/officeDocument/2006/math">
                    <m:r>
                      <a:rPr lang="en-US" sz="2000" b="0" i="1" smtClean="0">
                        <a:latin typeface="Cambria Math" panose="02040503050406030204" pitchFamily="18" charset="0"/>
                        <a:cs typeface="Calibri" panose="020F0502020204030204" pitchFamily="34" charset="0"/>
                      </a:rPr>
                      <m:t>𝐸</m:t>
                    </m:r>
                    <m:r>
                      <a:rPr lang="en-US" sz="2000" b="0" i="1" smtClean="0">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𝐵</m:t>
                    </m:r>
                  </m:oMath>
                </a14:m>
                <a:r>
                  <a:rPr lang="en-US" sz="2000" dirty="0">
                    <a:latin typeface="Calibri" panose="020F0502020204030204" pitchFamily="34" charset="0"/>
                    <a:cs typeface="Calibri" panose="020F0502020204030204" pitchFamily="34" charset="0"/>
                  </a:rPr>
                  <a:t>, </a:t>
                </a:r>
                <a14:m>
                  <m:oMath xmlns:m="http://schemas.openxmlformats.org/officeDocument/2006/math">
                    <m:r>
                      <a:rPr lang="en-US" sz="2000" b="0" i="1" smtClean="0">
                        <a:latin typeface="Cambria Math" panose="02040503050406030204" pitchFamily="18" charset="0"/>
                        <a:cs typeface="Calibri" panose="020F0502020204030204" pitchFamily="34" charset="0"/>
                      </a:rPr>
                      <m:t>𝐸</m:t>
                    </m:r>
                    <m:r>
                      <a:rPr lang="en-US" sz="2000" b="0" i="1" smtClean="0">
                        <a:latin typeface="Cambria Math" panose="02040503050406030204" pitchFamily="18" charset="0"/>
                        <a:cs typeface="Calibri" panose="020F0502020204030204" pitchFamily="34" charset="0"/>
                      </a:rPr>
                      <m:t>=</m:t>
                    </m:r>
                    <m:r>
                      <a:rPr lang="en-US" sz="2000" b="0" i="1" smtClean="0">
                        <a:latin typeface="Cambria Math" panose="02040503050406030204" pitchFamily="18" charset="0"/>
                        <a:cs typeface="Calibri" panose="020F0502020204030204" pitchFamily="34" charset="0"/>
                      </a:rPr>
                      <m:t>𝑐𝐵</m:t>
                    </m:r>
                  </m:oMath>
                </a14:m>
                <a:r>
                  <a:rPr lang="en-US" sz="2000" dirty="0">
                    <a:latin typeface="Calibri" panose="020F0502020204030204" pitchFamily="34" charset="0"/>
                    <a:cs typeface="Calibri" panose="020F0502020204030204" pitchFamily="34" charset="0"/>
                  </a:rPr>
                  <a:t> and from </a:t>
                </a:r>
                <a14:m>
                  <m:oMath xmlns:m="http://schemas.openxmlformats.org/officeDocument/2006/math">
                    <m:f>
                      <m:fPr>
                        <m:ctrlPr>
                          <a:rPr lang="en-US" sz="2000" i="1" smtClean="0">
                            <a:latin typeface="Cambria Math" panose="02040503050406030204" pitchFamily="18" charset="0"/>
                            <a:ea typeface="Cambria Math" panose="02040503050406030204" pitchFamily="18" charset="0"/>
                            <a:cs typeface="Calibri" panose="020F0502020204030204" pitchFamily="34" charset="0"/>
                          </a:rPr>
                        </m:ctrlPr>
                      </m:fPr>
                      <m:num>
                        <m:r>
                          <a:rPr lang="en-US" sz="2000" i="1" smtClean="0">
                            <a:latin typeface="Cambria Math" panose="02040503050406030204" pitchFamily="18" charset="0"/>
                            <a:ea typeface="Cambria Math" panose="02040503050406030204" pitchFamily="18" charset="0"/>
                            <a:cs typeface="Calibri" panose="020F0502020204030204" pitchFamily="34" charset="0"/>
                          </a:rPr>
                          <m:t>𝜕𝜙</m:t>
                        </m:r>
                      </m:num>
                      <m:den>
                        <m:r>
                          <a:rPr lang="en-US" sz="2000" i="1" smtClean="0">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𝑡</m:t>
                        </m:r>
                      </m:den>
                    </m:f>
                    <m:r>
                      <a:rPr lang="en-US" sz="2000" b="0" i="1" smtClean="0">
                        <a:latin typeface="Cambria Math" panose="02040503050406030204" pitchFamily="18" charset="0"/>
                        <a:cs typeface="Calibri" panose="020F0502020204030204" pitchFamily="34" charset="0"/>
                      </a:rPr>
                      <m:t>=−</m:t>
                    </m:r>
                    <m:r>
                      <m:rPr>
                        <m:sty m:val="p"/>
                      </m:rPr>
                      <a:rPr lang="en-US" sz="2000" b="0" i="1" smtClean="0">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𝐴</m:t>
                    </m:r>
                  </m:oMath>
                </a14:m>
                <a:r>
                  <a:rPr lang="en-US" sz="2000" dirty="0">
                    <a:latin typeface="Calibri" panose="020F0502020204030204" pitchFamily="34" charset="0"/>
                    <a:cs typeface="Calibri" panose="020F0502020204030204" pitchFamily="34" charset="0"/>
                  </a:rPr>
                  <a:t>, we get</a:t>
                </a:r>
              </a:p>
              <a:p>
                <a:pPr marL="342900" indent="-342900">
                  <a:lnSpc>
                    <a:spcPct val="100000"/>
                  </a:lnSpc>
                  <a:spcBef>
                    <a:spcPts val="0"/>
                  </a:spcBef>
                </a:pPr>
                <a14:m>
                  <m:oMath xmlns:m="http://schemas.openxmlformats.org/officeDocument/2006/math">
                    <m:r>
                      <a:rPr lang="en-US" sz="2000" i="1" smtClean="0">
                        <a:latin typeface="Cambria Math" panose="02040503050406030204" pitchFamily="18" charset="0"/>
                        <a:ea typeface="Cambria Math" panose="02040503050406030204" pitchFamily="18" charset="0"/>
                        <a:cs typeface="Calibri" panose="020F0502020204030204" pitchFamily="34" charset="0"/>
                      </a:rPr>
                      <m:t>𝜙</m:t>
                    </m:r>
                    <m:r>
                      <a:rPr lang="en-US" sz="2000" i="1">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1</m:t>
                        </m:r>
                      </m:num>
                      <m:den>
                        <m:r>
                          <a:rPr lang="en-US" sz="2000" i="1">
                            <a:latin typeface="Cambria Math" panose="02040503050406030204" pitchFamily="18" charset="0"/>
                            <a:cs typeface="Arial" panose="020B0604020202020204" pitchFamily="34" charset="0"/>
                          </a:rPr>
                          <m:t>4</m:t>
                        </m:r>
                        <m:r>
                          <a:rPr lang="en-US" sz="2000" i="1">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𝜖</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𝑟</m:t>
                            </m:r>
                          </m:e>
                          <m:sup>
                            <m:r>
                              <a:rPr lang="en-US" sz="2000" i="1">
                                <a:latin typeface="Cambria Math" panose="02040503050406030204" pitchFamily="18" charset="0"/>
                                <a:ea typeface="Cambria Math" panose="02040503050406030204" pitchFamily="18" charset="0"/>
                                <a:cs typeface="Arial" panose="020B0604020202020204" pitchFamily="34" charset="0"/>
                              </a:rPr>
                              <m:t>3</m:t>
                            </m:r>
                          </m:sup>
                        </m:sSup>
                      </m:den>
                    </m:f>
                    <m:d>
                      <m:dPr>
                        <m:begChr m:val="["/>
                        <m:endChr m:val="]"/>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ea typeface="Cambria Math" panose="02040503050406030204" pitchFamily="18" charset="0"/>
                            <a:cs typeface="Arial" panose="020B0604020202020204" pitchFamily="34" charset="0"/>
                          </a:rPr>
                          <m:t>𝑝</m:t>
                        </m:r>
                        <m:d>
                          <m:dPr>
                            <m:ctrlPr>
                              <a:rPr lang="en-US" sz="2000" i="1">
                                <a:latin typeface="Cambria Math" panose="02040503050406030204" pitchFamily="18" charset="0"/>
                                <a:cs typeface="Calibri" panose="020F0502020204030204" pitchFamily="34" charset="0"/>
                              </a:rPr>
                            </m:ctrlPr>
                          </m:dPr>
                          <m:e>
                            <m:r>
                              <a:rPr lang="en-US" sz="2000" i="1">
                                <a:latin typeface="Cambria Math" panose="02040503050406030204" pitchFamily="18" charset="0"/>
                                <a:cs typeface="Calibri" panose="020F0502020204030204" pitchFamily="34" charset="0"/>
                              </a:rPr>
                              <m:t>𝑡</m:t>
                            </m:r>
                            <m:r>
                              <a:rPr lang="en-US" sz="2000" i="1" smtClean="0">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Calibri" panose="020F0502020204030204" pitchFamily="34" charset="0"/>
                                  </a:rPr>
                                </m:ctrlPr>
                              </m:fPr>
                              <m:num>
                                <m:r>
                                  <a:rPr lang="en-US" sz="2000" i="1">
                                    <a:latin typeface="Cambria Math" panose="02040503050406030204" pitchFamily="18" charset="0"/>
                                    <a:cs typeface="Calibri" panose="020F0502020204030204" pitchFamily="34" charset="0"/>
                                  </a:rPr>
                                  <m:t>𝑟</m:t>
                                </m:r>
                              </m:num>
                              <m:den>
                                <m:r>
                                  <a:rPr lang="en-US" sz="2000" i="1">
                                    <a:latin typeface="Cambria Math" panose="02040503050406030204" pitchFamily="18" charset="0"/>
                                    <a:cs typeface="Calibri" panose="020F0502020204030204" pitchFamily="34" charset="0"/>
                                  </a:rPr>
                                  <m:t>𝑐</m:t>
                                </m:r>
                              </m:den>
                            </m:f>
                          </m:e>
                        </m:d>
                        <m:r>
                          <a:rPr lang="en-US" sz="2000" i="1">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Calibri" panose="020F0502020204030204" pitchFamily="34" charset="0"/>
                              </a:rPr>
                            </m:ctrlPr>
                          </m:fPr>
                          <m:num>
                            <m:r>
                              <a:rPr lang="en-US" sz="2000" i="1">
                                <a:latin typeface="Cambria Math" panose="02040503050406030204" pitchFamily="18" charset="0"/>
                                <a:cs typeface="Calibri" panose="020F0502020204030204" pitchFamily="34" charset="0"/>
                              </a:rPr>
                              <m:t>𝑟</m:t>
                            </m:r>
                          </m:num>
                          <m:den>
                            <m:r>
                              <a:rPr lang="en-US" sz="2000" i="1">
                                <a:latin typeface="Cambria Math" panose="02040503050406030204" pitchFamily="18" charset="0"/>
                                <a:cs typeface="Calibri" panose="020F0502020204030204" pitchFamily="34" charset="0"/>
                              </a:rPr>
                              <m:t>𝑐</m:t>
                            </m:r>
                          </m:den>
                        </m:f>
                        <m:acc>
                          <m:accPr>
                            <m:chr m:val="̇"/>
                            <m:ctrlPr>
                              <a:rPr lang="en-US" sz="2000" b="0" i="1" smtClean="0">
                                <a:latin typeface="Cambria Math" panose="02040503050406030204" pitchFamily="18" charset="0"/>
                                <a:ea typeface="Cambria Math" panose="02040503050406030204" pitchFamily="18" charset="0"/>
                                <a:cs typeface="Calibri" panose="020F0502020204030204" pitchFamily="34" charset="0"/>
                              </a:rPr>
                            </m:ctrlPr>
                          </m:accPr>
                          <m:e>
                            <m:r>
                              <a:rPr lang="en-US" sz="2000" b="0" i="1" smtClean="0">
                                <a:latin typeface="Cambria Math" panose="02040503050406030204" pitchFamily="18" charset="0"/>
                                <a:ea typeface="Cambria Math" panose="02040503050406030204" pitchFamily="18" charset="0"/>
                                <a:cs typeface="Calibri" panose="020F0502020204030204" pitchFamily="34" charset="0"/>
                              </a:rPr>
                              <m:t>𝑝</m:t>
                            </m:r>
                          </m:e>
                        </m:acc>
                        <m:d>
                          <m:dPr>
                            <m:ctrlPr>
                              <a:rPr lang="en-US" sz="2000" i="1">
                                <a:latin typeface="Cambria Math" panose="02040503050406030204" pitchFamily="18" charset="0"/>
                                <a:cs typeface="Calibri" panose="020F0502020204030204" pitchFamily="34" charset="0"/>
                              </a:rPr>
                            </m:ctrlPr>
                          </m:dPr>
                          <m:e>
                            <m:r>
                              <a:rPr lang="en-US" sz="2000" i="1">
                                <a:latin typeface="Cambria Math" panose="02040503050406030204" pitchFamily="18" charset="0"/>
                                <a:cs typeface="Calibri" panose="020F0502020204030204" pitchFamily="34" charset="0"/>
                              </a:rPr>
                              <m:t>𝑡</m:t>
                            </m:r>
                            <m:r>
                              <a:rPr lang="en-US" sz="2000" i="1">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Calibri" panose="020F0502020204030204" pitchFamily="34" charset="0"/>
                                  </a:rPr>
                                </m:ctrlPr>
                              </m:fPr>
                              <m:num>
                                <m:r>
                                  <a:rPr lang="en-US" sz="2000" i="1">
                                    <a:latin typeface="Cambria Math" panose="02040503050406030204" pitchFamily="18" charset="0"/>
                                    <a:cs typeface="Calibri" panose="020F0502020204030204" pitchFamily="34" charset="0"/>
                                  </a:rPr>
                                  <m:t>𝑟</m:t>
                                </m:r>
                              </m:num>
                              <m:den>
                                <m:r>
                                  <a:rPr lang="en-US" sz="2000" i="1">
                                    <a:latin typeface="Cambria Math" panose="02040503050406030204" pitchFamily="18" charset="0"/>
                                    <a:cs typeface="Calibri" panose="020F0502020204030204" pitchFamily="34" charset="0"/>
                                  </a:rPr>
                                  <m:t>𝑐</m:t>
                                </m:r>
                              </m:den>
                            </m:f>
                          </m:e>
                        </m:d>
                      </m:e>
                    </m:d>
                    <m:r>
                      <a:rPr lang="en-US" sz="2000" i="1" smtClean="0">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𝑟</m:t>
                    </m:r>
                  </m:oMath>
                </a14:m>
                <a:r>
                  <a:rPr lang="en-US" sz="2000" dirty="0">
                    <a:latin typeface="Calibri" panose="020F0502020204030204" pitchFamily="34" charset="0"/>
                    <a:ea typeface="Cambria Math" panose="02040503050406030204" pitchFamily="18" charset="0"/>
                    <a:cs typeface="Arial" panose="020B0604020202020204" pitchFamily="34" charset="0"/>
                  </a:rPr>
                  <a:t>, and</a:t>
                </a:r>
              </a:p>
              <a:p>
                <a:pPr marL="342900" indent="-342900">
                  <a:lnSpc>
                    <a:spcPct val="100000"/>
                  </a:lnSpc>
                  <a:spcBef>
                    <a:spcPts val="0"/>
                  </a:spcBef>
                </a:pPr>
                <a14:m>
                  <m:oMath xmlns:m="http://schemas.openxmlformats.org/officeDocument/2006/math">
                    <m:r>
                      <a:rPr lang="en-US" sz="2000" i="1">
                        <a:latin typeface="Cambria Math" panose="02040503050406030204" pitchFamily="18" charset="0"/>
                        <a:cs typeface="Calibri" panose="020F0502020204030204" pitchFamily="34" charset="0"/>
                      </a:rPr>
                      <m:t>𝐸</m:t>
                    </m:r>
                    <m:r>
                      <a:rPr lang="en-US" sz="2000" i="1">
                        <a:latin typeface="Cambria Math" panose="02040503050406030204" pitchFamily="18" charset="0"/>
                        <a:cs typeface="Calibri" panose="020F0502020204030204" pitchFamily="34" charset="0"/>
                      </a:rPr>
                      <m:t>=−</m:t>
                    </m:r>
                    <m:r>
                      <m:rPr>
                        <m:sty m:val="p"/>
                      </m:rP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𝜙</m:t>
                    </m:r>
                    <m:r>
                      <a:rPr lang="en-US" sz="2000" i="1">
                        <a:latin typeface="Cambria Math" panose="02040503050406030204" pitchFamily="18" charset="0"/>
                        <a:ea typeface="Cambria Math" panose="02040503050406030204" pitchFamily="18" charset="0"/>
                        <a:cs typeface="Calibri" panose="020F0502020204030204" pitchFamily="34" charset="0"/>
                      </a:rPr>
                      <m:t>−</m:t>
                    </m:r>
                    <m:f>
                      <m:fPr>
                        <m:ctrlPr>
                          <a:rPr lang="en-US" sz="2000" i="1">
                            <a:latin typeface="Cambria Math" panose="02040503050406030204" pitchFamily="18" charset="0"/>
                            <a:ea typeface="Cambria Math" panose="02040503050406030204" pitchFamily="18" charset="0"/>
                            <a:cs typeface="Calibri" panose="020F0502020204030204" pitchFamily="34" charset="0"/>
                          </a:rPr>
                        </m:ctrlPr>
                      </m:fPr>
                      <m:num>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𝐴</m:t>
                        </m:r>
                      </m:num>
                      <m:den>
                        <m:r>
                          <a:rPr lang="en-US" sz="2000" i="1">
                            <a:latin typeface="Cambria Math" panose="02040503050406030204" pitchFamily="18"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𝑡</m:t>
                        </m:r>
                      </m:den>
                    </m:f>
                    <m:r>
                      <a:rPr lang="en-US" sz="2000" b="0" i="1" smtClean="0">
                        <a:latin typeface="Cambria Math" panose="02040503050406030204" pitchFamily="18" charset="0"/>
                        <a:ea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1</m:t>
                        </m:r>
                      </m:num>
                      <m:den>
                        <m:r>
                          <a:rPr lang="en-US" sz="2000" i="1">
                            <a:latin typeface="Cambria Math" panose="02040503050406030204" pitchFamily="18" charset="0"/>
                            <a:cs typeface="Arial" panose="020B0604020202020204" pitchFamily="34" charset="0"/>
                          </a:rPr>
                          <m:t>4</m:t>
                        </m:r>
                        <m:r>
                          <a:rPr lang="en-US" sz="2000" i="1">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𝜖</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𝑐</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𝑟</m:t>
                            </m:r>
                          </m:e>
                          <m:sup>
                            <m:r>
                              <a:rPr lang="en-US" sz="2000" i="1">
                                <a:latin typeface="Cambria Math" panose="02040503050406030204" pitchFamily="18" charset="0"/>
                                <a:ea typeface="Cambria Math" panose="02040503050406030204" pitchFamily="18" charset="0"/>
                                <a:cs typeface="Arial" panose="020B0604020202020204" pitchFamily="34" charset="0"/>
                              </a:rPr>
                              <m:t>3</m:t>
                            </m:r>
                          </m:sup>
                        </m:sSup>
                      </m:den>
                    </m:f>
                    <m:r>
                      <a:rPr lang="en-US" sz="2000" b="0" i="0"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3</m:t>
                        </m:r>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𝑝</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m:t>
                                </m:r>
                              </m:sup>
                            </m:sSup>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e>
                        </m:d>
                        <m:acc>
                          <m:accPr>
                            <m:chr m:val="⃗"/>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e>
                        </m:acc>
                      </m:num>
                      <m:den>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den>
                    </m:f>
                    <m:r>
                      <a:rPr lang="en-US" sz="2000" b="0" i="0"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1</m:t>
                        </m:r>
                      </m:num>
                      <m:den>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𝑐</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den>
                    </m:f>
                    <m:r>
                      <a:rPr lang="en-US" sz="2000" b="0" i="0"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sz="2000" i="1">
                            <a:latin typeface="Cambria Math" panose="02040503050406030204" pitchFamily="18" charset="0"/>
                            <a:cs typeface="Calibri" panose="020F0502020204030204" pitchFamily="34" charset="0"/>
                          </a:rPr>
                        </m:ctrlPr>
                      </m:accPr>
                      <m:e>
                        <m:r>
                          <a:rPr lang="en-US" sz="2000" i="1">
                            <a:latin typeface="Cambria Math" panose="02040503050406030204" pitchFamily="18" charset="0"/>
                            <a:cs typeface="Calibri" panose="020F0502020204030204" pitchFamily="34" charset="0"/>
                          </a:rPr>
                          <m:t>𝑝</m:t>
                        </m:r>
                      </m:e>
                    </m:acc>
                    <m:d>
                      <m:dPr>
                        <m:ctrlPr>
                          <a:rPr lang="en-US" sz="2000" i="1">
                            <a:latin typeface="Cambria Math" panose="02040503050406030204" pitchFamily="18" charset="0"/>
                            <a:cs typeface="Calibri" panose="020F0502020204030204" pitchFamily="34" charset="0"/>
                          </a:rPr>
                        </m:ctrlPr>
                      </m:dPr>
                      <m:e>
                        <m:r>
                          <a:rPr lang="en-US" sz="2000" i="1">
                            <a:latin typeface="Cambria Math" panose="02040503050406030204" pitchFamily="18" charset="0"/>
                            <a:cs typeface="Calibri" panose="020F0502020204030204" pitchFamily="34" charset="0"/>
                          </a:rPr>
                          <m:t>𝑡</m:t>
                        </m:r>
                        <m:r>
                          <a:rPr lang="en-US" sz="2000" i="1">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Calibri" panose="020F0502020204030204" pitchFamily="34" charset="0"/>
                              </a:rPr>
                            </m:ctrlPr>
                          </m:fPr>
                          <m:num>
                            <m:r>
                              <a:rPr lang="en-US" sz="2000" i="1">
                                <a:latin typeface="Cambria Math" panose="02040503050406030204" pitchFamily="18" charset="0"/>
                                <a:cs typeface="Calibri" panose="020F0502020204030204" pitchFamily="34" charset="0"/>
                              </a:rPr>
                              <m:t>𝑟</m:t>
                            </m:r>
                          </m:num>
                          <m:den>
                            <m:r>
                              <a:rPr lang="en-US" sz="2000" i="1">
                                <a:latin typeface="Cambria Math" panose="02040503050406030204" pitchFamily="18" charset="0"/>
                                <a:cs typeface="Calibri" panose="020F0502020204030204" pitchFamily="34" charset="0"/>
                              </a:rPr>
                              <m:t>𝑐</m:t>
                            </m:r>
                          </m:den>
                        </m:f>
                      </m:e>
                    </m:d>
                    <m:r>
                      <a:rPr lang="en-US" sz="2000" i="1" smtClean="0">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𝑟</m:t>
                    </m:r>
                    <m:r>
                      <a:rPr lang="en-US" sz="2000" b="0" i="1" smtClean="0">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𝑟</m:t>
                    </m:r>
                    <m:r>
                      <a:rPr lang="en-US" sz="2000" b="0" i="0" smtClean="0">
                        <a:latin typeface="Cambria Math" panose="02040503050406030204" pitchFamily="18" charset="0"/>
                        <a:ea typeface="Cambria Math" panose="02040503050406030204" pitchFamily="18" charset="0"/>
                        <a:cs typeface="Arial" panose="020B0604020202020204" pitchFamily="34" charset="0"/>
                      </a:rPr>
                      <m:t>)]</m:t>
                    </m:r>
                  </m:oMath>
                </a14:m>
                <a:r>
                  <a:rPr lang="en-US" sz="2000" dirty="0">
                    <a:latin typeface="Calibri" panose="020F0502020204030204" pitchFamily="34" charset="0"/>
                    <a:ea typeface="Cambria Math" panose="02040503050406030204" pitchFamily="18" charset="0"/>
                    <a:cs typeface="Arial" panose="020B0604020202020204" pitchFamily="34" charset="0"/>
                  </a:rPr>
                  <a:t> where</a:t>
                </a:r>
              </a:p>
              <a:p>
                <a:pPr>
                  <a:lnSpc>
                    <a:spcPct val="100000"/>
                  </a:lnSpc>
                  <a:spcBef>
                    <a:spcPts val="0"/>
                  </a:spcBef>
                </a:pPr>
                <a14:m>
                  <m:oMath xmlns:m="http://schemas.openxmlformats.org/officeDocument/2006/math">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𝑝</m:t>
                        </m:r>
                      </m:e>
                      <m:sup>
                        <m:r>
                          <a:rPr lang="en-US" sz="2000" i="1">
                            <a:latin typeface="Cambria Math" panose="02040503050406030204" pitchFamily="18" charset="0"/>
                            <a:ea typeface="Cambria Math" panose="02040503050406030204" pitchFamily="18" charset="0"/>
                            <a:cs typeface="Arial" panose="020B0604020202020204" pitchFamily="34" charset="0"/>
                          </a:rPr>
                          <m:t>∗</m:t>
                        </m:r>
                      </m:sup>
                    </m:sSup>
                    <m:r>
                      <a:rPr lang="en-US" sz="2000" b="0" i="0" smtClean="0">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𝑝</m:t>
                    </m:r>
                    <m:d>
                      <m:dPr>
                        <m:ctrlPr>
                          <a:rPr lang="en-US" sz="2000" i="1">
                            <a:latin typeface="Cambria Math" panose="02040503050406030204" pitchFamily="18" charset="0"/>
                            <a:cs typeface="Calibri" panose="020F0502020204030204" pitchFamily="34" charset="0"/>
                          </a:rPr>
                        </m:ctrlPr>
                      </m:dPr>
                      <m:e>
                        <m:r>
                          <a:rPr lang="en-US" sz="2000" i="1">
                            <a:latin typeface="Cambria Math" panose="02040503050406030204" pitchFamily="18" charset="0"/>
                            <a:cs typeface="Calibri" panose="020F0502020204030204" pitchFamily="34" charset="0"/>
                          </a:rPr>
                          <m:t>𝑡</m:t>
                        </m:r>
                        <m:r>
                          <a:rPr lang="en-US" sz="2000" i="1">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Calibri" panose="020F0502020204030204" pitchFamily="34" charset="0"/>
                              </a:rPr>
                            </m:ctrlPr>
                          </m:fPr>
                          <m:num>
                            <m:r>
                              <a:rPr lang="en-US" sz="2000" i="1">
                                <a:latin typeface="Cambria Math" panose="02040503050406030204" pitchFamily="18" charset="0"/>
                                <a:cs typeface="Calibri" panose="020F0502020204030204" pitchFamily="34" charset="0"/>
                              </a:rPr>
                              <m:t>𝑟</m:t>
                            </m:r>
                          </m:num>
                          <m:den>
                            <m:r>
                              <a:rPr lang="en-US" sz="2000" i="1">
                                <a:latin typeface="Cambria Math" panose="02040503050406030204" pitchFamily="18" charset="0"/>
                                <a:cs typeface="Calibri" panose="020F0502020204030204" pitchFamily="34" charset="0"/>
                              </a:rPr>
                              <m:t>𝑐</m:t>
                            </m:r>
                          </m:den>
                        </m:f>
                      </m:e>
                    </m:d>
                    <m:r>
                      <a:rPr lang="en-US" sz="2000" i="1">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Calibri" panose="020F0502020204030204" pitchFamily="34" charset="0"/>
                          </a:rPr>
                        </m:ctrlPr>
                      </m:fPr>
                      <m:num>
                        <m:r>
                          <a:rPr lang="en-US" sz="2000" i="1">
                            <a:latin typeface="Cambria Math" panose="02040503050406030204" pitchFamily="18" charset="0"/>
                            <a:cs typeface="Calibri" panose="020F0502020204030204" pitchFamily="34" charset="0"/>
                          </a:rPr>
                          <m:t>𝑟</m:t>
                        </m:r>
                      </m:num>
                      <m:den>
                        <m:r>
                          <a:rPr lang="en-US" sz="2000" i="1">
                            <a:latin typeface="Cambria Math" panose="02040503050406030204" pitchFamily="18" charset="0"/>
                            <a:cs typeface="Calibri" panose="020F0502020204030204" pitchFamily="34" charset="0"/>
                          </a:rPr>
                          <m:t>𝑐</m:t>
                        </m:r>
                      </m:den>
                    </m:f>
                    <m:acc>
                      <m:accPr>
                        <m:chr m:val="̇"/>
                        <m:ctrlPr>
                          <a:rPr lang="en-US" sz="2000" i="1">
                            <a:latin typeface="Cambria Math" panose="02040503050406030204" pitchFamily="18" charset="0"/>
                            <a:ea typeface="Cambria Math" panose="02040503050406030204" pitchFamily="18" charset="0"/>
                            <a:cs typeface="Calibri" panose="020F0502020204030204" pitchFamily="34" charset="0"/>
                          </a:rPr>
                        </m:ctrlPr>
                      </m:accPr>
                      <m:e>
                        <m:r>
                          <a:rPr lang="en-US" sz="2000" i="1">
                            <a:latin typeface="Cambria Math" panose="02040503050406030204" pitchFamily="18" charset="0"/>
                            <a:ea typeface="Cambria Math" panose="02040503050406030204" pitchFamily="18" charset="0"/>
                            <a:cs typeface="Calibri" panose="020F0502020204030204" pitchFamily="34" charset="0"/>
                          </a:rPr>
                          <m:t>𝑝</m:t>
                        </m:r>
                      </m:e>
                    </m:acc>
                    <m:d>
                      <m:dPr>
                        <m:ctrlPr>
                          <a:rPr lang="en-US" sz="2000" i="1">
                            <a:latin typeface="Cambria Math" panose="02040503050406030204" pitchFamily="18" charset="0"/>
                            <a:cs typeface="Calibri" panose="020F0502020204030204" pitchFamily="34" charset="0"/>
                          </a:rPr>
                        </m:ctrlPr>
                      </m:dPr>
                      <m:e>
                        <m:r>
                          <a:rPr lang="en-US" sz="2000" i="1">
                            <a:latin typeface="Cambria Math" panose="02040503050406030204" pitchFamily="18" charset="0"/>
                            <a:cs typeface="Calibri" panose="020F0502020204030204" pitchFamily="34" charset="0"/>
                          </a:rPr>
                          <m:t>𝑡</m:t>
                        </m:r>
                        <m:r>
                          <a:rPr lang="en-US" sz="2000" i="1">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Calibri" panose="020F0502020204030204" pitchFamily="34" charset="0"/>
                              </a:rPr>
                            </m:ctrlPr>
                          </m:fPr>
                          <m:num>
                            <m:r>
                              <a:rPr lang="en-US" sz="2000" i="1">
                                <a:latin typeface="Cambria Math" panose="02040503050406030204" pitchFamily="18" charset="0"/>
                                <a:cs typeface="Calibri" panose="020F0502020204030204" pitchFamily="34" charset="0"/>
                              </a:rPr>
                              <m:t>𝑟</m:t>
                            </m:r>
                          </m:num>
                          <m:den>
                            <m:r>
                              <a:rPr lang="en-US" sz="2000" i="1">
                                <a:latin typeface="Cambria Math" panose="02040503050406030204" pitchFamily="18" charset="0"/>
                                <a:cs typeface="Calibri" panose="020F0502020204030204" pitchFamily="34" charset="0"/>
                              </a:rPr>
                              <m:t>𝑐</m:t>
                            </m:r>
                          </m:den>
                        </m:f>
                      </m:e>
                    </m:d>
                  </m:oMath>
                </a14:m>
                <a:endParaRPr lang="en-US" sz="1800" dirty="0">
                  <a:latin typeface="Calibri" panose="020F0502020204030204" pitchFamily="34" charset="0"/>
                  <a:cs typeface="Calibri" panose="020F0502020204030204" pitchFamily="34" charset="0"/>
                </a:endParaRPr>
              </a:p>
              <a:p>
                <a:pPr marL="342900" indent="-342900">
                  <a:lnSpc>
                    <a:spcPct val="120000"/>
                  </a:lnSpc>
                  <a:spcBef>
                    <a:spcPts val="400"/>
                  </a:spcBef>
                </a:pPr>
                <a:endParaRPr lang="en-US" sz="1800" dirty="0">
                  <a:latin typeface="Calibri" panose="020F0502020204030204" pitchFamily="34" charset="0"/>
                  <a:cs typeface="Calibri" panose="020F0502020204030204" pitchFamily="34" charset="0"/>
                </a:endParaRPr>
              </a:p>
              <a:p>
                <a:pPr marL="800100" lvl="1" indent="-342900">
                  <a:lnSpc>
                    <a:spcPct val="120000"/>
                  </a:lnSpc>
                  <a:spcBef>
                    <a:spcPts val="400"/>
                  </a:spcBef>
                </a:pPr>
                <a:endParaRPr lang="en-US" sz="1800" dirty="0">
                  <a:latin typeface="Calibri" panose="020F0502020204030204" pitchFamily="34" charset="0"/>
                  <a:cs typeface="Calibri" panose="020F0502020204030204" pitchFamily="34" charset="0"/>
                </a:endParaRPr>
              </a:p>
              <a:p>
                <a:pPr marL="800100" lvl="1" indent="-342900">
                  <a:lnSpc>
                    <a:spcPct val="120000"/>
                  </a:lnSpc>
                  <a:spcBef>
                    <a:spcPts val="400"/>
                  </a:spcBef>
                </a:pPr>
                <a:endParaRPr lang="en-US" sz="1400" dirty="0">
                  <a:latin typeface="Calibri" panose="020F0502020204030204" pitchFamily="34" charset="0"/>
                  <a:ea typeface="Cambria Math" panose="02040503050406030204" pitchFamily="18" charset="0"/>
                  <a:cs typeface="Calibri" panose="020F0502020204030204" pitchFamily="34" charset="0"/>
                </a:endParaRPr>
              </a:p>
              <a:p>
                <a:pPr marL="800100" lvl="1" indent="-342900">
                  <a:lnSpc>
                    <a:spcPct val="120000"/>
                  </a:lnSpc>
                  <a:spcBef>
                    <a:spcPts val="400"/>
                  </a:spcBef>
                </a:pPr>
                <a:endParaRPr lang="en-US" sz="1400" dirty="0">
                  <a:latin typeface="Calibri" panose="020F0502020204030204" pitchFamily="34" charset="0"/>
                  <a:cs typeface="Calibri" panose="020F0502020204030204" pitchFamily="34" charset="0"/>
                </a:endParaRPr>
              </a:p>
              <a:p>
                <a:pPr marL="800100" lvl="1" indent="-342900">
                  <a:lnSpc>
                    <a:spcPct val="120000"/>
                  </a:lnSpc>
                  <a:spcBef>
                    <a:spcPts val="400"/>
                  </a:spcBef>
                </a:pPr>
                <a:endParaRPr lang="en-US" sz="1400" dirty="0">
                  <a:latin typeface="Calibri" panose="020F0502020204030204" pitchFamily="34" charset="0"/>
                  <a:cs typeface="Calibri" panose="020F0502020204030204" pitchFamily="34" charset="0"/>
                </a:endParaRPr>
              </a:p>
              <a:p>
                <a:pPr marL="342900" indent="-342900">
                  <a:lnSpc>
                    <a:spcPct val="120000"/>
                  </a:lnSpc>
                  <a:spcBef>
                    <a:spcPts val="400"/>
                  </a:spcBef>
                </a:pPr>
                <a:endParaRPr lang="en-US" sz="1800" dirty="0">
                  <a:latin typeface="Calibri" panose="020F0502020204030204" pitchFamily="34" charset="0"/>
                  <a:cs typeface="Calibri" panose="020F0502020204030204" pitchFamily="34" charset="0"/>
                </a:endParaRPr>
              </a:p>
              <a:p>
                <a:pPr marL="342900" indent="-342900">
                  <a:lnSpc>
                    <a:spcPct val="120000"/>
                  </a:lnSpc>
                  <a:spcBef>
                    <a:spcPts val="400"/>
                  </a:spcBef>
                </a:pPr>
                <a:endParaRPr lang="en-US" sz="1800" dirty="0">
                  <a:latin typeface="Calibri" panose="020F0502020204030204" pitchFamily="34" charset="0"/>
                  <a:cs typeface="Calibri" panose="020F0502020204030204" pitchFamily="34" charset="0"/>
                </a:endParaRPr>
              </a:p>
            </p:txBody>
          </p:sp>
        </mc:Choice>
        <mc:Fallback xmlns="">
          <p:sp>
            <p:nvSpPr>
              <p:cNvPr id="5" name="Content Placeholder 2">
                <a:extLst>
                  <a:ext uri="{FF2B5EF4-FFF2-40B4-BE49-F238E27FC236}">
                    <a16:creationId xmlns:a16="http://schemas.microsoft.com/office/drawing/2014/main" id="{8791BBC4-B22B-0B48-BC02-83D12D9EF373}"/>
                  </a:ext>
                </a:extLst>
              </p:cNvPr>
              <p:cNvSpPr txBox="1">
                <a:spLocks noRot="1" noChangeAspect="1" noMove="1" noResize="1" noEditPoints="1" noAdjustHandles="1" noChangeArrowheads="1" noChangeShapeType="1" noTextEdit="1"/>
              </p:cNvSpPr>
              <p:nvPr/>
            </p:nvSpPr>
            <p:spPr>
              <a:xfrm>
                <a:off x="817880" y="1830240"/>
                <a:ext cx="10756900" cy="4514765"/>
              </a:xfrm>
              <a:prstGeom prst="rect">
                <a:avLst/>
              </a:prstGeom>
              <a:blipFill>
                <a:blip r:embed="rId2"/>
                <a:stretch>
                  <a:fillRect l="-472" t="-843"/>
                </a:stretch>
              </a:blipFill>
            </p:spPr>
            <p:txBody>
              <a:bodyPr/>
              <a:lstStyle/>
              <a:p>
                <a:r>
                  <a:rPr lang="en-US">
                    <a:noFill/>
                  </a:rPr>
                  <a:t> </a:t>
                </a:r>
              </a:p>
            </p:txBody>
          </p:sp>
        </mc:Fallback>
      </mc:AlternateContent>
    </p:spTree>
    <p:extLst>
      <p:ext uri="{BB962C8B-B14F-4D97-AF65-F5344CB8AC3E}">
        <p14:creationId xmlns:p14="http://schemas.microsoft.com/office/powerpoint/2010/main" val="8333669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38922"/>
            <a:ext cx="12039600" cy="982810"/>
          </a:xfrm>
        </p:spPr>
        <p:txBody>
          <a:bodyPr>
            <a:normAutofit/>
          </a:bodyPr>
          <a:lstStyle/>
          <a:p>
            <a:pPr algn="ctr"/>
            <a:r>
              <a:rPr lang="en-US" sz="4000" dirty="0">
                <a:latin typeface="Calibri" panose="020F0502020204030204" pitchFamily="34" charset="0"/>
                <a:cs typeface="Calibri" panose="020F0502020204030204" pitchFamily="34" charset="0"/>
              </a:rPr>
              <a:t>Lienard-Wierchert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7890" y="1721022"/>
                <a:ext cx="7428963" cy="4361726"/>
              </a:xfrm>
            </p:spPr>
            <p:txBody>
              <a:bodyPr>
                <a:normAutofit/>
              </a:bodyPr>
              <a:lstStyle/>
              <a:p>
                <a:pPr marL="342900" indent="-342900">
                  <a:lnSpc>
                    <a:spcPct val="100000"/>
                  </a:lnSpc>
                  <a:spcBef>
                    <a:spcPts val="0"/>
                  </a:spcBef>
                </a:pPr>
                <a14:m>
                  <m:oMath xmlns:m="http://schemas.openxmlformats.org/officeDocument/2006/math">
                    <m:r>
                      <a:rPr lang="en-US" sz="2000" i="1" smtClean="0">
                        <a:latin typeface="Cambria Math" panose="02040503050406030204" pitchFamily="18" charset="0"/>
                        <a:ea typeface="Cambria Math" panose="02040503050406030204" pitchFamily="18" charset="0"/>
                        <a:cs typeface="Arial" panose="020B0604020202020204" pitchFamily="34" charset="0"/>
                      </a:rPr>
                      <m:t>𝜙</m:t>
                    </m:r>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1,</m:t>
                        </m:r>
                        <m:r>
                          <a:rPr lang="en-US" sz="2000" i="1">
                            <a:latin typeface="Cambria Math" panose="02040503050406030204" pitchFamily="18" charset="0"/>
                            <a:cs typeface="Arial" panose="020B0604020202020204" pitchFamily="34" charset="0"/>
                          </a:rPr>
                          <m:t>𝑡</m:t>
                        </m:r>
                      </m:e>
                    </m:d>
                    <m:r>
                      <a:rPr lang="en-US" sz="2000" i="1">
                        <a:latin typeface="Cambria Math" panose="02040503050406030204" pitchFamily="18" charset="0"/>
                        <a:cs typeface="Arial" panose="020B0604020202020204" pitchFamily="34" charset="0"/>
                      </a:rPr>
                      <m:t>= </m:t>
                    </m:r>
                    <m:nary>
                      <m:naryPr>
                        <m:limLoc m:val="undOvr"/>
                        <m:subHide m:val="on"/>
                        <m:supHide m:val="on"/>
                        <m:ctrlPr>
                          <a:rPr lang="en-US" sz="2000" i="1">
                            <a:latin typeface="Cambria Math" panose="02040503050406030204" pitchFamily="18" charset="0"/>
                            <a:cs typeface="Arial" panose="020B0604020202020204" pitchFamily="34" charset="0"/>
                          </a:rPr>
                        </m:ctrlPr>
                      </m:naryPr>
                      <m:sub/>
                      <m:sup/>
                      <m:e>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𝜌</m:t>
                            </m:r>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2, </m:t>
                                </m:r>
                                <m:r>
                                  <a:rPr lang="en-US" sz="2000" i="1">
                                    <a:latin typeface="Cambria Math" panose="02040503050406030204" pitchFamily="18" charset="0"/>
                                    <a:cs typeface="Arial" panose="020B0604020202020204" pitchFamily="34" charset="0"/>
                                  </a:rPr>
                                  <m:t>𝑡</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𝑟</m:t>
                                        </m:r>
                                      </m:e>
                                      <m:sub>
                                        <m:r>
                                          <a:rPr lang="en-US" sz="2000" i="1">
                                            <a:latin typeface="Cambria Math" panose="02040503050406030204" pitchFamily="18" charset="0"/>
                                            <a:cs typeface="Arial" panose="020B0604020202020204" pitchFamily="34" charset="0"/>
                                          </a:rPr>
                                          <m:t>12</m:t>
                                        </m:r>
                                      </m:sub>
                                    </m:sSub>
                                  </m:num>
                                  <m:den>
                                    <m:r>
                                      <a:rPr lang="en-US" sz="2000" i="1">
                                        <a:latin typeface="Cambria Math" panose="02040503050406030204" pitchFamily="18" charset="0"/>
                                        <a:cs typeface="Arial" panose="020B0604020202020204" pitchFamily="34" charset="0"/>
                                      </a:rPr>
                                      <m:t>𝑐</m:t>
                                    </m:r>
                                  </m:den>
                                </m:f>
                              </m:e>
                            </m:d>
                          </m:num>
                          <m:den>
                            <m:r>
                              <a:rPr lang="en-US" sz="2000" i="1">
                                <a:latin typeface="Cambria Math" panose="02040503050406030204" pitchFamily="18" charset="0"/>
                                <a:cs typeface="Arial" panose="020B0604020202020204" pitchFamily="34" charset="0"/>
                              </a:rPr>
                              <m:t>4</m:t>
                            </m:r>
                            <m:r>
                              <a:rPr lang="en-US" sz="2000" i="1">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𝜖</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𝑟</m:t>
                                </m:r>
                              </m:e>
                              <m:sub>
                                <m:r>
                                  <a:rPr lang="en-US" sz="2000" i="1">
                                    <a:latin typeface="Cambria Math" panose="02040503050406030204" pitchFamily="18" charset="0"/>
                                    <a:ea typeface="Cambria Math" panose="02040503050406030204" pitchFamily="18" charset="0"/>
                                    <a:cs typeface="Arial" panose="020B0604020202020204" pitchFamily="34" charset="0"/>
                                  </a:rPr>
                                  <m:t>12</m:t>
                                </m:r>
                              </m:sub>
                            </m:sSub>
                          </m:den>
                        </m:f>
                      </m:e>
                    </m:nary>
                    <m:r>
                      <a:rPr lang="en-US" sz="2000" i="1">
                        <a:latin typeface="Cambria Math" panose="02040503050406030204" pitchFamily="18" charset="0"/>
                        <a:cs typeface="Arial" panose="020B0604020202020204" pitchFamily="34" charset="0"/>
                      </a:rPr>
                      <m:t> </m:t>
                    </m:r>
                    <m:r>
                      <a:rPr lang="en-US" sz="2000" i="1">
                        <a:latin typeface="Cambria Math" panose="02040503050406030204" pitchFamily="18" charset="0"/>
                        <a:cs typeface="Arial" panose="020B0604020202020204" pitchFamily="34" charset="0"/>
                      </a:rPr>
                      <m:t>𝑑</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𝑉</m:t>
                        </m:r>
                      </m:e>
                      <m:sub>
                        <m:r>
                          <a:rPr lang="en-US" sz="2000" i="1">
                            <a:latin typeface="Cambria Math" panose="02040503050406030204" pitchFamily="18" charset="0"/>
                            <a:cs typeface="Arial" panose="020B0604020202020204" pitchFamily="34" charset="0"/>
                          </a:rPr>
                          <m:t>2</m:t>
                        </m:r>
                      </m:sub>
                    </m:sSub>
                  </m:oMath>
                </a14:m>
                <a:endParaRPr lang="en-US" sz="2000" dirty="0">
                  <a:latin typeface="Calibri" panose="020F0502020204030204" pitchFamily="34" charset="0"/>
                  <a:cs typeface="Calibri" panose="020F0502020204030204" pitchFamily="34" charset="0"/>
                </a:endParaRPr>
              </a:p>
              <a:p>
                <a:pPr marL="342900" indent="-342900">
                  <a:lnSpc>
                    <a:spcPct val="100000"/>
                  </a:lnSpc>
                  <a:spcBef>
                    <a:spcPts val="0"/>
                  </a:spcBef>
                </a:pPr>
                <a14:m>
                  <m:oMath xmlns:m="http://schemas.openxmlformats.org/officeDocument/2006/math">
                    <m:r>
                      <a:rPr lang="en-US" sz="2000" i="1">
                        <a:latin typeface="Cambria Math" panose="02040503050406030204" pitchFamily="18" charset="0"/>
                        <a:ea typeface="Cambria Math" panose="02040503050406030204" pitchFamily="18" charset="0"/>
                        <a:cs typeface="Arial" panose="020B0604020202020204" pitchFamily="34" charset="0"/>
                      </a:rPr>
                      <m:t>𝜙</m:t>
                    </m:r>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1,</m:t>
                        </m:r>
                        <m:r>
                          <a:rPr lang="en-US" sz="2000" i="1">
                            <a:latin typeface="Cambria Math" panose="02040503050406030204" pitchFamily="18" charset="0"/>
                            <a:cs typeface="Arial" panose="020B0604020202020204" pitchFamily="34" charset="0"/>
                          </a:rPr>
                          <m:t>𝑡</m:t>
                        </m:r>
                      </m:e>
                    </m:d>
                    <m:r>
                      <a:rPr lang="en-US" sz="2000" i="1">
                        <a:latin typeface="Cambria Math" panose="02040503050406030204" pitchFamily="18" charset="0"/>
                        <a:cs typeface="Arial" panose="020B0604020202020204" pitchFamily="34" charset="0"/>
                      </a:rPr>
                      <m:t>=</m:t>
                    </m:r>
                    <m:nary>
                      <m:naryPr>
                        <m:chr m:val="∑"/>
                        <m:subHide m:val="on"/>
                        <m:supHide m:val="on"/>
                        <m:ctrlPr>
                          <a:rPr lang="en-US" sz="2000" i="1" smtClean="0">
                            <a:latin typeface="Cambria Math" panose="02040503050406030204" pitchFamily="18" charset="0"/>
                            <a:cs typeface="Arial" panose="020B0604020202020204" pitchFamily="34" charset="0"/>
                          </a:rPr>
                        </m:ctrlPr>
                      </m:naryPr>
                      <m:sub/>
                      <m:sup/>
                      <m:e>
                        <m:f>
                          <m:fPr>
                            <m:ctrlPr>
                              <a:rPr lang="en-US" sz="2000" i="1" smtClean="0">
                                <a:latin typeface="Cambria Math" panose="02040503050406030204" pitchFamily="18" charset="0"/>
                                <a:cs typeface="Arial" panose="020B0604020202020204" pitchFamily="34" charset="0"/>
                              </a:rPr>
                            </m:ctrlPr>
                          </m:fPr>
                          <m:num>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i="1" smtClean="0">
                                    <a:latin typeface="Cambria Math" panose="02040503050406030204" pitchFamily="18" charset="0"/>
                                    <a:ea typeface="Cambria Math" panose="02040503050406030204" pitchFamily="18" charset="0"/>
                                    <a:cs typeface="Arial" panose="020B0604020202020204" pitchFamily="34" charset="0"/>
                                  </a:rPr>
                                  <m:t>𝜌</m:t>
                                </m:r>
                              </m:e>
                              <m:sub>
                                <m:r>
                                  <a:rPr lang="en-US" sz="2000" b="0" i="1" smtClean="0">
                                    <a:latin typeface="Cambria Math" panose="02040503050406030204" pitchFamily="18" charset="0"/>
                                    <a:cs typeface="Arial" panose="020B0604020202020204" pitchFamily="34" charset="0"/>
                                  </a:rPr>
                                  <m:t>𝑖</m:t>
                                </m:r>
                              </m:sub>
                            </m:sSub>
                            <m:r>
                              <a:rPr lang="en-US" sz="200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𝑉</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𝑖</m:t>
                                </m:r>
                              </m:sub>
                            </m:sSub>
                          </m:num>
                          <m:den>
                            <m:sSup>
                              <m:sSupPr>
                                <m:ctrlPr>
                                  <a:rPr lang="en-US" sz="2000" i="1" smtClean="0">
                                    <a:latin typeface="Cambria Math" panose="02040503050406030204" pitchFamily="18" charset="0"/>
                                    <a:cs typeface="Arial" panose="020B0604020202020204" pitchFamily="34" charset="0"/>
                                  </a:rPr>
                                </m:ctrlPr>
                              </m:sSupPr>
                              <m:e>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𝑟</m:t>
                                    </m:r>
                                  </m:e>
                                  <m:sub>
                                    <m:r>
                                      <a:rPr lang="en-US" sz="2000" b="0" i="1" smtClean="0">
                                        <a:latin typeface="Cambria Math" panose="02040503050406030204" pitchFamily="18" charset="0"/>
                                        <a:cs typeface="Arial" panose="020B0604020202020204" pitchFamily="34" charset="0"/>
                                      </a:rPr>
                                      <m:t>𝑖</m:t>
                                    </m:r>
                                  </m:sub>
                                </m:sSub>
                              </m:e>
                              <m:sup>
                                <m:r>
                                  <a:rPr lang="en-US" sz="2000" b="0" i="1" smtClean="0">
                                    <a:latin typeface="Cambria Math" panose="02040503050406030204" pitchFamily="18" charset="0"/>
                                    <a:cs typeface="Arial" panose="020B0604020202020204" pitchFamily="34" charset="0"/>
                                  </a:rPr>
                                  <m:t>′</m:t>
                                </m:r>
                              </m:sup>
                            </m:sSup>
                          </m:den>
                        </m:f>
                      </m:e>
                    </m:nary>
                    <m:r>
                      <a:rPr lang="en-US" sz="2000" b="0" i="1" smtClean="0">
                        <a:latin typeface="Cambria Math" panose="02040503050406030204" pitchFamily="18" charset="0"/>
                        <a:cs typeface="Arial" panose="020B0604020202020204" pitchFamily="34" charset="0"/>
                      </a:rPr>
                      <m:t>=</m:t>
                    </m:r>
                    <m:nary>
                      <m:naryPr>
                        <m:chr m:val="∑"/>
                        <m:subHide m:val="on"/>
                        <m:supHide m:val="on"/>
                        <m:ctrlPr>
                          <a:rPr lang="en-US" sz="2000" b="0" i="1" smtClean="0">
                            <a:latin typeface="Cambria Math" panose="02040503050406030204" pitchFamily="18" charset="0"/>
                            <a:cs typeface="Arial" panose="020B0604020202020204" pitchFamily="34" charset="0"/>
                          </a:rPr>
                        </m:ctrlPr>
                      </m:naryPr>
                      <m:sub/>
                      <m:sup/>
                      <m:e>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𝜌</m:t>
                            </m:r>
                            <m:r>
                              <a:rPr lang="en-US" sz="2000" b="0" i="1" smtClean="0">
                                <a:latin typeface="Cambria Math" panose="02040503050406030204" pitchFamily="18" charset="0"/>
                                <a:ea typeface="Cambria Math" panose="02040503050406030204" pitchFamily="18" charset="0"/>
                                <a:cs typeface="Arial" panose="020B0604020202020204" pitchFamily="34" charset="0"/>
                              </a:rPr>
                              <m:t>𝑤</m:t>
                            </m:r>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𝑎</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num>
                          <m:den>
                            <m:sSup>
                              <m:sSupPr>
                                <m:ctrlPr>
                                  <a:rPr lang="en-US" sz="2000" b="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𝑟</m:t>
                                </m:r>
                              </m:e>
                              <m:sup>
                                <m:r>
                                  <a:rPr lang="en-US" sz="2000" b="0" i="1" smtClean="0">
                                    <a:latin typeface="Cambria Math" panose="02040503050406030204" pitchFamily="18" charset="0"/>
                                    <a:cs typeface="Arial" panose="020B0604020202020204" pitchFamily="34" charset="0"/>
                                  </a:rPr>
                                  <m:t>′</m:t>
                                </m:r>
                              </m:sup>
                            </m:sSup>
                          </m:den>
                        </m:f>
                      </m:e>
                    </m:nary>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𝜌</m:t>
                        </m:r>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𝑎</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3</m:t>
                            </m:r>
                          </m:sup>
                        </m:sSup>
                      </m:num>
                      <m:den>
                        <m:sSup>
                          <m:sSupPr>
                            <m:ctrlPr>
                              <a:rPr lang="en-US" sz="2000" b="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𝑟</m:t>
                            </m:r>
                          </m:e>
                          <m:sup>
                            <m:r>
                              <a:rPr lang="en-US" sz="2000" b="0" i="1" smtClean="0">
                                <a:latin typeface="Cambria Math" panose="02040503050406030204" pitchFamily="18" charset="0"/>
                                <a:cs typeface="Arial" panose="020B0604020202020204" pitchFamily="34" charset="0"/>
                              </a:rPr>
                              <m:t>′</m:t>
                            </m:r>
                          </m:sup>
                        </m:sSup>
                      </m:den>
                    </m:f>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𝑁𝑤</m:t>
                        </m:r>
                      </m:num>
                      <m:den>
                        <m:r>
                          <a:rPr lang="en-US" sz="2000" b="0" i="1" smtClean="0">
                            <a:latin typeface="Cambria Math" panose="02040503050406030204" pitchFamily="18" charset="0"/>
                            <a:cs typeface="Arial" panose="020B0604020202020204" pitchFamily="34" charset="0"/>
                          </a:rPr>
                          <m:t>𝑎</m:t>
                        </m:r>
                      </m:den>
                    </m:f>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𝑞</m:t>
                        </m:r>
                      </m:num>
                      <m:den>
                        <m:sSup>
                          <m:sSupPr>
                            <m:ctrlPr>
                              <a:rPr lang="en-US" sz="2000" b="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𝑟</m:t>
                            </m:r>
                          </m:e>
                          <m:sup>
                            <m:r>
                              <a:rPr lang="en-US" sz="2000" b="0" i="1" smtClean="0">
                                <a:latin typeface="Cambria Math" panose="02040503050406030204" pitchFamily="18" charset="0"/>
                                <a:cs typeface="Arial" panose="020B0604020202020204" pitchFamily="34" charset="0"/>
                              </a:rPr>
                              <m:t>′</m:t>
                            </m:r>
                          </m:sup>
                        </m:sSup>
                      </m:den>
                    </m:f>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𝑏</m:t>
                        </m:r>
                      </m:num>
                      <m:den>
                        <m:r>
                          <a:rPr lang="en-US" sz="2000" b="0" i="1" smtClean="0">
                            <a:latin typeface="Cambria Math" panose="02040503050406030204" pitchFamily="18" charset="0"/>
                            <a:cs typeface="Arial" panose="020B0604020202020204" pitchFamily="34" charset="0"/>
                          </a:rPr>
                          <m:t>𝑎</m:t>
                        </m:r>
                      </m:den>
                    </m:f>
                  </m:oMath>
                </a14:m>
                <a:endParaRPr lang="en-US" sz="2000" dirty="0">
                  <a:latin typeface="Calibri" panose="020F0502020204030204" pitchFamily="34" charset="0"/>
                  <a:cs typeface="Calibri" panose="020F0502020204030204" pitchFamily="34" charset="0"/>
                </a:endParaRPr>
              </a:p>
              <a:p>
                <a:pPr marL="342900" indent="-342900">
                  <a:lnSpc>
                    <a:spcPct val="100000"/>
                  </a:lnSpc>
                  <a:spcBef>
                    <a:spcPts val="0"/>
                  </a:spcBef>
                </a:pPr>
                <a14:m>
                  <m:oMath xmlns:m="http://schemas.openxmlformats.org/officeDocument/2006/math">
                    <m:r>
                      <a:rPr lang="en-US" sz="2000" b="0" i="1" smtClean="0">
                        <a:latin typeface="Cambria Math" panose="02040503050406030204" pitchFamily="18" charset="0"/>
                        <a:cs typeface="Calibri" panose="020F0502020204030204" pitchFamily="34" charset="0"/>
                      </a:rPr>
                      <m:t>𝑏</m:t>
                    </m:r>
                    <m:r>
                      <a:rPr lang="en-US" sz="2000" b="0" i="1" smtClean="0">
                        <a:latin typeface="Cambria Math" panose="02040503050406030204" pitchFamily="18" charset="0"/>
                        <a:cs typeface="Calibri" panose="020F0502020204030204" pitchFamily="34" charset="0"/>
                      </a:rPr>
                      <m:t>=</m:t>
                    </m:r>
                    <m:r>
                      <a:rPr lang="en-US" sz="2000" b="0" i="1" smtClean="0">
                        <a:latin typeface="Cambria Math" panose="02040503050406030204" pitchFamily="18" charset="0"/>
                        <a:cs typeface="Calibri" panose="020F0502020204030204" pitchFamily="34" charset="0"/>
                      </a:rPr>
                      <m:t>𝑎</m:t>
                    </m:r>
                    <m:r>
                      <a:rPr lang="en-US" sz="2000" b="0" i="1" smtClean="0">
                        <a:latin typeface="Cambria Math" panose="02040503050406030204" pitchFamily="18" charset="0"/>
                        <a:cs typeface="Calibri" panose="020F0502020204030204" pitchFamily="34" charset="0"/>
                      </a:rPr>
                      <m:t>+</m:t>
                    </m:r>
                    <m:f>
                      <m:fPr>
                        <m:ctrlPr>
                          <a:rPr lang="en-US" sz="2000" b="0" i="1" smtClean="0">
                            <a:latin typeface="Cambria Math" panose="02040503050406030204" pitchFamily="18" charset="0"/>
                            <a:cs typeface="Calibri" panose="020F0502020204030204" pitchFamily="34" charset="0"/>
                          </a:rPr>
                        </m:ctrlPr>
                      </m:fPr>
                      <m:num>
                        <m:r>
                          <a:rPr lang="en-US" sz="2000" b="0" i="1" smtClean="0">
                            <a:latin typeface="Cambria Math" panose="02040503050406030204" pitchFamily="18" charset="0"/>
                            <a:cs typeface="Calibri" panose="020F0502020204030204" pitchFamily="34" charset="0"/>
                          </a:rPr>
                          <m:t>𝑣</m:t>
                        </m:r>
                      </m:num>
                      <m:den>
                        <m:r>
                          <a:rPr lang="en-US" sz="2000" b="0" i="1" smtClean="0">
                            <a:latin typeface="Cambria Math" panose="02040503050406030204" pitchFamily="18" charset="0"/>
                            <a:cs typeface="Calibri" panose="020F0502020204030204" pitchFamily="34" charset="0"/>
                          </a:rPr>
                          <m:t>𝑐</m:t>
                        </m:r>
                      </m:den>
                    </m:f>
                    <m:r>
                      <a:rPr lang="en-US" sz="2000" b="0" i="1" smtClean="0">
                        <a:latin typeface="Cambria Math" panose="02040503050406030204" pitchFamily="18" charset="0"/>
                        <a:cs typeface="Calibri" panose="020F0502020204030204" pitchFamily="34" charset="0"/>
                      </a:rPr>
                      <m:t>𝑏</m:t>
                    </m:r>
                  </m:oMath>
                </a14:m>
                <a:endParaRPr lang="en-US" sz="2000" dirty="0">
                  <a:latin typeface="Calibri" panose="020F0502020204030204" pitchFamily="34" charset="0"/>
                  <a:cs typeface="Calibri" panose="020F0502020204030204" pitchFamily="34" charset="0"/>
                </a:endParaRPr>
              </a:p>
              <a:p>
                <a:pPr marL="342900" indent="-342900">
                  <a:lnSpc>
                    <a:spcPct val="100000"/>
                  </a:lnSpc>
                  <a:spcBef>
                    <a:spcPts val="0"/>
                  </a:spcBef>
                </a:pPr>
                <a:r>
                  <a:rPr lang="en-US" sz="2000" dirty="0">
                    <a:latin typeface="Calibri" panose="020F0502020204030204" pitchFamily="34" charset="0"/>
                    <a:cs typeface="Calibri" panose="020F0502020204030204" pitchFamily="34" charset="0"/>
                  </a:rPr>
                  <a:t>So, we get</a:t>
                </a:r>
              </a:p>
              <a:p>
                <a:pPr marL="800100" lvl="1" indent="-342900">
                  <a:lnSpc>
                    <a:spcPct val="100000"/>
                  </a:lnSpc>
                  <a:spcBef>
                    <a:spcPts val="0"/>
                  </a:spcBef>
                </a:pPr>
                <a14:m>
                  <m:oMath xmlns:m="http://schemas.openxmlformats.org/officeDocument/2006/math">
                    <m:r>
                      <a:rPr lang="en-US" sz="2000" i="1">
                        <a:latin typeface="Cambria Math" panose="02040503050406030204" pitchFamily="18" charset="0"/>
                        <a:ea typeface="Cambria Math" panose="02040503050406030204" pitchFamily="18" charset="0"/>
                        <a:cs typeface="Arial" panose="020B0604020202020204" pitchFamily="34" charset="0"/>
                      </a:rPr>
                      <m:t>𝜙</m:t>
                    </m:r>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1,</m:t>
                        </m:r>
                        <m:r>
                          <a:rPr lang="en-US" sz="2000" i="1">
                            <a:latin typeface="Cambria Math" panose="02040503050406030204" pitchFamily="18" charset="0"/>
                            <a:cs typeface="Arial" panose="020B0604020202020204" pitchFamily="34" charset="0"/>
                          </a:rPr>
                          <m:t>𝑡</m:t>
                        </m:r>
                      </m:e>
                    </m:d>
                    <m:r>
                      <a:rPr lang="en-US" sz="2000" i="1">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𝑞</m:t>
                        </m:r>
                      </m:num>
                      <m:den>
                        <m:r>
                          <a:rPr lang="en-US" sz="2000" b="0" i="1" smtClean="0">
                            <a:latin typeface="Cambria Math" panose="02040503050406030204" pitchFamily="18" charset="0"/>
                            <a:cs typeface="Arial" panose="020B0604020202020204" pitchFamily="34" charset="0"/>
                          </a:rPr>
                          <m:t>4</m:t>
                        </m:r>
                        <m:r>
                          <a:rPr lang="en-US" sz="2000" b="0" i="1" smtClean="0">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𝜖</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0</m:t>
                            </m:r>
                          </m:sub>
                        </m:sSub>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𝑣</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𝑟</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𝑐</m:t>
                                </m:r>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𝑟𝑒𝑡</m:t>
                            </m:r>
                          </m:sub>
                        </m:sSub>
                      </m:den>
                    </m:f>
                  </m:oMath>
                </a14:m>
                <a:r>
                  <a:rPr lang="en-US" sz="2000" dirty="0">
                    <a:latin typeface="Calibri" panose="020F0502020204030204" pitchFamily="34" charset="0"/>
                    <a:cs typeface="Calibri" panose="020F0502020204030204" pitchFamily="34" charset="0"/>
                  </a:rPr>
                  <a:t> and</a:t>
                </a:r>
              </a:p>
              <a:p>
                <a:pPr marL="800100" lvl="1" indent="-342900">
                  <a:lnSpc>
                    <a:spcPct val="100000"/>
                  </a:lnSpc>
                  <a:spcBef>
                    <a:spcPts val="0"/>
                  </a:spcBef>
                </a:pPr>
                <a14:m>
                  <m:oMath xmlns:m="http://schemas.openxmlformats.org/officeDocument/2006/math">
                    <m:r>
                      <a:rPr lang="en-US" sz="2000" b="0" i="1" smtClean="0">
                        <a:latin typeface="Cambria Math" panose="02040503050406030204" pitchFamily="18" charset="0"/>
                        <a:cs typeface="Calibri" panose="020F0502020204030204" pitchFamily="34" charset="0"/>
                      </a:rPr>
                      <m:t>𝐴</m:t>
                    </m:r>
                    <m:d>
                      <m:dPr>
                        <m:ctrlPr>
                          <a:rPr lang="en-US" sz="2000" b="0" i="1" smtClean="0">
                            <a:latin typeface="Cambria Math" panose="02040503050406030204" pitchFamily="18" charset="0"/>
                            <a:cs typeface="Calibri" panose="020F0502020204030204" pitchFamily="34" charset="0"/>
                          </a:rPr>
                        </m:ctrlPr>
                      </m:dPr>
                      <m:e>
                        <m:r>
                          <a:rPr lang="en-US" sz="2000" b="0" i="1" smtClean="0">
                            <a:latin typeface="Cambria Math" panose="02040503050406030204" pitchFamily="18" charset="0"/>
                            <a:cs typeface="Calibri" panose="020F0502020204030204" pitchFamily="34" charset="0"/>
                          </a:rPr>
                          <m:t>1,</m:t>
                        </m:r>
                        <m:r>
                          <a:rPr lang="en-US" sz="2000" b="0" i="1" smtClean="0">
                            <a:latin typeface="Cambria Math" panose="02040503050406030204" pitchFamily="18" charset="0"/>
                            <a:cs typeface="Calibri" panose="020F0502020204030204" pitchFamily="34" charset="0"/>
                          </a:rPr>
                          <m:t>𝑡</m:t>
                        </m:r>
                      </m:e>
                    </m:d>
                    <m:r>
                      <a:rPr lang="en-US" sz="2000" b="0" i="1" smtClean="0">
                        <a:latin typeface="Cambria Math" panose="02040503050406030204" pitchFamily="18" charset="0"/>
                        <a:cs typeface="Calibri" panose="020F050202020403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𝑞</m:t>
                        </m:r>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𝑣</m:t>
                            </m:r>
                          </m:e>
                          <m:sub>
                            <m:r>
                              <a:rPr lang="en-US" sz="2000" b="0" i="1" smtClean="0">
                                <a:latin typeface="Cambria Math" panose="02040503050406030204" pitchFamily="18" charset="0"/>
                                <a:cs typeface="Arial" panose="020B0604020202020204" pitchFamily="34" charset="0"/>
                              </a:rPr>
                              <m:t>𝑟𝑒𝑡</m:t>
                            </m:r>
                          </m:sub>
                        </m:sSub>
                      </m:num>
                      <m:den>
                        <m:r>
                          <a:rPr lang="en-US" sz="2000" i="1">
                            <a:latin typeface="Cambria Math" panose="02040503050406030204" pitchFamily="18" charset="0"/>
                            <a:cs typeface="Arial" panose="020B0604020202020204" pitchFamily="34" charset="0"/>
                          </a:rPr>
                          <m:t>4</m:t>
                        </m:r>
                        <m:r>
                          <a:rPr lang="en-US" sz="2000" i="1">
                            <a:latin typeface="Cambria Math" panose="02040503050406030204" pitchFamily="18" charset="0"/>
                            <a:ea typeface="Cambria Math" panose="02040503050406030204" pitchFamily="18" charset="0"/>
                            <a:cs typeface="Arial" panose="020B0604020202020204" pitchFamily="34" charset="0"/>
                          </a:rPr>
                          <m:t>𝜋</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𝜖</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𝑐</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𝑟</m:t>
                            </m:r>
                            <m:r>
                              <a:rPr lang="en-US" sz="2000" i="1">
                                <a:latin typeface="Cambria Math" panose="02040503050406030204" pitchFamily="18" charset="0"/>
                                <a:ea typeface="Cambria Math" panose="02040503050406030204" pitchFamily="18" charset="0"/>
                                <a:cs typeface="Arial" panose="020B0604020202020204" pitchFamily="34" charset="0"/>
                              </a:rPr>
                              <m:t>−</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𝑣</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𝑟</m:t>
                                </m:r>
                              </m:num>
                              <m:den>
                                <m:r>
                                  <a:rPr lang="en-US" sz="2000" i="1">
                                    <a:latin typeface="Cambria Math" panose="02040503050406030204" pitchFamily="18" charset="0"/>
                                    <a:ea typeface="Cambria Math" panose="02040503050406030204" pitchFamily="18" charset="0"/>
                                    <a:cs typeface="Arial" panose="020B0604020202020204" pitchFamily="34" charset="0"/>
                                  </a:rPr>
                                  <m:t>𝑐</m:t>
                                </m:r>
                              </m:den>
                            </m:f>
                            <m:r>
                              <a:rPr lang="en-US" sz="2000" i="1">
                                <a:latin typeface="Cambria Math" panose="02040503050406030204" pitchFamily="18" charset="0"/>
                                <a:ea typeface="Cambria Math" panose="02040503050406030204" pitchFamily="18" charset="0"/>
                                <a:cs typeface="Arial" panose="020B0604020202020204" pitchFamily="34" charset="0"/>
                              </a:rPr>
                              <m:t>]</m:t>
                            </m:r>
                          </m:e>
                          <m:sub>
                            <m:r>
                              <a:rPr lang="en-US" sz="2000" i="1">
                                <a:latin typeface="Cambria Math" panose="02040503050406030204" pitchFamily="18" charset="0"/>
                                <a:ea typeface="Cambria Math" panose="02040503050406030204" pitchFamily="18" charset="0"/>
                                <a:cs typeface="Arial" panose="020B0604020202020204" pitchFamily="34" charset="0"/>
                              </a:rPr>
                              <m:t>𝑟𝑒𝑡</m:t>
                            </m:r>
                          </m:sub>
                        </m:sSub>
                      </m:den>
                    </m:f>
                  </m:oMath>
                </a14:m>
                <a:endParaRPr lang="en-US" sz="2000" dirty="0">
                  <a:latin typeface="Calibri" panose="020F0502020204030204" pitchFamily="34" charset="0"/>
                  <a:cs typeface="Calibri" panose="020F0502020204030204" pitchFamily="34" charset="0"/>
                </a:endParaRPr>
              </a:p>
              <a:p>
                <a:pPr marL="342900" indent="-342900">
                  <a:lnSpc>
                    <a:spcPct val="100000"/>
                  </a:lnSpc>
                  <a:spcBef>
                    <a:spcPts val="0"/>
                  </a:spcBef>
                </a:pPr>
                <a:r>
                  <a:rPr lang="en-US" sz="2000" dirty="0">
                    <a:latin typeface="Calibri" panose="020F0502020204030204" pitchFamily="34" charset="0"/>
                    <a:cs typeface="Calibri" panose="020F0502020204030204" pitchFamily="34" charset="0"/>
                  </a:rPr>
                  <a:t>Now we can compute </a:t>
                </a:r>
                <a14:m>
                  <m:oMath xmlns:m="http://schemas.openxmlformats.org/officeDocument/2006/math">
                    <m:r>
                      <a:rPr lang="en-US" sz="2000" b="0" i="1" smtClean="0">
                        <a:latin typeface="Cambria Math" panose="02040503050406030204" pitchFamily="18" charset="0"/>
                        <a:cs typeface="Calibri" panose="020F0502020204030204" pitchFamily="34" charset="0"/>
                      </a:rPr>
                      <m:t>𝐸</m:t>
                    </m:r>
                  </m:oMath>
                </a14:m>
                <a:r>
                  <a:rPr lang="en-US" sz="2000" dirty="0">
                    <a:latin typeface="Calibri" panose="020F0502020204030204" pitchFamily="34" charset="0"/>
                    <a:cs typeface="Calibri" panose="020F0502020204030204" pitchFamily="34" charset="0"/>
                  </a:rPr>
                  <a:t> as above and verify the Heaviside formula</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7890" y="1721022"/>
                <a:ext cx="7428963" cy="4361726"/>
              </a:xfrm>
              <a:blipFill>
                <a:blip r:embed="rId2"/>
                <a:stretch>
                  <a:fillRect l="-683" t="-9855"/>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7A91E16D-0EAD-4D3D-AC22-65013F654EE2}" type="slidenum">
              <a:rPr lang="en-US" altLang="en-US" smtClean="0"/>
              <a:pPr>
                <a:defRPr/>
              </a:pPr>
              <a:t>44</a:t>
            </a:fld>
            <a:endParaRPr lang="en-US" altLang="en-US" dirty="0"/>
          </a:p>
        </p:txBody>
      </p:sp>
      <p:grpSp>
        <p:nvGrpSpPr>
          <p:cNvPr id="59" name="Group 58">
            <a:extLst>
              <a:ext uri="{FF2B5EF4-FFF2-40B4-BE49-F238E27FC236}">
                <a16:creationId xmlns:a16="http://schemas.microsoft.com/office/drawing/2014/main" id="{CAEAD4B3-A508-B84C-B15C-2B78D54731A2}"/>
              </a:ext>
            </a:extLst>
          </p:cNvPr>
          <p:cNvGrpSpPr/>
          <p:nvPr/>
        </p:nvGrpSpPr>
        <p:grpSpPr>
          <a:xfrm>
            <a:off x="8036560" y="1656573"/>
            <a:ext cx="3799840" cy="3457674"/>
            <a:chOff x="6289040" y="904733"/>
            <a:chExt cx="3799840" cy="3457674"/>
          </a:xfrm>
        </p:grpSpPr>
        <p:sp>
          <p:nvSpPr>
            <p:cNvPr id="6" name="Rectangle 5">
              <a:extLst>
                <a:ext uri="{FF2B5EF4-FFF2-40B4-BE49-F238E27FC236}">
                  <a16:creationId xmlns:a16="http://schemas.microsoft.com/office/drawing/2014/main" id="{69FD2414-CCEE-0B42-9C21-2D974E43A81F}"/>
                </a:ext>
              </a:extLst>
            </p:cNvPr>
            <p:cNvSpPr/>
            <p:nvPr/>
          </p:nvSpPr>
          <p:spPr>
            <a:xfrm>
              <a:off x="6339840" y="1239520"/>
              <a:ext cx="193040" cy="1016000"/>
            </a:xfrm>
            <a:prstGeom prst="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26A0DCE9-0E36-6B4C-BBD0-E94D27238B8E}"/>
                </a:ext>
              </a:extLst>
            </p:cNvPr>
            <p:cNvCxnSpPr>
              <a:cxnSpLocks/>
            </p:cNvCxnSpPr>
            <p:nvPr/>
          </p:nvCxnSpPr>
          <p:spPr>
            <a:xfrm>
              <a:off x="6309360" y="1198880"/>
              <a:ext cx="0" cy="30378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0744F7C-443B-754D-8473-64F87AB01087}"/>
                </a:ext>
              </a:extLst>
            </p:cNvPr>
            <p:cNvSpPr txBox="1"/>
            <p:nvPr/>
          </p:nvSpPr>
          <p:spPr>
            <a:xfrm>
              <a:off x="6289040" y="1676400"/>
              <a:ext cx="276038" cy="307777"/>
            </a:xfrm>
            <a:prstGeom prst="rect">
              <a:avLst/>
            </a:prstGeom>
            <a:noFill/>
          </p:spPr>
          <p:txBody>
            <a:bodyPr wrap="none" rtlCol="0">
              <a:spAutoFit/>
            </a:bodyPr>
            <a:lstStyle/>
            <a:p>
              <a:r>
                <a:rPr lang="en-US" sz="1400" dirty="0"/>
                <a:t>1</a:t>
              </a:r>
              <a:endParaRPr lang="en-US" dirty="0"/>
            </a:p>
          </p:txBody>
        </p:sp>
        <p:sp>
          <p:nvSpPr>
            <p:cNvPr id="11" name="Rectangle 10">
              <a:extLst>
                <a:ext uri="{FF2B5EF4-FFF2-40B4-BE49-F238E27FC236}">
                  <a16:creationId xmlns:a16="http://schemas.microsoft.com/office/drawing/2014/main" id="{A73FAC5E-9BB6-484A-9336-68DC69F2B589}"/>
                </a:ext>
              </a:extLst>
            </p:cNvPr>
            <p:cNvSpPr/>
            <p:nvPr/>
          </p:nvSpPr>
          <p:spPr>
            <a:xfrm>
              <a:off x="6532880" y="1239520"/>
              <a:ext cx="193040" cy="1016000"/>
            </a:xfrm>
            <a:prstGeom prst="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AD150B37-57DD-AD46-AC12-DA916B561529}"/>
                </a:ext>
              </a:extLst>
            </p:cNvPr>
            <p:cNvSpPr txBox="1"/>
            <p:nvPr/>
          </p:nvSpPr>
          <p:spPr>
            <a:xfrm>
              <a:off x="6471920" y="1676400"/>
              <a:ext cx="276038" cy="307777"/>
            </a:xfrm>
            <a:prstGeom prst="rect">
              <a:avLst/>
            </a:prstGeom>
            <a:noFill/>
          </p:spPr>
          <p:txBody>
            <a:bodyPr wrap="none" rtlCol="0">
              <a:spAutoFit/>
            </a:bodyPr>
            <a:lstStyle/>
            <a:p>
              <a:r>
                <a:rPr lang="en-US" sz="1400" dirty="0"/>
                <a:t>2</a:t>
              </a:r>
              <a:endParaRPr lang="en-US" dirty="0"/>
            </a:p>
          </p:txBody>
        </p:sp>
        <p:sp>
          <p:nvSpPr>
            <p:cNvPr id="13" name="Rectangle 12">
              <a:extLst>
                <a:ext uri="{FF2B5EF4-FFF2-40B4-BE49-F238E27FC236}">
                  <a16:creationId xmlns:a16="http://schemas.microsoft.com/office/drawing/2014/main" id="{143AAA46-6603-4842-9FC3-E824CBC9D234}"/>
                </a:ext>
              </a:extLst>
            </p:cNvPr>
            <p:cNvSpPr/>
            <p:nvPr/>
          </p:nvSpPr>
          <p:spPr>
            <a:xfrm>
              <a:off x="7355840" y="1259840"/>
              <a:ext cx="193040" cy="1016000"/>
            </a:xfrm>
            <a:prstGeom prst="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FDBADAD-8A61-064C-B5A1-213B9533FCB5}"/>
                </a:ext>
              </a:extLst>
            </p:cNvPr>
            <p:cNvSpPr txBox="1"/>
            <p:nvPr/>
          </p:nvSpPr>
          <p:spPr>
            <a:xfrm>
              <a:off x="7305040" y="1696720"/>
              <a:ext cx="300082" cy="307777"/>
            </a:xfrm>
            <a:prstGeom prst="rect">
              <a:avLst/>
            </a:prstGeom>
            <a:noFill/>
          </p:spPr>
          <p:txBody>
            <a:bodyPr wrap="none" rtlCol="0">
              <a:spAutoFit/>
            </a:bodyPr>
            <a:lstStyle/>
            <a:p>
              <a:r>
                <a:rPr lang="en-US" sz="1400" dirty="0"/>
                <a:t>N</a:t>
              </a:r>
              <a:endParaRPr lang="en-US" dirty="0"/>
            </a:p>
          </p:txBody>
        </p:sp>
        <p:cxnSp>
          <p:nvCxnSpPr>
            <p:cNvPr id="15" name="Straight Connector 14">
              <a:extLst>
                <a:ext uri="{FF2B5EF4-FFF2-40B4-BE49-F238E27FC236}">
                  <a16:creationId xmlns:a16="http://schemas.microsoft.com/office/drawing/2014/main" id="{3637C85E-90F2-884E-8987-EAD2D6E748A1}"/>
                </a:ext>
              </a:extLst>
            </p:cNvPr>
            <p:cNvCxnSpPr>
              <a:cxnSpLocks/>
            </p:cNvCxnSpPr>
            <p:nvPr/>
          </p:nvCxnSpPr>
          <p:spPr>
            <a:xfrm>
              <a:off x="9916160" y="1249680"/>
              <a:ext cx="0" cy="29565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EB0E39A-8722-8444-BE97-F2620C04F8D3}"/>
                </a:ext>
              </a:extLst>
            </p:cNvPr>
            <p:cNvSpPr txBox="1"/>
            <p:nvPr/>
          </p:nvSpPr>
          <p:spPr>
            <a:xfrm>
              <a:off x="6808918" y="1534160"/>
              <a:ext cx="343364" cy="369332"/>
            </a:xfrm>
            <a:prstGeom prst="rect">
              <a:avLst/>
            </a:prstGeom>
            <a:noFill/>
          </p:spPr>
          <p:txBody>
            <a:bodyPr wrap="none" rtlCol="0">
              <a:spAutoFit/>
            </a:bodyPr>
            <a:lstStyle/>
            <a:p>
              <a:r>
                <a:rPr lang="en-US" dirty="0"/>
                <a:t>…</a:t>
              </a:r>
            </a:p>
          </p:txBody>
        </p:sp>
        <p:sp>
          <p:nvSpPr>
            <p:cNvPr id="17" name="TextBox 16">
              <a:extLst>
                <a:ext uri="{FF2B5EF4-FFF2-40B4-BE49-F238E27FC236}">
                  <a16:creationId xmlns:a16="http://schemas.microsoft.com/office/drawing/2014/main" id="{535D3A9F-B446-2649-9AF7-47E8FC68E77D}"/>
                </a:ext>
              </a:extLst>
            </p:cNvPr>
            <p:cNvSpPr txBox="1"/>
            <p:nvPr/>
          </p:nvSpPr>
          <p:spPr>
            <a:xfrm>
              <a:off x="6864117" y="904733"/>
              <a:ext cx="404324" cy="338554"/>
            </a:xfrm>
            <a:prstGeom prst="rect">
              <a:avLst/>
            </a:prstGeom>
            <a:noFill/>
          </p:spPr>
          <p:txBody>
            <a:bodyPr wrap="square" rtlCol="0">
              <a:spAutoFit/>
            </a:bodyPr>
            <a:lstStyle/>
            <a:p>
              <a:r>
                <a:rPr lang="en-US" sz="1600" dirty="0"/>
                <a:t>a</a:t>
              </a:r>
            </a:p>
          </p:txBody>
        </p:sp>
        <p:cxnSp>
          <p:nvCxnSpPr>
            <p:cNvPr id="19" name="Straight Arrow Connector 18">
              <a:extLst>
                <a:ext uri="{FF2B5EF4-FFF2-40B4-BE49-F238E27FC236}">
                  <a16:creationId xmlns:a16="http://schemas.microsoft.com/office/drawing/2014/main" id="{3E5382B0-703E-AA47-848B-A46356ED79BA}"/>
                </a:ext>
              </a:extLst>
            </p:cNvPr>
            <p:cNvCxnSpPr>
              <a:cxnSpLocks/>
            </p:cNvCxnSpPr>
            <p:nvPr/>
          </p:nvCxnSpPr>
          <p:spPr>
            <a:xfrm>
              <a:off x="7152282" y="1117600"/>
              <a:ext cx="437238"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E317A75-737C-4A40-A0E1-C44C85240E5F}"/>
                </a:ext>
              </a:extLst>
            </p:cNvPr>
            <p:cNvCxnSpPr>
              <a:cxnSpLocks/>
            </p:cNvCxnSpPr>
            <p:nvPr/>
          </p:nvCxnSpPr>
          <p:spPr>
            <a:xfrm flipH="1">
              <a:off x="6350001" y="1104490"/>
              <a:ext cx="514116"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6294D072-9ED8-3D4A-B324-97327B801E3A}"/>
                </a:ext>
              </a:extLst>
            </p:cNvPr>
            <p:cNvSpPr/>
            <p:nvPr/>
          </p:nvSpPr>
          <p:spPr>
            <a:xfrm>
              <a:off x="6329681" y="1204482"/>
              <a:ext cx="1275433" cy="1158240"/>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62C17D4E-F48A-7C47-9DC6-FF3BFAA6D1B4}"/>
                </a:ext>
              </a:extLst>
            </p:cNvPr>
            <p:cNvCxnSpPr>
              <a:cxnSpLocks/>
            </p:cNvCxnSpPr>
            <p:nvPr/>
          </p:nvCxnSpPr>
          <p:spPr>
            <a:xfrm flipH="1">
              <a:off x="8184234" y="1158240"/>
              <a:ext cx="4726" cy="307848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F71DC248-2CFF-EC4C-B06C-CAE9D9AEB776}"/>
                </a:ext>
              </a:extLst>
            </p:cNvPr>
            <p:cNvSpPr/>
            <p:nvPr/>
          </p:nvSpPr>
          <p:spPr>
            <a:xfrm>
              <a:off x="6918960" y="2905760"/>
              <a:ext cx="193040" cy="1016000"/>
            </a:xfrm>
            <a:prstGeom prst="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4035860C-170A-BD46-8B60-E8B28262D57E}"/>
                </a:ext>
              </a:extLst>
            </p:cNvPr>
            <p:cNvSpPr txBox="1"/>
            <p:nvPr/>
          </p:nvSpPr>
          <p:spPr>
            <a:xfrm>
              <a:off x="6868160" y="3342640"/>
              <a:ext cx="276038" cy="307777"/>
            </a:xfrm>
            <a:prstGeom prst="rect">
              <a:avLst/>
            </a:prstGeom>
            <a:noFill/>
          </p:spPr>
          <p:txBody>
            <a:bodyPr wrap="none" rtlCol="0">
              <a:spAutoFit/>
            </a:bodyPr>
            <a:lstStyle/>
            <a:p>
              <a:r>
                <a:rPr lang="en-US" sz="1400" dirty="0"/>
                <a:t>1</a:t>
              </a:r>
              <a:endParaRPr lang="en-US" dirty="0"/>
            </a:p>
          </p:txBody>
        </p:sp>
        <p:sp>
          <p:nvSpPr>
            <p:cNvPr id="30" name="Rectangle 29">
              <a:extLst>
                <a:ext uri="{FF2B5EF4-FFF2-40B4-BE49-F238E27FC236}">
                  <a16:creationId xmlns:a16="http://schemas.microsoft.com/office/drawing/2014/main" id="{F697F3EE-9C0D-C94A-B9AD-2BA5B9EE35A0}"/>
                </a:ext>
              </a:extLst>
            </p:cNvPr>
            <p:cNvSpPr/>
            <p:nvPr/>
          </p:nvSpPr>
          <p:spPr>
            <a:xfrm>
              <a:off x="7112000" y="2905760"/>
              <a:ext cx="193040" cy="1016000"/>
            </a:xfrm>
            <a:prstGeom prst="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2EA94B59-201C-B54A-B32B-2D24A80F5BDF}"/>
                </a:ext>
              </a:extLst>
            </p:cNvPr>
            <p:cNvSpPr txBox="1"/>
            <p:nvPr/>
          </p:nvSpPr>
          <p:spPr>
            <a:xfrm>
              <a:off x="7051040" y="3342640"/>
              <a:ext cx="276038" cy="307777"/>
            </a:xfrm>
            <a:prstGeom prst="rect">
              <a:avLst/>
            </a:prstGeom>
            <a:noFill/>
          </p:spPr>
          <p:txBody>
            <a:bodyPr wrap="none" rtlCol="0">
              <a:spAutoFit/>
            </a:bodyPr>
            <a:lstStyle/>
            <a:p>
              <a:r>
                <a:rPr lang="en-US" sz="1400" dirty="0"/>
                <a:t>2</a:t>
              </a:r>
              <a:endParaRPr lang="en-US" dirty="0"/>
            </a:p>
          </p:txBody>
        </p:sp>
        <p:sp>
          <p:nvSpPr>
            <p:cNvPr id="32" name="Rectangle 31">
              <a:extLst>
                <a:ext uri="{FF2B5EF4-FFF2-40B4-BE49-F238E27FC236}">
                  <a16:creationId xmlns:a16="http://schemas.microsoft.com/office/drawing/2014/main" id="{0D02DB0E-1A86-E84A-86AE-F6D88481DA17}"/>
                </a:ext>
              </a:extLst>
            </p:cNvPr>
            <p:cNvSpPr/>
            <p:nvPr/>
          </p:nvSpPr>
          <p:spPr>
            <a:xfrm>
              <a:off x="7934960" y="2926080"/>
              <a:ext cx="193040" cy="1016000"/>
            </a:xfrm>
            <a:prstGeom prst="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AD480F4A-1406-5443-AC5E-016ACCE143A8}"/>
                </a:ext>
              </a:extLst>
            </p:cNvPr>
            <p:cNvSpPr txBox="1"/>
            <p:nvPr/>
          </p:nvSpPr>
          <p:spPr>
            <a:xfrm>
              <a:off x="7884160" y="3362960"/>
              <a:ext cx="300082" cy="307777"/>
            </a:xfrm>
            <a:prstGeom prst="rect">
              <a:avLst/>
            </a:prstGeom>
            <a:noFill/>
          </p:spPr>
          <p:txBody>
            <a:bodyPr wrap="none" rtlCol="0">
              <a:spAutoFit/>
            </a:bodyPr>
            <a:lstStyle/>
            <a:p>
              <a:r>
                <a:rPr lang="en-US" sz="1400" dirty="0"/>
                <a:t>N</a:t>
              </a:r>
              <a:endParaRPr lang="en-US" dirty="0"/>
            </a:p>
          </p:txBody>
        </p:sp>
        <p:sp>
          <p:nvSpPr>
            <p:cNvPr id="34" name="TextBox 33">
              <a:extLst>
                <a:ext uri="{FF2B5EF4-FFF2-40B4-BE49-F238E27FC236}">
                  <a16:creationId xmlns:a16="http://schemas.microsoft.com/office/drawing/2014/main" id="{7139ADC1-1365-4444-B0F2-55639D70772A}"/>
                </a:ext>
              </a:extLst>
            </p:cNvPr>
            <p:cNvSpPr txBox="1"/>
            <p:nvPr/>
          </p:nvSpPr>
          <p:spPr>
            <a:xfrm>
              <a:off x="7388038" y="3200400"/>
              <a:ext cx="343364" cy="369332"/>
            </a:xfrm>
            <a:prstGeom prst="rect">
              <a:avLst/>
            </a:prstGeom>
            <a:noFill/>
          </p:spPr>
          <p:txBody>
            <a:bodyPr wrap="none" rtlCol="0">
              <a:spAutoFit/>
            </a:bodyPr>
            <a:lstStyle/>
            <a:p>
              <a:r>
                <a:rPr lang="en-US" dirty="0"/>
                <a:t>…</a:t>
              </a:r>
            </a:p>
          </p:txBody>
        </p:sp>
        <p:sp>
          <p:nvSpPr>
            <p:cNvPr id="35" name="TextBox 34">
              <a:extLst>
                <a:ext uri="{FF2B5EF4-FFF2-40B4-BE49-F238E27FC236}">
                  <a16:creationId xmlns:a16="http://schemas.microsoft.com/office/drawing/2014/main" id="{68068DFF-786D-9C4F-BCF4-844E1AE9458B}"/>
                </a:ext>
              </a:extLst>
            </p:cNvPr>
            <p:cNvSpPr txBox="1"/>
            <p:nvPr/>
          </p:nvSpPr>
          <p:spPr>
            <a:xfrm>
              <a:off x="7443237" y="2570973"/>
              <a:ext cx="404324" cy="338554"/>
            </a:xfrm>
            <a:prstGeom prst="rect">
              <a:avLst/>
            </a:prstGeom>
            <a:noFill/>
          </p:spPr>
          <p:txBody>
            <a:bodyPr wrap="square" rtlCol="0">
              <a:spAutoFit/>
            </a:bodyPr>
            <a:lstStyle/>
            <a:p>
              <a:r>
                <a:rPr lang="en-US" sz="1600" dirty="0"/>
                <a:t>a</a:t>
              </a:r>
            </a:p>
          </p:txBody>
        </p:sp>
        <p:cxnSp>
          <p:nvCxnSpPr>
            <p:cNvPr id="36" name="Straight Arrow Connector 35">
              <a:extLst>
                <a:ext uri="{FF2B5EF4-FFF2-40B4-BE49-F238E27FC236}">
                  <a16:creationId xmlns:a16="http://schemas.microsoft.com/office/drawing/2014/main" id="{AD9707F6-A8E8-844A-88A9-22E918E7EFD5}"/>
                </a:ext>
              </a:extLst>
            </p:cNvPr>
            <p:cNvCxnSpPr>
              <a:cxnSpLocks/>
            </p:cNvCxnSpPr>
            <p:nvPr/>
          </p:nvCxnSpPr>
          <p:spPr>
            <a:xfrm>
              <a:off x="7731402" y="2783840"/>
              <a:ext cx="437238"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813E5FE8-CBF1-AF45-BA21-D0BBDB78CF4C}"/>
                </a:ext>
              </a:extLst>
            </p:cNvPr>
            <p:cNvCxnSpPr>
              <a:cxnSpLocks/>
            </p:cNvCxnSpPr>
            <p:nvPr/>
          </p:nvCxnSpPr>
          <p:spPr>
            <a:xfrm flipH="1">
              <a:off x="6929121" y="2770730"/>
              <a:ext cx="514116"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830EB0CC-669F-5448-BD20-110D07DC95AD}"/>
                </a:ext>
              </a:extLst>
            </p:cNvPr>
            <p:cNvSpPr/>
            <p:nvPr/>
          </p:nvSpPr>
          <p:spPr>
            <a:xfrm>
              <a:off x="6908801" y="2870722"/>
              <a:ext cx="1275433" cy="1158240"/>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E992C0C8-6769-A44B-9462-CB30C64BA991}"/>
                </a:ext>
              </a:extLst>
            </p:cNvPr>
            <p:cNvSpPr txBox="1"/>
            <p:nvPr/>
          </p:nvSpPr>
          <p:spPr>
            <a:xfrm>
              <a:off x="7148597" y="4023853"/>
              <a:ext cx="404324" cy="338554"/>
            </a:xfrm>
            <a:prstGeom prst="rect">
              <a:avLst/>
            </a:prstGeom>
            <a:noFill/>
          </p:spPr>
          <p:txBody>
            <a:bodyPr wrap="square" rtlCol="0">
              <a:spAutoFit/>
            </a:bodyPr>
            <a:lstStyle/>
            <a:p>
              <a:r>
                <a:rPr lang="en-US" sz="1600" dirty="0"/>
                <a:t>b</a:t>
              </a:r>
            </a:p>
          </p:txBody>
        </p:sp>
        <p:cxnSp>
          <p:nvCxnSpPr>
            <p:cNvPr id="40" name="Straight Arrow Connector 39">
              <a:extLst>
                <a:ext uri="{FF2B5EF4-FFF2-40B4-BE49-F238E27FC236}">
                  <a16:creationId xmlns:a16="http://schemas.microsoft.com/office/drawing/2014/main" id="{3582E4A1-A86B-2C49-96C9-3021ACFEBA34}"/>
                </a:ext>
              </a:extLst>
            </p:cNvPr>
            <p:cNvCxnSpPr>
              <a:cxnSpLocks/>
            </p:cNvCxnSpPr>
            <p:nvPr/>
          </p:nvCxnSpPr>
          <p:spPr>
            <a:xfrm>
              <a:off x="7388038" y="4216400"/>
              <a:ext cx="780602"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2DF313A9-A5DF-0E43-9FDB-C0BF4684CE4F}"/>
                </a:ext>
              </a:extLst>
            </p:cNvPr>
            <p:cNvCxnSpPr>
              <a:cxnSpLocks/>
            </p:cNvCxnSpPr>
            <p:nvPr/>
          </p:nvCxnSpPr>
          <p:spPr>
            <a:xfrm flipH="1">
              <a:off x="6339841" y="4203290"/>
              <a:ext cx="812441"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663E7BA6-D2EE-B947-BB2F-2F05867A4450}"/>
                </a:ext>
              </a:extLst>
            </p:cNvPr>
            <p:cNvCxnSpPr>
              <a:cxnSpLocks/>
            </p:cNvCxnSpPr>
            <p:nvPr/>
          </p:nvCxnSpPr>
          <p:spPr>
            <a:xfrm>
              <a:off x="8017958" y="3670737"/>
              <a:ext cx="1898202"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A56306D3-0160-C048-8D5B-4FE5AFB0D1A9}"/>
                </a:ext>
              </a:extLst>
            </p:cNvPr>
            <p:cNvSpPr txBox="1"/>
            <p:nvPr/>
          </p:nvSpPr>
          <p:spPr>
            <a:xfrm>
              <a:off x="8829040" y="3362960"/>
              <a:ext cx="443730" cy="338554"/>
            </a:xfrm>
            <a:prstGeom prst="rect">
              <a:avLst/>
            </a:prstGeom>
            <a:noFill/>
          </p:spPr>
          <p:txBody>
            <a:bodyPr wrap="square" rtlCol="0">
              <a:spAutoFit/>
            </a:bodyPr>
            <a:lstStyle/>
            <a:p>
              <a:r>
                <a:rPr lang="en-US" sz="1600" dirty="0" err="1"/>
                <a:t>r</a:t>
              </a:r>
              <a:r>
                <a:rPr lang="en-US" sz="1600" baseline="-25000" dirty="0" err="1"/>
                <a:t>N</a:t>
              </a:r>
              <a:endParaRPr lang="en-US" baseline="-25000" dirty="0"/>
            </a:p>
          </p:txBody>
        </p:sp>
        <p:sp>
          <p:nvSpPr>
            <p:cNvPr id="52" name="TextBox 51">
              <a:extLst>
                <a:ext uri="{FF2B5EF4-FFF2-40B4-BE49-F238E27FC236}">
                  <a16:creationId xmlns:a16="http://schemas.microsoft.com/office/drawing/2014/main" id="{5D1FE7CF-8DBD-DE46-8214-BF4C0FA78F63}"/>
                </a:ext>
              </a:extLst>
            </p:cNvPr>
            <p:cNvSpPr txBox="1"/>
            <p:nvPr/>
          </p:nvSpPr>
          <p:spPr>
            <a:xfrm>
              <a:off x="8981440" y="1249680"/>
              <a:ext cx="443730" cy="338554"/>
            </a:xfrm>
            <a:prstGeom prst="rect">
              <a:avLst/>
            </a:prstGeom>
            <a:noFill/>
          </p:spPr>
          <p:txBody>
            <a:bodyPr wrap="square" rtlCol="0">
              <a:spAutoFit/>
            </a:bodyPr>
            <a:lstStyle/>
            <a:p>
              <a:r>
                <a:rPr lang="en-US" sz="1600" dirty="0"/>
                <a:t>r</a:t>
              </a:r>
              <a:r>
                <a:rPr lang="en-US" sz="1600" baseline="-25000" dirty="0"/>
                <a:t>1</a:t>
              </a:r>
              <a:endParaRPr lang="en-US" baseline="-25000" dirty="0"/>
            </a:p>
          </p:txBody>
        </p:sp>
        <p:cxnSp>
          <p:nvCxnSpPr>
            <p:cNvPr id="53" name="Straight Arrow Connector 52">
              <a:extLst>
                <a:ext uri="{FF2B5EF4-FFF2-40B4-BE49-F238E27FC236}">
                  <a16:creationId xmlns:a16="http://schemas.microsoft.com/office/drawing/2014/main" id="{860315A3-7D1E-8543-89A3-5D5D68F83779}"/>
                </a:ext>
              </a:extLst>
            </p:cNvPr>
            <p:cNvCxnSpPr>
              <a:cxnSpLocks/>
            </p:cNvCxnSpPr>
            <p:nvPr/>
          </p:nvCxnSpPr>
          <p:spPr>
            <a:xfrm>
              <a:off x="6350001" y="1676400"/>
              <a:ext cx="3566159"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11694307-0900-494D-924E-C078D7FC78D5}"/>
                </a:ext>
              </a:extLst>
            </p:cNvPr>
            <p:cNvCxnSpPr>
              <a:cxnSpLocks/>
            </p:cNvCxnSpPr>
            <p:nvPr/>
          </p:nvCxnSpPr>
          <p:spPr>
            <a:xfrm>
              <a:off x="7629802" y="1960880"/>
              <a:ext cx="437238"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22498FF4-7A87-D348-8523-01F16683A1F8}"/>
                </a:ext>
              </a:extLst>
            </p:cNvPr>
            <p:cNvSpPr txBox="1"/>
            <p:nvPr/>
          </p:nvSpPr>
          <p:spPr>
            <a:xfrm>
              <a:off x="7676917" y="1676893"/>
              <a:ext cx="404324" cy="338554"/>
            </a:xfrm>
            <a:prstGeom prst="rect">
              <a:avLst/>
            </a:prstGeom>
            <a:noFill/>
          </p:spPr>
          <p:txBody>
            <a:bodyPr wrap="square" rtlCol="0">
              <a:spAutoFit/>
            </a:bodyPr>
            <a:lstStyle/>
            <a:p>
              <a:r>
                <a:rPr lang="en-US" sz="1600" dirty="0"/>
                <a:t>v</a:t>
              </a:r>
            </a:p>
          </p:txBody>
        </p:sp>
        <p:sp>
          <p:nvSpPr>
            <p:cNvPr id="57" name="TextBox 56">
              <a:extLst>
                <a:ext uri="{FF2B5EF4-FFF2-40B4-BE49-F238E27FC236}">
                  <a16:creationId xmlns:a16="http://schemas.microsoft.com/office/drawing/2014/main" id="{34DB29D9-80FC-BE4E-96A5-9785F98C63DD}"/>
                </a:ext>
              </a:extLst>
            </p:cNvPr>
            <p:cNvSpPr txBox="1"/>
            <p:nvPr/>
          </p:nvSpPr>
          <p:spPr>
            <a:xfrm>
              <a:off x="9773920" y="945373"/>
              <a:ext cx="314960" cy="369332"/>
            </a:xfrm>
            <a:prstGeom prst="rect">
              <a:avLst/>
            </a:prstGeom>
            <a:noFill/>
          </p:spPr>
          <p:txBody>
            <a:bodyPr wrap="square" rtlCol="0">
              <a:spAutoFit/>
            </a:bodyPr>
            <a:lstStyle/>
            <a:p>
              <a:r>
                <a:rPr lang="en-US" dirty="0"/>
                <a:t>1</a:t>
              </a:r>
            </a:p>
          </p:txBody>
        </p:sp>
      </p:grpSp>
    </p:spTree>
    <p:extLst>
      <p:ext uri="{BB962C8B-B14F-4D97-AF65-F5344CB8AC3E}">
        <p14:creationId xmlns:p14="http://schemas.microsoft.com/office/powerpoint/2010/main" val="22868786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605642" y="216489"/>
            <a:ext cx="10995807" cy="615553"/>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000" dirty="0">
                <a:latin typeface="Calibri" panose="020F0502020204030204" pitchFamily="34" charset="0"/>
                <a:cs typeface="Calibri" panose="020F0502020204030204" pitchFamily="34" charset="0"/>
              </a:rPr>
              <a:t>A proof of reciprocity for transmitters and receivers</a:t>
            </a:r>
            <a:endParaRPr sz="40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594597" y="2004508"/>
                <a:ext cx="9417732" cy="422252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342900" indent="-342900" latinLnBrk="1" hangingPunct="0">
                  <a:buFont typeface="Arial" panose="020B0604020202020204" pitchFamily="34" charset="0"/>
                  <a:buChar char="•"/>
                </a:pPr>
                <a14:m>
                  <m:oMath xmlns:m="http://schemas.openxmlformats.org/officeDocument/2006/math">
                    <m:r>
                      <m:rPr>
                        <m:sty m:val="p"/>
                      </m:rPr>
                      <a:rPr lang="en-US" sz="2000" i="1" smtClean="0">
                        <a:solidFill>
                          <a:srgbClr val="000000"/>
                        </a:solidFill>
                        <a:latin typeface="Cambria Math" panose="02040503050406030204" pitchFamily="18" charset="0"/>
                        <a:ea typeface="Cambria Math" panose="02040503050406030204" pitchFamily="18" charset="0"/>
                      </a:rPr>
                      <m:t>∇</m:t>
                    </m:r>
                    <m:r>
                      <a:rPr lang="en-US" sz="2000" i="1" smtClean="0">
                        <a:solidFill>
                          <a:srgbClr val="000000"/>
                        </a:solidFill>
                        <a:latin typeface="Cambria Math" panose="02040503050406030204" pitchFamily="18" charset="0"/>
                        <a:ea typeface="Cambria Math" panose="02040503050406030204" pitchFamily="18" charset="0"/>
                      </a:rPr>
                      <m:t>∙</m:t>
                    </m:r>
                    <m:d>
                      <m:dPr>
                        <m:ctrlPr>
                          <a:rPr lang="en-US" sz="2000" b="0" i="1" smtClean="0">
                            <a:solidFill>
                              <a:srgbClr val="000000"/>
                            </a:solidFill>
                            <a:latin typeface="Cambria Math" panose="02040503050406030204" pitchFamily="18" charset="0"/>
                            <a:ea typeface="Cambria Math" panose="02040503050406030204" pitchFamily="18" charset="0"/>
                          </a:rPr>
                        </m:ctrlPr>
                      </m:dPr>
                      <m:e>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𝐸</m:t>
                            </m:r>
                          </m:e>
                          <m:sub>
                            <m:r>
                              <a:rPr lang="en-US" sz="2000" b="0" i="1" smtClean="0">
                                <a:solidFill>
                                  <a:srgbClr val="000000"/>
                                </a:solidFill>
                                <a:latin typeface="Cambria Math" panose="02040503050406030204" pitchFamily="18" charset="0"/>
                                <a:ea typeface="Cambria Math" panose="02040503050406030204" pitchFamily="18" charset="0"/>
                              </a:rPr>
                              <m:t>1</m:t>
                            </m:r>
                          </m:sub>
                        </m:sSub>
                        <m:r>
                          <a:rPr lang="en-US" sz="2000" b="0" i="1" smtClean="0">
                            <a:solidFill>
                              <a:srgbClr val="000000"/>
                            </a:solidFill>
                            <a:latin typeface="Cambria Math" panose="02040503050406030204" pitchFamily="18" charset="0"/>
                            <a:ea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𝐻</m:t>
                            </m:r>
                          </m:e>
                          <m:sub>
                            <m:r>
                              <a:rPr lang="en-US" sz="2000" b="0" i="1" smtClean="0">
                                <a:solidFill>
                                  <a:srgbClr val="000000"/>
                                </a:solidFill>
                                <a:latin typeface="Cambria Math" panose="02040503050406030204" pitchFamily="18" charset="0"/>
                                <a:ea typeface="Cambria Math" panose="02040503050406030204" pitchFamily="18" charset="0"/>
                              </a:rPr>
                              <m:t>2</m:t>
                            </m:r>
                          </m:sub>
                        </m:sSub>
                        <m:r>
                          <a:rPr lang="en-US" sz="2000" b="0" i="1" smtClean="0">
                            <a:solidFill>
                              <a:srgbClr val="000000"/>
                            </a:solidFill>
                            <a:latin typeface="Cambria Math" panose="02040503050406030204" pitchFamily="18" charset="0"/>
                            <a:ea typeface="Cambria Math" panose="02040503050406030204" pitchFamily="18" charset="0"/>
                          </a:rPr>
                          <m:t> −</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𝐸</m:t>
                            </m:r>
                          </m:e>
                          <m:sub>
                            <m:r>
                              <a:rPr lang="en-US" sz="2000" b="0" i="1" smtClean="0">
                                <a:solidFill>
                                  <a:srgbClr val="000000"/>
                                </a:solidFill>
                                <a:latin typeface="Cambria Math" panose="02040503050406030204" pitchFamily="18" charset="0"/>
                                <a:ea typeface="Cambria Math" panose="02040503050406030204" pitchFamily="18" charset="0"/>
                              </a:rPr>
                              <m:t>2</m:t>
                            </m:r>
                          </m:sub>
                        </m:sSub>
                        <m:r>
                          <a:rPr lang="en-US" sz="2000" b="0" i="1" smtClean="0">
                            <a:solidFill>
                              <a:srgbClr val="000000"/>
                            </a:solidFill>
                            <a:latin typeface="Cambria Math" panose="02040503050406030204" pitchFamily="18" charset="0"/>
                            <a:ea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𝐻</m:t>
                            </m:r>
                          </m:e>
                          <m:sub>
                            <m:r>
                              <a:rPr lang="en-US" sz="2000" b="0" i="1" smtClean="0">
                                <a:solidFill>
                                  <a:srgbClr val="000000"/>
                                </a:solidFill>
                                <a:latin typeface="Cambria Math" panose="02040503050406030204" pitchFamily="18" charset="0"/>
                                <a:ea typeface="Cambria Math" panose="02040503050406030204" pitchFamily="18" charset="0"/>
                              </a:rPr>
                              <m:t>1</m:t>
                            </m:r>
                          </m:sub>
                        </m:sSub>
                      </m:e>
                    </m:d>
                    <m:r>
                      <a:rPr lang="en-US" sz="2000" b="0" i="1" smtClean="0">
                        <a:solidFill>
                          <a:srgbClr val="000000"/>
                        </a:solidFill>
                        <a:latin typeface="Cambria Math" panose="02040503050406030204" pitchFamily="18" charset="0"/>
                        <a:ea typeface="Cambria Math" panose="02040503050406030204" pitchFamily="18" charset="0"/>
                      </a:rPr>
                      <m:t>=</m:t>
                    </m:r>
                    <m:d>
                      <m:dPr>
                        <m:ctrlPr>
                          <a:rPr lang="en-US" sz="2000" b="0" i="1" smtClean="0">
                            <a:solidFill>
                              <a:srgbClr val="000000"/>
                            </a:solidFill>
                            <a:latin typeface="Cambria Math" panose="02040503050406030204" pitchFamily="18" charset="0"/>
                            <a:ea typeface="Cambria Math" panose="02040503050406030204" pitchFamily="18" charset="0"/>
                          </a:rPr>
                        </m:ctrlPr>
                      </m:dPr>
                      <m:e>
                        <m:r>
                          <m:rPr>
                            <m:sty m:val="p"/>
                          </m:rPr>
                          <a:rPr lang="en-US" sz="2000" b="0" i="1" smtClean="0">
                            <a:solidFill>
                              <a:srgbClr val="000000"/>
                            </a:solidFill>
                            <a:latin typeface="Cambria Math" panose="02040503050406030204" pitchFamily="18" charset="0"/>
                            <a:ea typeface="Cambria Math" panose="02040503050406030204" pitchFamily="18" charset="0"/>
                          </a:rPr>
                          <m:t>∇</m:t>
                        </m:r>
                        <m:r>
                          <a:rPr lang="en-US" sz="2000" b="0" i="1" smtClean="0">
                            <a:solidFill>
                              <a:srgbClr val="000000"/>
                            </a:solidFill>
                            <a:latin typeface="Cambria Math" panose="02040503050406030204" pitchFamily="18" charset="0"/>
                            <a:ea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𝐸</m:t>
                            </m:r>
                          </m:e>
                          <m:sub>
                            <m:r>
                              <a:rPr lang="en-US" sz="2000" b="0" i="1" smtClean="0">
                                <a:solidFill>
                                  <a:srgbClr val="000000"/>
                                </a:solidFill>
                                <a:latin typeface="Cambria Math" panose="02040503050406030204" pitchFamily="18" charset="0"/>
                                <a:ea typeface="Cambria Math" panose="02040503050406030204" pitchFamily="18" charset="0"/>
                              </a:rPr>
                              <m:t>1</m:t>
                            </m:r>
                          </m:sub>
                        </m:sSub>
                      </m:e>
                    </m:d>
                    <m:r>
                      <a:rPr lang="en-US" sz="2000" b="0" i="1" smtClean="0">
                        <a:solidFill>
                          <a:srgbClr val="000000"/>
                        </a:solidFill>
                        <a:latin typeface="Cambria Math" panose="02040503050406030204" pitchFamily="18" charset="0"/>
                        <a:ea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𝐻</m:t>
                        </m:r>
                      </m:e>
                      <m:sub>
                        <m:r>
                          <a:rPr lang="en-US" sz="2000" b="0" i="1" smtClean="0">
                            <a:solidFill>
                              <a:srgbClr val="000000"/>
                            </a:solidFill>
                            <a:latin typeface="Cambria Math" panose="02040503050406030204" pitchFamily="18" charset="0"/>
                            <a:ea typeface="Cambria Math" panose="02040503050406030204" pitchFamily="18" charset="0"/>
                          </a:rPr>
                          <m:t>2</m:t>
                        </m:r>
                      </m:sub>
                    </m:sSub>
                    <m:r>
                      <a:rPr lang="en-US" sz="2000" i="1">
                        <a:solidFill>
                          <a:srgbClr val="000000"/>
                        </a:solidFill>
                        <a:latin typeface="Cambria Math" panose="02040503050406030204" pitchFamily="18" charset="0"/>
                        <a:ea typeface="Cambria Math" panose="02040503050406030204" pitchFamily="18" charset="0"/>
                      </a:rPr>
                      <m:t>−(</m:t>
                    </m:r>
                    <m:r>
                      <m:rPr>
                        <m:sty m:val="p"/>
                      </m:rPr>
                      <a:rPr lang="en-US" sz="2000" i="1">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𝐻</m:t>
                        </m:r>
                      </m:e>
                      <m:sub>
                        <m:r>
                          <a:rPr lang="en-US" sz="2000" b="0" i="1" smtClean="0">
                            <a:solidFill>
                              <a:srgbClr val="000000"/>
                            </a:solidFill>
                            <a:latin typeface="Cambria Math" panose="02040503050406030204" pitchFamily="18" charset="0"/>
                            <a:ea typeface="Cambria Math" panose="02040503050406030204" pitchFamily="18" charset="0"/>
                          </a:rPr>
                          <m:t>2</m:t>
                        </m:r>
                      </m:sub>
                    </m:sSub>
                    <m:r>
                      <a:rPr lang="en-US" sz="2000" i="1">
                        <a:solidFill>
                          <a:srgbClr val="000000"/>
                        </a:solidFill>
                        <a:latin typeface="Cambria Math" panose="02040503050406030204" pitchFamily="18" charset="0"/>
                        <a:ea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𝐸</m:t>
                        </m:r>
                      </m:e>
                      <m:sub>
                        <m:r>
                          <a:rPr lang="en-US" sz="2000" b="0" i="1" smtClean="0">
                            <a:solidFill>
                              <a:srgbClr val="000000"/>
                            </a:solidFill>
                            <a:latin typeface="Cambria Math" panose="02040503050406030204" pitchFamily="18" charset="0"/>
                            <a:ea typeface="Cambria Math" panose="02040503050406030204" pitchFamily="18" charset="0"/>
                          </a:rPr>
                          <m:t>1</m:t>
                        </m:r>
                      </m:sub>
                    </m:sSub>
                  </m:oMath>
                </a14:m>
                <a:r>
                  <a:rPr lang="en-US" sz="2000" dirty="0">
                    <a:solidFill>
                      <a:srgbClr val="000000"/>
                    </a:solidFill>
                  </a:rPr>
                  <a:t>-</a:t>
                </a: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rPr>
                      <m:t>(</m:t>
                    </m:r>
                    <m:r>
                      <m:rPr>
                        <m:sty m:val="p"/>
                      </m:rPr>
                      <a:rPr lang="en-US" sz="2000" i="1">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𝐸</m:t>
                        </m:r>
                      </m:e>
                      <m:sub>
                        <m:r>
                          <a:rPr lang="en-US" sz="2000" b="0" i="1" smtClean="0">
                            <a:solidFill>
                              <a:srgbClr val="000000"/>
                            </a:solidFill>
                            <a:latin typeface="Cambria Math" panose="02040503050406030204" pitchFamily="18" charset="0"/>
                            <a:ea typeface="Cambria Math" panose="02040503050406030204" pitchFamily="18" charset="0"/>
                          </a:rPr>
                          <m:t>2</m:t>
                        </m:r>
                      </m:sub>
                    </m:sSub>
                    <m:r>
                      <a:rPr lang="en-US" sz="2000" i="1">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𝐻</m:t>
                        </m:r>
                      </m:e>
                      <m:sub>
                        <m:r>
                          <a:rPr lang="en-US" sz="2000" b="0" i="1" smtClean="0">
                            <a:solidFill>
                              <a:srgbClr val="000000"/>
                            </a:solidFill>
                            <a:latin typeface="Cambria Math" panose="02040503050406030204" pitchFamily="18" charset="0"/>
                            <a:ea typeface="Cambria Math" panose="02040503050406030204" pitchFamily="18" charset="0"/>
                          </a:rPr>
                          <m:t>1</m:t>
                        </m:r>
                      </m:sub>
                    </m:sSub>
                  </m:oMath>
                </a14:m>
                <a:r>
                  <a:rPr lang="en-US" sz="2000" dirty="0">
                    <a:solidFill>
                      <a:srgbClr val="000000"/>
                    </a:solidFill>
                  </a:rPr>
                  <a:t>+</a:t>
                </a: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rPr>
                      <m:t>(</m:t>
                    </m:r>
                    <m:r>
                      <m:rPr>
                        <m:sty m:val="p"/>
                      </m:rPr>
                      <a:rPr lang="en-US" sz="2000" i="1">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𝐻</m:t>
                        </m:r>
                      </m:e>
                      <m:sub>
                        <m:r>
                          <a:rPr lang="en-US" sz="2000" i="1">
                            <a:solidFill>
                              <a:srgbClr val="000000"/>
                            </a:solidFill>
                            <a:latin typeface="Cambria Math" panose="02040503050406030204" pitchFamily="18" charset="0"/>
                            <a:ea typeface="Cambria Math" panose="02040503050406030204" pitchFamily="18" charset="0"/>
                          </a:rPr>
                          <m:t>1</m:t>
                        </m:r>
                      </m:sub>
                    </m:sSub>
                    <m:r>
                      <a:rPr lang="en-US" sz="2000" i="1">
                        <a:solidFill>
                          <a:srgbClr val="000000"/>
                        </a:solidFill>
                        <a:latin typeface="Cambria Math" panose="02040503050406030204" pitchFamily="18" charset="0"/>
                        <a:ea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𝐸</m:t>
                        </m:r>
                      </m:e>
                      <m:sub>
                        <m:r>
                          <a:rPr lang="en-US" sz="2000" i="1">
                            <a:solidFill>
                              <a:srgbClr val="000000"/>
                            </a:solidFill>
                            <a:latin typeface="Cambria Math" panose="02040503050406030204" pitchFamily="18" charset="0"/>
                            <a:ea typeface="Cambria Math" panose="02040503050406030204" pitchFamily="18" charset="0"/>
                          </a:rPr>
                          <m:t>2</m:t>
                        </m:r>
                      </m:sub>
                    </m:sSub>
                  </m:oMath>
                </a14:m>
                <a:endParaRPr lang="en-US" sz="2000" dirty="0">
                  <a:solidFill>
                    <a:srgbClr val="000000"/>
                  </a:solidFill>
                </a:endParaRPr>
              </a:p>
              <a:p>
                <a:pPr marL="342900" indent="-342900" latinLnBrk="1" hangingPunct="0">
                  <a:buFont typeface="Arial" panose="020B0604020202020204" pitchFamily="34" charset="0"/>
                  <a:buChar char="•"/>
                </a:pPr>
                <a14:m>
                  <m:oMath xmlns:m="http://schemas.openxmlformats.org/officeDocument/2006/math">
                    <m:r>
                      <m:rPr>
                        <m:sty m:val="p"/>
                      </m:rPr>
                      <a:rPr lang="en-US" sz="2000" i="1">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𝐸</m:t>
                        </m:r>
                      </m:e>
                      <m:sub>
                        <m:r>
                          <a:rPr lang="en-US" sz="2000" i="1">
                            <a:solidFill>
                              <a:srgbClr val="000000"/>
                            </a:solidFill>
                            <a:latin typeface="Cambria Math" panose="02040503050406030204" pitchFamily="18" charset="0"/>
                            <a:ea typeface="Cambria Math" panose="02040503050406030204" pitchFamily="18" charset="0"/>
                          </a:rPr>
                          <m:t>1</m:t>
                        </m:r>
                      </m:sub>
                    </m:sSub>
                    <m:r>
                      <a:rPr lang="en-US" sz="2000" b="0" i="0" smtClean="0">
                        <a:solidFill>
                          <a:srgbClr val="000000"/>
                        </a:solidFill>
                        <a:latin typeface="Cambria Math" panose="02040503050406030204" pitchFamily="18" charset="0"/>
                        <a:ea typeface="Cambria Math" panose="02040503050406030204" pitchFamily="18" charset="0"/>
                      </a:rPr>
                      <m:t>=−</m:t>
                    </m:r>
                    <m:r>
                      <m:rPr>
                        <m:sty m:val="p"/>
                      </m:rPr>
                      <a:rPr lang="en-US" sz="2000" b="0" i="0" smtClean="0">
                        <a:solidFill>
                          <a:srgbClr val="000000"/>
                        </a:solidFill>
                        <a:latin typeface="Cambria Math" panose="02040503050406030204" pitchFamily="18" charset="0"/>
                        <a:ea typeface="Cambria Math" panose="02040503050406030204" pitchFamily="18" charset="0"/>
                      </a:rPr>
                      <m:t>jω</m:t>
                    </m:r>
                    <m:r>
                      <a:rPr lang="el-GR" sz="2000" b="0" i="1" smtClean="0">
                        <a:solidFill>
                          <a:srgbClr val="000000"/>
                        </a:solidFill>
                        <a:latin typeface="Cambria Math" panose="02040503050406030204" pitchFamily="18" charset="0"/>
                        <a:ea typeface="Cambria Math" panose="02040503050406030204" pitchFamily="18" charset="0"/>
                      </a:rPr>
                      <m:t>𝜇</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𝐻</m:t>
                        </m:r>
                      </m:e>
                      <m:sub>
                        <m:r>
                          <a:rPr lang="en-US" sz="2000" b="0" i="1" smtClean="0">
                            <a:solidFill>
                              <a:srgbClr val="000000"/>
                            </a:solidFill>
                            <a:latin typeface="Cambria Math" panose="02040503050406030204" pitchFamily="18" charset="0"/>
                            <a:ea typeface="Cambria Math" panose="02040503050406030204" pitchFamily="18" charset="0"/>
                          </a:rPr>
                          <m:t>1</m:t>
                        </m:r>
                      </m:sub>
                    </m:sSub>
                  </m:oMath>
                </a14:m>
                <a:r>
                  <a:rPr lang="en-US" sz="2000" dirty="0">
                    <a:solidFill>
                      <a:srgbClr val="000000"/>
                    </a:solidFill>
                  </a:rPr>
                  <a:t>, </a:t>
                </a:r>
                <a14:m>
                  <m:oMath xmlns:m="http://schemas.openxmlformats.org/officeDocument/2006/math">
                    <m:r>
                      <m:rPr>
                        <m:sty m:val="p"/>
                      </m:rPr>
                      <a:rPr lang="en-US" sz="2000" i="1">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𝐻</m:t>
                        </m:r>
                      </m:e>
                      <m:sub>
                        <m:r>
                          <a:rPr lang="en-US" sz="2000" i="1">
                            <a:solidFill>
                              <a:srgbClr val="000000"/>
                            </a:solidFill>
                            <a:latin typeface="Cambria Math" panose="02040503050406030204" pitchFamily="18" charset="0"/>
                            <a:ea typeface="Cambria Math" panose="02040503050406030204" pitchFamily="18" charset="0"/>
                          </a:rPr>
                          <m:t>1</m:t>
                        </m:r>
                      </m:sub>
                    </m:sSub>
                    <m:r>
                      <a:rPr lang="en-US" sz="2000">
                        <a:solidFill>
                          <a:srgbClr val="000000"/>
                        </a:solidFill>
                        <a:latin typeface="Cambria Math" panose="02040503050406030204" pitchFamily="18" charset="0"/>
                        <a:ea typeface="Cambria Math" panose="02040503050406030204" pitchFamily="18" charset="0"/>
                      </a:rPr>
                      <m:t>=</m:t>
                    </m:r>
                    <m:r>
                      <m:rPr>
                        <m:sty m:val="p"/>
                      </m:rPr>
                      <a:rPr lang="en-US" sz="2000">
                        <a:solidFill>
                          <a:srgbClr val="000000"/>
                        </a:solidFill>
                        <a:latin typeface="Cambria Math" panose="02040503050406030204" pitchFamily="18" charset="0"/>
                        <a:ea typeface="Cambria Math" panose="02040503050406030204" pitchFamily="18" charset="0"/>
                      </a:rPr>
                      <m:t>jω</m:t>
                    </m:r>
                    <m:r>
                      <a:rPr lang="el-GR" sz="2000" i="1" smtClean="0">
                        <a:solidFill>
                          <a:srgbClr val="000000"/>
                        </a:solidFill>
                        <a:latin typeface="Cambria Math" panose="02040503050406030204" pitchFamily="18" charset="0"/>
                        <a:ea typeface="Cambria Math" panose="02040503050406030204" pitchFamily="18" charset="0"/>
                      </a:rPr>
                      <m:t>𝜖</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𝐸</m:t>
                        </m:r>
                      </m:e>
                      <m:sub>
                        <m:r>
                          <a:rPr lang="en-US" sz="2000" i="1">
                            <a:solidFill>
                              <a:srgbClr val="000000"/>
                            </a:solidFill>
                            <a:latin typeface="Cambria Math" panose="02040503050406030204" pitchFamily="18" charset="0"/>
                            <a:ea typeface="Cambria Math" panose="02040503050406030204" pitchFamily="18" charset="0"/>
                          </a:rPr>
                          <m:t>1</m:t>
                        </m:r>
                      </m:sub>
                    </m:sSub>
                    <m:r>
                      <a:rPr lang="en-US" sz="2000" b="0" i="1" smtClean="0">
                        <a:solidFill>
                          <a:srgbClr val="000000"/>
                        </a:solidFill>
                        <a:latin typeface="Cambria Math" panose="02040503050406030204" pitchFamily="18" charset="0"/>
                        <a:ea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𝑗</m:t>
                        </m:r>
                      </m:e>
                      <m:sub>
                        <m:r>
                          <a:rPr lang="en-US" sz="2000" b="0" i="1" smtClean="0">
                            <a:solidFill>
                              <a:srgbClr val="000000"/>
                            </a:solidFill>
                            <a:latin typeface="Cambria Math" panose="02040503050406030204" pitchFamily="18" charset="0"/>
                            <a:ea typeface="Cambria Math" panose="02040503050406030204" pitchFamily="18" charset="0"/>
                          </a:rPr>
                          <m:t>1</m:t>
                        </m:r>
                      </m:sub>
                    </m:sSub>
                  </m:oMath>
                </a14:m>
                <a:r>
                  <a:rPr lang="en-US" sz="2000" dirty="0">
                    <a:solidFill>
                      <a:srgbClr val="000000"/>
                    </a:solidFill>
                  </a:rPr>
                  <a:t>, </a:t>
                </a:r>
                <a14:m>
                  <m:oMath xmlns:m="http://schemas.openxmlformats.org/officeDocument/2006/math">
                    <m:r>
                      <m:rPr>
                        <m:sty m:val="p"/>
                      </m:rPr>
                      <a:rPr lang="en-US" sz="2000" i="1">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𝐸</m:t>
                        </m:r>
                      </m:e>
                      <m:sub>
                        <m:r>
                          <a:rPr lang="en-US" sz="2000" b="0" i="1" smtClean="0">
                            <a:solidFill>
                              <a:srgbClr val="000000"/>
                            </a:solidFill>
                            <a:latin typeface="Cambria Math" panose="02040503050406030204" pitchFamily="18" charset="0"/>
                            <a:ea typeface="Cambria Math" panose="02040503050406030204" pitchFamily="18" charset="0"/>
                          </a:rPr>
                          <m:t>2</m:t>
                        </m:r>
                      </m:sub>
                    </m:sSub>
                    <m:r>
                      <a:rPr lang="en-US" sz="2000">
                        <a:solidFill>
                          <a:srgbClr val="000000"/>
                        </a:solidFill>
                        <a:latin typeface="Cambria Math" panose="02040503050406030204" pitchFamily="18" charset="0"/>
                        <a:ea typeface="Cambria Math" panose="02040503050406030204" pitchFamily="18" charset="0"/>
                      </a:rPr>
                      <m:t>=−</m:t>
                    </m:r>
                    <m:r>
                      <m:rPr>
                        <m:sty m:val="p"/>
                      </m:rPr>
                      <a:rPr lang="en-US" sz="2000">
                        <a:solidFill>
                          <a:srgbClr val="000000"/>
                        </a:solidFill>
                        <a:latin typeface="Cambria Math" panose="02040503050406030204" pitchFamily="18" charset="0"/>
                        <a:ea typeface="Cambria Math" panose="02040503050406030204" pitchFamily="18" charset="0"/>
                      </a:rPr>
                      <m:t>jω</m:t>
                    </m:r>
                    <m:r>
                      <a:rPr lang="el-GR" sz="2000" i="1">
                        <a:solidFill>
                          <a:srgbClr val="000000"/>
                        </a:solidFill>
                        <a:latin typeface="Cambria Math" panose="02040503050406030204" pitchFamily="18" charset="0"/>
                        <a:ea typeface="Cambria Math" panose="02040503050406030204" pitchFamily="18" charset="0"/>
                      </a:rPr>
                      <m:t>𝜇</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𝐻</m:t>
                        </m:r>
                      </m:e>
                      <m:sub>
                        <m:r>
                          <a:rPr lang="en-US" sz="2000" b="0" i="1" smtClean="0">
                            <a:solidFill>
                              <a:srgbClr val="000000"/>
                            </a:solidFill>
                            <a:latin typeface="Cambria Math" panose="02040503050406030204" pitchFamily="18" charset="0"/>
                            <a:ea typeface="Cambria Math" panose="02040503050406030204" pitchFamily="18" charset="0"/>
                          </a:rPr>
                          <m:t>2</m:t>
                        </m:r>
                      </m:sub>
                    </m:sSub>
                  </m:oMath>
                </a14:m>
                <a:r>
                  <a:rPr lang="en-US" sz="2000" dirty="0">
                    <a:solidFill>
                      <a:srgbClr val="000000"/>
                    </a:solidFill>
                  </a:rPr>
                  <a:t>, </a:t>
                </a:r>
                <a14:m>
                  <m:oMath xmlns:m="http://schemas.openxmlformats.org/officeDocument/2006/math">
                    <m:r>
                      <m:rPr>
                        <m:sty m:val="p"/>
                      </m:rPr>
                      <a:rPr lang="en-US" sz="2000" i="1">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𝐻</m:t>
                        </m:r>
                      </m:e>
                      <m:sub>
                        <m:r>
                          <a:rPr lang="en-US" sz="2000" b="0" i="1" smtClean="0">
                            <a:solidFill>
                              <a:srgbClr val="000000"/>
                            </a:solidFill>
                            <a:latin typeface="Cambria Math" panose="02040503050406030204" pitchFamily="18" charset="0"/>
                            <a:ea typeface="Cambria Math" panose="02040503050406030204" pitchFamily="18" charset="0"/>
                          </a:rPr>
                          <m:t>2</m:t>
                        </m:r>
                      </m:sub>
                    </m:sSub>
                    <m:r>
                      <a:rPr lang="en-US" sz="2000">
                        <a:solidFill>
                          <a:srgbClr val="000000"/>
                        </a:solidFill>
                        <a:latin typeface="Cambria Math" panose="02040503050406030204" pitchFamily="18" charset="0"/>
                        <a:ea typeface="Cambria Math" panose="02040503050406030204" pitchFamily="18" charset="0"/>
                      </a:rPr>
                      <m:t>=</m:t>
                    </m:r>
                    <m:r>
                      <m:rPr>
                        <m:sty m:val="p"/>
                      </m:rPr>
                      <a:rPr lang="en-US" sz="2000">
                        <a:solidFill>
                          <a:srgbClr val="000000"/>
                        </a:solidFill>
                        <a:latin typeface="Cambria Math" panose="02040503050406030204" pitchFamily="18" charset="0"/>
                        <a:ea typeface="Cambria Math" panose="02040503050406030204" pitchFamily="18" charset="0"/>
                      </a:rPr>
                      <m:t>jω</m:t>
                    </m:r>
                    <m:r>
                      <a:rPr lang="el-GR" sz="2000" i="1">
                        <a:solidFill>
                          <a:srgbClr val="000000"/>
                        </a:solidFill>
                        <a:latin typeface="Cambria Math" panose="02040503050406030204" pitchFamily="18" charset="0"/>
                        <a:ea typeface="Cambria Math" panose="02040503050406030204" pitchFamily="18" charset="0"/>
                      </a:rPr>
                      <m:t>𝜖</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𝐸</m:t>
                        </m:r>
                      </m:e>
                      <m:sub>
                        <m:r>
                          <a:rPr lang="en-US" sz="2000" b="0" i="1" smtClean="0">
                            <a:solidFill>
                              <a:srgbClr val="000000"/>
                            </a:solidFill>
                            <a:latin typeface="Cambria Math" panose="02040503050406030204" pitchFamily="18" charset="0"/>
                            <a:ea typeface="Cambria Math" panose="02040503050406030204" pitchFamily="18" charset="0"/>
                          </a:rPr>
                          <m:t>2</m:t>
                        </m:r>
                      </m:sub>
                    </m:sSub>
                    <m:r>
                      <a:rPr lang="en-US" sz="2000" i="1">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𝑗</m:t>
                        </m:r>
                      </m:e>
                      <m:sub>
                        <m:r>
                          <a:rPr lang="en-US" sz="2000" b="0" i="1" smtClean="0">
                            <a:solidFill>
                              <a:srgbClr val="000000"/>
                            </a:solidFill>
                            <a:latin typeface="Cambria Math" panose="02040503050406030204" pitchFamily="18" charset="0"/>
                            <a:ea typeface="Cambria Math" panose="02040503050406030204" pitchFamily="18" charset="0"/>
                          </a:rPr>
                          <m:t>2</m:t>
                        </m:r>
                      </m:sub>
                    </m:sSub>
                  </m:oMath>
                </a14:m>
                <a:endParaRPr lang="en-US" sz="2000" dirty="0">
                  <a:solidFill>
                    <a:srgbClr val="000000"/>
                  </a:solidFill>
                  <a:ea typeface="Cambria Math" panose="02040503050406030204" pitchFamily="18" charset="0"/>
                </a:endParaRPr>
              </a:p>
              <a:p>
                <a:pPr marL="342900" indent="-342900" latinLnBrk="1" hangingPunct="0">
                  <a:buFont typeface="Arial" panose="020B0604020202020204" pitchFamily="34" charset="0"/>
                  <a:buChar char="•"/>
                </a:pPr>
                <a:r>
                  <a:rPr lang="en-US" sz="2000" dirty="0">
                    <a:solidFill>
                      <a:srgbClr val="000000"/>
                    </a:solidFill>
                  </a:rPr>
                  <a:t>So, </a:t>
                </a:r>
                <a14:m>
                  <m:oMath xmlns:m="http://schemas.openxmlformats.org/officeDocument/2006/math">
                    <m:r>
                      <m:rPr>
                        <m:sty m:val="p"/>
                      </m:rPr>
                      <a:rPr lang="en-US" sz="2000" i="1">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m:t>
                    </m:r>
                    <m:d>
                      <m:dPr>
                        <m:ctrlPr>
                          <a:rPr lang="en-US" sz="2000" i="1">
                            <a:solidFill>
                              <a:srgbClr val="000000"/>
                            </a:solidFill>
                            <a:latin typeface="Cambria Math" panose="02040503050406030204" pitchFamily="18" charset="0"/>
                            <a:ea typeface="Cambria Math" panose="02040503050406030204" pitchFamily="18" charset="0"/>
                          </a:rPr>
                        </m:ctrlPr>
                      </m:dPr>
                      <m:e>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𝐸</m:t>
                            </m:r>
                          </m:e>
                          <m:sub>
                            <m:r>
                              <a:rPr lang="en-US" sz="2000" i="1">
                                <a:solidFill>
                                  <a:srgbClr val="000000"/>
                                </a:solidFill>
                                <a:latin typeface="Cambria Math" panose="02040503050406030204" pitchFamily="18" charset="0"/>
                                <a:ea typeface="Cambria Math" panose="02040503050406030204" pitchFamily="18" charset="0"/>
                              </a:rPr>
                              <m:t>1</m:t>
                            </m:r>
                          </m:sub>
                        </m:sSub>
                        <m:r>
                          <a:rPr lang="en-US" sz="2000" i="1">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𝐻</m:t>
                            </m:r>
                          </m:e>
                          <m:sub>
                            <m:r>
                              <a:rPr lang="en-US" sz="2000" i="1">
                                <a:solidFill>
                                  <a:srgbClr val="000000"/>
                                </a:solidFill>
                                <a:latin typeface="Cambria Math" panose="02040503050406030204" pitchFamily="18" charset="0"/>
                                <a:ea typeface="Cambria Math" panose="02040503050406030204" pitchFamily="18" charset="0"/>
                              </a:rPr>
                              <m:t>2</m:t>
                            </m:r>
                          </m:sub>
                        </m:sSub>
                        <m:r>
                          <a:rPr lang="en-US" sz="2000" i="1">
                            <a:solidFill>
                              <a:srgbClr val="000000"/>
                            </a:solidFill>
                            <a:latin typeface="Cambria Math" panose="02040503050406030204" pitchFamily="18" charset="0"/>
                            <a:ea typeface="Cambria Math" panose="02040503050406030204" pitchFamily="18" charset="0"/>
                          </a:rPr>
                          <m:t> −</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𝐸</m:t>
                            </m:r>
                          </m:e>
                          <m:sub>
                            <m:r>
                              <a:rPr lang="en-US" sz="2000" i="1">
                                <a:solidFill>
                                  <a:srgbClr val="000000"/>
                                </a:solidFill>
                                <a:latin typeface="Cambria Math" panose="02040503050406030204" pitchFamily="18" charset="0"/>
                                <a:ea typeface="Cambria Math" panose="02040503050406030204" pitchFamily="18" charset="0"/>
                              </a:rPr>
                              <m:t>2</m:t>
                            </m:r>
                          </m:sub>
                        </m:sSub>
                        <m:r>
                          <a:rPr lang="en-US" sz="2000" i="1">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𝐻</m:t>
                            </m:r>
                          </m:e>
                          <m:sub>
                            <m:r>
                              <a:rPr lang="en-US" sz="2000" i="1">
                                <a:solidFill>
                                  <a:srgbClr val="000000"/>
                                </a:solidFill>
                                <a:latin typeface="Cambria Math" panose="02040503050406030204" pitchFamily="18" charset="0"/>
                                <a:ea typeface="Cambria Math" panose="02040503050406030204" pitchFamily="18" charset="0"/>
                              </a:rPr>
                              <m:t>1</m:t>
                            </m:r>
                          </m:sub>
                        </m:sSub>
                      </m:e>
                    </m:d>
                    <m:r>
                      <a:rPr lang="en-US" sz="2000" b="0" i="0" smtClean="0">
                        <a:solidFill>
                          <a:srgbClr val="000000"/>
                        </a:solidFill>
                        <a:latin typeface="Cambria Math" panose="02040503050406030204" pitchFamily="18" charset="0"/>
                        <a:ea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𝑗</m:t>
                        </m:r>
                      </m:e>
                      <m:sub>
                        <m:r>
                          <a:rPr lang="en-US" sz="2000" b="0" i="1" smtClean="0">
                            <a:solidFill>
                              <a:srgbClr val="000000"/>
                            </a:solidFill>
                            <a:latin typeface="Cambria Math" panose="02040503050406030204" pitchFamily="18" charset="0"/>
                            <a:ea typeface="Cambria Math" panose="02040503050406030204" pitchFamily="18" charset="0"/>
                          </a:rPr>
                          <m:t>1</m:t>
                        </m:r>
                      </m:sub>
                    </m:sSub>
                    <m:r>
                      <a:rPr lang="en-US" sz="2000" b="0" i="1" smtClean="0">
                        <a:solidFill>
                          <a:srgbClr val="000000"/>
                        </a:solidFill>
                        <a:latin typeface="Cambria Math" panose="02040503050406030204" pitchFamily="18" charset="0"/>
                        <a:ea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𝐸</m:t>
                        </m:r>
                      </m:e>
                      <m:sub>
                        <m:r>
                          <a:rPr lang="en-US" sz="2000" b="0" i="1" smtClean="0">
                            <a:solidFill>
                              <a:srgbClr val="000000"/>
                            </a:solidFill>
                            <a:latin typeface="Cambria Math" panose="02040503050406030204" pitchFamily="18" charset="0"/>
                            <a:ea typeface="Cambria Math" panose="02040503050406030204" pitchFamily="18" charset="0"/>
                          </a:rPr>
                          <m:t>2</m:t>
                        </m:r>
                      </m:sub>
                    </m:sSub>
                    <m:r>
                      <a:rPr lang="en-US" sz="2000" b="0" i="1" smtClean="0">
                        <a:solidFill>
                          <a:srgbClr val="000000"/>
                        </a:solidFill>
                        <a:latin typeface="Cambria Math" panose="02040503050406030204" pitchFamily="18" charset="0"/>
                        <a:ea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𝑗</m:t>
                        </m:r>
                      </m:e>
                      <m:sub>
                        <m:r>
                          <a:rPr lang="en-US" sz="2000" b="0" i="1" smtClean="0">
                            <a:solidFill>
                              <a:srgbClr val="000000"/>
                            </a:solidFill>
                            <a:latin typeface="Cambria Math" panose="02040503050406030204" pitchFamily="18" charset="0"/>
                            <a:ea typeface="Cambria Math" panose="02040503050406030204" pitchFamily="18" charset="0"/>
                          </a:rPr>
                          <m:t>2</m:t>
                        </m:r>
                      </m:sub>
                    </m:sSub>
                    <m:r>
                      <a:rPr lang="en-US" sz="2000" b="0" i="1" smtClean="0">
                        <a:solidFill>
                          <a:srgbClr val="000000"/>
                        </a:solidFill>
                        <a:latin typeface="Cambria Math" panose="02040503050406030204" pitchFamily="18" charset="0"/>
                        <a:ea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𝐸</m:t>
                        </m:r>
                      </m:e>
                      <m:sub>
                        <m:r>
                          <a:rPr lang="en-US" sz="2000" b="0" i="1" smtClean="0">
                            <a:solidFill>
                              <a:srgbClr val="000000"/>
                            </a:solidFill>
                            <a:latin typeface="Cambria Math" panose="02040503050406030204" pitchFamily="18" charset="0"/>
                            <a:ea typeface="Cambria Math" panose="02040503050406030204" pitchFamily="18" charset="0"/>
                          </a:rPr>
                          <m:t>1</m:t>
                        </m:r>
                      </m:sub>
                    </m:sSub>
                  </m:oMath>
                </a14:m>
                <a:endParaRPr lang="en-US" sz="2000" dirty="0">
                  <a:solidFill>
                    <a:srgbClr val="000000"/>
                  </a:solidFill>
                </a:endParaRPr>
              </a:p>
              <a:p>
                <a:pPr marL="342900" indent="-342900" latinLnBrk="1" hangingPunct="0">
                  <a:buFont typeface="Arial" panose="020B0604020202020204" pitchFamily="34" charset="0"/>
                  <a:buChar char="•"/>
                </a:pPr>
                <a14:m>
                  <m:oMath xmlns:m="http://schemas.openxmlformats.org/officeDocument/2006/math">
                    <m:nary>
                      <m:naryPr>
                        <m:chr m:val="∯"/>
                        <m:limLoc m:val="undOvr"/>
                        <m:subHide m:val="on"/>
                        <m:supHide m:val="on"/>
                        <m:ctrlPr>
                          <a:rPr lang="en-US" sz="2000" i="1" smtClean="0">
                            <a:solidFill>
                              <a:srgbClr val="000000"/>
                            </a:solidFill>
                            <a:latin typeface="Cambria Math" panose="02040503050406030204" pitchFamily="18" charset="0"/>
                          </a:rPr>
                        </m:ctrlPr>
                      </m:naryPr>
                      <m:sub/>
                      <m:sup/>
                      <m:e>
                        <m:r>
                          <m:rPr>
                            <m:sty m:val="p"/>
                          </m:rPr>
                          <a:rPr lang="en-US" sz="2000" i="1">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m:t>
                        </m:r>
                        <m:d>
                          <m:dPr>
                            <m:ctrlPr>
                              <a:rPr lang="en-US" sz="2000" i="1">
                                <a:solidFill>
                                  <a:srgbClr val="000000"/>
                                </a:solidFill>
                                <a:latin typeface="Cambria Math" panose="02040503050406030204" pitchFamily="18" charset="0"/>
                                <a:ea typeface="Cambria Math" panose="02040503050406030204" pitchFamily="18" charset="0"/>
                              </a:rPr>
                            </m:ctrlPr>
                          </m:dPr>
                          <m:e>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𝐸</m:t>
                                </m:r>
                              </m:e>
                              <m:sub>
                                <m:r>
                                  <a:rPr lang="en-US" sz="2000" i="1">
                                    <a:solidFill>
                                      <a:srgbClr val="000000"/>
                                    </a:solidFill>
                                    <a:latin typeface="Cambria Math" panose="02040503050406030204" pitchFamily="18" charset="0"/>
                                    <a:ea typeface="Cambria Math" panose="02040503050406030204" pitchFamily="18" charset="0"/>
                                  </a:rPr>
                                  <m:t>1</m:t>
                                </m:r>
                              </m:sub>
                            </m:sSub>
                            <m:r>
                              <a:rPr lang="en-US" sz="2000" i="1">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𝐻</m:t>
                                </m:r>
                              </m:e>
                              <m:sub>
                                <m:r>
                                  <a:rPr lang="en-US" sz="2000" i="1">
                                    <a:solidFill>
                                      <a:srgbClr val="000000"/>
                                    </a:solidFill>
                                    <a:latin typeface="Cambria Math" panose="02040503050406030204" pitchFamily="18" charset="0"/>
                                    <a:ea typeface="Cambria Math" panose="02040503050406030204" pitchFamily="18" charset="0"/>
                                  </a:rPr>
                                  <m:t>2</m:t>
                                </m:r>
                              </m:sub>
                            </m:sSub>
                            <m:r>
                              <a:rPr lang="en-US" sz="2000" i="1">
                                <a:solidFill>
                                  <a:srgbClr val="000000"/>
                                </a:solidFill>
                                <a:latin typeface="Cambria Math" panose="02040503050406030204" pitchFamily="18" charset="0"/>
                                <a:ea typeface="Cambria Math" panose="02040503050406030204" pitchFamily="18" charset="0"/>
                              </a:rPr>
                              <m:t> −</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𝐸</m:t>
                                </m:r>
                              </m:e>
                              <m:sub>
                                <m:r>
                                  <a:rPr lang="en-US" sz="2000" i="1">
                                    <a:solidFill>
                                      <a:srgbClr val="000000"/>
                                    </a:solidFill>
                                    <a:latin typeface="Cambria Math" panose="02040503050406030204" pitchFamily="18" charset="0"/>
                                    <a:ea typeface="Cambria Math" panose="02040503050406030204" pitchFamily="18" charset="0"/>
                                  </a:rPr>
                                  <m:t>2</m:t>
                                </m:r>
                              </m:sub>
                            </m:sSub>
                            <m:r>
                              <a:rPr lang="en-US" sz="2000" i="1">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𝐻</m:t>
                                </m:r>
                              </m:e>
                              <m:sub>
                                <m:r>
                                  <a:rPr lang="en-US" sz="2000" i="1">
                                    <a:solidFill>
                                      <a:srgbClr val="000000"/>
                                    </a:solidFill>
                                    <a:latin typeface="Cambria Math" panose="02040503050406030204" pitchFamily="18" charset="0"/>
                                    <a:ea typeface="Cambria Math" panose="02040503050406030204" pitchFamily="18" charset="0"/>
                                  </a:rPr>
                                  <m:t>1</m:t>
                                </m:r>
                              </m:sub>
                            </m:sSub>
                          </m:e>
                        </m:d>
                        <m:r>
                          <a:rPr lang="en-US" sz="2000" b="0" i="1" smtClean="0">
                            <a:solidFill>
                              <a:srgbClr val="000000"/>
                            </a:solidFill>
                            <a:latin typeface="Cambria Math" panose="02040503050406030204" pitchFamily="18" charset="0"/>
                            <a:ea typeface="Cambria Math" panose="02040503050406030204" pitchFamily="18" charset="0"/>
                          </a:rPr>
                          <m:t> </m:t>
                        </m:r>
                        <m:r>
                          <a:rPr lang="en-US" sz="2000" b="0" i="1" smtClean="0">
                            <a:solidFill>
                              <a:srgbClr val="000000"/>
                            </a:solidFill>
                            <a:latin typeface="Cambria Math" panose="02040503050406030204" pitchFamily="18" charset="0"/>
                            <a:ea typeface="Cambria Math" panose="02040503050406030204" pitchFamily="18" charset="0"/>
                          </a:rPr>
                          <m:t>𝑑𝑉</m:t>
                        </m:r>
                      </m:e>
                    </m:nary>
                    <m:r>
                      <a:rPr lang="en-US" sz="2000" b="0" i="1" smtClean="0">
                        <a:solidFill>
                          <a:srgbClr val="000000"/>
                        </a:solidFill>
                        <a:latin typeface="Cambria Math" panose="02040503050406030204" pitchFamily="18" charset="0"/>
                      </a:rPr>
                      <m:t>=</m:t>
                    </m:r>
                    <m:nary>
                      <m:naryPr>
                        <m:chr m:val="∯"/>
                        <m:limLoc m:val="undOvr"/>
                        <m:subHide m:val="on"/>
                        <m:supHide m:val="on"/>
                        <m:ctrlPr>
                          <a:rPr lang="en-US" sz="2000" b="0" i="1" smtClean="0">
                            <a:solidFill>
                              <a:srgbClr val="000000"/>
                            </a:solidFill>
                            <a:latin typeface="Cambria Math" panose="02040503050406030204" pitchFamily="18" charset="0"/>
                          </a:rPr>
                        </m:ctrlPr>
                      </m:naryPr>
                      <m:sub/>
                      <m:sup/>
                      <m:e>
                        <m:r>
                          <a:rPr lang="en-US" sz="2000" b="0" i="1" smtClean="0">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𝑗</m:t>
                            </m:r>
                          </m:e>
                          <m:sub>
                            <m:r>
                              <a:rPr lang="en-US" sz="2000" i="1">
                                <a:solidFill>
                                  <a:srgbClr val="000000"/>
                                </a:solidFill>
                                <a:latin typeface="Cambria Math" panose="02040503050406030204" pitchFamily="18" charset="0"/>
                                <a:ea typeface="Cambria Math" panose="02040503050406030204" pitchFamily="18" charset="0"/>
                              </a:rPr>
                              <m:t>1</m:t>
                            </m:r>
                          </m:sub>
                        </m:sSub>
                        <m:r>
                          <a:rPr lang="en-US" sz="2000" i="1">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𝐸</m:t>
                            </m:r>
                          </m:e>
                          <m:sub>
                            <m:r>
                              <a:rPr lang="en-US" sz="2000" i="1">
                                <a:solidFill>
                                  <a:srgbClr val="000000"/>
                                </a:solidFill>
                                <a:latin typeface="Cambria Math" panose="02040503050406030204" pitchFamily="18" charset="0"/>
                                <a:ea typeface="Cambria Math" panose="02040503050406030204" pitchFamily="18" charset="0"/>
                              </a:rPr>
                              <m:t>2</m:t>
                            </m:r>
                          </m:sub>
                        </m:sSub>
                        <m:r>
                          <a:rPr lang="en-US" sz="2000" i="1">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𝑗</m:t>
                            </m:r>
                          </m:e>
                          <m:sub>
                            <m:r>
                              <a:rPr lang="en-US" sz="2000" i="1">
                                <a:solidFill>
                                  <a:srgbClr val="000000"/>
                                </a:solidFill>
                                <a:latin typeface="Cambria Math" panose="02040503050406030204" pitchFamily="18" charset="0"/>
                                <a:ea typeface="Cambria Math" panose="02040503050406030204" pitchFamily="18" charset="0"/>
                              </a:rPr>
                              <m:t>2</m:t>
                            </m:r>
                          </m:sub>
                        </m:sSub>
                        <m:r>
                          <a:rPr lang="en-US" sz="2000" i="1">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𝐸</m:t>
                            </m:r>
                          </m:e>
                          <m:sub>
                            <m:r>
                              <a:rPr lang="en-US" sz="2000" i="1">
                                <a:solidFill>
                                  <a:srgbClr val="000000"/>
                                </a:solidFill>
                                <a:latin typeface="Cambria Math" panose="02040503050406030204" pitchFamily="18" charset="0"/>
                                <a:ea typeface="Cambria Math" panose="02040503050406030204" pitchFamily="18" charset="0"/>
                              </a:rPr>
                              <m:t>1</m:t>
                            </m:r>
                          </m:sub>
                        </m:sSub>
                        <m:r>
                          <a:rPr lang="en-US" sz="2000" b="0" i="1" smtClean="0">
                            <a:solidFill>
                              <a:srgbClr val="000000"/>
                            </a:solidFill>
                            <a:latin typeface="Cambria Math" panose="02040503050406030204" pitchFamily="18" charset="0"/>
                            <a:ea typeface="Cambria Math" panose="02040503050406030204" pitchFamily="18" charset="0"/>
                          </a:rPr>
                          <m:t>)</m:t>
                        </m:r>
                        <m:r>
                          <a:rPr lang="en-US" sz="2000" b="0" i="1" smtClean="0">
                            <a:solidFill>
                              <a:srgbClr val="000000"/>
                            </a:solidFill>
                            <a:latin typeface="Cambria Math" panose="02040503050406030204" pitchFamily="18" charset="0"/>
                            <a:ea typeface="Cambria Math" panose="02040503050406030204" pitchFamily="18" charset="0"/>
                          </a:rPr>
                          <m:t>𝑑𝑉</m:t>
                        </m:r>
                      </m:e>
                    </m:nary>
                  </m:oMath>
                </a14:m>
                <a:endParaRPr lang="en-US" sz="2000" dirty="0">
                  <a:solidFill>
                    <a:srgbClr val="000000"/>
                  </a:solidFill>
                </a:endParaRPr>
              </a:p>
              <a:p>
                <a:pPr marL="342900" indent="-342900" latinLnBrk="1" hangingPunct="0">
                  <a:buFont typeface="Arial" panose="020B0604020202020204" pitchFamily="34" charset="0"/>
                  <a:buChar char="•"/>
                </a:pPr>
                <a14:m>
                  <m:oMath xmlns:m="http://schemas.openxmlformats.org/officeDocument/2006/math">
                    <m:nary>
                      <m:naryPr>
                        <m:chr m:val="∯"/>
                        <m:limLoc m:val="undOvr"/>
                        <m:subHide m:val="on"/>
                        <m:supHide m:val="on"/>
                        <m:ctrlPr>
                          <a:rPr lang="en-US" sz="2000" i="1">
                            <a:solidFill>
                              <a:srgbClr val="000000"/>
                            </a:solidFill>
                            <a:latin typeface="Cambria Math" panose="02040503050406030204" pitchFamily="18" charset="0"/>
                          </a:rPr>
                        </m:ctrlPr>
                      </m:naryPr>
                      <m:sub/>
                      <m:sup/>
                      <m:e>
                        <m:r>
                          <m:rPr>
                            <m:sty m:val="p"/>
                          </m:rPr>
                          <a:rPr lang="en-US" sz="2000" i="1">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m:t>
                        </m:r>
                        <m:d>
                          <m:dPr>
                            <m:ctrlPr>
                              <a:rPr lang="en-US" sz="2000" i="1">
                                <a:solidFill>
                                  <a:srgbClr val="000000"/>
                                </a:solidFill>
                                <a:latin typeface="Cambria Math" panose="02040503050406030204" pitchFamily="18" charset="0"/>
                                <a:ea typeface="Cambria Math" panose="02040503050406030204" pitchFamily="18" charset="0"/>
                              </a:rPr>
                            </m:ctrlPr>
                          </m:dPr>
                          <m:e>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𝐸</m:t>
                                </m:r>
                              </m:e>
                              <m:sub>
                                <m:r>
                                  <a:rPr lang="en-US" sz="2000" i="1">
                                    <a:solidFill>
                                      <a:srgbClr val="000000"/>
                                    </a:solidFill>
                                    <a:latin typeface="Cambria Math" panose="02040503050406030204" pitchFamily="18" charset="0"/>
                                    <a:ea typeface="Cambria Math" panose="02040503050406030204" pitchFamily="18" charset="0"/>
                                  </a:rPr>
                                  <m:t>1</m:t>
                                </m:r>
                              </m:sub>
                            </m:sSub>
                            <m:r>
                              <a:rPr lang="en-US" sz="2000" i="1">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𝐻</m:t>
                                </m:r>
                              </m:e>
                              <m:sub>
                                <m:r>
                                  <a:rPr lang="en-US" sz="2000" i="1">
                                    <a:solidFill>
                                      <a:srgbClr val="000000"/>
                                    </a:solidFill>
                                    <a:latin typeface="Cambria Math" panose="02040503050406030204" pitchFamily="18" charset="0"/>
                                    <a:ea typeface="Cambria Math" panose="02040503050406030204" pitchFamily="18" charset="0"/>
                                  </a:rPr>
                                  <m:t>2</m:t>
                                </m:r>
                              </m:sub>
                            </m:sSub>
                            <m:r>
                              <a:rPr lang="en-US" sz="2000" i="1">
                                <a:solidFill>
                                  <a:srgbClr val="000000"/>
                                </a:solidFill>
                                <a:latin typeface="Cambria Math" panose="02040503050406030204" pitchFamily="18" charset="0"/>
                                <a:ea typeface="Cambria Math" panose="02040503050406030204" pitchFamily="18" charset="0"/>
                              </a:rPr>
                              <m:t> −</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𝐸</m:t>
                                </m:r>
                              </m:e>
                              <m:sub>
                                <m:r>
                                  <a:rPr lang="en-US" sz="2000" i="1">
                                    <a:solidFill>
                                      <a:srgbClr val="000000"/>
                                    </a:solidFill>
                                    <a:latin typeface="Cambria Math" panose="02040503050406030204" pitchFamily="18" charset="0"/>
                                    <a:ea typeface="Cambria Math" panose="02040503050406030204" pitchFamily="18" charset="0"/>
                                  </a:rPr>
                                  <m:t>2</m:t>
                                </m:r>
                              </m:sub>
                            </m:sSub>
                            <m:r>
                              <a:rPr lang="en-US" sz="2000" i="1">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𝐻</m:t>
                                </m:r>
                              </m:e>
                              <m:sub>
                                <m:r>
                                  <a:rPr lang="en-US" sz="2000" i="1">
                                    <a:solidFill>
                                      <a:srgbClr val="000000"/>
                                    </a:solidFill>
                                    <a:latin typeface="Cambria Math" panose="02040503050406030204" pitchFamily="18" charset="0"/>
                                    <a:ea typeface="Cambria Math" panose="02040503050406030204" pitchFamily="18" charset="0"/>
                                  </a:rPr>
                                  <m:t>1</m:t>
                                </m:r>
                              </m:sub>
                            </m:sSub>
                          </m:e>
                        </m:d>
                        <m:r>
                          <a:rPr lang="en-US" sz="2000" i="1">
                            <a:solidFill>
                              <a:srgbClr val="000000"/>
                            </a:solidFill>
                            <a:latin typeface="Cambria Math" panose="02040503050406030204" pitchFamily="18" charset="0"/>
                            <a:ea typeface="Cambria Math" panose="02040503050406030204" pitchFamily="18" charset="0"/>
                          </a:rPr>
                          <m:t> </m:t>
                        </m:r>
                        <m:r>
                          <a:rPr lang="en-US" sz="2000" i="1">
                            <a:solidFill>
                              <a:srgbClr val="000000"/>
                            </a:solidFill>
                            <a:latin typeface="Cambria Math" panose="02040503050406030204" pitchFamily="18" charset="0"/>
                            <a:ea typeface="Cambria Math" panose="02040503050406030204" pitchFamily="18" charset="0"/>
                          </a:rPr>
                          <m:t>𝑑𝑉</m:t>
                        </m:r>
                      </m:e>
                    </m:nary>
                    <m:r>
                      <a:rPr lang="en-US" sz="2000" b="0" i="0" smtClean="0">
                        <a:solidFill>
                          <a:srgbClr val="000000"/>
                        </a:solidFill>
                        <a:latin typeface="Cambria Math" panose="02040503050406030204" pitchFamily="18" charset="0"/>
                        <a:ea typeface="Cambria Math" panose="02040503050406030204" pitchFamily="18" charset="0"/>
                      </a:rPr>
                      <m:t>=</m:t>
                    </m:r>
                    <m:nary>
                      <m:naryPr>
                        <m:chr m:val="∮"/>
                        <m:limLoc m:val="undOvr"/>
                        <m:subHide m:val="on"/>
                        <m:supHide m:val="on"/>
                        <m:ctrlPr>
                          <a:rPr lang="en-US" sz="2000" b="0" i="1" smtClean="0">
                            <a:solidFill>
                              <a:srgbClr val="000000"/>
                            </a:solidFill>
                            <a:latin typeface="Cambria Math" panose="02040503050406030204" pitchFamily="18" charset="0"/>
                            <a:ea typeface="Cambria Math" panose="02040503050406030204" pitchFamily="18" charset="0"/>
                          </a:rPr>
                        </m:ctrlPr>
                      </m:naryPr>
                      <m:sub/>
                      <m:sup/>
                      <m:e>
                        <m:r>
                          <a:rPr lang="en-US" sz="2000" b="0" i="1" smtClean="0">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𝐸</m:t>
                            </m:r>
                          </m:e>
                          <m:sub>
                            <m:r>
                              <a:rPr lang="en-US" sz="2000" i="1">
                                <a:solidFill>
                                  <a:srgbClr val="000000"/>
                                </a:solidFill>
                                <a:latin typeface="Cambria Math" panose="02040503050406030204" pitchFamily="18" charset="0"/>
                                <a:ea typeface="Cambria Math" panose="02040503050406030204" pitchFamily="18" charset="0"/>
                              </a:rPr>
                              <m:t>1</m:t>
                            </m:r>
                          </m:sub>
                        </m:sSub>
                        <m:r>
                          <a:rPr lang="en-US" sz="2000" i="1">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𝐻</m:t>
                            </m:r>
                          </m:e>
                          <m:sub>
                            <m:r>
                              <a:rPr lang="en-US" sz="2000" i="1">
                                <a:solidFill>
                                  <a:srgbClr val="000000"/>
                                </a:solidFill>
                                <a:latin typeface="Cambria Math" panose="02040503050406030204" pitchFamily="18" charset="0"/>
                                <a:ea typeface="Cambria Math" panose="02040503050406030204" pitchFamily="18" charset="0"/>
                              </a:rPr>
                              <m:t>2</m:t>
                            </m:r>
                          </m:sub>
                        </m:sSub>
                        <m:r>
                          <a:rPr lang="en-US" sz="2000" i="1">
                            <a:solidFill>
                              <a:srgbClr val="000000"/>
                            </a:solidFill>
                            <a:latin typeface="Cambria Math" panose="02040503050406030204" pitchFamily="18" charset="0"/>
                            <a:ea typeface="Cambria Math" panose="02040503050406030204" pitchFamily="18" charset="0"/>
                          </a:rPr>
                          <m:t> −</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𝐸</m:t>
                            </m:r>
                          </m:e>
                          <m:sub>
                            <m:r>
                              <a:rPr lang="en-US" sz="2000" i="1">
                                <a:solidFill>
                                  <a:srgbClr val="000000"/>
                                </a:solidFill>
                                <a:latin typeface="Cambria Math" panose="02040503050406030204" pitchFamily="18" charset="0"/>
                                <a:ea typeface="Cambria Math" panose="02040503050406030204" pitchFamily="18" charset="0"/>
                              </a:rPr>
                              <m:t>2</m:t>
                            </m:r>
                          </m:sub>
                        </m:sSub>
                        <m:r>
                          <a:rPr lang="en-US" sz="2000" i="1">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𝐻</m:t>
                            </m:r>
                          </m:e>
                          <m:sub>
                            <m:r>
                              <a:rPr lang="en-US" sz="2000" i="1">
                                <a:solidFill>
                                  <a:srgbClr val="000000"/>
                                </a:solidFill>
                                <a:latin typeface="Cambria Math" panose="02040503050406030204" pitchFamily="18" charset="0"/>
                                <a:ea typeface="Cambria Math" panose="02040503050406030204" pitchFamily="18" charset="0"/>
                              </a:rPr>
                              <m:t>1</m:t>
                            </m:r>
                          </m:sub>
                        </m:sSub>
                        <m:r>
                          <a:rPr lang="en-US" sz="2000" b="0" i="1" smtClean="0">
                            <a:solidFill>
                              <a:srgbClr val="000000"/>
                            </a:solidFill>
                            <a:latin typeface="Cambria Math" panose="02040503050406030204" pitchFamily="18" charset="0"/>
                            <a:ea typeface="Cambria Math" panose="02040503050406030204" pitchFamily="18" charset="0"/>
                          </a:rPr>
                          <m:t>)∙</m:t>
                        </m:r>
                        <m:r>
                          <a:rPr lang="en-US" sz="2000" b="0" i="1" smtClean="0">
                            <a:solidFill>
                              <a:srgbClr val="000000"/>
                            </a:solidFill>
                            <a:latin typeface="Cambria Math" panose="02040503050406030204" pitchFamily="18" charset="0"/>
                            <a:ea typeface="Cambria Math" panose="02040503050406030204" pitchFamily="18" charset="0"/>
                          </a:rPr>
                          <m:t>𝑑𝐴</m:t>
                        </m:r>
                      </m:e>
                    </m:nary>
                  </m:oMath>
                </a14:m>
                <a:endParaRPr lang="en-US" sz="2000" dirty="0">
                  <a:solidFill>
                    <a:srgbClr val="000000"/>
                  </a:solidFill>
                </a:endParaRPr>
              </a:p>
              <a:p>
                <a:pPr algn="l" rtl="0" latinLnBrk="1" hangingPunct="0"/>
                <a:endParaRPr lang="en-US" sz="2000" dirty="0">
                  <a:solidFill>
                    <a:srgbClr val="000000"/>
                  </a:solidFill>
                </a:endParaRPr>
              </a:p>
              <a:p>
                <a:pPr marL="285750" indent="-285750" latinLnBrk="1" hangingPunct="0">
                  <a:buFont typeface="Arial" panose="020B0604020202020204" pitchFamily="34" charset="0"/>
                  <a:buChar char="•"/>
                </a:pPr>
                <a:r>
                  <a:rPr lang="en-US" sz="2000" dirty="0">
                    <a:solidFill>
                      <a:srgbClr val="000000"/>
                    </a:solidFill>
                  </a:rPr>
                  <a:t>At large distances, </a:t>
                </a:r>
                <a14:m>
                  <m:oMath xmlns:m="http://schemas.openxmlformats.org/officeDocument/2006/math">
                    <m:r>
                      <a:rPr lang="en-US" sz="2000" b="0" i="1" smtClean="0">
                        <a:solidFill>
                          <a:srgbClr val="000000"/>
                        </a:solidFill>
                        <a:latin typeface="Cambria Math" panose="02040503050406030204" pitchFamily="18" charset="0"/>
                      </a:rPr>
                      <m:t>𝐸</m:t>
                    </m:r>
                    <m:r>
                      <a:rPr lang="en-US" sz="2000" b="0" i="1" smtClean="0">
                        <a:solidFill>
                          <a:srgbClr val="000000"/>
                        </a:solidFill>
                        <a:latin typeface="Cambria Math" panose="02040503050406030204" pitchFamily="18" charset="0"/>
                        <a:ea typeface="Cambria Math" panose="02040503050406030204" pitchFamily="18" charset="0"/>
                      </a:rPr>
                      <m:t>×</m:t>
                    </m:r>
                    <m:r>
                      <a:rPr lang="en-US" sz="2000" b="0" i="1" smtClean="0">
                        <a:solidFill>
                          <a:srgbClr val="000000"/>
                        </a:solidFill>
                        <a:latin typeface="Cambria Math" panose="02040503050406030204" pitchFamily="18" charset="0"/>
                        <a:ea typeface="Cambria Math" panose="02040503050406030204" pitchFamily="18" charset="0"/>
                      </a:rPr>
                      <m:t>𝐻</m:t>
                    </m:r>
                  </m:oMath>
                </a14:m>
                <a:r>
                  <a:rPr lang="en-US" sz="2000" dirty="0">
                    <a:solidFill>
                      <a:srgbClr val="000000"/>
                    </a:solidFill>
                  </a:rPr>
                  <a:t> is </a:t>
                </a:r>
                <a14:m>
                  <m:oMath xmlns:m="http://schemas.openxmlformats.org/officeDocument/2006/math">
                    <m:r>
                      <a:rPr lang="en-US" sz="2000" i="1" smtClean="0">
                        <a:solidFill>
                          <a:srgbClr val="000000"/>
                        </a:solidFill>
                        <a:latin typeface="Cambria Math" panose="02040503050406030204" pitchFamily="18" charset="0"/>
                        <a:ea typeface="Cambria Math" panose="02040503050406030204" pitchFamily="18" charset="0"/>
                      </a:rPr>
                      <m:t>⊥</m:t>
                    </m:r>
                  </m:oMath>
                </a14:m>
                <a:r>
                  <a:rPr lang="en-US" sz="2000" dirty="0">
                    <a:solidFill>
                      <a:srgbClr val="000000"/>
                    </a:solidFill>
                  </a:rPr>
                  <a:t> to sphere and </a:t>
                </a:r>
                <a14:m>
                  <m:oMath xmlns:m="http://schemas.openxmlformats.org/officeDocument/2006/math">
                    <m:r>
                      <a:rPr lang="en-US" sz="2000" b="0" i="1" smtClean="0">
                        <a:solidFill>
                          <a:srgbClr val="000000"/>
                        </a:solidFill>
                        <a:latin typeface="Cambria Math" panose="02040503050406030204" pitchFamily="18" charset="0"/>
                      </a:rPr>
                      <m:t>𝐻</m:t>
                    </m:r>
                    <m:r>
                      <a:rPr lang="en-US" sz="2000" b="0" i="1" smtClean="0">
                        <a:solidFill>
                          <a:srgbClr val="000000"/>
                        </a:solidFill>
                        <a:latin typeface="Cambria Math" panose="02040503050406030204" pitchFamily="18" charset="0"/>
                      </a:rPr>
                      <m:t>=</m:t>
                    </m:r>
                    <m:f>
                      <m:fPr>
                        <m:ctrlPr>
                          <a:rPr lang="en-US" sz="2000" b="0" i="1" smtClean="0">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rPr>
                          <m:t>1</m:t>
                        </m:r>
                      </m:num>
                      <m:den>
                        <m:r>
                          <a:rPr lang="en-US" sz="2000" b="0" i="1" smtClean="0">
                            <a:solidFill>
                              <a:srgbClr val="000000"/>
                            </a:solidFill>
                            <a:latin typeface="Cambria Math" panose="02040503050406030204" pitchFamily="18" charset="0"/>
                            <a:ea typeface="Cambria Math" panose="02040503050406030204" pitchFamily="18" charset="0"/>
                          </a:rPr>
                          <m:t>𝜂</m:t>
                        </m:r>
                      </m:den>
                    </m:f>
                    <m:r>
                      <a:rPr lang="en-US" sz="2000" b="0" i="1" smtClean="0">
                        <a:solidFill>
                          <a:srgbClr val="000000"/>
                        </a:solidFill>
                        <a:latin typeface="Cambria Math" panose="02040503050406030204" pitchFamily="18" charset="0"/>
                      </a:rPr>
                      <m:t>(</m:t>
                    </m:r>
                    <m:acc>
                      <m:accPr>
                        <m:chr m:val="̂"/>
                        <m:ctrlPr>
                          <a:rPr lang="en-US" sz="2000" b="0" i="1" smtClean="0">
                            <a:solidFill>
                              <a:srgbClr val="000000"/>
                            </a:solidFill>
                            <a:latin typeface="Cambria Math" panose="02040503050406030204" pitchFamily="18" charset="0"/>
                          </a:rPr>
                        </m:ctrlPr>
                      </m:accPr>
                      <m:e>
                        <m:r>
                          <a:rPr lang="en-US" sz="2000" b="0" i="1" smtClean="0">
                            <a:solidFill>
                              <a:srgbClr val="000000"/>
                            </a:solidFill>
                            <a:latin typeface="Cambria Math" panose="02040503050406030204" pitchFamily="18" charset="0"/>
                          </a:rPr>
                          <m:t>𝑛</m:t>
                        </m:r>
                      </m:e>
                    </m:acc>
                    <m:r>
                      <a:rPr lang="en-US" sz="2000" b="0" i="1" smtClean="0">
                        <a:solidFill>
                          <a:srgbClr val="000000"/>
                        </a:solidFill>
                        <a:latin typeface="Cambria Math" panose="02040503050406030204" pitchFamily="18" charset="0"/>
                        <a:ea typeface="Cambria Math" panose="02040503050406030204" pitchFamily="18" charset="0"/>
                      </a:rPr>
                      <m:t>×</m:t>
                    </m:r>
                    <m:r>
                      <a:rPr lang="en-US" sz="2000" b="0" i="1" smtClean="0">
                        <a:solidFill>
                          <a:srgbClr val="000000"/>
                        </a:solidFill>
                        <a:latin typeface="Cambria Math" panose="02040503050406030204" pitchFamily="18" charset="0"/>
                        <a:ea typeface="Cambria Math" panose="02040503050406030204" pitchFamily="18" charset="0"/>
                      </a:rPr>
                      <m:t>𝐸</m:t>
                    </m:r>
                    <m:r>
                      <a:rPr lang="en-US" sz="2000" b="0" i="1" smtClean="0">
                        <a:solidFill>
                          <a:srgbClr val="000000"/>
                        </a:solidFill>
                        <a:latin typeface="Cambria Math" panose="02040503050406030204" pitchFamily="18" charset="0"/>
                        <a:ea typeface="Cambria Math" panose="02040503050406030204" pitchFamily="18" charset="0"/>
                      </a:rPr>
                      <m:t>)</m:t>
                    </m:r>
                  </m:oMath>
                </a14:m>
                <a:r>
                  <a:rPr lang="en-US" sz="2000" dirty="0">
                    <a:solidFill>
                      <a:srgbClr val="000000"/>
                    </a:solidFill>
                  </a:rPr>
                  <a:t>, so </a:t>
                </a:r>
                <a14:m>
                  <m:oMath xmlns:m="http://schemas.openxmlformats.org/officeDocument/2006/math">
                    <m:nary>
                      <m:naryPr>
                        <m:chr m:val="∮"/>
                        <m:limLoc m:val="undOvr"/>
                        <m:subHide m:val="on"/>
                        <m:supHide m:val="on"/>
                        <m:ctrlPr>
                          <a:rPr lang="en-US" sz="2000" i="1">
                            <a:solidFill>
                              <a:srgbClr val="000000"/>
                            </a:solidFill>
                            <a:latin typeface="Cambria Math" panose="02040503050406030204" pitchFamily="18" charset="0"/>
                            <a:ea typeface="Cambria Math" panose="02040503050406030204" pitchFamily="18" charset="0"/>
                          </a:rPr>
                        </m:ctrlPr>
                      </m:naryPr>
                      <m:sub/>
                      <m:sup/>
                      <m:e>
                        <m:r>
                          <a:rPr lang="en-US" sz="2000" i="1">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𝐸</m:t>
                            </m:r>
                          </m:e>
                          <m:sub>
                            <m:r>
                              <a:rPr lang="en-US" sz="2000" i="1">
                                <a:solidFill>
                                  <a:srgbClr val="000000"/>
                                </a:solidFill>
                                <a:latin typeface="Cambria Math" panose="02040503050406030204" pitchFamily="18" charset="0"/>
                                <a:ea typeface="Cambria Math" panose="02040503050406030204" pitchFamily="18" charset="0"/>
                              </a:rPr>
                              <m:t>1</m:t>
                            </m:r>
                          </m:sub>
                        </m:sSub>
                        <m:r>
                          <a:rPr lang="en-US" sz="2000" i="1">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𝐻</m:t>
                            </m:r>
                          </m:e>
                          <m:sub>
                            <m:r>
                              <a:rPr lang="en-US" sz="2000" i="1">
                                <a:solidFill>
                                  <a:srgbClr val="000000"/>
                                </a:solidFill>
                                <a:latin typeface="Cambria Math" panose="02040503050406030204" pitchFamily="18" charset="0"/>
                                <a:ea typeface="Cambria Math" panose="02040503050406030204" pitchFamily="18" charset="0"/>
                              </a:rPr>
                              <m:t>2</m:t>
                            </m:r>
                          </m:sub>
                        </m:sSub>
                        <m:r>
                          <a:rPr lang="en-US" sz="2000" i="1">
                            <a:solidFill>
                              <a:srgbClr val="000000"/>
                            </a:solidFill>
                            <a:latin typeface="Cambria Math" panose="02040503050406030204" pitchFamily="18" charset="0"/>
                            <a:ea typeface="Cambria Math" panose="02040503050406030204" pitchFamily="18" charset="0"/>
                          </a:rPr>
                          <m:t> −</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𝐸</m:t>
                            </m:r>
                          </m:e>
                          <m:sub>
                            <m:r>
                              <a:rPr lang="en-US" sz="2000" i="1">
                                <a:solidFill>
                                  <a:srgbClr val="000000"/>
                                </a:solidFill>
                                <a:latin typeface="Cambria Math" panose="02040503050406030204" pitchFamily="18" charset="0"/>
                                <a:ea typeface="Cambria Math" panose="02040503050406030204" pitchFamily="18" charset="0"/>
                              </a:rPr>
                              <m:t>2</m:t>
                            </m:r>
                          </m:sub>
                        </m:sSub>
                        <m:r>
                          <a:rPr lang="en-US" sz="2000" i="1">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𝐻</m:t>
                            </m:r>
                          </m:e>
                          <m:sub>
                            <m:r>
                              <a:rPr lang="en-US" sz="2000" i="1">
                                <a:solidFill>
                                  <a:srgbClr val="000000"/>
                                </a:solidFill>
                                <a:latin typeface="Cambria Math" panose="02040503050406030204" pitchFamily="18" charset="0"/>
                                <a:ea typeface="Cambria Math" panose="02040503050406030204" pitchFamily="18" charset="0"/>
                              </a:rPr>
                              <m:t>1</m:t>
                            </m:r>
                          </m:sub>
                        </m:sSub>
                        <m:r>
                          <a:rPr lang="en-US" sz="2000" i="1">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𝑑𝐴</m:t>
                        </m:r>
                      </m:e>
                    </m:nary>
                    <m:r>
                      <a:rPr lang="en-US" sz="2000" b="0" i="1" smtClean="0">
                        <a:solidFill>
                          <a:srgbClr val="000000"/>
                        </a:solidFill>
                        <a:latin typeface="Cambria Math" panose="02040503050406030204" pitchFamily="18" charset="0"/>
                        <a:ea typeface="Cambria Math" panose="02040503050406030204" pitchFamily="18" charset="0"/>
                      </a:rPr>
                      <m:t>=0</m:t>
                    </m:r>
                  </m:oMath>
                </a14:m>
                <a:endParaRPr lang="en-US" sz="2000" dirty="0">
                  <a:solidFill>
                    <a:srgbClr val="000000"/>
                  </a:solidFill>
                </a:endParaRPr>
              </a:p>
              <a:p>
                <a:pPr marL="285750" indent="-285750" latinLnBrk="1" hangingPunct="0">
                  <a:buFont typeface="Arial" panose="020B0604020202020204" pitchFamily="34" charset="0"/>
                  <a:buChar char="•"/>
                </a:pPr>
                <a:r>
                  <a:rPr lang="en-US" sz="2000" dirty="0">
                    <a:solidFill>
                      <a:srgbClr val="000000"/>
                    </a:solidFill>
                  </a:rPr>
                  <a:t>This gives the reciprocity relation</a:t>
                </a:r>
              </a:p>
              <a:p>
                <a:pPr marL="285750" indent="-285750" latinLnBrk="1" hangingPunct="0">
                  <a:buFont typeface="Arial" panose="020B0604020202020204" pitchFamily="34" charset="0"/>
                  <a:buChar char="•"/>
                </a:pPr>
                <a:endParaRPr lang="en-US" sz="2000" dirty="0">
                  <a:solidFill>
                    <a:srgbClr val="000000"/>
                  </a:solidFill>
                </a:endParaRPr>
              </a:p>
              <a:p>
                <a:pPr marL="285750" indent="-285750" latinLnBrk="1" hangingPunct="0">
                  <a:buFont typeface="Arial" panose="020B0604020202020204" pitchFamily="34" charset="0"/>
                  <a:buChar char="•"/>
                </a:pPr>
                <a14:m>
                  <m:oMath xmlns:m="http://schemas.openxmlformats.org/officeDocument/2006/math">
                    <m:nary>
                      <m:naryPr>
                        <m:chr m:val="∭"/>
                        <m:limLoc m:val="undOvr"/>
                        <m:subHide m:val="on"/>
                        <m:supHide m:val="on"/>
                        <m:ctrlPr>
                          <a:rPr lang="en-US" sz="2000" i="1" smtClean="0">
                            <a:solidFill>
                              <a:srgbClr val="000000"/>
                            </a:solidFill>
                            <a:latin typeface="Cambria Math" panose="02040503050406030204" pitchFamily="18" charset="0"/>
                          </a:rPr>
                        </m:ctrlPr>
                      </m:naryPr>
                      <m:sub/>
                      <m:sup/>
                      <m:e>
                        <m:d>
                          <m:dPr>
                            <m:ctrlPr>
                              <a:rPr lang="en-US" sz="2000" i="1">
                                <a:solidFill>
                                  <a:srgbClr val="000000"/>
                                </a:solidFill>
                                <a:latin typeface="Cambria Math" panose="02040503050406030204" pitchFamily="18" charset="0"/>
                                <a:ea typeface="Cambria Math" panose="02040503050406030204" pitchFamily="18" charset="0"/>
                              </a:rPr>
                            </m:ctrlPr>
                          </m:dPr>
                          <m:e>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𝑗</m:t>
                                </m:r>
                              </m:e>
                              <m:sub>
                                <m:r>
                                  <a:rPr lang="en-US" sz="2000" i="1">
                                    <a:solidFill>
                                      <a:srgbClr val="000000"/>
                                    </a:solidFill>
                                    <a:latin typeface="Cambria Math" panose="02040503050406030204" pitchFamily="18" charset="0"/>
                                    <a:ea typeface="Cambria Math" panose="02040503050406030204" pitchFamily="18" charset="0"/>
                                  </a:rPr>
                                  <m:t>1</m:t>
                                </m:r>
                              </m:sub>
                            </m:sSub>
                            <m:r>
                              <a:rPr lang="en-US" sz="2000" i="1">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𝐸</m:t>
                                </m:r>
                              </m:e>
                              <m:sub>
                                <m:r>
                                  <a:rPr lang="en-US" sz="2000" i="1">
                                    <a:solidFill>
                                      <a:srgbClr val="000000"/>
                                    </a:solidFill>
                                    <a:latin typeface="Cambria Math" panose="02040503050406030204" pitchFamily="18" charset="0"/>
                                    <a:ea typeface="Cambria Math" panose="02040503050406030204" pitchFamily="18" charset="0"/>
                                  </a:rPr>
                                  <m:t>2</m:t>
                                </m:r>
                              </m:sub>
                            </m:sSub>
                          </m:e>
                        </m:d>
                        <m:r>
                          <a:rPr lang="en-US" sz="2000" b="0" i="1" smtClean="0">
                            <a:solidFill>
                              <a:srgbClr val="000000"/>
                            </a:solidFill>
                            <a:latin typeface="Cambria Math" panose="02040503050406030204" pitchFamily="18" charset="0"/>
                            <a:ea typeface="Cambria Math" panose="02040503050406030204" pitchFamily="18" charset="0"/>
                          </a:rPr>
                          <m:t>𝑑𝑉</m:t>
                        </m:r>
                      </m:e>
                    </m:nary>
                    <m:r>
                      <a:rPr lang="en-US" sz="2000" b="0" i="1" smtClean="0">
                        <a:solidFill>
                          <a:srgbClr val="000000"/>
                        </a:solidFill>
                        <a:latin typeface="Cambria Math" panose="02040503050406030204" pitchFamily="18" charset="0"/>
                      </a:rPr>
                      <m:t>=</m:t>
                    </m:r>
                    <m:nary>
                      <m:naryPr>
                        <m:chr m:val="∭"/>
                        <m:limLoc m:val="undOvr"/>
                        <m:subHide m:val="on"/>
                        <m:supHide m:val="on"/>
                        <m:ctrlPr>
                          <a:rPr lang="en-US" sz="2000" b="0" i="1" smtClean="0">
                            <a:solidFill>
                              <a:srgbClr val="000000"/>
                            </a:solidFill>
                            <a:latin typeface="Cambria Math" panose="02040503050406030204" pitchFamily="18" charset="0"/>
                          </a:rPr>
                        </m:ctrlPr>
                      </m:naryPr>
                      <m:sub/>
                      <m:sup/>
                      <m:e>
                        <m:d>
                          <m:dPr>
                            <m:ctrlPr>
                              <a:rPr lang="en-US" sz="2000" i="1">
                                <a:solidFill>
                                  <a:srgbClr val="000000"/>
                                </a:solidFill>
                                <a:latin typeface="Cambria Math" panose="02040503050406030204" pitchFamily="18" charset="0"/>
                                <a:ea typeface="Cambria Math" panose="02040503050406030204" pitchFamily="18" charset="0"/>
                              </a:rPr>
                            </m:ctrlPr>
                          </m:dPr>
                          <m:e>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𝑗</m:t>
                                </m:r>
                              </m:e>
                              <m:sub>
                                <m:r>
                                  <a:rPr lang="en-US" sz="2000" i="1">
                                    <a:solidFill>
                                      <a:srgbClr val="000000"/>
                                    </a:solidFill>
                                    <a:latin typeface="Cambria Math" panose="02040503050406030204" pitchFamily="18" charset="0"/>
                                    <a:ea typeface="Cambria Math" panose="02040503050406030204" pitchFamily="18" charset="0"/>
                                  </a:rPr>
                                  <m:t>2</m:t>
                                </m:r>
                              </m:sub>
                            </m:sSub>
                            <m:r>
                              <a:rPr lang="en-US" sz="2000" i="1">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𝐸</m:t>
                                </m:r>
                              </m:e>
                              <m:sub>
                                <m:r>
                                  <a:rPr lang="en-US" sz="2000" i="1">
                                    <a:solidFill>
                                      <a:srgbClr val="000000"/>
                                    </a:solidFill>
                                    <a:latin typeface="Cambria Math" panose="02040503050406030204" pitchFamily="18" charset="0"/>
                                    <a:ea typeface="Cambria Math" panose="02040503050406030204" pitchFamily="18" charset="0"/>
                                  </a:rPr>
                                  <m:t>1</m:t>
                                </m:r>
                              </m:sub>
                            </m:sSub>
                          </m:e>
                        </m:d>
                        <m:r>
                          <a:rPr lang="en-US" sz="2000" b="0" i="1" smtClean="0">
                            <a:solidFill>
                              <a:srgbClr val="000000"/>
                            </a:solidFill>
                            <a:latin typeface="Cambria Math" panose="02040503050406030204" pitchFamily="18" charset="0"/>
                            <a:ea typeface="Cambria Math" panose="02040503050406030204" pitchFamily="18" charset="0"/>
                          </a:rPr>
                          <m:t>𝑑𝑉</m:t>
                        </m:r>
                      </m:e>
                    </m:nary>
                  </m:oMath>
                </a14:m>
                <a:endParaRPr lang="en-US" sz="2000" dirty="0">
                  <a:solidFill>
                    <a:srgbClr val="000000"/>
                  </a:solidFill>
                </a:endParaRP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594597" y="2004508"/>
                <a:ext cx="9417732" cy="4222521"/>
              </a:xfrm>
              <a:prstGeom prst="rect">
                <a:avLst/>
              </a:prstGeom>
              <a:blipFill>
                <a:blip r:embed="rId3"/>
                <a:stretch>
                  <a:fillRect l="-2561" t="-599" b="-11078"/>
                </a:stretch>
              </a:blipFill>
              <a:ln w="12700" cap="flat">
                <a:noFill/>
                <a:miter lim="400000"/>
              </a:ln>
              <a:effectLst/>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F3EED66A-56F2-494C-BB12-2E8BBB011DE2}"/>
              </a:ext>
            </a:extLst>
          </p:cNvPr>
          <p:cNvSpPr>
            <a:spLocks noGrp="1"/>
          </p:cNvSpPr>
          <p:nvPr>
            <p:ph type="sldNum" sz="quarter" idx="2"/>
          </p:nvPr>
        </p:nvSpPr>
        <p:spPr>
          <a:xfrm>
            <a:off x="9673388" y="6348905"/>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45</a:t>
            </a:fld>
            <a:endParaRPr lang="en-US" dirty="0">
              <a:solidFill>
                <a:schemeClr val="tx1"/>
              </a:solidFill>
            </a:endParaRPr>
          </a:p>
        </p:txBody>
      </p:sp>
      <p:sp>
        <p:nvSpPr>
          <p:cNvPr id="2" name="Cloud 1">
            <a:extLst>
              <a:ext uri="{FF2B5EF4-FFF2-40B4-BE49-F238E27FC236}">
                <a16:creationId xmlns:a16="http://schemas.microsoft.com/office/drawing/2014/main" id="{F2F991B8-5FF5-845C-CA8A-C9A7D3E1D1C2}"/>
              </a:ext>
            </a:extLst>
          </p:cNvPr>
          <p:cNvSpPr/>
          <p:nvPr/>
        </p:nvSpPr>
        <p:spPr>
          <a:xfrm>
            <a:off x="9193283" y="3272464"/>
            <a:ext cx="2998717" cy="2556302"/>
          </a:xfrm>
          <a:prstGeom prst="clou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C40E1F4-5C90-47E6-BC47-D0E36D100B6D}"/>
              </a:ext>
            </a:extLst>
          </p:cNvPr>
          <p:cNvSpPr txBox="1"/>
          <p:nvPr/>
        </p:nvSpPr>
        <p:spPr>
          <a:xfrm>
            <a:off x="9939178" y="3931103"/>
            <a:ext cx="1095154" cy="369332"/>
          </a:xfrm>
          <a:prstGeom prst="rect">
            <a:avLst/>
          </a:prstGeom>
          <a:noFill/>
        </p:spPr>
        <p:txBody>
          <a:bodyPr wrap="square" rtlCol="0">
            <a:spAutoFit/>
          </a:bodyPr>
          <a:lstStyle/>
          <a:p>
            <a:r>
              <a:rPr lang="en-US" dirty="0"/>
              <a:t>j</a:t>
            </a:r>
            <a:r>
              <a:rPr lang="en-US" baseline="-25000" dirty="0"/>
              <a:t>1 </a:t>
            </a:r>
            <a:r>
              <a:rPr lang="en-US" dirty="0"/>
              <a:t>   E</a:t>
            </a:r>
            <a:r>
              <a:rPr lang="en-US" baseline="-25000" dirty="0"/>
              <a:t>1</a:t>
            </a:r>
            <a:r>
              <a:rPr lang="en-US" dirty="0"/>
              <a:t>, H</a:t>
            </a:r>
            <a:r>
              <a:rPr lang="en-US" baseline="-25000" dirty="0"/>
              <a:t>1</a:t>
            </a:r>
          </a:p>
        </p:txBody>
      </p:sp>
      <p:sp>
        <p:nvSpPr>
          <p:cNvPr id="5" name="TextBox 4">
            <a:extLst>
              <a:ext uri="{FF2B5EF4-FFF2-40B4-BE49-F238E27FC236}">
                <a16:creationId xmlns:a16="http://schemas.microsoft.com/office/drawing/2014/main" id="{B89F6305-3B50-DCB7-FBA3-CA6BB9B882EB}"/>
              </a:ext>
            </a:extLst>
          </p:cNvPr>
          <p:cNvSpPr txBox="1"/>
          <p:nvPr/>
        </p:nvSpPr>
        <p:spPr>
          <a:xfrm>
            <a:off x="10448261" y="4883454"/>
            <a:ext cx="1095154" cy="369332"/>
          </a:xfrm>
          <a:prstGeom prst="rect">
            <a:avLst/>
          </a:prstGeom>
          <a:noFill/>
        </p:spPr>
        <p:txBody>
          <a:bodyPr wrap="square" rtlCol="0">
            <a:spAutoFit/>
          </a:bodyPr>
          <a:lstStyle/>
          <a:p>
            <a:r>
              <a:rPr lang="en-US" dirty="0"/>
              <a:t>j</a:t>
            </a:r>
            <a:r>
              <a:rPr lang="en-US" baseline="-25000" dirty="0"/>
              <a:t>2 </a:t>
            </a:r>
            <a:r>
              <a:rPr lang="en-US" dirty="0"/>
              <a:t>   E</a:t>
            </a:r>
            <a:r>
              <a:rPr lang="en-US" baseline="-25000" dirty="0"/>
              <a:t>2</a:t>
            </a:r>
            <a:r>
              <a:rPr lang="en-US" dirty="0"/>
              <a:t>, H</a:t>
            </a:r>
            <a:r>
              <a:rPr lang="en-US" baseline="-25000" dirty="0"/>
              <a:t>2</a:t>
            </a:r>
          </a:p>
        </p:txBody>
      </p:sp>
      <p:cxnSp>
        <p:nvCxnSpPr>
          <p:cNvPr id="7" name="Straight Arrow Connector 6">
            <a:extLst>
              <a:ext uri="{FF2B5EF4-FFF2-40B4-BE49-F238E27FC236}">
                <a16:creationId xmlns:a16="http://schemas.microsoft.com/office/drawing/2014/main" id="{F2A5A2A8-D2AA-6C36-9B4E-A23C6F05D92B}"/>
              </a:ext>
            </a:extLst>
          </p:cNvPr>
          <p:cNvCxnSpPr/>
          <p:nvPr/>
        </p:nvCxnSpPr>
        <p:spPr>
          <a:xfrm flipV="1">
            <a:off x="9779387" y="3690105"/>
            <a:ext cx="465885" cy="42566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11121C9-833D-AF3D-DB7A-897D4EAEEC07}"/>
              </a:ext>
            </a:extLst>
          </p:cNvPr>
          <p:cNvCxnSpPr>
            <a:cxnSpLocks/>
            <a:stCxn id="5" idx="1"/>
          </p:cNvCxnSpPr>
          <p:nvPr/>
        </p:nvCxnSpPr>
        <p:spPr>
          <a:xfrm>
            <a:off x="10448261" y="5068120"/>
            <a:ext cx="160765" cy="53843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15832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605643" y="182199"/>
            <a:ext cx="10438410"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Rayleigh-Jeans</a:t>
            </a:r>
            <a:endParaRPr sz="44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255655" y="1095153"/>
                <a:ext cx="11740402" cy="530526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342900" indent="-342900" latinLnBrk="1" hangingPunct="0">
                  <a:buFont typeface="Arial" panose="020B0604020202020204" pitchFamily="34" charset="0"/>
                  <a:buChar char="•"/>
                </a:pPr>
                <a14:m>
                  <m:oMath xmlns:m="http://schemas.openxmlformats.org/officeDocument/2006/math">
                    <m:r>
                      <a:rPr lang="en-US" b="0" i="1" smtClean="0">
                        <a:solidFill>
                          <a:srgbClr val="000000"/>
                        </a:solidFill>
                        <a:latin typeface="Cambria Math" panose="02040503050406030204" pitchFamily="18" charset="0"/>
                      </a:rPr>
                      <m:t>𝐸</m:t>
                    </m:r>
                    <m:d>
                      <m:dPr>
                        <m:ctrlPr>
                          <a:rPr lang="en-US" b="0" i="1" smtClean="0">
                            <a:solidFill>
                              <a:srgbClr val="000000"/>
                            </a:solidFill>
                            <a:latin typeface="Cambria Math" panose="02040503050406030204" pitchFamily="18" charset="0"/>
                          </a:rPr>
                        </m:ctrlPr>
                      </m:dPr>
                      <m:e>
                        <m:r>
                          <a:rPr lang="en-US" b="0" i="1" smtClean="0">
                            <a:solidFill>
                              <a:srgbClr val="000000"/>
                            </a:solidFill>
                            <a:latin typeface="Cambria Math" panose="02040503050406030204" pitchFamily="18" charset="0"/>
                          </a:rPr>
                          <m:t>𝑥</m:t>
                        </m:r>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𝑦</m:t>
                        </m:r>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𝑧</m:t>
                        </m:r>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𝑡</m:t>
                        </m:r>
                      </m:e>
                    </m:d>
                    <m:r>
                      <a:rPr lang="en-US" b="0" i="1" smtClean="0">
                        <a:solidFill>
                          <a:srgbClr val="000000"/>
                        </a:solidFill>
                        <a:latin typeface="Cambria Math" panose="02040503050406030204" pitchFamily="18" charset="0"/>
                      </a:rPr>
                      <m:t>= </m:t>
                    </m:r>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𝐸</m:t>
                        </m:r>
                      </m:e>
                      <m:sub>
                        <m:r>
                          <a:rPr lang="en-US" b="0" i="1" smtClean="0">
                            <a:solidFill>
                              <a:srgbClr val="000000"/>
                            </a:solidFill>
                            <a:latin typeface="Cambria Math" panose="02040503050406030204" pitchFamily="18" charset="0"/>
                          </a:rPr>
                          <m:t>0</m:t>
                        </m:r>
                      </m:sub>
                    </m:sSub>
                    <m:r>
                      <m:rPr>
                        <m:sty m:val="p"/>
                      </m:rPr>
                      <a:rPr lang="en-US" b="0" i="0" smtClean="0">
                        <a:solidFill>
                          <a:srgbClr val="000000"/>
                        </a:solidFill>
                        <a:latin typeface="Cambria Math" panose="02040503050406030204" pitchFamily="18" charset="0"/>
                      </a:rPr>
                      <m:t>sin</m:t>
                    </m:r>
                    <m:r>
                      <a:rPr lang="en-US" b="0" i="1" smtClean="0">
                        <a:solidFill>
                          <a:srgbClr val="000000"/>
                        </a:solidFill>
                        <a:latin typeface="Cambria Math" panose="02040503050406030204" pitchFamily="18" charset="0"/>
                      </a:rPr>
                      <m:t>⁡(</m:t>
                    </m:r>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𝑘</m:t>
                        </m:r>
                      </m:e>
                      <m:sub>
                        <m:r>
                          <a:rPr lang="en-US" b="0" i="1" smtClean="0">
                            <a:solidFill>
                              <a:srgbClr val="000000"/>
                            </a:solidFill>
                            <a:latin typeface="Cambria Math" panose="02040503050406030204" pitchFamily="18" charset="0"/>
                          </a:rPr>
                          <m:t>𝑥</m:t>
                        </m:r>
                      </m:sub>
                    </m:sSub>
                    <m:r>
                      <a:rPr lang="en-US" b="0" i="1" smtClean="0">
                        <a:solidFill>
                          <a:srgbClr val="000000"/>
                        </a:solidFill>
                        <a:latin typeface="Cambria Math" panose="02040503050406030204" pitchFamily="18" charset="0"/>
                      </a:rPr>
                      <m:t>𝑥</m:t>
                    </m:r>
                    <m:r>
                      <a:rPr lang="en-US" b="0" i="1" smtClean="0">
                        <a:solidFill>
                          <a:srgbClr val="000000"/>
                        </a:solidFill>
                        <a:latin typeface="Cambria Math" panose="02040503050406030204" pitchFamily="18" charset="0"/>
                      </a:rPr>
                      <m:t>+</m:t>
                    </m:r>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𝑘</m:t>
                        </m:r>
                      </m:e>
                      <m:sub>
                        <m:r>
                          <a:rPr lang="en-US" b="0" i="1" smtClean="0">
                            <a:solidFill>
                              <a:srgbClr val="000000"/>
                            </a:solidFill>
                            <a:latin typeface="Cambria Math" panose="02040503050406030204" pitchFamily="18" charset="0"/>
                          </a:rPr>
                          <m:t>𝑦</m:t>
                        </m:r>
                      </m:sub>
                    </m:sSub>
                    <m:r>
                      <a:rPr lang="en-US" b="0" i="1" smtClean="0">
                        <a:solidFill>
                          <a:srgbClr val="000000"/>
                        </a:solidFill>
                        <a:latin typeface="Cambria Math" panose="02040503050406030204" pitchFamily="18" charset="0"/>
                      </a:rPr>
                      <m:t>𝑦</m:t>
                    </m:r>
                    <m:r>
                      <a:rPr lang="en-US" b="0" i="1" smtClean="0">
                        <a:solidFill>
                          <a:srgbClr val="000000"/>
                        </a:solidFill>
                        <a:latin typeface="Cambria Math" panose="02040503050406030204" pitchFamily="18" charset="0"/>
                      </a:rPr>
                      <m:t>+</m:t>
                    </m:r>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𝑘</m:t>
                        </m:r>
                      </m:e>
                      <m:sub>
                        <m:r>
                          <a:rPr lang="en-US" b="0" i="1" smtClean="0">
                            <a:solidFill>
                              <a:srgbClr val="000000"/>
                            </a:solidFill>
                            <a:latin typeface="Cambria Math" panose="02040503050406030204" pitchFamily="18" charset="0"/>
                          </a:rPr>
                          <m:t>𝑧</m:t>
                        </m:r>
                      </m:sub>
                    </m:sSub>
                    <m:r>
                      <a:rPr lang="en-US" b="0" i="1" smtClean="0">
                        <a:solidFill>
                          <a:srgbClr val="000000"/>
                        </a:solidFill>
                        <a:latin typeface="Cambria Math" panose="02040503050406030204" pitchFamily="18" charset="0"/>
                      </a:rPr>
                      <m:t>𝑧</m:t>
                    </m:r>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ea typeface="Cambria Math" panose="02040503050406030204" pitchFamily="18" charset="0"/>
                      </a:rPr>
                      <m:t>𝜔</m:t>
                    </m:r>
                    <m:r>
                      <a:rPr lang="en-US" b="0" i="1" smtClean="0">
                        <a:solidFill>
                          <a:srgbClr val="000000"/>
                        </a:solidFill>
                        <a:latin typeface="Cambria Math" panose="02040503050406030204" pitchFamily="18" charset="0"/>
                        <a:ea typeface="Cambria Math" panose="02040503050406030204" pitchFamily="18" charset="0"/>
                      </a:rPr>
                      <m:t>𝑡</m:t>
                    </m:r>
                    <m:r>
                      <a:rPr lang="en-US" b="0" i="1" smtClean="0">
                        <a:solidFill>
                          <a:srgbClr val="000000"/>
                        </a:solidFill>
                        <a:latin typeface="Cambria Math" panose="02040503050406030204" pitchFamily="18" charset="0"/>
                        <a:ea typeface="Cambria Math" panose="02040503050406030204" pitchFamily="18" charset="0"/>
                      </a:rPr>
                      <m:t>)</m:t>
                    </m:r>
                  </m:oMath>
                </a14:m>
                <a:r>
                  <a:rPr lang="en-US" dirty="0">
                    <a:solidFill>
                      <a:srgbClr val="000000"/>
                    </a:solidFill>
                  </a:rPr>
                  <a:t>, </a:t>
                </a:r>
                <a14:m>
                  <m:oMath xmlns:m="http://schemas.openxmlformats.org/officeDocument/2006/math">
                    <m:sSup>
                      <m:sSupPr>
                        <m:ctrlPr>
                          <a:rPr lang="en-US" i="1" dirty="0" smtClean="0">
                            <a:solidFill>
                              <a:srgbClr val="000000"/>
                            </a:solidFill>
                            <a:latin typeface="Cambria Math" panose="02040503050406030204" pitchFamily="18" charset="0"/>
                            <a:ea typeface="Cambria Math" panose="02040503050406030204" pitchFamily="18" charset="0"/>
                          </a:rPr>
                        </m:ctrlPr>
                      </m:sSupPr>
                      <m:e>
                        <m:r>
                          <m:rPr>
                            <m:sty m:val="p"/>
                          </m:rPr>
                          <a:rPr lang="en-US" i="1" dirty="0" smtClean="0">
                            <a:solidFill>
                              <a:srgbClr val="000000"/>
                            </a:solidFill>
                            <a:latin typeface="Cambria Math" panose="02040503050406030204" pitchFamily="18" charset="0"/>
                            <a:ea typeface="Cambria Math" panose="02040503050406030204" pitchFamily="18" charset="0"/>
                          </a:rPr>
                          <m:t>∇</m:t>
                        </m:r>
                      </m:e>
                      <m:sup>
                        <m:r>
                          <a:rPr lang="en-US" b="0" i="1" dirty="0" smtClean="0">
                            <a:solidFill>
                              <a:srgbClr val="000000"/>
                            </a:solidFill>
                            <a:latin typeface="Cambria Math" panose="02040503050406030204" pitchFamily="18" charset="0"/>
                          </a:rPr>
                          <m:t>2</m:t>
                        </m:r>
                      </m:sup>
                    </m:sSup>
                    <m:r>
                      <a:rPr lang="en-US" b="0" i="1" dirty="0" smtClean="0">
                        <a:solidFill>
                          <a:srgbClr val="000000"/>
                        </a:solidFill>
                        <a:latin typeface="Cambria Math" panose="02040503050406030204" pitchFamily="18" charset="0"/>
                      </a:rPr>
                      <m:t>𝐸</m:t>
                    </m:r>
                    <m:r>
                      <a:rPr lang="en-US" b="0" i="1" dirty="0" smtClean="0">
                        <a:solidFill>
                          <a:srgbClr val="000000"/>
                        </a:solidFill>
                        <a:latin typeface="Cambria Math" panose="02040503050406030204" pitchFamily="18" charset="0"/>
                      </a:rPr>
                      <m:t>−</m:t>
                    </m:r>
                    <m:f>
                      <m:fPr>
                        <m:ctrlPr>
                          <a:rPr lang="en-US" b="0" i="1" dirty="0" smtClean="0">
                            <a:solidFill>
                              <a:srgbClr val="000000"/>
                            </a:solidFill>
                            <a:latin typeface="Cambria Math" panose="02040503050406030204" pitchFamily="18" charset="0"/>
                          </a:rPr>
                        </m:ctrlPr>
                      </m:fPr>
                      <m:num>
                        <m:r>
                          <a:rPr lang="en-US" b="0" i="1" dirty="0" smtClean="0">
                            <a:solidFill>
                              <a:srgbClr val="000000"/>
                            </a:solidFill>
                            <a:latin typeface="Cambria Math" panose="02040503050406030204" pitchFamily="18" charset="0"/>
                          </a:rPr>
                          <m:t>1</m:t>
                        </m:r>
                      </m:num>
                      <m:den>
                        <m:sSup>
                          <m:sSupPr>
                            <m:ctrlPr>
                              <a:rPr lang="en-US" b="0" i="1" dirty="0" smtClean="0">
                                <a:solidFill>
                                  <a:srgbClr val="000000"/>
                                </a:solidFill>
                                <a:latin typeface="Cambria Math" panose="02040503050406030204" pitchFamily="18" charset="0"/>
                              </a:rPr>
                            </m:ctrlPr>
                          </m:sSupPr>
                          <m:e>
                            <m:r>
                              <a:rPr lang="en-US" b="0" i="1" dirty="0" smtClean="0">
                                <a:solidFill>
                                  <a:srgbClr val="000000"/>
                                </a:solidFill>
                                <a:latin typeface="Cambria Math" panose="02040503050406030204" pitchFamily="18" charset="0"/>
                              </a:rPr>
                              <m:t>𝑐</m:t>
                            </m:r>
                          </m:e>
                          <m:sup>
                            <m:r>
                              <a:rPr lang="en-US" b="0" i="1" dirty="0" smtClean="0">
                                <a:solidFill>
                                  <a:srgbClr val="000000"/>
                                </a:solidFill>
                                <a:latin typeface="Cambria Math" panose="02040503050406030204" pitchFamily="18" charset="0"/>
                              </a:rPr>
                              <m:t>2</m:t>
                            </m:r>
                          </m:sup>
                        </m:sSup>
                      </m:den>
                    </m:f>
                    <m:f>
                      <m:fPr>
                        <m:ctrlPr>
                          <a:rPr lang="en-US" b="0" i="1" dirty="0" smtClean="0">
                            <a:solidFill>
                              <a:srgbClr val="000000"/>
                            </a:solidFill>
                            <a:latin typeface="Cambria Math" panose="02040503050406030204" pitchFamily="18" charset="0"/>
                          </a:rPr>
                        </m:ctrlPr>
                      </m:fPr>
                      <m:num>
                        <m:sSup>
                          <m:sSupPr>
                            <m:ctrlPr>
                              <a:rPr lang="en-US" b="0" i="1" dirty="0" smtClean="0">
                                <a:solidFill>
                                  <a:srgbClr val="000000"/>
                                </a:solidFill>
                                <a:latin typeface="Cambria Math" panose="02040503050406030204" pitchFamily="18" charset="0"/>
                                <a:ea typeface="Cambria Math" panose="02040503050406030204" pitchFamily="18" charset="0"/>
                              </a:rPr>
                            </m:ctrlPr>
                          </m:sSupPr>
                          <m:e>
                            <m:r>
                              <a:rPr lang="en-US" b="0" i="1" dirty="0" smtClean="0">
                                <a:solidFill>
                                  <a:srgbClr val="000000"/>
                                </a:solidFill>
                                <a:latin typeface="Cambria Math" panose="02040503050406030204" pitchFamily="18" charset="0"/>
                                <a:ea typeface="Cambria Math" panose="02040503050406030204" pitchFamily="18" charset="0"/>
                              </a:rPr>
                              <m:t>𝜕</m:t>
                            </m:r>
                          </m:e>
                          <m:sup>
                            <m:r>
                              <a:rPr lang="en-US" b="0" i="1" dirty="0" smtClean="0">
                                <a:solidFill>
                                  <a:srgbClr val="000000"/>
                                </a:solidFill>
                                <a:latin typeface="Cambria Math" panose="02040503050406030204" pitchFamily="18" charset="0"/>
                              </a:rPr>
                              <m:t>2</m:t>
                            </m:r>
                          </m:sup>
                        </m:sSup>
                        <m:r>
                          <a:rPr lang="en-US" b="0" i="1" dirty="0" smtClean="0">
                            <a:solidFill>
                              <a:srgbClr val="000000"/>
                            </a:solidFill>
                            <a:latin typeface="Cambria Math" panose="02040503050406030204" pitchFamily="18" charset="0"/>
                          </a:rPr>
                          <m:t>𝐸</m:t>
                        </m:r>
                      </m:num>
                      <m:den>
                        <m:sSup>
                          <m:sSupPr>
                            <m:ctrlPr>
                              <a:rPr lang="en-US" b="0" i="1" dirty="0" smtClean="0">
                                <a:solidFill>
                                  <a:srgbClr val="000000"/>
                                </a:solidFill>
                                <a:latin typeface="Cambria Math" panose="02040503050406030204" pitchFamily="18" charset="0"/>
                                <a:ea typeface="Cambria Math" panose="02040503050406030204" pitchFamily="18" charset="0"/>
                              </a:rPr>
                            </m:ctrlPr>
                          </m:sSupPr>
                          <m:e>
                            <m:r>
                              <a:rPr lang="en-US" b="0" i="1" dirty="0" smtClean="0">
                                <a:solidFill>
                                  <a:srgbClr val="000000"/>
                                </a:solidFill>
                                <a:latin typeface="Cambria Math" panose="02040503050406030204" pitchFamily="18" charset="0"/>
                                <a:ea typeface="Cambria Math" panose="02040503050406030204" pitchFamily="18" charset="0"/>
                              </a:rPr>
                              <m:t>𝜕</m:t>
                            </m:r>
                            <m:r>
                              <a:rPr lang="en-US" b="0" i="1" dirty="0" smtClean="0">
                                <a:solidFill>
                                  <a:srgbClr val="000000"/>
                                </a:solidFill>
                                <a:latin typeface="Cambria Math" panose="02040503050406030204" pitchFamily="18" charset="0"/>
                                <a:ea typeface="Cambria Math" panose="02040503050406030204" pitchFamily="18" charset="0"/>
                              </a:rPr>
                              <m:t>𝑡</m:t>
                            </m:r>
                          </m:e>
                          <m:sup>
                            <m:r>
                              <a:rPr lang="en-US" b="0" i="1" dirty="0" smtClean="0">
                                <a:solidFill>
                                  <a:srgbClr val="000000"/>
                                </a:solidFill>
                                <a:latin typeface="Cambria Math" panose="02040503050406030204" pitchFamily="18" charset="0"/>
                              </a:rPr>
                              <m:t>2</m:t>
                            </m:r>
                          </m:sup>
                        </m:sSup>
                      </m:den>
                    </m:f>
                    <m:r>
                      <a:rPr lang="en-US" b="0" i="1" dirty="0" smtClean="0">
                        <a:solidFill>
                          <a:srgbClr val="000000"/>
                        </a:solidFill>
                        <a:latin typeface="Cambria Math" panose="02040503050406030204" pitchFamily="18" charset="0"/>
                      </a:rPr>
                      <m:t>=0</m:t>
                    </m:r>
                  </m:oMath>
                </a14:m>
                <a:r>
                  <a:rPr lang="en-US" dirty="0">
                    <a:solidFill>
                      <a:srgbClr val="000000"/>
                    </a:solidFill>
                  </a:rPr>
                  <a:t>, </a:t>
                </a:r>
                <a14:m>
                  <m:oMath xmlns:m="http://schemas.openxmlformats.org/officeDocument/2006/math">
                    <m:r>
                      <a:rPr lang="en-US" b="0" i="1" smtClean="0">
                        <a:solidFill>
                          <a:srgbClr val="000000"/>
                        </a:solidFill>
                        <a:latin typeface="Cambria Math" panose="02040503050406030204" pitchFamily="18" charset="0"/>
                      </a:rPr>
                      <m:t>𝑘</m:t>
                    </m:r>
                    <m:r>
                      <a:rPr lang="en-US" b="0" i="1" smtClean="0">
                        <a:solidFill>
                          <a:srgbClr val="000000"/>
                        </a:solidFill>
                        <a:latin typeface="Cambria Math" panose="02040503050406030204" pitchFamily="18" charset="0"/>
                      </a:rPr>
                      <m:t>=</m:t>
                    </m:r>
                    <m:f>
                      <m:fPr>
                        <m:ctrlPr>
                          <a:rPr lang="en-US" b="0"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2</m:t>
                        </m:r>
                        <m:r>
                          <a:rPr lang="en-US" b="0" i="1" smtClean="0">
                            <a:solidFill>
                              <a:srgbClr val="000000"/>
                            </a:solidFill>
                            <a:latin typeface="Cambria Math" panose="02040503050406030204" pitchFamily="18" charset="0"/>
                            <a:ea typeface="Cambria Math" panose="02040503050406030204" pitchFamily="18" charset="0"/>
                          </a:rPr>
                          <m:t>𝜋</m:t>
                        </m:r>
                      </m:num>
                      <m:den>
                        <m:r>
                          <a:rPr lang="en-US" b="0" i="1" smtClean="0">
                            <a:solidFill>
                              <a:srgbClr val="000000"/>
                            </a:solidFill>
                            <a:latin typeface="Cambria Math" panose="02040503050406030204" pitchFamily="18" charset="0"/>
                            <a:ea typeface="Cambria Math" panose="02040503050406030204" pitchFamily="18" charset="0"/>
                          </a:rPr>
                          <m:t>𝜆</m:t>
                        </m:r>
                      </m:den>
                    </m:f>
                  </m:oMath>
                </a14:m>
                <a:endParaRPr lang="en-US" dirty="0">
                  <a:solidFill>
                    <a:srgbClr val="000000"/>
                  </a:solidFill>
                </a:endParaRPr>
              </a:p>
              <a:p>
                <a:pPr marL="342900" indent="-342900" latinLnBrk="1" hangingPunct="0">
                  <a:buFont typeface="Arial" panose="020B0604020202020204" pitchFamily="34" charset="0"/>
                  <a:buChar char="•"/>
                </a:pPr>
                <a:r>
                  <a:rPr lang="en-US" dirty="0">
                    <a:solidFill>
                      <a:srgbClr val="000000"/>
                    </a:solidFill>
                  </a:rPr>
                  <a:t>For cube of side length </a:t>
                </a:r>
                <a14:m>
                  <m:oMath xmlns:m="http://schemas.openxmlformats.org/officeDocument/2006/math">
                    <m:r>
                      <a:rPr lang="en-US" b="0" i="1" smtClean="0">
                        <a:solidFill>
                          <a:srgbClr val="000000"/>
                        </a:solidFill>
                        <a:latin typeface="Cambria Math" panose="02040503050406030204" pitchFamily="18" charset="0"/>
                      </a:rPr>
                      <m:t>𝐿</m:t>
                    </m:r>
                  </m:oMath>
                </a14:m>
                <a:r>
                  <a:rPr lang="en-US" dirty="0">
                    <a:solidFill>
                      <a:srgbClr val="000000"/>
                    </a:solidFill>
                  </a:rPr>
                  <a:t> with reflecting inner walls, modes are </a:t>
                </a:r>
                <a14:m>
                  <m:oMath xmlns:m="http://schemas.openxmlformats.org/officeDocument/2006/math">
                    <m:sSub>
                      <m:sSubPr>
                        <m:ctrlPr>
                          <a:rPr lang="en-US" i="1" smtClean="0">
                            <a:solidFill>
                              <a:srgbClr val="000000"/>
                            </a:solidFill>
                            <a:latin typeface="Cambria Math" panose="02040503050406030204" pitchFamily="18" charset="0"/>
                            <a:ea typeface="Cambria Math" panose="02040503050406030204" pitchFamily="18" charset="0"/>
                          </a:rPr>
                        </m:ctrlPr>
                      </m:sSubPr>
                      <m:e>
                        <m:r>
                          <a:rPr lang="en-US" i="1" smtClean="0">
                            <a:solidFill>
                              <a:srgbClr val="000000"/>
                            </a:solidFill>
                            <a:latin typeface="Cambria Math" panose="02040503050406030204" pitchFamily="18" charset="0"/>
                            <a:ea typeface="Cambria Math" panose="02040503050406030204" pitchFamily="18" charset="0"/>
                          </a:rPr>
                          <m:t>𝜆</m:t>
                        </m:r>
                      </m:e>
                      <m:sub>
                        <m:r>
                          <a:rPr lang="en-US" b="0" i="1" smtClean="0">
                            <a:solidFill>
                              <a:srgbClr val="000000"/>
                            </a:solidFill>
                            <a:latin typeface="Cambria Math" panose="02040503050406030204" pitchFamily="18" charset="0"/>
                          </a:rPr>
                          <m:t>𝑛</m:t>
                        </m:r>
                      </m:sub>
                    </m:sSub>
                    <m:r>
                      <a:rPr lang="en-US" b="0" i="1" smtClean="0">
                        <a:solidFill>
                          <a:srgbClr val="000000"/>
                        </a:solidFill>
                        <a:latin typeface="Cambria Math" panose="02040503050406030204" pitchFamily="18" charset="0"/>
                      </a:rPr>
                      <m:t>=</m:t>
                    </m:r>
                    <m:f>
                      <m:fPr>
                        <m:ctrlPr>
                          <a:rPr lang="en-US" b="0"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2</m:t>
                        </m:r>
                        <m:r>
                          <a:rPr lang="en-US" b="0" i="1" smtClean="0">
                            <a:solidFill>
                              <a:srgbClr val="000000"/>
                            </a:solidFill>
                            <a:latin typeface="Cambria Math" panose="02040503050406030204" pitchFamily="18" charset="0"/>
                          </a:rPr>
                          <m:t>𝐿</m:t>
                        </m:r>
                      </m:num>
                      <m:den>
                        <m:r>
                          <a:rPr lang="en-US" b="0" i="1" smtClean="0">
                            <a:solidFill>
                              <a:srgbClr val="000000"/>
                            </a:solidFill>
                            <a:latin typeface="Cambria Math" panose="02040503050406030204" pitchFamily="18" charset="0"/>
                          </a:rPr>
                          <m:t>𝑛</m:t>
                        </m:r>
                      </m:den>
                    </m:f>
                  </m:oMath>
                </a14:m>
                <a:r>
                  <a:rPr lang="en-US" dirty="0">
                    <a:solidFill>
                      <a:srgbClr val="000000"/>
                    </a:solidFill>
                  </a:rPr>
                  <a:t>.  </a:t>
                </a:r>
                <a14:m>
                  <m:oMath xmlns:m="http://schemas.openxmlformats.org/officeDocument/2006/math">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𝑘</m:t>
                        </m:r>
                      </m:e>
                      <m:sub>
                        <m:r>
                          <a:rPr lang="en-US" b="0" i="1" smtClean="0">
                            <a:solidFill>
                              <a:srgbClr val="000000"/>
                            </a:solidFill>
                            <a:latin typeface="Cambria Math" panose="02040503050406030204" pitchFamily="18" charset="0"/>
                          </a:rPr>
                          <m:t>𝑥</m:t>
                        </m:r>
                      </m:sub>
                    </m:sSub>
                    <m:r>
                      <a:rPr lang="en-US" b="0" i="1" smtClean="0">
                        <a:solidFill>
                          <a:srgbClr val="000000"/>
                        </a:solidFill>
                        <a:latin typeface="Cambria Math" panose="02040503050406030204" pitchFamily="18" charset="0"/>
                      </a:rPr>
                      <m:t>=</m:t>
                    </m:r>
                    <m:f>
                      <m:fPr>
                        <m:ctrlPr>
                          <a:rPr lang="en-US" b="0"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2</m:t>
                        </m:r>
                        <m:r>
                          <a:rPr lang="en-US" b="0" i="1" smtClean="0">
                            <a:solidFill>
                              <a:srgbClr val="000000"/>
                            </a:solidFill>
                            <a:latin typeface="Cambria Math" panose="02040503050406030204" pitchFamily="18" charset="0"/>
                            <a:ea typeface="Cambria Math" panose="02040503050406030204" pitchFamily="18" charset="0"/>
                          </a:rPr>
                          <m:t>𝜋</m:t>
                        </m:r>
                      </m:num>
                      <m:den>
                        <m:f>
                          <m:fPr>
                            <m:type m:val="skw"/>
                            <m:ctrlPr>
                              <a:rPr lang="en-US" b="0"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2</m:t>
                            </m:r>
                            <m:r>
                              <a:rPr lang="en-US" b="0" i="1" smtClean="0">
                                <a:solidFill>
                                  <a:srgbClr val="000000"/>
                                </a:solidFill>
                                <a:latin typeface="Cambria Math" panose="02040503050406030204" pitchFamily="18" charset="0"/>
                              </a:rPr>
                              <m:t>𝐿</m:t>
                            </m:r>
                          </m:num>
                          <m:den>
                            <m:r>
                              <a:rPr lang="en-US" b="0" i="1" smtClean="0">
                                <a:solidFill>
                                  <a:srgbClr val="000000"/>
                                </a:solidFill>
                                <a:latin typeface="Cambria Math" panose="02040503050406030204" pitchFamily="18" charset="0"/>
                              </a:rPr>
                              <m:t>𝑛</m:t>
                            </m:r>
                          </m:den>
                        </m:f>
                      </m:den>
                    </m:f>
                    <m:r>
                      <a:rPr lang="en-US" b="0" i="1" smtClean="0">
                        <a:solidFill>
                          <a:srgbClr val="000000"/>
                        </a:solidFill>
                        <a:latin typeface="Cambria Math" panose="02040503050406030204" pitchFamily="18" charset="0"/>
                      </a:rPr>
                      <m:t>=</m:t>
                    </m:r>
                    <m:f>
                      <m:fPr>
                        <m:ctrlPr>
                          <a:rPr lang="en-US" b="0" i="1" smtClean="0">
                            <a:solidFill>
                              <a:srgbClr val="000000"/>
                            </a:solidFill>
                            <a:latin typeface="Cambria Math" panose="02040503050406030204" pitchFamily="18" charset="0"/>
                            <a:ea typeface="Cambria Math" panose="02040503050406030204" pitchFamily="18" charset="0"/>
                          </a:rPr>
                        </m:ctrlPr>
                      </m:fPr>
                      <m:num>
                        <m:r>
                          <a:rPr lang="en-US" b="0" i="1" smtClean="0">
                            <a:solidFill>
                              <a:srgbClr val="000000"/>
                            </a:solidFill>
                            <a:latin typeface="Cambria Math" panose="02040503050406030204" pitchFamily="18" charset="0"/>
                            <a:ea typeface="Cambria Math" panose="02040503050406030204" pitchFamily="18" charset="0"/>
                          </a:rPr>
                          <m:t>𝜋</m:t>
                        </m:r>
                      </m:num>
                      <m:den>
                        <m:r>
                          <a:rPr lang="en-US" b="0" i="1" smtClean="0">
                            <a:solidFill>
                              <a:srgbClr val="000000"/>
                            </a:solidFill>
                            <a:latin typeface="Cambria Math" panose="02040503050406030204" pitchFamily="18" charset="0"/>
                          </a:rPr>
                          <m:t>𝐿</m:t>
                        </m:r>
                      </m:den>
                    </m:f>
                    <m:r>
                      <a:rPr lang="en-US" b="0" i="1" smtClean="0">
                        <a:solidFill>
                          <a:srgbClr val="000000"/>
                        </a:solidFill>
                        <a:latin typeface="Cambria Math" panose="02040503050406030204" pitchFamily="18" charset="0"/>
                      </a:rPr>
                      <m:t>𝑛</m:t>
                    </m:r>
                  </m:oMath>
                </a14:m>
                <a:endParaRPr lang="en-US" dirty="0">
                  <a:solidFill>
                    <a:srgbClr val="000000"/>
                  </a:solidFill>
                </a:endParaRPr>
              </a:p>
              <a:p>
                <a:pPr marL="342900" indent="-342900" latinLnBrk="1" hangingPunct="0">
                  <a:buFont typeface="Arial" panose="020B0604020202020204" pitchFamily="34" charset="0"/>
                  <a:buChar char="•"/>
                </a:pPr>
                <a14:m>
                  <m:oMath xmlns:m="http://schemas.openxmlformats.org/officeDocument/2006/math">
                    <m:sSup>
                      <m:sSupPr>
                        <m:ctrlPr>
                          <a:rPr lang="en-US" b="0" i="1" smtClean="0">
                            <a:solidFill>
                              <a:srgbClr val="000000"/>
                            </a:solidFill>
                            <a:latin typeface="Cambria Math" panose="02040503050406030204" pitchFamily="18" charset="0"/>
                          </a:rPr>
                        </m:ctrlPr>
                      </m:sSupPr>
                      <m:e>
                        <m:r>
                          <a:rPr lang="en-US" b="0" i="1" smtClean="0">
                            <a:solidFill>
                              <a:srgbClr val="000000"/>
                            </a:solidFill>
                            <a:latin typeface="Cambria Math" panose="02040503050406030204" pitchFamily="18" charset="0"/>
                          </a:rPr>
                          <m:t>(</m:t>
                        </m:r>
                        <m:f>
                          <m:fPr>
                            <m:ctrlPr>
                              <a:rPr lang="en-US" b="0" i="1" smtClean="0">
                                <a:solidFill>
                                  <a:srgbClr val="000000"/>
                                </a:solidFill>
                                <a:latin typeface="Cambria Math" panose="02040503050406030204" pitchFamily="18" charset="0"/>
                              </a:rPr>
                            </m:ctrlPr>
                          </m:fPr>
                          <m:num>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𝑛</m:t>
                                </m:r>
                              </m:e>
                              <m:sub>
                                <m:r>
                                  <a:rPr lang="en-US" b="0" i="1" smtClean="0">
                                    <a:solidFill>
                                      <a:srgbClr val="000000"/>
                                    </a:solidFill>
                                    <a:latin typeface="Cambria Math" panose="02040503050406030204" pitchFamily="18" charset="0"/>
                                  </a:rPr>
                                  <m:t>𝑥</m:t>
                                </m:r>
                              </m:sub>
                            </m:sSub>
                            <m:r>
                              <a:rPr lang="en-US" b="0" i="1" smtClean="0">
                                <a:solidFill>
                                  <a:srgbClr val="000000"/>
                                </a:solidFill>
                                <a:latin typeface="Cambria Math" panose="02040503050406030204" pitchFamily="18" charset="0"/>
                                <a:ea typeface="Cambria Math" panose="02040503050406030204" pitchFamily="18" charset="0"/>
                              </a:rPr>
                              <m:t>𝜋</m:t>
                            </m:r>
                          </m:num>
                          <m:den>
                            <m:r>
                              <a:rPr lang="en-US" b="0" i="1" smtClean="0">
                                <a:solidFill>
                                  <a:srgbClr val="000000"/>
                                </a:solidFill>
                                <a:latin typeface="Cambria Math" panose="02040503050406030204" pitchFamily="18" charset="0"/>
                              </a:rPr>
                              <m:t>𝐿</m:t>
                            </m:r>
                          </m:den>
                        </m:f>
                        <m:r>
                          <a:rPr lang="en-US" b="0" i="1" smtClean="0">
                            <a:solidFill>
                              <a:srgbClr val="000000"/>
                            </a:solidFill>
                            <a:latin typeface="Cambria Math" panose="02040503050406030204" pitchFamily="18" charset="0"/>
                          </a:rPr>
                          <m:t>)</m:t>
                        </m:r>
                      </m:e>
                      <m:sup>
                        <m:r>
                          <a:rPr lang="en-US" b="0" i="1" smtClean="0">
                            <a:solidFill>
                              <a:srgbClr val="000000"/>
                            </a:solidFill>
                            <a:latin typeface="Cambria Math" panose="02040503050406030204" pitchFamily="18" charset="0"/>
                          </a:rPr>
                          <m:t>2</m:t>
                        </m:r>
                      </m:sup>
                    </m:sSup>
                    <m:r>
                      <a:rPr lang="en-US" b="0" i="1" smtClean="0">
                        <a:solidFill>
                          <a:srgbClr val="000000"/>
                        </a:solidFill>
                        <a:latin typeface="Cambria Math" panose="02040503050406030204" pitchFamily="18" charset="0"/>
                      </a:rPr>
                      <m:t>+</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b="0" i="1" smtClean="0">
                                    <a:solidFill>
                                      <a:srgbClr val="000000"/>
                                    </a:solidFill>
                                    <a:latin typeface="Cambria Math" panose="02040503050406030204" pitchFamily="18" charset="0"/>
                                  </a:rPr>
                                  <m:t>𝑦</m:t>
                                </m:r>
                              </m:sub>
                            </m:sSub>
                            <m:r>
                              <a:rPr lang="en-US" i="1">
                                <a:solidFill>
                                  <a:srgbClr val="000000"/>
                                </a:solidFill>
                                <a:latin typeface="Cambria Math" panose="02040503050406030204" pitchFamily="18" charset="0"/>
                                <a:ea typeface="Cambria Math" panose="02040503050406030204" pitchFamily="18" charset="0"/>
                              </a:rPr>
                              <m:t>𝜋</m:t>
                            </m:r>
                          </m:num>
                          <m:den>
                            <m:r>
                              <a:rPr lang="en-US" i="1">
                                <a:solidFill>
                                  <a:srgbClr val="000000"/>
                                </a:solidFill>
                                <a:latin typeface="Cambria Math" panose="02040503050406030204" pitchFamily="18" charset="0"/>
                              </a:rPr>
                              <m:t>𝐿</m:t>
                            </m:r>
                          </m:den>
                        </m:f>
                        <m:r>
                          <a:rPr lang="en-US" i="1">
                            <a:solidFill>
                              <a:srgbClr val="000000"/>
                            </a:solidFill>
                            <a:latin typeface="Cambria Math" panose="02040503050406030204" pitchFamily="18" charset="0"/>
                          </a:rPr>
                          <m:t>)</m:t>
                        </m:r>
                      </m:e>
                      <m:sup>
                        <m:r>
                          <a:rPr lang="en-US" i="1">
                            <a:solidFill>
                              <a:srgbClr val="000000"/>
                            </a:solidFill>
                            <a:latin typeface="Cambria Math" panose="02040503050406030204" pitchFamily="18" charset="0"/>
                          </a:rPr>
                          <m:t>2</m:t>
                        </m:r>
                      </m:sup>
                    </m:sSup>
                    <m:r>
                      <a:rPr lang="en-US" i="1">
                        <a:solidFill>
                          <a:srgbClr val="000000"/>
                        </a:solidFill>
                        <a:latin typeface="Cambria Math" panose="02040503050406030204" pitchFamily="18" charset="0"/>
                      </a:rPr>
                      <m:t>+</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b="0" i="1" smtClean="0">
                                    <a:solidFill>
                                      <a:srgbClr val="000000"/>
                                    </a:solidFill>
                                    <a:latin typeface="Cambria Math" panose="02040503050406030204" pitchFamily="18" charset="0"/>
                                  </a:rPr>
                                  <m:t>𝑧</m:t>
                                </m:r>
                              </m:sub>
                            </m:sSub>
                            <m:r>
                              <a:rPr lang="en-US" i="1">
                                <a:solidFill>
                                  <a:srgbClr val="000000"/>
                                </a:solidFill>
                                <a:latin typeface="Cambria Math" panose="02040503050406030204" pitchFamily="18" charset="0"/>
                                <a:ea typeface="Cambria Math" panose="02040503050406030204" pitchFamily="18" charset="0"/>
                              </a:rPr>
                              <m:t>𝜋</m:t>
                            </m:r>
                          </m:num>
                          <m:den>
                            <m:r>
                              <a:rPr lang="en-US" i="1">
                                <a:solidFill>
                                  <a:srgbClr val="000000"/>
                                </a:solidFill>
                                <a:latin typeface="Cambria Math" panose="02040503050406030204" pitchFamily="18" charset="0"/>
                              </a:rPr>
                              <m:t>𝐿</m:t>
                            </m:r>
                          </m:den>
                        </m:f>
                        <m:r>
                          <a:rPr lang="en-US" i="1">
                            <a:solidFill>
                              <a:srgbClr val="000000"/>
                            </a:solidFill>
                            <a:latin typeface="Cambria Math" panose="02040503050406030204" pitchFamily="18" charset="0"/>
                          </a:rPr>
                          <m:t>)</m:t>
                        </m:r>
                      </m:e>
                      <m:sup>
                        <m:r>
                          <a:rPr lang="en-US" i="1">
                            <a:solidFill>
                              <a:srgbClr val="000000"/>
                            </a:solidFill>
                            <a:latin typeface="Cambria Math" panose="02040503050406030204" pitchFamily="18" charset="0"/>
                          </a:rPr>
                          <m:t>2</m:t>
                        </m:r>
                      </m:sup>
                    </m:sSup>
                    <m:r>
                      <a:rPr lang="en-US" b="0" i="1" smtClean="0">
                        <a:solidFill>
                          <a:srgbClr val="000000"/>
                        </a:solidFill>
                        <a:latin typeface="Cambria Math" panose="02040503050406030204" pitchFamily="18" charset="0"/>
                      </a:rPr>
                      <m:t>=</m:t>
                    </m:r>
                    <m:f>
                      <m:fPr>
                        <m:ctrlPr>
                          <a:rPr lang="en-US" b="0"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1</m:t>
                        </m:r>
                      </m:num>
                      <m:den>
                        <m:sSup>
                          <m:sSupPr>
                            <m:ctrlPr>
                              <a:rPr lang="en-US" b="0" i="1" smtClean="0">
                                <a:solidFill>
                                  <a:srgbClr val="000000"/>
                                </a:solidFill>
                                <a:latin typeface="Cambria Math" panose="02040503050406030204" pitchFamily="18" charset="0"/>
                              </a:rPr>
                            </m:ctrlPr>
                          </m:sSupPr>
                          <m:e>
                            <m:r>
                              <a:rPr lang="en-US" b="0" i="1" smtClean="0">
                                <a:solidFill>
                                  <a:srgbClr val="000000"/>
                                </a:solidFill>
                                <a:latin typeface="Cambria Math" panose="02040503050406030204" pitchFamily="18" charset="0"/>
                              </a:rPr>
                              <m:t>𝑐</m:t>
                            </m:r>
                          </m:e>
                          <m:sup>
                            <m:r>
                              <a:rPr lang="en-US" b="0" i="1" smtClean="0">
                                <a:solidFill>
                                  <a:srgbClr val="000000"/>
                                </a:solidFill>
                                <a:latin typeface="Cambria Math" panose="02040503050406030204" pitchFamily="18" charset="0"/>
                              </a:rPr>
                              <m:t>2</m:t>
                            </m:r>
                          </m:sup>
                        </m:sSup>
                      </m:den>
                    </m:f>
                    <m:sSup>
                      <m:sSupPr>
                        <m:ctrlPr>
                          <a:rPr lang="en-US" b="0" i="1" smtClean="0">
                            <a:solidFill>
                              <a:srgbClr val="000000"/>
                            </a:solidFill>
                            <a:latin typeface="Cambria Math" panose="02040503050406030204" pitchFamily="18" charset="0"/>
                          </a:rPr>
                        </m:ctrlPr>
                      </m:sSupPr>
                      <m:e>
                        <m:r>
                          <a:rPr lang="en-US" b="0" i="1" smtClean="0">
                            <a:solidFill>
                              <a:srgbClr val="000000"/>
                            </a:solidFill>
                            <a:latin typeface="Cambria Math" panose="02040503050406030204" pitchFamily="18" charset="0"/>
                          </a:rPr>
                          <m:t>(</m:t>
                        </m:r>
                        <m:f>
                          <m:fPr>
                            <m:ctrlPr>
                              <a:rPr lang="en-US" b="0"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2</m:t>
                            </m:r>
                            <m:r>
                              <a:rPr lang="en-US" b="0" i="1" smtClean="0">
                                <a:solidFill>
                                  <a:srgbClr val="000000"/>
                                </a:solidFill>
                                <a:latin typeface="Cambria Math" panose="02040503050406030204" pitchFamily="18" charset="0"/>
                                <a:ea typeface="Cambria Math" panose="02040503050406030204" pitchFamily="18" charset="0"/>
                              </a:rPr>
                              <m:t>𝜋</m:t>
                            </m:r>
                            <m:r>
                              <a:rPr lang="en-US" b="0" i="1" smtClean="0">
                                <a:solidFill>
                                  <a:srgbClr val="000000"/>
                                </a:solidFill>
                                <a:latin typeface="Cambria Math" panose="02040503050406030204" pitchFamily="18" charset="0"/>
                                <a:ea typeface="Cambria Math" panose="02040503050406030204" pitchFamily="18" charset="0"/>
                              </a:rPr>
                              <m:t>𝑐</m:t>
                            </m:r>
                          </m:num>
                          <m:den>
                            <m:r>
                              <a:rPr lang="en-US" b="0" i="1" smtClean="0">
                                <a:solidFill>
                                  <a:srgbClr val="000000"/>
                                </a:solidFill>
                                <a:latin typeface="Cambria Math" panose="02040503050406030204" pitchFamily="18" charset="0"/>
                                <a:ea typeface="Cambria Math" panose="02040503050406030204" pitchFamily="18" charset="0"/>
                              </a:rPr>
                              <m:t>𝜆</m:t>
                            </m:r>
                          </m:den>
                        </m:f>
                        <m:r>
                          <a:rPr lang="en-US" b="0" i="1" smtClean="0">
                            <a:solidFill>
                              <a:srgbClr val="000000"/>
                            </a:solidFill>
                            <a:latin typeface="Cambria Math" panose="02040503050406030204" pitchFamily="18" charset="0"/>
                          </a:rPr>
                          <m:t>)</m:t>
                        </m:r>
                      </m:e>
                      <m:sup>
                        <m:r>
                          <a:rPr lang="en-US" b="0" i="1" smtClean="0">
                            <a:solidFill>
                              <a:srgbClr val="000000"/>
                            </a:solidFill>
                            <a:latin typeface="Cambria Math" panose="02040503050406030204" pitchFamily="18" charset="0"/>
                          </a:rPr>
                          <m:t>2</m:t>
                        </m:r>
                      </m:sup>
                    </m:sSup>
                    <m:r>
                      <a:rPr lang="en-US" b="0" i="1" smtClean="0">
                        <a:solidFill>
                          <a:srgbClr val="000000"/>
                        </a:solidFill>
                        <a:latin typeface="Cambria Math" panose="02040503050406030204" pitchFamily="18" charset="0"/>
                      </a:rPr>
                      <m:t>=</m:t>
                    </m:r>
                    <m:f>
                      <m:fPr>
                        <m:ctrlPr>
                          <a:rPr lang="en-US" b="0"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4</m:t>
                        </m:r>
                        <m:sSup>
                          <m:sSupPr>
                            <m:ctrlPr>
                              <a:rPr lang="en-US" b="0" i="1" smtClean="0">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𝜋</m:t>
                            </m:r>
                          </m:e>
                          <m:sup>
                            <m:r>
                              <a:rPr lang="en-US" b="0" i="1" smtClean="0">
                                <a:solidFill>
                                  <a:srgbClr val="000000"/>
                                </a:solidFill>
                                <a:latin typeface="Cambria Math" panose="02040503050406030204" pitchFamily="18" charset="0"/>
                              </a:rPr>
                              <m:t>2</m:t>
                            </m:r>
                          </m:sup>
                        </m:sSup>
                      </m:num>
                      <m:den>
                        <m:sSup>
                          <m:sSupPr>
                            <m:ctrlPr>
                              <a:rPr lang="en-US" b="0" i="1" smtClean="0">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𝜆</m:t>
                            </m:r>
                          </m:e>
                          <m:sup>
                            <m:r>
                              <a:rPr lang="en-US" b="0" i="1" smtClean="0">
                                <a:solidFill>
                                  <a:srgbClr val="000000"/>
                                </a:solidFill>
                                <a:latin typeface="Cambria Math" panose="02040503050406030204" pitchFamily="18" charset="0"/>
                              </a:rPr>
                              <m:t>2</m:t>
                            </m:r>
                          </m:sup>
                        </m:sSup>
                      </m:den>
                    </m:f>
                  </m:oMath>
                </a14:m>
                <a:r>
                  <a:rPr lang="en-US" dirty="0">
                    <a:solidFill>
                      <a:srgbClr val="000000"/>
                    </a:solidFill>
                  </a:rPr>
                  <a:t>, or </a:t>
                </a:r>
                <a14:m>
                  <m:oMath xmlns:m="http://schemas.openxmlformats.org/officeDocument/2006/math">
                    <m:sSup>
                      <m:sSupPr>
                        <m:ctrlPr>
                          <a:rPr lang="en-US" i="1" smtClean="0">
                            <a:solidFill>
                              <a:srgbClr val="000000"/>
                            </a:solidFill>
                            <a:latin typeface="Cambria Math" panose="02040503050406030204" pitchFamily="18" charset="0"/>
                          </a:rPr>
                        </m:ctrlPr>
                      </m:sSupPr>
                      <m:e>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𝑛</m:t>
                            </m:r>
                          </m:e>
                          <m:sub>
                            <m:r>
                              <a:rPr lang="en-US" b="0" i="1" smtClean="0">
                                <a:solidFill>
                                  <a:srgbClr val="000000"/>
                                </a:solidFill>
                                <a:latin typeface="Cambria Math" panose="02040503050406030204" pitchFamily="18" charset="0"/>
                              </a:rPr>
                              <m:t>𝑥</m:t>
                            </m:r>
                          </m:sub>
                        </m:sSub>
                      </m:e>
                      <m:sup>
                        <m:r>
                          <a:rPr lang="en-US" b="0" i="1" smtClean="0">
                            <a:solidFill>
                              <a:srgbClr val="000000"/>
                            </a:solidFill>
                            <a:latin typeface="Cambria Math" panose="02040503050406030204" pitchFamily="18" charset="0"/>
                          </a:rPr>
                          <m:t>2</m:t>
                        </m:r>
                      </m:sup>
                    </m:sSup>
                    <m:r>
                      <a:rPr lang="en-US" b="0" i="1" smtClean="0">
                        <a:solidFill>
                          <a:srgbClr val="000000"/>
                        </a:solidFill>
                        <a:latin typeface="Cambria Math" panose="02040503050406030204" pitchFamily="18" charset="0"/>
                      </a:rPr>
                      <m:t>+</m:t>
                    </m:r>
                    <m:sSup>
                      <m:sSupPr>
                        <m:ctrlPr>
                          <a:rPr lang="en-US" i="1">
                            <a:solidFill>
                              <a:srgbClr val="000000"/>
                            </a:solidFill>
                            <a:latin typeface="Cambria Math" panose="02040503050406030204" pitchFamily="18" charset="0"/>
                          </a:rPr>
                        </m:ctrlPr>
                      </m:sSup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b="0" i="1" smtClean="0">
                                <a:solidFill>
                                  <a:srgbClr val="000000"/>
                                </a:solidFill>
                                <a:latin typeface="Cambria Math" panose="02040503050406030204" pitchFamily="18" charset="0"/>
                              </a:rPr>
                              <m:t>𝑦</m:t>
                            </m:r>
                          </m:sub>
                        </m:sSub>
                      </m:e>
                      <m:sup>
                        <m:r>
                          <a:rPr lang="en-US" i="1">
                            <a:solidFill>
                              <a:srgbClr val="000000"/>
                            </a:solidFill>
                            <a:latin typeface="Cambria Math" panose="02040503050406030204" pitchFamily="18" charset="0"/>
                          </a:rPr>
                          <m:t>2</m:t>
                        </m:r>
                      </m:sup>
                    </m:sSup>
                    <m:r>
                      <a:rPr lang="en-US" i="1">
                        <a:solidFill>
                          <a:srgbClr val="000000"/>
                        </a:solidFill>
                        <a:latin typeface="Cambria Math" panose="02040503050406030204" pitchFamily="18" charset="0"/>
                      </a:rPr>
                      <m:t>+</m:t>
                    </m:r>
                    <m:sSup>
                      <m:sSupPr>
                        <m:ctrlPr>
                          <a:rPr lang="en-US" i="1">
                            <a:solidFill>
                              <a:srgbClr val="000000"/>
                            </a:solidFill>
                            <a:latin typeface="Cambria Math" panose="02040503050406030204" pitchFamily="18" charset="0"/>
                          </a:rPr>
                        </m:ctrlPr>
                      </m:sSup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b="0" i="1" smtClean="0">
                                <a:solidFill>
                                  <a:srgbClr val="000000"/>
                                </a:solidFill>
                                <a:latin typeface="Cambria Math" panose="02040503050406030204" pitchFamily="18" charset="0"/>
                              </a:rPr>
                              <m:t>𝑧</m:t>
                            </m:r>
                          </m:sub>
                        </m:sSub>
                      </m:e>
                      <m:sup>
                        <m:r>
                          <a:rPr lang="en-US" i="1">
                            <a:solidFill>
                              <a:srgbClr val="000000"/>
                            </a:solidFill>
                            <a:latin typeface="Cambria Math" panose="02040503050406030204" pitchFamily="18" charset="0"/>
                          </a:rPr>
                          <m:t>2</m:t>
                        </m:r>
                      </m:sup>
                    </m:sSup>
                    <m:r>
                      <a:rPr lang="en-US" b="0" i="1" smtClean="0">
                        <a:solidFill>
                          <a:srgbClr val="000000"/>
                        </a:solidFill>
                        <a:latin typeface="Cambria Math" panose="02040503050406030204" pitchFamily="18" charset="0"/>
                      </a:rPr>
                      <m:t>=</m:t>
                    </m:r>
                    <m:f>
                      <m:fPr>
                        <m:ctrlPr>
                          <a:rPr lang="en-US" b="0"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4</m:t>
                        </m:r>
                        <m:sSup>
                          <m:sSupPr>
                            <m:ctrlPr>
                              <a:rPr lang="en-US" b="0" i="1" smtClean="0">
                                <a:solidFill>
                                  <a:srgbClr val="000000"/>
                                </a:solidFill>
                                <a:latin typeface="Cambria Math" panose="02040503050406030204" pitchFamily="18" charset="0"/>
                              </a:rPr>
                            </m:ctrlPr>
                          </m:sSupPr>
                          <m:e>
                            <m:r>
                              <a:rPr lang="en-US" b="0" i="1" smtClean="0">
                                <a:solidFill>
                                  <a:srgbClr val="000000"/>
                                </a:solidFill>
                                <a:latin typeface="Cambria Math" panose="02040503050406030204" pitchFamily="18" charset="0"/>
                              </a:rPr>
                              <m:t>𝐿</m:t>
                            </m:r>
                          </m:e>
                          <m:sup>
                            <m:r>
                              <a:rPr lang="en-US" b="0" i="1" smtClean="0">
                                <a:solidFill>
                                  <a:srgbClr val="000000"/>
                                </a:solidFill>
                                <a:latin typeface="Cambria Math" panose="02040503050406030204" pitchFamily="18" charset="0"/>
                              </a:rPr>
                              <m:t>2</m:t>
                            </m:r>
                          </m:sup>
                        </m:sSup>
                      </m:num>
                      <m:den>
                        <m:sSup>
                          <m:sSupPr>
                            <m:ctrlPr>
                              <a:rPr lang="en-US" b="0" i="1" smtClean="0">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𝜆</m:t>
                            </m:r>
                          </m:e>
                          <m:sup>
                            <m:r>
                              <a:rPr lang="en-US" b="0" i="1" smtClean="0">
                                <a:solidFill>
                                  <a:srgbClr val="000000"/>
                                </a:solidFill>
                                <a:latin typeface="Cambria Math" panose="02040503050406030204" pitchFamily="18" charset="0"/>
                              </a:rPr>
                              <m:t>2</m:t>
                            </m:r>
                          </m:sup>
                        </m:sSup>
                      </m:den>
                    </m:f>
                  </m:oMath>
                </a14:m>
                <a:endParaRPr lang="en-US" dirty="0">
                  <a:solidFill>
                    <a:srgbClr val="000000"/>
                  </a:solidFill>
                </a:endParaRPr>
              </a:p>
              <a:p>
                <a:pPr marL="342900" indent="-342900" latinLnBrk="1" hangingPunct="0">
                  <a:buFont typeface="Arial" panose="020B0604020202020204" pitchFamily="34" charset="0"/>
                  <a:buChar char="•"/>
                </a:pPr>
                <a14:m>
                  <m:oMath xmlns:m="http://schemas.openxmlformats.org/officeDocument/2006/math">
                    <m:r>
                      <a:rPr lang="en-US" b="0" i="1" smtClean="0">
                        <a:solidFill>
                          <a:srgbClr val="000000"/>
                        </a:solidFill>
                        <a:latin typeface="Cambria Math" panose="02040503050406030204" pitchFamily="18" charset="0"/>
                      </a:rPr>
                      <m:t>𝑛</m:t>
                    </m:r>
                    <m:r>
                      <a:rPr lang="en-US" b="0" i="1" smtClean="0">
                        <a:solidFill>
                          <a:srgbClr val="000000"/>
                        </a:solidFill>
                        <a:latin typeface="Cambria Math" panose="02040503050406030204" pitchFamily="18" charset="0"/>
                      </a:rPr>
                      <m:t>=</m:t>
                    </m:r>
                    <m:rad>
                      <m:radPr>
                        <m:degHide m:val="on"/>
                        <m:ctrlPr>
                          <a:rPr lang="en-US" b="0" i="1" smtClean="0">
                            <a:solidFill>
                              <a:srgbClr val="000000"/>
                            </a:solidFill>
                            <a:latin typeface="Cambria Math" panose="02040503050406030204" pitchFamily="18" charset="0"/>
                          </a:rPr>
                        </m:ctrlPr>
                      </m:radPr>
                      <m:deg/>
                      <m:e>
                        <m:sSup>
                          <m:sSupPr>
                            <m:ctrlPr>
                              <a:rPr lang="en-US" i="1">
                                <a:solidFill>
                                  <a:srgbClr val="000000"/>
                                </a:solidFill>
                                <a:latin typeface="Cambria Math" panose="02040503050406030204" pitchFamily="18" charset="0"/>
                              </a:rPr>
                            </m:ctrlPr>
                          </m:sSup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𝑥</m:t>
                                </m:r>
                              </m:sub>
                            </m:sSub>
                          </m:e>
                          <m:sup>
                            <m:r>
                              <a:rPr lang="en-US" i="1">
                                <a:solidFill>
                                  <a:srgbClr val="000000"/>
                                </a:solidFill>
                                <a:latin typeface="Cambria Math" panose="02040503050406030204" pitchFamily="18" charset="0"/>
                              </a:rPr>
                              <m:t>2</m:t>
                            </m:r>
                          </m:sup>
                        </m:sSup>
                        <m:r>
                          <a:rPr lang="en-US" i="1">
                            <a:solidFill>
                              <a:srgbClr val="000000"/>
                            </a:solidFill>
                            <a:latin typeface="Cambria Math" panose="02040503050406030204" pitchFamily="18" charset="0"/>
                          </a:rPr>
                          <m:t>+</m:t>
                        </m:r>
                        <m:sSup>
                          <m:sSupPr>
                            <m:ctrlPr>
                              <a:rPr lang="en-US" i="1">
                                <a:solidFill>
                                  <a:srgbClr val="000000"/>
                                </a:solidFill>
                                <a:latin typeface="Cambria Math" panose="02040503050406030204" pitchFamily="18" charset="0"/>
                              </a:rPr>
                            </m:ctrlPr>
                          </m:sSup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𝑦</m:t>
                                </m:r>
                              </m:sub>
                            </m:sSub>
                          </m:e>
                          <m:sup>
                            <m:r>
                              <a:rPr lang="en-US" i="1">
                                <a:solidFill>
                                  <a:srgbClr val="000000"/>
                                </a:solidFill>
                                <a:latin typeface="Cambria Math" panose="02040503050406030204" pitchFamily="18" charset="0"/>
                              </a:rPr>
                              <m:t>2</m:t>
                            </m:r>
                          </m:sup>
                        </m:sSup>
                        <m:r>
                          <a:rPr lang="en-US" i="1">
                            <a:solidFill>
                              <a:srgbClr val="000000"/>
                            </a:solidFill>
                            <a:latin typeface="Cambria Math" panose="02040503050406030204" pitchFamily="18" charset="0"/>
                          </a:rPr>
                          <m:t>+</m:t>
                        </m:r>
                        <m:sSup>
                          <m:sSupPr>
                            <m:ctrlPr>
                              <a:rPr lang="en-US" i="1">
                                <a:solidFill>
                                  <a:srgbClr val="000000"/>
                                </a:solidFill>
                                <a:latin typeface="Cambria Math" panose="02040503050406030204" pitchFamily="18" charset="0"/>
                              </a:rPr>
                            </m:ctrlPr>
                          </m:sSup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𝑧</m:t>
                                </m:r>
                              </m:sub>
                            </m:sSub>
                          </m:e>
                          <m:sup>
                            <m:r>
                              <a:rPr lang="en-US" i="1">
                                <a:solidFill>
                                  <a:srgbClr val="000000"/>
                                </a:solidFill>
                                <a:latin typeface="Cambria Math" panose="02040503050406030204" pitchFamily="18" charset="0"/>
                              </a:rPr>
                              <m:t>2</m:t>
                            </m:r>
                          </m:sup>
                        </m:sSup>
                      </m:e>
                    </m:rad>
                  </m:oMath>
                </a14:m>
                <a:r>
                  <a:rPr lang="en-US" dirty="0">
                    <a:solidFill>
                      <a:srgbClr val="000000"/>
                    </a:solidFill>
                  </a:rPr>
                  <a:t>, </a:t>
                </a:r>
                <a14:m>
                  <m:oMath xmlns:m="http://schemas.openxmlformats.org/officeDocument/2006/math">
                    <m:r>
                      <a:rPr lang="en-US" b="0" i="1" smtClean="0">
                        <a:solidFill>
                          <a:srgbClr val="000000"/>
                        </a:solidFill>
                        <a:latin typeface="Cambria Math" panose="02040503050406030204" pitchFamily="18" charset="0"/>
                      </a:rPr>
                      <m:t>𝑁</m:t>
                    </m:r>
                    <m:r>
                      <a:rPr lang="en-US" b="0" i="1" smtClean="0">
                        <a:solidFill>
                          <a:srgbClr val="000000"/>
                        </a:solidFill>
                        <a:latin typeface="Cambria Math" panose="02040503050406030204" pitchFamily="18" charset="0"/>
                      </a:rPr>
                      <m:t>=</m:t>
                    </m:r>
                    <m:f>
                      <m:fPr>
                        <m:ctrlPr>
                          <a:rPr lang="en-US" b="0"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4</m:t>
                        </m:r>
                        <m:r>
                          <a:rPr lang="en-US" b="0" i="1" smtClean="0">
                            <a:solidFill>
                              <a:srgbClr val="000000"/>
                            </a:solidFill>
                            <a:latin typeface="Cambria Math" panose="02040503050406030204" pitchFamily="18" charset="0"/>
                            <a:ea typeface="Cambria Math" panose="02040503050406030204" pitchFamily="18" charset="0"/>
                          </a:rPr>
                          <m:t>𝜋</m:t>
                        </m:r>
                      </m:num>
                      <m:den>
                        <m:r>
                          <a:rPr lang="en-US" b="0" i="1" smtClean="0">
                            <a:solidFill>
                              <a:srgbClr val="000000"/>
                            </a:solidFill>
                            <a:latin typeface="Cambria Math" panose="02040503050406030204" pitchFamily="18" charset="0"/>
                          </a:rPr>
                          <m:t>3</m:t>
                        </m:r>
                      </m:den>
                    </m:f>
                    <m:sSup>
                      <m:sSupPr>
                        <m:ctrlPr>
                          <a:rPr lang="en-US" b="0" i="1" smtClean="0">
                            <a:solidFill>
                              <a:srgbClr val="000000"/>
                            </a:solidFill>
                            <a:latin typeface="Cambria Math" panose="02040503050406030204" pitchFamily="18" charset="0"/>
                          </a:rPr>
                        </m:ctrlPr>
                      </m:sSupPr>
                      <m:e>
                        <m:r>
                          <a:rPr lang="en-US" b="0" i="1" smtClean="0">
                            <a:solidFill>
                              <a:srgbClr val="000000"/>
                            </a:solidFill>
                            <a:latin typeface="Cambria Math" panose="02040503050406030204" pitchFamily="18" charset="0"/>
                          </a:rPr>
                          <m:t>𝑛</m:t>
                        </m:r>
                      </m:e>
                      <m:sup>
                        <m:r>
                          <a:rPr lang="en-US" b="0" i="1" smtClean="0">
                            <a:solidFill>
                              <a:srgbClr val="000000"/>
                            </a:solidFill>
                            <a:latin typeface="Cambria Math" panose="02040503050406030204" pitchFamily="18" charset="0"/>
                          </a:rPr>
                          <m:t>3</m:t>
                        </m:r>
                      </m:sup>
                    </m:sSup>
                  </m:oMath>
                </a14:m>
                <a:r>
                  <a:rPr lang="en-US" dirty="0">
                    <a:solidFill>
                      <a:srgbClr val="000000"/>
                    </a:solidFill>
                  </a:rPr>
                  <a:t>.  </a:t>
                </a:r>
                <a14:m>
                  <m:oMath xmlns:m="http://schemas.openxmlformats.org/officeDocument/2006/math">
                    <m:r>
                      <a:rPr lang="en-US" b="0" i="1" smtClean="0">
                        <a:solidFill>
                          <a:srgbClr val="000000"/>
                        </a:solidFill>
                        <a:latin typeface="Cambria Math" panose="02040503050406030204" pitchFamily="18" charset="0"/>
                      </a:rPr>
                      <m:t>𝑁</m:t>
                    </m:r>
                  </m:oMath>
                </a14:m>
                <a:r>
                  <a:rPr lang="en-US" dirty="0">
                    <a:solidFill>
                      <a:srgbClr val="000000"/>
                    </a:solidFill>
                  </a:rPr>
                  <a:t> is “volume” of allowed nodes.  </a:t>
                </a:r>
              </a:p>
              <a:p>
                <a:pPr marL="342900" indent="-342900" latinLnBrk="1" hangingPunct="0">
                  <a:buFont typeface="Arial" panose="020B0604020202020204" pitchFamily="34" charset="0"/>
                  <a:buChar char="•"/>
                </a:pPr>
                <a14:m>
                  <m:oMath xmlns:m="http://schemas.openxmlformats.org/officeDocument/2006/math">
                    <m:r>
                      <a:rPr lang="en-US" b="0" i="1" smtClean="0">
                        <a:solidFill>
                          <a:srgbClr val="000000"/>
                        </a:solidFill>
                        <a:latin typeface="Cambria Math" panose="02040503050406030204" pitchFamily="18" charset="0"/>
                      </a:rPr>
                      <m:t>𝑁</m:t>
                    </m:r>
                    <m:r>
                      <a:rPr lang="en-US" b="0" i="1" smtClean="0">
                        <a:solidFill>
                          <a:srgbClr val="000000"/>
                        </a:solidFill>
                        <a:latin typeface="Cambria Math" panose="02040503050406030204" pitchFamily="18" charset="0"/>
                      </a:rPr>
                      <m:t>=</m:t>
                    </m:r>
                    <m:f>
                      <m:fPr>
                        <m:ctrlPr>
                          <a:rPr lang="en-US" b="0"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4</m:t>
                        </m:r>
                        <m:r>
                          <a:rPr lang="en-US" b="0" i="1" smtClean="0">
                            <a:solidFill>
                              <a:srgbClr val="000000"/>
                            </a:solidFill>
                            <a:latin typeface="Cambria Math" panose="02040503050406030204" pitchFamily="18" charset="0"/>
                            <a:ea typeface="Cambria Math" panose="02040503050406030204" pitchFamily="18" charset="0"/>
                          </a:rPr>
                          <m:t>𝜋</m:t>
                        </m:r>
                      </m:num>
                      <m:den>
                        <m:r>
                          <a:rPr lang="en-US" b="0" i="1" smtClean="0">
                            <a:solidFill>
                              <a:srgbClr val="000000"/>
                            </a:solidFill>
                            <a:latin typeface="Cambria Math" panose="02040503050406030204" pitchFamily="18" charset="0"/>
                          </a:rPr>
                          <m:t>3</m:t>
                        </m:r>
                      </m:den>
                    </m:f>
                    <m:sSup>
                      <m:sSupPr>
                        <m:ctrlPr>
                          <a:rPr lang="en-US" b="0" i="1" smtClean="0">
                            <a:solidFill>
                              <a:srgbClr val="000000"/>
                            </a:solidFill>
                            <a:latin typeface="Cambria Math" panose="02040503050406030204" pitchFamily="18" charset="0"/>
                          </a:rPr>
                        </m:ctrlPr>
                      </m:sSupPr>
                      <m:e>
                        <m:r>
                          <a:rPr lang="en-US" b="0" i="1" smtClean="0">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4</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𝐿</m:t>
                                </m:r>
                              </m:e>
                              <m:sup>
                                <m:r>
                                  <a:rPr lang="en-US" i="1">
                                    <a:solidFill>
                                      <a:srgbClr val="000000"/>
                                    </a:solidFill>
                                    <a:latin typeface="Cambria Math" panose="02040503050406030204" pitchFamily="18" charset="0"/>
                                  </a:rPr>
                                  <m:t>2</m:t>
                                </m:r>
                              </m:sup>
                            </m:sSup>
                          </m:num>
                          <m:den>
                            <m:sSup>
                              <m:sSupPr>
                                <m:ctrlPr>
                                  <a:rPr lang="en-US" i="1">
                                    <a:solidFill>
                                      <a:srgbClr val="000000"/>
                                    </a:solidFill>
                                    <a:latin typeface="Cambria Math" panose="02040503050406030204" pitchFamily="18" charset="0"/>
                                    <a:ea typeface="Cambria Math" panose="02040503050406030204" pitchFamily="18" charset="0"/>
                                  </a:rPr>
                                </m:ctrlPr>
                              </m:sSupPr>
                              <m:e>
                                <m:r>
                                  <a:rPr lang="en-US" i="1">
                                    <a:solidFill>
                                      <a:srgbClr val="000000"/>
                                    </a:solidFill>
                                    <a:latin typeface="Cambria Math" panose="02040503050406030204" pitchFamily="18" charset="0"/>
                                    <a:ea typeface="Cambria Math" panose="02040503050406030204" pitchFamily="18" charset="0"/>
                                  </a:rPr>
                                  <m:t>𝜆</m:t>
                                </m:r>
                              </m:e>
                              <m:sup>
                                <m:r>
                                  <a:rPr lang="en-US" i="1">
                                    <a:solidFill>
                                      <a:srgbClr val="000000"/>
                                    </a:solidFill>
                                    <a:latin typeface="Cambria Math" panose="02040503050406030204" pitchFamily="18" charset="0"/>
                                  </a:rPr>
                                  <m:t>2</m:t>
                                </m:r>
                              </m:sup>
                            </m:sSup>
                          </m:den>
                        </m:f>
                        <m:r>
                          <a:rPr lang="en-US" b="0" i="1" smtClean="0">
                            <a:solidFill>
                              <a:srgbClr val="000000"/>
                            </a:solidFill>
                            <a:latin typeface="Cambria Math" panose="02040503050406030204" pitchFamily="18" charset="0"/>
                          </a:rPr>
                          <m:t>)</m:t>
                        </m:r>
                      </m:e>
                      <m:sup>
                        <m:f>
                          <m:fPr>
                            <m:type m:val="lin"/>
                            <m:ctrlPr>
                              <a:rPr lang="en-US" b="0"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3</m:t>
                            </m:r>
                          </m:num>
                          <m:den>
                            <m:r>
                              <a:rPr lang="en-US" b="0" i="1" smtClean="0">
                                <a:solidFill>
                                  <a:srgbClr val="000000"/>
                                </a:solidFill>
                                <a:latin typeface="Cambria Math" panose="02040503050406030204" pitchFamily="18" charset="0"/>
                              </a:rPr>
                              <m:t>2</m:t>
                            </m:r>
                          </m:den>
                        </m:f>
                      </m:sup>
                    </m:sSup>
                    <m:r>
                      <a:rPr lang="en-US" b="0" i="1" smtClean="0">
                        <a:solidFill>
                          <a:srgbClr val="000000"/>
                        </a:solidFill>
                        <a:latin typeface="Cambria Math" panose="02040503050406030204" pitchFamily="18" charset="0"/>
                      </a:rPr>
                      <m:t>=</m:t>
                    </m:r>
                    <m:f>
                      <m:fPr>
                        <m:ctrlPr>
                          <a:rPr lang="en-US" b="0"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8</m:t>
                        </m:r>
                        <m:r>
                          <a:rPr lang="en-US" b="0" i="1" smtClean="0">
                            <a:solidFill>
                              <a:srgbClr val="000000"/>
                            </a:solidFill>
                            <a:latin typeface="Cambria Math" panose="02040503050406030204" pitchFamily="18" charset="0"/>
                            <a:ea typeface="Cambria Math" panose="02040503050406030204" pitchFamily="18" charset="0"/>
                          </a:rPr>
                          <m:t>𝜋</m:t>
                        </m:r>
                        <m:sSup>
                          <m:sSupPr>
                            <m:ctrlPr>
                              <a:rPr lang="en-US" b="0" i="1" smtClean="0">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𝐿</m:t>
                            </m:r>
                          </m:e>
                          <m:sup>
                            <m:r>
                              <a:rPr lang="en-US" b="0" i="1" smtClean="0">
                                <a:solidFill>
                                  <a:srgbClr val="000000"/>
                                </a:solidFill>
                                <a:latin typeface="Cambria Math" panose="02040503050406030204" pitchFamily="18" charset="0"/>
                                <a:ea typeface="Cambria Math" panose="02040503050406030204" pitchFamily="18" charset="0"/>
                              </a:rPr>
                              <m:t>3</m:t>
                            </m:r>
                          </m:sup>
                        </m:sSup>
                      </m:num>
                      <m:den>
                        <m:r>
                          <a:rPr lang="en-US" b="0" i="1" smtClean="0">
                            <a:solidFill>
                              <a:srgbClr val="000000"/>
                            </a:solidFill>
                            <a:latin typeface="Cambria Math" panose="02040503050406030204" pitchFamily="18" charset="0"/>
                          </a:rPr>
                          <m:t>3</m:t>
                        </m:r>
                        <m:sSup>
                          <m:sSupPr>
                            <m:ctrlPr>
                              <a:rPr lang="en-US" b="0" i="1" smtClean="0">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𝜆</m:t>
                            </m:r>
                          </m:e>
                          <m:sup>
                            <m:r>
                              <a:rPr lang="en-US" b="0" i="1" smtClean="0">
                                <a:solidFill>
                                  <a:srgbClr val="000000"/>
                                </a:solidFill>
                                <a:latin typeface="Cambria Math" panose="02040503050406030204" pitchFamily="18" charset="0"/>
                              </a:rPr>
                              <m:t>3</m:t>
                            </m:r>
                          </m:sup>
                        </m:sSup>
                      </m:den>
                    </m:f>
                  </m:oMath>
                </a14:m>
                <a:r>
                  <a:rPr lang="en-US" dirty="0">
                    <a:solidFill>
                      <a:srgbClr val="000000"/>
                    </a:solidFill>
                  </a:rPr>
                  <a:t>, so </a:t>
                </a:r>
                <a14:m>
                  <m:oMath xmlns:m="http://schemas.openxmlformats.org/officeDocument/2006/math">
                    <m:f>
                      <m:fPr>
                        <m:ctrlPr>
                          <a:rPr lang="en-US" b="0"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𝑑𝑁</m:t>
                        </m:r>
                      </m:num>
                      <m:den>
                        <m:r>
                          <a:rPr lang="en-US" b="0" i="1" smtClean="0">
                            <a:solidFill>
                              <a:srgbClr val="000000"/>
                            </a:solidFill>
                            <a:latin typeface="Cambria Math" panose="02040503050406030204" pitchFamily="18" charset="0"/>
                          </a:rPr>
                          <m:t>𝑑</m:t>
                        </m:r>
                        <m:r>
                          <a:rPr lang="en-US" b="0" i="1" smtClean="0">
                            <a:solidFill>
                              <a:srgbClr val="000000"/>
                            </a:solidFill>
                            <a:latin typeface="Cambria Math" panose="02040503050406030204" pitchFamily="18" charset="0"/>
                            <a:ea typeface="Cambria Math" panose="02040503050406030204" pitchFamily="18" charset="0"/>
                          </a:rPr>
                          <m:t>𝜆</m:t>
                        </m:r>
                      </m:den>
                    </m:f>
                    <m:r>
                      <a:rPr lang="en-US" b="0" i="1" smtClean="0">
                        <a:solidFill>
                          <a:srgbClr val="000000"/>
                        </a:solidFill>
                        <a:latin typeface="Cambria Math" panose="02040503050406030204" pitchFamily="18" charset="0"/>
                      </a:rPr>
                      <m:t>=−8</m:t>
                    </m:r>
                    <m:r>
                      <a:rPr lang="en-US" b="0" i="1" smtClean="0">
                        <a:solidFill>
                          <a:srgbClr val="000000"/>
                        </a:solidFill>
                        <a:latin typeface="Cambria Math" panose="02040503050406030204" pitchFamily="18" charset="0"/>
                        <a:ea typeface="Cambria Math" panose="02040503050406030204" pitchFamily="18" charset="0"/>
                      </a:rPr>
                      <m:t>𝜋</m:t>
                    </m:r>
                    <m:f>
                      <m:fPr>
                        <m:ctrlPr>
                          <a:rPr lang="en-US" b="0" i="1" smtClean="0">
                            <a:solidFill>
                              <a:srgbClr val="000000"/>
                            </a:solidFill>
                            <a:latin typeface="Cambria Math" panose="02040503050406030204" pitchFamily="18" charset="0"/>
                            <a:ea typeface="Cambria Math" panose="02040503050406030204" pitchFamily="18" charset="0"/>
                          </a:rPr>
                        </m:ctrlPr>
                      </m:fPr>
                      <m:num>
                        <m:sSup>
                          <m:sSupPr>
                            <m:ctrlPr>
                              <a:rPr lang="en-US" b="0" i="1" smtClean="0">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𝐿</m:t>
                            </m:r>
                          </m:e>
                          <m:sup>
                            <m:r>
                              <a:rPr lang="en-US" b="0" i="1" smtClean="0">
                                <a:solidFill>
                                  <a:srgbClr val="000000"/>
                                </a:solidFill>
                                <a:latin typeface="Cambria Math" panose="02040503050406030204" pitchFamily="18" charset="0"/>
                                <a:ea typeface="Cambria Math" panose="02040503050406030204" pitchFamily="18" charset="0"/>
                              </a:rPr>
                              <m:t>3</m:t>
                            </m:r>
                          </m:sup>
                        </m:sSup>
                      </m:num>
                      <m:den>
                        <m:sSup>
                          <m:sSupPr>
                            <m:ctrlPr>
                              <a:rPr lang="en-US" b="0" i="1" smtClean="0">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𝜆</m:t>
                            </m:r>
                          </m:e>
                          <m:sup>
                            <m:r>
                              <a:rPr lang="en-US" b="0" i="1" smtClean="0">
                                <a:solidFill>
                                  <a:srgbClr val="000000"/>
                                </a:solidFill>
                                <a:latin typeface="Cambria Math" panose="02040503050406030204" pitchFamily="18" charset="0"/>
                                <a:ea typeface="Cambria Math" panose="02040503050406030204" pitchFamily="18" charset="0"/>
                              </a:rPr>
                              <m:t>4</m:t>
                            </m:r>
                          </m:sup>
                        </m:sSup>
                      </m:den>
                    </m:f>
                  </m:oMath>
                </a14:m>
                <a:r>
                  <a:rPr lang="en-US" dirty="0">
                    <a:solidFill>
                      <a:srgbClr val="000000"/>
                    </a:solidFill>
                  </a:rPr>
                  <a:t>.  This is the number of nodes per wavelength</a:t>
                </a:r>
              </a:p>
              <a:p>
                <a:pPr marL="342900" indent="-342900" latinLnBrk="1" hangingPunct="0">
                  <a:buFont typeface="Arial" panose="020B0604020202020204" pitchFamily="34" charset="0"/>
                  <a:buChar char="•"/>
                </a:pPr>
                <a:r>
                  <a:rPr lang="en-US" dirty="0">
                    <a:solidFill>
                      <a:srgbClr val="000000"/>
                    </a:solidFill>
                  </a:rPr>
                  <a:t>Each mode contributes </a:t>
                </a:r>
                <a14:m>
                  <m:oMath xmlns:m="http://schemas.openxmlformats.org/officeDocument/2006/math">
                    <m:r>
                      <a:rPr lang="en-US" b="0" i="1" smtClean="0">
                        <a:solidFill>
                          <a:srgbClr val="000000"/>
                        </a:solidFill>
                        <a:latin typeface="Cambria Math" panose="02040503050406030204" pitchFamily="18" charset="0"/>
                      </a:rPr>
                      <m:t>𝑘𝑇</m:t>
                    </m:r>
                  </m:oMath>
                </a14:m>
                <a:r>
                  <a:rPr lang="en-US" dirty="0">
                    <a:solidFill>
                      <a:srgbClr val="000000"/>
                    </a:solidFill>
                  </a:rPr>
                  <a:t> in equilibrium, so</a:t>
                </a:r>
                <a14:m>
                  <m:oMath xmlns:m="http://schemas.openxmlformats.org/officeDocument/2006/math">
                    <m:r>
                      <a:rPr lang="en-US" i="1" dirty="0" smtClean="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8</m:t>
                    </m:r>
                    <m:r>
                      <a:rPr lang="en-US" i="1">
                        <a:solidFill>
                          <a:srgbClr val="000000"/>
                        </a:solidFill>
                        <a:latin typeface="Cambria Math" panose="02040503050406030204" pitchFamily="18" charset="0"/>
                        <a:ea typeface="Cambria Math" panose="02040503050406030204" pitchFamily="18" charset="0"/>
                      </a:rPr>
                      <m:t>𝜋</m:t>
                    </m:r>
                    <m:f>
                      <m:fPr>
                        <m:ctrlPr>
                          <a:rPr lang="en-US" i="1">
                            <a:solidFill>
                              <a:srgbClr val="000000"/>
                            </a:solidFill>
                            <a:latin typeface="Cambria Math" panose="02040503050406030204" pitchFamily="18" charset="0"/>
                            <a:ea typeface="Cambria Math" panose="02040503050406030204" pitchFamily="18" charset="0"/>
                          </a:rPr>
                        </m:ctrlPr>
                      </m:fPr>
                      <m:num>
                        <m:sSup>
                          <m:sSupPr>
                            <m:ctrlPr>
                              <a:rPr lang="en-US" i="1">
                                <a:solidFill>
                                  <a:srgbClr val="000000"/>
                                </a:solidFill>
                                <a:latin typeface="Cambria Math" panose="02040503050406030204" pitchFamily="18" charset="0"/>
                                <a:ea typeface="Cambria Math" panose="02040503050406030204" pitchFamily="18" charset="0"/>
                              </a:rPr>
                            </m:ctrlPr>
                          </m:sSupPr>
                          <m:e>
                            <m:r>
                              <a:rPr lang="en-US" i="1">
                                <a:solidFill>
                                  <a:srgbClr val="000000"/>
                                </a:solidFill>
                                <a:latin typeface="Cambria Math" panose="02040503050406030204" pitchFamily="18" charset="0"/>
                                <a:ea typeface="Cambria Math" panose="02040503050406030204" pitchFamily="18" charset="0"/>
                              </a:rPr>
                              <m:t>𝐿</m:t>
                            </m:r>
                          </m:e>
                          <m:sup>
                            <m:r>
                              <a:rPr lang="en-US" i="1">
                                <a:solidFill>
                                  <a:srgbClr val="000000"/>
                                </a:solidFill>
                                <a:latin typeface="Cambria Math" panose="02040503050406030204" pitchFamily="18" charset="0"/>
                                <a:ea typeface="Cambria Math" panose="02040503050406030204" pitchFamily="18" charset="0"/>
                              </a:rPr>
                              <m:t>3</m:t>
                            </m:r>
                          </m:sup>
                        </m:sSup>
                      </m:num>
                      <m:den>
                        <m:sSup>
                          <m:sSupPr>
                            <m:ctrlPr>
                              <a:rPr lang="en-US" i="1">
                                <a:solidFill>
                                  <a:srgbClr val="000000"/>
                                </a:solidFill>
                                <a:latin typeface="Cambria Math" panose="02040503050406030204" pitchFamily="18" charset="0"/>
                                <a:ea typeface="Cambria Math" panose="02040503050406030204" pitchFamily="18" charset="0"/>
                              </a:rPr>
                            </m:ctrlPr>
                          </m:sSupPr>
                          <m:e>
                            <m:r>
                              <a:rPr lang="en-US" i="1">
                                <a:solidFill>
                                  <a:srgbClr val="000000"/>
                                </a:solidFill>
                                <a:latin typeface="Cambria Math" panose="02040503050406030204" pitchFamily="18" charset="0"/>
                                <a:ea typeface="Cambria Math" panose="02040503050406030204" pitchFamily="18" charset="0"/>
                              </a:rPr>
                              <m:t>𝜆</m:t>
                            </m:r>
                          </m:e>
                          <m:sup>
                            <m:r>
                              <a:rPr lang="en-US" i="1">
                                <a:solidFill>
                                  <a:srgbClr val="000000"/>
                                </a:solidFill>
                                <a:latin typeface="Cambria Math" panose="02040503050406030204" pitchFamily="18" charset="0"/>
                                <a:ea typeface="Cambria Math" panose="02040503050406030204" pitchFamily="18" charset="0"/>
                              </a:rPr>
                              <m:t>4</m:t>
                            </m:r>
                          </m:sup>
                        </m:sSup>
                      </m:den>
                    </m:f>
                    <m:r>
                      <a:rPr lang="en-US" b="0" i="1" smtClean="0">
                        <a:solidFill>
                          <a:srgbClr val="000000"/>
                        </a:solidFill>
                        <a:latin typeface="Cambria Math" panose="02040503050406030204" pitchFamily="18" charset="0"/>
                        <a:ea typeface="Cambria Math" panose="02040503050406030204" pitchFamily="18" charset="0"/>
                      </a:rPr>
                      <m:t>𝑘𝑇𝑑</m:t>
                    </m:r>
                    <m:r>
                      <a:rPr lang="en-US" b="0" i="1" smtClean="0">
                        <a:solidFill>
                          <a:srgbClr val="000000"/>
                        </a:solidFill>
                        <a:latin typeface="Cambria Math" panose="02040503050406030204" pitchFamily="18" charset="0"/>
                        <a:ea typeface="Cambria Math" panose="02040503050406030204" pitchFamily="18" charset="0"/>
                      </a:rPr>
                      <m:t>𝜆</m:t>
                    </m:r>
                    <m:r>
                      <a:rPr lang="en-US" b="0" i="1" smtClean="0">
                        <a:solidFill>
                          <a:srgbClr val="000000"/>
                        </a:solidFill>
                        <a:latin typeface="Cambria Math" panose="02040503050406030204" pitchFamily="18" charset="0"/>
                        <a:ea typeface="Cambria Math" panose="02040503050406030204" pitchFamily="18" charset="0"/>
                      </a:rPr>
                      <m:t>=</m:t>
                    </m:r>
                    <m:r>
                      <a:rPr lang="en-US" b="0" i="1" smtClean="0">
                        <a:solidFill>
                          <a:srgbClr val="000000"/>
                        </a:solidFill>
                        <a:latin typeface="Cambria Math" panose="02040503050406030204" pitchFamily="18" charset="0"/>
                        <a:ea typeface="Cambria Math" panose="02040503050406030204" pitchFamily="18" charset="0"/>
                      </a:rPr>
                      <m:t>𝑑𝐸</m:t>
                    </m:r>
                  </m:oMath>
                </a14:m>
                <a:r>
                  <a:rPr lang="en-US" dirty="0">
                    <a:solidFill>
                      <a:srgbClr val="000000"/>
                    </a:solidFill>
                  </a:rPr>
                  <a:t>.  </a:t>
                </a:r>
                <a14:m>
                  <m:oMath xmlns:m="http://schemas.openxmlformats.org/officeDocument/2006/math">
                    <m:r>
                      <a:rPr lang="en-US" i="1">
                        <a:solidFill>
                          <a:srgbClr val="000000"/>
                        </a:solidFill>
                        <a:latin typeface="Cambria Math" panose="02040503050406030204" pitchFamily="18" charset="0"/>
                      </a:rPr>
                      <m:t>8</m:t>
                    </m:r>
                    <m:r>
                      <a:rPr lang="en-US" i="1">
                        <a:solidFill>
                          <a:srgbClr val="000000"/>
                        </a:solidFill>
                        <a:latin typeface="Cambria Math" panose="02040503050406030204" pitchFamily="18" charset="0"/>
                        <a:ea typeface="Cambria Math" panose="02040503050406030204" pitchFamily="18" charset="0"/>
                      </a:rPr>
                      <m:t>𝜋</m:t>
                    </m:r>
                    <m:f>
                      <m:fPr>
                        <m:ctrlPr>
                          <a:rPr lang="en-US" b="0" i="1" smtClean="0">
                            <a:solidFill>
                              <a:srgbClr val="000000"/>
                            </a:solidFill>
                            <a:latin typeface="Cambria Math" panose="02040503050406030204" pitchFamily="18" charset="0"/>
                            <a:ea typeface="Cambria Math" panose="02040503050406030204" pitchFamily="18" charset="0"/>
                          </a:rPr>
                        </m:ctrlPr>
                      </m:fPr>
                      <m:num>
                        <m:r>
                          <a:rPr lang="en-US" b="0" i="1" smtClean="0">
                            <a:solidFill>
                              <a:srgbClr val="000000"/>
                            </a:solidFill>
                            <a:latin typeface="Cambria Math" panose="02040503050406030204" pitchFamily="18" charset="0"/>
                            <a:ea typeface="Cambria Math" panose="02040503050406030204" pitchFamily="18" charset="0"/>
                          </a:rPr>
                          <m:t>𝑘𝑇</m:t>
                        </m:r>
                      </m:num>
                      <m:den>
                        <m:sSup>
                          <m:sSupPr>
                            <m:ctrlPr>
                              <a:rPr lang="en-US" i="1">
                                <a:solidFill>
                                  <a:srgbClr val="000000"/>
                                </a:solidFill>
                                <a:latin typeface="Cambria Math" panose="02040503050406030204" pitchFamily="18" charset="0"/>
                                <a:ea typeface="Cambria Math" panose="02040503050406030204" pitchFamily="18" charset="0"/>
                              </a:rPr>
                            </m:ctrlPr>
                          </m:sSupPr>
                          <m:e>
                            <m:r>
                              <a:rPr lang="en-US" i="1">
                                <a:solidFill>
                                  <a:srgbClr val="000000"/>
                                </a:solidFill>
                                <a:latin typeface="Cambria Math" panose="02040503050406030204" pitchFamily="18" charset="0"/>
                                <a:ea typeface="Cambria Math" panose="02040503050406030204" pitchFamily="18" charset="0"/>
                              </a:rPr>
                              <m:t>𝜆</m:t>
                            </m:r>
                          </m:e>
                          <m:sup>
                            <m:r>
                              <a:rPr lang="en-US" i="1">
                                <a:solidFill>
                                  <a:srgbClr val="000000"/>
                                </a:solidFill>
                                <a:latin typeface="Cambria Math" panose="02040503050406030204" pitchFamily="18" charset="0"/>
                                <a:ea typeface="Cambria Math" panose="02040503050406030204" pitchFamily="18" charset="0"/>
                              </a:rPr>
                              <m:t>4</m:t>
                            </m:r>
                          </m:sup>
                        </m:sSup>
                      </m:den>
                    </m:f>
                    <m:r>
                      <a:rPr lang="en-US" i="1">
                        <a:solidFill>
                          <a:srgbClr val="000000"/>
                        </a:solidFill>
                        <a:latin typeface="Cambria Math" panose="02040503050406030204" pitchFamily="18" charset="0"/>
                        <a:ea typeface="Cambria Math" panose="02040503050406030204" pitchFamily="18" charset="0"/>
                      </a:rPr>
                      <m:t>𝑑</m:t>
                    </m:r>
                    <m:r>
                      <a:rPr lang="en-US" i="1">
                        <a:solidFill>
                          <a:srgbClr val="000000"/>
                        </a:solidFill>
                        <a:latin typeface="Cambria Math" panose="02040503050406030204" pitchFamily="18" charset="0"/>
                        <a:ea typeface="Cambria Math" panose="02040503050406030204" pitchFamily="18" charset="0"/>
                      </a:rPr>
                      <m:t>𝜆</m:t>
                    </m:r>
                    <m:r>
                      <a:rPr lang="en-US" i="1">
                        <a:solidFill>
                          <a:srgbClr val="000000"/>
                        </a:solidFill>
                        <a:latin typeface="Cambria Math" panose="02040503050406030204" pitchFamily="18" charset="0"/>
                        <a:ea typeface="Cambria Math" panose="02040503050406030204" pitchFamily="18" charset="0"/>
                      </a:rPr>
                      <m:t>=</m:t>
                    </m:r>
                    <m:r>
                      <a:rPr lang="en-US" i="1">
                        <a:solidFill>
                          <a:srgbClr val="000000"/>
                        </a:solidFill>
                        <a:latin typeface="Cambria Math" panose="02040503050406030204" pitchFamily="18" charset="0"/>
                        <a:ea typeface="Cambria Math" panose="02040503050406030204" pitchFamily="18" charset="0"/>
                      </a:rPr>
                      <m:t>𝑑</m:t>
                    </m:r>
                    <m:d>
                      <m:dPr>
                        <m:ctrlPr>
                          <a:rPr lang="en-US" i="1" smtClean="0">
                            <a:solidFill>
                              <a:srgbClr val="000000"/>
                            </a:solidFill>
                            <a:latin typeface="Cambria Math" panose="02040503050406030204" pitchFamily="18" charset="0"/>
                            <a:ea typeface="Cambria Math" panose="02040503050406030204" pitchFamily="18" charset="0"/>
                          </a:rPr>
                        </m:ctrlPr>
                      </m:dPr>
                      <m:e>
                        <m:f>
                          <m:fPr>
                            <m:ctrlPr>
                              <a:rPr lang="en-US" b="0" i="1" smtClean="0">
                                <a:solidFill>
                                  <a:srgbClr val="000000"/>
                                </a:solidFill>
                                <a:latin typeface="Cambria Math" panose="02040503050406030204" pitchFamily="18" charset="0"/>
                                <a:ea typeface="Cambria Math" panose="02040503050406030204" pitchFamily="18" charset="0"/>
                              </a:rPr>
                            </m:ctrlPr>
                          </m:fPr>
                          <m:num>
                            <m:r>
                              <a:rPr lang="en-US" b="0" i="1" smtClean="0">
                                <a:solidFill>
                                  <a:srgbClr val="000000"/>
                                </a:solidFill>
                                <a:latin typeface="Cambria Math" panose="02040503050406030204" pitchFamily="18" charset="0"/>
                                <a:ea typeface="Cambria Math" panose="02040503050406030204" pitchFamily="18" charset="0"/>
                              </a:rPr>
                              <m:t>𝐸</m:t>
                            </m:r>
                          </m:num>
                          <m:den>
                            <m:r>
                              <a:rPr lang="en-US" b="0" i="1" smtClean="0">
                                <a:solidFill>
                                  <a:srgbClr val="000000"/>
                                </a:solidFill>
                                <a:latin typeface="Cambria Math" panose="02040503050406030204" pitchFamily="18" charset="0"/>
                                <a:ea typeface="Cambria Math" panose="02040503050406030204" pitchFamily="18" charset="0"/>
                              </a:rPr>
                              <m:t>𝑉</m:t>
                            </m:r>
                          </m:den>
                        </m:f>
                      </m:e>
                    </m:d>
                    <m:r>
                      <a:rPr lang="en-US" b="0" i="0" smtClean="0">
                        <a:solidFill>
                          <a:srgbClr val="000000"/>
                        </a:solidFill>
                        <a:latin typeface="Cambria Math" panose="02040503050406030204" pitchFamily="18" charset="0"/>
                        <a:ea typeface="Cambria Math" panose="02040503050406030204" pitchFamily="18" charset="0"/>
                      </a:rPr>
                      <m:t>.</m:t>
                    </m:r>
                  </m:oMath>
                </a14:m>
                <a:endParaRPr lang="en-US" b="0" dirty="0">
                  <a:solidFill>
                    <a:srgbClr val="000000"/>
                  </a:solidFill>
                  <a:ea typeface="Cambria Math" panose="02040503050406030204" pitchFamily="18" charset="0"/>
                </a:endParaRPr>
              </a:p>
              <a:p>
                <a:pPr marL="342900" indent="-342900" latinLnBrk="1" hangingPunct="0">
                  <a:buFont typeface="Arial" panose="020B0604020202020204" pitchFamily="34" charset="0"/>
                  <a:buChar char="•"/>
                </a:pPr>
                <a:r>
                  <a:rPr lang="en-US" b="0" dirty="0">
                    <a:solidFill>
                      <a:srgbClr val="000000"/>
                    </a:solidFill>
                    <a:ea typeface="Cambria Math" panose="02040503050406030204" pitchFamily="18" charset="0"/>
                  </a:rPr>
                  <a:t>If </a:t>
                </a:r>
                <a14:m>
                  <m:oMath xmlns:m="http://schemas.openxmlformats.org/officeDocument/2006/math">
                    <m:r>
                      <a:rPr lang="en-US" b="0" i="1" smtClean="0">
                        <a:solidFill>
                          <a:srgbClr val="000000"/>
                        </a:solidFill>
                        <a:latin typeface="Cambria Math" panose="02040503050406030204" pitchFamily="18" charset="0"/>
                        <a:ea typeface="Cambria Math" panose="02040503050406030204" pitchFamily="18" charset="0"/>
                      </a:rPr>
                      <m:t>𝑢</m:t>
                    </m:r>
                  </m:oMath>
                </a14:m>
                <a:r>
                  <a:rPr lang="en-US" b="0" dirty="0">
                    <a:solidFill>
                      <a:srgbClr val="000000"/>
                    </a:solidFill>
                    <a:ea typeface="Cambria Math" panose="02040503050406030204" pitchFamily="18" charset="0"/>
                  </a:rPr>
                  <a:t> denotes energy density: </a:t>
                </a:r>
                <a14:m>
                  <m:oMath xmlns:m="http://schemas.openxmlformats.org/officeDocument/2006/math">
                    <m:f>
                      <m:fPr>
                        <m:ctrlPr>
                          <a:rPr lang="en-US" b="0" i="1" smtClean="0">
                            <a:solidFill>
                              <a:srgbClr val="000000"/>
                            </a:solidFill>
                            <a:latin typeface="Cambria Math" panose="02040503050406030204" pitchFamily="18" charset="0"/>
                            <a:ea typeface="Cambria Math" panose="02040503050406030204" pitchFamily="18" charset="0"/>
                          </a:rPr>
                        </m:ctrlPr>
                      </m:fPr>
                      <m:num>
                        <m:r>
                          <a:rPr lang="en-US" b="0" i="1" smtClean="0">
                            <a:solidFill>
                              <a:srgbClr val="000000"/>
                            </a:solidFill>
                            <a:latin typeface="Cambria Math" panose="02040503050406030204" pitchFamily="18" charset="0"/>
                            <a:ea typeface="Cambria Math" panose="02040503050406030204" pitchFamily="18" charset="0"/>
                          </a:rPr>
                          <m:t>𝑑𝑢</m:t>
                        </m:r>
                      </m:num>
                      <m:den>
                        <m:r>
                          <a:rPr lang="en-US" b="0" i="1" smtClean="0">
                            <a:solidFill>
                              <a:srgbClr val="000000"/>
                            </a:solidFill>
                            <a:latin typeface="Cambria Math" panose="02040503050406030204" pitchFamily="18" charset="0"/>
                            <a:ea typeface="Cambria Math" panose="02040503050406030204" pitchFamily="18" charset="0"/>
                          </a:rPr>
                          <m:t>𝑑</m:t>
                        </m:r>
                        <m:r>
                          <a:rPr lang="en-US" b="0" i="1" smtClean="0">
                            <a:solidFill>
                              <a:srgbClr val="000000"/>
                            </a:solidFill>
                            <a:latin typeface="Cambria Math" panose="02040503050406030204" pitchFamily="18" charset="0"/>
                            <a:ea typeface="Cambria Math" panose="02040503050406030204" pitchFamily="18" charset="0"/>
                          </a:rPr>
                          <m:t>𝜆</m:t>
                        </m:r>
                      </m:den>
                    </m:f>
                    <m:r>
                      <a:rPr lang="en-US" b="0" i="1" smtClean="0">
                        <a:solidFill>
                          <a:srgbClr val="000000"/>
                        </a:solidFill>
                        <a:latin typeface="Cambria Math" panose="02040503050406030204" pitchFamily="18" charset="0"/>
                        <a:ea typeface="Cambria Math" panose="02040503050406030204" pitchFamily="18" charset="0"/>
                      </a:rPr>
                      <m:t>=</m:t>
                    </m:r>
                    <m:r>
                      <a:rPr lang="en-US" i="1">
                        <a:solidFill>
                          <a:srgbClr val="000000"/>
                        </a:solidFill>
                        <a:latin typeface="Cambria Math" panose="02040503050406030204" pitchFamily="18" charset="0"/>
                      </a:rPr>
                      <m:t>8</m:t>
                    </m:r>
                    <m:r>
                      <a:rPr lang="en-US" i="1">
                        <a:solidFill>
                          <a:srgbClr val="000000"/>
                        </a:solidFill>
                        <a:latin typeface="Cambria Math" panose="02040503050406030204" pitchFamily="18" charset="0"/>
                        <a:ea typeface="Cambria Math" panose="02040503050406030204" pitchFamily="18" charset="0"/>
                      </a:rPr>
                      <m:t>𝜋</m:t>
                    </m:r>
                    <m:f>
                      <m:fPr>
                        <m:ctrlPr>
                          <a:rPr lang="en-US" i="1">
                            <a:solidFill>
                              <a:srgbClr val="000000"/>
                            </a:solidFill>
                            <a:latin typeface="Cambria Math" panose="02040503050406030204" pitchFamily="18" charset="0"/>
                            <a:ea typeface="Cambria Math" panose="02040503050406030204" pitchFamily="18" charset="0"/>
                          </a:rPr>
                        </m:ctrlPr>
                      </m:fPr>
                      <m:num>
                        <m:r>
                          <a:rPr lang="en-US" i="1">
                            <a:solidFill>
                              <a:srgbClr val="000000"/>
                            </a:solidFill>
                            <a:latin typeface="Cambria Math" panose="02040503050406030204" pitchFamily="18" charset="0"/>
                            <a:ea typeface="Cambria Math" panose="02040503050406030204" pitchFamily="18" charset="0"/>
                          </a:rPr>
                          <m:t>𝑘𝑇</m:t>
                        </m:r>
                      </m:num>
                      <m:den>
                        <m:sSup>
                          <m:sSupPr>
                            <m:ctrlPr>
                              <a:rPr lang="en-US" i="1">
                                <a:solidFill>
                                  <a:srgbClr val="000000"/>
                                </a:solidFill>
                                <a:latin typeface="Cambria Math" panose="02040503050406030204" pitchFamily="18" charset="0"/>
                                <a:ea typeface="Cambria Math" panose="02040503050406030204" pitchFamily="18" charset="0"/>
                              </a:rPr>
                            </m:ctrlPr>
                          </m:sSupPr>
                          <m:e>
                            <m:r>
                              <a:rPr lang="en-US" i="1">
                                <a:solidFill>
                                  <a:srgbClr val="000000"/>
                                </a:solidFill>
                                <a:latin typeface="Cambria Math" panose="02040503050406030204" pitchFamily="18" charset="0"/>
                                <a:ea typeface="Cambria Math" panose="02040503050406030204" pitchFamily="18" charset="0"/>
                              </a:rPr>
                              <m:t>𝜆</m:t>
                            </m:r>
                          </m:e>
                          <m:sup>
                            <m:r>
                              <a:rPr lang="en-US" i="1">
                                <a:solidFill>
                                  <a:srgbClr val="000000"/>
                                </a:solidFill>
                                <a:latin typeface="Cambria Math" panose="02040503050406030204" pitchFamily="18" charset="0"/>
                                <a:ea typeface="Cambria Math" panose="02040503050406030204" pitchFamily="18" charset="0"/>
                              </a:rPr>
                              <m:t>4</m:t>
                            </m:r>
                          </m:sup>
                        </m:sSup>
                      </m:den>
                    </m:f>
                  </m:oMath>
                </a14:m>
                <a:r>
                  <a:rPr lang="en-US" b="0" dirty="0">
                    <a:solidFill>
                      <a:srgbClr val="000000"/>
                    </a:solidFill>
                    <a:ea typeface="Cambria Math" panose="02040503050406030204" pitchFamily="18" charset="0"/>
                  </a:rPr>
                  <a:t>. </a:t>
                </a:r>
                <a14:m>
                  <m:oMath xmlns:m="http://schemas.openxmlformats.org/officeDocument/2006/math">
                    <m:r>
                      <a:rPr lang="en-US" b="0" i="1" smtClean="0">
                        <a:solidFill>
                          <a:srgbClr val="000000"/>
                        </a:solidFill>
                        <a:latin typeface="Cambria Math" panose="02040503050406030204" pitchFamily="18" charset="0"/>
                        <a:ea typeface="Cambria Math" panose="02040503050406030204" pitchFamily="18" charset="0"/>
                      </a:rPr>
                      <m:t>𝜈</m:t>
                    </m:r>
                    <m:r>
                      <a:rPr lang="en-US" b="0" i="1" smtClean="0">
                        <a:solidFill>
                          <a:srgbClr val="000000"/>
                        </a:solidFill>
                        <a:latin typeface="Cambria Math" panose="02040503050406030204" pitchFamily="18" charset="0"/>
                        <a:ea typeface="Cambria Math" panose="02040503050406030204" pitchFamily="18" charset="0"/>
                      </a:rPr>
                      <m:t>=</m:t>
                    </m:r>
                    <m:f>
                      <m:fPr>
                        <m:ctrlPr>
                          <a:rPr lang="en-US" b="0" i="1" smtClean="0">
                            <a:solidFill>
                              <a:srgbClr val="000000"/>
                            </a:solidFill>
                            <a:latin typeface="Cambria Math" panose="02040503050406030204" pitchFamily="18" charset="0"/>
                            <a:ea typeface="Cambria Math" panose="02040503050406030204" pitchFamily="18" charset="0"/>
                          </a:rPr>
                        </m:ctrlPr>
                      </m:fPr>
                      <m:num>
                        <m:r>
                          <a:rPr lang="en-US" b="0" i="1" smtClean="0">
                            <a:solidFill>
                              <a:srgbClr val="000000"/>
                            </a:solidFill>
                            <a:latin typeface="Cambria Math" panose="02040503050406030204" pitchFamily="18" charset="0"/>
                            <a:ea typeface="Cambria Math" panose="02040503050406030204" pitchFamily="18" charset="0"/>
                          </a:rPr>
                          <m:t>𝑐</m:t>
                        </m:r>
                      </m:num>
                      <m:den>
                        <m:r>
                          <a:rPr lang="en-US" b="0" i="1" smtClean="0">
                            <a:solidFill>
                              <a:srgbClr val="000000"/>
                            </a:solidFill>
                            <a:latin typeface="Cambria Math" panose="02040503050406030204" pitchFamily="18" charset="0"/>
                            <a:ea typeface="Cambria Math" panose="02040503050406030204" pitchFamily="18" charset="0"/>
                          </a:rPr>
                          <m:t>𝜆</m:t>
                        </m:r>
                      </m:den>
                    </m:f>
                  </m:oMath>
                </a14:m>
                <a:r>
                  <a:rPr lang="en-US" b="0" dirty="0">
                    <a:solidFill>
                      <a:srgbClr val="000000"/>
                    </a:solidFill>
                    <a:ea typeface="Cambria Math" panose="02040503050406030204" pitchFamily="18" charset="0"/>
                  </a:rPr>
                  <a:t>, so </a:t>
                </a:r>
                <a14:m>
                  <m:oMath xmlns:m="http://schemas.openxmlformats.org/officeDocument/2006/math">
                    <m:f>
                      <m:fPr>
                        <m:ctrlPr>
                          <a:rPr lang="en-US" b="0" i="1" smtClean="0">
                            <a:solidFill>
                              <a:srgbClr val="000000"/>
                            </a:solidFill>
                            <a:latin typeface="Cambria Math" panose="02040503050406030204" pitchFamily="18" charset="0"/>
                            <a:ea typeface="Cambria Math" panose="02040503050406030204" pitchFamily="18" charset="0"/>
                          </a:rPr>
                        </m:ctrlPr>
                      </m:fPr>
                      <m:num>
                        <m:r>
                          <a:rPr lang="en-US" b="0" i="1" smtClean="0">
                            <a:solidFill>
                              <a:srgbClr val="000000"/>
                            </a:solidFill>
                            <a:latin typeface="Cambria Math" panose="02040503050406030204" pitchFamily="18" charset="0"/>
                            <a:ea typeface="Cambria Math" panose="02040503050406030204" pitchFamily="18" charset="0"/>
                          </a:rPr>
                          <m:t>𝑑𝑢</m:t>
                        </m:r>
                      </m:num>
                      <m:den>
                        <m:r>
                          <a:rPr lang="en-US" b="0" i="1" smtClean="0">
                            <a:solidFill>
                              <a:srgbClr val="000000"/>
                            </a:solidFill>
                            <a:latin typeface="Cambria Math" panose="02040503050406030204" pitchFamily="18" charset="0"/>
                            <a:ea typeface="Cambria Math" panose="02040503050406030204" pitchFamily="18" charset="0"/>
                          </a:rPr>
                          <m:t>𝑑</m:t>
                        </m:r>
                        <m:r>
                          <a:rPr lang="en-US" b="0" i="1" smtClean="0">
                            <a:solidFill>
                              <a:srgbClr val="000000"/>
                            </a:solidFill>
                            <a:latin typeface="Cambria Math" panose="02040503050406030204" pitchFamily="18" charset="0"/>
                            <a:ea typeface="Cambria Math" panose="02040503050406030204" pitchFamily="18" charset="0"/>
                          </a:rPr>
                          <m:t>𝜈</m:t>
                        </m:r>
                      </m:den>
                    </m:f>
                    <m:r>
                      <a:rPr lang="en-US" b="0" i="1" smtClean="0">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ea typeface="Cambria Math" panose="02040503050406030204" pitchFamily="18" charset="0"/>
                          </a:rPr>
                        </m:ctrlPr>
                      </m:fPr>
                      <m:num>
                        <m:r>
                          <a:rPr lang="en-US" i="1">
                            <a:solidFill>
                              <a:srgbClr val="000000"/>
                            </a:solidFill>
                            <a:latin typeface="Cambria Math" panose="02040503050406030204" pitchFamily="18" charset="0"/>
                            <a:ea typeface="Cambria Math" panose="02040503050406030204" pitchFamily="18" charset="0"/>
                          </a:rPr>
                          <m:t>𝑑𝑢</m:t>
                        </m:r>
                      </m:num>
                      <m:den>
                        <m:r>
                          <a:rPr lang="en-US" i="1">
                            <a:solidFill>
                              <a:srgbClr val="000000"/>
                            </a:solidFill>
                            <a:latin typeface="Cambria Math" panose="02040503050406030204" pitchFamily="18" charset="0"/>
                            <a:ea typeface="Cambria Math" panose="02040503050406030204" pitchFamily="18" charset="0"/>
                          </a:rPr>
                          <m:t>𝑑</m:t>
                        </m:r>
                        <m:r>
                          <a:rPr lang="en-US" i="1">
                            <a:solidFill>
                              <a:srgbClr val="000000"/>
                            </a:solidFill>
                            <a:latin typeface="Cambria Math" panose="02040503050406030204" pitchFamily="18" charset="0"/>
                            <a:ea typeface="Cambria Math" panose="02040503050406030204" pitchFamily="18" charset="0"/>
                          </a:rPr>
                          <m:t>𝜆</m:t>
                        </m:r>
                      </m:den>
                    </m:f>
                    <m:f>
                      <m:fPr>
                        <m:ctrlPr>
                          <a:rPr lang="en-US" i="1">
                            <a:solidFill>
                              <a:srgbClr val="000000"/>
                            </a:solidFill>
                            <a:latin typeface="Cambria Math" panose="02040503050406030204" pitchFamily="18" charset="0"/>
                            <a:ea typeface="Cambria Math" panose="02040503050406030204" pitchFamily="18" charset="0"/>
                          </a:rPr>
                        </m:ctrlPr>
                      </m:fPr>
                      <m:num>
                        <m:r>
                          <a:rPr lang="en-US" i="1">
                            <a:solidFill>
                              <a:srgbClr val="000000"/>
                            </a:solidFill>
                            <a:latin typeface="Cambria Math" panose="02040503050406030204" pitchFamily="18" charset="0"/>
                            <a:ea typeface="Cambria Math" panose="02040503050406030204" pitchFamily="18" charset="0"/>
                          </a:rPr>
                          <m:t>𝑑</m:t>
                        </m:r>
                        <m:r>
                          <a:rPr lang="en-US" i="1" smtClean="0">
                            <a:solidFill>
                              <a:srgbClr val="000000"/>
                            </a:solidFill>
                            <a:latin typeface="Cambria Math" panose="02040503050406030204" pitchFamily="18" charset="0"/>
                            <a:ea typeface="Cambria Math" panose="02040503050406030204" pitchFamily="18" charset="0"/>
                          </a:rPr>
                          <m:t>𝜆</m:t>
                        </m:r>
                      </m:num>
                      <m:den>
                        <m:r>
                          <a:rPr lang="en-US" i="1">
                            <a:solidFill>
                              <a:srgbClr val="000000"/>
                            </a:solidFill>
                            <a:latin typeface="Cambria Math" panose="02040503050406030204" pitchFamily="18" charset="0"/>
                            <a:ea typeface="Cambria Math" panose="02040503050406030204" pitchFamily="18" charset="0"/>
                          </a:rPr>
                          <m:t>𝑑</m:t>
                        </m:r>
                        <m:r>
                          <a:rPr lang="en-US" i="1" smtClean="0">
                            <a:solidFill>
                              <a:srgbClr val="000000"/>
                            </a:solidFill>
                            <a:latin typeface="Cambria Math" panose="02040503050406030204" pitchFamily="18" charset="0"/>
                            <a:ea typeface="Cambria Math" panose="02040503050406030204" pitchFamily="18" charset="0"/>
                          </a:rPr>
                          <m:t>𝜈</m:t>
                        </m:r>
                      </m:den>
                    </m:f>
                    <m:r>
                      <a:rPr lang="en-US" b="0" i="1" smtClean="0">
                        <a:solidFill>
                          <a:srgbClr val="000000"/>
                        </a:solidFill>
                        <a:latin typeface="Cambria Math" panose="02040503050406030204" pitchFamily="18" charset="0"/>
                        <a:ea typeface="Cambria Math" panose="02040503050406030204" pitchFamily="18" charset="0"/>
                      </a:rPr>
                      <m:t>=</m:t>
                    </m:r>
                    <m:r>
                      <a:rPr lang="en-US" i="1">
                        <a:solidFill>
                          <a:srgbClr val="000000"/>
                        </a:solidFill>
                        <a:latin typeface="Cambria Math" panose="02040503050406030204" pitchFamily="18" charset="0"/>
                      </a:rPr>
                      <m:t>8</m:t>
                    </m:r>
                    <m:r>
                      <a:rPr lang="en-US" i="1">
                        <a:solidFill>
                          <a:srgbClr val="000000"/>
                        </a:solidFill>
                        <a:latin typeface="Cambria Math" panose="02040503050406030204" pitchFamily="18" charset="0"/>
                        <a:ea typeface="Cambria Math" panose="02040503050406030204" pitchFamily="18" charset="0"/>
                      </a:rPr>
                      <m:t>𝜋</m:t>
                    </m:r>
                    <m:f>
                      <m:fPr>
                        <m:ctrlPr>
                          <a:rPr lang="en-US" i="1">
                            <a:solidFill>
                              <a:srgbClr val="000000"/>
                            </a:solidFill>
                            <a:latin typeface="Cambria Math" panose="02040503050406030204" pitchFamily="18" charset="0"/>
                            <a:ea typeface="Cambria Math" panose="02040503050406030204" pitchFamily="18" charset="0"/>
                          </a:rPr>
                        </m:ctrlPr>
                      </m:fPr>
                      <m:num>
                        <m:r>
                          <a:rPr lang="en-US" i="1">
                            <a:solidFill>
                              <a:srgbClr val="000000"/>
                            </a:solidFill>
                            <a:latin typeface="Cambria Math" panose="02040503050406030204" pitchFamily="18" charset="0"/>
                            <a:ea typeface="Cambria Math" panose="02040503050406030204" pitchFamily="18" charset="0"/>
                          </a:rPr>
                          <m:t>𝑘𝑇</m:t>
                        </m:r>
                      </m:num>
                      <m:den>
                        <m:sSup>
                          <m:sSupPr>
                            <m:ctrlPr>
                              <a:rPr lang="en-US" i="1">
                                <a:solidFill>
                                  <a:srgbClr val="000000"/>
                                </a:solidFill>
                                <a:latin typeface="Cambria Math" panose="02040503050406030204" pitchFamily="18" charset="0"/>
                                <a:ea typeface="Cambria Math" panose="02040503050406030204" pitchFamily="18" charset="0"/>
                              </a:rPr>
                            </m:ctrlPr>
                          </m:sSupPr>
                          <m:e>
                            <m:r>
                              <a:rPr lang="en-US" i="1">
                                <a:solidFill>
                                  <a:srgbClr val="000000"/>
                                </a:solidFill>
                                <a:latin typeface="Cambria Math" panose="02040503050406030204" pitchFamily="18" charset="0"/>
                                <a:ea typeface="Cambria Math" panose="02040503050406030204" pitchFamily="18" charset="0"/>
                              </a:rPr>
                              <m:t>𝜆</m:t>
                            </m:r>
                          </m:e>
                          <m:sup>
                            <m:r>
                              <a:rPr lang="en-US" i="1">
                                <a:solidFill>
                                  <a:srgbClr val="000000"/>
                                </a:solidFill>
                                <a:latin typeface="Cambria Math" panose="02040503050406030204" pitchFamily="18" charset="0"/>
                                <a:ea typeface="Cambria Math" panose="02040503050406030204" pitchFamily="18" charset="0"/>
                              </a:rPr>
                              <m:t>4</m:t>
                            </m:r>
                          </m:sup>
                        </m:sSup>
                      </m:den>
                    </m:f>
                    <m:d>
                      <m:dPr>
                        <m:ctrlPr>
                          <a:rPr lang="en-US" b="0" i="1" smtClean="0">
                            <a:solidFill>
                              <a:srgbClr val="000000"/>
                            </a:solidFill>
                            <a:latin typeface="Cambria Math" panose="02040503050406030204" pitchFamily="18" charset="0"/>
                            <a:ea typeface="Cambria Math" panose="02040503050406030204" pitchFamily="18" charset="0"/>
                          </a:rPr>
                        </m:ctrlPr>
                      </m:dPr>
                      <m:e>
                        <m:r>
                          <a:rPr lang="en-US" b="0" i="1" smtClean="0">
                            <a:solidFill>
                              <a:srgbClr val="000000"/>
                            </a:solidFill>
                            <a:latin typeface="Cambria Math" panose="02040503050406030204" pitchFamily="18" charset="0"/>
                            <a:ea typeface="Cambria Math" panose="02040503050406030204" pitchFamily="18" charset="0"/>
                          </a:rPr>
                          <m:t>−</m:t>
                        </m:r>
                        <m:f>
                          <m:fPr>
                            <m:ctrlPr>
                              <a:rPr lang="en-US" b="0" i="1" smtClean="0">
                                <a:solidFill>
                                  <a:srgbClr val="000000"/>
                                </a:solidFill>
                                <a:latin typeface="Cambria Math" panose="02040503050406030204" pitchFamily="18" charset="0"/>
                                <a:ea typeface="Cambria Math" panose="02040503050406030204" pitchFamily="18" charset="0"/>
                              </a:rPr>
                            </m:ctrlPr>
                          </m:fPr>
                          <m:num>
                            <m:r>
                              <a:rPr lang="en-US" b="0" i="1" smtClean="0">
                                <a:solidFill>
                                  <a:srgbClr val="000000"/>
                                </a:solidFill>
                                <a:latin typeface="Cambria Math" panose="02040503050406030204" pitchFamily="18" charset="0"/>
                                <a:ea typeface="Cambria Math" panose="02040503050406030204" pitchFamily="18" charset="0"/>
                              </a:rPr>
                              <m:t>𝑐</m:t>
                            </m:r>
                          </m:num>
                          <m:den>
                            <m:sSup>
                              <m:sSupPr>
                                <m:ctrlPr>
                                  <a:rPr lang="en-US" b="0" i="1" smtClean="0">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𝜈</m:t>
                                </m:r>
                              </m:e>
                              <m:sup>
                                <m:r>
                                  <a:rPr lang="en-US" b="0" i="1" smtClean="0">
                                    <a:solidFill>
                                      <a:srgbClr val="000000"/>
                                    </a:solidFill>
                                    <a:latin typeface="Cambria Math" panose="02040503050406030204" pitchFamily="18" charset="0"/>
                                    <a:ea typeface="Cambria Math" panose="02040503050406030204" pitchFamily="18" charset="0"/>
                                  </a:rPr>
                                  <m:t>2</m:t>
                                </m:r>
                              </m:sup>
                            </m:sSup>
                          </m:den>
                        </m:f>
                      </m:e>
                    </m:d>
                    <m:r>
                      <a:rPr lang="en-US" b="0" i="1" smtClean="0">
                        <a:solidFill>
                          <a:srgbClr val="000000"/>
                        </a:solidFill>
                        <a:latin typeface="Cambria Math" panose="02040503050406030204" pitchFamily="18" charset="0"/>
                        <a:ea typeface="Cambria Math" panose="02040503050406030204" pitchFamily="18" charset="0"/>
                      </a:rPr>
                      <m:t>=</m:t>
                    </m:r>
                    <m:r>
                      <a:rPr lang="en-US" b="0" i="1" smtClean="0">
                        <a:solidFill>
                          <a:srgbClr val="000000"/>
                        </a:solidFill>
                        <a:latin typeface="Cambria Math" panose="02040503050406030204" pitchFamily="18" charset="0"/>
                        <a:ea typeface="Cambria Math" panose="02040503050406030204" pitchFamily="18" charset="0"/>
                      </a:rPr>
                      <m:t>𝑘𝑇</m:t>
                    </m:r>
                    <m:f>
                      <m:fPr>
                        <m:ctrlPr>
                          <a:rPr lang="en-US" b="0" i="1" smtClean="0">
                            <a:solidFill>
                              <a:srgbClr val="000000"/>
                            </a:solidFill>
                            <a:latin typeface="Cambria Math" panose="02040503050406030204" pitchFamily="18" charset="0"/>
                            <a:ea typeface="Cambria Math" panose="02040503050406030204" pitchFamily="18" charset="0"/>
                          </a:rPr>
                        </m:ctrlPr>
                      </m:fPr>
                      <m:num>
                        <m:r>
                          <a:rPr lang="en-US" b="0" i="1" smtClean="0">
                            <a:solidFill>
                              <a:srgbClr val="000000"/>
                            </a:solidFill>
                            <a:latin typeface="Cambria Math" panose="02040503050406030204" pitchFamily="18" charset="0"/>
                            <a:ea typeface="Cambria Math" panose="02040503050406030204" pitchFamily="18" charset="0"/>
                          </a:rPr>
                          <m:t>8</m:t>
                        </m:r>
                        <m:r>
                          <a:rPr lang="en-US" b="0" i="1" smtClean="0">
                            <a:solidFill>
                              <a:srgbClr val="000000"/>
                            </a:solidFill>
                            <a:latin typeface="Cambria Math" panose="02040503050406030204" pitchFamily="18" charset="0"/>
                            <a:ea typeface="Cambria Math" panose="02040503050406030204" pitchFamily="18" charset="0"/>
                          </a:rPr>
                          <m:t>𝜋</m:t>
                        </m:r>
                        <m:sSup>
                          <m:sSupPr>
                            <m:ctrlPr>
                              <a:rPr lang="en-US" b="0" i="1" smtClean="0">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𝜈</m:t>
                            </m:r>
                          </m:e>
                          <m:sup>
                            <m:r>
                              <a:rPr lang="en-US" b="0" i="1" smtClean="0">
                                <a:solidFill>
                                  <a:srgbClr val="000000"/>
                                </a:solidFill>
                                <a:latin typeface="Cambria Math" panose="02040503050406030204" pitchFamily="18" charset="0"/>
                                <a:ea typeface="Cambria Math" panose="02040503050406030204" pitchFamily="18" charset="0"/>
                              </a:rPr>
                              <m:t>2</m:t>
                            </m:r>
                          </m:sup>
                        </m:sSup>
                      </m:num>
                      <m:den>
                        <m:sSup>
                          <m:sSupPr>
                            <m:ctrlPr>
                              <a:rPr lang="en-US" b="0" i="1" smtClean="0">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𝑐</m:t>
                            </m:r>
                          </m:e>
                          <m:sup>
                            <m:r>
                              <a:rPr lang="en-US" b="0" i="1" smtClean="0">
                                <a:solidFill>
                                  <a:srgbClr val="000000"/>
                                </a:solidFill>
                                <a:latin typeface="Cambria Math" panose="02040503050406030204" pitchFamily="18" charset="0"/>
                                <a:ea typeface="Cambria Math" panose="02040503050406030204" pitchFamily="18" charset="0"/>
                              </a:rPr>
                              <m:t>3</m:t>
                            </m:r>
                          </m:sup>
                        </m:sSup>
                      </m:den>
                    </m:f>
                  </m:oMath>
                </a14:m>
                <a:r>
                  <a:rPr lang="en-US" b="0" dirty="0">
                    <a:solidFill>
                      <a:srgbClr val="000000"/>
                    </a:solidFill>
                    <a:ea typeface="Cambria Math" panose="02040503050406030204" pitchFamily="18" charset="0"/>
                  </a:rPr>
                  <a:t>.</a:t>
                </a:r>
              </a:p>
              <a:p>
                <a:pPr marL="285750" indent="-285750" latinLnBrk="1" hangingPunct="0">
                  <a:buFont typeface="Arial" panose="020B0604020202020204" pitchFamily="34" charset="0"/>
                  <a:buChar char="•"/>
                </a:pPr>
                <a:r>
                  <a:rPr lang="en-US" dirty="0">
                    <a:solidFill>
                      <a:srgbClr val="000000"/>
                    </a:solidFill>
                  </a:rPr>
                  <a:t> Perpendicularly radiated power is </a:t>
                </a:r>
                <a14:m>
                  <m:oMath xmlns:m="http://schemas.openxmlformats.org/officeDocument/2006/math">
                    <m:f>
                      <m:fPr>
                        <m:ctrlPr>
                          <a:rPr lang="en-US" b="0"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1</m:t>
                        </m:r>
                      </m:num>
                      <m:den>
                        <m:r>
                          <a:rPr lang="en-US" b="0" i="1" smtClean="0">
                            <a:solidFill>
                              <a:srgbClr val="000000"/>
                            </a:solidFill>
                            <a:latin typeface="Cambria Math" panose="02040503050406030204" pitchFamily="18" charset="0"/>
                          </a:rPr>
                          <m:t>2</m:t>
                        </m:r>
                      </m:den>
                    </m:f>
                    <m:r>
                      <a:rPr lang="en-US" b="0" i="1" smtClean="0">
                        <a:solidFill>
                          <a:srgbClr val="000000"/>
                        </a:solidFill>
                        <a:latin typeface="Cambria Math" panose="02040503050406030204" pitchFamily="18" charset="0"/>
                      </a:rPr>
                      <m:t> (</m:t>
                    </m:r>
                    <m:f>
                      <m:fPr>
                        <m:ctrlPr>
                          <a:rPr lang="en-US" b="0"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𝑒𝑛𝑒𝑟𝑔𝑦</m:t>
                        </m:r>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𝑑𝑒𝑛𝑠𝑖𝑡𝑦</m:t>
                        </m:r>
                      </m:num>
                      <m:den>
                        <m:r>
                          <a:rPr lang="en-US" b="0" i="1" smtClean="0">
                            <a:solidFill>
                              <a:srgbClr val="000000"/>
                            </a:solidFill>
                            <a:latin typeface="Cambria Math" panose="02040503050406030204" pitchFamily="18" charset="0"/>
                          </a:rPr>
                          <m:t>𝑙𝑎𝑚𝑏𝑑𝑎</m:t>
                        </m:r>
                      </m:den>
                    </m:f>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ea typeface="Cambria Math" panose="02040503050406030204" pitchFamily="18" charset="0"/>
                      </a:rPr>
                      <m:t>×</m:t>
                    </m:r>
                    <m:f>
                      <m:fPr>
                        <m:ctrlPr>
                          <a:rPr lang="en-US" b="0" i="1" smtClean="0">
                            <a:solidFill>
                              <a:srgbClr val="000000"/>
                            </a:solidFill>
                            <a:latin typeface="Cambria Math" panose="02040503050406030204" pitchFamily="18" charset="0"/>
                            <a:ea typeface="Cambria Math" panose="02040503050406030204" pitchFamily="18" charset="0"/>
                          </a:rPr>
                        </m:ctrlPr>
                      </m:fPr>
                      <m:num>
                        <m:r>
                          <a:rPr lang="en-US" b="0" i="1" smtClean="0">
                            <a:solidFill>
                              <a:srgbClr val="000000"/>
                            </a:solidFill>
                            <a:latin typeface="Cambria Math" panose="02040503050406030204" pitchFamily="18" charset="0"/>
                            <a:ea typeface="Cambria Math" panose="02040503050406030204" pitchFamily="18" charset="0"/>
                          </a:rPr>
                          <m:t>𝑉𝑜𝑙</m:t>
                        </m:r>
                      </m:num>
                      <m:den>
                        <m:r>
                          <a:rPr lang="en-US" b="0" i="1" smtClean="0">
                            <a:solidFill>
                              <a:srgbClr val="000000"/>
                            </a:solidFill>
                            <a:latin typeface="Cambria Math" panose="02040503050406030204" pitchFamily="18" charset="0"/>
                            <a:ea typeface="Cambria Math" panose="02040503050406030204" pitchFamily="18" charset="0"/>
                          </a:rPr>
                          <m:t>𝑡𝑖𝑚𝑒</m:t>
                        </m:r>
                      </m:den>
                    </m:f>
                  </m:oMath>
                </a14:m>
                <a:r>
                  <a:rPr lang="en-US" dirty="0">
                    <a:solidFill>
                      <a:srgbClr val="000000"/>
                    </a:solidFill>
                  </a:rPr>
                  <a:t> or </a:t>
                </a:r>
                <a14:m>
                  <m:oMath xmlns:m="http://schemas.openxmlformats.org/officeDocument/2006/math">
                    <m:r>
                      <a:rPr lang="en-US" b="0" i="1" smtClean="0">
                        <a:solidFill>
                          <a:srgbClr val="000000"/>
                        </a:solidFill>
                        <a:latin typeface="Cambria Math" panose="02040503050406030204" pitchFamily="18" charset="0"/>
                      </a:rPr>
                      <m:t>𝑅</m:t>
                    </m:r>
                    <m:r>
                      <a:rPr lang="en-US" b="0" i="1" smtClean="0">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r>
                          <a:rPr lang="en-US" i="1">
                            <a:solidFill>
                              <a:srgbClr val="000000"/>
                            </a:solidFill>
                            <a:latin typeface="Cambria Math" panose="02040503050406030204" pitchFamily="18" charset="0"/>
                          </a:rPr>
                          <m:t>2</m:t>
                        </m:r>
                      </m:den>
                    </m:f>
                    <m:f>
                      <m:fPr>
                        <m:ctrlPr>
                          <a:rPr lang="en-US" i="1">
                            <a:solidFill>
                              <a:srgbClr val="000000"/>
                            </a:solidFill>
                            <a:latin typeface="Cambria Math" panose="02040503050406030204" pitchFamily="18" charset="0"/>
                            <a:ea typeface="Cambria Math" panose="02040503050406030204" pitchFamily="18" charset="0"/>
                          </a:rPr>
                        </m:ctrlPr>
                      </m:fPr>
                      <m:num>
                        <m:r>
                          <a:rPr lang="en-US" i="1">
                            <a:solidFill>
                              <a:srgbClr val="000000"/>
                            </a:solidFill>
                            <a:latin typeface="Cambria Math" panose="02040503050406030204" pitchFamily="18" charset="0"/>
                            <a:ea typeface="Cambria Math" panose="02040503050406030204" pitchFamily="18" charset="0"/>
                          </a:rPr>
                          <m:t>𝑑𝑢</m:t>
                        </m:r>
                      </m:num>
                      <m:den>
                        <m:r>
                          <a:rPr lang="en-US" i="1">
                            <a:solidFill>
                              <a:srgbClr val="000000"/>
                            </a:solidFill>
                            <a:latin typeface="Cambria Math" panose="02040503050406030204" pitchFamily="18" charset="0"/>
                            <a:ea typeface="Cambria Math" panose="02040503050406030204" pitchFamily="18" charset="0"/>
                          </a:rPr>
                          <m:t>𝑑</m:t>
                        </m:r>
                        <m:r>
                          <a:rPr lang="en-US" i="1">
                            <a:solidFill>
                              <a:srgbClr val="000000"/>
                            </a:solidFill>
                            <a:latin typeface="Cambria Math" panose="02040503050406030204" pitchFamily="18" charset="0"/>
                            <a:ea typeface="Cambria Math" panose="02040503050406030204" pitchFamily="18" charset="0"/>
                          </a:rPr>
                          <m:t>𝜆</m:t>
                        </m:r>
                      </m:den>
                    </m:f>
                    <m:f>
                      <m:fPr>
                        <m:ctrlPr>
                          <a:rPr lang="en-US" b="0" i="1" smtClean="0">
                            <a:solidFill>
                              <a:srgbClr val="000000"/>
                            </a:solidFill>
                            <a:latin typeface="Cambria Math" panose="02040503050406030204" pitchFamily="18" charset="0"/>
                            <a:ea typeface="Cambria Math" panose="02040503050406030204" pitchFamily="18" charset="0"/>
                          </a:rPr>
                        </m:ctrlPr>
                      </m:fPr>
                      <m:num>
                        <m:r>
                          <a:rPr lang="en-US" b="0" i="1" smtClean="0">
                            <a:solidFill>
                              <a:srgbClr val="000000"/>
                            </a:solidFill>
                            <a:latin typeface="Cambria Math" panose="02040503050406030204" pitchFamily="18" charset="0"/>
                            <a:ea typeface="Cambria Math" panose="02040503050406030204" pitchFamily="18" charset="0"/>
                          </a:rPr>
                          <m:t>𝐴𝑥</m:t>
                        </m:r>
                      </m:num>
                      <m:den>
                        <m:r>
                          <a:rPr lang="en-US" b="0" i="1" smtClean="0">
                            <a:solidFill>
                              <a:srgbClr val="000000"/>
                            </a:solidFill>
                            <a:latin typeface="Cambria Math" panose="02040503050406030204" pitchFamily="18" charset="0"/>
                            <a:ea typeface="Cambria Math" panose="02040503050406030204" pitchFamily="18" charset="0"/>
                          </a:rPr>
                          <m:t>𝑡</m:t>
                        </m:r>
                      </m:den>
                    </m:f>
                    <m:r>
                      <a:rPr lang="en-US" i="1" smtClean="0">
                        <a:solidFill>
                          <a:srgbClr val="000000"/>
                        </a:solidFill>
                        <a:latin typeface="Cambria Math" panose="02040503050406030204" pitchFamily="18" charset="0"/>
                        <a:ea typeface="Cambria Math" panose="02040503050406030204" pitchFamily="18" charset="0"/>
                      </a:rPr>
                      <m:t>&lt;</m:t>
                    </m:r>
                    <m:sSup>
                      <m:sSupPr>
                        <m:ctrlPr>
                          <a:rPr lang="en-US" b="0" i="1" smtClean="0">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𝑐𝑜𝑠</m:t>
                        </m:r>
                      </m:e>
                      <m:sup>
                        <m:r>
                          <a:rPr lang="en-US" b="0" i="1" smtClean="0">
                            <a:solidFill>
                              <a:srgbClr val="000000"/>
                            </a:solidFill>
                            <a:latin typeface="Cambria Math" panose="02040503050406030204" pitchFamily="18" charset="0"/>
                            <a:ea typeface="Cambria Math" panose="02040503050406030204" pitchFamily="18" charset="0"/>
                          </a:rPr>
                          <m:t>2</m:t>
                        </m:r>
                      </m:sup>
                    </m:sSup>
                    <m:d>
                      <m:dPr>
                        <m:ctrlPr>
                          <a:rPr lang="en-US" b="0" i="1" smtClean="0">
                            <a:solidFill>
                              <a:srgbClr val="000000"/>
                            </a:solidFill>
                            <a:latin typeface="Cambria Math" panose="02040503050406030204" pitchFamily="18" charset="0"/>
                            <a:ea typeface="Cambria Math" panose="02040503050406030204" pitchFamily="18" charset="0"/>
                          </a:rPr>
                        </m:ctrlPr>
                      </m:dPr>
                      <m:e>
                        <m:r>
                          <a:rPr lang="en-US" b="0" i="1" smtClean="0">
                            <a:solidFill>
                              <a:srgbClr val="000000"/>
                            </a:solidFill>
                            <a:latin typeface="Cambria Math" panose="02040503050406030204" pitchFamily="18" charset="0"/>
                            <a:ea typeface="Cambria Math" panose="02040503050406030204" pitchFamily="18" charset="0"/>
                          </a:rPr>
                          <m:t>𝜃</m:t>
                        </m:r>
                      </m:e>
                    </m:d>
                    <m:r>
                      <a:rPr lang="en-US" i="1" smtClean="0">
                        <a:solidFill>
                          <a:srgbClr val="000000"/>
                        </a:solidFill>
                        <a:latin typeface="Cambria Math" panose="02040503050406030204" pitchFamily="18" charset="0"/>
                        <a:ea typeface="Cambria Math" panose="02040503050406030204" pitchFamily="18" charset="0"/>
                      </a:rPr>
                      <m:t>&gt;</m:t>
                    </m:r>
                  </m:oMath>
                </a14:m>
                <a:r>
                  <a:rPr lang="en-US" dirty="0">
                    <a:solidFill>
                      <a:srgbClr val="000000"/>
                    </a:solidFill>
                  </a:rPr>
                  <a:t>.  </a:t>
                </a:r>
              </a:p>
              <a:p>
                <a:pPr marL="285750" indent="-285750" latinLnBrk="1" hangingPunct="0">
                  <a:buFont typeface="Arial" panose="020B0604020202020204" pitchFamily="34" charset="0"/>
                  <a:buChar char="•"/>
                </a:pPr>
                <a:r>
                  <a:rPr lang="en-US" dirty="0">
                    <a:solidFill>
                      <a:srgbClr val="000000"/>
                    </a:solidFill>
                  </a:rPr>
                  <a:t>Factor of </a:t>
                </a:r>
                <a14:m>
                  <m:oMath xmlns:m="http://schemas.openxmlformats.org/officeDocument/2006/math">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r>
                          <a:rPr lang="en-US" i="1">
                            <a:solidFill>
                              <a:srgbClr val="000000"/>
                            </a:solidFill>
                            <a:latin typeface="Cambria Math" panose="02040503050406030204" pitchFamily="18" charset="0"/>
                          </a:rPr>
                          <m:t>2</m:t>
                        </m:r>
                      </m:den>
                    </m:f>
                  </m:oMath>
                </a14:m>
                <a:r>
                  <a:rPr lang="en-US" dirty="0">
                    <a:solidFill>
                      <a:srgbClr val="000000"/>
                    </a:solidFill>
                  </a:rPr>
                  <a:t> comes from half rad towards wall and half away </a:t>
                </a:r>
              </a:p>
              <a:p>
                <a:pPr marL="285750" indent="-285750" latinLnBrk="1" hangingPunct="0">
                  <a:buFont typeface="Arial" panose="020B0604020202020204" pitchFamily="34" charset="0"/>
                  <a:buChar char="•"/>
                </a:pPr>
                <a:r>
                  <a:rPr lang="en-US" dirty="0">
                    <a:solidFill>
                      <a:srgbClr val="000000"/>
                    </a:solidFill>
                  </a:rPr>
                  <a:t>Now </a:t>
                </a:r>
                <a14:m>
                  <m:oMath xmlns:m="http://schemas.openxmlformats.org/officeDocument/2006/math">
                    <m:r>
                      <a:rPr lang="en-US" b="0" i="1" smtClean="0">
                        <a:solidFill>
                          <a:srgbClr val="000000"/>
                        </a:solidFill>
                        <a:latin typeface="Cambria Math" panose="02040503050406030204" pitchFamily="18" charset="0"/>
                      </a:rPr>
                      <m:t>𝑥</m:t>
                    </m:r>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𝑐𝑡</m:t>
                    </m:r>
                  </m:oMath>
                </a14:m>
                <a:r>
                  <a:rPr lang="en-US" dirty="0">
                    <a:solidFill>
                      <a:srgbClr val="000000"/>
                    </a:solidFill>
                  </a:rPr>
                  <a:t>, so  </a:t>
                </a:r>
                <a14:m>
                  <m:oMath xmlns:m="http://schemas.openxmlformats.org/officeDocument/2006/math">
                    <m:r>
                      <a:rPr lang="en-US" i="1">
                        <a:solidFill>
                          <a:srgbClr val="000000"/>
                        </a:solidFill>
                        <a:latin typeface="Cambria Math" panose="02040503050406030204" pitchFamily="18" charset="0"/>
                      </a:rPr>
                      <m:t>𝑅</m:t>
                    </m:r>
                    <m:r>
                      <a:rPr lang="en-US" i="1">
                        <a:solidFill>
                          <a:srgbClr val="000000"/>
                        </a:solidFill>
                        <a:latin typeface="Cambria Math" panose="02040503050406030204" pitchFamily="18" charset="0"/>
                      </a:rPr>
                      <m:t>=</m:t>
                    </m:r>
                    <m:f>
                      <m:fPr>
                        <m:ctrlPr>
                          <a:rPr lang="en-US" b="0"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𝐴𝑐</m:t>
                        </m:r>
                      </m:num>
                      <m:den>
                        <m:r>
                          <a:rPr lang="en-US" i="1">
                            <a:solidFill>
                              <a:srgbClr val="000000"/>
                            </a:solidFill>
                            <a:latin typeface="Cambria Math" panose="02040503050406030204" pitchFamily="18" charset="0"/>
                          </a:rPr>
                          <m:t>2</m:t>
                        </m:r>
                      </m:den>
                    </m:f>
                    <m:f>
                      <m:fPr>
                        <m:ctrlPr>
                          <a:rPr lang="en-US" i="1">
                            <a:solidFill>
                              <a:srgbClr val="000000"/>
                            </a:solidFill>
                            <a:latin typeface="Cambria Math" panose="02040503050406030204" pitchFamily="18" charset="0"/>
                            <a:ea typeface="Cambria Math" panose="02040503050406030204" pitchFamily="18" charset="0"/>
                          </a:rPr>
                        </m:ctrlPr>
                      </m:fPr>
                      <m:num>
                        <m:r>
                          <a:rPr lang="en-US" i="1">
                            <a:solidFill>
                              <a:srgbClr val="000000"/>
                            </a:solidFill>
                            <a:latin typeface="Cambria Math" panose="02040503050406030204" pitchFamily="18" charset="0"/>
                            <a:ea typeface="Cambria Math" panose="02040503050406030204" pitchFamily="18" charset="0"/>
                          </a:rPr>
                          <m:t>𝑑𝑢</m:t>
                        </m:r>
                      </m:num>
                      <m:den>
                        <m:r>
                          <a:rPr lang="en-US" i="1">
                            <a:solidFill>
                              <a:srgbClr val="000000"/>
                            </a:solidFill>
                            <a:latin typeface="Cambria Math" panose="02040503050406030204" pitchFamily="18" charset="0"/>
                            <a:ea typeface="Cambria Math" panose="02040503050406030204" pitchFamily="18" charset="0"/>
                          </a:rPr>
                          <m:t>𝑑</m:t>
                        </m:r>
                        <m:r>
                          <a:rPr lang="en-US" i="1">
                            <a:solidFill>
                              <a:srgbClr val="000000"/>
                            </a:solidFill>
                            <a:latin typeface="Cambria Math" panose="02040503050406030204" pitchFamily="18" charset="0"/>
                            <a:ea typeface="Cambria Math" panose="02040503050406030204" pitchFamily="18" charset="0"/>
                          </a:rPr>
                          <m:t>𝜆</m:t>
                        </m:r>
                      </m:den>
                    </m:f>
                    <m:r>
                      <a:rPr lang="en-US" i="1">
                        <a:solidFill>
                          <a:srgbClr val="000000"/>
                        </a:solidFill>
                        <a:latin typeface="Cambria Math" panose="02040503050406030204" pitchFamily="18" charset="0"/>
                        <a:ea typeface="Cambria Math" panose="02040503050406030204" pitchFamily="18" charset="0"/>
                      </a:rPr>
                      <m:t>&lt;</m:t>
                    </m:r>
                    <m:sSup>
                      <m:sSupPr>
                        <m:ctrlPr>
                          <a:rPr lang="en-US" i="1">
                            <a:solidFill>
                              <a:srgbClr val="000000"/>
                            </a:solidFill>
                            <a:latin typeface="Cambria Math" panose="02040503050406030204" pitchFamily="18" charset="0"/>
                            <a:ea typeface="Cambria Math" panose="02040503050406030204" pitchFamily="18" charset="0"/>
                          </a:rPr>
                        </m:ctrlPr>
                      </m:sSupPr>
                      <m:e>
                        <m:r>
                          <a:rPr lang="en-US" i="1">
                            <a:solidFill>
                              <a:srgbClr val="000000"/>
                            </a:solidFill>
                            <a:latin typeface="Cambria Math" panose="02040503050406030204" pitchFamily="18" charset="0"/>
                            <a:ea typeface="Cambria Math" panose="02040503050406030204" pitchFamily="18" charset="0"/>
                          </a:rPr>
                          <m:t>𝑐𝑜𝑠</m:t>
                        </m:r>
                      </m:e>
                      <m:sup>
                        <m:r>
                          <a:rPr lang="en-US" i="1">
                            <a:solidFill>
                              <a:srgbClr val="000000"/>
                            </a:solidFill>
                            <a:latin typeface="Cambria Math" panose="02040503050406030204" pitchFamily="18" charset="0"/>
                            <a:ea typeface="Cambria Math" panose="02040503050406030204" pitchFamily="18" charset="0"/>
                          </a:rPr>
                          <m:t>2</m:t>
                        </m:r>
                      </m:sup>
                    </m:sSup>
                    <m:d>
                      <m:dPr>
                        <m:ctrlPr>
                          <a:rPr lang="en-US" i="1">
                            <a:solidFill>
                              <a:srgbClr val="000000"/>
                            </a:solidFill>
                            <a:latin typeface="Cambria Math" panose="02040503050406030204" pitchFamily="18" charset="0"/>
                            <a:ea typeface="Cambria Math" panose="02040503050406030204" pitchFamily="18" charset="0"/>
                          </a:rPr>
                        </m:ctrlPr>
                      </m:dPr>
                      <m:e>
                        <m:r>
                          <a:rPr lang="en-US" i="1">
                            <a:solidFill>
                              <a:srgbClr val="000000"/>
                            </a:solidFill>
                            <a:latin typeface="Cambria Math" panose="02040503050406030204" pitchFamily="18" charset="0"/>
                            <a:ea typeface="Cambria Math" panose="02040503050406030204" pitchFamily="18" charset="0"/>
                          </a:rPr>
                          <m:t>𝜃</m:t>
                        </m:r>
                      </m:e>
                    </m:d>
                    <m:r>
                      <m:rPr>
                        <m:nor/>
                      </m:rPr>
                      <a:rPr lang="en-US" b="0" i="0" smtClean="0">
                        <a:solidFill>
                          <a:srgbClr val="000000"/>
                        </a:solidFill>
                        <a:latin typeface="Cambria Math" panose="02040503050406030204" pitchFamily="18" charset="0"/>
                        <a:ea typeface="Cambria Math" panose="02040503050406030204" pitchFamily="18" charset="0"/>
                      </a:rPr>
                      <m:t>&gt;</m:t>
                    </m:r>
                  </m:oMath>
                </a14:m>
                <a:r>
                  <a:rPr lang="en-US" dirty="0">
                    <a:solidFill>
                      <a:srgbClr val="000000"/>
                    </a:solidFill>
                  </a:rPr>
                  <a:t> and </a:t>
                </a:r>
                <a14:m>
                  <m:oMath xmlns:m="http://schemas.openxmlformats.org/officeDocument/2006/math">
                    <m:f>
                      <m:fPr>
                        <m:ctrlPr>
                          <a:rPr lang="en-US" b="0"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𝑅</m:t>
                        </m:r>
                      </m:num>
                      <m:den>
                        <m:r>
                          <a:rPr lang="en-US" b="0" i="1" smtClean="0">
                            <a:solidFill>
                              <a:srgbClr val="000000"/>
                            </a:solidFill>
                            <a:latin typeface="Cambria Math" panose="02040503050406030204" pitchFamily="18" charset="0"/>
                          </a:rPr>
                          <m:t>𝐴</m:t>
                        </m:r>
                      </m:den>
                    </m:f>
                    <m:r>
                      <a:rPr lang="en-US" b="0" i="1" smtClean="0">
                        <a:solidFill>
                          <a:srgbClr val="000000"/>
                        </a:solidFill>
                        <a:latin typeface="Cambria Math" panose="02040503050406030204" pitchFamily="18" charset="0"/>
                      </a:rPr>
                      <m:t>=</m:t>
                    </m:r>
                    <m:f>
                      <m:fPr>
                        <m:ctrlPr>
                          <a:rPr lang="en-US" b="0"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2</m:t>
                        </m:r>
                        <m:r>
                          <a:rPr lang="en-US" b="0" i="1" smtClean="0">
                            <a:solidFill>
                              <a:srgbClr val="000000"/>
                            </a:solidFill>
                            <a:latin typeface="Cambria Math" panose="02040503050406030204" pitchFamily="18" charset="0"/>
                            <a:ea typeface="Cambria Math" panose="02040503050406030204" pitchFamily="18" charset="0"/>
                          </a:rPr>
                          <m:t>𝜋</m:t>
                        </m:r>
                        <m:r>
                          <a:rPr lang="en-US" b="0" i="1" smtClean="0">
                            <a:solidFill>
                              <a:srgbClr val="000000"/>
                            </a:solidFill>
                            <a:latin typeface="Cambria Math" panose="02040503050406030204" pitchFamily="18" charset="0"/>
                            <a:ea typeface="Cambria Math" panose="02040503050406030204" pitchFamily="18" charset="0"/>
                          </a:rPr>
                          <m:t>𝑐𝑘𝑇</m:t>
                        </m:r>
                      </m:num>
                      <m:den>
                        <m:sSup>
                          <m:sSupPr>
                            <m:ctrlPr>
                              <a:rPr lang="en-US" b="0" i="1" smtClean="0">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𝜆</m:t>
                            </m:r>
                          </m:e>
                          <m:sup>
                            <m:r>
                              <a:rPr lang="en-US" b="0" i="1" smtClean="0">
                                <a:solidFill>
                                  <a:srgbClr val="000000"/>
                                </a:solidFill>
                                <a:latin typeface="Cambria Math" panose="02040503050406030204" pitchFamily="18" charset="0"/>
                              </a:rPr>
                              <m:t>4</m:t>
                            </m:r>
                          </m:sup>
                        </m:sSup>
                      </m:den>
                    </m:f>
                  </m:oMath>
                </a14:m>
                <a:r>
                  <a:rPr lang="en-US" dirty="0">
                    <a:solidFill>
                      <a:srgbClr val="000000"/>
                    </a:solidFill>
                  </a:rPr>
                  <a:t>.</a:t>
                </a:r>
              </a:p>
              <a:p>
                <a:pPr marL="285750" indent="-285750" latinLnBrk="1" hangingPunct="0">
                  <a:buFont typeface="Arial" panose="020B0604020202020204" pitchFamily="34" charset="0"/>
                  <a:buChar char="•"/>
                </a:pPr>
                <a:r>
                  <a:rPr lang="en-US" dirty="0">
                    <a:solidFill>
                      <a:srgbClr val="000000"/>
                    </a:solidFill>
                  </a:rPr>
                  <a:t>Using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rPr>
                      <m:t>𝜈</m:t>
                    </m:r>
                    <m:r>
                      <a:rPr lang="en-US" i="1">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ea typeface="Cambria Math" panose="02040503050406030204" pitchFamily="18" charset="0"/>
                          </a:rPr>
                        </m:ctrlPr>
                      </m:fPr>
                      <m:num>
                        <m:r>
                          <a:rPr lang="en-US" i="1">
                            <a:solidFill>
                              <a:srgbClr val="000000"/>
                            </a:solidFill>
                            <a:latin typeface="Cambria Math" panose="02040503050406030204" pitchFamily="18" charset="0"/>
                            <a:ea typeface="Cambria Math" panose="02040503050406030204" pitchFamily="18" charset="0"/>
                          </a:rPr>
                          <m:t>𝑐</m:t>
                        </m:r>
                      </m:num>
                      <m:den>
                        <m:r>
                          <a:rPr lang="en-US" i="1">
                            <a:solidFill>
                              <a:srgbClr val="000000"/>
                            </a:solidFill>
                            <a:latin typeface="Cambria Math" panose="02040503050406030204" pitchFamily="18" charset="0"/>
                            <a:ea typeface="Cambria Math" panose="02040503050406030204" pitchFamily="18" charset="0"/>
                          </a:rPr>
                          <m:t>𝜆</m:t>
                        </m:r>
                      </m:den>
                    </m:f>
                  </m:oMath>
                </a14:m>
                <a:r>
                  <a:rPr lang="en-US" dirty="0">
                    <a:solidFill>
                      <a:srgbClr val="000000"/>
                    </a:solidFill>
                  </a:rPr>
                  <a:t> and applying chain rule, </a:t>
                </a:r>
                <a14:m>
                  <m:oMath xmlns:m="http://schemas.openxmlformats.org/officeDocument/2006/math">
                    <m:r>
                      <m:rPr>
                        <m:sty m:val="p"/>
                      </m:rPr>
                      <a:rPr lang="en-US" b="0" i="0" smtClean="0">
                        <a:solidFill>
                          <a:srgbClr val="000000"/>
                        </a:solidFill>
                        <a:latin typeface="Cambria Math" panose="02040503050406030204" pitchFamily="18" charset="0"/>
                      </a:rPr>
                      <m:t>B</m:t>
                    </m:r>
                    <m:d>
                      <m:dPr>
                        <m:ctrlPr>
                          <a:rPr lang="en-US" b="0" i="1" smtClean="0">
                            <a:solidFill>
                              <a:srgbClr val="000000"/>
                            </a:solidFill>
                            <a:latin typeface="Cambria Math" panose="02040503050406030204" pitchFamily="18" charset="0"/>
                            <a:ea typeface="Cambria Math" panose="02040503050406030204" pitchFamily="18" charset="0"/>
                          </a:rPr>
                        </m:ctrlPr>
                      </m:dPr>
                      <m:e>
                        <m:r>
                          <a:rPr lang="en-US" b="0" i="1" smtClean="0">
                            <a:solidFill>
                              <a:srgbClr val="000000"/>
                            </a:solidFill>
                            <a:latin typeface="Cambria Math" panose="02040503050406030204" pitchFamily="18" charset="0"/>
                            <a:ea typeface="Cambria Math" panose="02040503050406030204" pitchFamily="18" charset="0"/>
                          </a:rPr>
                          <m:t>𝜈</m:t>
                        </m:r>
                        <m:r>
                          <a:rPr lang="en-US" b="0" i="1" smtClean="0">
                            <a:solidFill>
                              <a:srgbClr val="000000"/>
                            </a:solidFill>
                            <a:latin typeface="Cambria Math" panose="02040503050406030204" pitchFamily="18" charset="0"/>
                            <a:ea typeface="Cambria Math" panose="02040503050406030204" pitchFamily="18" charset="0"/>
                          </a:rPr>
                          <m:t>,</m:t>
                        </m:r>
                        <m:r>
                          <a:rPr lang="en-US" b="0" i="1" smtClean="0">
                            <a:solidFill>
                              <a:srgbClr val="000000"/>
                            </a:solidFill>
                            <a:latin typeface="Cambria Math" panose="02040503050406030204" pitchFamily="18" charset="0"/>
                            <a:ea typeface="Cambria Math" panose="02040503050406030204" pitchFamily="18" charset="0"/>
                          </a:rPr>
                          <m:t>𝑇</m:t>
                        </m:r>
                      </m:e>
                    </m:d>
                    <m:r>
                      <a:rPr lang="en-US" b="0" i="0" smtClean="0">
                        <a:solidFill>
                          <a:srgbClr val="000000"/>
                        </a:solidFill>
                        <a:latin typeface="Cambria Math" panose="02040503050406030204" pitchFamily="18" charset="0"/>
                      </a:rPr>
                      <m:t>=</m:t>
                    </m:r>
                    <m:f>
                      <m:fPr>
                        <m:ctrlPr>
                          <a:rPr lang="en-US" b="0"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𝑅</m:t>
                        </m:r>
                      </m:num>
                      <m:den>
                        <m:r>
                          <a:rPr lang="en-US" b="0" i="1" smtClean="0">
                            <a:solidFill>
                              <a:srgbClr val="000000"/>
                            </a:solidFill>
                            <a:latin typeface="Cambria Math" panose="02040503050406030204" pitchFamily="18" charset="0"/>
                          </a:rPr>
                          <m:t>𝐴</m:t>
                        </m:r>
                      </m:den>
                    </m:f>
                    <m:r>
                      <a:rPr lang="en-US" b="0" i="1" smtClean="0">
                        <a:solidFill>
                          <a:srgbClr val="000000"/>
                        </a:solidFill>
                        <a:latin typeface="Cambria Math" panose="02040503050406030204" pitchFamily="18" charset="0"/>
                      </a:rPr>
                      <m:t>=</m:t>
                    </m:r>
                    <m:f>
                      <m:fPr>
                        <m:ctrlPr>
                          <a:rPr lang="en-US" b="0" i="1" smtClean="0">
                            <a:solidFill>
                              <a:srgbClr val="000000"/>
                            </a:solidFill>
                            <a:latin typeface="Cambria Math" panose="02040503050406030204" pitchFamily="18" charset="0"/>
                            <a:ea typeface="Cambria Math" panose="02040503050406030204" pitchFamily="18" charset="0"/>
                          </a:rPr>
                        </m:ctrlPr>
                      </m:fPr>
                      <m:num>
                        <m:r>
                          <a:rPr lang="en-US" b="0" i="1" smtClean="0">
                            <a:solidFill>
                              <a:srgbClr val="000000"/>
                            </a:solidFill>
                            <a:latin typeface="Cambria Math" panose="02040503050406030204" pitchFamily="18" charset="0"/>
                            <a:ea typeface="Cambria Math" panose="02040503050406030204" pitchFamily="18" charset="0"/>
                          </a:rPr>
                          <m:t>2</m:t>
                        </m:r>
                        <m:r>
                          <a:rPr lang="en-US" b="0" i="1" smtClean="0">
                            <a:solidFill>
                              <a:srgbClr val="000000"/>
                            </a:solidFill>
                            <a:latin typeface="Cambria Math" panose="02040503050406030204" pitchFamily="18" charset="0"/>
                            <a:ea typeface="Cambria Math" panose="02040503050406030204" pitchFamily="18" charset="0"/>
                          </a:rPr>
                          <m:t>𝜋</m:t>
                        </m:r>
                        <m:sSup>
                          <m:sSupPr>
                            <m:ctrlPr>
                              <a:rPr lang="en-US" b="0" i="1" smtClean="0">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𝜈</m:t>
                            </m:r>
                          </m:e>
                          <m:sup>
                            <m:r>
                              <a:rPr lang="en-US" b="0" i="1" smtClean="0">
                                <a:solidFill>
                                  <a:srgbClr val="000000"/>
                                </a:solidFill>
                                <a:latin typeface="Cambria Math" panose="02040503050406030204" pitchFamily="18" charset="0"/>
                                <a:ea typeface="Cambria Math" panose="02040503050406030204" pitchFamily="18" charset="0"/>
                              </a:rPr>
                              <m:t>2</m:t>
                            </m:r>
                          </m:sup>
                        </m:sSup>
                        <m:r>
                          <a:rPr lang="en-US" b="0" i="1" smtClean="0">
                            <a:solidFill>
                              <a:srgbClr val="000000"/>
                            </a:solidFill>
                            <a:latin typeface="Cambria Math" panose="02040503050406030204" pitchFamily="18" charset="0"/>
                            <a:ea typeface="Cambria Math" panose="02040503050406030204" pitchFamily="18" charset="0"/>
                          </a:rPr>
                          <m:t>𝑘𝑇</m:t>
                        </m:r>
                      </m:num>
                      <m:den>
                        <m:sSup>
                          <m:sSupPr>
                            <m:ctrlPr>
                              <a:rPr lang="en-US" b="0" i="1" smtClean="0">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𝑐</m:t>
                            </m:r>
                          </m:e>
                          <m:sup>
                            <m:r>
                              <a:rPr lang="en-US" b="0" i="1" smtClean="0">
                                <a:solidFill>
                                  <a:srgbClr val="000000"/>
                                </a:solidFill>
                                <a:latin typeface="Cambria Math" panose="02040503050406030204" pitchFamily="18" charset="0"/>
                                <a:ea typeface="Cambria Math" panose="02040503050406030204" pitchFamily="18" charset="0"/>
                              </a:rPr>
                              <m:t>2</m:t>
                            </m:r>
                          </m:sup>
                        </m:sSup>
                      </m:den>
                    </m:f>
                  </m:oMath>
                </a14:m>
                <a:endParaRPr lang="en-US" dirty="0">
                  <a:solidFill>
                    <a:srgbClr val="000000"/>
                  </a:solidFill>
                </a:endParaRPr>
              </a:p>
              <a:p>
                <a:pPr marL="285750" indent="-285750" latinLnBrk="1" hangingPunct="0">
                  <a:buFont typeface="Arial" panose="020B0604020202020204" pitchFamily="34" charset="0"/>
                  <a:buChar char="•"/>
                </a:pPr>
                <a:r>
                  <a:rPr lang="en-US" dirty="0">
                    <a:solidFill>
                      <a:srgbClr val="000000"/>
                    </a:solidFill>
                  </a:rPr>
                  <a:t>By contrast, Planck’s distribution is </a:t>
                </a:r>
                <a14:m>
                  <m:oMath xmlns:m="http://schemas.openxmlformats.org/officeDocument/2006/math">
                    <m:r>
                      <a:rPr lang="en-US" b="0" i="1" smtClean="0">
                        <a:solidFill>
                          <a:srgbClr val="000000"/>
                        </a:solidFill>
                        <a:latin typeface="Cambria Math" panose="02040503050406030204" pitchFamily="18" charset="0"/>
                      </a:rPr>
                      <m:t>𝐼</m:t>
                    </m:r>
                    <m:d>
                      <m:dPr>
                        <m:ctrlPr>
                          <a:rPr lang="en-US" b="0" i="1" smtClean="0">
                            <a:solidFill>
                              <a:srgbClr val="000000"/>
                            </a:solidFill>
                            <a:latin typeface="Cambria Math" panose="02040503050406030204" pitchFamily="18" charset="0"/>
                            <a:ea typeface="Cambria Math" panose="02040503050406030204" pitchFamily="18" charset="0"/>
                          </a:rPr>
                        </m:ctrlPr>
                      </m:dPr>
                      <m:e>
                        <m:r>
                          <a:rPr lang="en-US" b="0" i="1" smtClean="0">
                            <a:solidFill>
                              <a:srgbClr val="000000"/>
                            </a:solidFill>
                            <a:latin typeface="Cambria Math" panose="02040503050406030204" pitchFamily="18" charset="0"/>
                            <a:ea typeface="Cambria Math" panose="02040503050406030204" pitchFamily="18" charset="0"/>
                          </a:rPr>
                          <m:t>𝜆</m:t>
                        </m:r>
                        <m:r>
                          <a:rPr lang="en-US" b="0" i="1" smtClean="0">
                            <a:solidFill>
                              <a:srgbClr val="000000"/>
                            </a:solidFill>
                            <a:latin typeface="Cambria Math" panose="02040503050406030204" pitchFamily="18" charset="0"/>
                            <a:ea typeface="Cambria Math" panose="02040503050406030204" pitchFamily="18" charset="0"/>
                          </a:rPr>
                          <m:t>,</m:t>
                        </m:r>
                        <m:r>
                          <a:rPr lang="en-US" b="0" i="1" smtClean="0">
                            <a:solidFill>
                              <a:srgbClr val="000000"/>
                            </a:solidFill>
                            <a:latin typeface="Cambria Math" panose="02040503050406030204" pitchFamily="18" charset="0"/>
                            <a:ea typeface="Cambria Math" panose="02040503050406030204" pitchFamily="18" charset="0"/>
                          </a:rPr>
                          <m:t>𝑇</m:t>
                        </m:r>
                      </m:e>
                    </m:d>
                    <m:r>
                      <a:rPr lang="en-US" b="0" i="1" smtClean="0">
                        <a:solidFill>
                          <a:srgbClr val="000000"/>
                        </a:solidFill>
                        <a:latin typeface="Cambria Math" panose="02040503050406030204" pitchFamily="18" charset="0"/>
                        <a:ea typeface="Cambria Math" panose="02040503050406030204" pitchFamily="18" charset="0"/>
                      </a:rPr>
                      <m:t>= </m:t>
                    </m:r>
                    <m:f>
                      <m:fPr>
                        <m:ctrlPr>
                          <a:rPr lang="en-US" b="0" i="1" smtClean="0">
                            <a:solidFill>
                              <a:srgbClr val="000000"/>
                            </a:solidFill>
                            <a:latin typeface="Cambria Math" panose="02040503050406030204" pitchFamily="18" charset="0"/>
                            <a:ea typeface="Cambria Math" panose="02040503050406030204" pitchFamily="18" charset="0"/>
                          </a:rPr>
                        </m:ctrlPr>
                      </m:fPr>
                      <m:num>
                        <m:r>
                          <a:rPr lang="en-US" b="0" i="1" smtClean="0">
                            <a:solidFill>
                              <a:srgbClr val="000000"/>
                            </a:solidFill>
                            <a:latin typeface="Cambria Math" panose="02040503050406030204" pitchFamily="18" charset="0"/>
                            <a:ea typeface="Cambria Math" panose="02040503050406030204" pitchFamily="18" charset="0"/>
                          </a:rPr>
                          <m:t>2</m:t>
                        </m:r>
                        <m:r>
                          <a:rPr lang="en-US" b="0" i="1" smtClean="0">
                            <a:solidFill>
                              <a:srgbClr val="000000"/>
                            </a:solidFill>
                            <a:latin typeface="Cambria Math" panose="02040503050406030204" pitchFamily="18" charset="0"/>
                            <a:ea typeface="Cambria Math" panose="02040503050406030204" pitchFamily="18" charset="0"/>
                          </a:rPr>
                          <m:t>𝜋</m:t>
                        </m:r>
                        <m:r>
                          <a:rPr lang="en-US" b="0" i="1" smtClean="0">
                            <a:solidFill>
                              <a:srgbClr val="000000"/>
                            </a:solidFill>
                            <a:latin typeface="Cambria Math" panose="02040503050406030204" pitchFamily="18" charset="0"/>
                            <a:ea typeface="Cambria Math" panose="02040503050406030204" pitchFamily="18" charset="0"/>
                          </a:rPr>
                          <m:t>ℎ</m:t>
                        </m:r>
                        <m:sSup>
                          <m:sSupPr>
                            <m:ctrlPr>
                              <a:rPr lang="en-US" b="0" i="1" smtClean="0">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𝑐</m:t>
                            </m:r>
                          </m:e>
                          <m:sup>
                            <m:r>
                              <a:rPr lang="en-US" b="0" i="1" smtClean="0">
                                <a:solidFill>
                                  <a:srgbClr val="000000"/>
                                </a:solidFill>
                                <a:latin typeface="Cambria Math" panose="02040503050406030204" pitchFamily="18" charset="0"/>
                                <a:ea typeface="Cambria Math" panose="02040503050406030204" pitchFamily="18" charset="0"/>
                              </a:rPr>
                              <m:t>2</m:t>
                            </m:r>
                          </m:sup>
                        </m:sSup>
                      </m:num>
                      <m:den>
                        <m:sSup>
                          <m:sSupPr>
                            <m:ctrlPr>
                              <a:rPr lang="en-US" b="0" i="1" smtClean="0">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𝜆</m:t>
                            </m:r>
                          </m:e>
                          <m:sup>
                            <m:r>
                              <a:rPr lang="en-US" b="0" i="1" smtClean="0">
                                <a:solidFill>
                                  <a:srgbClr val="000000"/>
                                </a:solidFill>
                                <a:latin typeface="Cambria Math" panose="02040503050406030204" pitchFamily="18" charset="0"/>
                                <a:ea typeface="Cambria Math" panose="02040503050406030204" pitchFamily="18" charset="0"/>
                              </a:rPr>
                              <m:t>5</m:t>
                            </m:r>
                          </m:sup>
                        </m:sSup>
                      </m:den>
                    </m:f>
                    <m:sSup>
                      <m:sSupPr>
                        <m:ctrlPr>
                          <a:rPr lang="en-US" b="0" i="1" smtClean="0">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m:t>
                        </m:r>
                        <m:func>
                          <m:funcPr>
                            <m:ctrlPr>
                              <a:rPr lang="en-US" b="0" i="0" smtClean="0">
                                <a:solidFill>
                                  <a:srgbClr val="000000"/>
                                </a:solidFill>
                                <a:latin typeface="Cambria Math" panose="02040503050406030204" pitchFamily="18" charset="0"/>
                                <a:ea typeface="Cambria Math" panose="02040503050406030204" pitchFamily="18" charset="0"/>
                              </a:rPr>
                            </m:ctrlPr>
                          </m:funcPr>
                          <m:fName>
                            <m:r>
                              <m:rPr>
                                <m:sty m:val="p"/>
                              </m:rPr>
                              <a:rPr lang="en-US" b="0" i="0" smtClean="0">
                                <a:solidFill>
                                  <a:srgbClr val="000000"/>
                                </a:solidFill>
                                <a:latin typeface="Cambria Math" panose="02040503050406030204" pitchFamily="18" charset="0"/>
                                <a:ea typeface="Cambria Math" panose="02040503050406030204" pitchFamily="18" charset="0"/>
                              </a:rPr>
                              <m:t>exp</m:t>
                            </m:r>
                          </m:fName>
                          <m:e>
                            <m:d>
                              <m:dPr>
                                <m:ctrlPr>
                                  <a:rPr lang="en-US" b="0" i="1" smtClean="0">
                                    <a:solidFill>
                                      <a:srgbClr val="000000"/>
                                    </a:solidFill>
                                    <a:latin typeface="Cambria Math" panose="02040503050406030204" pitchFamily="18" charset="0"/>
                                    <a:ea typeface="Cambria Math" panose="02040503050406030204" pitchFamily="18" charset="0"/>
                                  </a:rPr>
                                </m:ctrlPr>
                              </m:dPr>
                              <m:e>
                                <m:f>
                                  <m:fPr>
                                    <m:ctrlPr>
                                      <a:rPr lang="en-US" b="0" i="1" smtClean="0">
                                        <a:solidFill>
                                          <a:srgbClr val="000000"/>
                                        </a:solidFill>
                                        <a:latin typeface="Cambria Math" panose="02040503050406030204" pitchFamily="18" charset="0"/>
                                        <a:ea typeface="Cambria Math" panose="02040503050406030204" pitchFamily="18" charset="0"/>
                                      </a:rPr>
                                    </m:ctrlPr>
                                  </m:fPr>
                                  <m:num>
                                    <m:r>
                                      <a:rPr lang="en-US" b="0" i="1" smtClean="0">
                                        <a:solidFill>
                                          <a:srgbClr val="000000"/>
                                        </a:solidFill>
                                        <a:latin typeface="Cambria Math" panose="02040503050406030204" pitchFamily="18" charset="0"/>
                                        <a:ea typeface="Cambria Math" panose="02040503050406030204" pitchFamily="18" charset="0"/>
                                      </a:rPr>
                                      <m:t>ℎ𝑐</m:t>
                                    </m:r>
                                  </m:num>
                                  <m:den>
                                    <m:r>
                                      <a:rPr lang="en-US" b="0" i="1" smtClean="0">
                                        <a:solidFill>
                                          <a:srgbClr val="000000"/>
                                        </a:solidFill>
                                        <a:latin typeface="Cambria Math" panose="02040503050406030204" pitchFamily="18" charset="0"/>
                                        <a:ea typeface="Cambria Math" panose="02040503050406030204" pitchFamily="18" charset="0"/>
                                      </a:rPr>
                                      <m:t>𝜆</m:t>
                                    </m:r>
                                    <m:r>
                                      <a:rPr lang="en-US" b="0" i="1" smtClean="0">
                                        <a:solidFill>
                                          <a:srgbClr val="000000"/>
                                        </a:solidFill>
                                        <a:latin typeface="Cambria Math" panose="02040503050406030204" pitchFamily="18" charset="0"/>
                                        <a:ea typeface="Cambria Math" panose="02040503050406030204" pitchFamily="18" charset="0"/>
                                      </a:rPr>
                                      <m:t>𝑘𝑇</m:t>
                                    </m:r>
                                  </m:den>
                                </m:f>
                              </m:e>
                            </m:d>
                          </m:e>
                        </m:func>
                        <m:r>
                          <a:rPr lang="en-US" b="0" i="1" smtClean="0">
                            <a:solidFill>
                              <a:srgbClr val="000000"/>
                            </a:solidFill>
                            <a:latin typeface="Cambria Math" panose="02040503050406030204" pitchFamily="18" charset="0"/>
                            <a:ea typeface="Cambria Math" panose="02040503050406030204" pitchFamily="18" charset="0"/>
                          </a:rPr>
                          <m:t>−1)</m:t>
                        </m:r>
                      </m:e>
                      <m:sup>
                        <m:r>
                          <a:rPr lang="en-US" b="0" i="1" smtClean="0">
                            <a:solidFill>
                              <a:srgbClr val="000000"/>
                            </a:solidFill>
                            <a:latin typeface="Cambria Math" panose="02040503050406030204" pitchFamily="18" charset="0"/>
                            <a:ea typeface="Cambria Math" panose="02040503050406030204" pitchFamily="18" charset="0"/>
                          </a:rPr>
                          <m:t>−1</m:t>
                        </m:r>
                      </m:sup>
                    </m:sSup>
                  </m:oMath>
                </a14:m>
                <a:r>
                  <a:rPr lang="en-US" sz="2000" dirty="0">
                    <a:solidFill>
                      <a:srgbClr val="000000"/>
                    </a:solidFill>
                  </a:rPr>
                  <a:t>, </a:t>
                </a:r>
                <a14:m>
                  <m:oMath xmlns:m="http://schemas.openxmlformats.org/officeDocument/2006/math">
                    <m:r>
                      <a:rPr lang="en-US" sz="2000" b="0" i="1" smtClean="0">
                        <a:solidFill>
                          <a:srgbClr val="000000"/>
                        </a:solidFill>
                        <a:latin typeface="Cambria Math" panose="02040503050406030204" pitchFamily="18" charset="0"/>
                      </a:rPr>
                      <m:t>𝐵</m:t>
                    </m:r>
                    <m:d>
                      <m:dPr>
                        <m:ctrlPr>
                          <a:rPr lang="en-US" sz="2000" b="0" i="1" smtClean="0">
                            <a:solidFill>
                              <a:srgbClr val="000000"/>
                            </a:solidFill>
                            <a:latin typeface="Cambria Math" panose="02040503050406030204" pitchFamily="18" charset="0"/>
                            <a:ea typeface="Cambria Math" panose="02040503050406030204" pitchFamily="18" charset="0"/>
                          </a:rPr>
                        </m:ctrlPr>
                      </m:dPr>
                      <m:e>
                        <m:r>
                          <a:rPr lang="en-US" sz="2000" b="0" i="1" smtClean="0">
                            <a:solidFill>
                              <a:srgbClr val="000000"/>
                            </a:solidFill>
                            <a:latin typeface="Cambria Math" panose="02040503050406030204" pitchFamily="18" charset="0"/>
                            <a:ea typeface="Cambria Math" panose="02040503050406030204" pitchFamily="18" charset="0"/>
                          </a:rPr>
                          <m:t>𝜈</m:t>
                        </m:r>
                        <m:r>
                          <a:rPr lang="en-US" sz="2000" b="0" i="1" smtClean="0">
                            <a:solidFill>
                              <a:srgbClr val="000000"/>
                            </a:solidFill>
                            <a:latin typeface="Cambria Math" panose="02040503050406030204" pitchFamily="18" charset="0"/>
                            <a:ea typeface="Cambria Math" panose="02040503050406030204" pitchFamily="18" charset="0"/>
                          </a:rPr>
                          <m:t>,</m:t>
                        </m:r>
                        <m:r>
                          <a:rPr lang="en-US" sz="2000" b="0" i="1" smtClean="0">
                            <a:solidFill>
                              <a:srgbClr val="000000"/>
                            </a:solidFill>
                            <a:latin typeface="Cambria Math" panose="02040503050406030204" pitchFamily="18" charset="0"/>
                            <a:ea typeface="Cambria Math" panose="02040503050406030204" pitchFamily="18" charset="0"/>
                          </a:rPr>
                          <m:t>𝑇</m:t>
                        </m:r>
                      </m:e>
                    </m:d>
                    <m:r>
                      <a:rPr lang="en-US" sz="2000" b="0" i="1" smtClean="0">
                        <a:solidFill>
                          <a:srgbClr val="000000"/>
                        </a:solidFill>
                        <a:latin typeface="Cambria Math" panose="02040503050406030204" pitchFamily="18" charset="0"/>
                        <a:ea typeface="Cambria Math" panose="02040503050406030204" pitchFamily="18" charset="0"/>
                      </a:rPr>
                      <m:t>=</m:t>
                    </m:r>
                    <m:f>
                      <m:fPr>
                        <m:ctrlPr>
                          <a:rPr lang="en-US" sz="2000" b="0" i="1" smtClean="0">
                            <a:solidFill>
                              <a:srgbClr val="000000"/>
                            </a:solidFill>
                            <a:latin typeface="Cambria Math" panose="02040503050406030204" pitchFamily="18" charset="0"/>
                            <a:ea typeface="Cambria Math" panose="02040503050406030204" pitchFamily="18" charset="0"/>
                          </a:rPr>
                        </m:ctrlPr>
                      </m:fPr>
                      <m:num>
                        <m:r>
                          <a:rPr lang="en-US" sz="2000" b="0" i="1" smtClean="0">
                            <a:solidFill>
                              <a:srgbClr val="000000"/>
                            </a:solidFill>
                            <a:latin typeface="Cambria Math" panose="02040503050406030204" pitchFamily="18" charset="0"/>
                            <a:ea typeface="Cambria Math" panose="02040503050406030204" pitchFamily="18" charset="0"/>
                          </a:rPr>
                          <m:t>2</m:t>
                        </m:r>
                        <m:r>
                          <a:rPr lang="en-US" sz="2000" b="0" i="1" smtClean="0">
                            <a:solidFill>
                              <a:srgbClr val="000000"/>
                            </a:solidFill>
                            <a:latin typeface="Cambria Math" panose="02040503050406030204" pitchFamily="18" charset="0"/>
                            <a:ea typeface="Cambria Math" panose="02040503050406030204" pitchFamily="18" charset="0"/>
                          </a:rPr>
                          <m:t>ℎ</m:t>
                        </m:r>
                        <m:sSup>
                          <m:sSupPr>
                            <m:ctrlPr>
                              <a:rPr lang="en-US" sz="2000" b="0" i="1" smtClean="0">
                                <a:solidFill>
                                  <a:srgbClr val="000000"/>
                                </a:solidFill>
                                <a:latin typeface="Cambria Math" panose="02040503050406030204" pitchFamily="18" charset="0"/>
                                <a:ea typeface="Cambria Math" panose="02040503050406030204" pitchFamily="18" charset="0"/>
                              </a:rPr>
                            </m:ctrlPr>
                          </m:sSupPr>
                          <m:e>
                            <m:r>
                              <a:rPr lang="en-US" sz="2000" b="0" i="1" smtClean="0">
                                <a:solidFill>
                                  <a:srgbClr val="000000"/>
                                </a:solidFill>
                                <a:latin typeface="Cambria Math" panose="02040503050406030204" pitchFamily="18" charset="0"/>
                                <a:ea typeface="Cambria Math" panose="02040503050406030204" pitchFamily="18" charset="0"/>
                              </a:rPr>
                              <m:t>𝜈</m:t>
                            </m:r>
                          </m:e>
                          <m:sup>
                            <m:r>
                              <a:rPr lang="en-US" sz="2000" b="0" i="1" smtClean="0">
                                <a:solidFill>
                                  <a:srgbClr val="000000"/>
                                </a:solidFill>
                                <a:latin typeface="Cambria Math" panose="02040503050406030204" pitchFamily="18" charset="0"/>
                                <a:ea typeface="Cambria Math" panose="02040503050406030204" pitchFamily="18" charset="0"/>
                              </a:rPr>
                              <m:t>3</m:t>
                            </m:r>
                          </m:sup>
                        </m:sSup>
                      </m:num>
                      <m:den>
                        <m:sSup>
                          <m:sSupPr>
                            <m:ctrlPr>
                              <a:rPr lang="en-US" sz="2000" b="0" i="1" smtClean="0">
                                <a:solidFill>
                                  <a:srgbClr val="000000"/>
                                </a:solidFill>
                                <a:latin typeface="Cambria Math" panose="02040503050406030204" pitchFamily="18" charset="0"/>
                                <a:ea typeface="Cambria Math" panose="02040503050406030204" pitchFamily="18" charset="0"/>
                              </a:rPr>
                            </m:ctrlPr>
                          </m:sSupPr>
                          <m:e>
                            <m:r>
                              <a:rPr lang="en-US" sz="2000" b="0" i="1" smtClean="0">
                                <a:solidFill>
                                  <a:srgbClr val="000000"/>
                                </a:solidFill>
                                <a:latin typeface="Cambria Math" panose="02040503050406030204" pitchFamily="18" charset="0"/>
                                <a:ea typeface="Cambria Math" panose="02040503050406030204" pitchFamily="18" charset="0"/>
                              </a:rPr>
                              <m:t>𝑐</m:t>
                            </m:r>
                          </m:e>
                          <m:sup>
                            <m:r>
                              <a:rPr lang="en-US" sz="2000" b="0" i="1" smtClean="0">
                                <a:solidFill>
                                  <a:srgbClr val="000000"/>
                                </a:solidFill>
                                <a:latin typeface="Cambria Math" panose="02040503050406030204" pitchFamily="18" charset="0"/>
                                <a:ea typeface="Cambria Math" panose="02040503050406030204" pitchFamily="18" charset="0"/>
                              </a:rPr>
                              <m:t>2</m:t>
                            </m:r>
                          </m:sup>
                        </m:sSup>
                      </m:den>
                    </m:f>
                    <m:sSup>
                      <m:sSupPr>
                        <m:ctrlPr>
                          <a:rPr lang="en-US" sz="2000" b="0" i="1" smtClean="0">
                            <a:solidFill>
                              <a:srgbClr val="000000"/>
                            </a:solidFill>
                            <a:latin typeface="Cambria Math" panose="02040503050406030204" pitchFamily="18" charset="0"/>
                            <a:ea typeface="Cambria Math" panose="02040503050406030204" pitchFamily="18" charset="0"/>
                          </a:rPr>
                        </m:ctrlPr>
                      </m:sSupPr>
                      <m:e>
                        <m:r>
                          <a:rPr lang="en-US" sz="2000" b="0" i="1" smtClean="0">
                            <a:solidFill>
                              <a:srgbClr val="000000"/>
                            </a:solidFill>
                            <a:latin typeface="Cambria Math" panose="02040503050406030204" pitchFamily="18" charset="0"/>
                            <a:ea typeface="Cambria Math" panose="02040503050406030204" pitchFamily="18" charset="0"/>
                          </a:rPr>
                          <m:t>(</m:t>
                        </m:r>
                        <m:func>
                          <m:funcPr>
                            <m:ctrlPr>
                              <a:rPr lang="en-US" sz="2000" b="0" i="0" smtClean="0">
                                <a:solidFill>
                                  <a:srgbClr val="000000"/>
                                </a:solidFill>
                                <a:latin typeface="Cambria Math" panose="02040503050406030204" pitchFamily="18" charset="0"/>
                                <a:ea typeface="Cambria Math" panose="02040503050406030204" pitchFamily="18" charset="0"/>
                              </a:rPr>
                            </m:ctrlPr>
                          </m:funcPr>
                          <m:fName>
                            <m:r>
                              <m:rPr>
                                <m:sty m:val="p"/>
                              </m:rPr>
                              <a:rPr lang="en-US" sz="2000" b="0" i="0" smtClean="0">
                                <a:solidFill>
                                  <a:srgbClr val="000000"/>
                                </a:solidFill>
                                <a:latin typeface="Cambria Math" panose="02040503050406030204" pitchFamily="18" charset="0"/>
                                <a:ea typeface="Cambria Math" panose="02040503050406030204" pitchFamily="18" charset="0"/>
                              </a:rPr>
                              <m:t>exp</m:t>
                            </m:r>
                          </m:fName>
                          <m:e>
                            <m:d>
                              <m:dPr>
                                <m:ctrlPr>
                                  <a:rPr lang="en-US" sz="2000" b="0" i="1" smtClean="0">
                                    <a:solidFill>
                                      <a:srgbClr val="000000"/>
                                    </a:solidFill>
                                    <a:latin typeface="Cambria Math" panose="02040503050406030204" pitchFamily="18" charset="0"/>
                                    <a:ea typeface="Cambria Math" panose="02040503050406030204" pitchFamily="18" charset="0"/>
                                  </a:rPr>
                                </m:ctrlPr>
                              </m:dPr>
                              <m:e>
                                <m:f>
                                  <m:fPr>
                                    <m:ctrlPr>
                                      <a:rPr lang="en-US" sz="2000" b="0" i="1" smtClean="0">
                                        <a:solidFill>
                                          <a:srgbClr val="000000"/>
                                        </a:solidFill>
                                        <a:latin typeface="Cambria Math" panose="02040503050406030204" pitchFamily="18" charset="0"/>
                                        <a:ea typeface="Cambria Math" panose="02040503050406030204" pitchFamily="18" charset="0"/>
                                      </a:rPr>
                                    </m:ctrlPr>
                                  </m:fPr>
                                  <m:num>
                                    <m:r>
                                      <a:rPr lang="en-US" sz="2000" b="0" i="1" smtClean="0">
                                        <a:solidFill>
                                          <a:srgbClr val="000000"/>
                                        </a:solidFill>
                                        <a:latin typeface="Cambria Math" panose="02040503050406030204" pitchFamily="18" charset="0"/>
                                        <a:ea typeface="Cambria Math" panose="02040503050406030204" pitchFamily="18" charset="0"/>
                                      </a:rPr>
                                      <m:t>ℎ</m:t>
                                    </m:r>
                                    <m:r>
                                      <a:rPr lang="en-US" sz="2000" b="0" i="1" smtClean="0">
                                        <a:solidFill>
                                          <a:srgbClr val="000000"/>
                                        </a:solidFill>
                                        <a:latin typeface="Cambria Math" panose="02040503050406030204" pitchFamily="18" charset="0"/>
                                        <a:ea typeface="Cambria Math" panose="02040503050406030204" pitchFamily="18" charset="0"/>
                                      </a:rPr>
                                      <m:t>𝜈</m:t>
                                    </m:r>
                                  </m:num>
                                  <m:den>
                                    <m:r>
                                      <a:rPr lang="en-US" sz="2000" b="0" i="1" smtClean="0">
                                        <a:solidFill>
                                          <a:srgbClr val="000000"/>
                                        </a:solidFill>
                                        <a:latin typeface="Cambria Math" panose="02040503050406030204" pitchFamily="18" charset="0"/>
                                        <a:ea typeface="Cambria Math" panose="02040503050406030204" pitchFamily="18" charset="0"/>
                                      </a:rPr>
                                      <m:t>𝑘𝑇</m:t>
                                    </m:r>
                                  </m:den>
                                </m:f>
                              </m:e>
                            </m:d>
                          </m:e>
                        </m:func>
                        <m:r>
                          <a:rPr lang="en-US" sz="2000" b="0" i="1" smtClean="0">
                            <a:solidFill>
                              <a:srgbClr val="000000"/>
                            </a:solidFill>
                            <a:latin typeface="Cambria Math" panose="02040503050406030204" pitchFamily="18" charset="0"/>
                            <a:ea typeface="Cambria Math" panose="02040503050406030204" pitchFamily="18" charset="0"/>
                          </a:rPr>
                          <m:t>−1)</m:t>
                        </m:r>
                      </m:e>
                      <m:sup>
                        <m:r>
                          <a:rPr lang="en-US" sz="2000" b="0" i="1" smtClean="0">
                            <a:solidFill>
                              <a:srgbClr val="000000"/>
                            </a:solidFill>
                            <a:latin typeface="Cambria Math" panose="02040503050406030204" pitchFamily="18" charset="0"/>
                            <a:ea typeface="Cambria Math" panose="02040503050406030204" pitchFamily="18" charset="0"/>
                          </a:rPr>
                          <m:t>−1</m:t>
                        </m:r>
                      </m:sup>
                    </m:sSup>
                  </m:oMath>
                </a14:m>
                <a:endParaRPr lang="en-US" sz="2000" dirty="0">
                  <a:solidFill>
                    <a:srgbClr val="000000"/>
                  </a:solidFill>
                </a:endParaRPr>
              </a:p>
              <a:p>
                <a:pPr marL="285750" indent="-285750" latinLnBrk="1" hangingPunct="0">
                  <a:buFont typeface="Arial" panose="020B0604020202020204" pitchFamily="34" charset="0"/>
                  <a:buChar char="•"/>
                </a:pPr>
                <a:endParaRPr lang="en-US" dirty="0">
                  <a:solidFill>
                    <a:srgbClr val="000000"/>
                  </a:solidFill>
                </a:endParaRPr>
              </a:p>
              <a:p>
                <a:pPr marL="342900" indent="-342900" latinLnBrk="1" hangingPunct="0">
                  <a:buFont typeface="Arial" panose="020B0604020202020204" pitchFamily="34" charset="0"/>
                  <a:buChar char="•"/>
                </a:pPr>
                <a:endParaRPr lang="en-US" sz="2000" dirty="0">
                  <a:solidFill>
                    <a:srgbClr val="000000"/>
                  </a:solidFill>
                </a:endParaRPr>
              </a:p>
              <a:p>
                <a:pPr marL="342900" indent="-342900" latinLnBrk="1" hangingPunct="0">
                  <a:buFont typeface="Arial" panose="020B0604020202020204" pitchFamily="34" charset="0"/>
                  <a:buChar char="•"/>
                </a:pPr>
                <a:endParaRPr lang="en-US" sz="2000" dirty="0">
                  <a:solidFill>
                    <a:srgbClr val="000000"/>
                  </a:solidFill>
                </a:endParaRPr>
              </a:p>
              <a:p>
                <a:pPr marL="342900" indent="-342900" latinLnBrk="1" hangingPunct="0">
                  <a:buFont typeface="Arial" panose="020B0604020202020204" pitchFamily="34" charset="0"/>
                  <a:buChar char="•"/>
                </a:pPr>
                <a:endParaRPr lang="en-US" sz="2000" dirty="0">
                  <a:solidFill>
                    <a:srgbClr val="000000"/>
                  </a:solidFill>
                </a:endParaRP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255655" y="1095153"/>
                <a:ext cx="11740402" cy="5305260"/>
              </a:xfrm>
              <a:prstGeom prst="rect">
                <a:avLst/>
              </a:prstGeom>
              <a:blipFill>
                <a:blip r:embed="rId3"/>
                <a:stretch>
                  <a:fillRect l="-757" b="-477"/>
                </a:stretch>
              </a:blipFill>
              <a:ln w="12700" cap="flat">
                <a:noFill/>
                <a:miter lim="400000"/>
              </a:ln>
              <a:effectLst/>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F3EED66A-56F2-494C-BB12-2E8BBB011DE2}"/>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46</a:t>
            </a:fld>
            <a:endParaRPr lang="en-US" dirty="0">
              <a:solidFill>
                <a:schemeClr val="tx1"/>
              </a:solidFill>
            </a:endParaRPr>
          </a:p>
        </p:txBody>
      </p:sp>
    </p:spTree>
    <p:extLst>
      <p:ext uri="{BB962C8B-B14F-4D97-AF65-F5344CB8AC3E}">
        <p14:creationId xmlns:p14="http://schemas.microsoft.com/office/powerpoint/2010/main" val="15584299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240431" y="148724"/>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Coupling</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9697091" y="6341128"/>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47</a:t>
            </a:fld>
            <a:endParaRPr lang="en-US" dirty="0">
              <a:solidFill>
                <a:schemeClr val="tx1"/>
              </a:solidFil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0634707-4D29-A24B-9993-4EFA7D020944}"/>
                  </a:ext>
                </a:extLst>
              </p:cNvPr>
              <p:cNvSpPr txBox="1"/>
              <p:nvPr/>
            </p:nvSpPr>
            <p:spPr>
              <a:xfrm>
                <a:off x="909102" y="2087601"/>
                <a:ext cx="6100751" cy="3910555"/>
              </a:xfrm>
              <a:prstGeom prst="rect">
                <a:avLst/>
              </a:prstGeom>
              <a:noFill/>
            </p:spPr>
            <p:txBody>
              <a:bodyPr wrap="square" rtlCol="0">
                <a:noAutofit/>
              </a:bodyPr>
              <a:lstStyle/>
              <a:p>
                <a:pPr marL="285750" indent="-285750">
                  <a:buFont typeface="Arial" panose="020B0604020202020204" pitchFamily="34" charset="0"/>
                  <a:buChar char="•"/>
                </a:pPr>
                <a:r>
                  <a:rPr lang="en-US" dirty="0"/>
                  <a:t>Voltage gain, </a:t>
                </a:r>
                <a14:m>
                  <m:oMath xmlns:m="http://schemas.openxmlformats.org/officeDocument/2006/math">
                    <m:r>
                      <a:rPr lang="en-US" b="0" i="1" smtClean="0">
                        <a:latin typeface="Cambria Math" panose="02040503050406030204" pitchFamily="18" charset="0"/>
                      </a:rPr>
                      <m:t>𝐴</m:t>
                    </m:r>
                  </m:oMath>
                </a14:m>
                <a:endParaRPr lang="en-US" b="0" dirty="0"/>
              </a:p>
              <a:p>
                <a:pPr marL="742950" lvl="1" indent="-285750">
                  <a:buFont typeface="Arial" panose="020B0604020202020204" pitchFamily="34" charset="0"/>
                  <a:buChar char="•"/>
                </a:pPr>
                <a14:m>
                  <m:oMath xmlns:m="http://schemas.openxmlformats.org/officeDocument/2006/math">
                    <m:sSub>
                      <m:sSubPr>
                        <m:ctrlPr>
                          <a:rPr lang="en-US"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𝑜</m:t>
                            </m:r>
                          </m:sub>
                        </m:sSub>
                        <m:r>
                          <a:rPr lang="en-US" b="0" i="1" smtClean="0">
                            <a:latin typeface="Cambria Math" panose="02040503050406030204" pitchFamily="18" charset="0"/>
                          </a:rPr>
                          <m:t>=</m:t>
                        </m:r>
                        <m:r>
                          <a:rPr lang="en-US" b="0" i="1" smtClean="0">
                            <a:latin typeface="Cambria Math" panose="02040503050406030204" pitchFamily="18" charset="0"/>
                          </a:rPr>
                          <m:t>𝑣</m:t>
                        </m:r>
                      </m:e>
                      <m:sub>
                        <m:r>
                          <a:rPr lang="en-US" b="0" i="1" smtClean="0">
                            <a:latin typeface="Cambria Math" panose="02040503050406030204" pitchFamily="18" charset="0"/>
                          </a:rPr>
                          <m:t>3</m:t>
                        </m:r>
                      </m:sub>
                    </m:sSub>
                    <m:r>
                      <a:rPr lang="en-US" b="0" i="1" smtClean="0">
                        <a:latin typeface="Cambria Math" panose="02040503050406030204" pitchFamily="18" charset="0"/>
                      </a:rPr>
                      <m:t>=</m:t>
                    </m:r>
                    <m:r>
                      <a:rPr lang="en-US" b="0" i="1" smtClean="0">
                        <a:latin typeface="Cambria Math" panose="02040503050406030204" pitchFamily="18" charset="0"/>
                      </a:rPr>
                      <m:t>𝐴</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𝑜</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𝑜</m:t>
                            </m:r>
                          </m:sub>
                        </m:sSub>
                      </m:den>
                    </m:f>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oMath>
                </a14:m>
                <a:endParaRPr lang="en-US" dirty="0"/>
              </a:p>
              <a:p>
                <a:pPr marL="742950" lvl="1" indent="-285750">
                  <a:buFont typeface="Arial" panose="020B0604020202020204" pitchFamily="34" charset="0"/>
                  <a:buChar char="•"/>
                </a:pPr>
                <a:r>
                  <a:rPr lang="en-US" dirty="0"/>
                  <a:t>For two stages gain is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𝐴</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𝑜</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𝑜</m:t>
                                </m:r>
                              </m:sub>
                            </m:sSub>
                          </m:den>
                        </m:f>
                        <m:r>
                          <a:rPr lang="en-US" b="0" i="1" smtClean="0">
                            <a:latin typeface="Cambria Math" panose="02040503050406030204" pitchFamily="18" charset="0"/>
                          </a:rPr>
                          <m:t>)</m:t>
                        </m:r>
                      </m:e>
                      <m:sup>
                        <m:r>
                          <a:rPr lang="en-US" b="0" i="1" smtClean="0">
                            <a:latin typeface="Cambria Math" panose="02040503050406030204" pitchFamily="18" charset="0"/>
                          </a:rPr>
                          <m:t>2</m:t>
                        </m:r>
                      </m:sup>
                    </m:sSup>
                  </m:oMath>
                </a14:m>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Current gain, </a:t>
                </a:r>
                <a14:m>
                  <m:oMath xmlns:m="http://schemas.openxmlformats.org/officeDocument/2006/math">
                    <m:r>
                      <a:rPr lang="en-US" b="0" i="1" smtClean="0">
                        <a:latin typeface="Cambria Math" panose="02040503050406030204" pitchFamily="18" charset="0"/>
                      </a:rPr>
                      <m:t>𝐴</m:t>
                    </m:r>
                  </m:oMath>
                </a14:m>
                <a:endParaRPr lang="en-US" dirty="0"/>
              </a:p>
              <a:p>
                <a:pPr marL="742950" lvl="1" indent="-28575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𝑜</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3</m:t>
                        </m:r>
                      </m:sub>
                    </m:sSub>
                    <m:r>
                      <a:rPr lang="en-US" b="0" i="1" smtClean="0">
                        <a:latin typeface="Cambria Math" panose="02040503050406030204" pitchFamily="18" charset="0"/>
                      </a:rPr>
                      <m:t>=</m:t>
                    </m:r>
                    <m:r>
                      <a:rPr lang="en-US" b="0" i="1" smtClean="0">
                        <a:latin typeface="Cambria Math" panose="02040503050406030204" pitchFamily="18" charset="0"/>
                      </a:rPr>
                      <m:t>𝐴</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𝑖</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𝑜</m:t>
                            </m:r>
                          </m:sub>
                        </m:sSub>
                      </m:den>
                    </m:f>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𝑖</m:t>
                        </m:r>
                      </m:sub>
                    </m:sSub>
                  </m:oMath>
                </a14:m>
                <a:endParaRPr lang="en-US" dirty="0"/>
              </a:p>
              <a:p>
                <a:pPr marL="742950" lvl="1" indent="-285750">
                  <a:buFont typeface="Arial" panose="020B0604020202020204" pitchFamily="34" charset="0"/>
                  <a:buChar char="•"/>
                </a:pPr>
                <a:r>
                  <a:rPr lang="en-US" dirty="0"/>
                  <a:t>For two stages, gain is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m:t>
                        </m:r>
                        <m:r>
                          <a:rPr lang="en-US" i="1">
                            <a:latin typeface="Cambria Math" panose="02040503050406030204" pitchFamily="18" charset="0"/>
                          </a:rPr>
                          <m:t>𝐴</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𝑍</m:t>
                                </m:r>
                              </m:e>
                              <m:sub>
                                <m:r>
                                  <a:rPr lang="en-US" b="0" i="1" smtClean="0">
                                    <a:latin typeface="Cambria Math" panose="02040503050406030204" pitchFamily="18" charset="0"/>
                                  </a:rPr>
                                  <m:t>𝑖</m:t>
                                </m:r>
                              </m:sub>
                            </m:sSub>
                          </m:num>
                          <m:den>
                            <m:sSub>
                              <m:sSubPr>
                                <m:ctrlPr>
                                  <a:rPr lang="en-US" i="1">
                                    <a:latin typeface="Cambria Math" panose="02040503050406030204" pitchFamily="18" charset="0"/>
                                  </a:rPr>
                                </m:ctrlPr>
                              </m:sSubPr>
                              <m:e>
                                <m:r>
                                  <a:rPr lang="en-US" i="1">
                                    <a:latin typeface="Cambria Math" panose="02040503050406030204" pitchFamily="18" charset="0"/>
                                  </a:rPr>
                                  <m:t>𝑍</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𝑍</m:t>
                                </m:r>
                              </m:e>
                              <m:sub>
                                <m:r>
                                  <a:rPr lang="en-US" i="1">
                                    <a:latin typeface="Cambria Math" panose="02040503050406030204" pitchFamily="18" charset="0"/>
                                  </a:rPr>
                                  <m:t>𝑜</m:t>
                                </m:r>
                              </m:sub>
                            </m:sSub>
                          </m:den>
                        </m:f>
                        <m:r>
                          <a:rPr lang="en-US" i="1">
                            <a:latin typeface="Cambria Math" panose="02040503050406030204" pitchFamily="18" charset="0"/>
                          </a:rPr>
                          <m:t>)</m:t>
                        </m:r>
                      </m:e>
                      <m:sup>
                        <m:r>
                          <a:rPr lang="en-US" i="1">
                            <a:latin typeface="Cambria Math" panose="02040503050406030204" pitchFamily="18" charset="0"/>
                          </a:rPr>
                          <m:t>2</m:t>
                        </m:r>
                      </m:sup>
                    </m:sSup>
                  </m:oMath>
                </a14:m>
                <a:endParaRPr lang="en-US" dirty="0"/>
              </a:p>
              <a:p>
                <a:pPr lvl="1"/>
                <a:endParaRPr lang="en-US" dirty="0"/>
              </a:p>
              <a:p>
                <a:pPr marL="285750" indent="-285750">
                  <a:buFont typeface="Arial" panose="020B0604020202020204" pitchFamily="34" charset="0"/>
                  <a:buChar char="•"/>
                </a:pPr>
                <a:endParaRPr lang="en-US" dirty="0"/>
              </a:p>
            </p:txBody>
          </p:sp>
        </mc:Choice>
        <mc:Fallback xmlns="">
          <p:sp>
            <p:nvSpPr>
              <p:cNvPr id="2" name="TextBox 1">
                <a:extLst>
                  <a:ext uri="{FF2B5EF4-FFF2-40B4-BE49-F238E27FC236}">
                    <a16:creationId xmlns:a16="http://schemas.microsoft.com/office/drawing/2014/main" id="{90634707-4D29-A24B-9993-4EFA7D020944}"/>
                  </a:ext>
                </a:extLst>
              </p:cNvPr>
              <p:cNvSpPr txBox="1">
                <a:spLocks noRot="1" noChangeAspect="1" noMove="1" noResize="1" noEditPoints="1" noAdjustHandles="1" noChangeArrowheads="1" noChangeShapeType="1" noTextEdit="1"/>
              </p:cNvSpPr>
              <p:nvPr/>
            </p:nvSpPr>
            <p:spPr>
              <a:xfrm>
                <a:off x="909102" y="2087601"/>
                <a:ext cx="6100751" cy="3910555"/>
              </a:xfrm>
              <a:prstGeom prst="rect">
                <a:avLst/>
              </a:prstGeom>
              <a:blipFill>
                <a:blip r:embed="rId3"/>
                <a:stretch>
                  <a:fillRect l="-624" t="-647"/>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64380108-937C-05BE-FDC9-71BBBC875287}"/>
              </a:ext>
            </a:extLst>
          </p:cNvPr>
          <p:cNvGrpSpPr/>
          <p:nvPr/>
        </p:nvGrpSpPr>
        <p:grpSpPr>
          <a:xfrm>
            <a:off x="7392035" y="2087601"/>
            <a:ext cx="4179934" cy="1524237"/>
            <a:chOff x="7392035" y="1493241"/>
            <a:chExt cx="4179934" cy="1524237"/>
          </a:xfrm>
        </p:grpSpPr>
        <p:sp>
          <p:nvSpPr>
            <p:cNvPr id="123" name="Freeform 12">
              <a:extLst>
                <a:ext uri="{FF2B5EF4-FFF2-40B4-BE49-F238E27FC236}">
                  <a16:creationId xmlns:a16="http://schemas.microsoft.com/office/drawing/2014/main" id="{B58BDD57-A486-7244-B0B9-4392788A7B00}"/>
                </a:ext>
              </a:extLst>
            </p:cNvPr>
            <p:cNvSpPr>
              <a:spLocks noChangeAspect="1"/>
            </p:cNvSpPr>
            <p:nvPr/>
          </p:nvSpPr>
          <p:spPr bwMode="auto">
            <a:xfrm>
              <a:off x="8623536" y="1976075"/>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24" name="Group 220">
              <a:extLst>
                <a:ext uri="{FF2B5EF4-FFF2-40B4-BE49-F238E27FC236}">
                  <a16:creationId xmlns:a16="http://schemas.microsoft.com/office/drawing/2014/main" id="{59F91353-1E6C-1F40-A418-7B278C511027}"/>
                </a:ext>
              </a:extLst>
            </p:cNvPr>
            <p:cNvGrpSpPr>
              <a:grpSpLocks/>
            </p:cNvGrpSpPr>
            <p:nvPr/>
          </p:nvGrpSpPr>
          <p:grpSpPr bwMode="auto">
            <a:xfrm>
              <a:off x="8623533" y="2678813"/>
              <a:ext cx="152400" cy="304800"/>
              <a:chOff x="3264" y="3072"/>
              <a:chExt cx="96" cy="192"/>
            </a:xfrm>
          </p:grpSpPr>
          <p:sp>
            <p:nvSpPr>
              <p:cNvPr id="126" name="Line 17">
                <a:extLst>
                  <a:ext uri="{FF2B5EF4-FFF2-40B4-BE49-F238E27FC236}">
                    <a16:creationId xmlns:a16="http://schemas.microsoft.com/office/drawing/2014/main" id="{FB5D8354-129D-2649-B730-5A9C85F9A7A2}"/>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 name="Freeform 18">
                <a:extLst>
                  <a:ext uri="{FF2B5EF4-FFF2-40B4-BE49-F238E27FC236}">
                    <a16:creationId xmlns:a16="http://schemas.microsoft.com/office/drawing/2014/main" id="{9BECC4D0-4A24-2F46-BA2F-DA6FAAD636E8}"/>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95" name="Group 207">
              <a:extLst>
                <a:ext uri="{FF2B5EF4-FFF2-40B4-BE49-F238E27FC236}">
                  <a16:creationId xmlns:a16="http://schemas.microsoft.com/office/drawing/2014/main" id="{66D6871A-915A-7544-9D0B-DB853689A428}"/>
                </a:ext>
              </a:extLst>
            </p:cNvPr>
            <p:cNvGrpSpPr>
              <a:grpSpLocks/>
            </p:cNvGrpSpPr>
            <p:nvPr/>
          </p:nvGrpSpPr>
          <p:grpSpPr bwMode="auto">
            <a:xfrm>
              <a:off x="7785148" y="1975848"/>
              <a:ext cx="304800" cy="762000"/>
              <a:chOff x="4560" y="2400"/>
              <a:chExt cx="192" cy="480"/>
            </a:xfrm>
          </p:grpSpPr>
          <p:sp>
            <p:nvSpPr>
              <p:cNvPr id="196" name="Oval 111">
                <a:extLst>
                  <a:ext uri="{FF2B5EF4-FFF2-40B4-BE49-F238E27FC236}">
                    <a16:creationId xmlns:a16="http://schemas.microsoft.com/office/drawing/2014/main" id="{8D516F4E-8565-B348-9BFE-8BDB621B3F2A}"/>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200" name="Line 112">
                <a:extLst>
                  <a:ext uri="{FF2B5EF4-FFF2-40B4-BE49-F238E27FC236}">
                    <a16:creationId xmlns:a16="http://schemas.microsoft.com/office/drawing/2014/main" id="{C0883C3F-3E73-DA4C-A43A-6A6A884F2C4F}"/>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1" name="Line 113">
                <a:extLst>
                  <a:ext uri="{FF2B5EF4-FFF2-40B4-BE49-F238E27FC236}">
                    <a16:creationId xmlns:a16="http://schemas.microsoft.com/office/drawing/2014/main" id="{765D631C-30DF-8748-A4EF-F71A5AAB2B15}"/>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05" name="Group 117">
                <a:extLst>
                  <a:ext uri="{FF2B5EF4-FFF2-40B4-BE49-F238E27FC236}">
                    <a16:creationId xmlns:a16="http://schemas.microsoft.com/office/drawing/2014/main" id="{DB4B2ADF-C0F7-1C49-8176-DDDAB1B93918}"/>
                  </a:ext>
                </a:extLst>
              </p:cNvPr>
              <p:cNvGrpSpPr>
                <a:grpSpLocks noChangeAspect="1"/>
              </p:cNvGrpSpPr>
              <p:nvPr/>
            </p:nvGrpSpPr>
            <p:grpSpPr bwMode="auto">
              <a:xfrm>
                <a:off x="4608" y="2592"/>
                <a:ext cx="96" cy="96"/>
                <a:chOff x="2929" y="3217"/>
                <a:chExt cx="383" cy="191"/>
              </a:xfrm>
            </p:grpSpPr>
            <p:sp>
              <p:nvSpPr>
                <p:cNvPr id="206" name="Arc 118">
                  <a:extLst>
                    <a:ext uri="{FF2B5EF4-FFF2-40B4-BE49-F238E27FC236}">
                      <a16:creationId xmlns:a16="http://schemas.microsoft.com/office/drawing/2014/main" id="{79890F74-6456-294F-87E3-7BDB1CF68C16}"/>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7" name="Arc 119">
                  <a:extLst>
                    <a:ext uri="{FF2B5EF4-FFF2-40B4-BE49-F238E27FC236}">
                      <a16:creationId xmlns:a16="http://schemas.microsoft.com/office/drawing/2014/main" id="{54F51AED-4781-134E-A2E5-2F5410454996}"/>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211" name="Freeform 12">
              <a:extLst>
                <a:ext uri="{FF2B5EF4-FFF2-40B4-BE49-F238E27FC236}">
                  <a16:creationId xmlns:a16="http://schemas.microsoft.com/office/drawing/2014/main" id="{0EE5FBE9-B3AC-7E4E-B830-C5DC6718F5E8}"/>
                </a:ext>
              </a:extLst>
            </p:cNvPr>
            <p:cNvSpPr>
              <a:spLocks noChangeAspect="1"/>
            </p:cNvSpPr>
            <p:nvPr/>
          </p:nvSpPr>
          <p:spPr bwMode="auto">
            <a:xfrm rot="5400000">
              <a:off x="8248793" y="1603541"/>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14" name="Group 220">
              <a:extLst>
                <a:ext uri="{FF2B5EF4-FFF2-40B4-BE49-F238E27FC236}">
                  <a16:creationId xmlns:a16="http://schemas.microsoft.com/office/drawing/2014/main" id="{B3BDFF01-99A4-DB49-AA9B-1E2C7C07F4C6}"/>
                </a:ext>
              </a:extLst>
            </p:cNvPr>
            <p:cNvGrpSpPr>
              <a:grpSpLocks/>
            </p:cNvGrpSpPr>
            <p:nvPr/>
          </p:nvGrpSpPr>
          <p:grpSpPr bwMode="auto">
            <a:xfrm>
              <a:off x="7857296" y="2712678"/>
              <a:ext cx="152400" cy="304800"/>
              <a:chOff x="3264" y="3072"/>
              <a:chExt cx="96" cy="192"/>
            </a:xfrm>
          </p:grpSpPr>
          <p:sp>
            <p:nvSpPr>
              <p:cNvPr id="219" name="Line 17">
                <a:extLst>
                  <a:ext uri="{FF2B5EF4-FFF2-40B4-BE49-F238E27FC236}">
                    <a16:creationId xmlns:a16="http://schemas.microsoft.com/office/drawing/2014/main" id="{F20869A8-5BBE-914E-89CE-0A0240413022}"/>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 name="Freeform 18">
                <a:extLst>
                  <a:ext uri="{FF2B5EF4-FFF2-40B4-BE49-F238E27FC236}">
                    <a16:creationId xmlns:a16="http://schemas.microsoft.com/office/drawing/2014/main" id="{D69BB0F6-D3B6-1B4E-98F7-0C6A245789E1}"/>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26" name="Freeform 12">
              <a:extLst>
                <a:ext uri="{FF2B5EF4-FFF2-40B4-BE49-F238E27FC236}">
                  <a16:creationId xmlns:a16="http://schemas.microsoft.com/office/drawing/2014/main" id="{582AE5FF-90EA-1048-8574-2C424DF9D653}"/>
                </a:ext>
              </a:extLst>
            </p:cNvPr>
            <p:cNvSpPr>
              <a:spLocks noChangeAspect="1"/>
            </p:cNvSpPr>
            <p:nvPr/>
          </p:nvSpPr>
          <p:spPr bwMode="auto">
            <a:xfrm>
              <a:off x="10970893" y="1980128"/>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52" name="Group 220">
              <a:extLst>
                <a:ext uri="{FF2B5EF4-FFF2-40B4-BE49-F238E27FC236}">
                  <a16:creationId xmlns:a16="http://schemas.microsoft.com/office/drawing/2014/main" id="{64C807C1-31BF-9A4F-B035-CE2F4B9E4D67}"/>
                </a:ext>
              </a:extLst>
            </p:cNvPr>
            <p:cNvGrpSpPr>
              <a:grpSpLocks/>
            </p:cNvGrpSpPr>
            <p:nvPr/>
          </p:nvGrpSpPr>
          <p:grpSpPr bwMode="auto">
            <a:xfrm>
              <a:off x="10970890" y="2682866"/>
              <a:ext cx="152400" cy="304800"/>
              <a:chOff x="3264" y="3072"/>
              <a:chExt cx="96" cy="192"/>
            </a:xfrm>
          </p:grpSpPr>
          <p:sp>
            <p:nvSpPr>
              <p:cNvPr id="253" name="Line 17">
                <a:extLst>
                  <a:ext uri="{FF2B5EF4-FFF2-40B4-BE49-F238E27FC236}">
                    <a16:creationId xmlns:a16="http://schemas.microsoft.com/office/drawing/2014/main" id="{3A4B8431-2D0E-3143-99D0-C4A6185B89E2}"/>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4" name="Freeform 18">
                <a:extLst>
                  <a:ext uri="{FF2B5EF4-FFF2-40B4-BE49-F238E27FC236}">
                    <a16:creationId xmlns:a16="http://schemas.microsoft.com/office/drawing/2014/main" id="{3A7D73BB-18C7-C740-BB51-8F5470B58CF8}"/>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55" name="Group 207">
              <a:extLst>
                <a:ext uri="{FF2B5EF4-FFF2-40B4-BE49-F238E27FC236}">
                  <a16:creationId xmlns:a16="http://schemas.microsoft.com/office/drawing/2014/main" id="{CC7ACA75-ADEC-7F45-83A3-CD69F42E96FE}"/>
                </a:ext>
              </a:extLst>
            </p:cNvPr>
            <p:cNvGrpSpPr>
              <a:grpSpLocks/>
            </p:cNvGrpSpPr>
            <p:nvPr/>
          </p:nvGrpSpPr>
          <p:grpSpPr bwMode="auto">
            <a:xfrm>
              <a:off x="10145205" y="1979901"/>
              <a:ext cx="304800" cy="762000"/>
              <a:chOff x="4560" y="2400"/>
              <a:chExt cx="192" cy="480"/>
            </a:xfrm>
          </p:grpSpPr>
          <p:sp>
            <p:nvSpPr>
              <p:cNvPr id="256" name="Oval 111">
                <a:extLst>
                  <a:ext uri="{FF2B5EF4-FFF2-40B4-BE49-F238E27FC236}">
                    <a16:creationId xmlns:a16="http://schemas.microsoft.com/office/drawing/2014/main" id="{6ED35F21-A7AC-3048-8F8A-AABA8A7A7816}"/>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262" name="Line 112">
                <a:extLst>
                  <a:ext uri="{FF2B5EF4-FFF2-40B4-BE49-F238E27FC236}">
                    <a16:creationId xmlns:a16="http://schemas.microsoft.com/office/drawing/2014/main" id="{E57746A7-E333-4244-81B3-DA5B2A995FFD}"/>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3" name="Line 113">
                <a:extLst>
                  <a:ext uri="{FF2B5EF4-FFF2-40B4-BE49-F238E27FC236}">
                    <a16:creationId xmlns:a16="http://schemas.microsoft.com/office/drawing/2014/main" id="{60630D41-C469-C341-BC77-6A2B307FC394}"/>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67" name="Group 117">
                <a:extLst>
                  <a:ext uri="{FF2B5EF4-FFF2-40B4-BE49-F238E27FC236}">
                    <a16:creationId xmlns:a16="http://schemas.microsoft.com/office/drawing/2014/main" id="{BE0230B6-10E6-BD4B-8DFB-11C92420B705}"/>
                  </a:ext>
                </a:extLst>
              </p:cNvPr>
              <p:cNvGrpSpPr>
                <a:grpSpLocks noChangeAspect="1"/>
              </p:cNvGrpSpPr>
              <p:nvPr/>
            </p:nvGrpSpPr>
            <p:grpSpPr bwMode="auto">
              <a:xfrm>
                <a:off x="4608" y="2592"/>
                <a:ext cx="96" cy="96"/>
                <a:chOff x="2929" y="3217"/>
                <a:chExt cx="383" cy="191"/>
              </a:xfrm>
            </p:grpSpPr>
            <p:sp>
              <p:nvSpPr>
                <p:cNvPr id="268" name="Arc 118">
                  <a:extLst>
                    <a:ext uri="{FF2B5EF4-FFF2-40B4-BE49-F238E27FC236}">
                      <a16:creationId xmlns:a16="http://schemas.microsoft.com/office/drawing/2014/main" id="{46D8F8C4-51E9-E245-A7D2-002E04A80273}"/>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9" name="Arc 119">
                  <a:extLst>
                    <a:ext uri="{FF2B5EF4-FFF2-40B4-BE49-F238E27FC236}">
                      <a16:creationId xmlns:a16="http://schemas.microsoft.com/office/drawing/2014/main" id="{DECCB55B-997B-CA4E-8666-BE3F8289F784}"/>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270" name="Freeform 12">
              <a:extLst>
                <a:ext uri="{FF2B5EF4-FFF2-40B4-BE49-F238E27FC236}">
                  <a16:creationId xmlns:a16="http://schemas.microsoft.com/office/drawing/2014/main" id="{1D74C13C-63D4-614E-A477-DE85D388A54B}"/>
                </a:ext>
              </a:extLst>
            </p:cNvPr>
            <p:cNvSpPr>
              <a:spLocks noChangeAspect="1"/>
            </p:cNvSpPr>
            <p:nvPr/>
          </p:nvSpPr>
          <p:spPr bwMode="auto">
            <a:xfrm rot="5400000">
              <a:off x="10596150" y="1607594"/>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71" name="Group 220">
              <a:extLst>
                <a:ext uri="{FF2B5EF4-FFF2-40B4-BE49-F238E27FC236}">
                  <a16:creationId xmlns:a16="http://schemas.microsoft.com/office/drawing/2014/main" id="{F5C6F893-AB47-CD4C-A4B6-B96AD3888AAC}"/>
                </a:ext>
              </a:extLst>
            </p:cNvPr>
            <p:cNvGrpSpPr>
              <a:grpSpLocks/>
            </p:cNvGrpSpPr>
            <p:nvPr/>
          </p:nvGrpSpPr>
          <p:grpSpPr bwMode="auto">
            <a:xfrm>
              <a:off x="10228239" y="2596987"/>
              <a:ext cx="152400" cy="304800"/>
              <a:chOff x="3264" y="3072"/>
              <a:chExt cx="96" cy="192"/>
            </a:xfrm>
          </p:grpSpPr>
          <p:sp>
            <p:nvSpPr>
              <p:cNvPr id="272" name="Line 17">
                <a:extLst>
                  <a:ext uri="{FF2B5EF4-FFF2-40B4-BE49-F238E27FC236}">
                    <a16:creationId xmlns:a16="http://schemas.microsoft.com/office/drawing/2014/main" id="{6EABFB03-99D9-5F40-A2E1-AE5C50E3FEF8}"/>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3" name="Freeform 18">
                <a:extLst>
                  <a:ext uri="{FF2B5EF4-FFF2-40B4-BE49-F238E27FC236}">
                    <a16:creationId xmlns:a16="http://schemas.microsoft.com/office/drawing/2014/main" id="{39953A38-784B-4948-A201-1580049A5B55}"/>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9B538E1-7991-9642-A2CB-82169593BF91}"/>
                    </a:ext>
                  </a:extLst>
                </p:cNvPr>
                <p:cNvSpPr txBox="1"/>
                <p:nvPr/>
              </p:nvSpPr>
              <p:spPr>
                <a:xfrm>
                  <a:off x="9722277" y="2149486"/>
                  <a:ext cx="511629"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p:txBody>
            </p:sp>
          </mc:Choice>
          <mc:Fallback xmlns="">
            <p:sp>
              <p:nvSpPr>
                <p:cNvPr id="4" name="TextBox 3">
                  <a:extLst>
                    <a:ext uri="{FF2B5EF4-FFF2-40B4-BE49-F238E27FC236}">
                      <a16:creationId xmlns:a16="http://schemas.microsoft.com/office/drawing/2014/main" id="{F9B538E1-7991-9642-A2CB-82169593BF91}"/>
                    </a:ext>
                  </a:extLst>
                </p:cNvPr>
                <p:cNvSpPr txBox="1">
                  <a:spLocks noRot="1" noChangeAspect="1" noMove="1" noResize="1" noEditPoints="1" noAdjustHandles="1" noChangeArrowheads="1" noChangeShapeType="1" noTextEdit="1"/>
                </p:cNvSpPr>
                <p:nvPr/>
              </p:nvSpPr>
              <p:spPr>
                <a:xfrm>
                  <a:off x="9722277" y="2149486"/>
                  <a:ext cx="511629"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4" name="TextBox 273">
                  <a:extLst>
                    <a:ext uri="{FF2B5EF4-FFF2-40B4-BE49-F238E27FC236}">
                      <a16:creationId xmlns:a16="http://schemas.microsoft.com/office/drawing/2014/main" id="{5D2809F2-062D-1145-AD4C-0D0297379C4A}"/>
                    </a:ext>
                  </a:extLst>
                </p:cNvPr>
                <p:cNvSpPr txBox="1"/>
                <p:nvPr/>
              </p:nvSpPr>
              <p:spPr>
                <a:xfrm>
                  <a:off x="8677169" y="1799875"/>
                  <a:ext cx="511629"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p:txBody>
            </p:sp>
          </mc:Choice>
          <mc:Fallback xmlns="">
            <p:sp>
              <p:nvSpPr>
                <p:cNvPr id="274" name="TextBox 273">
                  <a:extLst>
                    <a:ext uri="{FF2B5EF4-FFF2-40B4-BE49-F238E27FC236}">
                      <a16:creationId xmlns:a16="http://schemas.microsoft.com/office/drawing/2014/main" id="{5D2809F2-062D-1145-AD4C-0D0297379C4A}"/>
                    </a:ext>
                  </a:extLst>
                </p:cNvPr>
                <p:cNvSpPr txBox="1">
                  <a:spLocks noRot="1" noChangeAspect="1" noMove="1" noResize="1" noEditPoints="1" noAdjustHandles="1" noChangeArrowheads="1" noChangeShapeType="1" noTextEdit="1"/>
                </p:cNvSpPr>
                <p:nvPr/>
              </p:nvSpPr>
              <p:spPr>
                <a:xfrm>
                  <a:off x="8677169" y="1799875"/>
                  <a:ext cx="511629"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5" name="TextBox 274">
                  <a:extLst>
                    <a:ext uri="{FF2B5EF4-FFF2-40B4-BE49-F238E27FC236}">
                      <a16:creationId xmlns:a16="http://schemas.microsoft.com/office/drawing/2014/main" id="{62E0C4B5-F692-4947-98D6-A706E8ABC4D2}"/>
                    </a:ext>
                  </a:extLst>
                </p:cNvPr>
                <p:cNvSpPr txBox="1"/>
                <p:nvPr/>
              </p:nvSpPr>
              <p:spPr>
                <a:xfrm>
                  <a:off x="7772448" y="1493241"/>
                  <a:ext cx="1182903"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𝑜</m:t>
                            </m:r>
                          </m:sub>
                        </m:sSub>
                        <m:r>
                          <a:rPr lang="en-US" b="0" i="1" smtClean="0">
                            <a:latin typeface="Cambria Math" panose="02040503050406030204" pitchFamily="18" charset="0"/>
                          </a:rPr>
                          <m:t>)</m:t>
                        </m:r>
                      </m:oMath>
                    </m:oMathPara>
                  </a14:m>
                  <a:endParaRPr lang="en-US" dirty="0"/>
                </a:p>
              </p:txBody>
            </p:sp>
          </mc:Choice>
          <mc:Fallback xmlns="">
            <p:sp>
              <p:nvSpPr>
                <p:cNvPr id="275" name="TextBox 274">
                  <a:extLst>
                    <a:ext uri="{FF2B5EF4-FFF2-40B4-BE49-F238E27FC236}">
                      <a16:creationId xmlns:a16="http://schemas.microsoft.com/office/drawing/2014/main" id="{62E0C4B5-F692-4947-98D6-A706E8ABC4D2}"/>
                    </a:ext>
                  </a:extLst>
                </p:cNvPr>
                <p:cNvSpPr txBox="1">
                  <a:spLocks noRot="1" noChangeAspect="1" noMove="1" noResize="1" noEditPoints="1" noAdjustHandles="1" noChangeArrowheads="1" noChangeShapeType="1" noTextEdit="1"/>
                </p:cNvSpPr>
                <p:nvPr/>
              </p:nvSpPr>
              <p:spPr>
                <a:xfrm>
                  <a:off x="7772448" y="1493241"/>
                  <a:ext cx="1182903" cy="369332"/>
                </a:xfrm>
                <a:prstGeom prst="rect">
                  <a:avLst/>
                </a:prstGeom>
                <a:blipFill>
                  <a:blip r:embed="rId6"/>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6" name="TextBox 275">
                  <a:extLst>
                    <a:ext uri="{FF2B5EF4-FFF2-40B4-BE49-F238E27FC236}">
                      <a16:creationId xmlns:a16="http://schemas.microsoft.com/office/drawing/2014/main" id="{1A049909-8587-6542-849F-C156A65D0828}"/>
                    </a:ext>
                  </a:extLst>
                </p:cNvPr>
                <p:cNvSpPr txBox="1"/>
                <p:nvPr/>
              </p:nvSpPr>
              <p:spPr>
                <a:xfrm>
                  <a:off x="8658242" y="2149537"/>
                  <a:ext cx="1182903"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𝑖</m:t>
                            </m:r>
                          </m:sub>
                        </m:sSub>
                        <m:r>
                          <a:rPr lang="en-US" b="0" i="1" smtClean="0">
                            <a:latin typeface="Cambria Math" panose="02040503050406030204" pitchFamily="18" charset="0"/>
                          </a:rPr>
                          <m:t>)</m:t>
                        </m:r>
                      </m:oMath>
                    </m:oMathPara>
                  </a14:m>
                  <a:endParaRPr lang="en-US" dirty="0"/>
                </a:p>
              </p:txBody>
            </p:sp>
          </mc:Choice>
          <mc:Fallback xmlns="">
            <p:sp>
              <p:nvSpPr>
                <p:cNvPr id="276" name="TextBox 275">
                  <a:extLst>
                    <a:ext uri="{FF2B5EF4-FFF2-40B4-BE49-F238E27FC236}">
                      <a16:creationId xmlns:a16="http://schemas.microsoft.com/office/drawing/2014/main" id="{1A049909-8587-6542-849F-C156A65D0828}"/>
                    </a:ext>
                  </a:extLst>
                </p:cNvPr>
                <p:cNvSpPr txBox="1">
                  <a:spLocks noRot="1" noChangeAspect="1" noMove="1" noResize="1" noEditPoints="1" noAdjustHandles="1" noChangeArrowheads="1" noChangeShapeType="1" noTextEdit="1"/>
                </p:cNvSpPr>
                <p:nvPr/>
              </p:nvSpPr>
              <p:spPr>
                <a:xfrm>
                  <a:off x="8658242" y="2149537"/>
                  <a:ext cx="1182903" cy="369332"/>
                </a:xfrm>
                <a:prstGeom prst="rect">
                  <a:avLst/>
                </a:prstGeom>
                <a:blipFill>
                  <a:blip r:embed="rId7"/>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7" name="TextBox 276">
                  <a:extLst>
                    <a:ext uri="{FF2B5EF4-FFF2-40B4-BE49-F238E27FC236}">
                      <a16:creationId xmlns:a16="http://schemas.microsoft.com/office/drawing/2014/main" id="{4B3C1709-C92C-CF46-A522-D41959C17ECA}"/>
                    </a:ext>
                  </a:extLst>
                </p:cNvPr>
                <p:cNvSpPr txBox="1"/>
                <p:nvPr/>
              </p:nvSpPr>
              <p:spPr>
                <a:xfrm>
                  <a:off x="10431781" y="1515887"/>
                  <a:ext cx="609600"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3</m:t>
                            </m:r>
                          </m:sub>
                        </m:sSub>
                      </m:oMath>
                    </m:oMathPara>
                  </a14:m>
                  <a:endParaRPr lang="en-US" dirty="0"/>
                </a:p>
              </p:txBody>
            </p:sp>
          </mc:Choice>
          <mc:Fallback xmlns="">
            <p:sp>
              <p:nvSpPr>
                <p:cNvPr id="277" name="TextBox 276">
                  <a:extLst>
                    <a:ext uri="{FF2B5EF4-FFF2-40B4-BE49-F238E27FC236}">
                      <a16:creationId xmlns:a16="http://schemas.microsoft.com/office/drawing/2014/main" id="{4B3C1709-C92C-CF46-A522-D41959C17ECA}"/>
                    </a:ext>
                  </a:extLst>
                </p:cNvPr>
                <p:cNvSpPr txBox="1">
                  <a:spLocks noRot="1" noChangeAspect="1" noMove="1" noResize="1" noEditPoints="1" noAdjustHandles="1" noChangeArrowheads="1" noChangeShapeType="1" noTextEdit="1"/>
                </p:cNvSpPr>
                <p:nvPr/>
              </p:nvSpPr>
              <p:spPr>
                <a:xfrm>
                  <a:off x="10431781" y="1515887"/>
                  <a:ext cx="609600"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8" name="TextBox 277">
                  <a:extLst>
                    <a:ext uri="{FF2B5EF4-FFF2-40B4-BE49-F238E27FC236}">
                      <a16:creationId xmlns:a16="http://schemas.microsoft.com/office/drawing/2014/main" id="{E0EE266C-CFEC-764F-B504-CF1759A9EEEC}"/>
                    </a:ext>
                  </a:extLst>
                </p:cNvPr>
                <p:cNvSpPr txBox="1"/>
                <p:nvPr/>
              </p:nvSpPr>
              <p:spPr>
                <a:xfrm>
                  <a:off x="10962369" y="2172731"/>
                  <a:ext cx="609600"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4</m:t>
                            </m:r>
                          </m:sub>
                        </m:sSub>
                      </m:oMath>
                    </m:oMathPara>
                  </a14:m>
                  <a:endParaRPr lang="en-US" dirty="0"/>
                </a:p>
              </p:txBody>
            </p:sp>
          </mc:Choice>
          <mc:Fallback xmlns="">
            <p:sp>
              <p:nvSpPr>
                <p:cNvPr id="278" name="TextBox 277">
                  <a:extLst>
                    <a:ext uri="{FF2B5EF4-FFF2-40B4-BE49-F238E27FC236}">
                      <a16:creationId xmlns:a16="http://schemas.microsoft.com/office/drawing/2014/main" id="{E0EE266C-CFEC-764F-B504-CF1759A9EEEC}"/>
                    </a:ext>
                  </a:extLst>
                </p:cNvPr>
                <p:cNvSpPr txBox="1">
                  <a:spLocks noRot="1" noChangeAspect="1" noMove="1" noResize="1" noEditPoints="1" noAdjustHandles="1" noChangeArrowheads="1" noChangeShapeType="1" noTextEdit="1"/>
                </p:cNvSpPr>
                <p:nvPr/>
              </p:nvSpPr>
              <p:spPr>
                <a:xfrm>
                  <a:off x="10962369" y="2172731"/>
                  <a:ext cx="609600"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BC740551-B0AE-EC4C-B338-36F730024456}"/>
                    </a:ext>
                  </a:extLst>
                </p:cNvPr>
                <p:cNvSpPr txBox="1"/>
                <p:nvPr/>
              </p:nvSpPr>
              <p:spPr>
                <a:xfrm>
                  <a:off x="7392035" y="2173786"/>
                  <a:ext cx="511629"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oMath>
                    </m:oMathPara>
                  </a14:m>
                  <a:endParaRPr lang="en-US" dirty="0"/>
                </a:p>
              </p:txBody>
            </p:sp>
          </mc:Choice>
          <mc:Fallback xmlns="">
            <p:sp>
              <p:nvSpPr>
                <p:cNvPr id="279" name="TextBox 278">
                  <a:extLst>
                    <a:ext uri="{FF2B5EF4-FFF2-40B4-BE49-F238E27FC236}">
                      <a16:creationId xmlns:a16="http://schemas.microsoft.com/office/drawing/2014/main" id="{BC740551-B0AE-EC4C-B338-36F730024456}"/>
                    </a:ext>
                  </a:extLst>
                </p:cNvPr>
                <p:cNvSpPr txBox="1">
                  <a:spLocks noRot="1" noChangeAspect="1" noMove="1" noResize="1" noEditPoints="1" noAdjustHandles="1" noChangeArrowheads="1" noChangeShapeType="1" noTextEdit="1"/>
                </p:cNvSpPr>
                <p:nvPr/>
              </p:nvSpPr>
              <p:spPr>
                <a:xfrm>
                  <a:off x="7392035" y="2173786"/>
                  <a:ext cx="511629" cy="369332"/>
                </a:xfrm>
                <a:prstGeom prst="rect">
                  <a:avLst/>
                </a:prstGeom>
                <a:blipFill>
                  <a:blip r:embed="rId10"/>
                  <a:stretch>
                    <a:fillRect/>
                  </a:stretch>
                </a:blipFill>
              </p:spPr>
              <p:txBody>
                <a:bodyPr/>
                <a:lstStyle/>
                <a:p>
                  <a:r>
                    <a:rPr lang="en-US">
                      <a:noFill/>
                    </a:rPr>
                    <a:t> </a:t>
                  </a:r>
                </a:p>
              </p:txBody>
            </p:sp>
          </mc:Fallback>
        </mc:AlternateContent>
      </p:grpSp>
      <p:grpSp>
        <p:nvGrpSpPr>
          <p:cNvPr id="12" name="Group 11">
            <a:extLst>
              <a:ext uri="{FF2B5EF4-FFF2-40B4-BE49-F238E27FC236}">
                <a16:creationId xmlns:a16="http://schemas.microsoft.com/office/drawing/2014/main" id="{4DED5096-8771-FC4C-9489-DF003AC17225}"/>
              </a:ext>
            </a:extLst>
          </p:cNvPr>
          <p:cNvGrpSpPr/>
          <p:nvPr/>
        </p:nvGrpSpPr>
        <p:grpSpPr>
          <a:xfrm>
            <a:off x="7621201" y="4242478"/>
            <a:ext cx="3950768" cy="1434053"/>
            <a:chOff x="8063408" y="4233596"/>
            <a:chExt cx="3950768" cy="1434053"/>
          </a:xfrm>
        </p:grpSpPr>
        <p:grpSp>
          <p:nvGrpSpPr>
            <p:cNvPr id="128" name="Group 204">
              <a:extLst>
                <a:ext uri="{FF2B5EF4-FFF2-40B4-BE49-F238E27FC236}">
                  <a16:creationId xmlns:a16="http://schemas.microsoft.com/office/drawing/2014/main" id="{D1FD2ADD-3595-114E-AFC3-35529DC539EB}"/>
                </a:ext>
              </a:extLst>
            </p:cNvPr>
            <p:cNvGrpSpPr>
              <a:grpSpLocks/>
            </p:cNvGrpSpPr>
            <p:nvPr/>
          </p:nvGrpSpPr>
          <p:grpSpPr bwMode="auto">
            <a:xfrm>
              <a:off x="8498803" y="4660138"/>
              <a:ext cx="304800" cy="762000"/>
              <a:chOff x="3552" y="2400"/>
              <a:chExt cx="192" cy="480"/>
            </a:xfrm>
          </p:grpSpPr>
          <p:sp>
            <p:nvSpPr>
              <p:cNvPr id="129" name="Line 52">
                <a:extLst>
                  <a:ext uri="{FF2B5EF4-FFF2-40B4-BE49-F238E27FC236}">
                    <a16:creationId xmlns:a16="http://schemas.microsoft.com/office/drawing/2014/main" id="{132C6133-CF84-5945-9919-FF006B509105}"/>
                  </a:ext>
                </a:extLst>
              </p:cNvPr>
              <p:cNvSpPr>
                <a:spLocks noChangeAspect="1" noChangeShapeType="1"/>
              </p:cNvSpPr>
              <p:nvPr/>
            </p:nvSpPr>
            <p:spPr bwMode="auto">
              <a:xfrm flipV="1">
                <a:off x="3648" y="2400"/>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 name="Line 53">
                <a:extLst>
                  <a:ext uri="{FF2B5EF4-FFF2-40B4-BE49-F238E27FC236}">
                    <a16:creationId xmlns:a16="http://schemas.microsoft.com/office/drawing/2014/main" id="{AFE22872-8D1E-1C4D-B809-2C9D46540D9E}"/>
                  </a:ext>
                </a:extLst>
              </p:cNvPr>
              <p:cNvSpPr>
                <a:spLocks noChangeAspect="1" noChangeShapeType="1"/>
              </p:cNvSpPr>
              <p:nvPr/>
            </p:nvSpPr>
            <p:spPr bwMode="auto">
              <a:xfrm flipV="1">
                <a:off x="3648" y="2784"/>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 name="Freeform 57">
                <a:extLst>
                  <a:ext uri="{FF2B5EF4-FFF2-40B4-BE49-F238E27FC236}">
                    <a16:creationId xmlns:a16="http://schemas.microsoft.com/office/drawing/2014/main" id="{FE79F5BF-CBF8-AF4D-B597-DF5864948E27}"/>
                  </a:ext>
                </a:extLst>
              </p:cNvPr>
              <p:cNvSpPr>
                <a:spLocks noChangeAspect="1"/>
              </p:cNvSpPr>
              <p:nvPr/>
            </p:nvSpPr>
            <p:spPr bwMode="auto">
              <a:xfrm>
                <a:off x="3552" y="2496"/>
                <a:ext cx="192" cy="288"/>
              </a:xfrm>
              <a:custGeom>
                <a:avLst/>
                <a:gdLst>
                  <a:gd name="T0" fmla="*/ 3 w 384"/>
                  <a:gd name="T1" fmla="*/ 0 h 576"/>
                  <a:gd name="T2" fmla="*/ 0 w 384"/>
                  <a:gd name="T3" fmla="*/ 5 h 576"/>
                  <a:gd name="T4" fmla="*/ 3 w 384"/>
                  <a:gd name="T5" fmla="*/ 9 h 576"/>
                  <a:gd name="T6" fmla="*/ 6 w 384"/>
                  <a:gd name="T7" fmla="*/ 5 h 576"/>
                  <a:gd name="T8" fmla="*/ 3 w 384"/>
                  <a:gd name="T9" fmla="*/ 0 h 576"/>
                  <a:gd name="T10" fmla="*/ 0 60000 65536"/>
                  <a:gd name="T11" fmla="*/ 0 60000 65536"/>
                  <a:gd name="T12" fmla="*/ 0 60000 65536"/>
                  <a:gd name="T13" fmla="*/ 0 60000 65536"/>
                  <a:gd name="T14" fmla="*/ 0 60000 65536"/>
                  <a:gd name="T15" fmla="*/ 0 w 384"/>
                  <a:gd name="T16" fmla="*/ 0 h 576"/>
                  <a:gd name="T17" fmla="*/ 384 w 384"/>
                  <a:gd name="T18" fmla="*/ 576 h 576"/>
                </a:gdLst>
                <a:ahLst/>
                <a:cxnLst>
                  <a:cxn ang="T10">
                    <a:pos x="T0" y="T1"/>
                  </a:cxn>
                  <a:cxn ang="T11">
                    <a:pos x="T2" y="T3"/>
                  </a:cxn>
                  <a:cxn ang="T12">
                    <a:pos x="T4" y="T5"/>
                  </a:cxn>
                  <a:cxn ang="T13">
                    <a:pos x="T6" y="T7"/>
                  </a:cxn>
                  <a:cxn ang="T14">
                    <a:pos x="T8" y="T9"/>
                  </a:cxn>
                </a:cxnLst>
                <a:rect l="T15" t="T16" r="T17" b="T18"/>
                <a:pathLst>
                  <a:path w="384" h="576">
                    <a:moveTo>
                      <a:pt x="192" y="0"/>
                    </a:moveTo>
                    <a:lnTo>
                      <a:pt x="0" y="288"/>
                    </a:lnTo>
                    <a:lnTo>
                      <a:pt x="192" y="576"/>
                    </a:lnTo>
                    <a:lnTo>
                      <a:pt x="384" y="288"/>
                    </a:lnTo>
                    <a:lnTo>
                      <a:pt x="192"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mc:AlternateContent xmlns:mc="http://schemas.openxmlformats.org/markup-compatibility/2006" xmlns:a14="http://schemas.microsoft.com/office/drawing/2010/main">
          <mc:Choice Requires="a14">
            <p:sp>
              <p:nvSpPr>
                <p:cNvPr id="280" name="TextBox 279">
                  <a:extLst>
                    <a:ext uri="{FF2B5EF4-FFF2-40B4-BE49-F238E27FC236}">
                      <a16:creationId xmlns:a16="http://schemas.microsoft.com/office/drawing/2014/main" id="{BD3C111E-E3A7-9C47-AC09-E3D1CF81CBBB}"/>
                    </a:ext>
                  </a:extLst>
                </p:cNvPr>
                <p:cNvSpPr txBox="1"/>
                <p:nvPr/>
              </p:nvSpPr>
              <p:spPr>
                <a:xfrm>
                  <a:off x="8063408" y="4838141"/>
                  <a:ext cx="511629"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𝑖</m:t>
                            </m:r>
                          </m:sub>
                        </m:sSub>
                      </m:oMath>
                    </m:oMathPara>
                  </a14:m>
                  <a:endParaRPr lang="en-US" dirty="0"/>
                </a:p>
              </p:txBody>
            </p:sp>
          </mc:Choice>
          <mc:Fallback xmlns="">
            <p:sp>
              <p:nvSpPr>
                <p:cNvPr id="280" name="TextBox 279">
                  <a:extLst>
                    <a:ext uri="{FF2B5EF4-FFF2-40B4-BE49-F238E27FC236}">
                      <a16:creationId xmlns:a16="http://schemas.microsoft.com/office/drawing/2014/main" id="{BD3C111E-E3A7-9C47-AC09-E3D1CF81CBBB}"/>
                    </a:ext>
                  </a:extLst>
                </p:cNvPr>
                <p:cNvSpPr txBox="1">
                  <a:spLocks noRot="1" noChangeAspect="1" noMove="1" noResize="1" noEditPoints="1" noAdjustHandles="1" noChangeArrowheads="1" noChangeShapeType="1" noTextEdit="1"/>
                </p:cNvSpPr>
                <p:nvPr/>
              </p:nvSpPr>
              <p:spPr>
                <a:xfrm>
                  <a:off x="8063408" y="4838141"/>
                  <a:ext cx="511629" cy="369332"/>
                </a:xfrm>
                <a:prstGeom prst="rect">
                  <a:avLst/>
                </a:prstGeom>
                <a:blipFill>
                  <a:blip r:embed="rId11"/>
                  <a:stretch>
                    <a:fillRect/>
                  </a:stretch>
                </a:blipFill>
              </p:spPr>
              <p:txBody>
                <a:bodyPr/>
                <a:lstStyle/>
                <a:p>
                  <a:r>
                    <a:rPr lang="en-US">
                      <a:noFill/>
                    </a:rPr>
                    <a:t> </a:t>
                  </a:r>
                </a:p>
              </p:txBody>
            </p:sp>
          </mc:Fallback>
        </mc:AlternateContent>
        <p:sp>
          <p:nvSpPr>
            <p:cNvPr id="281" name="Freeform 12">
              <a:extLst>
                <a:ext uri="{FF2B5EF4-FFF2-40B4-BE49-F238E27FC236}">
                  <a16:creationId xmlns:a16="http://schemas.microsoft.com/office/drawing/2014/main" id="{4B47F4B8-42F3-A84A-84B0-F87436A2033B}"/>
                </a:ext>
              </a:extLst>
            </p:cNvPr>
            <p:cNvSpPr>
              <a:spLocks noChangeAspect="1"/>
            </p:cNvSpPr>
            <p:nvPr/>
          </p:nvSpPr>
          <p:spPr bwMode="auto">
            <a:xfrm>
              <a:off x="8986562" y="4651063"/>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2" name="Freeform 12">
              <a:extLst>
                <a:ext uri="{FF2B5EF4-FFF2-40B4-BE49-F238E27FC236}">
                  <a16:creationId xmlns:a16="http://schemas.microsoft.com/office/drawing/2014/main" id="{390D9932-EE53-E845-A703-F6640E382DC4}"/>
                </a:ext>
              </a:extLst>
            </p:cNvPr>
            <p:cNvSpPr>
              <a:spLocks noChangeAspect="1"/>
            </p:cNvSpPr>
            <p:nvPr/>
          </p:nvSpPr>
          <p:spPr bwMode="auto">
            <a:xfrm>
              <a:off x="9596166" y="4665238"/>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83" name="Group 220">
              <a:extLst>
                <a:ext uri="{FF2B5EF4-FFF2-40B4-BE49-F238E27FC236}">
                  <a16:creationId xmlns:a16="http://schemas.microsoft.com/office/drawing/2014/main" id="{C74D775C-B4CD-0347-951E-5A61B0C3F318}"/>
                </a:ext>
              </a:extLst>
            </p:cNvPr>
            <p:cNvGrpSpPr>
              <a:grpSpLocks/>
            </p:cNvGrpSpPr>
            <p:nvPr/>
          </p:nvGrpSpPr>
          <p:grpSpPr bwMode="auto">
            <a:xfrm>
              <a:off x="8579763" y="5345134"/>
              <a:ext cx="152400" cy="304800"/>
              <a:chOff x="3264" y="3072"/>
              <a:chExt cx="96" cy="192"/>
            </a:xfrm>
          </p:grpSpPr>
          <p:sp>
            <p:nvSpPr>
              <p:cNvPr id="284" name="Line 17">
                <a:extLst>
                  <a:ext uri="{FF2B5EF4-FFF2-40B4-BE49-F238E27FC236}">
                    <a16:creationId xmlns:a16="http://schemas.microsoft.com/office/drawing/2014/main" id="{20B8933E-A101-5744-A4C0-226C105306B3}"/>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5" name="Freeform 18">
                <a:extLst>
                  <a:ext uri="{FF2B5EF4-FFF2-40B4-BE49-F238E27FC236}">
                    <a16:creationId xmlns:a16="http://schemas.microsoft.com/office/drawing/2014/main" id="{D5150CE8-4029-494E-A96A-40B0372DA35C}"/>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86" name="Group 220">
              <a:extLst>
                <a:ext uri="{FF2B5EF4-FFF2-40B4-BE49-F238E27FC236}">
                  <a16:creationId xmlns:a16="http://schemas.microsoft.com/office/drawing/2014/main" id="{E758957F-37F2-6040-9595-7B4614486F56}"/>
                </a:ext>
              </a:extLst>
            </p:cNvPr>
            <p:cNvGrpSpPr>
              <a:grpSpLocks/>
            </p:cNvGrpSpPr>
            <p:nvPr/>
          </p:nvGrpSpPr>
          <p:grpSpPr bwMode="auto">
            <a:xfrm>
              <a:off x="8987347" y="5359307"/>
              <a:ext cx="152400" cy="304800"/>
              <a:chOff x="3264" y="3072"/>
              <a:chExt cx="96" cy="192"/>
            </a:xfrm>
          </p:grpSpPr>
          <p:sp>
            <p:nvSpPr>
              <p:cNvPr id="287" name="Line 17">
                <a:extLst>
                  <a:ext uri="{FF2B5EF4-FFF2-40B4-BE49-F238E27FC236}">
                    <a16:creationId xmlns:a16="http://schemas.microsoft.com/office/drawing/2014/main" id="{17673809-C9E1-FF43-A943-14F258533E9C}"/>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 name="Freeform 18">
                <a:extLst>
                  <a:ext uri="{FF2B5EF4-FFF2-40B4-BE49-F238E27FC236}">
                    <a16:creationId xmlns:a16="http://schemas.microsoft.com/office/drawing/2014/main" id="{96F2FA21-362B-8743-B400-E2CC5F1720E1}"/>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89" name="Group 220">
              <a:extLst>
                <a:ext uri="{FF2B5EF4-FFF2-40B4-BE49-F238E27FC236}">
                  <a16:creationId xmlns:a16="http://schemas.microsoft.com/office/drawing/2014/main" id="{704D13ED-3A52-094B-8F7B-F0847DFD9D67}"/>
                </a:ext>
              </a:extLst>
            </p:cNvPr>
            <p:cNvGrpSpPr>
              <a:grpSpLocks/>
            </p:cNvGrpSpPr>
            <p:nvPr/>
          </p:nvGrpSpPr>
          <p:grpSpPr bwMode="auto">
            <a:xfrm>
              <a:off x="9596953" y="5352216"/>
              <a:ext cx="152400" cy="304800"/>
              <a:chOff x="3264" y="3072"/>
              <a:chExt cx="96" cy="192"/>
            </a:xfrm>
          </p:grpSpPr>
          <p:sp>
            <p:nvSpPr>
              <p:cNvPr id="290" name="Line 17">
                <a:extLst>
                  <a:ext uri="{FF2B5EF4-FFF2-40B4-BE49-F238E27FC236}">
                    <a16:creationId xmlns:a16="http://schemas.microsoft.com/office/drawing/2014/main" id="{4D049D47-9FB0-314A-8C89-E875555AB1B1}"/>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1" name="Freeform 18">
                <a:extLst>
                  <a:ext uri="{FF2B5EF4-FFF2-40B4-BE49-F238E27FC236}">
                    <a16:creationId xmlns:a16="http://schemas.microsoft.com/office/drawing/2014/main" id="{3B3A59F3-19D0-7344-B56B-0AD6858CCE69}"/>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cxnSp>
          <p:nvCxnSpPr>
            <p:cNvPr id="8" name="Straight Connector 7">
              <a:extLst>
                <a:ext uri="{FF2B5EF4-FFF2-40B4-BE49-F238E27FC236}">
                  <a16:creationId xmlns:a16="http://schemas.microsoft.com/office/drawing/2014/main" id="{90E6C05A-4907-6C45-A936-EE3BD69E42A8}"/>
                </a:ext>
              </a:extLst>
            </p:cNvPr>
            <p:cNvCxnSpPr>
              <a:cxnSpLocks/>
            </p:cNvCxnSpPr>
            <p:nvPr/>
          </p:nvCxnSpPr>
          <p:spPr>
            <a:xfrm>
              <a:off x="8629937" y="4649505"/>
              <a:ext cx="106070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2" name="TextBox 291">
                  <a:extLst>
                    <a:ext uri="{FF2B5EF4-FFF2-40B4-BE49-F238E27FC236}">
                      <a16:creationId xmlns:a16="http://schemas.microsoft.com/office/drawing/2014/main" id="{7BDF8E46-7DF5-FE4F-96CE-77211E1AA972}"/>
                    </a:ext>
                  </a:extLst>
                </p:cNvPr>
                <p:cNvSpPr txBox="1"/>
                <p:nvPr/>
              </p:nvSpPr>
              <p:spPr>
                <a:xfrm>
                  <a:off x="9136992" y="4870742"/>
                  <a:ext cx="445274"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𝑖</m:t>
                            </m:r>
                          </m:sub>
                        </m:sSub>
                      </m:oMath>
                    </m:oMathPara>
                  </a14:m>
                  <a:endParaRPr lang="en-US" dirty="0"/>
                </a:p>
              </p:txBody>
            </p:sp>
          </mc:Choice>
          <mc:Fallback xmlns="">
            <p:sp>
              <p:nvSpPr>
                <p:cNvPr id="292" name="TextBox 291">
                  <a:extLst>
                    <a:ext uri="{FF2B5EF4-FFF2-40B4-BE49-F238E27FC236}">
                      <a16:creationId xmlns:a16="http://schemas.microsoft.com/office/drawing/2014/main" id="{7BDF8E46-7DF5-FE4F-96CE-77211E1AA972}"/>
                    </a:ext>
                  </a:extLst>
                </p:cNvPr>
                <p:cNvSpPr txBox="1">
                  <a:spLocks noRot="1" noChangeAspect="1" noMove="1" noResize="1" noEditPoints="1" noAdjustHandles="1" noChangeArrowheads="1" noChangeShapeType="1" noTextEdit="1"/>
                </p:cNvSpPr>
                <p:nvPr/>
              </p:nvSpPr>
              <p:spPr>
                <a:xfrm>
                  <a:off x="9136992" y="4870742"/>
                  <a:ext cx="445274"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F54A4DE7-C715-1842-A577-F059206DA145}"/>
                    </a:ext>
                  </a:extLst>
                </p:cNvPr>
                <p:cNvSpPr txBox="1"/>
                <p:nvPr/>
              </p:nvSpPr>
              <p:spPr>
                <a:xfrm>
                  <a:off x="9694024" y="4861140"/>
                  <a:ext cx="445274"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𝑜</m:t>
                            </m:r>
                          </m:sub>
                        </m:sSub>
                      </m:oMath>
                    </m:oMathPara>
                  </a14:m>
                  <a:endParaRPr lang="en-US" dirty="0"/>
                </a:p>
              </p:txBody>
            </p:sp>
          </mc:Choice>
          <mc:Fallback xmlns="">
            <p:sp>
              <p:nvSpPr>
                <p:cNvPr id="293" name="TextBox 292">
                  <a:extLst>
                    <a:ext uri="{FF2B5EF4-FFF2-40B4-BE49-F238E27FC236}">
                      <a16:creationId xmlns:a16="http://schemas.microsoft.com/office/drawing/2014/main" id="{F54A4DE7-C715-1842-A577-F059206DA145}"/>
                    </a:ext>
                  </a:extLst>
                </p:cNvPr>
                <p:cNvSpPr txBox="1">
                  <a:spLocks noRot="1" noChangeAspect="1" noMove="1" noResize="1" noEditPoints="1" noAdjustHandles="1" noChangeArrowheads="1" noChangeShapeType="1" noTextEdit="1"/>
                </p:cNvSpPr>
                <p:nvPr/>
              </p:nvSpPr>
              <p:spPr>
                <a:xfrm>
                  <a:off x="9694024" y="4861140"/>
                  <a:ext cx="445274" cy="369332"/>
                </a:xfrm>
                <a:prstGeom prst="rect">
                  <a:avLst/>
                </a:prstGeom>
                <a:blipFill>
                  <a:blip r:embed="rId13"/>
                  <a:stretch>
                    <a:fillRect/>
                  </a:stretch>
                </a:blipFill>
              </p:spPr>
              <p:txBody>
                <a:bodyPr/>
                <a:lstStyle/>
                <a:p>
                  <a:r>
                    <a:rPr lang="en-US">
                      <a:noFill/>
                    </a:rPr>
                    <a:t> </a:t>
                  </a:r>
                </a:p>
              </p:txBody>
            </p:sp>
          </mc:Fallback>
        </mc:AlternateContent>
        <p:sp>
          <p:nvSpPr>
            <p:cNvPr id="10" name="Triangle 9">
              <a:extLst>
                <a:ext uri="{FF2B5EF4-FFF2-40B4-BE49-F238E27FC236}">
                  <a16:creationId xmlns:a16="http://schemas.microsoft.com/office/drawing/2014/main" id="{0B9FE231-3B71-0349-A6DB-907A5C210573}"/>
                </a:ext>
              </a:extLst>
            </p:cNvPr>
            <p:cNvSpPr/>
            <p:nvPr/>
          </p:nvSpPr>
          <p:spPr>
            <a:xfrm rot="5400000">
              <a:off x="9399895" y="4625168"/>
              <a:ext cx="68678" cy="73152"/>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384B9D82-E43B-C648-A56D-105291A1511A}"/>
                    </a:ext>
                  </a:extLst>
                </p:cNvPr>
                <p:cNvSpPr txBox="1"/>
                <p:nvPr/>
              </p:nvSpPr>
              <p:spPr>
                <a:xfrm>
                  <a:off x="9157809" y="4233596"/>
                  <a:ext cx="511629"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2</m:t>
                            </m:r>
                          </m:sub>
                        </m:sSub>
                      </m:oMath>
                    </m:oMathPara>
                  </a14:m>
                  <a:endParaRPr lang="en-US" dirty="0"/>
                </a:p>
              </p:txBody>
            </p:sp>
          </mc:Choice>
          <mc:Fallback xmlns="">
            <p:sp>
              <p:nvSpPr>
                <p:cNvPr id="294" name="TextBox 293">
                  <a:extLst>
                    <a:ext uri="{FF2B5EF4-FFF2-40B4-BE49-F238E27FC236}">
                      <a16:creationId xmlns:a16="http://schemas.microsoft.com/office/drawing/2014/main" id="{384B9D82-E43B-C648-A56D-105291A1511A}"/>
                    </a:ext>
                  </a:extLst>
                </p:cNvPr>
                <p:cNvSpPr txBox="1">
                  <a:spLocks noRot="1" noChangeAspect="1" noMove="1" noResize="1" noEditPoints="1" noAdjustHandles="1" noChangeArrowheads="1" noChangeShapeType="1" noTextEdit="1"/>
                </p:cNvSpPr>
                <p:nvPr/>
              </p:nvSpPr>
              <p:spPr>
                <a:xfrm>
                  <a:off x="9157809" y="4233596"/>
                  <a:ext cx="511629" cy="369332"/>
                </a:xfrm>
                <a:prstGeom prst="rect">
                  <a:avLst/>
                </a:prstGeom>
                <a:blipFill>
                  <a:blip r:embed="rId14"/>
                  <a:stretch>
                    <a:fillRect/>
                  </a:stretch>
                </a:blipFill>
              </p:spPr>
              <p:txBody>
                <a:bodyPr/>
                <a:lstStyle/>
                <a:p>
                  <a:r>
                    <a:rPr lang="en-US">
                      <a:noFill/>
                    </a:rPr>
                    <a:t> </a:t>
                  </a:r>
                </a:p>
              </p:txBody>
            </p:sp>
          </mc:Fallback>
        </mc:AlternateContent>
        <p:grpSp>
          <p:nvGrpSpPr>
            <p:cNvPr id="295" name="Group 204">
              <a:extLst>
                <a:ext uri="{FF2B5EF4-FFF2-40B4-BE49-F238E27FC236}">
                  <a16:creationId xmlns:a16="http://schemas.microsoft.com/office/drawing/2014/main" id="{AAF7DC18-BFA9-7741-9607-1EC8021BB7DC}"/>
                </a:ext>
              </a:extLst>
            </p:cNvPr>
            <p:cNvGrpSpPr>
              <a:grpSpLocks/>
            </p:cNvGrpSpPr>
            <p:nvPr/>
          </p:nvGrpSpPr>
          <p:grpSpPr bwMode="auto">
            <a:xfrm>
              <a:off x="10373681" y="4663680"/>
              <a:ext cx="304800" cy="762000"/>
              <a:chOff x="3552" y="2400"/>
              <a:chExt cx="192" cy="480"/>
            </a:xfrm>
          </p:grpSpPr>
          <p:sp>
            <p:nvSpPr>
              <p:cNvPr id="296" name="Line 52">
                <a:extLst>
                  <a:ext uri="{FF2B5EF4-FFF2-40B4-BE49-F238E27FC236}">
                    <a16:creationId xmlns:a16="http://schemas.microsoft.com/office/drawing/2014/main" id="{C1F719A4-9CDB-CF4A-9D8F-A0FBE7837A67}"/>
                  </a:ext>
                </a:extLst>
              </p:cNvPr>
              <p:cNvSpPr>
                <a:spLocks noChangeAspect="1" noChangeShapeType="1"/>
              </p:cNvSpPr>
              <p:nvPr/>
            </p:nvSpPr>
            <p:spPr bwMode="auto">
              <a:xfrm flipV="1">
                <a:off x="3648" y="2400"/>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 name="Line 53">
                <a:extLst>
                  <a:ext uri="{FF2B5EF4-FFF2-40B4-BE49-F238E27FC236}">
                    <a16:creationId xmlns:a16="http://schemas.microsoft.com/office/drawing/2014/main" id="{143EB92F-6111-5046-8F08-DCCE971827E0}"/>
                  </a:ext>
                </a:extLst>
              </p:cNvPr>
              <p:cNvSpPr>
                <a:spLocks noChangeAspect="1" noChangeShapeType="1"/>
              </p:cNvSpPr>
              <p:nvPr/>
            </p:nvSpPr>
            <p:spPr bwMode="auto">
              <a:xfrm flipV="1">
                <a:off x="3648" y="2784"/>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 name="Freeform 57">
                <a:extLst>
                  <a:ext uri="{FF2B5EF4-FFF2-40B4-BE49-F238E27FC236}">
                    <a16:creationId xmlns:a16="http://schemas.microsoft.com/office/drawing/2014/main" id="{DB11E5FD-B5F5-D541-864D-C0A11E8B60FF}"/>
                  </a:ext>
                </a:extLst>
              </p:cNvPr>
              <p:cNvSpPr>
                <a:spLocks noChangeAspect="1"/>
              </p:cNvSpPr>
              <p:nvPr/>
            </p:nvSpPr>
            <p:spPr bwMode="auto">
              <a:xfrm>
                <a:off x="3552" y="2496"/>
                <a:ext cx="192" cy="288"/>
              </a:xfrm>
              <a:custGeom>
                <a:avLst/>
                <a:gdLst>
                  <a:gd name="T0" fmla="*/ 3 w 384"/>
                  <a:gd name="T1" fmla="*/ 0 h 576"/>
                  <a:gd name="T2" fmla="*/ 0 w 384"/>
                  <a:gd name="T3" fmla="*/ 5 h 576"/>
                  <a:gd name="T4" fmla="*/ 3 w 384"/>
                  <a:gd name="T5" fmla="*/ 9 h 576"/>
                  <a:gd name="T6" fmla="*/ 6 w 384"/>
                  <a:gd name="T7" fmla="*/ 5 h 576"/>
                  <a:gd name="T8" fmla="*/ 3 w 384"/>
                  <a:gd name="T9" fmla="*/ 0 h 576"/>
                  <a:gd name="T10" fmla="*/ 0 60000 65536"/>
                  <a:gd name="T11" fmla="*/ 0 60000 65536"/>
                  <a:gd name="T12" fmla="*/ 0 60000 65536"/>
                  <a:gd name="T13" fmla="*/ 0 60000 65536"/>
                  <a:gd name="T14" fmla="*/ 0 60000 65536"/>
                  <a:gd name="T15" fmla="*/ 0 w 384"/>
                  <a:gd name="T16" fmla="*/ 0 h 576"/>
                  <a:gd name="T17" fmla="*/ 384 w 384"/>
                  <a:gd name="T18" fmla="*/ 576 h 576"/>
                </a:gdLst>
                <a:ahLst/>
                <a:cxnLst>
                  <a:cxn ang="T10">
                    <a:pos x="T0" y="T1"/>
                  </a:cxn>
                  <a:cxn ang="T11">
                    <a:pos x="T2" y="T3"/>
                  </a:cxn>
                  <a:cxn ang="T12">
                    <a:pos x="T4" y="T5"/>
                  </a:cxn>
                  <a:cxn ang="T13">
                    <a:pos x="T6" y="T7"/>
                  </a:cxn>
                  <a:cxn ang="T14">
                    <a:pos x="T8" y="T9"/>
                  </a:cxn>
                </a:cxnLst>
                <a:rect l="T15" t="T16" r="T17" b="T18"/>
                <a:pathLst>
                  <a:path w="384" h="576">
                    <a:moveTo>
                      <a:pt x="192" y="0"/>
                    </a:moveTo>
                    <a:lnTo>
                      <a:pt x="0" y="288"/>
                    </a:lnTo>
                    <a:lnTo>
                      <a:pt x="192" y="576"/>
                    </a:lnTo>
                    <a:lnTo>
                      <a:pt x="384" y="288"/>
                    </a:lnTo>
                    <a:lnTo>
                      <a:pt x="192"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mc:AlternateContent xmlns:mc="http://schemas.openxmlformats.org/markup-compatibility/2006" xmlns:a14="http://schemas.microsoft.com/office/drawing/2010/main">
          <mc:Choice Requires="a14">
            <p:sp>
              <p:nvSpPr>
                <p:cNvPr id="299" name="TextBox 298">
                  <a:extLst>
                    <a:ext uri="{FF2B5EF4-FFF2-40B4-BE49-F238E27FC236}">
                      <a16:creationId xmlns:a16="http://schemas.microsoft.com/office/drawing/2014/main" id="{4807A501-E818-1D43-B763-149D01E01872}"/>
                    </a:ext>
                  </a:extLst>
                </p:cNvPr>
                <p:cNvSpPr txBox="1"/>
                <p:nvPr/>
              </p:nvSpPr>
              <p:spPr>
                <a:xfrm>
                  <a:off x="9980818" y="4841683"/>
                  <a:ext cx="511629"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3</m:t>
                            </m:r>
                          </m:sub>
                        </m:sSub>
                      </m:oMath>
                    </m:oMathPara>
                  </a14:m>
                  <a:endParaRPr lang="en-US" dirty="0"/>
                </a:p>
              </p:txBody>
            </p:sp>
          </mc:Choice>
          <mc:Fallback xmlns="">
            <p:sp>
              <p:nvSpPr>
                <p:cNvPr id="299" name="TextBox 298">
                  <a:extLst>
                    <a:ext uri="{FF2B5EF4-FFF2-40B4-BE49-F238E27FC236}">
                      <a16:creationId xmlns:a16="http://schemas.microsoft.com/office/drawing/2014/main" id="{4807A501-E818-1D43-B763-149D01E01872}"/>
                    </a:ext>
                  </a:extLst>
                </p:cNvPr>
                <p:cNvSpPr txBox="1">
                  <a:spLocks noRot="1" noChangeAspect="1" noMove="1" noResize="1" noEditPoints="1" noAdjustHandles="1" noChangeArrowheads="1" noChangeShapeType="1" noTextEdit="1"/>
                </p:cNvSpPr>
                <p:nvPr/>
              </p:nvSpPr>
              <p:spPr>
                <a:xfrm>
                  <a:off x="9980818" y="4841683"/>
                  <a:ext cx="511629" cy="369332"/>
                </a:xfrm>
                <a:prstGeom prst="rect">
                  <a:avLst/>
                </a:prstGeom>
                <a:blipFill>
                  <a:blip r:embed="rId15"/>
                  <a:stretch>
                    <a:fillRect/>
                  </a:stretch>
                </a:blipFill>
              </p:spPr>
              <p:txBody>
                <a:bodyPr/>
                <a:lstStyle/>
                <a:p>
                  <a:r>
                    <a:rPr lang="en-US">
                      <a:noFill/>
                    </a:rPr>
                    <a:t> </a:t>
                  </a:r>
                </a:p>
              </p:txBody>
            </p:sp>
          </mc:Fallback>
        </mc:AlternateContent>
        <p:sp>
          <p:nvSpPr>
            <p:cNvPr id="300" name="Freeform 12">
              <a:extLst>
                <a:ext uri="{FF2B5EF4-FFF2-40B4-BE49-F238E27FC236}">
                  <a16:creationId xmlns:a16="http://schemas.microsoft.com/office/drawing/2014/main" id="{0A8738C5-9C5E-9B47-AA52-B1F8877F549B}"/>
                </a:ext>
              </a:extLst>
            </p:cNvPr>
            <p:cNvSpPr>
              <a:spLocks noChangeAspect="1"/>
            </p:cNvSpPr>
            <p:nvPr/>
          </p:nvSpPr>
          <p:spPr bwMode="auto">
            <a:xfrm>
              <a:off x="10861440" y="4654605"/>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1" name="Freeform 12">
              <a:extLst>
                <a:ext uri="{FF2B5EF4-FFF2-40B4-BE49-F238E27FC236}">
                  <a16:creationId xmlns:a16="http://schemas.microsoft.com/office/drawing/2014/main" id="{E4A8E0B4-87DA-714D-A04D-21875A5DEA76}"/>
                </a:ext>
              </a:extLst>
            </p:cNvPr>
            <p:cNvSpPr>
              <a:spLocks noChangeAspect="1"/>
            </p:cNvSpPr>
            <p:nvPr/>
          </p:nvSpPr>
          <p:spPr bwMode="auto">
            <a:xfrm>
              <a:off x="11471044" y="4668780"/>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302" name="Group 220">
              <a:extLst>
                <a:ext uri="{FF2B5EF4-FFF2-40B4-BE49-F238E27FC236}">
                  <a16:creationId xmlns:a16="http://schemas.microsoft.com/office/drawing/2014/main" id="{DDF85E29-A3D0-7D4E-AB7E-664F0F15FE51}"/>
                </a:ext>
              </a:extLst>
            </p:cNvPr>
            <p:cNvGrpSpPr>
              <a:grpSpLocks/>
            </p:cNvGrpSpPr>
            <p:nvPr/>
          </p:nvGrpSpPr>
          <p:grpSpPr bwMode="auto">
            <a:xfrm>
              <a:off x="10454641" y="5348676"/>
              <a:ext cx="152400" cy="304800"/>
              <a:chOff x="3264" y="3072"/>
              <a:chExt cx="96" cy="192"/>
            </a:xfrm>
          </p:grpSpPr>
          <p:sp>
            <p:nvSpPr>
              <p:cNvPr id="303" name="Line 17">
                <a:extLst>
                  <a:ext uri="{FF2B5EF4-FFF2-40B4-BE49-F238E27FC236}">
                    <a16:creationId xmlns:a16="http://schemas.microsoft.com/office/drawing/2014/main" id="{227C4987-9968-9243-B76D-70E9E4AD4C7E}"/>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4" name="Freeform 18">
                <a:extLst>
                  <a:ext uri="{FF2B5EF4-FFF2-40B4-BE49-F238E27FC236}">
                    <a16:creationId xmlns:a16="http://schemas.microsoft.com/office/drawing/2014/main" id="{F35AE2EB-614D-644A-98F4-19C660C916B1}"/>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05" name="Group 220">
              <a:extLst>
                <a:ext uri="{FF2B5EF4-FFF2-40B4-BE49-F238E27FC236}">
                  <a16:creationId xmlns:a16="http://schemas.microsoft.com/office/drawing/2014/main" id="{557B121E-3682-2442-8C38-3AA80F998D32}"/>
                </a:ext>
              </a:extLst>
            </p:cNvPr>
            <p:cNvGrpSpPr>
              <a:grpSpLocks/>
            </p:cNvGrpSpPr>
            <p:nvPr/>
          </p:nvGrpSpPr>
          <p:grpSpPr bwMode="auto">
            <a:xfrm>
              <a:off x="10862225" y="5362849"/>
              <a:ext cx="152400" cy="304800"/>
              <a:chOff x="3264" y="3072"/>
              <a:chExt cx="96" cy="192"/>
            </a:xfrm>
          </p:grpSpPr>
          <p:sp>
            <p:nvSpPr>
              <p:cNvPr id="306" name="Line 17">
                <a:extLst>
                  <a:ext uri="{FF2B5EF4-FFF2-40B4-BE49-F238E27FC236}">
                    <a16:creationId xmlns:a16="http://schemas.microsoft.com/office/drawing/2014/main" id="{D59C927F-5C95-7442-BCC4-05C24F38D74E}"/>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 name="Freeform 18">
                <a:extLst>
                  <a:ext uri="{FF2B5EF4-FFF2-40B4-BE49-F238E27FC236}">
                    <a16:creationId xmlns:a16="http://schemas.microsoft.com/office/drawing/2014/main" id="{DE2E59C7-03A8-8544-890E-8458F4A98132}"/>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08" name="Group 220">
              <a:extLst>
                <a:ext uri="{FF2B5EF4-FFF2-40B4-BE49-F238E27FC236}">
                  <a16:creationId xmlns:a16="http://schemas.microsoft.com/office/drawing/2014/main" id="{D3EB718B-393E-4D4F-AAF7-21F2D59A57A1}"/>
                </a:ext>
              </a:extLst>
            </p:cNvPr>
            <p:cNvGrpSpPr>
              <a:grpSpLocks/>
            </p:cNvGrpSpPr>
            <p:nvPr/>
          </p:nvGrpSpPr>
          <p:grpSpPr bwMode="auto">
            <a:xfrm>
              <a:off x="11471831" y="5355758"/>
              <a:ext cx="152400" cy="304800"/>
              <a:chOff x="3264" y="3072"/>
              <a:chExt cx="96" cy="192"/>
            </a:xfrm>
          </p:grpSpPr>
          <p:sp>
            <p:nvSpPr>
              <p:cNvPr id="309" name="Line 17">
                <a:extLst>
                  <a:ext uri="{FF2B5EF4-FFF2-40B4-BE49-F238E27FC236}">
                    <a16:creationId xmlns:a16="http://schemas.microsoft.com/office/drawing/2014/main" id="{B916AEC3-BA69-FC48-ABA9-6CD9F95D25B3}"/>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0" name="Freeform 18">
                <a:extLst>
                  <a:ext uri="{FF2B5EF4-FFF2-40B4-BE49-F238E27FC236}">
                    <a16:creationId xmlns:a16="http://schemas.microsoft.com/office/drawing/2014/main" id="{14122009-7A86-7A46-BA10-6C3F9BDA48E9}"/>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cxnSp>
          <p:nvCxnSpPr>
            <p:cNvPr id="311" name="Straight Connector 310">
              <a:extLst>
                <a:ext uri="{FF2B5EF4-FFF2-40B4-BE49-F238E27FC236}">
                  <a16:creationId xmlns:a16="http://schemas.microsoft.com/office/drawing/2014/main" id="{F9CBDBA5-4F51-AC44-BFC0-17D1D8E07BD8}"/>
                </a:ext>
              </a:extLst>
            </p:cNvPr>
            <p:cNvCxnSpPr>
              <a:cxnSpLocks/>
            </p:cNvCxnSpPr>
            <p:nvPr/>
          </p:nvCxnSpPr>
          <p:spPr>
            <a:xfrm>
              <a:off x="10504815" y="4653047"/>
              <a:ext cx="106070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2" name="TextBox 311">
                  <a:extLst>
                    <a:ext uri="{FF2B5EF4-FFF2-40B4-BE49-F238E27FC236}">
                      <a16:creationId xmlns:a16="http://schemas.microsoft.com/office/drawing/2014/main" id="{F494C24B-2D0D-8B4B-A00F-9D9B441248F5}"/>
                    </a:ext>
                  </a:extLst>
                </p:cNvPr>
                <p:cNvSpPr txBox="1"/>
                <p:nvPr/>
              </p:nvSpPr>
              <p:spPr>
                <a:xfrm>
                  <a:off x="11011870" y="4874284"/>
                  <a:ext cx="445274"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𝑖</m:t>
                            </m:r>
                          </m:sub>
                        </m:sSub>
                      </m:oMath>
                    </m:oMathPara>
                  </a14:m>
                  <a:endParaRPr lang="en-US" dirty="0"/>
                </a:p>
              </p:txBody>
            </p:sp>
          </mc:Choice>
          <mc:Fallback xmlns="">
            <p:sp>
              <p:nvSpPr>
                <p:cNvPr id="312" name="TextBox 311">
                  <a:extLst>
                    <a:ext uri="{FF2B5EF4-FFF2-40B4-BE49-F238E27FC236}">
                      <a16:creationId xmlns:a16="http://schemas.microsoft.com/office/drawing/2014/main" id="{F494C24B-2D0D-8B4B-A00F-9D9B441248F5}"/>
                    </a:ext>
                  </a:extLst>
                </p:cNvPr>
                <p:cNvSpPr txBox="1">
                  <a:spLocks noRot="1" noChangeAspect="1" noMove="1" noResize="1" noEditPoints="1" noAdjustHandles="1" noChangeArrowheads="1" noChangeShapeType="1" noTextEdit="1"/>
                </p:cNvSpPr>
                <p:nvPr/>
              </p:nvSpPr>
              <p:spPr>
                <a:xfrm>
                  <a:off x="11011870" y="4874284"/>
                  <a:ext cx="445274"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3" name="TextBox 312">
                  <a:extLst>
                    <a:ext uri="{FF2B5EF4-FFF2-40B4-BE49-F238E27FC236}">
                      <a16:creationId xmlns:a16="http://schemas.microsoft.com/office/drawing/2014/main" id="{9C1EC379-5F02-FC47-A8B9-378168AB6032}"/>
                    </a:ext>
                  </a:extLst>
                </p:cNvPr>
                <p:cNvSpPr txBox="1"/>
                <p:nvPr/>
              </p:nvSpPr>
              <p:spPr>
                <a:xfrm>
                  <a:off x="11568902" y="4864682"/>
                  <a:ext cx="445274"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𝑜</m:t>
                            </m:r>
                          </m:sub>
                        </m:sSub>
                      </m:oMath>
                    </m:oMathPara>
                  </a14:m>
                  <a:endParaRPr lang="en-US" dirty="0"/>
                </a:p>
              </p:txBody>
            </p:sp>
          </mc:Choice>
          <mc:Fallback xmlns="">
            <p:sp>
              <p:nvSpPr>
                <p:cNvPr id="313" name="TextBox 312">
                  <a:extLst>
                    <a:ext uri="{FF2B5EF4-FFF2-40B4-BE49-F238E27FC236}">
                      <a16:creationId xmlns:a16="http://schemas.microsoft.com/office/drawing/2014/main" id="{9C1EC379-5F02-FC47-A8B9-378168AB6032}"/>
                    </a:ext>
                  </a:extLst>
                </p:cNvPr>
                <p:cNvSpPr txBox="1">
                  <a:spLocks noRot="1" noChangeAspect="1" noMove="1" noResize="1" noEditPoints="1" noAdjustHandles="1" noChangeArrowheads="1" noChangeShapeType="1" noTextEdit="1"/>
                </p:cNvSpPr>
                <p:nvPr/>
              </p:nvSpPr>
              <p:spPr>
                <a:xfrm>
                  <a:off x="11568902" y="4864682"/>
                  <a:ext cx="445274" cy="369332"/>
                </a:xfrm>
                <a:prstGeom prst="rect">
                  <a:avLst/>
                </a:prstGeom>
                <a:blipFill>
                  <a:blip r:embed="rId17"/>
                  <a:stretch>
                    <a:fillRect/>
                  </a:stretch>
                </a:blipFill>
              </p:spPr>
              <p:txBody>
                <a:bodyPr/>
                <a:lstStyle/>
                <a:p>
                  <a:r>
                    <a:rPr lang="en-US">
                      <a:noFill/>
                    </a:rPr>
                    <a:t> </a:t>
                  </a:r>
                </a:p>
              </p:txBody>
            </p:sp>
          </mc:Fallback>
        </mc:AlternateContent>
        <p:sp>
          <p:nvSpPr>
            <p:cNvPr id="314" name="Triangle 313">
              <a:extLst>
                <a:ext uri="{FF2B5EF4-FFF2-40B4-BE49-F238E27FC236}">
                  <a16:creationId xmlns:a16="http://schemas.microsoft.com/office/drawing/2014/main" id="{E0B5A136-EC55-1F49-B97B-BABE062C1AE8}"/>
                </a:ext>
              </a:extLst>
            </p:cNvPr>
            <p:cNvSpPr/>
            <p:nvPr/>
          </p:nvSpPr>
          <p:spPr>
            <a:xfrm rot="5400000">
              <a:off x="11274773" y="4628710"/>
              <a:ext cx="68678" cy="73152"/>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15" name="TextBox 314">
                  <a:extLst>
                    <a:ext uri="{FF2B5EF4-FFF2-40B4-BE49-F238E27FC236}">
                      <a16:creationId xmlns:a16="http://schemas.microsoft.com/office/drawing/2014/main" id="{EAAA633B-2BD6-AA45-93E5-14E34D25F1DA}"/>
                    </a:ext>
                  </a:extLst>
                </p:cNvPr>
                <p:cNvSpPr txBox="1"/>
                <p:nvPr/>
              </p:nvSpPr>
              <p:spPr>
                <a:xfrm>
                  <a:off x="11032687" y="4237138"/>
                  <a:ext cx="511629"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4</m:t>
                            </m:r>
                          </m:sub>
                        </m:sSub>
                      </m:oMath>
                    </m:oMathPara>
                  </a14:m>
                  <a:endParaRPr lang="en-US" dirty="0"/>
                </a:p>
              </p:txBody>
            </p:sp>
          </mc:Choice>
          <mc:Fallback xmlns="">
            <p:sp>
              <p:nvSpPr>
                <p:cNvPr id="315" name="TextBox 314">
                  <a:extLst>
                    <a:ext uri="{FF2B5EF4-FFF2-40B4-BE49-F238E27FC236}">
                      <a16:creationId xmlns:a16="http://schemas.microsoft.com/office/drawing/2014/main" id="{EAAA633B-2BD6-AA45-93E5-14E34D25F1DA}"/>
                    </a:ext>
                  </a:extLst>
                </p:cNvPr>
                <p:cNvSpPr txBox="1">
                  <a:spLocks noRot="1" noChangeAspect="1" noMove="1" noResize="1" noEditPoints="1" noAdjustHandles="1" noChangeArrowheads="1" noChangeShapeType="1" noTextEdit="1"/>
                </p:cNvSpPr>
                <p:nvPr/>
              </p:nvSpPr>
              <p:spPr>
                <a:xfrm>
                  <a:off x="11032687" y="4237138"/>
                  <a:ext cx="511629" cy="369332"/>
                </a:xfrm>
                <a:prstGeom prst="rect">
                  <a:avLst/>
                </a:prstGeom>
                <a:blipFill>
                  <a:blip r:embed="rId18"/>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9432324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284251" y="194131"/>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Power transfer</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9707228" y="6380491"/>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48</a:t>
            </a:fld>
            <a:endParaRPr lang="en-US" dirty="0">
              <a:solidFill>
                <a:schemeClr val="tx1"/>
              </a:solidFil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0634707-4D29-A24B-9993-4EFA7D020944}"/>
                  </a:ext>
                </a:extLst>
              </p:cNvPr>
              <p:cNvSpPr txBox="1"/>
              <p:nvPr/>
            </p:nvSpPr>
            <p:spPr>
              <a:xfrm>
                <a:off x="478885" y="1118323"/>
                <a:ext cx="4798755" cy="4798200"/>
              </a:xfrm>
              <a:prstGeom prst="rect">
                <a:avLst/>
              </a:prstGeom>
              <a:noFill/>
            </p:spPr>
            <p:txBody>
              <a:bodyPr wrap="square" rtlCol="0">
                <a:noAutofit/>
              </a:bodyPr>
              <a:lstStyle/>
              <a:p>
                <a:pPr marL="285750" indent="-285750">
                  <a:buFont typeface="Arial" panose="020B0604020202020204" pitchFamily="34" charset="0"/>
                  <a:buChar char="•"/>
                </a:pPr>
                <a:r>
                  <a:rPr lang="en-US" sz="2000" dirty="0"/>
                  <a:t>Power transfer (A)</a:t>
                </a:r>
              </a:p>
              <a:p>
                <a:pPr marL="742950" lvl="1" indent="-28575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r>
                      <a:rPr lang="en-US" sz="2000" b="0" i="1" smtClean="0">
                        <a:latin typeface="Cambria Math" panose="02040503050406030204" pitchFamily="18" charset="0"/>
                      </a:rPr>
                      <m:t>𝑗</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1</m:t>
                        </m:r>
                      </m:sub>
                    </m:sSub>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𝑍</m:t>
                        </m:r>
                      </m:e>
                      <m:sub>
                        <m:r>
                          <a:rPr lang="en-US" sz="2000" b="0" i="1" smtClean="0">
                            <a:latin typeface="Cambria Math" panose="02040503050406030204" pitchFamily="18" charset="0"/>
                          </a:rPr>
                          <m:t>2</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b="0" i="1" smtClean="0">
                            <a:latin typeface="Cambria Math" panose="02040503050406030204" pitchFamily="18" charset="0"/>
                          </a:rPr>
                          <m:t>2</m:t>
                        </m:r>
                      </m:sub>
                    </m:sSub>
                    <m:r>
                      <a:rPr lang="en-US" sz="2000" i="1">
                        <a:latin typeface="Cambria Math" panose="02040503050406030204" pitchFamily="18" charset="0"/>
                      </a:rPr>
                      <m:t>+</m:t>
                    </m:r>
                    <m:r>
                      <a:rPr lang="en-US" sz="2000" i="1">
                        <a:latin typeface="Cambria Math" panose="02040503050406030204" pitchFamily="18" charset="0"/>
                      </a:rPr>
                      <m:t>𝑗</m:t>
                    </m:r>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b="0" i="1" smtClean="0">
                            <a:latin typeface="Cambria Math" panose="02040503050406030204" pitchFamily="18" charset="0"/>
                          </a:rPr>
                          <m:t>2</m:t>
                        </m:r>
                      </m:sub>
                    </m:sSub>
                  </m:oMath>
                </a14:m>
                <a:endParaRPr lang="en-US" sz="2000" dirty="0"/>
              </a:p>
              <a:p>
                <a:pPr marL="742950" lvl="1" indent="-285750">
                  <a:buFont typeface="Arial" panose="020B0604020202020204" pitchFamily="34" charset="0"/>
                  <a:buChar char="•"/>
                </a:pPr>
                <a14:m>
                  <m:oMath xmlns:m="http://schemas.openxmlformats.org/officeDocument/2006/math">
                    <m:r>
                      <a:rPr lang="en-US" sz="2000" b="0" i="1" smtClean="0">
                        <a:latin typeface="Cambria Math" panose="02040503050406030204" pitchFamily="18" charset="0"/>
                      </a:rPr>
                      <m:t>𝑃</m:t>
                    </m:r>
                    <m:r>
                      <a:rPr lang="en-US" sz="2000" b="0" i="1" smtClean="0">
                        <a:latin typeface="Cambria Math" panose="02040503050406030204" pitchFamily="18" charset="0"/>
                      </a:rPr>
                      <m:t>= </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1</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r>
                              <a:rPr lang="en-US" sz="2000" b="0" i="1" smtClean="0">
                                <a:latin typeface="Cambria Math" panose="02040503050406030204" pitchFamily="18" charset="0"/>
                              </a:rPr>
                              <m:t>𝑗</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den>
                        </m:f>
                        <m:r>
                          <a:rPr lang="en-US" sz="2000" b="0" i="1" smtClean="0">
                            <a:latin typeface="Cambria Math" panose="02040503050406030204" pitchFamily="18" charset="0"/>
                          </a:rPr>
                          <m:t>|</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2</m:t>
                        </m:r>
                      </m:sub>
                    </m:sSub>
                  </m:oMath>
                </a14:m>
                <a:endParaRPr lang="en-US" sz="2000" dirty="0"/>
              </a:p>
              <a:p>
                <a:pPr marL="742950" lvl="1"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Power transfer (B)</a:t>
                </a:r>
              </a:p>
              <a:p>
                <a:pPr marL="742950" lvl="1" indent="-28575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2</m:t>
                        </m:r>
                      </m:sub>
                    </m:sSub>
                    <m:r>
                      <a:rPr lang="en-US" sz="2000" i="1">
                        <a:latin typeface="Cambria Math" panose="02040503050406030204" pitchFamily="18" charset="0"/>
                      </a:rPr>
                      <m:t>=</m:t>
                    </m:r>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𝑣</m:t>
                            </m:r>
                          </m:e>
                          <m:sub>
                            <m:r>
                              <a:rPr lang="en-US" sz="2000" i="1">
                                <a:latin typeface="Cambria Math" panose="02040503050406030204" pitchFamily="18" charset="0"/>
                              </a:rPr>
                              <m:t>1</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1</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2</m:t>
                                </m:r>
                              </m:sub>
                            </m:sSub>
                          </m:den>
                        </m:f>
                        <m:r>
                          <a:rPr lang="en-US" sz="2000" b="0" i="1" smtClean="0">
                            <a:latin typeface="Cambria Math" panose="02040503050406030204" pitchFamily="18" charset="0"/>
                          </a:rPr>
                          <m:t>)</m:t>
                        </m:r>
                      </m:num>
                      <m:den>
                        <m:r>
                          <a:rPr lang="en-US" sz="2000" b="0" i="1" smtClean="0">
                            <a:latin typeface="Cambria Math" panose="02040503050406030204" pitchFamily="18" charset="0"/>
                          </a:rPr>
                          <m:t>1+</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𝑗</m:t>
                            </m:r>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𝐶</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𝑅</m:t>
                                </m:r>
                              </m:e>
                              <m:sub>
                                <m:r>
                                  <a:rPr lang="en-US" sz="2000" b="0" i="1" smtClean="0">
                                    <a:latin typeface="Cambria Math" panose="02040503050406030204" pitchFamily="18" charset="0"/>
                                    <a:ea typeface="Cambria Math" panose="02040503050406030204" pitchFamily="18" charset="0"/>
                                  </a:rPr>
                                  <m:t>1</m:t>
                                </m:r>
                              </m:sub>
                            </m:sSub>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𝑅</m:t>
                                </m:r>
                              </m:e>
                              <m:sub>
                                <m:r>
                                  <a:rPr lang="en-US" sz="2000" b="0" i="1" smtClean="0">
                                    <a:latin typeface="Cambria Math" panose="02040503050406030204" pitchFamily="18" charset="0"/>
                                    <a:ea typeface="Cambria Math" panose="02040503050406030204" pitchFamily="18" charset="0"/>
                                  </a:rPr>
                                  <m:t>2</m:t>
                                </m:r>
                              </m:sub>
                            </m:sSub>
                            <m:r>
                              <a:rPr lang="en-US" sz="2000" b="0" i="1" smtClean="0">
                                <a:latin typeface="Cambria Math" panose="02040503050406030204" pitchFamily="18" charset="0"/>
                                <a:ea typeface="Cambria Math" panose="02040503050406030204" pitchFamily="18" charset="0"/>
                              </a:rPr>
                              <m:t>)</m:t>
                            </m:r>
                          </m:den>
                        </m:f>
                      </m:den>
                    </m:f>
                  </m:oMath>
                </a14:m>
                <a:endParaRPr lang="en-US" sz="2000" dirty="0"/>
              </a:p>
              <a:p>
                <a:pPr marL="742950" lvl="1" indent="-285750">
                  <a:buFont typeface="Arial" panose="020B0604020202020204" pitchFamily="34" charset="0"/>
                  <a:buChar char="•"/>
                </a:pPr>
                <a14:m>
                  <m:oMath xmlns:m="http://schemas.openxmlformats.org/officeDocument/2006/math">
                    <m:r>
                      <a:rPr lang="en-US" sz="2000" b="0" i="1" smtClean="0">
                        <a:latin typeface="Cambria Math" panose="02040503050406030204" pitchFamily="18" charset="0"/>
                      </a:rPr>
                      <m:t>𝑃</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b="0" i="1" smtClean="0">
                            <a:latin typeface="Cambria Math" panose="02040503050406030204" pitchFamily="18" charset="0"/>
                          </a:rPr>
                          <m:t>2</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2</m:t>
                        </m:r>
                      </m:sub>
                    </m:sSub>
                    <m:r>
                      <m:rPr>
                        <m:sty m:val="p"/>
                      </m:rPr>
                      <a:rPr lang="en-US" sz="2000" b="0" i="0" smtClean="0">
                        <a:latin typeface="Cambria Math" panose="02040503050406030204" pitchFamily="18" charset="0"/>
                      </a:rPr>
                      <m:t>cos</m:t>
                    </m:r>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𝜙</m:t>
                    </m:r>
                    <m:r>
                      <a:rPr lang="en-US" sz="2000" b="0" i="1" smtClean="0">
                        <a:latin typeface="Cambria Math" panose="02040503050406030204" pitchFamily="18" charset="0"/>
                        <a:ea typeface="Cambria Math" panose="02040503050406030204" pitchFamily="18" charset="0"/>
                      </a:rPr>
                      <m:t>)</m:t>
                    </m:r>
                  </m:oMath>
                </a14:m>
                <a:endParaRPr lang="en-US" sz="2000" dirty="0"/>
              </a:p>
              <a:p>
                <a:pPr marL="742950" lvl="1" indent="-285750">
                  <a:buFont typeface="Arial" panose="020B0604020202020204" pitchFamily="34" charset="0"/>
                  <a:buChar char="•"/>
                </a:pPr>
                <a:r>
                  <a:rPr lang="en-US" sz="2000" dirty="0"/>
                  <a:t>Max power: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2</m:t>
                        </m:r>
                      </m:sub>
                    </m:sSub>
                  </m:oMath>
                </a14:m>
                <a:endParaRPr lang="en-US" sz="2000" dirty="0"/>
              </a:p>
              <a:p>
                <a:pPr marL="742950" lvl="1" indent="-28575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1</m:t>
                        </m:r>
                      </m:sub>
                    </m:sSub>
                    <m:f>
                      <m:fPr>
                        <m:ctrlPr>
                          <a:rPr lang="en-US" sz="2000" b="0" i="1" smtClean="0">
                            <a:latin typeface="Cambria Math" panose="02040503050406030204" pitchFamily="18" charset="0"/>
                          </a:rPr>
                        </m:ctrlPr>
                      </m:fPr>
                      <m:num>
                        <m:f>
                          <m:fPr>
                            <m:type m:val="skw"/>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2</m:t>
                                </m:r>
                              </m:sub>
                            </m:sSub>
                          </m:num>
                          <m:den>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den>
                        </m:f>
                      </m:num>
                      <m:den>
                        <m:r>
                          <a:rPr lang="en-US" sz="2000" b="0" i="1" smtClean="0">
                            <a:latin typeface="Cambria Math" panose="02040503050406030204" pitchFamily="18" charset="0"/>
                          </a:rPr>
                          <m:t>1+</m:t>
                        </m:r>
                        <m:f>
                          <m:fPr>
                            <m:type m:val="skw"/>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m:t>
                            </m:r>
                            <m:r>
                              <a:rPr lang="en-US" sz="2000" b="0" i="1" smtClean="0">
                                <a:latin typeface="Cambria Math" panose="02040503050406030204" pitchFamily="18" charset="0"/>
                              </a:rPr>
                              <m:t>𝑗</m:t>
                            </m:r>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𝐶</m:t>
                            </m:r>
                            <m:d>
                              <m:dPr>
                                <m:ctrlPr>
                                  <a:rPr lang="en-US" sz="2000" i="1">
                                    <a:latin typeface="Cambria Math" panose="02040503050406030204" pitchFamily="18" charset="0"/>
                                    <a:ea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𝑅</m:t>
                                    </m:r>
                                  </m:e>
                                  <m:sub>
                                    <m:r>
                                      <a:rPr lang="en-US" sz="2000" i="1">
                                        <a:latin typeface="Cambria Math" panose="02040503050406030204" pitchFamily="18" charset="0"/>
                                        <a:ea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𝑅</m:t>
                                    </m:r>
                                  </m:e>
                                  <m:sub>
                                    <m:r>
                                      <a:rPr lang="en-US" sz="2000" i="1">
                                        <a:latin typeface="Cambria Math" panose="02040503050406030204" pitchFamily="18" charset="0"/>
                                        <a:ea typeface="Cambria Math" panose="02040503050406030204" pitchFamily="18" charset="0"/>
                                      </a:rPr>
                                      <m:t>2</m:t>
                                    </m:r>
                                  </m:sub>
                                </m:sSub>
                              </m:e>
                            </m:d>
                            <m:r>
                              <a:rPr lang="en-US" sz="2000" b="0" i="1" smtClean="0">
                                <a:latin typeface="Cambria Math" panose="02040503050406030204" pitchFamily="18" charset="0"/>
                                <a:ea typeface="Cambria Math" panose="02040503050406030204" pitchFamily="18" charset="0"/>
                              </a:rPr>
                              <m:t>]</m:t>
                            </m:r>
                          </m:den>
                        </m:f>
                      </m:den>
                    </m:f>
                  </m:oMath>
                </a14:m>
                <a:endParaRPr lang="en-US" sz="2000" dirty="0"/>
              </a:p>
              <a:p>
                <a:pPr marL="342900" indent="-342900">
                  <a:buFont typeface="+mj-lt"/>
                  <a:buAutoNum type="arabicPeriod"/>
                </a:pPr>
                <a14:m>
                  <m:oMath xmlns:m="http://schemas.openxmlformats.org/officeDocument/2006/math">
                    <m:r>
                      <a:rPr lang="en-US" sz="2000" i="1">
                        <a:latin typeface="Cambria Math" panose="02040503050406030204" pitchFamily="18" charset="0"/>
                        <a:ea typeface="Cambria Math" panose="02040503050406030204" pitchFamily="18" charset="0"/>
                      </a:rPr>
                      <m:t>𝜔</m:t>
                    </m:r>
                  </m:oMath>
                </a14:m>
                <a:r>
                  <a:rPr lang="en-US" sz="2000" dirty="0"/>
                  <a:t>, large: </a:t>
                </a:r>
                <a14:m>
                  <m:oMath xmlns:m="http://schemas.openxmlformats.org/officeDocument/2006/math">
                    <m:r>
                      <a:rPr lang="en-US" sz="2000" i="1">
                        <a:latin typeface="Cambria Math" panose="02040503050406030204" pitchFamily="18" charset="0"/>
                      </a:rPr>
                      <m:t>𝐺</m:t>
                    </m:r>
                    <m:r>
                      <a:rPr lang="en-US" sz="2000" i="1">
                        <a:latin typeface="Cambria Math" panose="02040503050406030204" pitchFamily="18" charset="0"/>
                      </a:rPr>
                      <m:t>=</m:t>
                    </m:r>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2</m:t>
                            </m:r>
                          </m:sub>
                        </m:sSub>
                      </m:num>
                      <m:den>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𝑅</m:t>
                            </m:r>
                          </m:e>
                          <m:sub>
                            <m:r>
                              <a:rPr lang="en-US" sz="2000" i="1">
                                <a:latin typeface="Cambria Math" panose="02040503050406030204" pitchFamily="18" charset="0"/>
                                <a:ea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𝑅</m:t>
                            </m:r>
                          </m:e>
                          <m:sub>
                            <m:r>
                              <a:rPr lang="en-US" sz="2000" i="1">
                                <a:latin typeface="Cambria Math" panose="02040503050406030204" pitchFamily="18" charset="0"/>
                                <a:ea typeface="Cambria Math" panose="02040503050406030204" pitchFamily="18" charset="0"/>
                              </a:rPr>
                              <m:t>2</m:t>
                            </m:r>
                          </m:sub>
                        </m:sSub>
                      </m:den>
                    </m:f>
                    <m:r>
                      <a:rPr lang="en-US" sz="2000" i="1">
                        <a:latin typeface="Cambria Math" panose="02040503050406030204" pitchFamily="18" charset="0"/>
                      </a:rPr>
                      <m:t>=</m:t>
                    </m:r>
                    <m:r>
                      <a:rPr lang="en-US" sz="2000" i="1">
                        <a:latin typeface="Cambria Math" panose="02040503050406030204" pitchFamily="18" charset="0"/>
                      </a:rPr>
                      <m:t>𝐵</m:t>
                    </m:r>
                  </m:oMath>
                </a14:m>
                <a:endParaRPr lang="en-US" sz="2000" dirty="0"/>
              </a:p>
              <a:p>
                <a:pPr marL="342900" indent="-342900">
                  <a:buFont typeface="+mj-lt"/>
                  <a:buAutoNum type="arabicPeriod"/>
                </a:pPr>
                <a14:m>
                  <m:oMath xmlns:m="http://schemas.openxmlformats.org/officeDocument/2006/math">
                    <m:r>
                      <a:rPr lang="en-US" sz="2000" i="1">
                        <a:latin typeface="Cambria Math" panose="02040503050406030204" pitchFamily="18" charset="0"/>
                        <a:ea typeface="Cambria Math" panose="02040503050406030204" pitchFamily="18" charset="0"/>
                      </a:rPr>
                      <m:t>𝜔</m:t>
                    </m:r>
                    <m:r>
                      <a:rPr lang="en-US" sz="2000" i="1">
                        <a:latin typeface="Cambria Math" panose="02040503050406030204" pitchFamily="18" charset="0"/>
                        <a:ea typeface="Cambria Math" panose="02040503050406030204" pitchFamily="18" charset="0"/>
                      </a:rPr>
                      <m:t>= </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m:t>
                        </m:r>
                      </m:num>
                      <m:den>
                        <m:r>
                          <a:rPr lang="en-US" sz="2000" i="1">
                            <a:latin typeface="Cambria Math" panose="02040503050406030204" pitchFamily="18" charset="0"/>
                            <a:ea typeface="Cambria Math" panose="02040503050406030204" pitchFamily="18" charset="0"/>
                          </a:rPr>
                          <m:t>𝐶</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𝑅</m:t>
                            </m:r>
                          </m:e>
                          <m:sub>
                            <m:r>
                              <a:rPr lang="en-US" sz="2000" i="1">
                                <a:latin typeface="Cambria Math" panose="02040503050406030204" pitchFamily="18" charset="0"/>
                                <a:ea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𝑅</m:t>
                            </m:r>
                          </m:e>
                          <m:sub>
                            <m:r>
                              <a:rPr lang="en-US" sz="2000" i="1">
                                <a:latin typeface="Cambria Math" panose="02040503050406030204" pitchFamily="18" charset="0"/>
                                <a:ea typeface="Cambria Math" panose="02040503050406030204" pitchFamily="18" charset="0"/>
                              </a:rPr>
                              <m:t>2</m:t>
                            </m:r>
                          </m:sub>
                        </m:sSub>
                        <m:r>
                          <a:rPr lang="en-US" sz="2000" i="1">
                            <a:latin typeface="Cambria Math" panose="02040503050406030204" pitchFamily="18" charset="0"/>
                            <a:ea typeface="Cambria Math" panose="02040503050406030204" pitchFamily="18" charset="0"/>
                          </a:rPr>
                          <m:t>)</m:t>
                        </m:r>
                      </m:den>
                    </m:f>
                  </m:oMath>
                </a14:m>
                <a:r>
                  <a:rPr lang="en-US" sz="2000" dirty="0"/>
                  <a:t>, large: </a:t>
                </a:r>
                <a14:m>
                  <m:oMath xmlns:m="http://schemas.openxmlformats.org/officeDocument/2006/math">
                    <m:r>
                      <a:rPr lang="en-US" sz="2000" i="1">
                        <a:latin typeface="Cambria Math" panose="02040503050406030204" pitchFamily="18" charset="0"/>
                      </a:rPr>
                      <m:t>𝐺</m:t>
                    </m:r>
                    <m:r>
                      <a:rPr lang="en-US" sz="2000" i="1">
                        <a:latin typeface="Cambria Math" panose="02040503050406030204" pitchFamily="18" charset="0"/>
                      </a:rPr>
                      <m:t>=</m:t>
                    </m:r>
                    <m:r>
                      <a:rPr lang="en-US" sz="2000" i="1">
                        <a:latin typeface="Cambria Math" panose="02040503050406030204" pitchFamily="18" charset="0"/>
                      </a:rPr>
                      <m:t>𝐵</m:t>
                    </m:r>
                    <m:f>
                      <m:fPr>
                        <m:ctrlPr>
                          <a:rPr lang="en-US" sz="2000" i="1">
                            <a:latin typeface="Cambria Math" panose="02040503050406030204" pitchFamily="18" charset="0"/>
                          </a:rPr>
                        </m:ctrlPr>
                      </m:fPr>
                      <m:num>
                        <m:r>
                          <a:rPr lang="en-US" sz="2000" i="1">
                            <a:latin typeface="Cambria Math" panose="02040503050406030204" pitchFamily="18" charset="0"/>
                          </a:rPr>
                          <m:t>1+</m:t>
                        </m:r>
                        <m:r>
                          <a:rPr lang="en-US" sz="2000" i="1">
                            <a:latin typeface="Cambria Math" panose="02040503050406030204" pitchFamily="18" charset="0"/>
                          </a:rPr>
                          <m:t>𝑗</m:t>
                        </m:r>
                      </m:num>
                      <m:den>
                        <m:r>
                          <a:rPr lang="en-US" sz="2000" i="1">
                            <a:latin typeface="Cambria Math" panose="02040503050406030204" pitchFamily="18" charset="0"/>
                          </a:rPr>
                          <m:t>2</m:t>
                        </m:r>
                      </m:den>
                    </m:f>
                    <m:r>
                      <a:rPr lang="en-US" sz="2000" i="1">
                        <a:latin typeface="Cambria Math" panose="02040503050406030204" pitchFamily="18" charset="0"/>
                      </a:rPr>
                      <m:t>=</m:t>
                    </m:r>
                    <m:rad>
                      <m:radPr>
                        <m:degHide m:val="on"/>
                        <m:ctrlPr>
                          <a:rPr lang="en-US" sz="2000" i="1">
                            <a:latin typeface="Cambria Math" panose="02040503050406030204" pitchFamily="18" charset="0"/>
                          </a:rPr>
                        </m:ctrlPr>
                      </m:radPr>
                      <m:deg/>
                      <m:e>
                        <m:r>
                          <a:rPr lang="en-US" sz="2000" i="1">
                            <a:latin typeface="Cambria Math" panose="02040503050406030204" pitchFamily="18" charset="0"/>
                          </a:rPr>
                          <m:t>2</m:t>
                        </m:r>
                      </m:e>
                    </m:rad>
                    <m:r>
                      <a:rPr lang="en-US" sz="2000" i="1">
                        <a:latin typeface="Cambria Math" panose="02040503050406030204" pitchFamily="18" charset="0"/>
                      </a:rPr>
                      <m:t>𝐵</m:t>
                    </m:r>
                    <m:r>
                      <a:rPr lang="en-US" sz="2000" i="1">
                        <a:latin typeface="Cambria Math" panose="02040503050406030204" pitchFamily="18" charset="0"/>
                        <a:ea typeface="Cambria Math" panose="02040503050406030204" pitchFamily="18" charset="0"/>
                      </a:rPr>
                      <m:t>∠45</m:t>
                    </m:r>
                  </m:oMath>
                </a14:m>
                <a:endParaRPr lang="en-US" sz="2000" dirty="0"/>
              </a:p>
              <a:p>
                <a:pPr marL="342900" indent="-342900">
                  <a:buFont typeface="+mj-lt"/>
                  <a:buAutoNum type="arabicPeriod"/>
                </a:pPr>
                <a14:m>
                  <m:oMath xmlns:m="http://schemas.openxmlformats.org/officeDocument/2006/math">
                    <m:r>
                      <a:rPr lang="en-US" sz="2000" i="1">
                        <a:latin typeface="Cambria Math" panose="02040503050406030204" pitchFamily="18" charset="0"/>
                        <a:ea typeface="Cambria Math" panose="02040503050406030204" pitchFamily="18" charset="0"/>
                      </a:rPr>
                      <m:t>𝜔</m:t>
                    </m:r>
                  </m:oMath>
                </a14:m>
                <a:r>
                  <a:rPr lang="en-US" sz="2000" dirty="0"/>
                  <a:t>, small: Let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rPr>
                          <m:t>1</m:t>
                        </m:r>
                      </m:sub>
                    </m:sSub>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𝐶</m:t>
                    </m:r>
                    <m:d>
                      <m:dPr>
                        <m:ctrlPr>
                          <a:rPr lang="en-US" sz="2000" i="1">
                            <a:latin typeface="Cambria Math" panose="02040503050406030204" pitchFamily="18" charset="0"/>
                            <a:ea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𝑅</m:t>
                            </m:r>
                          </m:e>
                          <m:sub>
                            <m:r>
                              <a:rPr lang="en-US" sz="2000" i="1">
                                <a:latin typeface="Cambria Math" panose="02040503050406030204" pitchFamily="18" charset="0"/>
                                <a:ea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𝑅</m:t>
                            </m:r>
                          </m:e>
                          <m:sub>
                            <m:r>
                              <a:rPr lang="en-US" sz="2000" i="1">
                                <a:latin typeface="Cambria Math" panose="02040503050406030204" pitchFamily="18" charset="0"/>
                                <a:ea typeface="Cambria Math" panose="02040503050406030204" pitchFamily="18" charset="0"/>
                              </a:rPr>
                              <m:t>2</m:t>
                            </m:r>
                          </m:sub>
                        </m:sSub>
                      </m:e>
                    </m:d>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𝐺</m:t>
                    </m:r>
                    <m:r>
                      <a:rPr lang="en-US" sz="2000" i="1">
                        <a:latin typeface="Cambria Math" panose="02040503050406030204" pitchFamily="18" charset="0"/>
                      </a:rPr>
                      <m:t>=</m:t>
                    </m:r>
                    <m:r>
                      <a:rPr lang="en-US" sz="2000" i="1">
                        <a:latin typeface="Cambria Math" panose="02040503050406030204" pitchFamily="18" charset="0"/>
                      </a:rPr>
                      <m:t>𝐵</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𝜔</m:t>
                        </m:r>
                      </m:num>
                      <m:den>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rPr>
                              <m:t>1</m:t>
                            </m:r>
                          </m:sub>
                        </m:sSub>
                      </m:den>
                    </m:f>
                  </m:oMath>
                </a14:m>
                <a:endParaRPr lang="en-US" sz="2000" dirty="0"/>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p:txBody>
          </p:sp>
        </mc:Choice>
        <mc:Fallback xmlns="">
          <p:sp>
            <p:nvSpPr>
              <p:cNvPr id="2" name="TextBox 1">
                <a:extLst>
                  <a:ext uri="{FF2B5EF4-FFF2-40B4-BE49-F238E27FC236}">
                    <a16:creationId xmlns:a16="http://schemas.microsoft.com/office/drawing/2014/main" id="{90634707-4D29-A24B-9993-4EFA7D020944}"/>
                  </a:ext>
                </a:extLst>
              </p:cNvPr>
              <p:cNvSpPr txBox="1">
                <a:spLocks noRot="1" noChangeAspect="1" noMove="1" noResize="1" noEditPoints="1" noAdjustHandles="1" noChangeArrowheads="1" noChangeShapeType="1" noTextEdit="1"/>
              </p:cNvSpPr>
              <p:nvPr/>
            </p:nvSpPr>
            <p:spPr>
              <a:xfrm>
                <a:off x="478885" y="1118323"/>
                <a:ext cx="4798755" cy="4798200"/>
              </a:xfrm>
              <a:prstGeom prst="rect">
                <a:avLst/>
              </a:prstGeom>
              <a:blipFill>
                <a:blip r:embed="rId3"/>
                <a:stretch>
                  <a:fillRect l="-1055" t="-526" b="-14474"/>
                </a:stretch>
              </a:blipFill>
            </p:spPr>
            <p:txBody>
              <a:bodyPr/>
              <a:lstStyle/>
              <a:p>
                <a:r>
                  <a:rPr lang="en-US">
                    <a:noFill/>
                  </a:rPr>
                  <a:t> </a:t>
                </a:r>
              </a:p>
            </p:txBody>
          </p:sp>
        </mc:Fallback>
      </mc:AlternateContent>
      <p:grpSp>
        <p:nvGrpSpPr>
          <p:cNvPr id="10" name="Group 9">
            <a:extLst>
              <a:ext uri="{FF2B5EF4-FFF2-40B4-BE49-F238E27FC236}">
                <a16:creationId xmlns:a16="http://schemas.microsoft.com/office/drawing/2014/main" id="{A87D7D6B-1E92-70D9-6D3E-272B1B253904}"/>
              </a:ext>
            </a:extLst>
          </p:cNvPr>
          <p:cNvGrpSpPr/>
          <p:nvPr/>
        </p:nvGrpSpPr>
        <p:grpSpPr>
          <a:xfrm>
            <a:off x="9522866" y="2758126"/>
            <a:ext cx="2627933" cy="1528839"/>
            <a:chOff x="9517459" y="2153859"/>
            <a:chExt cx="2627933" cy="1528839"/>
          </a:xfrm>
        </p:grpSpPr>
        <p:sp>
          <p:nvSpPr>
            <p:cNvPr id="336" name="Freeform 12">
              <a:extLst>
                <a:ext uri="{FF2B5EF4-FFF2-40B4-BE49-F238E27FC236}">
                  <a16:creationId xmlns:a16="http://schemas.microsoft.com/office/drawing/2014/main" id="{34AC4673-635A-A440-885F-95565D393ACB}"/>
                </a:ext>
              </a:extLst>
            </p:cNvPr>
            <p:cNvSpPr>
              <a:spLocks noChangeAspect="1"/>
            </p:cNvSpPr>
            <p:nvPr/>
          </p:nvSpPr>
          <p:spPr bwMode="auto">
            <a:xfrm>
              <a:off x="11391032" y="2641295"/>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337" name="Group 220">
              <a:extLst>
                <a:ext uri="{FF2B5EF4-FFF2-40B4-BE49-F238E27FC236}">
                  <a16:creationId xmlns:a16="http://schemas.microsoft.com/office/drawing/2014/main" id="{B486C417-7EEC-124F-9E49-9D18C75379FC}"/>
                </a:ext>
              </a:extLst>
            </p:cNvPr>
            <p:cNvGrpSpPr>
              <a:grpSpLocks/>
            </p:cNvGrpSpPr>
            <p:nvPr/>
          </p:nvGrpSpPr>
          <p:grpSpPr bwMode="auto">
            <a:xfrm>
              <a:off x="11391029" y="3344033"/>
              <a:ext cx="152400" cy="304800"/>
              <a:chOff x="3264" y="3072"/>
              <a:chExt cx="96" cy="192"/>
            </a:xfrm>
          </p:grpSpPr>
          <p:sp>
            <p:nvSpPr>
              <p:cNvPr id="352" name="Line 17">
                <a:extLst>
                  <a:ext uri="{FF2B5EF4-FFF2-40B4-BE49-F238E27FC236}">
                    <a16:creationId xmlns:a16="http://schemas.microsoft.com/office/drawing/2014/main" id="{852C00CC-1BF9-D248-A1C2-022170A81B3F}"/>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3" name="Freeform 18">
                <a:extLst>
                  <a:ext uri="{FF2B5EF4-FFF2-40B4-BE49-F238E27FC236}">
                    <a16:creationId xmlns:a16="http://schemas.microsoft.com/office/drawing/2014/main" id="{D13C9044-E937-0C42-9CFC-C22B18DB92A0}"/>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38" name="Group 207">
              <a:extLst>
                <a:ext uri="{FF2B5EF4-FFF2-40B4-BE49-F238E27FC236}">
                  <a16:creationId xmlns:a16="http://schemas.microsoft.com/office/drawing/2014/main" id="{14DF54DE-78EA-9D41-9F55-1F03AB88B48D}"/>
                </a:ext>
              </a:extLst>
            </p:cNvPr>
            <p:cNvGrpSpPr>
              <a:grpSpLocks/>
            </p:cNvGrpSpPr>
            <p:nvPr/>
          </p:nvGrpSpPr>
          <p:grpSpPr bwMode="auto">
            <a:xfrm>
              <a:off x="9910572" y="2641068"/>
              <a:ext cx="304800" cy="762000"/>
              <a:chOff x="4560" y="2400"/>
              <a:chExt cx="192" cy="480"/>
            </a:xfrm>
          </p:grpSpPr>
          <p:sp>
            <p:nvSpPr>
              <p:cNvPr id="346" name="Oval 111">
                <a:extLst>
                  <a:ext uri="{FF2B5EF4-FFF2-40B4-BE49-F238E27FC236}">
                    <a16:creationId xmlns:a16="http://schemas.microsoft.com/office/drawing/2014/main" id="{D1B817A2-2B4C-014F-AF13-FB45CD01ABC2}"/>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347" name="Line 112">
                <a:extLst>
                  <a:ext uri="{FF2B5EF4-FFF2-40B4-BE49-F238E27FC236}">
                    <a16:creationId xmlns:a16="http://schemas.microsoft.com/office/drawing/2014/main" id="{E3915FE8-B635-EB46-A756-5F60C674EBD0}"/>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 name="Line 113">
                <a:extLst>
                  <a:ext uri="{FF2B5EF4-FFF2-40B4-BE49-F238E27FC236}">
                    <a16:creationId xmlns:a16="http://schemas.microsoft.com/office/drawing/2014/main" id="{C417D458-6F6A-5845-9E0B-CA1DF9B2DE7F}"/>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49" name="Group 117">
                <a:extLst>
                  <a:ext uri="{FF2B5EF4-FFF2-40B4-BE49-F238E27FC236}">
                    <a16:creationId xmlns:a16="http://schemas.microsoft.com/office/drawing/2014/main" id="{0D19EB50-E016-564E-A8D6-092EC76C2BDB}"/>
                  </a:ext>
                </a:extLst>
              </p:cNvPr>
              <p:cNvGrpSpPr>
                <a:grpSpLocks noChangeAspect="1"/>
              </p:cNvGrpSpPr>
              <p:nvPr/>
            </p:nvGrpSpPr>
            <p:grpSpPr bwMode="auto">
              <a:xfrm>
                <a:off x="4608" y="2592"/>
                <a:ext cx="96" cy="96"/>
                <a:chOff x="2929" y="3217"/>
                <a:chExt cx="383" cy="191"/>
              </a:xfrm>
            </p:grpSpPr>
            <p:sp>
              <p:nvSpPr>
                <p:cNvPr id="350" name="Arc 118">
                  <a:extLst>
                    <a:ext uri="{FF2B5EF4-FFF2-40B4-BE49-F238E27FC236}">
                      <a16:creationId xmlns:a16="http://schemas.microsoft.com/office/drawing/2014/main" id="{94266AFE-A431-484B-80EE-5EE53E6D07C6}"/>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51" name="Arc 119">
                  <a:extLst>
                    <a:ext uri="{FF2B5EF4-FFF2-40B4-BE49-F238E27FC236}">
                      <a16:creationId xmlns:a16="http://schemas.microsoft.com/office/drawing/2014/main" id="{550FA4EC-BB19-8D4D-8CF8-88D6D29B5729}"/>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339" name="Freeform 12">
              <a:extLst>
                <a:ext uri="{FF2B5EF4-FFF2-40B4-BE49-F238E27FC236}">
                  <a16:creationId xmlns:a16="http://schemas.microsoft.com/office/drawing/2014/main" id="{C725EB60-C3E9-6440-A998-65915CC9FA8F}"/>
                </a:ext>
              </a:extLst>
            </p:cNvPr>
            <p:cNvSpPr>
              <a:spLocks noChangeAspect="1"/>
            </p:cNvSpPr>
            <p:nvPr/>
          </p:nvSpPr>
          <p:spPr bwMode="auto">
            <a:xfrm rot="5400000">
              <a:off x="10374217" y="2268761"/>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340" name="Group 220">
              <a:extLst>
                <a:ext uri="{FF2B5EF4-FFF2-40B4-BE49-F238E27FC236}">
                  <a16:creationId xmlns:a16="http://schemas.microsoft.com/office/drawing/2014/main" id="{9B4B46BB-7293-BD40-9C07-4077105E6885}"/>
                </a:ext>
              </a:extLst>
            </p:cNvPr>
            <p:cNvGrpSpPr>
              <a:grpSpLocks/>
            </p:cNvGrpSpPr>
            <p:nvPr/>
          </p:nvGrpSpPr>
          <p:grpSpPr bwMode="auto">
            <a:xfrm>
              <a:off x="9982720" y="3377898"/>
              <a:ext cx="152400" cy="304800"/>
              <a:chOff x="3264" y="3072"/>
              <a:chExt cx="96" cy="192"/>
            </a:xfrm>
          </p:grpSpPr>
          <p:sp>
            <p:nvSpPr>
              <p:cNvPr id="344" name="Line 17">
                <a:extLst>
                  <a:ext uri="{FF2B5EF4-FFF2-40B4-BE49-F238E27FC236}">
                    <a16:creationId xmlns:a16="http://schemas.microsoft.com/office/drawing/2014/main" id="{E526E70D-DA50-0245-BCFC-1BE7CA0C2627}"/>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5" name="Freeform 18">
                <a:extLst>
                  <a:ext uri="{FF2B5EF4-FFF2-40B4-BE49-F238E27FC236}">
                    <a16:creationId xmlns:a16="http://schemas.microsoft.com/office/drawing/2014/main" id="{14EC25D5-1CAA-3E46-946C-C69AE21641D1}"/>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mc:AlternateContent xmlns:mc="http://schemas.openxmlformats.org/markup-compatibility/2006" xmlns:a14="http://schemas.microsoft.com/office/drawing/2010/main">
          <mc:Choice Requires="a14">
            <p:sp>
              <p:nvSpPr>
                <p:cNvPr id="341" name="TextBox 340">
                  <a:extLst>
                    <a:ext uri="{FF2B5EF4-FFF2-40B4-BE49-F238E27FC236}">
                      <a16:creationId xmlns:a16="http://schemas.microsoft.com/office/drawing/2014/main" id="{268ECAD0-1AA6-7644-8D71-E46EA5938C0F}"/>
                    </a:ext>
                  </a:extLst>
                </p:cNvPr>
                <p:cNvSpPr txBox="1"/>
                <p:nvPr/>
              </p:nvSpPr>
              <p:spPr>
                <a:xfrm>
                  <a:off x="10076460" y="2160295"/>
                  <a:ext cx="738730"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oMath>
                    </m:oMathPara>
                  </a14:m>
                  <a:endParaRPr lang="en-US" dirty="0"/>
                </a:p>
              </p:txBody>
            </p:sp>
          </mc:Choice>
          <mc:Fallback xmlns="">
            <p:sp>
              <p:nvSpPr>
                <p:cNvPr id="341" name="TextBox 340">
                  <a:extLst>
                    <a:ext uri="{FF2B5EF4-FFF2-40B4-BE49-F238E27FC236}">
                      <a16:creationId xmlns:a16="http://schemas.microsoft.com/office/drawing/2014/main" id="{268ECAD0-1AA6-7644-8D71-E46EA5938C0F}"/>
                    </a:ext>
                  </a:extLst>
                </p:cNvPr>
                <p:cNvSpPr txBox="1">
                  <a:spLocks noRot="1" noChangeAspect="1" noMove="1" noResize="1" noEditPoints="1" noAdjustHandles="1" noChangeArrowheads="1" noChangeShapeType="1" noTextEdit="1"/>
                </p:cNvSpPr>
                <p:nvPr/>
              </p:nvSpPr>
              <p:spPr>
                <a:xfrm>
                  <a:off x="10076460" y="2160295"/>
                  <a:ext cx="738730"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2" name="TextBox 341">
                  <a:extLst>
                    <a:ext uri="{FF2B5EF4-FFF2-40B4-BE49-F238E27FC236}">
                      <a16:creationId xmlns:a16="http://schemas.microsoft.com/office/drawing/2014/main" id="{0335A550-18A4-6B41-A32E-8FC5B5676B2E}"/>
                    </a:ext>
                  </a:extLst>
                </p:cNvPr>
                <p:cNvSpPr txBox="1"/>
                <p:nvPr/>
              </p:nvSpPr>
              <p:spPr>
                <a:xfrm>
                  <a:off x="11476488" y="2779873"/>
                  <a:ext cx="668904"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oMath>
                    </m:oMathPara>
                  </a14:m>
                  <a:endParaRPr lang="en-US" dirty="0"/>
                </a:p>
              </p:txBody>
            </p:sp>
          </mc:Choice>
          <mc:Fallback xmlns="">
            <p:sp>
              <p:nvSpPr>
                <p:cNvPr id="342" name="TextBox 341">
                  <a:extLst>
                    <a:ext uri="{FF2B5EF4-FFF2-40B4-BE49-F238E27FC236}">
                      <a16:creationId xmlns:a16="http://schemas.microsoft.com/office/drawing/2014/main" id="{0335A550-18A4-6B41-A32E-8FC5B5676B2E}"/>
                    </a:ext>
                  </a:extLst>
                </p:cNvPr>
                <p:cNvSpPr txBox="1">
                  <a:spLocks noRot="1" noChangeAspect="1" noMove="1" noResize="1" noEditPoints="1" noAdjustHandles="1" noChangeArrowheads="1" noChangeShapeType="1" noTextEdit="1"/>
                </p:cNvSpPr>
                <p:nvPr/>
              </p:nvSpPr>
              <p:spPr>
                <a:xfrm>
                  <a:off x="11476488" y="2779873"/>
                  <a:ext cx="66890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3" name="TextBox 342">
                  <a:extLst>
                    <a:ext uri="{FF2B5EF4-FFF2-40B4-BE49-F238E27FC236}">
                      <a16:creationId xmlns:a16="http://schemas.microsoft.com/office/drawing/2014/main" id="{E6472F60-F908-564F-B2BD-0EA8D8F76DDB}"/>
                    </a:ext>
                  </a:extLst>
                </p:cNvPr>
                <p:cNvSpPr txBox="1"/>
                <p:nvPr/>
              </p:nvSpPr>
              <p:spPr>
                <a:xfrm>
                  <a:off x="9517459" y="2839006"/>
                  <a:ext cx="511629"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p:txBody>
            </p:sp>
          </mc:Choice>
          <mc:Fallback xmlns="">
            <p:sp>
              <p:nvSpPr>
                <p:cNvPr id="343" name="TextBox 342">
                  <a:extLst>
                    <a:ext uri="{FF2B5EF4-FFF2-40B4-BE49-F238E27FC236}">
                      <a16:creationId xmlns:a16="http://schemas.microsoft.com/office/drawing/2014/main" id="{E6472F60-F908-564F-B2BD-0EA8D8F76DDB}"/>
                    </a:ext>
                  </a:extLst>
                </p:cNvPr>
                <p:cNvSpPr txBox="1">
                  <a:spLocks noRot="1" noChangeAspect="1" noMove="1" noResize="1" noEditPoints="1" noAdjustHandles="1" noChangeArrowheads="1" noChangeShapeType="1" noTextEdit="1"/>
                </p:cNvSpPr>
                <p:nvPr/>
              </p:nvSpPr>
              <p:spPr>
                <a:xfrm>
                  <a:off x="9517459" y="2839006"/>
                  <a:ext cx="511629" cy="369332"/>
                </a:xfrm>
                <a:prstGeom prst="rect">
                  <a:avLst/>
                </a:prstGeom>
                <a:blipFill>
                  <a:blip r:embed="rId6"/>
                  <a:stretch>
                    <a:fillRect/>
                  </a:stretch>
                </a:blipFill>
              </p:spPr>
              <p:txBody>
                <a:bodyPr/>
                <a:lstStyle/>
                <a:p>
                  <a:r>
                    <a:rPr lang="en-US">
                      <a:noFill/>
                    </a:rPr>
                    <a:t> </a:t>
                  </a:r>
                </a:p>
              </p:txBody>
            </p:sp>
          </mc:Fallback>
        </mc:AlternateContent>
        <p:grpSp>
          <p:nvGrpSpPr>
            <p:cNvPr id="125" name="Group 210">
              <a:extLst>
                <a:ext uri="{FF2B5EF4-FFF2-40B4-BE49-F238E27FC236}">
                  <a16:creationId xmlns:a16="http://schemas.microsoft.com/office/drawing/2014/main" id="{7245D486-052B-4943-9A25-01767B115618}"/>
                </a:ext>
              </a:extLst>
            </p:cNvPr>
            <p:cNvGrpSpPr>
              <a:grpSpLocks/>
            </p:cNvGrpSpPr>
            <p:nvPr/>
          </p:nvGrpSpPr>
          <p:grpSpPr bwMode="auto">
            <a:xfrm rot="5400000">
              <a:off x="10937947" y="2268761"/>
              <a:ext cx="304800" cy="762000"/>
              <a:chOff x="3216" y="1728"/>
              <a:chExt cx="192" cy="480"/>
            </a:xfrm>
          </p:grpSpPr>
          <p:sp>
            <p:nvSpPr>
              <p:cNvPr id="131" name="Line 8">
                <a:extLst>
                  <a:ext uri="{FF2B5EF4-FFF2-40B4-BE49-F238E27FC236}">
                    <a16:creationId xmlns:a16="http://schemas.microsoft.com/office/drawing/2014/main" id="{7483F0EA-6B15-F942-9318-3A72635D11E6}"/>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 name="Line 9">
                <a:extLst>
                  <a:ext uri="{FF2B5EF4-FFF2-40B4-BE49-F238E27FC236}">
                    <a16:creationId xmlns:a16="http://schemas.microsoft.com/office/drawing/2014/main" id="{AD3E532D-DD65-654C-8108-31111C2BC7BD}"/>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 name="Line 10">
                <a:extLst>
                  <a:ext uri="{FF2B5EF4-FFF2-40B4-BE49-F238E27FC236}">
                    <a16:creationId xmlns:a16="http://schemas.microsoft.com/office/drawing/2014/main" id="{2E96D408-AF33-864A-846E-7A0390CE77EF}"/>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 name="Line 11">
                <a:extLst>
                  <a:ext uri="{FF2B5EF4-FFF2-40B4-BE49-F238E27FC236}">
                    <a16:creationId xmlns:a16="http://schemas.microsoft.com/office/drawing/2014/main" id="{95A1A56E-D095-494B-84C1-6566458DAFD4}"/>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3BE7512E-95D0-3A47-AE6E-64EDC5FF8524}"/>
                    </a:ext>
                  </a:extLst>
                </p:cNvPr>
                <p:cNvSpPr txBox="1"/>
                <p:nvPr/>
              </p:nvSpPr>
              <p:spPr>
                <a:xfrm>
                  <a:off x="10732617" y="2153859"/>
                  <a:ext cx="738730"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rPr>
                          <m:t>𝐶</m:t>
                        </m:r>
                      </m:oMath>
                    </m:oMathPara>
                  </a14:m>
                  <a:endParaRPr lang="en-US" dirty="0"/>
                </a:p>
              </p:txBody>
            </p:sp>
          </mc:Choice>
          <mc:Fallback xmlns="">
            <p:sp>
              <p:nvSpPr>
                <p:cNvPr id="135" name="TextBox 134">
                  <a:extLst>
                    <a:ext uri="{FF2B5EF4-FFF2-40B4-BE49-F238E27FC236}">
                      <a16:creationId xmlns:a16="http://schemas.microsoft.com/office/drawing/2014/main" id="{3BE7512E-95D0-3A47-AE6E-64EDC5FF8524}"/>
                    </a:ext>
                  </a:extLst>
                </p:cNvPr>
                <p:cNvSpPr txBox="1">
                  <a:spLocks noRot="1" noChangeAspect="1" noMove="1" noResize="1" noEditPoints="1" noAdjustHandles="1" noChangeArrowheads="1" noChangeShapeType="1" noTextEdit="1"/>
                </p:cNvSpPr>
                <p:nvPr/>
              </p:nvSpPr>
              <p:spPr>
                <a:xfrm>
                  <a:off x="10732617" y="2153859"/>
                  <a:ext cx="738730" cy="369332"/>
                </a:xfrm>
                <a:prstGeom prst="rect">
                  <a:avLst/>
                </a:prstGeom>
                <a:blipFill>
                  <a:blip r:embed="rId7"/>
                  <a:stretch>
                    <a:fillRect/>
                  </a:stretch>
                </a:blipFill>
              </p:spPr>
              <p:txBody>
                <a:bodyPr/>
                <a:lstStyle/>
                <a:p>
                  <a:r>
                    <a:rPr lang="en-US">
                      <a:noFill/>
                    </a:rPr>
                    <a:t> </a:t>
                  </a:r>
                </a:p>
              </p:txBody>
            </p:sp>
          </mc:Fallback>
        </mc:AlternateContent>
        <p:sp>
          <p:nvSpPr>
            <p:cNvPr id="137" name="TextBox 136">
              <a:extLst>
                <a:ext uri="{FF2B5EF4-FFF2-40B4-BE49-F238E27FC236}">
                  <a16:creationId xmlns:a16="http://schemas.microsoft.com/office/drawing/2014/main" id="{E44FF9CD-7F08-F446-9766-A185994ECAF5}"/>
                </a:ext>
              </a:extLst>
            </p:cNvPr>
            <p:cNvSpPr txBox="1"/>
            <p:nvPr/>
          </p:nvSpPr>
          <p:spPr>
            <a:xfrm>
              <a:off x="10632134" y="3028856"/>
              <a:ext cx="622485" cy="369332"/>
            </a:xfrm>
            <a:prstGeom prst="rect">
              <a:avLst/>
            </a:prstGeom>
            <a:noFill/>
          </p:spPr>
          <p:txBody>
            <a:bodyPr wrap="square" rtlCol="0">
              <a:spAutoFit/>
            </a:bodyPr>
            <a:lstStyle/>
            <a:p>
              <a:r>
                <a:rPr lang="en-US" dirty="0"/>
                <a:t>B</a:t>
              </a:r>
            </a:p>
          </p:txBody>
        </p:sp>
        <mc:AlternateContent xmlns:mc="http://schemas.openxmlformats.org/markup-compatibility/2006" xmlns:a14="http://schemas.microsoft.com/office/drawing/2010/main">
          <mc:Choice Requires="a14">
            <p:sp>
              <p:nvSpPr>
                <p:cNvPr id="138" name="TextBox 137">
                  <a:extLst>
                    <a:ext uri="{FF2B5EF4-FFF2-40B4-BE49-F238E27FC236}">
                      <a16:creationId xmlns:a16="http://schemas.microsoft.com/office/drawing/2014/main" id="{AD80D8B4-5664-6C47-A7A0-715CC0E8967C}"/>
                    </a:ext>
                  </a:extLst>
                </p:cNvPr>
                <p:cNvSpPr txBox="1"/>
                <p:nvPr/>
              </p:nvSpPr>
              <p:spPr>
                <a:xfrm>
                  <a:off x="11386982" y="2306451"/>
                  <a:ext cx="511629"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p:txBody>
            </p:sp>
          </mc:Choice>
          <mc:Fallback xmlns="">
            <p:sp>
              <p:nvSpPr>
                <p:cNvPr id="138" name="TextBox 137">
                  <a:extLst>
                    <a:ext uri="{FF2B5EF4-FFF2-40B4-BE49-F238E27FC236}">
                      <a16:creationId xmlns:a16="http://schemas.microsoft.com/office/drawing/2014/main" id="{AD80D8B4-5664-6C47-A7A0-715CC0E8967C}"/>
                    </a:ext>
                  </a:extLst>
                </p:cNvPr>
                <p:cNvSpPr txBox="1">
                  <a:spLocks noRot="1" noChangeAspect="1" noMove="1" noResize="1" noEditPoints="1" noAdjustHandles="1" noChangeArrowheads="1" noChangeShapeType="1" noTextEdit="1"/>
                </p:cNvSpPr>
                <p:nvPr/>
              </p:nvSpPr>
              <p:spPr>
                <a:xfrm>
                  <a:off x="11386982" y="2306451"/>
                  <a:ext cx="511629" cy="369332"/>
                </a:xfrm>
                <a:prstGeom prst="rect">
                  <a:avLst/>
                </a:prstGeom>
                <a:blipFill>
                  <a:blip r:embed="rId8"/>
                  <a:stretch>
                    <a:fillRect/>
                  </a:stretch>
                </a:blipFill>
              </p:spPr>
              <p:txBody>
                <a:bodyPr/>
                <a:lstStyle/>
                <a:p>
                  <a:r>
                    <a:rPr lang="en-US">
                      <a:noFill/>
                    </a:rPr>
                    <a:t> </a:t>
                  </a:r>
                </a:p>
              </p:txBody>
            </p:sp>
          </mc:Fallback>
        </mc:AlternateContent>
      </p:grpSp>
      <p:grpSp>
        <p:nvGrpSpPr>
          <p:cNvPr id="9" name="Group 8">
            <a:extLst>
              <a:ext uri="{FF2B5EF4-FFF2-40B4-BE49-F238E27FC236}">
                <a16:creationId xmlns:a16="http://schemas.microsoft.com/office/drawing/2014/main" id="{83E82160-6B35-5911-CE27-C011750F6024}"/>
              </a:ext>
            </a:extLst>
          </p:cNvPr>
          <p:cNvGrpSpPr/>
          <p:nvPr/>
        </p:nvGrpSpPr>
        <p:grpSpPr>
          <a:xfrm>
            <a:off x="9814544" y="785278"/>
            <a:ext cx="2180919" cy="1524237"/>
            <a:chOff x="9508451" y="33523"/>
            <a:chExt cx="2180919" cy="1524237"/>
          </a:xfrm>
        </p:grpSpPr>
        <p:sp>
          <p:nvSpPr>
            <p:cNvPr id="316" name="Freeform 12">
              <a:extLst>
                <a:ext uri="{FF2B5EF4-FFF2-40B4-BE49-F238E27FC236}">
                  <a16:creationId xmlns:a16="http://schemas.microsoft.com/office/drawing/2014/main" id="{719B73B9-F162-1348-B80C-A0B37A73531B}"/>
                </a:ext>
              </a:extLst>
            </p:cNvPr>
            <p:cNvSpPr>
              <a:spLocks noChangeAspect="1"/>
            </p:cNvSpPr>
            <p:nvPr/>
          </p:nvSpPr>
          <p:spPr bwMode="auto">
            <a:xfrm>
              <a:off x="10739952" y="516357"/>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317" name="Group 220">
              <a:extLst>
                <a:ext uri="{FF2B5EF4-FFF2-40B4-BE49-F238E27FC236}">
                  <a16:creationId xmlns:a16="http://schemas.microsoft.com/office/drawing/2014/main" id="{D30EDFAA-23F6-804C-8EB6-60DF1AE5DC6F}"/>
                </a:ext>
              </a:extLst>
            </p:cNvPr>
            <p:cNvGrpSpPr>
              <a:grpSpLocks/>
            </p:cNvGrpSpPr>
            <p:nvPr/>
          </p:nvGrpSpPr>
          <p:grpSpPr bwMode="auto">
            <a:xfrm>
              <a:off x="10739949" y="1219095"/>
              <a:ext cx="152400" cy="304800"/>
              <a:chOff x="3264" y="3072"/>
              <a:chExt cx="96" cy="192"/>
            </a:xfrm>
          </p:grpSpPr>
          <p:sp>
            <p:nvSpPr>
              <p:cNvPr id="318" name="Line 17">
                <a:extLst>
                  <a:ext uri="{FF2B5EF4-FFF2-40B4-BE49-F238E27FC236}">
                    <a16:creationId xmlns:a16="http://schemas.microsoft.com/office/drawing/2014/main" id="{4CCC2E00-1AEE-BD4B-9310-FB01EAD3A383}"/>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9" name="Freeform 18">
                <a:extLst>
                  <a:ext uri="{FF2B5EF4-FFF2-40B4-BE49-F238E27FC236}">
                    <a16:creationId xmlns:a16="http://schemas.microsoft.com/office/drawing/2014/main" id="{136FDC0B-9B78-9F4E-9503-D532AF90137D}"/>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20" name="Group 207">
              <a:extLst>
                <a:ext uri="{FF2B5EF4-FFF2-40B4-BE49-F238E27FC236}">
                  <a16:creationId xmlns:a16="http://schemas.microsoft.com/office/drawing/2014/main" id="{92EDCDCE-1098-C649-9EF2-BB97F9E15A6A}"/>
                </a:ext>
              </a:extLst>
            </p:cNvPr>
            <p:cNvGrpSpPr>
              <a:grpSpLocks/>
            </p:cNvGrpSpPr>
            <p:nvPr/>
          </p:nvGrpSpPr>
          <p:grpSpPr bwMode="auto">
            <a:xfrm>
              <a:off x="9901564" y="516130"/>
              <a:ext cx="304800" cy="762000"/>
              <a:chOff x="4560" y="2400"/>
              <a:chExt cx="192" cy="480"/>
            </a:xfrm>
          </p:grpSpPr>
          <p:sp>
            <p:nvSpPr>
              <p:cNvPr id="321" name="Oval 111">
                <a:extLst>
                  <a:ext uri="{FF2B5EF4-FFF2-40B4-BE49-F238E27FC236}">
                    <a16:creationId xmlns:a16="http://schemas.microsoft.com/office/drawing/2014/main" id="{E54EDDE3-B1AC-C54D-8DC4-A570AB12ABCC}"/>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322" name="Line 112">
                <a:extLst>
                  <a:ext uri="{FF2B5EF4-FFF2-40B4-BE49-F238E27FC236}">
                    <a16:creationId xmlns:a16="http://schemas.microsoft.com/office/drawing/2014/main" id="{E4F36C52-4537-9042-B151-CAFD222ACBD8}"/>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3" name="Line 113">
                <a:extLst>
                  <a:ext uri="{FF2B5EF4-FFF2-40B4-BE49-F238E27FC236}">
                    <a16:creationId xmlns:a16="http://schemas.microsoft.com/office/drawing/2014/main" id="{38B1BBD3-EDD0-AF49-B0C1-1391818C15E4}"/>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24" name="Group 117">
                <a:extLst>
                  <a:ext uri="{FF2B5EF4-FFF2-40B4-BE49-F238E27FC236}">
                    <a16:creationId xmlns:a16="http://schemas.microsoft.com/office/drawing/2014/main" id="{C1C95CD2-5F95-3F45-B330-7D913F0A2BDE}"/>
                  </a:ext>
                </a:extLst>
              </p:cNvPr>
              <p:cNvGrpSpPr>
                <a:grpSpLocks noChangeAspect="1"/>
              </p:cNvGrpSpPr>
              <p:nvPr/>
            </p:nvGrpSpPr>
            <p:grpSpPr bwMode="auto">
              <a:xfrm>
                <a:off x="4608" y="2592"/>
                <a:ext cx="96" cy="96"/>
                <a:chOff x="2929" y="3217"/>
                <a:chExt cx="383" cy="191"/>
              </a:xfrm>
            </p:grpSpPr>
            <p:sp>
              <p:nvSpPr>
                <p:cNvPr id="325" name="Arc 118">
                  <a:extLst>
                    <a:ext uri="{FF2B5EF4-FFF2-40B4-BE49-F238E27FC236}">
                      <a16:creationId xmlns:a16="http://schemas.microsoft.com/office/drawing/2014/main" id="{F8BF6671-1210-984A-BE4D-3E109B0BCB11}"/>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6" name="Arc 119">
                  <a:extLst>
                    <a:ext uri="{FF2B5EF4-FFF2-40B4-BE49-F238E27FC236}">
                      <a16:creationId xmlns:a16="http://schemas.microsoft.com/office/drawing/2014/main" id="{527188F8-27CC-EE46-947C-1575B39A6656}"/>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327" name="Freeform 12">
              <a:extLst>
                <a:ext uri="{FF2B5EF4-FFF2-40B4-BE49-F238E27FC236}">
                  <a16:creationId xmlns:a16="http://schemas.microsoft.com/office/drawing/2014/main" id="{21DD09CA-F30C-914D-8A2D-32DC6E255330}"/>
                </a:ext>
              </a:extLst>
            </p:cNvPr>
            <p:cNvSpPr>
              <a:spLocks noChangeAspect="1"/>
            </p:cNvSpPr>
            <p:nvPr/>
          </p:nvSpPr>
          <p:spPr bwMode="auto">
            <a:xfrm rot="5400000">
              <a:off x="10365209" y="143823"/>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328" name="Group 220">
              <a:extLst>
                <a:ext uri="{FF2B5EF4-FFF2-40B4-BE49-F238E27FC236}">
                  <a16:creationId xmlns:a16="http://schemas.microsoft.com/office/drawing/2014/main" id="{677BFD78-42FC-074F-9F02-C23E048356CC}"/>
                </a:ext>
              </a:extLst>
            </p:cNvPr>
            <p:cNvGrpSpPr>
              <a:grpSpLocks/>
            </p:cNvGrpSpPr>
            <p:nvPr/>
          </p:nvGrpSpPr>
          <p:grpSpPr bwMode="auto">
            <a:xfrm>
              <a:off x="9973712" y="1252960"/>
              <a:ext cx="152400" cy="304800"/>
              <a:chOff x="3264" y="3072"/>
              <a:chExt cx="96" cy="192"/>
            </a:xfrm>
          </p:grpSpPr>
          <p:sp>
            <p:nvSpPr>
              <p:cNvPr id="329" name="Line 17">
                <a:extLst>
                  <a:ext uri="{FF2B5EF4-FFF2-40B4-BE49-F238E27FC236}">
                    <a16:creationId xmlns:a16="http://schemas.microsoft.com/office/drawing/2014/main" id="{A21F4F44-8948-E74B-9C19-D619260840FA}"/>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0" name="Freeform 18">
                <a:extLst>
                  <a:ext uri="{FF2B5EF4-FFF2-40B4-BE49-F238E27FC236}">
                    <a16:creationId xmlns:a16="http://schemas.microsoft.com/office/drawing/2014/main" id="{FA9D2DC1-2109-734C-BCBA-FE84B398A5FD}"/>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mc:AlternateContent xmlns:mc="http://schemas.openxmlformats.org/markup-compatibility/2006" xmlns:a14="http://schemas.microsoft.com/office/drawing/2010/main">
          <mc:Choice Requires="a14">
            <p:sp>
              <p:nvSpPr>
                <p:cNvPr id="332" name="TextBox 331">
                  <a:extLst>
                    <a:ext uri="{FF2B5EF4-FFF2-40B4-BE49-F238E27FC236}">
                      <a16:creationId xmlns:a16="http://schemas.microsoft.com/office/drawing/2014/main" id="{62A9174F-EE8D-7349-A36E-26540C27E66D}"/>
                    </a:ext>
                  </a:extLst>
                </p:cNvPr>
                <p:cNvSpPr txBox="1"/>
                <p:nvPr/>
              </p:nvSpPr>
              <p:spPr>
                <a:xfrm>
                  <a:off x="9888864" y="33523"/>
                  <a:ext cx="1182903"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1</m:t>
                            </m:r>
                          </m:sub>
                        </m:sSub>
                      </m:oMath>
                    </m:oMathPara>
                  </a14:m>
                  <a:endParaRPr lang="en-US" dirty="0"/>
                </a:p>
              </p:txBody>
            </p:sp>
          </mc:Choice>
          <mc:Fallback xmlns="">
            <p:sp>
              <p:nvSpPr>
                <p:cNvPr id="332" name="TextBox 331">
                  <a:extLst>
                    <a:ext uri="{FF2B5EF4-FFF2-40B4-BE49-F238E27FC236}">
                      <a16:creationId xmlns:a16="http://schemas.microsoft.com/office/drawing/2014/main" id="{62A9174F-EE8D-7349-A36E-26540C27E66D}"/>
                    </a:ext>
                  </a:extLst>
                </p:cNvPr>
                <p:cNvSpPr txBox="1">
                  <a:spLocks noRot="1" noChangeAspect="1" noMove="1" noResize="1" noEditPoints="1" noAdjustHandles="1" noChangeArrowheads="1" noChangeShapeType="1" noTextEdit="1"/>
                </p:cNvSpPr>
                <p:nvPr/>
              </p:nvSpPr>
              <p:spPr>
                <a:xfrm>
                  <a:off x="9888864" y="33523"/>
                  <a:ext cx="1182903"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3" name="TextBox 332">
                  <a:extLst>
                    <a:ext uri="{FF2B5EF4-FFF2-40B4-BE49-F238E27FC236}">
                      <a16:creationId xmlns:a16="http://schemas.microsoft.com/office/drawing/2014/main" id="{629DA704-4699-1D4D-879F-1E9CD2C1E4B6}"/>
                    </a:ext>
                  </a:extLst>
                </p:cNvPr>
                <p:cNvSpPr txBox="1"/>
                <p:nvPr/>
              </p:nvSpPr>
              <p:spPr>
                <a:xfrm>
                  <a:off x="10506467" y="705458"/>
                  <a:ext cx="1182903"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2</m:t>
                            </m:r>
                          </m:sub>
                        </m:sSub>
                      </m:oMath>
                    </m:oMathPara>
                  </a14:m>
                  <a:endParaRPr lang="en-US" dirty="0"/>
                </a:p>
              </p:txBody>
            </p:sp>
          </mc:Choice>
          <mc:Fallback xmlns="">
            <p:sp>
              <p:nvSpPr>
                <p:cNvPr id="333" name="TextBox 332">
                  <a:extLst>
                    <a:ext uri="{FF2B5EF4-FFF2-40B4-BE49-F238E27FC236}">
                      <a16:creationId xmlns:a16="http://schemas.microsoft.com/office/drawing/2014/main" id="{629DA704-4699-1D4D-879F-1E9CD2C1E4B6}"/>
                    </a:ext>
                  </a:extLst>
                </p:cNvPr>
                <p:cNvSpPr txBox="1">
                  <a:spLocks noRot="1" noChangeAspect="1" noMove="1" noResize="1" noEditPoints="1" noAdjustHandles="1" noChangeArrowheads="1" noChangeShapeType="1" noTextEdit="1"/>
                </p:cNvSpPr>
                <p:nvPr/>
              </p:nvSpPr>
              <p:spPr>
                <a:xfrm>
                  <a:off x="10506467" y="705458"/>
                  <a:ext cx="1182903"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4" name="TextBox 333">
                  <a:extLst>
                    <a:ext uri="{FF2B5EF4-FFF2-40B4-BE49-F238E27FC236}">
                      <a16:creationId xmlns:a16="http://schemas.microsoft.com/office/drawing/2014/main" id="{A97D7504-881A-4D4C-BF47-C561D8077E8D}"/>
                    </a:ext>
                  </a:extLst>
                </p:cNvPr>
                <p:cNvSpPr txBox="1"/>
                <p:nvPr/>
              </p:nvSpPr>
              <p:spPr>
                <a:xfrm>
                  <a:off x="9508451" y="714068"/>
                  <a:ext cx="511629"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p:txBody>
            </p:sp>
          </mc:Choice>
          <mc:Fallback xmlns="">
            <p:sp>
              <p:nvSpPr>
                <p:cNvPr id="334" name="TextBox 333">
                  <a:extLst>
                    <a:ext uri="{FF2B5EF4-FFF2-40B4-BE49-F238E27FC236}">
                      <a16:creationId xmlns:a16="http://schemas.microsoft.com/office/drawing/2014/main" id="{A97D7504-881A-4D4C-BF47-C561D8077E8D}"/>
                    </a:ext>
                  </a:extLst>
                </p:cNvPr>
                <p:cNvSpPr txBox="1">
                  <a:spLocks noRot="1" noChangeAspect="1" noMove="1" noResize="1" noEditPoints="1" noAdjustHandles="1" noChangeArrowheads="1" noChangeShapeType="1" noTextEdit="1"/>
                </p:cNvSpPr>
                <p:nvPr/>
              </p:nvSpPr>
              <p:spPr>
                <a:xfrm>
                  <a:off x="9508451" y="714068"/>
                  <a:ext cx="511629" cy="369332"/>
                </a:xfrm>
                <a:prstGeom prst="rect">
                  <a:avLst/>
                </a:prstGeom>
                <a:blipFill>
                  <a:blip r:embed="rId11"/>
                  <a:stretch>
                    <a:fillRect/>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99BDE83E-B475-5E41-A1CC-2A99324A6B43}"/>
                </a:ext>
              </a:extLst>
            </p:cNvPr>
            <p:cNvSpPr txBox="1"/>
            <p:nvPr/>
          </p:nvSpPr>
          <p:spPr>
            <a:xfrm>
              <a:off x="10240784" y="966055"/>
              <a:ext cx="622485" cy="369332"/>
            </a:xfrm>
            <a:prstGeom prst="rect">
              <a:avLst/>
            </a:prstGeom>
            <a:noFill/>
          </p:spPr>
          <p:txBody>
            <a:bodyPr wrap="square" rtlCol="0">
              <a:spAutoFit/>
            </a:bodyPr>
            <a:lstStyle/>
            <a:p>
              <a:r>
                <a:rPr lang="en-US" dirty="0"/>
                <a:t>A</a:t>
              </a: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5DA9089E-CE84-7947-8D70-8FA6E475ED88}"/>
                    </a:ext>
                  </a:extLst>
                </p:cNvPr>
                <p:cNvSpPr txBox="1"/>
                <p:nvPr/>
              </p:nvSpPr>
              <p:spPr>
                <a:xfrm>
                  <a:off x="10712561" y="162731"/>
                  <a:ext cx="511629"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p:txBody>
            </p:sp>
          </mc:Choice>
          <mc:Fallback xmlns="">
            <p:sp>
              <p:nvSpPr>
                <p:cNvPr id="52" name="TextBox 51">
                  <a:extLst>
                    <a:ext uri="{FF2B5EF4-FFF2-40B4-BE49-F238E27FC236}">
                      <a16:creationId xmlns:a16="http://schemas.microsoft.com/office/drawing/2014/main" id="{5DA9089E-CE84-7947-8D70-8FA6E475ED88}"/>
                    </a:ext>
                  </a:extLst>
                </p:cNvPr>
                <p:cNvSpPr txBox="1">
                  <a:spLocks noRot="1" noChangeAspect="1" noMove="1" noResize="1" noEditPoints="1" noAdjustHandles="1" noChangeArrowheads="1" noChangeShapeType="1" noTextEdit="1"/>
                </p:cNvSpPr>
                <p:nvPr/>
              </p:nvSpPr>
              <p:spPr>
                <a:xfrm>
                  <a:off x="10712561" y="162731"/>
                  <a:ext cx="511629" cy="369332"/>
                </a:xfrm>
                <a:prstGeom prst="rect">
                  <a:avLst/>
                </a:prstGeom>
                <a:blipFill>
                  <a:blip r:embed="rId12"/>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84236E5E-ED8F-8049-A34B-3A113101858C}"/>
                  </a:ext>
                </a:extLst>
              </p:cNvPr>
              <p:cNvSpPr txBox="1"/>
              <p:nvPr/>
            </p:nvSpPr>
            <p:spPr>
              <a:xfrm>
                <a:off x="4859966" y="2124399"/>
                <a:ext cx="4798759" cy="2396478"/>
              </a:xfrm>
              <a:prstGeom prst="rect">
                <a:avLst/>
              </a:prstGeom>
              <a:noFill/>
            </p:spPr>
            <p:txBody>
              <a:bodyPr wrap="square" rtlCol="0">
                <a:noAutofit/>
              </a:bodyPr>
              <a:lstStyle/>
              <a:p>
                <a:pPr marL="342900" indent="-342900">
                  <a:buFont typeface="Arial" panose="020B0604020202020204" pitchFamily="34" charset="0"/>
                  <a:buChar char="•"/>
                </a:pPr>
                <a:r>
                  <a:rPr lang="en-US" sz="2000" dirty="0"/>
                  <a:t>For C</a:t>
                </a:r>
              </a:p>
              <a:p>
                <a:pPr marL="800100" lvl="1" indent="-34290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b="0" i="1" smtClean="0">
                                <a:latin typeface="Cambria Math" panose="02040503050406030204" pitchFamily="18" charset="0"/>
                              </a:rPr>
                              <m:t>1</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𝐺</m:t>
                            </m:r>
                          </m:e>
                          <m:sub>
                            <m:r>
                              <a:rPr lang="en-US" sz="2000" b="0" i="1" smtClean="0">
                                <a:latin typeface="Cambria Math" panose="02040503050406030204" pitchFamily="18" charset="0"/>
                              </a:rPr>
                              <m:t>1</m:t>
                            </m:r>
                          </m:sub>
                        </m:sSub>
                      </m:den>
                    </m:f>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2</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f>
                          <m:fPr>
                            <m:type m:val="skw"/>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𝐺</m:t>
                                </m:r>
                              </m:e>
                              <m:sub>
                                <m:r>
                                  <a:rPr lang="en-US" sz="2000" b="0" i="1" smtClean="0">
                                    <a:latin typeface="Cambria Math" panose="02040503050406030204" pitchFamily="18" charset="0"/>
                                  </a:rPr>
                                  <m:t>1</m:t>
                                </m:r>
                              </m:sub>
                            </m:sSub>
                          </m:den>
                        </m:f>
                      </m:den>
                    </m:f>
                  </m:oMath>
                </a14:m>
                <a:endParaRPr lang="en-US" sz="2000" dirty="0"/>
              </a:p>
              <a:p>
                <a:pPr marL="800100" lvl="1"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For voltage amplifiers, we want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2</m:t>
                        </m:r>
                      </m:sub>
                    </m:sSub>
                    <m:r>
                      <a:rPr lang="en-US" sz="200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𝑅</m:t>
                        </m:r>
                      </m:e>
                      <m:sub>
                        <m:r>
                          <a:rPr lang="en-US" sz="2000" b="0" i="1" smtClean="0">
                            <a:latin typeface="Cambria Math" panose="02040503050406030204" pitchFamily="18" charset="0"/>
                            <a:ea typeface="Cambria Math" panose="02040503050406030204" pitchFamily="18" charset="0"/>
                          </a:rPr>
                          <m:t>1</m:t>
                        </m:r>
                      </m:sub>
                    </m:sSub>
                  </m:oMath>
                </a14:m>
                <a:endParaRPr lang="en-US" sz="2000" dirty="0"/>
              </a:p>
              <a:p>
                <a:pPr marL="342900" indent="-342900">
                  <a:buFont typeface="Arial" panose="020B0604020202020204" pitchFamily="34" charset="0"/>
                  <a:buChar char="•"/>
                </a:pPr>
                <a:r>
                  <a:rPr lang="en-US" sz="2000" dirty="0"/>
                  <a:t>For current amplifiers, we want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2</m:t>
                        </m:r>
                      </m:sub>
                    </m:sSub>
                    <m:r>
                      <a:rPr lang="en-US" sz="200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𝑅</m:t>
                        </m:r>
                      </m:e>
                      <m:sub>
                        <m:r>
                          <a:rPr lang="en-US" sz="2000" i="1">
                            <a:latin typeface="Cambria Math" panose="02040503050406030204" pitchFamily="18" charset="0"/>
                            <a:ea typeface="Cambria Math" panose="02040503050406030204" pitchFamily="18" charset="0"/>
                          </a:rPr>
                          <m:t>1</m:t>
                        </m:r>
                      </m:sub>
                    </m:sSub>
                  </m:oMath>
                </a14:m>
                <a:endParaRPr lang="en-US" sz="2000" dirty="0"/>
              </a:p>
              <a:p>
                <a:pPr marL="742950" lvl="1" indent="-28575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p:txBody>
          </p:sp>
        </mc:Choice>
        <mc:Fallback xmlns="">
          <p:sp>
            <p:nvSpPr>
              <p:cNvPr id="53" name="TextBox 52">
                <a:extLst>
                  <a:ext uri="{FF2B5EF4-FFF2-40B4-BE49-F238E27FC236}">
                    <a16:creationId xmlns:a16="http://schemas.microsoft.com/office/drawing/2014/main" id="{84236E5E-ED8F-8049-A34B-3A113101858C}"/>
                  </a:ext>
                </a:extLst>
              </p:cNvPr>
              <p:cNvSpPr txBox="1">
                <a:spLocks noRot="1" noChangeAspect="1" noMove="1" noResize="1" noEditPoints="1" noAdjustHandles="1" noChangeArrowheads="1" noChangeShapeType="1" noTextEdit="1"/>
              </p:cNvSpPr>
              <p:nvPr/>
            </p:nvSpPr>
            <p:spPr>
              <a:xfrm>
                <a:off x="4859966" y="2124399"/>
                <a:ext cx="4798759" cy="2396478"/>
              </a:xfrm>
              <a:prstGeom prst="rect">
                <a:avLst/>
              </a:prstGeom>
              <a:blipFill>
                <a:blip r:embed="rId13"/>
                <a:stretch>
                  <a:fillRect l="-1055" t="-1579"/>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AF404A47-DAC4-DB4A-AC57-7838EBEE2070}"/>
              </a:ext>
            </a:extLst>
          </p:cNvPr>
          <p:cNvGrpSpPr/>
          <p:nvPr/>
        </p:nvGrpSpPr>
        <p:grpSpPr>
          <a:xfrm>
            <a:off x="9561966" y="4622970"/>
            <a:ext cx="2151149" cy="1376304"/>
            <a:chOff x="8876814" y="4093341"/>
            <a:chExt cx="2151149" cy="1376304"/>
          </a:xfrm>
        </p:grpSpPr>
        <p:sp>
          <p:nvSpPr>
            <p:cNvPr id="56" name="Freeform 12">
              <a:extLst>
                <a:ext uri="{FF2B5EF4-FFF2-40B4-BE49-F238E27FC236}">
                  <a16:creationId xmlns:a16="http://schemas.microsoft.com/office/drawing/2014/main" id="{9094C364-3EFA-9B4A-9A2F-E3F0F5765702}"/>
                </a:ext>
              </a:extLst>
            </p:cNvPr>
            <p:cNvSpPr>
              <a:spLocks noChangeAspect="1"/>
            </p:cNvSpPr>
            <p:nvPr/>
          </p:nvSpPr>
          <p:spPr bwMode="auto">
            <a:xfrm rot="5400000">
              <a:off x="9330448" y="4061460"/>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57" name="Group 220">
              <a:extLst>
                <a:ext uri="{FF2B5EF4-FFF2-40B4-BE49-F238E27FC236}">
                  <a16:creationId xmlns:a16="http://schemas.microsoft.com/office/drawing/2014/main" id="{CA16B525-3CF4-2C41-9286-8641A903DCBB}"/>
                </a:ext>
              </a:extLst>
            </p:cNvPr>
            <p:cNvGrpSpPr>
              <a:grpSpLocks/>
            </p:cNvGrpSpPr>
            <p:nvPr/>
          </p:nvGrpSpPr>
          <p:grpSpPr bwMode="auto">
            <a:xfrm>
              <a:off x="8953014" y="5164845"/>
              <a:ext cx="152400" cy="304800"/>
              <a:chOff x="3264" y="3072"/>
              <a:chExt cx="96" cy="192"/>
            </a:xfrm>
          </p:grpSpPr>
          <p:sp>
            <p:nvSpPr>
              <p:cNvPr id="58" name="Line 17">
                <a:extLst>
                  <a:ext uri="{FF2B5EF4-FFF2-40B4-BE49-F238E27FC236}">
                    <a16:creationId xmlns:a16="http://schemas.microsoft.com/office/drawing/2014/main" id="{DAEE3B5A-3DC7-5741-9286-84A46F25CE3D}"/>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 name="Freeform 18">
                <a:extLst>
                  <a:ext uri="{FF2B5EF4-FFF2-40B4-BE49-F238E27FC236}">
                    <a16:creationId xmlns:a16="http://schemas.microsoft.com/office/drawing/2014/main" id="{3F719746-77A3-3B44-9D07-693B908C7D50}"/>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60" name="Group 203">
              <a:extLst>
                <a:ext uri="{FF2B5EF4-FFF2-40B4-BE49-F238E27FC236}">
                  <a16:creationId xmlns:a16="http://schemas.microsoft.com/office/drawing/2014/main" id="{CE03863A-02B3-9A4D-9948-82A132A42635}"/>
                </a:ext>
              </a:extLst>
            </p:cNvPr>
            <p:cNvGrpSpPr>
              <a:grpSpLocks/>
            </p:cNvGrpSpPr>
            <p:nvPr/>
          </p:nvGrpSpPr>
          <p:grpSpPr bwMode="auto">
            <a:xfrm>
              <a:off x="8876814" y="4442460"/>
              <a:ext cx="304800" cy="762000"/>
              <a:chOff x="3216" y="2400"/>
              <a:chExt cx="192" cy="480"/>
            </a:xfrm>
          </p:grpSpPr>
          <p:sp>
            <p:nvSpPr>
              <p:cNvPr id="61" name="Line 46">
                <a:extLst>
                  <a:ext uri="{FF2B5EF4-FFF2-40B4-BE49-F238E27FC236}">
                    <a16:creationId xmlns:a16="http://schemas.microsoft.com/office/drawing/2014/main" id="{11A07C32-0D69-3844-8EA8-1CD1C84BC9B0}"/>
                  </a:ext>
                </a:extLst>
              </p:cNvPr>
              <p:cNvSpPr>
                <a:spLocks noChangeAspect="1" noChangeShapeType="1"/>
              </p:cNvSpPr>
              <p:nvPr/>
            </p:nvSpPr>
            <p:spPr bwMode="auto">
              <a:xfrm flipV="1">
                <a:off x="3312" y="2400"/>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 name="Line 47">
                <a:extLst>
                  <a:ext uri="{FF2B5EF4-FFF2-40B4-BE49-F238E27FC236}">
                    <a16:creationId xmlns:a16="http://schemas.microsoft.com/office/drawing/2014/main" id="{FA41A12D-D636-C749-BCB7-D3447F7F5E1A}"/>
                  </a:ext>
                </a:extLst>
              </p:cNvPr>
              <p:cNvSpPr>
                <a:spLocks noChangeAspect="1" noChangeShapeType="1"/>
              </p:cNvSpPr>
              <p:nvPr/>
            </p:nvSpPr>
            <p:spPr bwMode="auto">
              <a:xfrm flipV="1">
                <a:off x="3312" y="2784"/>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 name="Line 48">
                <a:extLst>
                  <a:ext uri="{FF2B5EF4-FFF2-40B4-BE49-F238E27FC236}">
                    <a16:creationId xmlns:a16="http://schemas.microsoft.com/office/drawing/2014/main" id="{3E0839EC-70F0-8849-B8B8-365D6D437F49}"/>
                  </a:ext>
                </a:extLst>
              </p:cNvPr>
              <p:cNvSpPr>
                <a:spLocks noChangeAspect="1" noChangeShapeType="1"/>
              </p:cNvSpPr>
              <p:nvPr/>
            </p:nvSpPr>
            <p:spPr bwMode="auto">
              <a:xfrm>
                <a:off x="3312" y="2568"/>
                <a:ext cx="0" cy="120"/>
              </a:xfrm>
              <a:prstGeom prst="line">
                <a:avLst/>
              </a:prstGeom>
              <a:noFill/>
              <a:ln w="25400">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en-US"/>
              </a:p>
            </p:txBody>
          </p:sp>
          <p:sp>
            <p:nvSpPr>
              <p:cNvPr id="65" name="Freeform 49">
                <a:extLst>
                  <a:ext uri="{FF2B5EF4-FFF2-40B4-BE49-F238E27FC236}">
                    <a16:creationId xmlns:a16="http://schemas.microsoft.com/office/drawing/2014/main" id="{A8C7C906-EB40-EB49-8C49-8BE0EE087315}"/>
                  </a:ext>
                </a:extLst>
              </p:cNvPr>
              <p:cNvSpPr>
                <a:spLocks noChangeAspect="1"/>
              </p:cNvSpPr>
              <p:nvPr/>
            </p:nvSpPr>
            <p:spPr bwMode="auto">
              <a:xfrm rot="5400000" flipH="1">
                <a:off x="3288" y="2664"/>
                <a:ext cx="48" cy="48"/>
              </a:xfrm>
              <a:custGeom>
                <a:avLst/>
                <a:gdLst>
                  <a:gd name="T0" fmla="*/ 0 w 96"/>
                  <a:gd name="T1" fmla="*/ 1 h 96"/>
                  <a:gd name="T2" fmla="*/ 2 w 96"/>
                  <a:gd name="T3" fmla="*/ 0 h 96"/>
                  <a:gd name="T4" fmla="*/ 2 w 96"/>
                  <a:gd name="T5" fmla="*/ 2 h 96"/>
                  <a:gd name="T6" fmla="*/ 0 w 96"/>
                  <a:gd name="T7" fmla="*/ 1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48"/>
                    </a:moveTo>
                    <a:lnTo>
                      <a:pt x="96" y="0"/>
                    </a:lnTo>
                    <a:lnTo>
                      <a:pt x="96" y="96"/>
                    </a:lnTo>
                    <a:lnTo>
                      <a:pt x="0" y="48"/>
                    </a:lnTo>
                    <a:close/>
                  </a:path>
                </a:pathLst>
              </a:custGeom>
              <a:solidFill>
                <a:schemeClr val="tx1"/>
              </a:solidFill>
              <a:ln w="25400">
                <a:solidFill>
                  <a:schemeClr val="tx1"/>
                </a:solidFill>
                <a:round/>
                <a:headEnd/>
                <a:tailEnd/>
              </a:ln>
            </p:spPr>
            <p:txBody>
              <a:bodyPr/>
              <a:lstStyle/>
              <a:p>
                <a:endParaRPr lang="en-US"/>
              </a:p>
            </p:txBody>
          </p:sp>
          <p:sp>
            <p:nvSpPr>
              <p:cNvPr id="66" name="Freeform 50">
                <a:extLst>
                  <a:ext uri="{FF2B5EF4-FFF2-40B4-BE49-F238E27FC236}">
                    <a16:creationId xmlns:a16="http://schemas.microsoft.com/office/drawing/2014/main" id="{878D0F49-DB84-2348-8EBF-5FE13B8B321E}"/>
                  </a:ext>
                </a:extLst>
              </p:cNvPr>
              <p:cNvSpPr>
                <a:spLocks noChangeAspect="1"/>
              </p:cNvSpPr>
              <p:nvPr/>
            </p:nvSpPr>
            <p:spPr bwMode="auto">
              <a:xfrm>
                <a:off x="3216" y="2496"/>
                <a:ext cx="192" cy="288"/>
              </a:xfrm>
              <a:custGeom>
                <a:avLst/>
                <a:gdLst>
                  <a:gd name="T0" fmla="*/ 3 w 384"/>
                  <a:gd name="T1" fmla="*/ 0 h 576"/>
                  <a:gd name="T2" fmla="*/ 0 w 384"/>
                  <a:gd name="T3" fmla="*/ 5 h 576"/>
                  <a:gd name="T4" fmla="*/ 3 w 384"/>
                  <a:gd name="T5" fmla="*/ 9 h 576"/>
                  <a:gd name="T6" fmla="*/ 6 w 384"/>
                  <a:gd name="T7" fmla="*/ 5 h 576"/>
                  <a:gd name="T8" fmla="*/ 3 w 384"/>
                  <a:gd name="T9" fmla="*/ 0 h 576"/>
                  <a:gd name="T10" fmla="*/ 0 60000 65536"/>
                  <a:gd name="T11" fmla="*/ 0 60000 65536"/>
                  <a:gd name="T12" fmla="*/ 0 60000 65536"/>
                  <a:gd name="T13" fmla="*/ 0 60000 65536"/>
                  <a:gd name="T14" fmla="*/ 0 60000 65536"/>
                  <a:gd name="T15" fmla="*/ 0 w 384"/>
                  <a:gd name="T16" fmla="*/ 0 h 576"/>
                  <a:gd name="T17" fmla="*/ 384 w 384"/>
                  <a:gd name="T18" fmla="*/ 576 h 576"/>
                </a:gdLst>
                <a:ahLst/>
                <a:cxnLst>
                  <a:cxn ang="T10">
                    <a:pos x="T0" y="T1"/>
                  </a:cxn>
                  <a:cxn ang="T11">
                    <a:pos x="T2" y="T3"/>
                  </a:cxn>
                  <a:cxn ang="T12">
                    <a:pos x="T4" y="T5"/>
                  </a:cxn>
                  <a:cxn ang="T13">
                    <a:pos x="T6" y="T7"/>
                  </a:cxn>
                  <a:cxn ang="T14">
                    <a:pos x="T8" y="T9"/>
                  </a:cxn>
                </a:cxnLst>
                <a:rect l="T15" t="T16" r="T17" b="T18"/>
                <a:pathLst>
                  <a:path w="384" h="576">
                    <a:moveTo>
                      <a:pt x="192" y="0"/>
                    </a:moveTo>
                    <a:lnTo>
                      <a:pt x="0" y="288"/>
                    </a:lnTo>
                    <a:lnTo>
                      <a:pt x="192" y="576"/>
                    </a:lnTo>
                    <a:lnTo>
                      <a:pt x="384" y="288"/>
                    </a:lnTo>
                    <a:lnTo>
                      <a:pt x="192"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67" name="Freeform 12">
              <a:extLst>
                <a:ext uri="{FF2B5EF4-FFF2-40B4-BE49-F238E27FC236}">
                  <a16:creationId xmlns:a16="http://schemas.microsoft.com/office/drawing/2014/main" id="{D284723F-9445-E744-8E7E-2EE250621230}"/>
                </a:ext>
              </a:extLst>
            </p:cNvPr>
            <p:cNvSpPr>
              <a:spLocks noChangeAspect="1"/>
            </p:cNvSpPr>
            <p:nvPr/>
          </p:nvSpPr>
          <p:spPr bwMode="auto">
            <a:xfrm>
              <a:off x="10363200" y="4431030"/>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68" name="Group 210">
              <a:extLst>
                <a:ext uri="{FF2B5EF4-FFF2-40B4-BE49-F238E27FC236}">
                  <a16:creationId xmlns:a16="http://schemas.microsoft.com/office/drawing/2014/main" id="{AAC88529-A567-5E4A-92B2-0AC3D77BF1EB}"/>
                </a:ext>
              </a:extLst>
            </p:cNvPr>
            <p:cNvGrpSpPr>
              <a:grpSpLocks/>
            </p:cNvGrpSpPr>
            <p:nvPr/>
          </p:nvGrpSpPr>
          <p:grpSpPr bwMode="auto">
            <a:xfrm rot="5400000">
              <a:off x="9898376" y="4057584"/>
              <a:ext cx="304800" cy="762000"/>
              <a:chOff x="3216" y="1728"/>
              <a:chExt cx="192" cy="480"/>
            </a:xfrm>
          </p:grpSpPr>
          <p:sp>
            <p:nvSpPr>
              <p:cNvPr id="69" name="Line 8">
                <a:extLst>
                  <a:ext uri="{FF2B5EF4-FFF2-40B4-BE49-F238E27FC236}">
                    <a16:creationId xmlns:a16="http://schemas.microsoft.com/office/drawing/2014/main" id="{D66C45D9-6C51-4A4F-8E14-174817BB9198}"/>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 name="Line 9">
                <a:extLst>
                  <a:ext uri="{FF2B5EF4-FFF2-40B4-BE49-F238E27FC236}">
                    <a16:creationId xmlns:a16="http://schemas.microsoft.com/office/drawing/2014/main" id="{B8CD053F-DAA0-5F4B-8487-3AD8D9015C74}"/>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 name="Line 10">
                <a:extLst>
                  <a:ext uri="{FF2B5EF4-FFF2-40B4-BE49-F238E27FC236}">
                    <a16:creationId xmlns:a16="http://schemas.microsoft.com/office/drawing/2014/main" id="{9AC9F24B-32D3-8249-B114-5D4CD81FEBA5}"/>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 name="Line 11">
                <a:extLst>
                  <a:ext uri="{FF2B5EF4-FFF2-40B4-BE49-F238E27FC236}">
                    <a16:creationId xmlns:a16="http://schemas.microsoft.com/office/drawing/2014/main" id="{C8CBAC70-3A63-E34B-8FAE-5D184A2D0BC6}"/>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73" name="Group 220">
              <a:extLst>
                <a:ext uri="{FF2B5EF4-FFF2-40B4-BE49-F238E27FC236}">
                  <a16:creationId xmlns:a16="http://schemas.microsoft.com/office/drawing/2014/main" id="{155EFEE9-471A-6D49-97AF-8756FD0C7621}"/>
                </a:ext>
              </a:extLst>
            </p:cNvPr>
            <p:cNvGrpSpPr>
              <a:grpSpLocks/>
            </p:cNvGrpSpPr>
            <p:nvPr/>
          </p:nvGrpSpPr>
          <p:grpSpPr bwMode="auto">
            <a:xfrm>
              <a:off x="10362714" y="5122935"/>
              <a:ext cx="152400" cy="304800"/>
              <a:chOff x="3264" y="3072"/>
              <a:chExt cx="96" cy="192"/>
            </a:xfrm>
          </p:grpSpPr>
          <p:sp>
            <p:nvSpPr>
              <p:cNvPr id="74" name="Line 17">
                <a:extLst>
                  <a:ext uri="{FF2B5EF4-FFF2-40B4-BE49-F238E27FC236}">
                    <a16:creationId xmlns:a16="http://schemas.microsoft.com/office/drawing/2014/main" id="{C2773FC9-2C2B-D243-A295-64BFCE64A22F}"/>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 name="Freeform 18">
                <a:extLst>
                  <a:ext uri="{FF2B5EF4-FFF2-40B4-BE49-F238E27FC236}">
                    <a16:creationId xmlns:a16="http://schemas.microsoft.com/office/drawing/2014/main" id="{EAADE765-2DB4-8F45-B619-3B3A302EB6CE}"/>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7" name="TextBox 6">
              <a:extLst>
                <a:ext uri="{FF2B5EF4-FFF2-40B4-BE49-F238E27FC236}">
                  <a16:creationId xmlns:a16="http://schemas.microsoft.com/office/drawing/2014/main" id="{BC1E3BEA-8D14-A94F-99BE-3A8AA3857502}"/>
                </a:ext>
              </a:extLst>
            </p:cNvPr>
            <p:cNvSpPr txBox="1"/>
            <p:nvPr/>
          </p:nvSpPr>
          <p:spPr>
            <a:xfrm>
              <a:off x="9362658" y="5058541"/>
              <a:ext cx="526206" cy="369332"/>
            </a:xfrm>
            <a:prstGeom prst="rect">
              <a:avLst/>
            </a:prstGeom>
            <a:noFill/>
          </p:spPr>
          <p:txBody>
            <a:bodyPr wrap="square" rtlCol="0">
              <a:spAutoFit/>
            </a:bodyPr>
            <a:lstStyle/>
            <a:p>
              <a:r>
                <a:rPr lang="en-US" dirty="0"/>
                <a:t>C</a:t>
              </a:r>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F6AF2E13-7C87-AA47-8F1D-53D36BB85FCE}"/>
                    </a:ext>
                  </a:extLst>
                </p:cNvPr>
                <p:cNvSpPr txBox="1"/>
                <p:nvPr/>
              </p:nvSpPr>
              <p:spPr>
                <a:xfrm>
                  <a:off x="9181614" y="4552436"/>
                  <a:ext cx="600095" cy="499624"/>
                </a:xfrm>
                <a:prstGeom prst="rect">
                  <a:avLst/>
                </a:prstGeom>
                <a:noFill/>
              </p:spPr>
              <p:txBody>
                <a:bodyPr wrap="square" rtlCol="0">
                  <a:spAutoFit/>
                </a:bodyPr>
                <a:lstStyle/>
                <a:p>
                  <a:pPr/>
                  <a14:m>
                    <m:oMathPara xmlns:m="http://schemas.openxmlformats.org/officeDocument/2006/math">
                      <m:oMath>
                        <m:f>
                          <m:fPr>
                            <m:type m:val="skw"/>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1</m:t>
                                </m:r>
                              </m:sub>
                            </m:sSub>
                          </m:den>
                        </m:f>
                      </m:oMath>
                    </m:oMathPara>
                  </a14:m>
                  <a:endParaRPr lang="en-US" dirty="0"/>
                </a:p>
              </p:txBody>
            </p:sp>
          </mc:Choice>
          <mc:Fallback xmlns="">
            <p:sp>
              <p:nvSpPr>
                <p:cNvPr id="76" name="TextBox 75">
                  <a:extLst>
                    <a:ext uri="{FF2B5EF4-FFF2-40B4-BE49-F238E27FC236}">
                      <a16:creationId xmlns:a16="http://schemas.microsoft.com/office/drawing/2014/main" id="{F6AF2E13-7C87-AA47-8F1D-53D36BB85FCE}"/>
                    </a:ext>
                  </a:extLst>
                </p:cNvPr>
                <p:cNvSpPr txBox="1">
                  <a:spLocks noRot="1" noChangeAspect="1" noMove="1" noResize="1" noEditPoints="1" noAdjustHandles="1" noChangeArrowheads="1" noChangeShapeType="1" noTextEdit="1"/>
                </p:cNvSpPr>
                <p:nvPr/>
              </p:nvSpPr>
              <p:spPr>
                <a:xfrm>
                  <a:off x="9181614" y="4552436"/>
                  <a:ext cx="600095" cy="499624"/>
                </a:xfrm>
                <a:prstGeom prst="rect">
                  <a:avLst/>
                </a:prstGeom>
                <a:blipFill>
                  <a:blip r:embed="rId14"/>
                  <a:stretch>
                    <a:fillRect l="-48980" t="-95122" r="-18367" b="-1487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7F1EA6AE-E04F-1349-ADD4-3BA97323E225}"/>
                    </a:ext>
                  </a:extLst>
                </p:cNvPr>
                <p:cNvSpPr txBox="1"/>
                <p:nvPr/>
              </p:nvSpPr>
              <p:spPr>
                <a:xfrm>
                  <a:off x="9749688" y="4530874"/>
                  <a:ext cx="600095"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1</m:t>
                            </m:r>
                          </m:sub>
                        </m:sSub>
                      </m:oMath>
                    </m:oMathPara>
                  </a14:m>
                  <a:endParaRPr lang="en-US" dirty="0"/>
                </a:p>
              </p:txBody>
            </p:sp>
          </mc:Choice>
          <mc:Fallback xmlns="">
            <p:sp>
              <p:nvSpPr>
                <p:cNvPr id="77" name="TextBox 76">
                  <a:extLst>
                    <a:ext uri="{FF2B5EF4-FFF2-40B4-BE49-F238E27FC236}">
                      <a16:creationId xmlns:a16="http://schemas.microsoft.com/office/drawing/2014/main" id="{7F1EA6AE-E04F-1349-ADD4-3BA97323E225}"/>
                    </a:ext>
                  </a:extLst>
                </p:cNvPr>
                <p:cNvSpPr txBox="1">
                  <a:spLocks noRot="1" noChangeAspect="1" noMove="1" noResize="1" noEditPoints="1" noAdjustHandles="1" noChangeArrowheads="1" noChangeShapeType="1" noTextEdit="1"/>
                </p:cNvSpPr>
                <p:nvPr/>
              </p:nvSpPr>
              <p:spPr>
                <a:xfrm>
                  <a:off x="9749688" y="4530874"/>
                  <a:ext cx="600095"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3F7F0CA4-5230-0944-A2C2-AFDCABA8A705}"/>
                    </a:ext>
                  </a:extLst>
                </p:cNvPr>
                <p:cNvSpPr txBox="1"/>
                <p:nvPr/>
              </p:nvSpPr>
              <p:spPr>
                <a:xfrm>
                  <a:off x="10427868" y="4568974"/>
                  <a:ext cx="600095"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oMath>
                    </m:oMathPara>
                  </a14:m>
                  <a:endParaRPr lang="en-US" dirty="0"/>
                </a:p>
              </p:txBody>
            </p:sp>
          </mc:Choice>
          <mc:Fallback xmlns="">
            <p:sp>
              <p:nvSpPr>
                <p:cNvPr id="78" name="TextBox 77">
                  <a:extLst>
                    <a:ext uri="{FF2B5EF4-FFF2-40B4-BE49-F238E27FC236}">
                      <a16:creationId xmlns:a16="http://schemas.microsoft.com/office/drawing/2014/main" id="{3F7F0CA4-5230-0944-A2C2-AFDCABA8A705}"/>
                    </a:ext>
                  </a:extLst>
                </p:cNvPr>
                <p:cNvSpPr txBox="1">
                  <a:spLocks noRot="1" noChangeAspect="1" noMove="1" noResize="1" noEditPoints="1" noAdjustHandles="1" noChangeArrowheads="1" noChangeShapeType="1" noTextEdit="1"/>
                </p:cNvSpPr>
                <p:nvPr/>
              </p:nvSpPr>
              <p:spPr>
                <a:xfrm>
                  <a:off x="10427868" y="4568974"/>
                  <a:ext cx="600095"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48258F68-1F6A-DE42-AC81-2DEB7B8EF889}"/>
                    </a:ext>
                  </a:extLst>
                </p:cNvPr>
                <p:cNvSpPr txBox="1"/>
                <p:nvPr/>
              </p:nvSpPr>
              <p:spPr>
                <a:xfrm>
                  <a:off x="10219852" y="4093341"/>
                  <a:ext cx="511629"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p:txBody>
            </p:sp>
          </mc:Choice>
          <mc:Fallback xmlns="">
            <p:sp>
              <p:nvSpPr>
                <p:cNvPr id="79" name="TextBox 78">
                  <a:extLst>
                    <a:ext uri="{FF2B5EF4-FFF2-40B4-BE49-F238E27FC236}">
                      <a16:creationId xmlns:a16="http://schemas.microsoft.com/office/drawing/2014/main" id="{48258F68-1F6A-DE42-AC81-2DEB7B8EF889}"/>
                    </a:ext>
                  </a:extLst>
                </p:cNvPr>
                <p:cNvSpPr txBox="1">
                  <a:spLocks noRot="1" noChangeAspect="1" noMove="1" noResize="1" noEditPoints="1" noAdjustHandles="1" noChangeArrowheads="1" noChangeShapeType="1" noTextEdit="1"/>
                </p:cNvSpPr>
                <p:nvPr/>
              </p:nvSpPr>
              <p:spPr>
                <a:xfrm>
                  <a:off x="10219852" y="4093341"/>
                  <a:ext cx="511629" cy="369332"/>
                </a:xfrm>
                <a:prstGeom prst="rect">
                  <a:avLst/>
                </a:prstGeom>
                <a:blipFill>
                  <a:blip r:embed="rId17"/>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6804084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331304" y="209369"/>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High frequency coupling</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9382021" y="625182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49</a:t>
            </a:fld>
            <a:endParaRPr lang="en-US" dirty="0">
              <a:solidFill>
                <a:schemeClr val="tx1"/>
              </a:solidFil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0634707-4D29-A24B-9993-4EFA7D020944}"/>
                  </a:ext>
                </a:extLst>
              </p:cNvPr>
              <p:cNvSpPr txBox="1"/>
              <p:nvPr/>
            </p:nvSpPr>
            <p:spPr>
              <a:xfrm>
                <a:off x="814130" y="2063220"/>
                <a:ext cx="7868203" cy="4109764"/>
              </a:xfrm>
              <a:prstGeom prst="rect">
                <a:avLst/>
              </a:prstGeom>
              <a:noFill/>
            </p:spPr>
            <p:txBody>
              <a:bodyPr wrap="square" rtlCol="0">
                <a:noAutofit/>
              </a:bodyPr>
              <a:lstStyle/>
              <a:p>
                <a:pPr marL="285750" indent="-285750">
                  <a:buFont typeface="Arial" panose="020B0604020202020204" pitchFamily="34" charset="0"/>
                  <a:buChar char="•"/>
                </a:pPr>
                <a:r>
                  <a:rPr lang="en-US" sz="2000" dirty="0"/>
                  <a:t>Equivalent circuit on right</a:t>
                </a:r>
              </a:p>
              <a:p>
                <a:pPr marL="285750" indent="-285750">
                  <a:buFont typeface="Arial" panose="020B0604020202020204" pitchFamily="34" charset="0"/>
                  <a:buChar char="•"/>
                </a:pPr>
                <a14:m>
                  <m:oMath xmlns:m="http://schemas.openxmlformats.org/officeDocument/2006/math">
                    <m:f>
                      <m:fPr>
                        <m:ctrlPr>
                          <a:rPr lang="en-US" sz="200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2</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1</m:t>
                            </m:r>
                          </m:sub>
                        </m:sSub>
                      </m:den>
                    </m:f>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2</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2</m:t>
                            </m:r>
                          </m:sub>
                        </m:sSub>
                      </m:den>
                    </m:f>
                    <m:r>
                      <a:rPr lang="en-US" sz="2000" b="0" i="1" smtClean="0">
                        <a:latin typeface="Cambria Math" panose="02040503050406030204" pitchFamily="18" charset="0"/>
                      </a:rPr>
                      <m:t>+</m:t>
                    </m:r>
                    <m:r>
                      <a:rPr lang="en-US" sz="2000" b="0" i="1" smtClean="0">
                        <a:latin typeface="Cambria Math" panose="02040503050406030204" pitchFamily="18" charset="0"/>
                      </a:rPr>
                      <m:t>𝑗</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2</m:t>
                        </m:r>
                      </m:sub>
                    </m:sSub>
                    <m:r>
                      <a:rPr lang="en-US" sz="2000" b="0" i="1" smtClean="0">
                        <a:latin typeface="Cambria Math" panose="02040503050406030204" pitchFamily="18" charset="0"/>
                        <a:ea typeface="Cambria Math" panose="02040503050406030204" pitchFamily="18" charset="0"/>
                      </a:rPr>
                      <m:t>𝜔</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2</m:t>
                        </m:r>
                      </m:sub>
                    </m:sSub>
                  </m:oMath>
                </a14:m>
                <a:endParaRPr lang="en-US" sz="2000" dirty="0"/>
              </a:p>
              <a:p>
                <a:pPr marL="285750" indent="-285750">
                  <a:buFont typeface="Arial" panose="020B0604020202020204" pitchFamily="34" charset="0"/>
                  <a:buChar char="•"/>
                </a:pPr>
                <a14:m>
                  <m:oMath xmlns:m="http://schemas.openxmlformats.org/officeDocument/2006/math">
                    <m:r>
                      <a:rPr lang="en-US" sz="2000" b="0" i="1" smtClean="0">
                        <a:latin typeface="Cambria Math" panose="02040503050406030204" pitchFamily="18" charset="0"/>
                      </a:rPr>
                      <m:t>𝐺</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2</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1</m:t>
                            </m:r>
                          </m:sub>
                        </m:sSub>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f>
                          <m:fPr>
                            <m:type m:val="skw"/>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2</m:t>
                                </m:r>
                              </m:sub>
                            </m:sSub>
                          </m:num>
                          <m:den>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den>
                        </m:f>
                      </m:num>
                      <m:den>
                        <m:r>
                          <a:rPr lang="en-US" sz="2000" b="0" i="1" smtClean="0">
                            <a:latin typeface="Cambria Math" panose="02040503050406030204" pitchFamily="18" charset="0"/>
                          </a:rPr>
                          <m:t>1+</m:t>
                        </m:r>
                        <m:r>
                          <a:rPr lang="en-US" sz="2000" b="0" i="1" smtClean="0">
                            <a:latin typeface="Cambria Math" panose="02040503050406030204" pitchFamily="18" charset="0"/>
                          </a:rPr>
                          <m:t>𝑗</m:t>
                        </m:r>
                        <m:r>
                          <a:rPr lang="en-US" sz="2000" b="0" i="1" smtClean="0">
                            <a:latin typeface="Cambria Math" panose="02040503050406030204" pitchFamily="18" charset="0"/>
                            <a:ea typeface="Cambria Math" panose="02040503050406030204" pitchFamily="18" charset="0"/>
                          </a:rPr>
                          <m:t>𝜔</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2</m:t>
                            </m:r>
                          </m:sub>
                        </m:sSub>
                        <m:f>
                          <m:fPr>
                            <m:type m:val="skw"/>
                            <m:ctrlPr>
                              <a:rPr lang="en-US" sz="2000" i="1">
                                <a:latin typeface="Cambria Math" panose="02040503050406030204" pitchFamily="18" charset="0"/>
                              </a:rPr>
                            </m:ctrlPr>
                          </m:fPr>
                          <m:num>
                            <m:sSub>
                              <m:sSubPr>
                                <m:ctrlPr>
                                  <a:rPr lang="en-US" sz="2000" i="1" smtClean="0">
                                    <a:latin typeface="Cambria Math" panose="02040503050406030204" pitchFamily="18" charset="0"/>
                                  </a:rPr>
                                </m:ctrlPr>
                              </m:sSub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1</m:t>
                                    </m:r>
                                  </m:sub>
                                </m:sSub>
                                <m:r>
                                  <a:rPr lang="en-US" sz="2000" i="1">
                                    <a:latin typeface="Cambria Math" panose="02040503050406030204" pitchFamily="18" charset="0"/>
                                  </a:rPr>
                                  <m:t>𝑅</m:t>
                                </m:r>
                              </m:e>
                              <m:sub>
                                <m:r>
                                  <a:rPr lang="en-US" sz="2000" i="1">
                                    <a:latin typeface="Cambria Math" panose="02040503050406030204" pitchFamily="18" charset="0"/>
                                  </a:rPr>
                                  <m:t>2</m:t>
                                </m:r>
                              </m:sub>
                            </m:sSub>
                          </m:num>
                          <m:den>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2</m:t>
                                </m:r>
                              </m:sub>
                            </m:sSub>
                            <m:r>
                              <a:rPr lang="en-US" sz="2000" i="1">
                                <a:latin typeface="Cambria Math" panose="02040503050406030204" pitchFamily="18" charset="0"/>
                              </a:rPr>
                              <m:t>)</m:t>
                            </m:r>
                          </m:den>
                        </m:f>
                      </m:den>
                    </m:f>
                  </m:oMath>
                </a14:m>
                <a:endParaRPr lang="en-US" sz="2000" dirty="0"/>
              </a:p>
              <a:p>
                <a:endParaRPr lang="en-US" sz="2000" dirty="0"/>
              </a:p>
              <a:p>
                <a:pPr marL="342900" indent="-342900">
                  <a:buFont typeface="+mj-lt"/>
                  <a:buAutoNum type="arabicPeriod"/>
                </a:pPr>
                <a14:m>
                  <m:oMath xmlns:m="http://schemas.openxmlformats.org/officeDocument/2006/math">
                    <m:r>
                      <a:rPr lang="en-US" sz="2000" i="1" smtClean="0">
                        <a:latin typeface="Cambria Math" panose="02040503050406030204" pitchFamily="18" charset="0"/>
                        <a:ea typeface="Cambria Math" panose="02040503050406030204" pitchFamily="18" charset="0"/>
                      </a:rPr>
                      <m:t>𝜔</m:t>
                    </m:r>
                  </m:oMath>
                </a14:m>
                <a:r>
                  <a:rPr lang="en-US" sz="2000" dirty="0"/>
                  <a:t> low: </a:t>
                </a:r>
                <a14:m>
                  <m:oMath xmlns:m="http://schemas.openxmlformats.org/officeDocument/2006/math">
                    <m:r>
                      <a:rPr lang="en-US" sz="2000" i="1">
                        <a:latin typeface="Cambria Math" panose="02040503050406030204" pitchFamily="18" charset="0"/>
                      </a:rPr>
                      <m:t>𝐺</m:t>
                    </m:r>
                    <m:r>
                      <a:rPr lang="en-US" sz="2000" i="1">
                        <a:latin typeface="Cambria Math" panose="02040503050406030204" pitchFamily="18" charset="0"/>
                      </a:rPr>
                      <m:t>=</m:t>
                    </m:r>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𝑣</m:t>
                            </m:r>
                          </m:e>
                          <m:sub>
                            <m:r>
                              <a:rPr lang="en-US" sz="2000" i="1">
                                <a:latin typeface="Cambria Math" panose="02040503050406030204" pitchFamily="18" charset="0"/>
                              </a:rPr>
                              <m:t>2</m:t>
                            </m:r>
                          </m:sub>
                        </m:sSub>
                      </m:num>
                      <m:den>
                        <m:sSub>
                          <m:sSubPr>
                            <m:ctrlPr>
                              <a:rPr lang="en-US" sz="2000" i="1">
                                <a:latin typeface="Cambria Math" panose="02040503050406030204" pitchFamily="18" charset="0"/>
                              </a:rPr>
                            </m:ctrlPr>
                          </m:sSubPr>
                          <m:e>
                            <m:r>
                              <a:rPr lang="en-US" sz="2000" i="1">
                                <a:latin typeface="Cambria Math" panose="02040503050406030204" pitchFamily="18" charset="0"/>
                              </a:rPr>
                              <m:t>𝑣</m:t>
                            </m:r>
                          </m:e>
                          <m:sub>
                            <m:r>
                              <a:rPr lang="en-US" sz="2000" i="1">
                                <a:latin typeface="Cambria Math" panose="02040503050406030204" pitchFamily="18" charset="0"/>
                              </a:rPr>
                              <m:t>1</m:t>
                            </m:r>
                          </m:sub>
                        </m:sSub>
                      </m:den>
                    </m:f>
                    <m:r>
                      <a:rPr lang="en-US" sz="2000" b="0" i="1" smtClean="0">
                        <a:latin typeface="Cambria Math" panose="02040503050406030204" pitchFamily="18" charset="0"/>
                      </a:rPr>
                      <m:t>=</m:t>
                    </m:r>
                    <m:f>
                      <m:fPr>
                        <m:type m:val="skw"/>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2</m:t>
                            </m:r>
                          </m:sub>
                        </m:sSub>
                      </m:num>
                      <m:den>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2</m:t>
                            </m:r>
                          </m:sub>
                        </m:sSub>
                        <m:r>
                          <a:rPr lang="en-US" sz="2000" i="1">
                            <a:latin typeface="Cambria Math" panose="02040503050406030204" pitchFamily="18" charset="0"/>
                          </a:rPr>
                          <m:t>)</m:t>
                        </m:r>
                      </m:den>
                    </m:f>
                    <m:r>
                      <a:rPr lang="en-US" sz="2000" b="0" i="0" smtClean="0">
                        <a:latin typeface="Cambria Math" panose="02040503050406030204" pitchFamily="18" charset="0"/>
                      </a:rPr>
                      <m:t>=</m:t>
                    </m:r>
                    <m:r>
                      <m:rPr>
                        <m:sty m:val="p"/>
                      </m:rPr>
                      <a:rPr lang="en-US" sz="2000" b="0" i="0" smtClean="0">
                        <a:latin typeface="Cambria Math" panose="02040503050406030204" pitchFamily="18" charset="0"/>
                      </a:rPr>
                      <m:t>B</m:t>
                    </m:r>
                  </m:oMath>
                </a14:m>
                <a:endParaRPr lang="en-US" sz="2000" b="0" dirty="0"/>
              </a:p>
              <a:p>
                <a:pPr marL="342900" indent="-342900">
                  <a:buFont typeface="+mj-lt"/>
                  <a:buAutoNum type="arabicPeriod"/>
                </a:pPr>
                <a:r>
                  <a:rPr lang="en-US" sz="2000" dirty="0"/>
                  <a:t>For </a:t>
                </a: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2</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𝐶</m:t>
                            </m:r>
                          </m:e>
                          <m:sub>
                            <m:r>
                              <a:rPr lang="en-US" sz="2000" b="0" i="1" smtClean="0">
                                <a:latin typeface="Cambria Math" panose="02040503050406030204" pitchFamily="18" charset="0"/>
                              </a:rPr>
                              <m:t>2</m:t>
                            </m:r>
                          </m:sub>
                        </m:sSub>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1</m:t>
                            </m:r>
                          </m:sub>
                        </m:sSub>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2</m:t>
                            </m:r>
                          </m:sub>
                        </m:sSub>
                      </m:den>
                    </m:f>
                  </m:oMath>
                </a14:m>
                <a:r>
                  <a:rPr lang="en-US" sz="2000" dirty="0"/>
                  <a:t>, </a:t>
                </a:r>
                <a14:m>
                  <m:oMath xmlns:m="http://schemas.openxmlformats.org/officeDocument/2006/math">
                    <m:r>
                      <a:rPr lang="en-US" sz="2000" i="1">
                        <a:latin typeface="Cambria Math" panose="02040503050406030204" pitchFamily="18" charset="0"/>
                      </a:rPr>
                      <m:t>𝐺</m:t>
                    </m:r>
                    <m:r>
                      <a:rPr lang="en-US" sz="2000" i="1">
                        <a:latin typeface="Cambria Math" panose="02040503050406030204" pitchFamily="18" charset="0"/>
                      </a:rPr>
                      <m:t>=</m:t>
                    </m:r>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𝑣</m:t>
                            </m:r>
                          </m:e>
                          <m:sub>
                            <m:r>
                              <a:rPr lang="en-US" sz="2000" i="1">
                                <a:latin typeface="Cambria Math" panose="02040503050406030204" pitchFamily="18" charset="0"/>
                              </a:rPr>
                              <m:t>2</m:t>
                            </m:r>
                          </m:sub>
                        </m:sSub>
                      </m:num>
                      <m:den>
                        <m:sSub>
                          <m:sSubPr>
                            <m:ctrlPr>
                              <a:rPr lang="en-US" sz="2000" i="1">
                                <a:latin typeface="Cambria Math" panose="02040503050406030204" pitchFamily="18" charset="0"/>
                              </a:rPr>
                            </m:ctrlPr>
                          </m:sSubPr>
                          <m:e>
                            <m:r>
                              <a:rPr lang="en-US" sz="2000" i="1">
                                <a:latin typeface="Cambria Math" panose="02040503050406030204" pitchFamily="18" charset="0"/>
                              </a:rPr>
                              <m:t>𝑣</m:t>
                            </m:r>
                          </m:e>
                          <m:sub>
                            <m:r>
                              <a:rPr lang="en-US" sz="2000" i="1">
                                <a:latin typeface="Cambria Math" panose="02040503050406030204" pitchFamily="18" charset="0"/>
                              </a:rPr>
                              <m:t>1</m:t>
                            </m:r>
                          </m:sub>
                        </m:sSub>
                      </m:den>
                    </m:f>
                    <m:r>
                      <a:rPr lang="en-US" sz="200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𝐵</m:t>
                        </m:r>
                      </m:num>
                      <m:den>
                        <m:r>
                          <a:rPr lang="en-US" sz="2000" b="0" i="1" smtClean="0">
                            <a:latin typeface="Cambria Math" panose="02040503050406030204" pitchFamily="18" charset="0"/>
                          </a:rPr>
                          <m:t>1+</m:t>
                        </m:r>
                        <m:r>
                          <a:rPr lang="en-US" sz="2000" b="0" i="1" smtClean="0">
                            <a:latin typeface="Cambria Math" panose="02040503050406030204" pitchFamily="18" charset="0"/>
                          </a:rPr>
                          <m:t>𝑗</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ad>
                          <m:radPr>
                            <m:degHide m:val="on"/>
                            <m:ctrlPr>
                              <a:rPr lang="en-US" sz="2000" b="0" i="1" smtClean="0">
                                <a:latin typeface="Cambria Math" panose="02040503050406030204" pitchFamily="18" charset="0"/>
                              </a:rPr>
                            </m:ctrlPr>
                          </m:radPr>
                          <m:deg/>
                          <m:e>
                            <m:r>
                              <a:rPr lang="en-US" sz="2000" b="0" i="1" smtClean="0">
                                <a:latin typeface="Cambria Math" panose="02040503050406030204" pitchFamily="18" charset="0"/>
                              </a:rPr>
                              <m:t>2</m:t>
                            </m:r>
                          </m:e>
                        </m:rad>
                      </m:num>
                      <m:den>
                        <m:r>
                          <a:rPr lang="en-US" sz="2000" b="0" i="1" smtClean="0">
                            <a:latin typeface="Cambria Math" panose="02040503050406030204" pitchFamily="18" charset="0"/>
                          </a:rPr>
                          <m:t>2</m:t>
                        </m:r>
                      </m:den>
                    </m:f>
                    <m:r>
                      <a:rPr lang="en-US" sz="2000" b="0" i="1" smtClean="0">
                        <a:latin typeface="Cambria Math" panose="02040503050406030204" pitchFamily="18" charset="0"/>
                      </a:rPr>
                      <m:t>𝐵</m:t>
                    </m:r>
                    <m:r>
                      <a:rPr lang="en-US" sz="2000" b="0" i="1" smtClean="0">
                        <a:latin typeface="Cambria Math" panose="02040503050406030204" pitchFamily="18" charset="0"/>
                        <a:ea typeface="Cambria Math" panose="02040503050406030204" pitchFamily="18" charset="0"/>
                      </a:rPr>
                      <m:t>∠−45</m:t>
                    </m:r>
                  </m:oMath>
                </a14:m>
                <a:endParaRPr lang="en-US" sz="2000" dirty="0"/>
              </a:p>
              <a:p>
                <a:pPr marL="342900" indent="-342900">
                  <a:buFont typeface="+mj-lt"/>
                  <a:buAutoNum type="arabicPeriod"/>
                </a:pPr>
                <a14:m>
                  <m:oMath xmlns:m="http://schemas.openxmlformats.org/officeDocument/2006/math">
                    <m:r>
                      <a:rPr lang="en-US" sz="2000" i="1">
                        <a:latin typeface="Cambria Math" panose="02040503050406030204" pitchFamily="18" charset="0"/>
                        <a:ea typeface="Cambria Math" panose="02040503050406030204" pitchFamily="18" charset="0"/>
                      </a:rPr>
                      <m:t>𝜔</m:t>
                    </m:r>
                  </m:oMath>
                </a14:m>
                <a:r>
                  <a:rPr lang="en-US" sz="2000" dirty="0"/>
                  <a:t> high: </a:t>
                </a:r>
                <a14:m>
                  <m:oMath xmlns:m="http://schemas.openxmlformats.org/officeDocument/2006/math">
                    <m:r>
                      <a:rPr lang="en-US" sz="2000" i="1">
                        <a:latin typeface="Cambria Math" panose="02040503050406030204" pitchFamily="18" charset="0"/>
                      </a:rPr>
                      <m:t>𝐺</m:t>
                    </m:r>
                    <m:r>
                      <a:rPr lang="en-US" sz="2000" i="1">
                        <a:latin typeface="Cambria Math" panose="02040503050406030204" pitchFamily="18" charset="0"/>
                      </a:rPr>
                      <m:t>=</m:t>
                    </m:r>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𝑣</m:t>
                            </m:r>
                          </m:e>
                          <m:sub>
                            <m:r>
                              <a:rPr lang="en-US" sz="2000" i="1">
                                <a:latin typeface="Cambria Math" panose="02040503050406030204" pitchFamily="18" charset="0"/>
                              </a:rPr>
                              <m:t>2</m:t>
                            </m:r>
                          </m:sub>
                        </m:sSub>
                      </m:num>
                      <m:den>
                        <m:sSub>
                          <m:sSubPr>
                            <m:ctrlPr>
                              <a:rPr lang="en-US" sz="2000" i="1">
                                <a:latin typeface="Cambria Math" panose="02040503050406030204" pitchFamily="18" charset="0"/>
                              </a:rPr>
                            </m:ctrlPr>
                          </m:sSubPr>
                          <m:e>
                            <m:r>
                              <a:rPr lang="en-US" sz="2000" i="1">
                                <a:latin typeface="Cambria Math" panose="02040503050406030204" pitchFamily="18" charset="0"/>
                              </a:rPr>
                              <m:t>𝑣</m:t>
                            </m:r>
                          </m:e>
                          <m:sub>
                            <m:r>
                              <a:rPr lang="en-US" sz="2000" i="1">
                                <a:latin typeface="Cambria Math" panose="02040503050406030204" pitchFamily="18" charset="0"/>
                              </a:rPr>
                              <m:t>1</m:t>
                            </m:r>
                          </m:sub>
                        </m:sSub>
                      </m:den>
                    </m:f>
                    <m:r>
                      <a:rPr lang="en-US" sz="2000" i="1">
                        <a:latin typeface="Cambria Math" panose="02040503050406030204" pitchFamily="18" charset="0"/>
                      </a:rPr>
                      <m:t>=</m:t>
                    </m:r>
                    <m:f>
                      <m:fPr>
                        <m:ctrlPr>
                          <a:rPr lang="en-US" sz="2000" i="1">
                            <a:latin typeface="Cambria Math" panose="02040503050406030204" pitchFamily="18" charset="0"/>
                          </a:rPr>
                        </m:ctrlPr>
                      </m:fPr>
                      <m:num>
                        <m:f>
                          <m:fPr>
                            <m:type m:val="skw"/>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2</m:t>
                                </m:r>
                              </m:sub>
                            </m:sSub>
                          </m:num>
                          <m:den>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2</m:t>
                                </m:r>
                              </m:sub>
                            </m:sSub>
                            <m:r>
                              <a:rPr lang="en-US" sz="2000" i="1">
                                <a:latin typeface="Cambria Math" panose="02040503050406030204" pitchFamily="18" charset="0"/>
                              </a:rPr>
                              <m:t>)</m:t>
                            </m:r>
                          </m:den>
                        </m:f>
                      </m:num>
                      <m:den>
                        <m:r>
                          <a:rPr lang="en-US" sz="2000" b="0" i="1" smtClean="0">
                            <a:latin typeface="Cambria Math" panose="02040503050406030204" pitchFamily="18" charset="0"/>
                          </a:rPr>
                          <m:t>𝑗</m:t>
                        </m:r>
                        <m:f>
                          <m:fPr>
                            <m:type m:val="skw"/>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𝜔</m:t>
                            </m:r>
                          </m:num>
                          <m:den>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2</m:t>
                                </m:r>
                              </m:sub>
                            </m:sSub>
                          </m:den>
                        </m:f>
                      </m:den>
                    </m:f>
                    <m:r>
                      <a:rPr lang="en-US" sz="2000" b="0" i="1" smtClean="0">
                        <a:latin typeface="Cambria Math" panose="02040503050406030204" pitchFamily="18" charset="0"/>
                      </a:rPr>
                      <m:t>=</m:t>
                    </m:r>
                    <m:r>
                      <a:rPr lang="en-US" sz="2000" i="1">
                        <a:latin typeface="Cambria Math" panose="02040503050406030204" pitchFamily="18" charset="0"/>
                      </a:rPr>
                      <m:t>𝐵</m:t>
                    </m:r>
                    <m:f>
                      <m:fPr>
                        <m:ctrlPr>
                          <a:rPr lang="en-US" sz="2000" i="1" smtClean="0">
                            <a:latin typeface="Cambria Math" panose="02040503050406030204" pitchFamily="18" charset="0"/>
                          </a:rPr>
                        </m:ctrlPr>
                      </m:fPr>
                      <m:num>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2</m:t>
                            </m:r>
                          </m:sub>
                        </m:sSub>
                      </m:num>
                      <m:den>
                        <m:r>
                          <a:rPr lang="en-US" sz="2000" i="1" smtClean="0">
                            <a:latin typeface="Cambria Math" panose="02040503050406030204" pitchFamily="18" charset="0"/>
                            <a:ea typeface="Cambria Math" panose="02040503050406030204" pitchFamily="18" charset="0"/>
                          </a:rPr>
                          <m:t>𝜔</m:t>
                        </m:r>
                      </m:den>
                    </m:f>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90</m:t>
                    </m:r>
                  </m:oMath>
                </a14:m>
                <a:endParaRPr lang="en-US" sz="2000"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p:txBody>
          </p:sp>
        </mc:Choice>
        <mc:Fallback xmlns="">
          <p:sp>
            <p:nvSpPr>
              <p:cNvPr id="2" name="TextBox 1">
                <a:extLst>
                  <a:ext uri="{FF2B5EF4-FFF2-40B4-BE49-F238E27FC236}">
                    <a16:creationId xmlns:a16="http://schemas.microsoft.com/office/drawing/2014/main" id="{90634707-4D29-A24B-9993-4EFA7D020944}"/>
                  </a:ext>
                </a:extLst>
              </p:cNvPr>
              <p:cNvSpPr txBox="1">
                <a:spLocks noRot="1" noChangeAspect="1" noMove="1" noResize="1" noEditPoints="1" noAdjustHandles="1" noChangeArrowheads="1" noChangeShapeType="1" noTextEdit="1"/>
              </p:cNvSpPr>
              <p:nvPr/>
            </p:nvSpPr>
            <p:spPr>
              <a:xfrm>
                <a:off x="814130" y="2063220"/>
                <a:ext cx="7868203" cy="4109764"/>
              </a:xfrm>
              <a:prstGeom prst="rect">
                <a:avLst/>
              </a:prstGeom>
              <a:blipFill>
                <a:blip r:embed="rId3"/>
                <a:stretch>
                  <a:fillRect l="-806" t="-923"/>
                </a:stretch>
              </a:blipFill>
            </p:spPr>
            <p:txBody>
              <a:bodyPr/>
              <a:lstStyle/>
              <a:p>
                <a:r>
                  <a:rPr lang="en-US">
                    <a:noFill/>
                  </a:rPr>
                  <a:t> </a:t>
                </a:r>
              </a:p>
            </p:txBody>
          </p:sp>
        </mc:Fallback>
      </mc:AlternateContent>
      <p:grpSp>
        <p:nvGrpSpPr>
          <p:cNvPr id="11" name="Group 10">
            <a:extLst>
              <a:ext uri="{FF2B5EF4-FFF2-40B4-BE49-F238E27FC236}">
                <a16:creationId xmlns:a16="http://schemas.microsoft.com/office/drawing/2014/main" id="{B757CF9B-8646-C643-9137-330FF7C5C5E7}"/>
              </a:ext>
            </a:extLst>
          </p:cNvPr>
          <p:cNvGrpSpPr/>
          <p:nvPr/>
        </p:nvGrpSpPr>
        <p:grpSpPr>
          <a:xfrm>
            <a:off x="8519033" y="2544369"/>
            <a:ext cx="2546403" cy="1522403"/>
            <a:chOff x="9238059" y="2160295"/>
            <a:chExt cx="2546403" cy="1522403"/>
          </a:xfrm>
        </p:grpSpPr>
        <p:sp>
          <p:nvSpPr>
            <p:cNvPr id="336" name="Freeform 12">
              <a:extLst>
                <a:ext uri="{FF2B5EF4-FFF2-40B4-BE49-F238E27FC236}">
                  <a16:creationId xmlns:a16="http://schemas.microsoft.com/office/drawing/2014/main" id="{34AC4673-635A-A440-885F-95565D393ACB}"/>
                </a:ext>
              </a:extLst>
            </p:cNvPr>
            <p:cNvSpPr>
              <a:spLocks noChangeAspect="1"/>
            </p:cNvSpPr>
            <p:nvPr/>
          </p:nvSpPr>
          <p:spPr bwMode="auto">
            <a:xfrm>
              <a:off x="10437262" y="2641295"/>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337" name="Group 220">
              <a:extLst>
                <a:ext uri="{FF2B5EF4-FFF2-40B4-BE49-F238E27FC236}">
                  <a16:creationId xmlns:a16="http://schemas.microsoft.com/office/drawing/2014/main" id="{B486C417-7EEC-124F-9E49-9D18C75379FC}"/>
                </a:ext>
              </a:extLst>
            </p:cNvPr>
            <p:cNvGrpSpPr>
              <a:grpSpLocks/>
            </p:cNvGrpSpPr>
            <p:nvPr/>
          </p:nvGrpSpPr>
          <p:grpSpPr bwMode="auto">
            <a:xfrm>
              <a:off x="10437259" y="3344033"/>
              <a:ext cx="152400" cy="304800"/>
              <a:chOff x="3264" y="3072"/>
              <a:chExt cx="96" cy="192"/>
            </a:xfrm>
          </p:grpSpPr>
          <p:sp>
            <p:nvSpPr>
              <p:cNvPr id="352" name="Line 17">
                <a:extLst>
                  <a:ext uri="{FF2B5EF4-FFF2-40B4-BE49-F238E27FC236}">
                    <a16:creationId xmlns:a16="http://schemas.microsoft.com/office/drawing/2014/main" id="{852C00CC-1BF9-D248-A1C2-022170A81B3F}"/>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3" name="Freeform 18">
                <a:extLst>
                  <a:ext uri="{FF2B5EF4-FFF2-40B4-BE49-F238E27FC236}">
                    <a16:creationId xmlns:a16="http://schemas.microsoft.com/office/drawing/2014/main" id="{D13C9044-E937-0C42-9CFC-C22B18DB92A0}"/>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38" name="Group 207">
              <a:extLst>
                <a:ext uri="{FF2B5EF4-FFF2-40B4-BE49-F238E27FC236}">
                  <a16:creationId xmlns:a16="http://schemas.microsoft.com/office/drawing/2014/main" id="{14DF54DE-78EA-9D41-9F55-1F03AB88B48D}"/>
                </a:ext>
              </a:extLst>
            </p:cNvPr>
            <p:cNvGrpSpPr>
              <a:grpSpLocks/>
            </p:cNvGrpSpPr>
            <p:nvPr/>
          </p:nvGrpSpPr>
          <p:grpSpPr bwMode="auto">
            <a:xfrm>
              <a:off x="9618472" y="2641068"/>
              <a:ext cx="304800" cy="762000"/>
              <a:chOff x="4560" y="2400"/>
              <a:chExt cx="192" cy="480"/>
            </a:xfrm>
          </p:grpSpPr>
          <p:sp>
            <p:nvSpPr>
              <p:cNvPr id="346" name="Oval 111">
                <a:extLst>
                  <a:ext uri="{FF2B5EF4-FFF2-40B4-BE49-F238E27FC236}">
                    <a16:creationId xmlns:a16="http://schemas.microsoft.com/office/drawing/2014/main" id="{D1B817A2-2B4C-014F-AF13-FB45CD01ABC2}"/>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347" name="Line 112">
                <a:extLst>
                  <a:ext uri="{FF2B5EF4-FFF2-40B4-BE49-F238E27FC236}">
                    <a16:creationId xmlns:a16="http://schemas.microsoft.com/office/drawing/2014/main" id="{E3915FE8-B635-EB46-A756-5F60C674EBD0}"/>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 name="Line 113">
                <a:extLst>
                  <a:ext uri="{FF2B5EF4-FFF2-40B4-BE49-F238E27FC236}">
                    <a16:creationId xmlns:a16="http://schemas.microsoft.com/office/drawing/2014/main" id="{C417D458-6F6A-5845-9E0B-CA1DF9B2DE7F}"/>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49" name="Group 117">
                <a:extLst>
                  <a:ext uri="{FF2B5EF4-FFF2-40B4-BE49-F238E27FC236}">
                    <a16:creationId xmlns:a16="http://schemas.microsoft.com/office/drawing/2014/main" id="{0D19EB50-E016-564E-A8D6-092EC76C2BDB}"/>
                  </a:ext>
                </a:extLst>
              </p:cNvPr>
              <p:cNvGrpSpPr>
                <a:grpSpLocks noChangeAspect="1"/>
              </p:cNvGrpSpPr>
              <p:nvPr/>
            </p:nvGrpSpPr>
            <p:grpSpPr bwMode="auto">
              <a:xfrm>
                <a:off x="4608" y="2592"/>
                <a:ext cx="96" cy="96"/>
                <a:chOff x="2929" y="3217"/>
                <a:chExt cx="383" cy="191"/>
              </a:xfrm>
            </p:grpSpPr>
            <p:sp>
              <p:nvSpPr>
                <p:cNvPr id="350" name="Arc 118">
                  <a:extLst>
                    <a:ext uri="{FF2B5EF4-FFF2-40B4-BE49-F238E27FC236}">
                      <a16:creationId xmlns:a16="http://schemas.microsoft.com/office/drawing/2014/main" id="{94266AFE-A431-484B-80EE-5EE53E6D07C6}"/>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51" name="Arc 119">
                  <a:extLst>
                    <a:ext uri="{FF2B5EF4-FFF2-40B4-BE49-F238E27FC236}">
                      <a16:creationId xmlns:a16="http://schemas.microsoft.com/office/drawing/2014/main" id="{550FA4EC-BB19-8D4D-8CF8-88D6D29B5729}"/>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339" name="Freeform 12">
              <a:extLst>
                <a:ext uri="{FF2B5EF4-FFF2-40B4-BE49-F238E27FC236}">
                  <a16:creationId xmlns:a16="http://schemas.microsoft.com/office/drawing/2014/main" id="{C725EB60-C3E9-6440-A998-65915CC9FA8F}"/>
                </a:ext>
              </a:extLst>
            </p:cNvPr>
            <p:cNvSpPr>
              <a:spLocks noChangeAspect="1"/>
            </p:cNvSpPr>
            <p:nvPr/>
          </p:nvSpPr>
          <p:spPr bwMode="auto">
            <a:xfrm rot="5400000">
              <a:off x="10071957" y="2268761"/>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340" name="Group 220">
              <a:extLst>
                <a:ext uri="{FF2B5EF4-FFF2-40B4-BE49-F238E27FC236}">
                  <a16:creationId xmlns:a16="http://schemas.microsoft.com/office/drawing/2014/main" id="{9B4B46BB-7293-BD40-9C07-4077105E6885}"/>
                </a:ext>
              </a:extLst>
            </p:cNvPr>
            <p:cNvGrpSpPr>
              <a:grpSpLocks/>
            </p:cNvGrpSpPr>
            <p:nvPr/>
          </p:nvGrpSpPr>
          <p:grpSpPr bwMode="auto">
            <a:xfrm>
              <a:off x="9690620" y="3377898"/>
              <a:ext cx="152400" cy="304800"/>
              <a:chOff x="3264" y="3072"/>
              <a:chExt cx="96" cy="192"/>
            </a:xfrm>
          </p:grpSpPr>
          <p:sp>
            <p:nvSpPr>
              <p:cNvPr id="344" name="Line 17">
                <a:extLst>
                  <a:ext uri="{FF2B5EF4-FFF2-40B4-BE49-F238E27FC236}">
                    <a16:creationId xmlns:a16="http://schemas.microsoft.com/office/drawing/2014/main" id="{E526E70D-DA50-0245-BCFC-1BE7CA0C2627}"/>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5" name="Freeform 18">
                <a:extLst>
                  <a:ext uri="{FF2B5EF4-FFF2-40B4-BE49-F238E27FC236}">
                    <a16:creationId xmlns:a16="http://schemas.microsoft.com/office/drawing/2014/main" id="{14EC25D5-1CAA-3E46-946C-C69AE21641D1}"/>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mc:AlternateContent xmlns:mc="http://schemas.openxmlformats.org/markup-compatibility/2006" xmlns:a14="http://schemas.microsoft.com/office/drawing/2010/main">
          <mc:Choice Requires="a14">
            <p:sp>
              <p:nvSpPr>
                <p:cNvPr id="341" name="TextBox 340">
                  <a:extLst>
                    <a:ext uri="{FF2B5EF4-FFF2-40B4-BE49-F238E27FC236}">
                      <a16:creationId xmlns:a16="http://schemas.microsoft.com/office/drawing/2014/main" id="{268ECAD0-1AA6-7644-8D71-E46EA5938C0F}"/>
                    </a:ext>
                  </a:extLst>
                </p:cNvPr>
                <p:cNvSpPr txBox="1"/>
                <p:nvPr/>
              </p:nvSpPr>
              <p:spPr>
                <a:xfrm>
                  <a:off x="9774200" y="2160295"/>
                  <a:ext cx="738730"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oMath>
                    </m:oMathPara>
                  </a14:m>
                  <a:endParaRPr lang="en-US" dirty="0"/>
                </a:p>
              </p:txBody>
            </p:sp>
          </mc:Choice>
          <mc:Fallback xmlns="">
            <p:sp>
              <p:nvSpPr>
                <p:cNvPr id="341" name="TextBox 340">
                  <a:extLst>
                    <a:ext uri="{FF2B5EF4-FFF2-40B4-BE49-F238E27FC236}">
                      <a16:creationId xmlns:a16="http://schemas.microsoft.com/office/drawing/2014/main" id="{268ECAD0-1AA6-7644-8D71-E46EA5938C0F}"/>
                    </a:ext>
                  </a:extLst>
                </p:cNvPr>
                <p:cNvSpPr txBox="1">
                  <a:spLocks noRot="1" noChangeAspect="1" noMove="1" noResize="1" noEditPoints="1" noAdjustHandles="1" noChangeArrowheads="1" noChangeShapeType="1" noTextEdit="1"/>
                </p:cNvSpPr>
                <p:nvPr/>
              </p:nvSpPr>
              <p:spPr>
                <a:xfrm>
                  <a:off x="9774200" y="2160295"/>
                  <a:ext cx="738730"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2" name="TextBox 341">
                  <a:extLst>
                    <a:ext uri="{FF2B5EF4-FFF2-40B4-BE49-F238E27FC236}">
                      <a16:creationId xmlns:a16="http://schemas.microsoft.com/office/drawing/2014/main" id="{0335A550-18A4-6B41-A32E-8FC5B5676B2E}"/>
                    </a:ext>
                  </a:extLst>
                </p:cNvPr>
                <p:cNvSpPr txBox="1"/>
                <p:nvPr/>
              </p:nvSpPr>
              <p:spPr>
                <a:xfrm>
                  <a:off x="10035198" y="2906447"/>
                  <a:ext cx="428404"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oMath>
                    </m:oMathPara>
                  </a14:m>
                  <a:endParaRPr lang="en-US" dirty="0"/>
                </a:p>
              </p:txBody>
            </p:sp>
          </mc:Choice>
          <mc:Fallback xmlns="">
            <p:sp>
              <p:nvSpPr>
                <p:cNvPr id="342" name="TextBox 341">
                  <a:extLst>
                    <a:ext uri="{FF2B5EF4-FFF2-40B4-BE49-F238E27FC236}">
                      <a16:creationId xmlns:a16="http://schemas.microsoft.com/office/drawing/2014/main" id="{0335A550-18A4-6B41-A32E-8FC5B5676B2E}"/>
                    </a:ext>
                  </a:extLst>
                </p:cNvPr>
                <p:cNvSpPr txBox="1">
                  <a:spLocks noRot="1" noChangeAspect="1" noMove="1" noResize="1" noEditPoints="1" noAdjustHandles="1" noChangeArrowheads="1" noChangeShapeType="1" noTextEdit="1"/>
                </p:cNvSpPr>
                <p:nvPr/>
              </p:nvSpPr>
              <p:spPr>
                <a:xfrm>
                  <a:off x="10035198" y="2906447"/>
                  <a:ext cx="42840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3" name="TextBox 342">
                  <a:extLst>
                    <a:ext uri="{FF2B5EF4-FFF2-40B4-BE49-F238E27FC236}">
                      <a16:creationId xmlns:a16="http://schemas.microsoft.com/office/drawing/2014/main" id="{E6472F60-F908-564F-B2BD-0EA8D8F76DDB}"/>
                    </a:ext>
                  </a:extLst>
                </p:cNvPr>
                <p:cNvSpPr txBox="1"/>
                <p:nvPr/>
              </p:nvSpPr>
              <p:spPr>
                <a:xfrm>
                  <a:off x="9238059" y="2839006"/>
                  <a:ext cx="511629"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p:txBody>
            </p:sp>
          </mc:Choice>
          <mc:Fallback xmlns="">
            <p:sp>
              <p:nvSpPr>
                <p:cNvPr id="343" name="TextBox 342">
                  <a:extLst>
                    <a:ext uri="{FF2B5EF4-FFF2-40B4-BE49-F238E27FC236}">
                      <a16:creationId xmlns:a16="http://schemas.microsoft.com/office/drawing/2014/main" id="{E6472F60-F908-564F-B2BD-0EA8D8F76DDB}"/>
                    </a:ext>
                  </a:extLst>
                </p:cNvPr>
                <p:cNvSpPr txBox="1">
                  <a:spLocks noRot="1" noChangeAspect="1" noMove="1" noResize="1" noEditPoints="1" noAdjustHandles="1" noChangeArrowheads="1" noChangeShapeType="1" noTextEdit="1"/>
                </p:cNvSpPr>
                <p:nvPr/>
              </p:nvSpPr>
              <p:spPr>
                <a:xfrm>
                  <a:off x="9238059" y="2839006"/>
                  <a:ext cx="511629" cy="369332"/>
                </a:xfrm>
                <a:prstGeom prst="rect">
                  <a:avLst/>
                </a:prstGeom>
                <a:blipFill>
                  <a:blip r:embed="rId6"/>
                  <a:stretch>
                    <a:fillRect/>
                  </a:stretch>
                </a:blipFill>
              </p:spPr>
              <p:txBody>
                <a:bodyPr/>
                <a:lstStyle/>
                <a:p>
                  <a:r>
                    <a:rPr lang="en-US">
                      <a:noFill/>
                    </a:rPr>
                    <a:t> </a:t>
                  </a:r>
                </a:p>
              </p:txBody>
            </p:sp>
          </mc:Fallback>
        </mc:AlternateContent>
        <p:grpSp>
          <p:nvGrpSpPr>
            <p:cNvPr id="125" name="Group 210">
              <a:extLst>
                <a:ext uri="{FF2B5EF4-FFF2-40B4-BE49-F238E27FC236}">
                  <a16:creationId xmlns:a16="http://schemas.microsoft.com/office/drawing/2014/main" id="{7245D486-052B-4943-9A25-01767B115618}"/>
                </a:ext>
              </a:extLst>
            </p:cNvPr>
            <p:cNvGrpSpPr>
              <a:grpSpLocks/>
            </p:cNvGrpSpPr>
            <p:nvPr/>
          </p:nvGrpSpPr>
          <p:grpSpPr bwMode="auto">
            <a:xfrm>
              <a:off x="10920197" y="2645951"/>
              <a:ext cx="304800" cy="762000"/>
              <a:chOff x="3216" y="1728"/>
              <a:chExt cx="192" cy="480"/>
            </a:xfrm>
          </p:grpSpPr>
          <p:sp>
            <p:nvSpPr>
              <p:cNvPr id="131" name="Line 8">
                <a:extLst>
                  <a:ext uri="{FF2B5EF4-FFF2-40B4-BE49-F238E27FC236}">
                    <a16:creationId xmlns:a16="http://schemas.microsoft.com/office/drawing/2014/main" id="{7483F0EA-6B15-F942-9318-3A72635D11E6}"/>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 name="Line 9">
                <a:extLst>
                  <a:ext uri="{FF2B5EF4-FFF2-40B4-BE49-F238E27FC236}">
                    <a16:creationId xmlns:a16="http://schemas.microsoft.com/office/drawing/2014/main" id="{AD3E532D-DD65-654C-8108-31111C2BC7BD}"/>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 name="Line 10">
                <a:extLst>
                  <a:ext uri="{FF2B5EF4-FFF2-40B4-BE49-F238E27FC236}">
                    <a16:creationId xmlns:a16="http://schemas.microsoft.com/office/drawing/2014/main" id="{2E96D408-AF33-864A-846E-7A0390CE77EF}"/>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 name="Line 11">
                <a:extLst>
                  <a:ext uri="{FF2B5EF4-FFF2-40B4-BE49-F238E27FC236}">
                    <a16:creationId xmlns:a16="http://schemas.microsoft.com/office/drawing/2014/main" id="{95A1A56E-D095-494B-84C1-6566458DAFD4}"/>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3BE7512E-95D0-3A47-AE6E-64EDC5FF8524}"/>
                    </a:ext>
                  </a:extLst>
                </p:cNvPr>
                <p:cNvSpPr txBox="1"/>
                <p:nvPr/>
              </p:nvSpPr>
              <p:spPr>
                <a:xfrm>
                  <a:off x="11045732" y="2911348"/>
                  <a:ext cx="738730"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2</m:t>
                            </m:r>
                          </m:sub>
                        </m:sSub>
                      </m:oMath>
                    </m:oMathPara>
                  </a14:m>
                  <a:endParaRPr lang="en-US" dirty="0"/>
                </a:p>
              </p:txBody>
            </p:sp>
          </mc:Choice>
          <mc:Fallback xmlns="">
            <p:sp>
              <p:nvSpPr>
                <p:cNvPr id="135" name="TextBox 134">
                  <a:extLst>
                    <a:ext uri="{FF2B5EF4-FFF2-40B4-BE49-F238E27FC236}">
                      <a16:creationId xmlns:a16="http://schemas.microsoft.com/office/drawing/2014/main" id="{3BE7512E-95D0-3A47-AE6E-64EDC5FF8524}"/>
                    </a:ext>
                  </a:extLst>
                </p:cNvPr>
                <p:cNvSpPr txBox="1">
                  <a:spLocks noRot="1" noChangeAspect="1" noMove="1" noResize="1" noEditPoints="1" noAdjustHandles="1" noChangeArrowheads="1" noChangeShapeType="1" noTextEdit="1"/>
                </p:cNvSpPr>
                <p:nvPr/>
              </p:nvSpPr>
              <p:spPr>
                <a:xfrm>
                  <a:off x="11045732" y="2911348"/>
                  <a:ext cx="738730"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8" name="TextBox 137">
                  <a:extLst>
                    <a:ext uri="{FF2B5EF4-FFF2-40B4-BE49-F238E27FC236}">
                      <a16:creationId xmlns:a16="http://schemas.microsoft.com/office/drawing/2014/main" id="{AD80D8B4-5664-6C47-A7A0-715CC0E8967C}"/>
                    </a:ext>
                  </a:extLst>
                </p:cNvPr>
                <p:cNvSpPr txBox="1"/>
                <p:nvPr/>
              </p:nvSpPr>
              <p:spPr>
                <a:xfrm>
                  <a:off x="11107582" y="2306451"/>
                  <a:ext cx="511629"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p:txBody>
            </p:sp>
          </mc:Choice>
          <mc:Fallback xmlns="">
            <p:sp>
              <p:nvSpPr>
                <p:cNvPr id="138" name="TextBox 137">
                  <a:extLst>
                    <a:ext uri="{FF2B5EF4-FFF2-40B4-BE49-F238E27FC236}">
                      <a16:creationId xmlns:a16="http://schemas.microsoft.com/office/drawing/2014/main" id="{AD80D8B4-5664-6C47-A7A0-715CC0E8967C}"/>
                    </a:ext>
                  </a:extLst>
                </p:cNvPr>
                <p:cNvSpPr txBox="1">
                  <a:spLocks noRot="1" noChangeAspect="1" noMove="1" noResize="1" noEditPoints="1" noAdjustHandles="1" noChangeArrowheads="1" noChangeShapeType="1" noTextEdit="1"/>
                </p:cNvSpPr>
                <p:nvPr/>
              </p:nvSpPr>
              <p:spPr>
                <a:xfrm>
                  <a:off x="11107582" y="2306451"/>
                  <a:ext cx="511629" cy="369332"/>
                </a:xfrm>
                <a:prstGeom prst="rect">
                  <a:avLst/>
                </a:prstGeom>
                <a:blipFill>
                  <a:blip r:embed="rId8"/>
                  <a:stretch>
                    <a:fillRect/>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957DFA9B-8310-E34A-80D3-A4535206BF46}"/>
                </a:ext>
              </a:extLst>
            </p:cNvPr>
            <p:cNvCxnSpPr/>
            <p:nvPr/>
          </p:nvCxnSpPr>
          <p:spPr>
            <a:xfrm>
              <a:off x="10501500" y="2649761"/>
              <a:ext cx="5761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2" name="Group 220">
              <a:extLst>
                <a:ext uri="{FF2B5EF4-FFF2-40B4-BE49-F238E27FC236}">
                  <a16:creationId xmlns:a16="http://schemas.microsoft.com/office/drawing/2014/main" id="{8A8D1385-67CB-4E44-A00B-1D0C18ABCFC8}"/>
                </a:ext>
              </a:extLst>
            </p:cNvPr>
            <p:cNvGrpSpPr>
              <a:grpSpLocks/>
            </p:cNvGrpSpPr>
            <p:nvPr/>
          </p:nvGrpSpPr>
          <p:grpSpPr bwMode="auto">
            <a:xfrm>
              <a:off x="10996397" y="3346879"/>
              <a:ext cx="152400" cy="304800"/>
              <a:chOff x="3264" y="3072"/>
              <a:chExt cx="96" cy="192"/>
            </a:xfrm>
          </p:grpSpPr>
          <p:sp>
            <p:nvSpPr>
              <p:cNvPr id="83" name="Line 17">
                <a:extLst>
                  <a:ext uri="{FF2B5EF4-FFF2-40B4-BE49-F238E27FC236}">
                    <a16:creationId xmlns:a16="http://schemas.microsoft.com/office/drawing/2014/main" id="{1EA1F2CA-A991-BE4D-98BF-C876FB7529C1}"/>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4" name="Freeform 18">
                <a:extLst>
                  <a:ext uri="{FF2B5EF4-FFF2-40B4-BE49-F238E27FC236}">
                    <a16:creationId xmlns:a16="http://schemas.microsoft.com/office/drawing/2014/main" id="{43D623F7-6933-844E-BD82-F1F74F54AEDF}"/>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spTree>
    <p:extLst>
      <p:ext uri="{BB962C8B-B14F-4D97-AF65-F5344CB8AC3E}">
        <p14:creationId xmlns:p14="http://schemas.microsoft.com/office/powerpoint/2010/main" val="35756578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567" y="285915"/>
            <a:ext cx="11978640" cy="868362"/>
          </a:xfrm>
        </p:spPr>
        <p:txBody>
          <a:bodyPr anchor="ctr">
            <a:normAutofit/>
          </a:bodyPr>
          <a:lstStyle/>
          <a:p>
            <a:pPr algn="ctr"/>
            <a:r>
              <a:rPr lang="en-US" sz="4400" dirty="0">
                <a:latin typeface="Calibri" panose="020F0502020204030204" pitchFamily="34" charset="0"/>
                <a:cs typeface="Calibri" panose="020F0502020204030204" pitchFamily="34" charset="0"/>
              </a:rPr>
              <a:t>Impedance matching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64892" y="1733228"/>
                <a:ext cx="7510716" cy="4342094"/>
              </a:xfrm>
            </p:spPr>
            <p:txBody>
              <a:bodyPr>
                <a:noAutofit/>
              </a:bodyPr>
              <a:lstStyle/>
              <a:p>
                <a:pPr marL="342900" indent="-342900" algn="l">
                  <a:buFont typeface="Arial" panose="020B0604020202020204" pitchFamily="34" charset="0"/>
                  <a:buChar char="•"/>
                </a:pPr>
                <a14:m>
                  <m:oMath xmlns:m="http://schemas.openxmlformats.org/officeDocument/2006/math">
                    <m:r>
                      <a:rPr lang="en-US" sz="2400" i="1" smtClean="0">
                        <a:latin typeface="Cambria Math" panose="02040503050406030204" pitchFamily="18" charset="0"/>
                        <a:ea typeface="Cambria Math" panose="02040503050406030204" pitchFamily="18" charset="0"/>
                        <a:cs typeface="Arial" charset="0"/>
                      </a:rPr>
                      <m:t>𝜋</m:t>
                    </m:r>
                    <m:r>
                      <a:rPr lang="en-US" sz="2400" b="0" i="1" smtClean="0">
                        <a:latin typeface="Cambria Math" panose="02040503050406030204" pitchFamily="18" charset="0"/>
                        <a:ea typeface="Cambria Math" panose="02040503050406030204" pitchFamily="18" charset="0"/>
                        <a:cs typeface="Arial" charset="0"/>
                      </a:rPr>
                      <m:t> </m:t>
                    </m:r>
                  </m:oMath>
                </a14:m>
                <a:r>
                  <a:rPr lang="en-US" sz="2000" dirty="0">
                    <a:ea typeface="Arial" charset="0"/>
                    <a:cs typeface="Arial" charset="0"/>
                  </a:rPr>
                  <a:t>network</a:t>
                </a:r>
                <a:endParaRPr lang="en-US" sz="2400" dirty="0">
                  <a:ea typeface="Arial" charset="0"/>
                  <a:cs typeface="Arial" charset="0"/>
                </a:endParaRPr>
              </a:p>
              <a:p>
                <a:pPr marL="800100" lvl="1" indent="-342900"/>
                <a14:m>
                  <m:oMath xmlns:m="http://schemas.openxmlformats.org/officeDocument/2006/math">
                    <m:r>
                      <a:rPr lang="en-US" sz="2000" b="0" i="1" smtClean="0">
                        <a:latin typeface="Cambria Math" panose="02040503050406030204" pitchFamily="18" charset="0"/>
                        <a:cs typeface="Arial" charset="0"/>
                      </a:rPr>
                      <m:t>𝑄</m:t>
                    </m:r>
                    <m:r>
                      <a:rPr lang="en-US" sz="2000" b="0" i="1" smtClean="0">
                        <a:latin typeface="Cambria Math" panose="02040503050406030204" pitchFamily="18" charset="0"/>
                        <a:cs typeface="Arial" charset="0"/>
                      </a:rPr>
                      <m:t>=</m:t>
                    </m:r>
                    <m:rad>
                      <m:radPr>
                        <m:degHide m:val="on"/>
                        <m:ctrlPr>
                          <a:rPr lang="en-US" sz="2000" b="0" i="1" smtClean="0">
                            <a:latin typeface="Cambria Math" panose="02040503050406030204" pitchFamily="18" charset="0"/>
                            <a:cs typeface="Arial" charset="0"/>
                          </a:rPr>
                        </m:ctrlPr>
                      </m:radPr>
                      <m:deg/>
                      <m:e>
                        <m:f>
                          <m:fPr>
                            <m:type m:val="skw"/>
                            <m:ctrlPr>
                              <a:rPr lang="en-US" sz="2000" i="1">
                                <a:latin typeface="Cambria Math" panose="02040503050406030204" pitchFamily="18" charset="0"/>
                                <a:cs typeface="Arial" charset="0"/>
                              </a:rPr>
                            </m:ctrlPr>
                          </m:fPr>
                          <m:num>
                            <m:func>
                              <m:funcPr>
                                <m:ctrlPr>
                                  <a:rPr lang="en-US" sz="2000">
                                    <a:latin typeface="Cambria Math" panose="02040503050406030204" pitchFamily="18" charset="0"/>
                                    <a:cs typeface="Arial" charset="0"/>
                                  </a:rPr>
                                </m:ctrlPr>
                              </m:funcPr>
                              <m:fName>
                                <m:r>
                                  <m:rPr>
                                    <m:sty m:val="p"/>
                                  </m:rPr>
                                  <a:rPr lang="en-US" sz="2000">
                                    <a:latin typeface="Cambria Math" panose="02040503050406030204" pitchFamily="18" charset="0"/>
                                    <a:cs typeface="Arial" charset="0"/>
                                  </a:rPr>
                                  <m:t>max</m:t>
                                </m:r>
                              </m:fName>
                              <m:e>
                                <m:d>
                                  <m:dPr>
                                    <m:ctrlPr>
                                      <a:rPr lang="en-US" sz="2000" i="1">
                                        <a:latin typeface="Cambria Math" panose="02040503050406030204" pitchFamily="18" charset="0"/>
                                        <a:cs typeface="Arial" charset="0"/>
                                      </a:rPr>
                                    </m:ctrlPr>
                                  </m:dPr>
                                  <m:e>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𝑅</m:t>
                                        </m:r>
                                      </m:e>
                                      <m:sub>
                                        <m:r>
                                          <a:rPr lang="en-US" sz="2000" i="1">
                                            <a:latin typeface="Cambria Math" panose="02040503050406030204" pitchFamily="18" charset="0"/>
                                            <a:cs typeface="Arial" charset="0"/>
                                          </a:rPr>
                                          <m:t>𝑖𝑛</m:t>
                                        </m:r>
                                      </m:sub>
                                    </m:sSub>
                                    <m:r>
                                      <a:rPr lang="en-US" sz="2000" i="1">
                                        <a:latin typeface="Cambria Math" panose="02040503050406030204" pitchFamily="18" charset="0"/>
                                        <a:cs typeface="Arial" charset="0"/>
                                      </a:rPr>
                                      <m:t>,</m:t>
                                    </m:r>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𝑅</m:t>
                                        </m:r>
                                      </m:e>
                                      <m:sub>
                                        <m:r>
                                          <a:rPr lang="en-US" sz="2000" i="1">
                                            <a:latin typeface="Cambria Math" panose="02040503050406030204" pitchFamily="18" charset="0"/>
                                            <a:cs typeface="Arial" charset="0"/>
                                          </a:rPr>
                                          <m:t>𝑜𝑢𝑡</m:t>
                                        </m:r>
                                      </m:sub>
                                    </m:sSub>
                                  </m:e>
                                </m:d>
                              </m:e>
                            </m:func>
                          </m:num>
                          <m:den>
                            <m:r>
                              <a:rPr lang="en-US" sz="2000" b="0" i="1" smtClean="0">
                                <a:latin typeface="Cambria Math" panose="02040503050406030204" pitchFamily="18" charset="0"/>
                                <a:cs typeface="Arial" charset="0"/>
                              </a:rPr>
                              <m:t>𝑅</m:t>
                            </m:r>
                          </m:den>
                        </m:f>
                        <m:r>
                          <a:rPr lang="en-US" sz="2000" b="0" i="1" smtClean="0">
                            <a:latin typeface="Cambria Math" panose="02040503050406030204" pitchFamily="18" charset="0"/>
                            <a:cs typeface="Arial" charset="0"/>
                          </a:rPr>
                          <m:t>−1 </m:t>
                        </m:r>
                      </m:e>
                    </m:rad>
                  </m:oMath>
                </a14:m>
                <a:r>
                  <a:rPr lang="en-US" sz="2000" i="1" dirty="0">
                    <a:latin typeface="Cambria Math" panose="02040503050406030204" pitchFamily="18" charset="0"/>
                    <a:cs typeface="Arial" charset="0"/>
                  </a:rPr>
                  <a:t>, </a:t>
                </a:r>
                <a:r>
                  <a:rPr lang="en-US" sz="1800" i="1" dirty="0">
                    <a:latin typeface="Cambria Math" panose="02040503050406030204" pitchFamily="18" charset="0"/>
                    <a:cs typeface="Arial" charset="0"/>
                  </a:rPr>
                  <a:t>choose R  for BW</a:t>
                </a:r>
                <a:endParaRPr lang="en-US" sz="1800" dirty="0">
                  <a:ea typeface="Arial" charset="0"/>
                  <a:cs typeface="Arial" charset="0"/>
                </a:endParaRPr>
              </a:p>
              <a:p>
                <a:pPr marL="800100" lvl="1" indent="-342900"/>
                <a14:m>
                  <m:oMath xmlns:m="http://schemas.openxmlformats.org/officeDocument/2006/math">
                    <m:sSubSup>
                      <m:sSubSupPr>
                        <m:ctrlPr>
                          <a:rPr lang="en-US" sz="1800" b="0" i="1" smtClean="0">
                            <a:latin typeface="Cambria Math" panose="02040503050406030204" pitchFamily="18" charset="0"/>
                            <a:cs typeface="Arial" charset="0"/>
                          </a:rPr>
                        </m:ctrlPr>
                      </m:sSubSupPr>
                      <m:e>
                        <m:r>
                          <a:rPr lang="en-US" sz="1800" b="0" i="1" smtClean="0">
                            <a:latin typeface="Cambria Math" panose="02040503050406030204" pitchFamily="18" charset="0"/>
                            <a:cs typeface="Arial" charset="0"/>
                          </a:rPr>
                          <m:t>𝑋</m:t>
                        </m:r>
                      </m:e>
                      <m:sub>
                        <m:r>
                          <a:rPr lang="en-US" sz="1800" b="0" i="1" smtClean="0">
                            <a:latin typeface="Cambria Math" panose="02040503050406030204" pitchFamily="18" charset="0"/>
                            <a:cs typeface="Arial" charset="0"/>
                          </a:rPr>
                          <m:t>2</m:t>
                        </m:r>
                      </m:sub>
                      <m:sup>
                        <m:r>
                          <a:rPr lang="en-US" sz="1800" b="0" i="1" smtClean="0">
                            <a:latin typeface="Cambria Math" panose="02040503050406030204" pitchFamily="18" charset="0"/>
                            <a:cs typeface="Arial" charset="0"/>
                          </a:rPr>
                          <m:t>𝑎</m:t>
                        </m:r>
                      </m:sup>
                    </m:sSubSup>
                    <m:r>
                      <a:rPr lang="en-US" sz="1800" b="0" i="1" smtClean="0">
                        <a:latin typeface="Cambria Math" panose="02040503050406030204" pitchFamily="18" charset="0"/>
                        <a:cs typeface="Arial" charset="0"/>
                      </a:rPr>
                      <m:t>+</m:t>
                    </m:r>
                    <m:sSubSup>
                      <m:sSubSupPr>
                        <m:ctrlPr>
                          <a:rPr lang="en-US" sz="1800" i="1">
                            <a:latin typeface="Cambria Math" panose="02040503050406030204" pitchFamily="18" charset="0"/>
                            <a:cs typeface="Arial" charset="0"/>
                          </a:rPr>
                        </m:ctrlPr>
                      </m:sSubSupPr>
                      <m:e>
                        <m:r>
                          <a:rPr lang="en-US" sz="1800" i="1">
                            <a:latin typeface="Cambria Math" panose="02040503050406030204" pitchFamily="18" charset="0"/>
                            <a:cs typeface="Arial" charset="0"/>
                          </a:rPr>
                          <m:t>𝑋</m:t>
                        </m:r>
                      </m:e>
                      <m:sub>
                        <m:r>
                          <a:rPr lang="en-US" sz="1800" i="1">
                            <a:latin typeface="Cambria Math" panose="02040503050406030204" pitchFamily="18" charset="0"/>
                            <a:cs typeface="Arial" charset="0"/>
                          </a:rPr>
                          <m:t>2</m:t>
                        </m:r>
                      </m:sub>
                      <m:sup>
                        <m:r>
                          <a:rPr lang="en-US" sz="1800" b="0" i="1" smtClean="0">
                            <a:latin typeface="Cambria Math" panose="02040503050406030204" pitchFamily="18" charset="0"/>
                            <a:cs typeface="Arial" charset="0"/>
                          </a:rPr>
                          <m:t>𝑏</m:t>
                        </m:r>
                      </m:sup>
                    </m:sSubSup>
                    <m:r>
                      <a:rPr lang="en-US" sz="1800" b="0" i="1" smtClean="0">
                        <a:latin typeface="Cambria Math" panose="02040503050406030204" pitchFamily="18" charset="0"/>
                        <a:cs typeface="Arial" charset="0"/>
                      </a:rPr>
                      <m:t>=</m:t>
                    </m:r>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𝑋</m:t>
                        </m:r>
                      </m:e>
                      <m:sub>
                        <m:r>
                          <a:rPr lang="en-US" sz="1800" b="0" i="1" smtClean="0">
                            <a:latin typeface="Cambria Math" panose="02040503050406030204" pitchFamily="18" charset="0"/>
                            <a:cs typeface="Arial" charset="0"/>
                          </a:rPr>
                          <m:t>2</m:t>
                        </m:r>
                      </m:sub>
                    </m:sSub>
                  </m:oMath>
                </a14:m>
                <a:endParaRPr lang="en-US" sz="1800" dirty="0">
                  <a:ea typeface="Arial" charset="0"/>
                  <a:cs typeface="Arial" charset="0"/>
                </a:endParaRPr>
              </a:p>
              <a:p>
                <a:pPr marL="800100" lvl="1" indent="-342900"/>
                <a14:m>
                  <m:oMath xmlns:m="http://schemas.openxmlformats.org/officeDocument/2006/math">
                    <m:r>
                      <a:rPr lang="en-US" sz="1800" b="0" i="1" smtClean="0">
                        <a:latin typeface="Cambria Math" panose="02040503050406030204" pitchFamily="18" charset="0"/>
                        <a:ea typeface="Arial" charset="0"/>
                        <a:cs typeface="Arial" charset="0"/>
                      </a:rPr>
                      <m:t>𝑅</m:t>
                    </m:r>
                    <m:r>
                      <a:rPr lang="en-US" sz="1800" b="0" i="1" smtClean="0">
                        <a:latin typeface="Cambria Math" panose="02040503050406030204" pitchFamily="18" charset="0"/>
                        <a:ea typeface="Arial" charset="0"/>
                        <a:cs typeface="Arial" charset="0"/>
                      </a:rPr>
                      <m:t>&lt;</m:t>
                    </m:r>
                    <m:r>
                      <m:rPr>
                        <m:sty m:val="p"/>
                      </m:rPr>
                      <a:rPr lang="en-US" sz="1800" b="0" i="0" smtClean="0">
                        <a:latin typeface="Cambria Math" panose="02040503050406030204" pitchFamily="18" charset="0"/>
                        <a:ea typeface="Arial" charset="0"/>
                        <a:cs typeface="Arial" charset="0"/>
                      </a:rPr>
                      <m:t>min</m:t>
                    </m:r>
                    <m:r>
                      <a:rPr lang="en-US" sz="1800" b="0" i="1" smtClean="0">
                        <a:latin typeface="Cambria Math" panose="02040503050406030204" pitchFamily="18" charset="0"/>
                        <a:ea typeface="Arial" charset="0"/>
                        <a:cs typeface="Arial" charset="0"/>
                      </a:rPr>
                      <m:t>⁡(</m:t>
                    </m:r>
                    <m:sSub>
                      <m:sSubPr>
                        <m:ctrlPr>
                          <a:rPr lang="en-US" sz="1800" i="1">
                            <a:latin typeface="Cambria Math" panose="02040503050406030204" pitchFamily="18" charset="0"/>
                            <a:cs typeface="Arial" charset="0"/>
                          </a:rPr>
                        </m:ctrlPr>
                      </m:sSubPr>
                      <m:e>
                        <m:r>
                          <a:rPr lang="en-US" sz="1800" i="1">
                            <a:latin typeface="Cambria Math" panose="02040503050406030204" pitchFamily="18" charset="0"/>
                            <a:cs typeface="Arial" charset="0"/>
                          </a:rPr>
                          <m:t>𝑅</m:t>
                        </m:r>
                      </m:e>
                      <m:sub>
                        <m:r>
                          <a:rPr lang="en-US" sz="1800" i="1">
                            <a:latin typeface="Cambria Math" panose="02040503050406030204" pitchFamily="18" charset="0"/>
                            <a:cs typeface="Arial" charset="0"/>
                          </a:rPr>
                          <m:t>𝑖𝑛</m:t>
                        </m:r>
                      </m:sub>
                    </m:sSub>
                    <m:r>
                      <a:rPr lang="en-US" sz="1800" i="1">
                        <a:latin typeface="Cambria Math" panose="02040503050406030204" pitchFamily="18" charset="0"/>
                        <a:cs typeface="Arial" charset="0"/>
                      </a:rPr>
                      <m:t>,</m:t>
                    </m:r>
                    <m:sSub>
                      <m:sSubPr>
                        <m:ctrlPr>
                          <a:rPr lang="en-US" sz="1800" i="1">
                            <a:latin typeface="Cambria Math" panose="02040503050406030204" pitchFamily="18" charset="0"/>
                            <a:cs typeface="Arial" charset="0"/>
                          </a:rPr>
                        </m:ctrlPr>
                      </m:sSubPr>
                      <m:e>
                        <m:r>
                          <a:rPr lang="en-US" sz="1800" i="1">
                            <a:latin typeface="Cambria Math" panose="02040503050406030204" pitchFamily="18" charset="0"/>
                            <a:cs typeface="Arial" charset="0"/>
                          </a:rPr>
                          <m:t>𝑅</m:t>
                        </m:r>
                      </m:e>
                      <m:sub>
                        <m:r>
                          <a:rPr lang="en-US" sz="1800" i="1">
                            <a:latin typeface="Cambria Math" panose="02040503050406030204" pitchFamily="18" charset="0"/>
                            <a:cs typeface="Arial" charset="0"/>
                          </a:rPr>
                          <m:t>𝑜𝑢𝑡</m:t>
                        </m:r>
                      </m:sub>
                    </m:sSub>
                  </m:oMath>
                </a14:m>
                <a:r>
                  <a:rPr lang="en-US" sz="1800" dirty="0">
                    <a:ea typeface="Arial" charset="0"/>
                    <a:cs typeface="Arial" charset="0"/>
                  </a:rPr>
                  <a:t>)</a:t>
                </a:r>
              </a:p>
              <a:p>
                <a:pPr marL="457200" lvl="1" indent="0">
                  <a:buNone/>
                </a:pPr>
                <a:endParaRPr lang="en-US" sz="1800" dirty="0">
                  <a:ea typeface="Arial" charset="0"/>
                  <a:cs typeface="Arial" charset="0"/>
                </a:endParaRPr>
              </a:p>
              <a:p>
                <a:pPr marL="457200" lvl="1" indent="0">
                  <a:buNone/>
                </a:pPr>
                <a:endParaRPr lang="en-US" sz="1800" dirty="0">
                  <a:ea typeface="Arial" charset="0"/>
                  <a:cs typeface="Arial" charset="0"/>
                </a:endParaRPr>
              </a:p>
              <a:p>
                <a:pPr marL="342900" indent="-342900"/>
                <a:r>
                  <a:rPr lang="en-US" sz="2400" dirty="0">
                    <a:ea typeface="Arial" charset="0"/>
                    <a:cs typeface="Arial" charset="0"/>
                  </a:rPr>
                  <a:t>T </a:t>
                </a:r>
                <a:r>
                  <a:rPr lang="en-US" sz="2000" dirty="0">
                    <a:ea typeface="Arial" charset="0"/>
                    <a:cs typeface="Arial" charset="0"/>
                  </a:rPr>
                  <a:t>networks</a:t>
                </a:r>
                <a:endParaRPr lang="en-US" sz="2400" dirty="0">
                  <a:ea typeface="Arial" charset="0"/>
                  <a:cs typeface="Arial" charset="0"/>
                </a:endParaRPr>
              </a:p>
              <a:p>
                <a:pPr marL="800100" lvl="1" indent="-342900"/>
                <a14:m>
                  <m:oMath xmlns:m="http://schemas.openxmlformats.org/officeDocument/2006/math">
                    <m:r>
                      <a:rPr lang="en-US" sz="1800" i="1">
                        <a:latin typeface="Cambria Math" panose="02040503050406030204" pitchFamily="18" charset="0"/>
                        <a:cs typeface="Arial" charset="0"/>
                      </a:rPr>
                      <m:t>𝑄</m:t>
                    </m:r>
                    <m:r>
                      <a:rPr lang="en-US" sz="1800" i="1">
                        <a:latin typeface="Cambria Math" panose="02040503050406030204" pitchFamily="18" charset="0"/>
                        <a:cs typeface="Arial" charset="0"/>
                      </a:rPr>
                      <m:t>=</m:t>
                    </m:r>
                    <m:rad>
                      <m:radPr>
                        <m:degHide m:val="on"/>
                        <m:ctrlPr>
                          <a:rPr lang="en-US" sz="1800" i="1">
                            <a:latin typeface="Cambria Math" panose="02040503050406030204" pitchFamily="18" charset="0"/>
                            <a:cs typeface="Arial" charset="0"/>
                          </a:rPr>
                        </m:ctrlPr>
                      </m:radPr>
                      <m:deg/>
                      <m:e>
                        <m:f>
                          <m:fPr>
                            <m:type m:val="skw"/>
                            <m:ctrlPr>
                              <a:rPr lang="en-US" sz="1800" b="0" i="1" smtClean="0">
                                <a:latin typeface="Cambria Math" panose="02040503050406030204" pitchFamily="18" charset="0"/>
                                <a:cs typeface="Arial" charset="0"/>
                              </a:rPr>
                            </m:ctrlPr>
                          </m:fPr>
                          <m:num>
                            <m:r>
                              <a:rPr lang="en-US" sz="1800" b="0" i="1" smtClean="0">
                                <a:latin typeface="Cambria Math" panose="02040503050406030204" pitchFamily="18" charset="0"/>
                                <a:cs typeface="Arial" charset="0"/>
                              </a:rPr>
                              <m:t>𝑅</m:t>
                            </m:r>
                          </m:num>
                          <m:den>
                            <m:func>
                              <m:funcPr>
                                <m:ctrlPr>
                                  <a:rPr lang="en-US" sz="1800">
                                    <a:latin typeface="Cambria Math" panose="02040503050406030204" pitchFamily="18" charset="0"/>
                                    <a:cs typeface="Arial" charset="0"/>
                                  </a:rPr>
                                </m:ctrlPr>
                              </m:funcPr>
                              <m:fName>
                                <m:r>
                                  <m:rPr>
                                    <m:sty m:val="p"/>
                                  </m:rPr>
                                  <a:rPr lang="en-US" sz="1800">
                                    <a:latin typeface="Cambria Math" panose="02040503050406030204" pitchFamily="18" charset="0"/>
                                    <a:cs typeface="Arial" charset="0"/>
                                  </a:rPr>
                                  <m:t>m</m:t>
                                </m:r>
                                <m:r>
                                  <a:rPr lang="en-US" sz="1800" b="0" i="1" smtClean="0">
                                    <a:latin typeface="Cambria Math" panose="02040503050406030204" pitchFamily="18" charset="0"/>
                                    <a:cs typeface="Arial" charset="0"/>
                                  </a:rPr>
                                  <m:t>𝑖𝑛</m:t>
                                </m:r>
                              </m:fName>
                              <m:e>
                                <m:d>
                                  <m:dPr>
                                    <m:ctrlPr>
                                      <a:rPr lang="en-US" sz="1800" i="1">
                                        <a:latin typeface="Cambria Math" panose="02040503050406030204" pitchFamily="18" charset="0"/>
                                        <a:cs typeface="Arial" charset="0"/>
                                      </a:rPr>
                                    </m:ctrlPr>
                                  </m:dPr>
                                  <m:e>
                                    <m:sSub>
                                      <m:sSubPr>
                                        <m:ctrlPr>
                                          <a:rPr lang="en-US" sz="1800" i="1">
                                            <a:latin typeface="Cambria Math" panose="02040503050406030204" pitchFamily="18" charset="0"/>
                                            <a:cs typeface="Arial" charset="0"/>
                                          </a:rPr>
                                        </m:ctrlPr>
                                      </m:sSubPr>
                                      <m:e>
                                        <m:r>
                                          <a:rPr lang="en-US" sz="1800" i="1">
                                            <a:latin typeface="Cambria Math" panose="02040503050406030204" pitchFamily="18" charset="0"/>
                                            <a:cs typeface="Arial" charset="0"/>
                                          </a:rPr>
                                          <m:t>𝑅</m:t>
                                        </m:r>
                                      </m:e>
                                      <m:sub>
                                        <m:r>
                                          <a:rPr lang="en-US" sz="1800" i="1">
                                            <a:latin typeface="Cambria Math" panose="02040503050406030204" pitchFamily="18" charset="0"/>
                                            <a:cs typeface="Arial" charset="0"/>
                                          </a:rPr>
                                          <m:t>𝑖𝑛</m:t>
                                        </m:r>
                                      </m:sub>
                                    </m:sSub>
                                    <m:r>
                                      <a:rPr lang="en-US" sz="1800" i="1">
                                        <a:latin typeface="Cambria Math" panose="02040503050406030204" pitchFamily="18" charset="0"/>
                                        <a:cs typeface="Arial" charset="0"/>
                                      </a:rPr>
                                      <m:t>,</m:t>
                                    </m:r>
                                    <m:sSub>
                                      <m:sSubPr>
                                        <m:ctrlPr>
                                          <a:rPr lang="en-US" sz="1800" i="1">
                                            <a:latin typeface="Cambria Math" panose="02040503050406030204" pitchFamily="18" charset="0"/>
                                            <a:cs typeface="Arial" charset="0"/>
                                          </a:rPr>
                                        </m:ctrlPr>
                                      </m:sSubPr>
                                      <m:e>
                                        <m:r>
                                          <a:rPr lang="en-US" sz="1800" i="1">
                                            <a:latin typeface="Cambria Math" panose="02040503050406030204" pitchFamily="18" charset="0"/>
                                            <a:cs typeface="Arial" charset="0"/>
                                          </a:rPr>
                                          <m:t>𝑅</m:t>
                                        </m:r>
                                      </m:e>
                                      <m:sub>
                                        <m:r>
                                          <a:rPr lang="en-US" sz="1800" i="1">
                                            <a:latin typeface="Cambria Math" panose="02040503050406030204" pitchFamily="18" charset="0"/>
                                            <a:cs typeface="Arial" charset="0"/>
                                          </a:rPr>
                                          <m:t>𝑜𝑢𝑡</m:t>
                                        </m:r>
                                      </m:sub>
                                    </m:sSub>
                                  </m:e>
                                </m:d>
                              </m:e>
                            </m:func>
                          </m:den>
                        </m:f>
                        <m:r>
                          <a:rPr lang="en-US" sz="1800" i="1">
                            <a:latin typeface="Cambria Math" panose="02040503050406030204" pitchFamily="18" charset="0"/>
                            <a:cs typeface="Arial" charset="0"/>
                          </a:rPr>
                          <m:t>−1 </m:t>
                        </m:r>
                      </m:e>
                    </m:rad>
                  </m:oMath>
                </a14:m>
                <a:r>
                  <a:rPr lang="en-US" sz="1800" i="1" dirty="0">
                    <a:latin typeface="Cambria Math" panose="02040503050406030204" pitchFamily="18" charset="0"/>
                    <a:cs typeface="Arial" charset="0"/>
                  </a:rPr>
                  <a:t>, choose R  for BW</a:t>
                </a:r>
              </a:p>
              <a:p>
                <a:pPr marL="800100" lvl="1" indent="-342900"/>
                <a14:m>
                  <m:oMath xmlns:m="http://schemas.openxmlformats.org/officeDocument/2006/math">
                    <m:sSubSup>
                      <m:sSubSupPr>
                        <m:ctrlPr>
                          <a:rPr lang="en-US" sz="1800" i="1">
                            <a:latin typeface="Cambria Math" panose="02040503050406030204" pitchFamily="18" charset="0"/>
                            <a:cs typeface="Arial" charset="0"/>
                          </a:rPr>
                        </m:ctrlPr>
                      </m:sSubSupPr>
                      <m:e>
                        <m:r>
                          <a:rPr lang="en-US" sz="1800" i="1">
                            <a:latin typeface="Cambria Math" panose="02040503050406030204" pitchFamily="18" charset="0"/>
                            <a:cs typeface="Arial" charset="0"/>
                          </a:rPr>
                          <m:t>𝑋</m:t>
                        </m:r>
                      </m:e>
                      <m:sub>
                        <m:r>
                          <a:rPr lang="en-US" sz="1800" i="1">
                            <a:latin typeface="Cambria Math" panose="02040503050406030204" pitchFamily="18" charset="0"/>
                            <a:cs typeface="Arial" charset="0"/>
                          </a:rPr>
                          <m:t>2</m:t>
                        </m:r>
                      </m:sub>
                      <m:sup>
                        <m:r>
                          <a:rPr lang="en-US" sz="1800" i="1">
                            <a:latin typeface="Cambria Math" panose="02040503050406030204" pitchFamily="18" charset="0"/>
                            <a:cs typeface="Arial" charset="0"/>
                          </a:rPr>
                          <m:t>𝑎</m:t>
                        </m:r>
                      </m:sup>
                    </m:sSubSup>
                    <m:r>
                      <a:rPr lang="en-US" sz="1800" b="0" i="1" smtClean="0">
                        <a:latin typeface="Cambria Math" panose="02040503050406030204" pitchFamily="18" charset="0"/>
                        <a:cs typeface="Arial" charset="0"/>
                      </a:rPr>
                      <m:t>||</m:t>
                    </m:r>
                    <m:sSubSup>
                      <m:sSubSupPr>
                        <m:ctrlPr>
                          <a:rPr lang="en-US" sz="1800" i="1">
                            <a:latin typeface="Cambria Math" panose="02040503050406030204" pitchFamily="18" charset="0"/>
                            <a:cs typeface="Arial" charset="0"/>
                          </a:rPr>
                        </m:ctrlPr>
                      </m:sSubSupPr>
                      <m:e>
                        <m:r>
                          <a:rPr lang="en-US" sz="1800" i="1">
                            <a:latin typeface="Cambria Math" panose="02040503050406030204" pitchFamily="18" charset="0"/>
                            <a:cs typeface="Arial" charset="0"/>
                          </a:rPr>
                          <m:t>𝑋</m:t>
                        </m:r>
                      </m:e>
                      <m:sub>
                        <m:r>
                          <a:rPr lang="en-US" sz="1800" i="1">
                            <a:latin typeface="Cambria Math" panose="02040503050406030204" pitchFamily="18" charset="0"/>
                            <a:cs typeface="Arial" charset="0"/>
                          </a:rPr>
                          <m:t>2</m:t>
                        </m:r>
                      </m:sub>
                      <m:sup>
                        <m:r>
                          <a:rPr lang="en-US" sz="1800" i="1">
                            <a:latin typeface="Cambria Math" panose="02040503050406030204" pitchFamily="18" charset="0"/>
                            <a:cs typeface="Arial" charset="0"/>
                          </a:rPr>
                          <m:t>𝑏</m:t>
                        </m:r>
                      </m:sup>
                    </m:sSubSup>
                    <m:r>
                      <a:rPr lang="en-US" sz="1800" i="1">
                        <a:latin typeface="Cambria Math" panose="02040503050406030204" pitchFamily="18" charset="0"/>
                        <a:cs typeface="Arial" charset="0"/>
                      </a:rPr>
                      <m:t>=</m:t>
                    </m:r>
                    <m:sSub>
                      <m:sSubPr>
                        <m:ctrlPr>
                          <a:rPr lang="en-US" sz="1800" i="1">
                            <a:latin typeface="Cambria Math" panose="02040503050406030204" pitchFamily="18" charset="0"/>
                            <a:cs typeface="Arial" charset="0"/>
                          </a:rPr>
                        </m:ctrlPr>
                      </m:sSubPr>
                      <m:e>
                        <m:r>
                          <a:rPr lang="en-US" sz="1800" i="1">
                            <a:latin typeface="Cambria Math" panose="02040503050406030204" pitchFamily="18" charset="0"/>
                            <a:cs typeface="Arial" charset="0"/>
                          </a:rPr>
                          <m:t>𝑋</m:t>
                        </m:r>
                      </m:e>
                      <m:sub>
                        <m:r>
                          <a:rPr lang="en-US" sz="1800" i="1">
                            <a:latin typeface="Cambria Math" panose="02040503050406030204" pitchFamily="18" charset="0"/>
                            <a:cs typeface="Arial" charset="0"/>
                          </a:rPr>
                          <m:t>2</m:t>
                        </m:r>
                      </m:sub>
                    </m:sSub>
                  </m:oMath>
                </a14:m>
                <a:endParaRPr lang="en-US" sz="1800" dirty="0">
                  <a:ea typeface="Arial" charset="0"/>
                  <a:cs typeface="Arial" charset="0"/>
                </a:endParaRPr>
              </a:p>
              <a:p>
                <a:pPr marL="800100" lvl="1" indent="-342900"/>
                <a14:m>
                  <m:oMath xmlns:m="http://schemas.openxmlformats.org/officeDocument/2006/math">
                    <m:r>
                      <a:rPr lang="en-US" sz="1800" b="0" i="1" smtClean="0">
                        <a:latin typeface="Cambria Math" panose="02040503050406030204" pitchFamily="18" charset="0"/>
                        <a:ea typeface="Arial" charset="0"/>
                        <a:cs typeface="Arial" charset="0"/>
                      </a:rPr>
                      <m:t>𝑅</m:t>
                    </m:r>
                    <m:r>
                      <a:rPr lang="en-US" sz="1800" b="0" i="1" smtClean="0">
                        <a:latin typeface="Cambria Math" panose="02040503050406030204" pitchFamily="18" charset="0"/>
                        <a:ea typeface="Arial" charset="0"/>
                        <a:cs typeface="Arial" charset="0"/>
                      </a:rPr>
                      <m:t>&gt;</m:t>
                    </m:r>
                    <m:func>
                      <m:funcPr>
                        <m:ctrlPr>
                          <a:rPr lang="en-US" sz="1800">
                            <a:latin typeface="Cambria Math" panose="02040503050406030204" pitchFamily="18" charset="0"/>
                            <a:cs typeface="Arial" charset="0"/>
                          </a:rPr>
                        </m:ctrlPr>
                      </m:funcPr>
                      <m:fName>
                        <m:r>
                          <m:rPr>
                            <m:sty m:val="p"/>
                          </m:rPr>
                          <a:rPr lang="en-US" sz="1800">
                            <a:latin typeface="Cambria Math" panose="02040503050406030204" pitchFamily="18" charset="0"/>
                            <a:cs typeface="Arial" charset="0"/>
                          </a:rPr>
                          <m:t>max</m:t>
                        </m:r>
                      </m:fName>
                      <m:e>
                        <m:d>
                          <m:dPr>
                            <m:ctrlPr>
                              <a:rPr lang="en-US" sz="1800" i="1">
                                <a:latin typeface="Cambria Math" panose="02040503050406030204" pitchFamily="18" charset="0"/>
                                <a:cs typeface="Arial" charset="0"/>
                              </a:rPr>
                            </m:ctrlPr>
                          </m:dPr>
                          <m:e>
                            <m:sSub>
                              <m:sSubPr>
                                <m:ctrlPr>
                                  <a:rPr lang="en-US" sz="1800" i="1">
                                    <a:latin typeface="Cambria Math" panose="02040503050406030204" pitchFamily="18" charset="0"/>
                                    <a:cs typeface="Arial" charset="0"/>
                                  </a:rPr>
                                </m:ctrlPr>
                              </m:sSubPr>
                              <m:e>
                                <m:r>
                                  <a:rPr lang="en-US" sz="1800" i="1">
                                    <a:latin typeface="Cambria Math" panose="02040503050406030204" pitchFamily="18" charset="0"/>
                                    <a:cs typeface="Arial" charset="0"/>
                                  </a:rPr>
                                  <m:t>𝑅</m:t>
                                </m:r>
                              </m:e>
                              <m:sub>
                                <m:r>
                                  <a:rPr lang="en-US" sz="1800" i="1">
                                    <a:latin typeface="Cambria Math" panose="02040503050406030204" pitchFamily="18" charset="0"/>
                                    <a:cs typeface="Arial" charset="0"/>
                                  </a:rPr>
                                  <m:t>𝑖𝑛</m:t>
                                </m:r>
                              </m:sub>
                            </m:sSub>
                            <m:r>
                              <a:rPr lang="en-US" sz="1800" i="1">
                                <a:latin typeface="Cambria Math" panose="02040503050406030204" pitchFamily="18" charset="0"/>
                                <a:cs typeface="Arial" charset="0"/>
                              </a:rPr>
                              <m:t>,</m:t>
                            </m:r>
                            <m:sSub>
                              <m:sSubPr>
                                <m:ctrlPr>
                                  <a:rPr lang="en-US" sz="1800" i="1">
                                    <a:latin typeface="Cambria Math" panose="02040503050406030204" pitchFamily="18" charset="0"/>
                                    <a:cs typeface="Arial" charset="0"/>
                                  </a:rPr>
                                </m:ctrlPr>
                              </m:sSubPr>
                              <m:e>
                                <m:r>
                                  <a:rPr lang="en-US" sz="1800" i="1">
                                    <a:latin typeface="Cambria Math" panose="02040503050406030204" pitchFamily="18" charset="0"/>
                                    <a:cs typeface="Arial" charset="0"/>
                                  </a:rPr>
                                  <m:t>𝑅</m:t>
                                </m:r>
                              </m:e>
                              <m:sub>
                                <m:r>
                                  <a:rPr lang="en-US" sz="1800" i="1">
                                    <a:latin typeface="Cambria Math" panose="02040503050406030204" pitchFamily="18" charset="0"/>
                                    <a:cs typeface="Arial" charset="0"/>
                                  </a:rPr>
                                  <m:t>𝑜𝑢𝑡</m:t>
                                </m:r>
                              </m:sub>
                            </m:sSub>
                          </m:e>
                        </m:d>
                      </m:e>
                    </m:func>
                  </m:oMath>
                </a14:m>
                <a:endParaRPr lang="en-US" sz="2000" dirty="0">
                  <a:ea typeface="Arial" charset="0"/>
                  <a:cs typeface="Arial" charset="0"/>
                </a:endParaRPr>
              </a:p>
              <a:p>
                <a:pPr marL="800100" lvl="1" indent="-342900"/>
                <a:endParaRPr lang="en-US" sz="2000" dirty="0">
                  <a:ea typeface="Arial" charset="0"/>
                  <a:cs typeface="Arial"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64892" y="1733228"/>
                <a:ext cx="7510716" cy="4342094"/>
              </a:xfrm>
              <a:blipFill>
                <a:blip r:embed="rId3"/>
                <a:stretch>
                  <a:fillRect l="-1012" t="-2915"/>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a:xfrm>
            <a:off x="8077200" y="6356351"/>
            <a:ext cx="2133600" cy="365125"/>
          </a:xfrm>
        </p:spPr>
        <p:txBody>
          <a:bodyPr/>
          <a:lstStyle/>
          <a:p>
            <a:fld id="{FA32F8ED-EEB4-4D51-9E8E-3B145D9B9811}" type="slidenum">
              <a:rPr lang="en-US" smtClean="0"/>
              <a:pPr/>
              <a:t>50</a:t>
            </a:fld>
            <a:endParaRPr lang="en-US"/>
          </a:p>
        </p:txBody>
      </p:sp>
      <p:grpSp>
        <p:nvGrpSpPr>
          <p:cNvPr id="47" name="Group 46">
            <a:extLst>
              <a:ext uri="{FF2B5EF4-FFF2-40B4-BE49-F238E27FC236}">
                <a16:creationId xmlns:a16="http://schemas.microsoft.com/office/drawing/2014/main" id="{F0F08A8D-8332-7441-8709-B5F489A1D0A9}"/>
              </a:ext>
            </a:extLst>
          </p:cNvPr>
          <p:cNvGrpSpPr/>
          <p:nvPr/>
        </p:nvGrpSpPr>
        <p:grpSpPr>
          <a:xfrm>
            <a:off x="6090078" y="1241730"/>
            <a:ext cx="1891396" cy="1803944"/>
            <a:chOff x="8993270" y="1769840"/>
            <a:chExt cx="1891396" cy="1814723"/>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07583E3-677B-2145-A651-BA36C921AF62}"/>
                    </a:ext>
                  </a:extLst>
                </p:cNvPr>
                <p:cNvSpPr txBox="1"/>
                <p:nvPr/>
              </p:nvSpPr>
              <p:spPr>
                <a:xfrm>
                  <a:off x="9220204" y="3215231"/>
                  <a:ext cx="1664462" cy="369332"/>
                </a:xfrm>
                <a:prstGeom prst="rect">
                  <a:avLst/>
                </a:prstGeom>
                <a:noFill/>
              </p:spPr>
              <p:txBody>
                <a:bodyPr wrap="square" rtlCol="0">
                  <a:spAutoFit/>
                </a:bodyPr>
                <a:lstStyle/>
                <a:p>
                  <a14:m>
                    <m:oMath xmlns:m="http://schemas.openxmlformats.org/officeDocument/2006/math">
                      <m:r>
                        <a:rPr lang="en-US" i="1">
                          <a:latin typeface="Cambria Math" panose="02040503050406030204" pitchFamily="18" charset="0"/>
                          <a:ea typeface="Cambria Math" panose="02040503050406030204" pitchFamily="18" charset="0"/>
                          <a:cs typeface="Arial" charset="0"/>
                        </a:rPr>
                        <m:t>𝜋</m:t>
                      </m:r>
                      <m:r>
                        <a:rPr lang="en-US" i="1">
                          <a:latin typeface="Cambria Math" panose="02040503050406030204" pitchFamily="18" charset="0"/>
                          <a:ea typeface="Cambria Math" panose="02040503050406030204" pitchFamily="18" charset="0"/>
                          <a:cs typeface="Arial" charset="0"/>
                        </a:rPr>
                        <m:t> </m:t>
                      </m:r>
                    </m:oMath>
                  </a14:m>
                  <a:r>
                    <a:rPr lang="en-US" dirty="0">
                      <a:ea typeface="Arial" charset="0"/>
                      <a:cs typeface="Arial" charset="0"/>
                    </a:rPr>
                    <a:t> network</a:t>
                  </a:r>
                  <a:endParaRPr lang="en-US" dirty="0"/>
                </a:p>
              </p:txBody>
            </p:sp>
          </mc:Choice>
          <mc:Fallback xmlns="">
            <p:sp>
              <p:nvSpPr>
                <p:cNvPr id="7" name="TextBox 6">
                  <a:extLst>
                    <a:ext uri="{FF2B5EF4-FFF2-40B4-BE49-F238E27FC236}">
                      <a16:creationId xmlns:a16="http://schemas.microsoft.com/office/drawing/2014/main" id="{F07583E3-677B-2145-A651-BA36C921AF62}"/>
                    </a:ext>
                  </a:extLst>
                </p:cNvPr>
                <p:cNvSpPr txBox="1">
                  <a:spLocks noRot="1" noChangeAspect="1" noMove="1" noResize="1" noEditPoints="1" noAdjustHandles="1" noChangeArrowheads="1" noChangeShapeType="1" noTextEdit="1"/>
                </p:cNvSpPr>
                <p:nvPr/>
              </p:nvSpPr>
              <p:spPr>
                <a:xfrm>
                  <a:off x="9220204" y="3215231"/>
                  <a:ext cx="1664462" cy="369332"/>
                </a:xfrm>
                <a:prstGeom prst="rect">
                  <a:avLst/>
                </a:prstGeom>
                <a:blipFill>
                  <a:blip r:embed="rId4"/>
                  <a:stretch>
                    <a:fillRect t="-6452" b="-22581"/>
                  </a:stretch>
                </a:blipFill>
              </p:spPr>
              <p:txBody>
                <a:bodyPr/>
                <a:lstStyle/>
                <a:p>
                  <a:r>
                    <a:rPr lang="en-US">
                      <a:noFill/>
                    </a:rPr>
                    <a:t> </a:t>
                  </a:r>
                </a:p>
              </p:txBody>
            </p:sp>
          </mc:Fallback>
        </mc:AlternateContent>
        <p:grpSp>
          <p:nvGrpSpPr>
            <p:cNvPr id="9" name="Group 210">
              <a:extLst>
                <a:ext uri="{FF2B5EF4-FFF2-40B4-BE49-F238E27FC236}">
                  <a16:creationId xmlns:a16="http://schemas.microsoft.com/office/drawing/2014/main" id="{E5A1CE34-5A86-F547-8516-7F4C95660BEC}"/>
                </a:ext>
              </a:extLst>
            </p:cNvPr>
            <p:cNvGrpSpPr>
              <a:grpSpLocks/>
            </p:cNvGrpSpPr>
            <p:nvPr/>
          </p:nvGrpSpPr>
          <p:grpSpPr bwMode="auto">
            <a:xfrm>
              <a:off x="10109812" y="2252499"/>
              <a:ext cx="304800" cy="762000"/>
              <a:chOff x="3216" y="1728"/>
              <a:chExt cx="192" cy="480"/>
            </a:xfrm>
          </p:grpSpPr>
          <p:sp>
            <p:nvSpPr>
              <p:cNvPr id="10" name="Line 8">
                <a:extLst>
                  <a:ext uri="{FF2B5EF4-FFF2-40B4-BE49-F238E27FC236}">
                    <a16:creationId xmlns:a16="http://schemas.microsoft.com/office/drawing/2014/main" id="{5D2C142E-C41C-9B4F-B9B8-FE9903854150}"/>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 name="Line 9">
                <a:extLst>
                  <a:ext uri="{FF2B5EF4-FFF2-40B4-BE49-F238E27FC236}">
                    <a16:creationId xmlns:a16="http://schemas.microsoft.com/office/drawing/2014/main" id="{34390DCB-7AC8-9B4E-B4C7-F619210307B0}"/>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 name="Line 10">
                <a:extLst>
                  <a:ext uri="{FF2B5EF4-FFF2-40B4-BE49-F238E27FC236}">
                    <a16:creationId xmlns:a16="http://schemas.microsoft.com/office/drawing/2014/main" id="{9AECF7C5-EBD9-1C45-A2AA-90A6B954AE82}"/>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 name="Line 11">
                <a:extLst>
                  <a:ext uri="{FF2B5EF4-FFF2-40B4-BE49-F238E27FC236}">
                    <a16:creationId xmlns:a16="http://schemas.microsoft.com/office/drawing/2014/main" id="{ABD677D4-1AF9-0649-8380-8AF1519578F4}"/>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4" name="Group 220">
              <a:extLst>
                <a:ext uri="{FF2B5EF4-FFF2-40B4-BE49-F238E27FC236}">
                  <a16:creationId xmlns:a16="http://schemas.microsoft.com/office/drawing/2014/main" id="{8E865CC5-0E9E-2046-9D5D-22878734D970}"/>
                </a:ext>
              </a:extLst>
            </p:cNvPr>
            <p:cNvGrpSpPr>
              <a:grpSpLocks/>
            </p:cNvGrpSpPr>
            <p:nvPr/>
          </p:nvGrpSpPr>
          <p:grpSpPr bwMode="auto">
            <a:xfrm>
              <a:off x="10177672" y="2915476"/>
              <a:ext cx="152400" cy="304800"/>
              <a:chOff x="3264" y="3072"/>
              <a:chExt cx="96" cy="192"/>
            </a:xfrm>
          </p:grpSpPr>
          <p:sp>
            <p:nvSpPr>
              <p:cNvPr id="15" name="Line 17">
                <a:extLst>
                  <a:ext uri="{FF2B5EF4-FFF2-40B4-BE49-F238E27FC236}">
                    <a16:creationId xmlns:a16="http://schemas.microsoft.com/office/drawing/2014/main" id="{ACEDD83B-FE21-7943-91D5-E8B25050BEA4}"/>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 name="Freeform 18">
                <a:extLst>
                  <a:ext uri="{FF2B5EF4-FFF2-40B4-BE49-F238E27FC236}">
                    <a16:creationId xmlns:a16="http://schemas.microsoft.com/office/drawing/2014/main" id="{7CCAF074-9828-D84D-9C81-548B291C8362}"/>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7" name="Group 209">
              <a:extLst>
                <a:ext uri="{FF2B5EF4-FFF2-40B4-BE49-F238E27FC236}">
                  <a16:creationId xmlns:a16="http://schemas.microsoft.com/office/drawing/2014/main" id="{871EB2FB-7C53-9F45-BE75-D790A88644C3}"/>
                </a:ext>
              </a:extLst>
            </p:cNvPr>
            <p:cNvGrpSpPr>
              <a:grpSpLocks/>
            </p:cNvGrpSpPr>
            <p:nvPr/>
          </p:nvGrpSpPr>
          <p:grpSpPr bwMode="auto">
            <a:xfrm rot="16200000">
              <a:off x="9805012" y="1882862"/>
              <a:ext cx="152400" cy="762000"/>
              <a:chOff x="3935" y="1728"/>
              <a:chExt cx="96" cy="480"/>
            </a:xfrm>
          </p:grpSpPr>
          <p:sp>
            <p:nvSpPr>
              <p:cNvPr id="18" name="Arc 59">
                <a:extLst>
                  <a:ext uri="{FF2B5EF4-FFF2-40B4-BE49-F238E27FC236}">
                    <a16:creationId xmlns:a16="http://schemas.microsoft.com/office/drawing/2014/main" id="{E76EF83E-D114-CD4C-AB20-4CEEF5460645}"/>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 name="Arc 60">
                <a:extLst>
                  <a:ext uri="{FF2B5EF4-FFF2-40B4-BE49-F238E27FC236}">
                    <a16:creationId xmlns:a16="http://schemas.microsoft.com/office/drawing/2014/main" id="{98032239-F8F6-4A4D-B0D3-F7DCCAB1818D}"/>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 name="Arc 61">
                <a:extLst>
                  <a:ext uri="{FF2B5EF4-FFF2-40B4-BE49-F238E27FC236}">
                    <a16:creationId xmlns:a16="http://schemas.microsoft.com/office/drawing/2014/main" id="{877AB04C-8144-A842-A947-3A29AE778FB2}"/>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1" name="Arc 62">
                <a:extLst>
                  <a:ext uri="{FF2B5EF4-FFF2-40B4-BE49-F238E27FC236}">
                    <a16:creationId xmlns:a16="http://schemas.microsoft.com/office/drawing/2014/main" id="{DD78BBE3-E75C-AA45-9F47-5FCDE4FBDE7B}"/>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 name="Line 63">
                <a:extLst>
                  <a:ext uri="{FF2B5EF4-FFF2-40B4-BE49-F238E27FC236}">
                    <a16:creationId xmlns:a16="http://schemas.microsoft.com/office/drawing/2014/main" id="{CBE2910E-E23F-894F-B340-019931CCB9D3}"/>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 name="Line 64">
                <a:extLst>
                  <a:ext uri="{FF2B5EF4-FFF2-40B4-BE49-F238E27FC236}">
                    <a16:creationId xmlns:a16="http://schemas.microsoft.com/office/drawing/2014/main" id="{DF471BFF-974E-8945-8AC6-C8609E81BD8C}"/>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 name="Arc 65">
                <a:extLst>
                  <a:ext uri="{FF2B5EF4-FFF2-40B4-BE49-F238E27FC236}">
                    <a16:creationId xmlns:a16="http://schemas.microsoft.com/office/drawing/2014/main" id="{C9876643-C76F-634B-97AB-17E57256589D}"/>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 name="Arc 66">
                <a:extLst>
                  <a:ext uri="{FF2B5EF4-FFF2-40B4-BE49-F238E27FC236}">
                    <a16:creationId xmlns:a16="http://schemas.microsoft.com/office/drawing/2014/main" id="{549C5383-DD15-224F-94B4-990E0818423A}"/>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 name="Arc 67">
                <a:extLst>
                  <a:ext uri="{FF2B5EF4-FFF2-40B4-BE49-F238E27FC236}">
                    <a16:creationId xmlns:a16="http://schemas.microsoft.com/office/drawing/2014/main" id="{834F0254-29D7-A845-ABC8-1DBDCEF8DA81}"/>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 name="Arc 68">
                <a:extLst>
                  <a:ext uri="{FF2B5EF4-FFF2-40B4-BE49-F238E27FC236}">
                    <a16:creationId xmlns:a16="http://schemas.microsoft.com/office/drawing/2014/main" id="{9ACE952C-6875-2F41-A983-D5E07137E901}"/>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 name="Arc 69">
                <a:extLst>
                  <a:ext uri="{FF2B5EF4-FFF2-40B4-BE49-F238E27FC236}">
                    <a16:creationId xmlns:a16="http://schemas.microsoft.com/office/drawing/2014/main" id="{C30E9444-4DB1-564A-93A8-B4DD3E115268}"/>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 name="Arc 70">
                <a:extLst>
                  <a:ext uri="{FF2B5EF4-FFF2-40B4-BE49-F238E27FC236}">
                    <a16:creationId xmlns:a16="http://schemas.microsoft.com/office/drawing/2014/main" id="{45F119AE-5BC8-E04F-A5C5-34348CC98A50}"/>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 name="Arc 71">
                <a:extLst>
                  <a:ext uri="{FF2B5EF4-FFF2-40B4-BE49-F238E27FC236}">
                    <a16:creationId xmlns:a16="http://schemas.microsoft.com/office/drawing/2014/main" id="{84C86C5F-37C5-2B44-B018-E11D9BD1B071}"/>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31" name="Group 210">
              <a:extLst>
                <a:ext uri="{FF2B5EF4-FFF2-40B4-BE49-F238E27FC236}">
                  <a16:creationId xmlns:a16="http://schemas.microsoft.com/office/drawing/2014/main" id="{75D313CF-0C4F-C444-86DF-8CAFBC0A5782}"/>
                </a:ext>
              </a:extLst>
            </p:cNvPr>
            <p:cNvGrpSpPr>
              <a:grpSpLocks/>
            </p:cNvGrpSpPr>
            <p:nvPr/>
          </p:nvGrpSpPr>
          <p:grpSpPr bwMode="auto">
            <a:xfrm>
              <a:off x="9361064" y="2259126"/>
              <a:ext cx="304800" cy="762000"/>
              <a:chOff x="3216" y="1728"/>
              <a:chExt cx="192" cy="480"/>
            </a:xfrm>
          </p:grpSpPr>
          <p:sp>
            <p:nvSpPr>
              <p:cNvPr id="32" name="Line 8">
                <a:extLst>
                  <a:ext uri="{FF2B5EF4-FFF2-40B4-BE49-F238E27FC236}">
                    <a16:creationId xmlns:a16="http://schemas.microsoft.com/office/drawing/2014/main" id="{2AAB2646-DEC6-9949-868C-5FF70943A1F7}"/>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 name="Line 9">
                <a:extLst>
                  <a:ext uri="{FF2B5EF4-FFF2-40B4-BE49-F238E27FC236}">
                    <a16:creationId xmlns:a16="http://schemas.microsoft.com/office/drawing/2014/main" id="{638BB840-F4F0-0D4B-9CA6-08279B496682}"/>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 name="Line 10">
                <a:extLst>
                  <a:ext uri="{FF2B5EF4-FFF2-40B4-BE49-F238E27FC236}">
                    <a16:creationId xmlns:a16="http://schemas.microsoft.com/office/drawing/2014/main" id="{B6FC34A4-5377-F44A-AD33-F7FA291C6FB1}"/>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 name="Line 11">
                <a:extLst>
                  <a:ext uri="{FF2B5EF4-FFF2-40B4-BE49-F238E27FC236}">
                    <a16:creationId xmlns:a16="http://schemas.microsoft.com/office/drawing/2014/main" id="{21AC6BDF-18DF-CC4A-A230-7E8DCE1AA54B}"/>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6" name="Group 220">
              <a:extLst>
                <a:ext uri="{FF2B5EF4-FFF2-40B4-BE49-F238E27FC236}">
                  <a16:creationId xmlns:a16="http://schemas.microsoft.com/office/drawing/2014/main" id="{11915CCF-A3F2-1544-9635-87FF0FC77AA8}"/>
                </a:ext>
              </a:extLst>
            </p:cNvPr>
            <p:cNvGrpSpPr>
              <a:grpSpLocks/>
            </p:cNvGrpSpPr>
            <p:nvPr/>
          </p:nvGrpSpPr>
          <p:grpSpPr bwMode="auto">
            <a:xfrm>
              <a:off x="9428924" y="2922103"/>
              <a:ext cx="152400" cy="304800"/>
              <a:chOff x="3264" y="3072"/>
              <a:chExt cx="96" cy="192"/>
            </a:xfrm>
          </p:grpSpPr>
          <p:sp>
            <p:nvSpPr>
              <p:cNvPr id="37" name="Line 17">
                <a:extLst>
                  <a:ext uri="{FF2B5EF4-FFF2-40B4-BE49-F238E27FC236}">
                    <a16:creationId xmlns:a16="http://schemas.microsoft.com/office/drawing/2014/main" id="{3B47653E-6C8D-7240-BA84-D94AE385544B}"/>
                  </a:ext>
                </a:extLst>
              </p:cNvPr>
              <p:cNvSpPr>
                <a:spLocks noChangeAspect="1" noChangeShapeType="1"/>
              </p:cNvSpPr>
              <p:nvPr/>
            </p:nvSpPr>
            <p:spPr bwMode="auto">
              <a:xfrm>
                <a:off x="3319"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 name="Freeform 18">
                <a:extLst>
                  <a:ext uri="{FF2B5EF4-FFF2-40B4-BE49-F238E27FC236}">
                    <a16:creationId xmlns:a16="http://schemas.microsoft.com/office/drawing/2014/main" id="{5AB88BF3-2D53-1143-A5C6-EA99D99305A8}"/>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cxnSp>
          <p:nvCxnSpPr>
            <p:cNvPr id="39" name="Straight Connector 38">
              <a:extLst>
                <a:ext uri="{FF2B5EF4-FFF2-40B4-BE49-F238E27FC236}">
                  <a16:creationId xmlns:a16="http://schemas.microsoft.com/office/drawing/2014/main" id="{FB3B1201-E6FB-C440-9BEA-D06D3DB6597F}"/>
                </a:ext>
              </a:extLst>
            </p:cNvPr>
            <p:cNvCxnSpPr>
              <a:cxnSpLocks/>
            </p:cNvCxnSpPr>
            <p:nvPr/>
          </p:nvCxnSpPr>
          <p:spPr>
            <a:xfrm>
              <a:off x="10242336" y="2264275"/>
              <a:ext cx="37007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87A524EC-59E8-F749-BB94-8592E617C8F6}"/>
                </a:ext>
              </a:extLst>
            </p:cNvPr>
            <p:cNvSpPr>
              <a:spLocks noChangeAspect="1" noChangeArrowheads="1"/>
            </p:cNvSpPr>
            <p:nvPr/>
          </p:nvSpPr>
          <p:spPr bwMode="auto">
            <a:xfrm>
              <a:off x="9112402" y="2197751"/>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cxnSp>
          <p:nvCxnSpPr>
            <p:cNvPr id="42" name="Straight Connector 41">
              <a:extLst>
                <a:ext uri="{FF2B5EF4-FFF2-40B4-BE49-F238E27FC236}">
                  <a16:creationId xmlns:a16="http://schemas.microsoft.com/office/drawing/2014/main" id="{88B68C40-B3B9-1D4A-AF58-7B5411B7DD9E}"/>
                </a:ext>
              </a:extLst>
            </p:cNvPr>
            <p:cNvCxnSpPr>
              <a:cxnSpLocks/>
            </p:cNvCxnSpPr>
            <p:nvPr/>
          </p:nvCxnSpPr>
          <p:spPr>
            <a:xfrm>
              <a:off x="9175535" y="2270903"/>
              <a:ext cx="37007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769E51F0-A785-214D-912F-1F11496DC16B}"/>
                </a:ext>
              </a:extLst>
            </p:cNvPr>
            <p:cNvSpPr>
              <a:spLocks noChangeAspect="1" noChangeArrowheads="1"/>
            </p:cNvSpPr>
            <p:nvPr/>
          </p:nvSpPr>
          <p:spPr bwMode="auto">
            <a:xfrm>
              <a:off x="10590021" y="2204377"/>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44" name="TextBox 43">
              <a:extLst>
                <a:ext uri="{FF2B5EF4-FFF2-40B4-BE49-F238E27FC236}">
                  <a16:creationId xmlns:a16="http://schemas.microsoft.com/office/drawing/2014/main" id="{BD671838-533B-B644-B6F9-96708AA30B82}"/>
                </a:ext>
              </a:extLst>
            </p:cNvPr>
            <p:cNvSpPr txBox="1"/>
            <p:nvPr/>
          </p:nvSpPr>
          <p:spPr>
            <a:xfrm>
              <a:off x="9746274" y="1769840"/>
              <a:ext cx="402431" cy="338554"/>
            </a:xfrm>
            <a:prstGeom prst="rect">
              <a:avLst/>
            </a:prstGeom>
            <a:noFill/>
          </p:spPr>
          <p:txBody>
            <a:bodyPr wrap="square" rtlCol="0">
              <a:spAutoFit/>
            </a:bodyPr>
            <a:lstStyle/>
            <a:p>
              <a:r>
                <a:rPr lang="en-US" sz="1600" dirty="0"/>
                <a:t>X</a:t>
              </a:r>
              <a:r>
                <a:rPr lang="en-US" sz="1600" baseline="-25000" dirty="0"/>
                <a:t>2</a:t>
              </a:r>
            </a:p>
          </p:txBody>
        </p:sp>
        <p:sp>
          <p:nvSpPr>
            <p:cNvPr id="45" name="TextBox 44">
              <a:extLst>
                <a:ext uri="{FF2B5EF4-FFF2-40B4-BE49-F238E27FC236}">
                  <a16:creationId xmlns:a16="http://schemas.microsoft.com/office/drawing/2014/main" id="{5FB5670E-1499-894D-92C3-7A1083E32696}"/>
                </a:ext>
              </a:extLst>
            </p:cNvPr>
            <p:cNvSpPr txBox="1"/>
            <p:nvPr/>
          </p:nvSpPr>
          <p:spPr>
            <a:xfrm>
              <a:off x="10471551" y="2483772"/>
              <a:ext cx="413111" cy="338554"/>
            </a:xfrm>
            <a:prstGeom prst="rect">
              <a:avLst/>
            </a:prstGeom>
            <a:noFill/>
          </p:spPr>
          <p:txBody>
            <a:bodyPr wrap="square" rtlCol="0">
              <a:spAutoFit/>
            </a:bodyPr>
            <a:lstStyle/>
            <a:p>
              <a:r>
                <a:rPr lang="en-US" sz="1600" dirty="0"/>
                <a:t>X</a:t>
              </a:r>
              <a:r>
                <a:rPr lang="en-US" sz="1600" baseline="-25000" dirty="0"/>
                <a:t>3</a:t>
              </a:r>
            </a:p>
          </p:txBody>
        </p:sp>
        <p:sp>
          <p:nvSpPr>
            <p:cNvPr id="46" name="TextBox 45">
              <a:extLst>
                <a:ext uri="{FF2B5EF4-FFF2-40B4-BE49-F238E27FC236}">
                  <a16:creationId xmlns:a16="http://schemas.microsoft.com/office/drawing/2014/main" id="{CDAB384B-FB3A-C841-A945-CCABA597706C}"/>
                </a:ext>
              </a:extLst>
            </p:cNvPr>
            <p:cNvSpPr txBox="1"/>
            <p:nvPr/>
          </p:nvSpPr>
          <p:spPr>
            <a:xfrm>
              <a:off x="8993270" y="2482639"/>
              <a:ext cx="380455" cy="338554"/>
            </a:xfrm>
            <a:prstGeom prst="rect">
              <a:avLst/>
            </a:prstGeom>
            <a:noFill/>
          </p:spPr>
          <p:txBody>
            <a:bodyPr wrap="square" rtlCol="0">
              <a:spAutoFit/>
            </a:bodyPr>
            <a:lstStyle/>
            <a:p>
              <a:r>
                <a:rPr lang="en-US" sz="1600" dirty="0"/>
                <a:t>X</a:t>
              </a:r>
              <a:r>
                <a:rPr lang="en-US" sz="1600" baseline="-25000" dirty="0"/>
                <a:t>1</a:t>
              </a:r>
            </a:p>
          </p:txBody>
        </p:sp>
      </p:grpSp>
      <p:grpSp>
        <p:nvGrpSpPr>
          <p:cNvPr id="4" name="Group 3">
            <a:extLst>
              <a:ext uri="{FF2B5EF4-FFF2-40B4-BE49-F238E27FC236}">
                <a16:creationId xmlns:a16="http://schemas.microsoft.com/office/drawing/2014/main" id="{20F63434-650E-8A73-D344-0F033225C0A6}"/>
              </a:ext>
            </a:extLst>
          </p:cNvPr>
          <p:cNvGrpSpPr/>
          <p:nvPr/>
        </p:nvGrpSpPr>
        <p:grpSpPr>
          <a:xfrm>
            <a:off x="8002055" y="1285921"/>
            <a:ext cx="4075208" cy="2204739"/>
            <a:chOff x="8002055" y="1285921"/>
            <a:chExt cx="4075208" cy="2204739"/>
          </a:xfrm>
        </p:grpSpPr>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3F7E765D-AA97-354C-8DBC-97AE8ADDABDC}"/>
                    </a:ext>
                  </a:extLst>
                </p:cNvPr>
                <p:cNvSpPr txBox="1"/>
                <p:nvPr/>
              </p:nvSpPr>
              <p:spPr>
                <a:xfrm>
                  <a:off x="9130914" y="2979175"/>
                  <a:ext cx="1664462" cy="367138"/>
                </a:xfrm>
                <a:prstGeom prst="rect">
                  <a:avLst/>
                </a:prstGeom>
                <a:noFill/>
              </p:spPr>
              <p:txBody>
                <a:bodyPr wrap="square" rtlCol="0">
                  <a:spAutoFit/>
                </a:bodyPr>
                <a:lstStyle/>
                <a:p>
                  <a14:m>
                    <m:oMath xmlns:m="http://schemas.openxmlformats.org/officeDocument/2006/math">
                      <m:r>
                        <a:rPr lang="en-US" i="1">
                          <a:latin typeface="Cambria Math" panose="02040503050406030204" pitchFamily="18" charset="0"/>
                          <a:ea typeface="Cambria Math" panose="02040503050406030204" pitchFamily="18" charset="0"/>
                          <a:cs typeface="Arial" charset="0"/>
                        </a:rPr>
                        <m:t>𝜋</m:t>
                      </m:r>
                      <m:r>
                        <a:rPr lang="en-US" i="1">
                          <a:latin typeface="Cambria Math" panose="02040503050406030204" pitchFamily="18" charset="0"/>
                          <a:ea typeface="Cambria Math" panose="02040503050406030204" pitchFamily="18" charset="0"/>
                          <a:cs typeface="Arial" charset="0"/>
                        </a:rPr>
                        <m:t> </m:t>
                      </m:r>
                    </m:oMath>
                  </a14:m>
                  <a:r>
                    <a:rPr lang="en-US" dirty="0">
                      <a:ea typeface="Arial" charset="0"/>
                      <a:cs typeface="Arial" charset="0"/>
                    </a:rPr>
                    <a:t> equiv </a:t>
                  </a:r>
                  <a:endParaRPr lang="en-US" dirty="0"/>
                </a:p>
              </p:txBody>
            </p:sp>
          </mc:Choice>
          <mc:Fallback xmlns="">
            <p:sp>
              <p:nvSpPr>
                <p:cNvPr id="104" name="TextBox 103">
                  <a:extLst>
                    <a:ext uri="{FF2B5EF4-FFF2-40B4-BE49-F238E27FC236}">
                      <a16:creationId xmlns:a16="http://schemas.microsoft.com/office/drawing/2014/main" id="{3F7E765D-AA97-354C-8DBC-97AE8ADDABDC}"/>
                    </a:ext>
                  </a:extLst>
                </p:cNvPr>
                <p:cNvSpPr txBox="1">
                  <a:spLocks noRot="1" noChangeAspect="1" noMove="1" noResize="1" noEditPoints="1" noAdjustHandles="1" noChangeArrowheads="1" noChangeShapeType="1" noTextEdit="1"/>
                </p:cNvSpPr>
                <p:nvPr/>
              </p:nvSpPr>
              <p:spPr>
                <a:xfrm>
                  <a:off x="9130914" y="2979175"/>
                  <a:ext cx="1664462" cy="367138"/>
                </a:xfrm>
                <a:prstGeom prst="rect">
                  <a:avLst/>
                </a:prstGeom>
                <a:blipFill>
                  <a:blip r:embed="rId5"/>
                  <a:stretch>
                    <a:fillRect t="-6667" b="-26667"/>
                  </a:stretch>
                </a:blipFill>
              </p:spPr>
              <p:txBody>
                <a:bodyPr/>
                <a:lstStyle/>
                <a:p>
                  <a:r>
                    <a:rPr lang="en-US">
                      <a:noFill/>
                    </a:rPr>
                    <a:t> </a:t>
                  </a:r>
                </a:p>
              </p:txBody>
            </p:sp>
          </mc:Fallback>
        </mc:AlternateContent>
        <p:grpSp>
          <p:nvGrpSpPr>
            <p:cNvPr id="107" name="Group 209">
              <a:extLst>
                <a:ext uri="{FF2B5EF4-FFF2-40B4-BE49-F238E27FC236}">
                  <a16:creationId xmlns:a16="http://schemas.microsoft.com/office/drawing/2014/main" id="{9D66F581-C457-4549-951D-CC4183BE60D6}"/>
                </a:ext>
              </a:extLst>
            </p:cNvPr>
            <p:cNvGrpSpPr>
              <a:grpSpLocks/>
            </p:cNvGrpSpPr>
            <p:nvPr/>
          </p:nvGrpSpPr>
          <p:grpSpPr bwMode="auto">
            <a:xfrm rot="16200000">
              <a:off x="9518014" y="1396009"/>
              <a:ext cx="151495" cy="762000"/>
              <a:chOff x="3935" y="1728"/>
              <a:chExt cx="96" cy="480"/>
            </a:xfrm>
          </p:grpSpPr>
          <p:sp>
            <p:nvSpPr>
              <p:cNvPr id="123" name="Arc 59">
                <a:extLst>
                  <a:ext uri="{FF2B5EF4-FFF2-40B4-BE49-F238E27FC236}">
                    <a16:creationId xmlns:a16="http://schemas.microsoft.com/office/drawing/2014/main" id="{C4A4F748-DC95-8B42-A21C-67006B014593}"/>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4" name="Arc 60">
                <a:extLst>
                  <a:ext uri="{FF2B5EF4-FFF2-40B4-BE49-F238E27FC236}">
                    <a16:creationId xmlns:a16="http://schemas.microsoft.com/office/drawing/2014/main" id="{C619F5ED-3B8A-F84D-A06C-8DAB67585FED}"/>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5" name="Arc 61">
                <a:extLst>
                  <a:ext uri="{FF2B5EF4-FFF2-40B4-BE49-F238E27FC236}">
                    <a16:creationId xmlns:a16="http://schemas.microsoft.com/office/drawing/2014/main" id="{192A64D3-E2D5-834D-9EAF-0F94621FB26B}"/>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6" name="Arc 62">
                <a:extLst>
                  <a:ext uri="{FF2B5EF4-FFF2-40B4-BE49-F238E27FC236}">
                    <a16:creationId xmlns:a16="http://schemas.microsoft.com/office/drawing/2014/main" id="{FFCBAAEB-6A29-2646-9879-2DD76CFBDDB7}"/>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7" name="Line 63">
                <a:extLst>
                  <a:ext uri="{FF2B5EF4-FFF2-40B4-BE49-F238E27FC236}">
                    <a16:creationId xmlns:a16="http://schemas.microsoft.com/office/drawing/2014/main" id="{FFBECEC3-DB6A-524C-84CD-8025B3357F5D}"/>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 name="Line 64">
                <a:extLst>
                  <a:ext uri="{FF2B5EF4-FFF2-40B4-BE49-F238E27FC236}">
                    <a16:creationId xmlns:a16="http://schemas.microsoft.com/office/drawing/2014/main" id="{67C519F8-005D-094D-AADA-04CAD1A4CF9D}"/>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 name="Arc 65">
                <a:extLst>
                  <a:ext uri="{FF2B5EF4-FFF2-40B4-BE49-F238E27FC236}">
                    <a16:creationId xmlns:a16="http://schemas.microsoft.com/office/drawing/2014/main" id="{D14AEBF9-DB4B-204E-B10E-CBF7C0D77155}"/>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0" name="Arc 66">
                <a:extLst>
                  <a:ext uri="{FF2B5EF4-FFF2-40B4-BE49-F238E27FC236}">
                    <a16:creationId xmlns:a16="http://schemas.microsoft.com/office/drawing/2014/main" id="{B642C519-59B4-BB41-934D-2F961FF209AD}"/>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1" name="Arc 67">
                <a:extLst>
                  <a:ext uri="{FF2B5EF4-FFF2-40B4-BE49-F238E27FC236}">
                    <a16:creationId xmlns:a16="http://schemas.microsoft.com/office/drawing/2014/main" id="{4D62E358-33FB-E344-9631-F1D44DEADCAA}"/>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2" name="Arc 68">
                <a:extLst>
                  <a:ext uri="{FF2B5EF4-FFF2-40B4-BE49-F238E27FC236}">
                    <a16:creationId xmlns:a16="http://schemas.microsoft.com/office/drawing/2014/main" id="{19333911-2173-8344-A3D6-2F61DF1BE333}"/>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 name="Arc 69">
                <a:extLst>
                  <a:ext uri="{FF2B5EF4-FFF2-40B4-BE49-F238E27FC236}">
                    <a16:creationId xmlns:a16="http://schemas.microsoft.com/office/drawing/2014/main" id="{2BDC76F1-676B-6F4F-A838-C87C8AF7E2AF}"/>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4" name="Arc 70">
                <a:extLst>
                  <a:ext uri="{FF2B5EF4-FFF2-40B4-BE49-F238E27FC236}">
                    <a16:creationId xmlns:a16="http://schemas.microsoft.com/office/drawing/2014/main" id="{0B52F4C0-C076-1C41-9EE7-6831A33CD8BB}"/>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5" name="Arc 71">
                <a:extLst>
                  <a:ext uri="{FF2B5EF4-FFF2-40B4-BE49-F238E27FC236}">
                    <a16:creationId xmlns:a16="http://schemas.microsoft.com/office/drawing/2014/main" id="{23B45407-EB54-8249-9498-3D7FD43E5D4A}"/>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08" name="Group 210">
              <a:extLst>
                <a:ext uri="{FF2B5EF4-FFF2-40B4-BE49-F238E27FC236}">
                  <a16:creationId xmlns:a16="http://schemas.microsoft.com/office/drawing/2014/main" id="{92AD57E1-B438-6C43-A8DC-1A27553D65FE}"/>
                </a:ext>
              </a:extLst>
            </p:cNvPr>
            <p:cNvGrpSpPr>
              <a:grpSpLocks/>
            </p:cNvGrpSpPr>
            <p:nvPr/>
          </p:nvGrpSpPr>
          <p:grpSpPr bwMode="auto">
            <a:xfrm>
              <a:off x="9073613" y="1772301"/>
              <a:ext cx="304800" cy="757474"/>
              <a:chOff x="3216" y="1728"/>
              <a:chExt cx="192" cy="480"/>
            </a:xfrm>
          </p:grpSpPr>
          <p:sp>
            <p:nvSpPr>
              <p:cNvPr id="119" name="Line 8">
                <a:extLst>
                  <a:ext uri="{FF2B5EF4-FFF2-40B4-BE49-F238E27FC236}">
                    <a16:creationId xmlns:a16="http://schemas.microsoft.com/office/drawing/2014/main" id="{75DBE041-E91A-C541-8F69-B7C97AA2FF76}"/>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 name="Line 9">
                <a:extLst>
                  <a:ext uri="{FF2B5EF4-FFF2-40B4-BE49-F238E27FC236}">
                    <a16:creationId xmlns:a16="http://schemas.microsoft.com/office/drawing/2014/main" id="{3F9C0B80-C33F-3C44-ACDD-6585123201F6}"/>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 name="Line 10">
                <a:extLst>
                  <a:ext uri="{FF2B5EF4-FFF2-40B4-BE49-F238E27FC236}">
                    <a16:creationId xmlns:a16="http://schemas.microsoft.com/office/drawing/2014/main" id="{F10751BA-4666-DD4B-B88D-B3E41D34D34E}"/>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 name="Line 11">
                <a:extLst>
                  <a:ext uri="{FF2B5EF4-FFF2-40B4-BE49-F238E27FC236}">
                    <a16:creationId xmlns:a16="http://schemas.microsoft.com/office/drawing/2014/main" id="{30A2C5B2-5FD5-DB4B-A67F-748EE7689737}"/>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9" name="Group 220">
              <a:extLst>
                <a:ext uri="{FF2B5EF4-FFF2-40B4-BE49-F238E27FC236}">
                  <a16:creationId xmlns:a16="http://schemas.microsoft.com/office/drawing/2014/main" id="{9CE5632A-EA61-4E4B-BB7D-4CED3C87FE96}"/>
                </a:ext>
              </a:extLst>
            </p:cNvPr>
            <p:cNvGrpSpPr>
              <a:grpSpLocks/>
            </p:cNvGrpSpPr>
            <p:nvPr/>
          </p:nvGrpSpPr>
          <p:grpSpPr bwMode="auto">
            <a:xfrm>
              <a:off x="8476795" y="3187670"/>
              <a:ext cx="152400" cy="302990"/>
              <a:chOff x="3264" y="3072"/>
              <a:chExt cx="96" cy="192"/>
            </a:xfrm>
          </p:grpSpPr>
          <p:sp>
            <p:nvSpPr>
              <p:cNvPr id="117" name="Line 17">
                <a:extLst>
                  <a:ext uri="{FF2B5EF4-FFF2-40B4-BE49-F238E27FC236}">
                    <a16:creationId xmlns:a16="http://schemas.microsoft.com/office/drawing/2014/main" id="{E726C210-1FFB-174F-AEEB-FD41E57DA09B}"/>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8" name="Freeform 18">
                <a:extLst>
                  <a:ext uri="{FF2B5EF4-FFF2-40B4-BE49-F238E27FC236}">
                    <a16:creationId xmlns:a16="http://schemas.microsoft.com/office/drawing/2014/main" id="{C3AA002C-7DB5-E242-B052-9D5F1092625D}"/>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cxnSp>
          <p:nvCxnSpPr>
            <p:cNvPr id="112" name="Straight Connector 111">
              <a:extLst>
                <a:ext uri="{FF2B5EF4-FFF2-40B4-BE49-F238E27FC236}">
                  <a16:creationId xmlns:a16="http://schemas.microsoft.com/office/drawing/2014/main" id="{6712F362-D7A3-2144-BE07-764ED3B3E6CA}"/>
                </a:ext>
              </a:extLst>
            </p:cNvPr>
            <p:cNvCxnSpPr>
              <a:cxnSpLocks/>
            </p:cNvCxnSpPr>
            <p:nvPr/>
          </p:nvCxnSpPr>
          <p:spPr>
            <a:xfrm>
              <a:off x="8543481" y="1770153"/>
              <a:ext cx="7146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6BA3853E-E923-1540-96F4-C6CF42EBBE04}"/>
                    </a:ext>
                  </a:extLst>
                </p:cNvPr>
                <p:cNvSpPr txBox="1"/>
                <p:nvPr/>
              </p:nvSpPr>
              <p:spPr>
                <a:xfrm>
                  <a:off x="9458823" y="1285921"/>
                  <a:ext cx="402431" cy="333746"/>
                </a:xfrm>
                <a:prstGeom prst="rect">
                  <a:avLst/>
                </a:prstGeom>
                <a:noFill/>
              </p:spPr>
              <p:txBody>
                <a:bodyPr wrap="square" rtlCol="0">
                  <a:spAutoFit/>
                </a:bodyPr>
                <a:lstStyle/>
                <a:p>
                  <a:pPr/>
                  <a14:m>
                    <m:oMathPara xmlns:m="http://schemas.openxmlformats.org/officeDocument/2006/math">
                      <m:oMath>
                        <m:sSubSup>
                          <m:sSubSupPr>
                            <m:ctrlPr>
                              <a:rPr lang="en-US" sz="1600" i="1">
                                <a:latin typeface="Cambria Math" panose="02040503050406030204" pitchFamily="18" charset="0"/>
                                <a:cs typeface="Arial" charset="0"/>
                              </a:rPr>
                            </m:ctrlPr>
                          </m:sSubSupPr>
                          <m:e>
                            <m:r>
                              <a:rPr lang="en-US" sz="1600" i="1">
                                <a:latin typeface="Cambria Math" panose="02040503050406030204" pitchFamily="18" charset="0"/>
                                <a:cs typeface="Arial" charset="0"/>
                              </a:rPr>
                              <m:t>𝑋</m:t>
                            </m:r>
                          </m:e>
                          <m:sub>
                            <m:r>
                              <a:rPr lang="en-US" sz="1600" i="1">
                                <a:latin typeface="Cambria Math" panose="02040503050406030204" pitchFamily="18" charset="0"/>
                                <a:cs typeface="Arial" charset="0"/>
                              </a:rPr>
                              <m:t>2</m:t>
                            </m:r>
                          </m:sub>
                          <m:sup>
                            <m:r>
                              <a:rPr lang="en-US" sz="1600" i="1">
                                <a:latin typeface="Cambria Math" panose="02040503050406030204" pitchFamily="18" charset="0"/>
                                <a:cs typeface="Arial" charset="0"/>
                              </a:rPr>
                              <m:t>𝑎</m:t>
                            </m:r>
                          </m:sup>
                        </m:sSubSup>
                      </m:oMath>
                    </m:oMathPara>
                  </a14:m>
                  <a:endParaRPr lang="en-US" sz="1600" baseline="-25000" dirty="0"/>
                </a:p>
              </p:txBody>
            </p:sp>
          </mc:Choice>
          <mc:Fallback xmlns="">
            <p:sp>
              <p:nvSpPr>
                <p:cNvPr id="114" name="TextBox 113">
                  <a:extLst>
                    <a:ext uri="{FF2B5EF4-FFF2-40B4-BE49-F238E27FC236}">
                      <a16:creationId xmlns:a16="http://schemas.microsoft.com/office/drawing/2014/main" id="{6BA3853E-E923-1540-96F4-C6CF42EBBE04}"/>
                    </a:ext>
                  </a:extLst>
                </p:cNvPr>
                <p:cNvSpPr txBox="1">
                  <a:spLocks noRot="1" noChangeAspect="1" noMove="1" noResize="1" noEditPoints="1" noAdjustHandles="1" noChangeArrowheads="1" noChangeShapeType="1" noTextEdit="1"/>
                </p:cNvSpPr>
                <p:nvPr/>
              </p:nvSpPr>
              <p:spPr>
                <a:xfrm>
                  <a:off x="9458823" y="1285921"/>
                  <a:ext cx="402431" cy="333746"/>
                </a:xfrm>
                <a:prstGeom prst="rect">
                  <a:avLst/>
                </a:prstGeom>
                <a:blipFill>
                  <a:blip r:embed="rId6"/>
                  <a:stretch>
                    <a:fillRect/>
                  </a:stretch>
                </a:blipFill>
              </p:spPr>
              <p:txBody>
                <a:bodyPr/>
                <a:lstStyle/>
                <a:p>
                  <a:r>
                    <a:rPr lang="en-US">
                      <a:noFill/>
                    </a:rPr>
                    <a:t> </a:t>
                  </a:r>
                </a:p>
              </p:txBody>
            </p:sp>
          </mc:Fallback>
        </mc:AlternateContent>
        <p:sp>
          <p:nvSpPr>
            <p:cNvPr id="116" name="TextBox 115">
              <a:extLst>
                <a:ext uri="{FF2B5EF4-FFF2-40B4-BE49-F238E27FC236}">
                  <a16:creationId xmlns:a16="http://schemas.microsoft.com/office/drawing/2014/main" id="{4AE1ABB6-CE6F-7F43-B08D-30D62602AD3D}"/>
                </a:ext>
              </a:extLst>
            </p:cNvPr>
            <p:cNvSpPr txBox="1"/>
            <p:nvPr/>
          </p:nvSpPr>
          <p:spPr>
            <a:xfrm>
              <a:off x="8777259" y="1994486"/>
              <a:ext cx="380455" cy="336543"/>
            </a:xfrm>
            <a:prstGeom prst="rect">
              <a:avLst/>
            </a:prstGeom>
            <a:noFill/>
          </p:spPr>
          <p:txBody>
            <a:bodyPr wrap="square" rtlCol="0">
              <a:spAutoFit/>
            </a:bodyPr>
            <a:lstStyle/>
            <a:p>
              <a:r>
                <a:rPr lang="en-US" sz="1600" dirty="0"/>
                <a:t>X</a:t>
              </a:r>
              <a:r>
                <a:rPr lang="en-US" sz="1600" baseline="-25000" dirty="0"/>
                <a:t>1</a:t>
              </a:r>
            </a:p>
          </p:txBody>
        </p:sp>
        <p:sp>
          <p:nvSpPr>
            <p:cNvPr id="142" name="Freeform 12">
              <a:extLst>
                <a:ext uri="{FF2B5EF4-FFF2-40B4-BE49-F238E27FC236}">
                  <a16:creationId xmlns:a16="http://schemas.microsoft.com/office/drawing/2014/main" id="{FD8FC835-6F58-FE48-ABC7-9A359EB8FC3E}"/>
                </a:ext>
              </a:extLst>
            </p:cNvPr>
            <p:cNvSpPr>
              <a:spLocks noChangeAspect="1"/>
            </p:cNvSpPr>
            <p:nvPr/>
          </p:nvSpPr>
          <p:spPr bwMode="auto">
            <a:xfrm>
              <a:off x="8474454" y="1768351"/>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43" name="Group 207">
              <a:extLst>
                <a:ext uri="{FF2B5EF4-FFF2-40B4-BE49-F238E27FC236}">
                  <a16:creationId xmlns:a16="http://schemas.microsoft.com/office/drawing/2014/main" id="{62BE153C-D34D-CD47-9E77-D1B1B4FF3641}"/>
                </a:ext>
              </a:extLst>
            </p:cNvPr>
            <p:cNvGrpSpPr>
              <a:grpSpLocks/>
            </p:cNvGrpSpPr>
            <p:nvPr/>
          </p:nvGrpSpPr>
          <p:grpSpPr bwMode="auto">
            <a:xfrm>
              <a:off x="8398254" y="2502269"/>
              <a:ext cx="304800" cy="762000"/>
              <a:chOff x="4560" y="2400"/>
              <a:chExt cx="192" cy="480"/>
            </a:xfrm>
          </p:grpSpPr>
          <p:sp>
            <p:nvSpPr>
              <p:cNvPr id="144" name="Oval 111">
                <a:extLst>
                  <a:ext uri="{FF2B5EF4-FFF2-40B4-BE49-F238E27FC236}">
                    <a16:creationId xmlns:a16="http://schemas.microsoft.com/office/drawing/2014/main" id="{DAC943F7-31CB-214B-8920-75A4ACEC1554}"/>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145" name="Line 112">
                <a:extLst>
                  <a:ext uri="{FF2B5EF4-FFF2-40B4-BE49-F238E27FC236}">
                    <a16:creationId xmlns:a16="http://schemas.microsoft.com/office/drawing/2014/main" id="{3F642E19-0406-5F4C-BFCC-6A6E67F123C0}"/>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6" name="Line 113">
                <a:extLst>
                  <a:ext uri="{FF2B5EF4-FFF2-40B4-BE49-F238E27FC236}">
                    <a16:creationId xmlns:a16="http://schemas.microsoft.com/office/drawing/2014/main" id="{7E98DC25-0DE0-7D47-AB71-CCB93F7ACD3E}"/>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7" name="Line 114">
                <a:extLst>
                  <a:ext uri="{FF2B5EF4-FFF2-40B4-BE49-F238E27FC236}">
                    <a16:creationId xmlns:a16="http://schemas.microsoft.com/office/drawing/2014/main" id="{FED46AE1-BB10-5442-AA86-ABEA4C0C2C84}"/>
                  </a:ext>
                </a:extLst>
              </p:cNvPr>
              <p:cNvSpPr>
                <a:spLocks noChangeAspect="1" noChangeShapeType="1"/>
              </p:cNvSpPr>
              <p:nvPr/>
            </p:nvSpPr>
            <p:spPr bwMode="auto">
              <a:xfrm>
                <a:off x="4584" y="2496"/>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 name="Line 115">
                <a:extLst>
                  <a:ext uri="{FF2B5EF4-FFF2-40B4-BE49-F238E27FC236}">
                    <a16:creationId xmlns:a16="http://schemas.microsoft.com/office/drawing/2014/main" id="{E9D71076-0F2D-024A-BC31-0F1CBE795A63}"/>
                  </a:ext>
                </a:extLst>
              </p:cNvPr>
              <p:cNvSpPr>
                <a:spLocks noChangeAspect="1" noChangeShapeType="1"/>
              </p:cNvSpPr>
              <p:nvPr/>
            </p:nvSpPr>
            <p:spPr bwMode="auto">
              <a:xfrm>
                <a:off x="4608" y="2472"/>
                <a:ext cx="0" cy="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9" name="Line 116">
                <a:extLst>
                  <a:ext uri="{FF2B5EF4-FFF2-40B4-BE49-F238E27FC236}">
                    <a16:creationId xmlns:a16="http://schemas.microsoft.com/office/drawing/2014/main" id="{CA67A2FC-B9B2-4C46-A179-905C9F02C020}"/>
                  </a:ext>
                </a:extLst>
              </p:cNvPr>
              <p:cNvSpPr>
                <a:spLocks noChangeAspect="1" noChangeShapeType="1"/>
              </p:cNvSpPr>
              <p:nvPr/>
            </p:nvSpPr>
            <p:spPr bwMode="auto">
              <a:xfrm>
                <a:off x="4584" y="2784"/>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50" name="Group 117">
                <a:extLst>
                  <a:ext uri="{FF2B5EF4-FFF2-40B4-BE49-F238E27FC236}">
                    <a16:creationId xmlns:a16="http://schemas.microsoft.com/office/drawing/2014/main" id="{D09C560B-2033-9748-B644-1E682FA2111C}"/>
                  </a:ext>
                </a:extLst>
              </p:cNvPr>
              <p:cNvGrpSpPr>
                <a:grpSpLocks noChangeAspect="1"/>
              </p:cNvGrpSpPr>
              <p:nvPr/>
            </p:nvGrpSpPr>
            <p:grpSpPr bwMode="auto">
              <a:xfrm>
                <a:off x="4608" y="2592"/>
                <a:ext cx="96" cy="96"/>
                <a:chOff x="2929" y="3217"/>
                <a:chExt cx="383" cy="191"/>
              </a:xfrm>
            </p:grpSpPr>
            <p:sp>
              <p:nvSpPr>
                <p:cNvPr id="151" name="Arc 118">
                  <a:extLst>
                    <a:ext uri="{FF2B5EF4-FFF2-40B4-BE49-F238E27FC236}">
                      <a16:creationId xmlns:a16="http://schemas.microsoft.com/office/drawing/2014/main" id="{72FE13ED-A3B6-9045-834F-2C7DF90935EC}"/>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2" name="Arc 119">
                  <a:extLst>
                    <a:ext uri="{FF2B5EF4-FFF2-40B4-BE49-F238E27FC236}">
                      <a16:creationId xmlns:a16="http://schemas.microsoft.com/office/drawing/2014/main" id="{CA05F9DF-09FD-8E46-887B-D4B982996653}"/>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grpSp>
          <p:nvGrpSpPr>
            <p:cNvPr id="177" name="Group 220">
              <a:extLst>
                <a:ext uri="{FF2B5EF4-FFF2-40B4-BE49-F238E27FC236}">
                  <a16:creationId xmlns:a16="http://schemas.microsoft.com/office/drawing/2014/main" id="{EFD03F36-F830-7747-9DFC-DF11D9397514}"/>
                </a:ext>
              </a:extLst>
            </p:cNvPr>
            <p:cNvGrpSpPr>
              <a:grpSpLocks/>
            </p:cNvGrpSpPr>
            <p:nvPr/>
          </p:nvGrpSpPr>
          <p:grpSpPr bwMode="auto">
            <a:xfrm>
              <a:off x="9149459" y="2408423"/>
              <a:ext cx="152400" cy="302990"/>
              <a:chOff x="3264" y="3072"/>
              <a:chExt cx="96" cy="192"/>
            </a:xfrm>
          </p:grpSpPr>
          <p:sp>
            <p:nvSpPr>
              <p:cNvPr id="178" name="Line 17">
                <a:extLst>
                  <a:ext uri="{FF2B5EF4-FFF2-40B4-BE49-F238E27FC236}">
                    <a16:creationId xmlns:a16="http://schemas.microsoft.com/office/drawing/2014/main" id="{168B6A9E-94FF-584F-8002-4D5DEA319564}"/>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9" name="Freeform 18">
                <a:extLst>
                  <a:ext uri="{FF2B5EF4-FFF2-40B4-BE49-F238E27FC236}">
                    <a16:creationId xmlns:a16="http://schemas.microsoft.com/office/drawing/2014/main" id="{6A41F618-550D-FA4D-9DA0-1AD67AB04559}"/>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mc:AlternateContent xmlns:mc="http://schemas.openxmlformats.org/markup-compatibility/2006" xmlns:a14="http://schemas.microsoft.com/office/drawing/2010/main">
          <mc:Choice Requires="a14">
            <p:sp>
              <p:nvSpPr>
                <p:cNvPr id="180" name="TextBox 179">
                  <a:extLst>
                    <a:ext uri="{FF2B5EF4-FFF2-40B4-BE49-F238E27FC236}">
                      <a16:creationId xmlns:a16="http://schemas.microsoft.com/office/drawing/2014/main" id="{CE20B6D9-DF83-EE4C-8400-485CD8B31531}"/>
                    </a:ext>
                  </a:extLst>
                </p:cNvPr>
                <p:cNvSpPr txBox="1"/>
                <p:nvPr/>
              </p:nvSpPr>
              <p:spPr>
                <a:xfrm>
                  <a:off x="8002055" y="1884848"/>
                  <a:ext cx="408511"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𝑖𝑛</m:t>
                            </m:r>
                          </m:sub>
                        </m:sSub>
                      </m:oMath>
                    </m:oMathPara>
                  </a14:m>
                  <a:endParaRPr lang="en-US" dirty="0"/>
                </a:p>
              </p:txBody>
            </p:sp>
          </mc:Choice>
          <mc:Fallback xmlns="">
            <p:sp>
              <p:nvSpPr>
                <p:cNvPr id="180" name="TextBox 179">
                  <a:extLst>
                    <a:ext uri="{FF2B5EF4-FFF2-40B4-BE49-F238E27FC236}">
                      <a16:creationId xmlns:a16="http://schemas.microsoft.com/office/drawing/2014/main" id="{CE20B6D9-DF83-EE4C-8400-485CD8B31531}"/>
                    </a:ext>
                  </a:extLst>
                </p:cNvPr>
                <p:cNvSpPr txBox="1">
                  <a:spLocks noRot="1" noChangeAspect="1" noMove="1" noResize="1" noEditPoints="1" noAdjustHandles="1" noChangeArrowheads="1" noChangeShapeType="1" noTextEdit="1"/>
                </p:cNvSpPr>
                <p:nvPr/>
              </p:nvSpPr>
              <p:spPr>
                <a:xfrm>
                  <a:off x="8002055" y="1884848"/>
                  <a:ext cx="408511" cy="369332"/>
                </a:xfrm>
                <a:prstGeom prst="rect">
                  <a:avLst/>
                </a:prstGeom>
                <a:blipFill>
                  <a:blip r:embed="rId7"/>
                  <a:stretch>
                    <a:fillRect r="-12121"/>
                  </a:stretch>
                </a:blipFill>
              </p:spPr>
              <p:txBody>
                <a:bodyPr/>
                <a:lstStyle/>
                <a:p>
                  <a:r>
                    <a:rPr lang="en-US">
                      <a:noFill/>
                    </a:rPr>
                    <a:t> </a:t>
                  </a:r>
                </a:p>
              </p:txBody>
            </p:sp>
          </mc:Fallback>
        </mc:AlternateContent>
        <p:sp>
          <p:nvSpPr>
            <p:cNvPr id="181" name="Freeform 12">
              <a:extLst>
                <a:ext uri="{FF2B5EF4-FFF2-40B4-BE49-F238E27FC236}">
                  <a16:creationId xmlns:a16="http://schemas.microsoft.com/office/drawing/2014/main" id="{BFFCEB92-60FB-D146-8C31-6BEEDDB7204B}"/>
                </a:ext>
              </a:extLst>
            </p:cNvPr>
            <p:cNvSpPr>
              <a:spLocks noChangeAspect="1"/>
            </p:cNvSpPr>
            <p:nvPr/>
          </p:nvSpPr>
          <p:spPr bwMode="auto">
            <a:xfrm>
              <a:off x="9898442" y="1765173"/>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mc:AlternateContent xmlns:mc="http://schemas.openxmlformats.org/markup-compatibility/2006" xmlns:a14="http://schemas.microsoft.com/office/drawing/2010/main">
          <mc:Choice Requires="a14">
            <p:sp>
              <p:nvSpPr>
                <p:cNvPr id="182" name="TextBox 181">
                  <a:extLst>
                    <a:ext uri="{FF2B5EF4-FFF2-40B4-BE49-F238E27FC236}">
                      <a16:creationId xmlns:a16="http://schemas.microsoft.com/office/drawing/2014/main" id="{09BB895D-433C-F44E-AA31-3A2B1F8E6382}"/>
                    </a:ext>
                  </a:extLst>
                </p:cNvPr>
                <p:cNvSpPr txBox="1"/>
                <p:nvPr/>
              </p:nvSpPr>
              <p:spPr>
                <a:xfrm>
                  <a:off x="9554634" y="1951520"/>
                  <a:ext cx="408511"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rPr>
                          <m:t>𝑅</m:t>
                        </m:r>
                      </m:oMath>
                    </m:oMathPara>
                  </a14:m>
                  <a:endParaRPr lang="en-US" dirty="0"/>
                </a:p>
              </p:txBody>
            </p:sp>
          </mc:Choice>
          <mc:Fallback xmlns="">
            <p:sp>
              <p:nvSpPr>
                <p:cNvPr id="182" name="TextBox 181">
                  <a:extLst>
                    <a:ext uri="{FF2B5EF4-FFF2-40B4-BE49-F238E27FC236}">
                      <a16:creationId xmlns:a16="http://schemas.microsoft.com/office/drawing/2014/main" id="{09BB895D-433C-F44E-AA31-3A2B1F8E6382}"/>
                    </a:ext>
                  </a:extLst>
                </p:cNvPr>
                <p:cNvSpPr txBox="1">
                  <a:spLocks noRot="1" noChangeAspect="1" noMove="1" noResize="1" noEditPoints="1" noAdjustHandles="1" noChangeArrowheads="1" noChangeShapeType="1" noTextEdit="1"/>
                </p:cNvSpPr>
                <p:nvPr/>
              </p:nvSpPr>
              <p:spPr>
                <a:xfrm>
                  <a:off x="9554634" y="1951520"/>
                  <a:ext cx="408511" cy="369332"/>
                </a:xfrm>
                <a:prstGeom prst="rect">
                  <a:avLst/>
                </a:prstGeom>
                <a:blipFill>
                  <a:blip r:embed="rId8"/>
                  <a:stretch>
                    <a:fillRect/>
                  </a:stretch>
                </a:blipFill>
              </p:spPr>
              <p:txBody>
                <a:bodyPr/>
                <a:lstStyle/>
                <a:p>
                  <a:r>
                    <a:rPr lang="en-US">
                      <a:noFill/>
                    </a:rPr>
                    <a:t> </a:t>
                  </a:r>
                </a:p>
              </p:txBody>
            </p:sp>
          </mc:Fallback>
        </mc:AlternateContent>
        <p:grpSp>
          <p:nvGrpSpPr>
            <p:cNvPr id="183" name="Group 220">
              <a:extLst>
                <a:ext uri="{FF2B5EF4-FFF2-40B4-BE49-F238E27FC236}">
                  <a16:creationId xmlns:a16="http://schemas.microsoft.com/office/drawing/2014/main" id="{1AE57685-42C2-A847-849D-F5DA2EFED4DD}"/>
                </a:ext>
              </a:extLst>
            </p:cNvPr>
            <p:cNvGrpSpPr>
              <a:grpSpLocks/>
            </p:cNvGrpSpPr>
            <p:nvPr/>
          </p:nvGrpSpPr>
          <p:grpSpPr bwMode="auto">
            <a:xfrm>
              <a:off x="9900791" y="2468526"/>
              <a:ext cx="152400" cy="302990"/>
              <a:chOff x="3264" y="3072"/>
              <a:chExt cx="96" cy="192"/>
            </a:xfrm>
          </p:grpSpPr>
          <p:sp>
            <p:nvSpPr>
              <p:cNvPr id="184" name="Line 17">
                <a:extLst>
                  <a:ext uri="{FF2B5EF4-FFF2-40B4-BE49-F238E27FC236}">
                    <a16:creationId xmlns:a16="http://schemas.microsoft.com/office/drawing/2014/main" id="{882D177E-012E-8948-BD29-3525B76665B2}"/>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 name="Freeform 18">
                <a:extLst>
                  <a:ext uri="{FF2B5EF4-FFF2-40B4-BE49-F238E27FC236}">
                    <a16:creationId xmlns:a16="http://schemas.microsoft.com/office/drawing/2014/main" id="{29432271-2C94-704E-9E49-CA5D565B3667}"/>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87" name="Group 209">
              <a:extLst>
                <a:ext uri="{FF2B5EF4-FFF2-40B4-BE49-F238E27FC236}">
                  <a16:creationId xmlns:a16="http://schemas.microsoft.com/office/drawing/2014/main" id="{7EB7711E-EBAC-7F4A-963A-B02A3C42D00C}"/>
                </a:ext>
              </a:extLst>
            </p:cNvPr>
            <p:cNvGrpSpPr>
              <a:grpSpLocks/>
            </p:cNvGrpSpPr>
            <p:nvPr/>
          </p:nvGrpSpPr>
          <p:grpSpPr bwMode="auto">
            <a:xfrm rot="16200000">
              <a:off x="10912478" y="1376804"/>
              <a:ext cx="151495" cy="762000"/>
              <a:chOff x="3935" y="1728"/>
              <a:chExt cx="96" cy="480"/>
            </a:xfrm>
          </p:grpSpPr>
          <p:sp>
            <p:nvSpPr>
              <p:cNvPr id="188" name="Arc 59">
                <a:extLst>
                  <a:ext uri="{FF2B5EF4-FFF2-40B4-BE49-F238E27FC236}">
                    <a16:creationId xmlns:a16="http://schemas.microsoft.com/office/drawing/2014/main" id="{D26BCD68-5E7E-C343-8F5A-314957A10A80}"/>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9" name="Arc 60">
                <a:extLst>
                  <a:ext uri="{FF2B5EF4-FFF2-40B4-BE49-F238E27FC236}">
                    <a16:creationId xmlns:a16="http://schemas.microsoft.com/office/drawing/2014/main" id="{C8BCCBBE-8079-FB4F-80C3-AFE6B5091712}"/>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0" name="Arc 61">
                <a:extLst>
                  <a:ext uri="{FF2B5EF4-FFF2-40B4-BE49-F238E27FC236}">
                    <a16:creationId xmlns:a16="http://schemas.microsoft.com/office/drawing/2014/main" id="{056A53B2-C3C0-A34E-8B8F-CE69876D0758}"/>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1" name="Arc 62">
                <a:extLst>
                  <a:ext uri="{FF2B5EF4-FFF2-40B4-BE49-F238E27FC236}">
                    <a16:creationId xmlns:a16="http://schemas.microsoft.com/office/drawing/2014/main" id="{5F88C900-FBFE-854A-ACEC-E57005484E47}"/>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2" name="Line 63">
                <a:extLst>
                  <a:ext uri="{FF2B5EF4-FFF2-40B4-BE49-F238E27FC236}">
                    <a16:creationId xmlns:a16="http://schemas.microsoft.com/office/drawing/2014/main" id="{7FEE2773-3DA0-4E4E-83EA-63665CF8AAF7}"/>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3" name="Line 64">
                <a:extLst>
                  <a:ext uri="{FF2B5EF4-FFF2-40B4-BE49-F238E27FC236}">
                    <a16:creationId xmlns:a16="http://schemas.microsoft.com/office/drawing/2014/main" id="{D5870625-EEA0-0146-AB9B-FB384B3DE67E}"/>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 name="Arc 65">
                <a:extLst>
                  <a:ext uri="{FF2B5EF4-FFF2-40B4-BE49-F238E27FC236}">
                    <a16:creationId xmlns:a16="http://schemas.microsoft.com/office/drawing/2014/main" id="{6A4A1167-54F4-AA43-AA2D-F9A6C3ED32E3}"/>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5" name="Arc 66">
                <a:extLst>
                  <a:ext uri="{FF2B5EF4-FFF2-40B4-BE49-F238E27FC236}">
                    <a16:creationId xmlns:a16="http://schemas.microsoft.com/office/drawing/2014/main" id="{5B565B6C-794F-B049-A9F4-DBEEB85D3754}"/>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6" name="Arc 67">
                <a:extLst>
                  <a:ext uri="{FF2B5EF4-FFF2-40B4-BE49-F238E27FC236}">
                    <a16:creationId xmlns:a16="http://schemas.microsoft.com/office/drawing/2014/main" id="{E1953B8C-C528-A246-BCEF-17D8F3DDBBD4}"/>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7" name="Arc 68">
                <a:extLst>
                  <a:ext uri="{FF2B5EF4-FFF2-40B4-BE49-F238E27FC236}">
                    <a16:creationId xmlns:a16="http://schemas.microsoft.com/office/drawing/2014/main" id="{74896F76-788C-7E48-B2AC-DCF91ED329B7}"/>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8" name="Arc 69">
                <a:extLst>
                  <a:ext uri="{FF2B5EF4-FFF2-40B4-BE49-F238E27FC236}">
                    <a16:creationId xmlns:a16="http://schemas.microsoft.com/office/drawing/2014/main" id="{1D0A76BF-AC22-1842-928E-950C050F0E61}"/>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9" name="Arc 70">
                <a:extLst>
                  <a:ext uri="{FF2B5EF4-FFF2-40B4-BE49-F238E27FC236}">
                    <a16:creationId xmlns:a16="http://schemas.microsoft.com/office/drawing/2014/main" id="{7211D992-487E-1A40-8A92-5B4F715B02C8}"/>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0" name="Arc 71">
                <a:extLst>
                  <a:ext uri="{FF2B5EF4-FFF2-40B4-BE49-F238E27FC236}">
                    <a16:creationId xmlns:a16="http://schemas.microsoft.com/office/drawing/2014/main" id="{1ABCA586-B487-D24C-AE44-4FD84389915E}"/>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201" name="Group 210">
              <a:extLst>
                <a:ext uri="{FF2B5EF4-FFF2-40B4-BE49-F238E27FC236}">
                  <a16:creationId xmlns:a16="http://schemas.microsoft.com/office/drawing/2014/main" id="{A0A11854-8E03-EB47-95B4-1B70EA680429}"/>
                </a:ext>
              </a:extLst>
            </p:cNvPr>
            <p:cNvGrpSpPr>
              <a:grpSpLocks/>
            </p:cNvGrpSpPr>
            <p:nvPr/>
          </p:nvGrpSpPr>
          <p:grpSpPr bwMode="auto">
            <a:xfrm>
              <a:off x="11197701" y="1738958"/>
              <a:ext cx="304800" cy="757474"/>
              <a:chOff x="3216" y="1728"/>
              <a:chExt cx="192" cy="480"/>
            </a:xfrm>
          </p:grpSpPr>
          <p:sp>
            <p:nvSpPr>
              <p:cNvPr id="202" name="Line 8">
                <a:extLst>
                  <a:ext uri="{FF2B5EF4-FFF2-40B4-BE49-F238E27FC236}">
                    <a16:creationId xmlns:a16="http://schemas.microsoft.com/office/drawing/2014/main" id="{958C08BB-22D2-5749-BDEE-ADA2F205661B}"/>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3" name="Line 9">
                <a:extLst>
                  <a:ext uri="{FF2B5EF4-FFF2-40B4-BE49-F238E27FC236}">
                    <a16:creationId xmlns:a16="http://schemas.microsoft.com/office/drawing/2014/main" id="{2564A3E3-59B6-314E-84B3-57B03E1F0590}"/>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 name="Line 10">
                <a:extLst>
                  <a:ext uri="{FF2B5EF4-FFF2-40B4-BE49-F238E27FC236}">
                    <a16:creationId xmlns:a16="http://schemas.microsoft.com/office/drawing/2014/main" id="{EA977616-8EC3-2849-9037-B6ADDFFA5A33}"/>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 name="Line 11">
                <a:extLst>
                  <a:ext uri="{FF2B5EF4-FFF2-40B4-BE49-F238E27FC236}">
                    <a16:creationId xmlns:a16="http://schemas.microsoft.com/office/drawing/2014/main" id="{070F3C60-FFAF-6F4F-8221-7114B3634770}"/>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06" name="Group 220">
              <a:extLst>
                <a:ext uri="{FF2B5EF4-FFF2-40B4-BE49-F238E27FC236}">
                  <a16:creationId xmlns:a16="http://schemas.microsoft.com/office/drawing/2014/main" id="{4CFE44D6-546A-9E42-87E5-137DEA62532D}"/>
                </a:ext>
              </a:extLst>
            </p:cNvPr>
            <p:cNvGrpSpPr>
              <a:grpSpLocks/>
            </p:cNvGrpSpPr>
            <p:nvPr/>
          </p:nvGrpSpPr>
          <p:grpSpPr bwMode="auto">
            <a:xfrm>
              <a:off x="10529443" y="3168615"/>
              <a:ext cx="152400" cy="302990"/>
              <a:chOff x="3264" y="3072"/>
              <a:chExt cx="96" cy="192"/>
            </a:xfrm>
          </p:grpSpPr>
          <p:sp>
            <p:nvSpPr>
              <p:cNvPr id="207" name="Line 17">
                <a:extLst>
                  <a:ext uri="{FF2B5EF4-FFF2-40B4-BE49-F238E27FC236}">
                    <a16:creationId xmlns:a16="http://schemas.microsoft.com/office/drawing/2014/main" id="{3458A7DC-0386-3647-AEC8-755055120797}"/>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8" name="Freeform 18">
                <a:extLst>
                  <a:ext uri="{FF2B5EF4-FFF2-40B4-BE49-F238E27FC236}">
                    <a16:creationId xmlns:a16="http://schemas.microsoft.com/office/drawing/2014/main" id="{0F7C165A-E33A-524A-B634-2654E08E57D7}"/>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cxnSp>
          <p:nvCxnSpPr>
            <p:cNvPr id="209" name="Straight Connector 208">
              <a:extLst>
                <a:ext uri="{FF2B5EF4-FFF2-40B4-BE49-F238E27FC236}">
                  <a16:creationId xmlns:a16="http://schemas.microsoft.com/office/drawing/2014/main" id="{8E55868F-9B45-5143-9E90-600CAB5B081C}"/>
                </a:ext>
              </a:extLst>
            </p:cNvPr>
            <p:cNvCxnSpPr>
              <a:cxnSpLocks/>
            </p:cNvCxnSpPr>
            <p:nvPr/>
          </p:nvCxnSpPr>
          <p:spPr>
            <a:xfrm>
              <a:off x="11269620" y="1755651"/>
              <a:ext cx="7146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0" name="TextBox 209">
                  <a:extLst>
                    <a:ext uri="{FF2B5EF4-FFF2-40B4-BE49-F238E27FC236}">
                      <a16:creationId xmlns:a16="http://schemas.microsoft.com/office/drawing/2014/main" id="{CD84F845-8C15-4544-A11D-9F23FE8E6DD6}"/>
                    </a:ext>
                  </a:extLst>
                </p:cNvPr>
                <p:cNvSpPr txBox="1"/>
                <p:nvPr/>
              </p:nvSpPr>
              <p:spPr>
                <a:xfrm>
                  <a:off x="10768513" y="1295442"/>
                  <a:ext cx="402431" cy="348300"/>
                </a:xfrm>
                <a:prstGeom prst="rect">
                  <a:avLst/>
                </a:prstGeom>
                <a:noFill/>
              </p:spPr>
              <p:txBody>
                <a:bodyPr wrap="square" rtlCol="0">
                  <a:spAutoFit/>
                </a:bodyPr>
                <a:lstStyle/>
                <a:p>
                  <a:pPr/>
                  <a14:m>
                    <m:oMathPara xmlns:m="http://schemas.openxmlformats.org/officeDocument/2006/math">
                      <m:oMath>
                        <m:sSubSup>
                          <m:sSubSupPr>
                            <m:ctrlPr>
                              <a:rPr lang="en-US" sz="1600" i="1">
                                <a:latin typeface="Cambria Math" panose="02040503050406030204" pitchFamily="18" charset="0"/>
                                <a:cs typeface="Arial" charset="0"/>
                              </a:rPr>
                            </m:ctrlPr>
                          </m:sSubSupPr>
                          <m:e>
                            <m:r>
                              <a:rPr lang="en-US" sz="1600" i="1">
                                <a:latin typeface="Cambria Math" panose="02040503050406030204" pitchFamily="18" charset="0"/>
                                <a:cs typeface="Arial" charset="0"/>
                              </a:rPr>
                              <m:t>𝑋</m:t>
                            </m:r>
                          </m:e>
                          <m:sub>
                            <m:r>
                              <a:rPr lang="en-US" sz="1600" i="1">
                                <a:latin typeface="Cambria Math" panose="02040503050406030204" pitchFamily="18" charset="0"/>
                                <a:cs typeface="Arial" charset="0"/>
                              </a:rPr>
                              <m:t>2</m:t>
                            </m:r>
                          </m:sub>
                          <m:sup>
                            <m:r>
                              <a:rPr lang="en-US" sz="1600" b="0" i="1" smtClean="0">
                                <a:latin typeface="Cambria Math" panose="02040503050406030204" pitchFamily="18" charset="0"/>
                                <a:cs typeface="Arial" charset="0"/>
                              </a:rPr>
                              <m:t>𝑏</m:t>
                            </m:r>
                          </m:sup>
                        </m:sSubSup>
                      </m:oMath>
                    </m:oMathPara>
                  </a14:m>
                  <a:endParaRPr lang="en-US" sz="1600" baseline="-25000" dirty="0"/>
                </a:p>
              </p:txBody>
            </p:sp>
          </mc:Choice>
          <mc:Fallback xmlns="">
            <p:sp>
              <p:nvSpPr>
                <p:cNvPr id="210" name="TextBox 209">
                  <a:extLst>
                    <a:ext uri="{FF2B5EF4-FFF2-40B4-BE49-F238E27FC236}">
                      <a16:creationId xmlns:a16="http://schemas.microsoft.com/office/drawing/2014/main" id="{CD84F845-8C15-4544-A11D-9F23FE8E6DD6}"/>
                    </a:ext>
                  </a:extLst>
                </p:cNvPr>
                <p:cNvSpPr txBox="1">
                  <a:spLocks noRot="1" noChangeAspect="1" noMove="1" noResize="1" noEditPoints="1" noAdjustHandles="1" noChangeArrowheads="1" noChangeShapeType="1" noTextEdit="1"/>
                </p:cNvSpPr>
                <p:nvPr/>
              </p:nvSpPr>
              <p:spPr>
                <a:xfrm>
                  <a:off x="10768513" y="1295442"/>
                  <a:ext cx="402431" cy="348300"/>
                </a:xfrm>
                <a:prstGeom prst="rect">
                  <a:avLst/>
                </a:prstGeom>
                <a:blipFill>
                  <a:blip r:embed="rId9"/>
                  <a:stretch>
                    <a:fillRect/>
                  </a:stretch>
                </a:blipFill>
              </p:spPr>
              <p:txBody>
                <a:bodyPr/>
                <a:lstStyle/>
                <a:p>
                  <a:r>
                    <a:rPr lang="en-US">
                      <a:noFill/>
                    </a:rPr>
                    <a:t> </a:t>
                  </a:r>
                </a:p>
              </p:txBody>
            </p:sp>
          </mc:Fallback>
        </mc:AlternateContent>
        <p:sp>
          <p:nvSpPr>
            <p:cNvPr id="211" name="TextBox 210">
              <a:extLst>
                <a:ext uri="{FF2B5EF4-FFF2-40B4-BE49-F238E27FC236}">
                  <a16:creationId xmlns:a16="http://schemas.microsoft.com/office/drawing/2014/main" id="{74BBFA0B-DA47-D748-A145-0BF262F0DFF5}"/>
                </a:ext>
              </a:extLst>
            </p:cNvPr>
            <p:cNvSpPr txBox="1"/>
            <p:nvPr/>
          </p:nvSpPr>
          <p:spPr>
            <a:xfrm>
              <a:off x="10829907" y="1975431"/>
              <a:ext cx="380455" cy="336543"/>
            </a:xfrm>
            <a:prstGeom prst="rect">
              <a:avLst/>
            </a:prstGeom>
            <a:noFill/>
          </p:spPr>
          <p:txBody>
            <a:bodyPr wrap="square" rtlCol="0">
              <a:spAutoFit/>
            </a:bodyPr>
            <a:lstStyle/>
            <a:p>
              <a:r>
                <a:rPr lang="en-US" sz="1600" dirty="0"/>
                <a:t>X</a:t>
              </a:r>
              <a:r>
                <a:rPr lang="en-US" sz="1600" baseline="-25000" dirty="0"/>
                <a:t>3</a:t>
              </a:r>
            </a:p>
          </p:txBody>
        </p:sp>
        <p:sp>
          <p:nvSpPr>
            <p:cNvPr id="212" name="Freeform 12">
              <a:extLst>
                <a:ext uri="{FF2B5EF4-FFF2-40B4-BE49-F238E27FC236}">
                  <a16:creationId xmlns:a16="http://schemas.microsoft.com/office/drawing/2014/main" id="{F48638E3-E9DD-A843-9A77-E8595CCA9881}"/>
                </a:ext>
              </a:extLst>
            </p:cNvPr>
            <p:cNvSpPr>
              <a:spLocks noChangeAspect="1"/>
            </p:cNvSpPr>
            <p:nvPr/>
          </p:nvSpPr>
          <p:spPr bwMode="auto">
            <a:xfrm>
              <a:off x="10527102" y="1749296"/>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13" name="Group 207">
              <a:extLst>
                <a:ext uri="{FF2B5EF4-FFF2-40B4-BE49-F238E27FC236}">
                  <a16:creationId xmlns:a16="http://schemas.microsoft.com/office/drawing/2014/main" id="{7E27121B-C5E4-B24B-8654-AA160A23EAE1}"/>
                </a:ext>
              </a:extLst>
            </p:cNvPr>
            <p:cNvGrpSpPr>
              <a:grpSpLocks/>
            </p:cNvGrpSpPr>
            <p:nvPr/>
          </p:nvGrpSpPr>
          <p:grpSpPr bwMode="auto">
            <a:xfrm>
              <a:off x="10450902" y="2483214"/>
              <a:ext cx="304800" cy="762000"/>
              <a:chOff x="4560" y="2400"/>
              <a:chExt cx="192" cy="480"/>
            </a:xfrm>
          </p:grpSpPr>
          <p:sp>
            <p:nvSpPr>
              <p:cNvPr id="214" name="Oval 111">
                <a:extLst>
                  <a:ext uri="{FF2B5EF4-FFF2-40B4-BE49-F238E27FC236}">
                    <a16:creationId xmlns:a16="http://schemas.microsoft.com/office/drawing/2014/main" id="{4593E391-6BBA-B84F-A484-A80EDAA7C33F}"/>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215" name="Line 112">
                <a:extLst>
                  <a:ext uri="{FF2B5EF4-FFF2-40B4-BE49-F238E27FC236}">
                    <a16:creationId xmlns:a16="http://schemas.microsoft.com/office/drawing/2014/main" id="{B8D791B1-5AD2-CA41-990D-964982B15096}"/>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 name="Line 113">
                <a:extLst>
                  <a:ext uri="{FF2B5EF4-FFF2-40B4-BE49-F238E27FC236}">
                    <a16:creationId xmlns:a16="http://schemas.microsoft.com/office/drawing/2014/main" id="{A4EE0A03-9D49-7040-BBE9-82BD4B1594CF}"/>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7" name="Line 114">
                <a:extLst>
                  <a:ext uri="{FF2B5EF4-FFF2-40B4-BE49-F238E27FC236}">
                    <a16:creationId xmlns:a16="http://schemas.microsoft.com/office/drawing/2014/main" id="{164AB657-0EAA-2D4F-87E2-457C576F31C1}"/>
                  </a:ext>
                </a:extLst>
              </p:cNvPr>
              <p:cNvSpPr>
                <a:spLocks noChangeAspect="1" noChangeShapeType="1"/>
              </p:cNvSpPr>
              <p:nvPr/>
            </p:nvSpPr>
            <p:spPr bwMode="auto">
              <a:xfrm>
                <a:off x="4584" y="2496"/>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8" name="Line 115">
                <a:extLst>
                  <a:ext uri="{FF2B5EF4-FFF2-40B4-BE49-F238E27FC236}">
                    <a16:creationId xmlns:a16="http://schemas.microsoft.com/office/drawing/2014/main" id="{1639F4BB-663F-504A-8BE5-6067C58262A6}"/>
                  </a:ext>
                </a:extLst>
              </p:cNvPr>
              <p:cNvSpPr>
                <a:spLocks noChangeAspect="1" noChangeShapeType="1"/>
              </p:cNvSpPr>
              <p:nvPr/>
            </p:nvSpPr>
            <p:spPr bwMode="auto">
              <a:xfrm>
                <a:off x="4608" y="2472"/>
                <a:ext cx="0" cy="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9" name="Line 116">
                <a:extLst>
                  <a:ext uri="{FF2B5EF4-FFF2-40B4-BE49-F238E27FC236}">
                    <a16:creationId xmlns:a16="http://schemas.microsoft.com/office/drawing/2014/main" id="{1ED18ECE-C934-C24A-BFAF-2113136BD0B7}"/>
                  </a:ext>
                </a:extLst>
              </p:cNvPr>
              <p:cNvSpPr>
                <a:spLocks noChangeAspect="1" noChangeShapeType="1"/>
              </p:cNvSpPr>
              <p:nvPr/>
            </p:nvSpPr>
            <p:spPr bwMode="auto">
              <a:xfrm>
                <a:off x="4584" y="2784"/>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20" name="Group 117">
                <a:extLst>
                  <a:ext uri="{FF2B5EF4-FFF2-40B4-BE49-F238E27FC236}">
                    <a16:creationId xmlns:a16="http://schemas.microsoft.com/office/drawing/2014/main" id="{B28C57DD-4CD3-114E-892D-E0804086D0E4}"/>
                  </a:ext>
                </a:extLst>
              </p:cNvPr>
              <p:cNvGrpSpPr>
                <a:grpSpLocks noChangeAspect="1"/>
              </p:cNvGrpSpPr>
              <p:nvPr/>
            </p:nvGrpSpPr>
            <p:grpSpPr bwMode="auto">
              <a:xfrm>
                <a:off x="4608" y="2592"/>
                <a:ext cx="96" cy="96"/>
                <a:chOff x="2929" y="3217"/>
                <a:chExt cx="383" cy="191"/>
              </a:xfrm>
            </p:grpSpPr>
            <p:sp>
              <p:nvSpPr>
                <p:cNvPr id="221" name="Arc 118">
                  <a:extLst>
                    <a:ext uri="{FF2B5EF4-FFF2-40B4-BE49-F238E27FC236}">
                      <a16:creationId xmlns:a16="http://schemas.microsoft.com/office/drawing/2014/main" id="{C0DD0A54-3147-C54D-8DD4-75BCDB3C56F1}"/>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2" name="Arc 119">
                  <a:extLst>
                    <a:ext uri="{FF2B5EF4-FFF2-40B4-BE49-F238E27FC236}">
                      <a16:creationId xmlns:a16="http://schemas.microsoft.com/office/drawing/2014/main" id="{2675959F-09A7-D446-B54C-E30B6833F820}"/>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grpSp>
          <p:nvGrpSpPr>
            <p:cNvPr id="223" name="Group 220">
              <a:extLst>
                <a:ext uri="{FF2B5EF4-FFF2-40B4-BE49-F238E27FC236}">
                  <a16:creationId xmlns:a16="http://schemas.microsoft.com/office/drawing/2014/main" id="{794BD33B-E37E-C541-9DD6-4F86B99741BF}"/>
                </a:ext>
              </a:extLst>
            </p:cNvPr>
            <p:cNvGrpSpPr>
              <a:grpSpLocks/>
            </p:cNvGrpSpPr>
            <p:nvPr/>
          </p:nvGrpSpPr>
          <p:grpSpPr bwMode="auto">
            <a:xfrm>
              <a:off x="11273547" y="2375080"/>
              <a:ext cx="152400" cy="302990"/>
              <a:chOff x="3264" y="3072"/>
              <a:chExt cx="96" cy="192"/>
            </a:xfrm>
          </p:grpSpPr>
          <p:sp>
            <p:nvSpPr>
              <p:cNvPr id="224" name="Line 17">
                <a:extLst>
                  <a:ext uri="{FF2B5EF4-FFF2-40B4-BE49-F238E27FC236}">
                    <a16:creationId xmlns:a16="http://schemas.microsoft.com/office/drawing/2014/main" id="{6EFA0DCA-4116-384B-A18C-B3D6DEE12184}"/>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 name="Freeform 18">
                <a:extLst>
                  <a:ext uri="{FF2B5EF4-FFF2-40B4-BE49-F238E27FC236}">
                    <a16:creationId xmlns:a16="http://schemas.microsoft.com/office/drawing/2014/main" id="{BAAED6E1-7180-B949-A8EE-E6F88A20B779}"/>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mc:AlternateContent xmlns:mc="http://schemas.openxmlformats.org/markup-compatibility/2006" xmlns:a14="http://schemas.microsoft.com/office/drawing/2010/main">
          <mc:Choice Requires="a14">
            <p:sp>
              <p:nvSpPr>
                <p:cNvPr id="226" name="TextBox 225">
                  <a:extLst>
                    <a:ext uri="{FF2B5EF4-FFF2-40B4-BE49-F238E27FC236}">
                      <a16:creationId xmlns:a16="http://schemas.microsoft.com/office/drawing/2014/main" id="{31287F52-2A1E-2545-A173-3E70011E15DF}"/>
                    </a:ext>
                  </a:extLst>
                </p:cNvPr>
                <p:cNvSpPr txBox="1"/>
                <p:nvPr/>
              </p:nvSpPr>
              <p:spPr>
                <a:xfrm>
                  <a:off x="10169007" y="1937233"/>
                  <a:ext cx="408511"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rPr>
                          <m:t>𝑅</m:t>
                        </m:r>
                      </m:oMath>
                    </m:oMathPara>
                  </a14:m>
                  <a:endParaRPr lang="en-US" dirty="0"/>
                </a:p>
              </p:txBody>
            </p:sp>
          </mc:Choice>
          <mc:Fallback xmlns="">
            <p:sp>
              <p:nvSpPr>
                <p:cNvPr id="226" name="TextBox 225">
                  <a:extLst>
                    <a:ext uri="{FF2B5EF4-FFF2-40B4-BE49-F238E27FC236}">
                      <a16:creationId xmlns:a16="http://schemas.microsoft.com/office/drawing/2014/main" id="{31287F52-2A1E-2545-A173-3E70011E15DF}"/>
                    </a:ext>
                  </a:extLst>
                </p:cNvPr>
                <p:cNvSpPr txBox="1">
                  <a:spLocks noRot="1" noChangeAspect="1" noMove="1" noResize="1" noEditPoints="1" noAdjustHandles="1" noChangeArrowheads="1" noChangeShapeType="1" noTextEdit="1"/>
                </p:cNvSpPr>
                <p:nvPr/>
              </p:nvSpPr>
              <p:spPr>
                <a:xfrm>
                  <a:off x="10169007" y="1937233"/>
                  <a:ext cx="408511" cy="369332"/>
                </a:xfrm>
                <a:prstGeom prst="rect">
                  <a:avLst/>
                </a:prstGeom>
                <a:blipFill>
                  <a:blip r:embed="rId10"/>
                  <a:stretch>
                    <a:fillRect/>
                  </a:stretch>
                </a:blipFill>
              </p:spPr>
              <p:txBody>
                <a:bodyPr/>
                <a:lstStyle/>
                <a:p>
                  <a:r>
                    <a:rPr lang="en-US">
                      <a:noFill/>
                    </a:rPr>
                    <a:t> </a:t>
                  </a:r>
                </a:p>
              </p:txBody>
            </p:sp>
          </mc:Fallback>
        </mc:AlternateContent>
        <p:sp>
          <p:nvSpPr>
            <p:cNvPr id="227" name="Freeform 12">
              <a:extLst>
                <a:ext uri="{FF2B5EF4-FFF2-40B4-BE49-F238E27FC236}">
                  <a16:creationId xmlns:a16="http://schemas.microsoft.com/office/drawing/2014/main" id="{7DD355EA-AEB4-E04F-B8EA-423105D8B872}"/>
                </a:ext>
              </a:extLst>
            </p:cNvPr>
            <p:cNvSpPr>
              <a:spLocks noChangeAspect="1"/>
            </p:cNvSpPr>
            <p:nvPr/>
          </p:nvSpPr>
          <p:spPr bwMode="auto">
            <a:xfrm>
              <a:off x="11922514" y="1746118"/>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mc:AlternateContent xmlns:mc="http://schemas.openxmlformats.org/markup-compatibility/2006" xmlns:a14="http://schemas.microsoft.com/office/drawing/2010/main">
          <mc:Choice Requires="a14">
            <p:sp>
              <p:nvSpPr>
                <p:cNvPr id="228" name="TextBox 227">
                  <a:extLst>
                    <a:ext uri="{FF2B5EF4-FFF2-40B4-BE49-F238E27FC236}">
                      <a16:creationId xmlns:a16="http://schemas.microsoft.com/office/drawing/2014/main" id="{2D8F5BF4-A47A-E04A-A03B-213C01FF3F31}"/>
                    </a:ext>
                  </a:extLst>
                </p:cNvPr>
                <p:cNvSpPr txBox="1"/>
                <p:nvPr/>
              </p:nvSpPr>
              <p:spPr>
                <a:xfrm>
                  <a:off x="11435826" y="2118205"/>
                  <a:ext cx="408511"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𝑜𝑢𝑡</m:t>
                            </m:r>
                          </m:sub>
                        </m:sSub>
                      </m:oMath>
                    </m:oMathPara>
                  </a14:m>
                  <a:endParaRPr lang="en-US" dirty="0"/>
                </a:p>
              </p:txBody>
            </p:sp>
          </mc:Choice>
          <mc:Fallback xmlns="">
            <p:sp>
              <p:nvSpPr>
                <p:cNvPr id="228" name="TextBox 227">
                  <a:extLst>
                    <a:ext uri="{FF2B5EF4-FFF2-40B4-BE49-F238E27FC236}">
                      <a16:creationId xmlns:a16="http://schemas.microsoft.com/office/drawing/2014/main" id="{2D8F5BF4-A47A-E04A-A03B-213C01FF3F31}"/>
                    </a:ext>
                  </a:extLst>
                </p:cNvPr>
                <p:cNvSpPr txBox="1">
                  <a:spLocks noRot="1" noChangeAspect="1" noMove="1" noResize="1" noEditPoints="1" noAdjustHandles="1" noChangeArrowheads="1" noChangeShapeType="1" noTextEdit="1"/>
                </p:cNvSpPr>
                <p:nvPr/>
              </p:nvSpPr>
              <p:spPr>
                <a:xfrm>
                  <a:off x="11435826" y="2118205"/>
                  <a:ext cx="408511" cy="369332"/>
                </a:xfrm>
                <a:prstGeom prst="rect">
                  <a:avLst/>
                </a:prstGeom>
                <a:blipFill>
                  <a:blip r:embed="rId11"/>
                  <a:stretch>
                    <a:fillRect r="-39394"/>
                  </a:stretch>
                </a:blipFill>
              </p:spPr>
              <p:txBody>
                <a:bodyPr/>
                <a:lstStyle/>
                <a:p>
                  <a:r>
                    <a:rPr lang="en-US">
                      <a:noFill/>
                    </a:rPr>
                    <a:t> </a:t>
                  </a:r>
                </a:p>
              </p:txBody>
            </p:sp>
          </mc:Fallback>
        </mc:AlternateContent>
        <p:grpSp>
          <p:nvGrpSpPr>
            <p:cNvPr id="229" name="Group 220">
              <a:extLst>
                <a:ext uri="{FF2B5EF4-FFF2-40B4-BE49-F238E27FC236}">
                  <a16:creationId xmlns:a16="http://schemas.microsoft.com/office/drawing/2014/main" id="{F06CE5D7-288B-1141-9B55-04B231902F36}"/>
                </a:ext>
              </a:extLst>
            </p:cNvPr>
            <p:cNvGrpSpPr>
              <a:grpSpLocks/>
            </p:cNvGrpSpPr>
            <p:nvPr/>
          </p:nvGrpSpPr>
          <p:grpSpPr bwMode="auto">
            <a:xfrm>
              <a:off x="11924863" y="2449471"/>
              <a:ext cx="152400" cy="302990"/>
              <a:chOff x="3264" y="3072"/>
              <a:chExt cx="96" cy="192"/>
            </a:xfrm>
          </p:grpSpPr>
          <p:sp>
            <p:nvSpPr>
              <p:cNvPr id="230" name="Line 17">
                <a:extLst>
                  <a:ext uri="{FF2B5EF4-FFF2-40B4-BE49-F238E27FC236}">
                    <a16:creationId xmlns:a16="http://schemas.microsoft.com/office/drawing/2014/main" id="{EB375FD0-3C1D-B34C-9420-6F1F1670A6AB}"/>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1" name="Freeform 18">
                <a:extLst>
                  <a:ext uri="{FF2B5EF4-FFF2-40B4-BE49-F238E27FC236}">
                    <a16:creationId xmlns:a16="http://schemas.microsoft.com/office/drawing/2014/main" id="{FF517017-45AE-8747-8F9E-94296BB83B55}"/>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grpSp>
        <p:nvGrpSpPr>
          <p:cNvPr id="332" name="Group 331">
            <a:extLst>
              <a:ext uri="{FF2B5EF4-FFF2-40B4-BE49-F238E27FC236}">
                <a16:creationId xmlns:a16="http://schemas.microsoft.com/office/drawing/2014/main" id="{6AA8F36E-2CE9-374C-8EA9-7298CAAB9DD0}"/>
              </a:ext>
            </a:extLst>
          </p:cNvPr>
          <p:cNvGrpSpPr/>
          <p:nvPr/>
        </p:nvGrpSpPr>
        <p:grpSpPr>
          <a:xfrm>
            <a:off x="6188629" y="3566548"/>
            <a:ext cx="1922495" cy="2044302"/>
            <a:chOff x="6050082" y="3414146"/>
            <a:chExt cx="1922495" cy="2044302"/>
          </a:xfrm>
        </p:grpSpPr>
        <p:sp>
          <p:nvSpPr>
            <p:cNvPr id="8" name="TextBox 7">
              <a:extLst>
                <a:ext uri="{FF2B5EF4-FFF2-40B4-BE49-F238E27FC236}">
                  <a16:creationId xmlns:a16="http://schemas.microsoft.com/office/drawing/2014/main" id="{D1FE0EFC-69DD-C445-8A9D-1BFBCF698410}"/>
                </a:ext>
              </a:extLst>
            </p:cNvPr>
            <p:cNvSpPr txBox="1"/>
            <p:nvPr/>
          </p:nvSpPr>
          <p:spPr>
            <a:xfrm>
              <a:off x="6260466" y="5089116"/>
              <a:ext cx="1712111" cy="369332"/>
            </a:xfrm>
            <a:prstGeom prst="rect">
              <a:avLst/>
            </a:prstGeom>
            <a:noFill/>
          </p:spPr>
          <p:txBody>
            <a:bodyPr wrap="square" rtlCol="0">
              <a:spAutoFit/>
            </a:bodyPr>
            <a:lstStyle/>
            <a:p>
              <a:r>
                <a:rPr lang="en-US" dirty="0">
                  <a:ea typeface="Arial" charset="0"/>
                  <a:cs typeface="Arial" charset="0"/>
                </a:rPr>
                <a:t>T network</a:t>
              </a:r>
              <a:endParaRPr lang="en-US" dirty="0"/>
            </a:p>
          </p:txBody>
        </p:sp>
        <p:grpSp>
          <p:nvGrpSpPr>
            <p:cNvPr id="50" name="Group 210">
              <a:extLst>
                <a:ext uri="{FF2B5EF4-FFF2-40B4-BE49-F238E27FC236}">
                  <a16:creationId xmlns:a16="http://schemas.microsoft.com/office/drawing/2014/main" id="{1DA73868-4952-A64E-810D-C08FC82FAC5F}"/>
                </a:ext>
              </a:extLst>
            </p:cNvPr>
            <p:cNvGrpSpPr>
              <a:grpSpLocks/>
            </p:cNvGrpSpPr>
            <p:nvPr/>
          </p:nvGrpSpPr>
          <p:grpSpPr bwMode="auto">
            <a:xfrm>
              <a:off x="6707291" y="3918263"/>
              <a:ext cx="304800" cy="762000"/>
              <a:chOff x="3216" y="1728"/>
              <a:chExt cx="192" cy="480"/>
            </a:xfrm>
          </p:grpSpPr>
          <p:sp>
            <p:nvSpPr>
              <p:cNvPr id="65" name="Line 8">
                <a:extLst>
                  <a:ext uri="{FF2B5EF4-FFF2-40B4-BE49-F238E27FC236}">
                    <a16:creationId xmlns:a16="http://schemas.microsoft.com/office/drawing/2014/main" id="{176E83D9-16A5-294B-B35B-C481873F3352}"/>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 name="Line 9">
                <a:extLst>
                  <a:ext uri="{FF2B5EF4-FFF2-40B4-BE49-F238E27FC236}">
                    <a16:creationId xmlns:a16="http://schemas.microsoft.com/office/drawing/2014/main" id="{8FA383B3-6676-ED48-A1A8-6E4B9CC1CD2B}"/>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 name="Line 10">
                <a:extLst>
                  <a:ext uri="{FF2B5EF4-FFF2-40B4-BE49-F238E27FC236}">
                    <a16:creationId xmlns:a16="http://schemas.microsoft.com/office/drawing/2014/main" id="{886F9C70-CDF9-5540-8463-C48E8AAC6A37}"/>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 name="Line 11">
                <a:extLst>
                  <a:ext uri="{FF2B5EF4-FFF2-40B4-BE49-F238E27FC236}">
                    <a16:creationId xmlns:a16="http://schemas.microsoft.com/office/drawing/2014/main" id="{A5B208E6-C5BE-D349-AFC6-4918584CD443}"/>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2" name="Group 220">
              <a:extLst>
                <a:ext uri="{FF2B5EF4-FFF2-40B4-BE49-F238E27FC236}">
                  <a16:creationId xmlns:a16="http://schemas.microsoft.com/office/drawing/2014/main" id="{2DA491EB-F32C-4F47-BAD4-11CFB6BE7777}"/>
                </a:ext>
              </a:extLst>
            </p:cNvPr>
            <p:cNvGrpSpPr>
              <a:grpSpLocks/>
            </p:cNvGrpSpPr>
            <p:nvPr/>
          </p:nvGrpSpPr>
          <p:grpSpPr bwMode="auto">
            <a:xfrm>
              <a:off x="6789794" y="4604268"/>
              <a:ext cx="152400" cy="304800"/>
              <a:chOff x="3271" y="3072"/>
              <a:chExt cx="96" cy="192"/>
            </a:xfrm>
          </p:grpSpPr>
          <p:sp>
            <p:nvSpPr>
              <p:cNvPr id="63" name="Line 17">
                <a:extLst>
                  <a:ext uri="{FF2B5EF4-FFF2-40B4-BE49-F238E27FC236}">
                    <a16:creationId xmlns:a16="http://schemas.microsoft.com/office/drawing/2014/main" id="{F7A3E084-65E6-4D45-B1BE-81BCE361D847}"/>
                  </a:ext>
                </a:extLst>
              </p:cNvPr>
              <p:cNvSpPr>
                <a:spLocks noChangeAspect="1" noChangeShapeType="1"/>
              </p:cNvSpPr>
              <p:nvPr/>
            </p:nvSpPr>
            <p:spPr bwMode="auto">
              <a:xfrm>
                <a:off x="3319"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 name="Freeform 18">
                <a:extLst>
                  <a:ext uri="{FF2B5EF4-FFF2-40B4-BE49-F238E27FC236}">
                    <a16:creationId xmlns:a16="http://schemas.microsoft.com/office/drawing/2014/main" id="{E3117889-8464-2E43-BC9A-B804BDE2B658}"/>
                  </a:ext>
                </a:extLst>
              </p:cNvPr>
              <p:cNvSpPr>
                <a:spLocks noChangeAspect="1"/>
              </p:cNvSpPr>
              <p:nvPr/>
            </p:nvSpPr>
            <p:spPr bwMode="auto">
              <a:xfrm>
                <a:off x="3271"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970ED578-AF78-4F4B-84AB-5B6D15DC1887}"/>
                    </a:ext>
                  </a:extLst>
                </p:cNvPr>
                <p:cNvSpPr txBox="1"/>
                <p:nvPr/>
              </p:nvSpPr>
              <p:spPr>
                <a:xfrm>
                  <a:off x="6123659" y="3423666"/>
                  <a:ext cx="703061"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oMath>
                    </m:oMathPara>
                  </a14:m>
                  <a:endParaRPr lang="en-US" dirty="0"/>
                </a:p>
              </p:txBody>
            </p:sp>
          </mc:Choice>
          <mc:Fallback xmlns="">
            <p:sp>
              <p:nvSpPr>
                <p:cNvPr id="53" name="TextBox 52">
                  <a:extLst>
                    <a:ext uri="{FF2B5EF4-FFF2-40B4-BE49-F238E27FC236}">
                      <a16:creationId xmlns:a16="http://schemas.microsoft.com/office/drawing/2014/main" id="{970ED578-AF78-4F4B-84AB-5B6D15DC1887}"/>
                    </a:ext>
                  </a:extLst>
                </p:cNvPr>
                <p:cNvSpPr txBox="1">
                  <a:spLocks noRot="1" noChangeAspect="1" noMove="1" noResize="1" noEditPoints="1" noAdjustHandles="1" noChangeArrowheads="1" noChangeShapeType="1" noTextEdit="1"/>
                </p:cNvSpPr>
                <p:nvPr/>
              </p:nvSpPr>
              <p:spPr>
                <a:xfrm>
                  <a:off x="6123659" y="3423666"/>
                  <a:ext cx="703061" cy="369332"/>
                </a:xfrm>
                <a:prstGeom prst="rect">
                  <a:avLst/>
                </a:prstGeom>
                <a:blipFill>
                  <a:blip r:embed="rId12"/>
                  <a:stretch>
                    <a:fillRect/>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44130A24-42EF-024E-B2F8-E5E277D42794}"/>
                </a:ext>
              </a:extLst>
            </p:cNvPr>
            <p:cNvSpPr>
              <a:spLocks noChangeAspect="1" noChangeArrowheads="1"/>
            </p:cNvSpPr>
            <p:nvPr/>
          </p:nvSpPr>
          <p:spPr bwMode="auto">
            <a:xfrm>
              <a:off x="6050082" y="3860690"/>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74" name="Group 209">
              <a:extLst>
                <a:ext uri="{FF2B5EF4-FFF2-40B4-BE49-F238E27FC236}">
                  <a16:creationId xmlns:a16="http://schemas.microsoft.com/office/drawing/2014/main" id="{5299FB86-CDE4-F642-8471-6CCE19AC832F}"/>
                </a:ext>
              </a:extLst>
            </p:cNvPr>
            <p:cNvGrpSpPr>
              <a:grpSpLocks/>
            </p:cNvGrpSpPr>
            <p:nvPr/>
          </p:nvGrpSpPr>
          <p:grpSpPr bwMode="auto">
            <a:xfrm rot="16200000">
              <a:off x="6398050" y="3547763"/>
              <a:ext cx="152400" cy="762000"/>
              <a:chOff x="3935" y="1728"/>
              <a:chExt cx="96" cy="480"/>
            </a:xfrm>
          </p:grpSpPr>
          <p:sp>
            <p:nvSpPr>
              <p:cNvPr id="75" name="Arc 59">
                <a:extLst>
                  <a:ext uri="{FF2B5EF4-FFF2-40B4-BE49-F238E27FC236}">
                    <a16:creationId xmlns:a16="http://schemas.microsoft.com/office/drawing/2014/main" id="{D4579175-D958-2A48-AF13-8EE5E17D7CA2}"/>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6" name="Arc 60">
                <a:extLst>
                  <a:ext uri="{FF2B5EF4-FFF2-40B4-BE49-F238E27FC236}">
                    <a16:creationId xmlns:a16="http://schemas.microsoft.com/office/drawing/2014/main" id="{E9DA4F34-8862-5544-B606-5B8B432EECBD}"/>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7" name="Arc 61">
                <a:extLst>
                  <a:ext uri="{FF2B5EF4-FFF2-40B4-BE49-F238E27FC236}">
                    <a16:creationId xmlns:a16="http://schemas.microsoft.com/office/drawing/2014/main" id="{AF162812-F748-E54E-A0BA-B88BE5F0A8DB}"/>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8" name="Arc 62">
                <a:extLst>
                  <a:ext uri="{FF2B5EF4-FFF2-40B4-BE49-F238E27FC236}">
                    <a16:creationId xmlns:a16="http://schemas.microsoft.com/office/drawing/2014/main" id="{53E37903-1543-4B48-A131-5D96A21BE74C}"/>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9" name="Line 63">
                <a:extLst>
                  <a:ext uri="{FF2B5EF4-FFF2-40B4-BE49-F238E27FC236}">
                    <a16:creationId xmlns:a16="http://schemas.microsoft.com/office/drawing/2014/main" id="{5142C298-00D8-C74F-9170-DB06E4E668DD}"/>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 name="Line 64">
                <a:extLst>
                  <a:ext uri="{FF2B5EF4-FFF2-40B4-BE49-F238E27FC236}">
                    <a16:creationId xmlns:a16="http://schemas.microsoft.com/office/drawing/2014/main" id="{A102327E-C7F0-0B4F-80C5-0393E6E5A357}"/>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 name="Arc 65">
                <a:extLst>
                  <a:ext uri="{FF2B5EF4-FFF2-40B4-BE49-F238E27FC236}">
                    <a16:creationId xmlns:a16="http://schemas.microsoft.com/office/drawing/2014/main" id="{40D53550-BD33-DB42-9137-4ADECA337018}"/>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2" name="Arc 66">
                <a:extLst>
                  <a:ext uri="{FF2B5EF4-FFF2-40B4-BE49-F238E27FC236}">
                    <a16:creationId xmlns:a16="http://schemas.microsoft.com/office/drawing/2014/main" id="{B8B50EEC-F0E6-A948-8F1B-32D1FD97B514}"/>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3" name="Arc 67">
                <a:extLst>
                  <a:ext uri="{FF2B5EF4-FFF2-40B4-BE49-F238E27FC236}">
                    <a16:creationId xmlns:a16="http://schemas.microsoft.com/office/drawing/2014/main" id="{C562F6D0-2673-5C42-9080-A5757F51CD46}"/>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4" name="Arc 68">
                <a:extLst>
                  <a:ext uri="{FF2B5EF4-FFF2-40B4-BE49-F238E27FC236}">
                    <a16:creationId xmlns:a16="http://schemas.microsoft.com/office/drawing/2014/main" id="{311CF7D6-AFFF-C44B-8933-CF79A01CC4F2}"/>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5" name="Arc 69">
                <a:extLst>
                  <a:ext uri="{FF2B5EF4-FFF2-40B4-BE49-F238E27FC236}">
                    <a16:creationId xmlns:a16="http://schemas.microsoft.com/office/drawing/2014/main" id="{7E4906B2-C8DB-8F4D-832C-B3F0F92E2EA3}"/>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6" name="Arc 70">
                <a:extLst>
                  <a:ext uri="{FF2B5EF4-FFF2-40B4-BE49-F238E27FC236}">
                    <a16:creationId xmlns:a16="http://schemas.microsoft.com/office/drawing/2014/main" id="{9B2D2D95-48C4-AD42-8426-37C50CE8ACE7}"/>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7" name="Arc 71">
                <a:extLst>
                  <a:ext uri="{FF2B5EF4-FFF2-40B4-BE49-F238E27FC236}">
                    <a16:creationId xmlns:a16="http://schemas.microsoft.com/office/drawing/2014/main" id="{ACA9DACE-CAD6-6A4C-8170-8DFDB15E5CE7}"/>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88" name="Group 209">
              <a:extLst>
                <a:ext uri="{FF2B5EF4-FFF2-40B4-BE49-F238E27FC236}">
                  <a16:creationId xmlns:a16="http://schemas.microsoft.com/office/drawing/2014/main" id="{129EB279-227C-A542-800D-1B4AFBDD4F9F}"/>
                </a:ext>
              </a:extLst>
            </p:cNvPr>
            <p:cNvGrpSpPr>
              <a:grpSpLocks/>
            </p:cNvGrpSpPr>
            <p:nvPr/>
          </p:nvGrpSpPr>
          <p:grpSpPr bwMode="auto">
            <a:xfrm rot="16200000">
              <a:off x="7146797" y="3554391"/>
              <a:ext cx="152400" cy="762000"/>
              <a:chOff x="3935" y="1728"/>
              <a:chExt cx="96" cy="480"/>
            </a:xfrm>
          </p:grpSpPr>
          <p:sp>
            <p:nvSpPr>
              <p:cNvPr id="89" name="Arc 59">
                <a:extLst>
                  <a:ext uri="{FF2B5EF4-FFF2-40B4-BE49-F238E27FC236}">
                    <a16:creationId xmlns:a16="http://schemas.microsoft.com/office/drawing/2014/main" id="{E958235A-E1CC-074C-AD17-1493C569FDAE}"/>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0" name="Arc 60">
                <a:extLst>
                  <a:ext uri="{FF2B5EF4-FFF2-40B4-BE49-F238E27FC236}">
                    <a16:creationId xmlns:a16="http://schemas.microsoft.com/office/drawing/2014/main" id="{746BAC1E-108A-014E-84B8-7D3DB325B22D}"/>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1" name="Arc 61">
                <a:extLst>
                  <a:ext uri="{FF2B5EF4-FFF2-40B4-BE49-F238E27FC236}">
                    <a16:creationId xmlns:a16="http://schemas.microsoft.com/office/drawing/2014/main" id="{45EA9168-122E-7747-BFA7-1DC89B8685FD}"/>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 name="Arc 62">
                <a:extLst>
                  <a:ext uri="{FF2B5EF4-FFF2-40B4-BE49-F238E27FC236}">
                    <a16:creationId xmlns:a16="http://schemas.microsoft.com/office/drawing/2014/main" id="{F1DD5BA3-79B4-F049-9034-4165B670FCF7}"/>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3" name="Line 63">
                <a:extLst>
                  <a:ext uri="{FF2B5EF4-FFF2-40B4-BE49-F238E27FC236}">
                    <a16:creationId xmlns:a16="http://schemas.microsoft.com/office/drawing/2014/main" id="{5DCD55D8-7770-5742-A680-4A7DEB4C86CE}"/>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 name="Line 64">
                <a:extLst>
                  <a:ext uri="{FF2B5EF4-FFF2-40B4-BE49-F238E27FC236}">
                    <a16:creationId xmlns:a16="http://schemas.microsoft.com/office/drawing/2014/main" id="{DBEA0BE6-610E-8043-BEFB-2D31537F8DE9}"/>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 name="Arc 65">
                <a:extLst>
                  <a:ext uri="{FF2B5EF4-FFF2-40B4-BE49-F238E27FC236}">
                    <a16:creationId xmlns:a16="http://schemas.microsoft.com/office/drawing/2014/main" id="{84181C01-932D-6F43-BBEC-6C2124BC95FE}"/>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6" name="Arc 66">
                <a:extLst>
                  <a:ext uri="{FF2B5EF4-FFF2-40B4-BE49-F238E27FC236}">
                    <a16:creationId xmlns:a16="http://schemas.microsoft.com/office/drawing/2014/main" id="{D3A0685F-6D1A-EE41-923A-E6181E17815A}"/>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7" name="Arc 67">
                <a:extLst>
                  <a:ext uri="{FF2B5EF4-FFF2-40B4-BE49-F238E27FC236}">
                    <a16:creationId xmlns:a16="http://schemas.microsoft.com/office/drawing/2014/main" id="{59C8D862-2F84-034B-8126-D10632889291}"/>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8" name="Arc 68">
                <a:extLst>
                  <a:ext uri="{FF2B5EF4-FFF2-40B4-BE49-F238E27FC236}">
                    <a16:creationId xmlns:a16="http://schemas.microsoft.com/office/drawing/2014/main" id="{ECC7C29E-BCD9-D74F-82D8-8B997E2BA142}"/>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9" name="Arc 69">
                <a:extLst>
                  <a:ext uri="{FF2B5EF4-FFF2-40B4-BE49-F238E27FC236}">
                    <a16:creationId xmlns:a16="http://schemas.microsoft.com/office/drawing/2014/main" id="{3440C88D-08B3-9847-AC7C-29C61CE77FA8}"/>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0" name="Arc 70">
                <a:extLst>
                  <a:ext uri="{FF2B5EF4-FFF2-40B4-BE49-F238E27FC236}">
                    <a16:creationId xmlns:a16="http://schemas.microsoft.com/office/drawing/2014/main" id="{AFE1AB17-2CC6-1341-96EC-1B19D588B562}"/>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1" name="Arc 71">
                <a:extLst>
                  <a:ext uri="{FF2B5EF4-FFF2-40B4-BE49-F238E27FC236}">
                    <a16:creationId xmlns:a16="http://schemas.microsoft.com/office/drawing/2014/main" id="{1CF5D75E-8D85-9A4C-9DF8-A982809C9ED4}"/>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mc:AlternateContent xmlns:mc="http://schemas.openxmlformats.org/markup-compatibility/2006" xmlns:a14="http://schemas.microsoft.com/office/drawing/2010/main">
          <mc:Choice Requires="a14">
            <p:sp>
              <p:nvSpPr>
                <p:cNvPr id="325" name="TextBox 324">
                  <a:extLst>
                    <a:ext uri="{FF2B5EF4-FFF2-40B4-BE49-F238E27FC236}">
                      <a16:creationId xmlns:a16="http://schemas.microsoft.com/office/drawing/2014/main" id="{DF1B69A3-7D95-2E45-BD37-47EB8FBDCE29}"/>
                    </a:ext>
                  </a:extLst>
                </p:cNvPr>
                <p:cNvSpPr txBox="1"/>
                <p:nvPr/>
              </p:nvSpPr>
              <p:spPr>
                <a:xfrm>
                  <a:off x="6170375" y="4237249"/>
                  <a:ext cx="672033"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oMath>
                    </m:oMathPara>
                  </a14:m>
                  <a:endParaRPr lang="en-US" dirty="0"/>
                </a:p>
              </p:txBody>
            </p:sp>
          </mc:Choice>
          <mc:Fallback xmlns="">
            <p:sp>
              <p:nvSpPr>
                <p:cNvPr id="325" name="TextBox 324">
                  <a:extLst>
                    <a:ext uri="{FF2B5EF4-FFF2-40B4-BE49-F238E27FC236}">
                      <a16:creationId xmlns:a16="http://schemas.microsoft.com/office/drawing/2014/main" id="{DF1B69A3-7D95-2E45-BD37-47EB8FBDCE29}"/>
                    </a:ext>
                  </a:extLst>
                </p:cNvPr>
                <p:cNvSpPr txBox="1">
                  <a:spLocks noRot="1" noChangeAspect="1" noMove="1" noResize="1" noEditPoints="1" noAdjustHandles="1" noChangeArrowheads="1" noChangeShapeType="1" noTextEdit="1"/>
                </p:cNvSpPr>
                <p:nvPr/>
              </p:nvSpPr>
              <p:spPr>
                <a:xfrm>
                  <a:off x="6170375" y="4237249"/>
                  <a:ext cx="672033"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6" name="TextBox 325">
                  <a:extLst>
                    <a:ext uri="{FF2B5EF4-FFF2-40B4-BE49-F238E27FC236}">
                      <a16:creationId xmlns:a16="http://schemas.microsoft.com/office/drawing/2014/main" id="{0C76A496-A3AB-124C-B425-5AFD5906CB09}"/>
                    </a:ext>
                  </a:extLst>
                </p:cNvPr>
                <p:cNvSpPr txBox="1"/>
                <p:nvPr/>
              </p:nvSpPr>
              <p:spPr>
                <a:xfrm>
                  <a:off x="6946581" y="3414146"/>
                  <a:ext cx="672033"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3</m:t>
                            </m:r>
                          </m:sub>
                        </m:sSub>
                      </m:oMath>
                    </m:oMathPara>
                  </a14:m>
                  <a:endParaRPr lang="en-US" dirty="0"/>
                </a:p>
              </p:txBody>
            </p:sp>
          </mc:Choice>
          <mc:Fallback xmlns="">
            <p:sp>
              <p:nvSpPr>
                <p:cNvPr id="326" name="TextBox 325">
                  <a:extLst>
                    <a:ext uri="{FF2B5EF4-FFF2-40B4-BE49-F238E27FC236}">
                      <a16:creationId xmlns:a16="http://schemas.microsoft.com/office/drawing/2014/main" id="{0C76A496-A3AB-124C-B425-5AFD5906CB09}"/>
                    </a:ext>
                  </a:extLst>
                </p:cNvPr>
                <p:cNvSpPr txBox="1">
                  <a:spLocks noRot="1" noChangeAspect="1" noMove="1" noResize="1" noEditPoints="1" noAdjustHandles="1" noChangeArrowheads="1" noChangeShapeType="1" noTextEdit="1"/>
                </p:cNvSpPr>
                <p:nvPr/>
              </p:nvSpPr>
              <p:spPr>
                <a:xfrm>
                  <a:off x="6946581" y="3414146"/>
                  <a:ext cx="672033" cy="369332"/>
                </a:xfrm>
                <a:prstGeom prst="rect">
                  <a:avLst/>
                </a:prstGeom>
                <a:blipFill>
                  <a:blip r:embed="rId14"/>
                  <a:stretch>
                    <a:fillRect/>
                  </a:stretch>
                </a:blipFill>
              </p:spPr>
              <p:txBody>
                <a:bodyPr/>
                <a:lstStyle/>
                <a:p>
                  <a:r>
                    <a:rPr lang="en-US">
                      <a:noFill/>
                    </a:rPr>
                    <a:t> </a:t>
                  </a:r>
                </a:p>
              </p:txBody>
            </p:sp>
          </mc:Fallback>
        </mc:AlternateContent>
      </p:grpSp>
      <p:grpSp>
        <p:nvGrpSpPr>
          <p:cNvPr id="333" name="Group 332">
            <a:extLst>
              <a:ext uri="{FF2B5EF4-FFF2-40B4-BE49-F238E27FC236}">
                <a16:creationId xmlns:a16="http://schemas.microsoft.com/office/drawing/2014/main" id="{640AD76D-1CF0-DE4A-8F86-07675EBE77DD}"/>
              </a:ext>
            </a:extLst>
          </p:cNvPr>
          <p:cNvGrpSpPr/>
          <p:nvPr/>
        </p:nvGrpSpPr>
        <p:grpSpPr>
          <a:xfrm>
            <a:off x="7713156" y="3517538"/>
            <a:ext cx="4312227" cy="2197173"/>
            <a:chOff x="7713156" y="3517538"/>
            <a:chExt cx="4312227" cy="2197173"/>
          </a:xfrm>
        </p:grpSpPr>
        <p:sp>
          <p:nvSpPr>
            <p:cNvPr id="71" name="Oval 70">
              <a:extLst>
                <a:ext uri="{FF2B5EF4-FFF2-40B4-BE49-F238E27FC236}">
                  <a16:creationId xmlns:a16="http://schemas.microsoft.com/office/drawing/2014/main" id="{9B1134A7-9156-304D-A421-85CEE5505734}"/>
                </a:ext>
              </a:extLst>
            </p:cNvPr>
            <p:cNvSpPr>
              <a:spLocks noChangeAspect="1" noChangeArrowheads="1"/>
            </p:cNvSpPr>
            <p:nvPr/>
          </p:nvSpPr>
          <p:spPr bwMode="auto">
            <a:xfrm>
              <a:off x="7713156" y="4016290"/>
              <a:ext cx="132195"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mc:AlternateContent xmlns:mc="http://schemas.openxmlformats.org/markup-compatibility/2006" xmlns:a14="http://schemas.microsoft.com/office/drawing/2010/main">
          <mc:Choice Requires="a14">
            <p:sp>
              <p:nvSpPr>
                <p:cNvPr id="234" name="TextBox 233">
                  <a:extLst>
                    <a:ext uri="{FF2B5EF4-FFF2-40B4-BE49-F238E27FC236}">
                      <a16:creationId xmlns:a16="http://schemas.microsoft.com/office/drawing/2014/main" id="{CAF07864-3DF5-3046-A8CF-EACC4D8AE4AF}"/>
                    </a:ext>
                  </a:extLst>
                </p:cNvPr>
                <p:cNvSpPr txBox="1"/>
                <p:nvPr/>
              </p:nvSpPr>
              <p:spPr>
                <a:xfrm>
                  <a:off x="9271141" y="5203226"/>
                  <a:ext cx="1604210" cy="367138"/>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ea typeface="Cambria Math" panose="02040503050406030204" pitchFamily="18" charset="0"/>
                          <a:cs typeface="Arial" charset="0"/>
                        </a:rPr>
                        <m:t>𝑇</m:t>
                      </m:r>
                      <m:r>
                        <a:rPr lang="en-US" i="1">
                          <a:latin typeface="Cambria Math" panose="02040503050406030204" pitchFamily="18" charset="0"/>
                          <a:ea typeface="Cambria Math" panose="02040503050406030204" pitchFamily="18" charset="0"/>
                          <a:cs typeface="Arial" charset="0"/>
                        </a:rPr>
                        <m:t> </m:t>
                      </m:r>
                    </m:oMath>
                  </a14:m>
                  <a:r>
                    <a:rPr lang="en-US" dirty="0">
                      <a:ea typeface="Arial" charset="0"/>
                      <a:cs typeface="Arial" charset="0"/>
                    </a:rPr>
                    <a:t> equiv </a:t>
                  </a:r>
                  <a:endParaRPr lang="en-US" dirty="0"/>
                </a:p>
              </p:txBody>
            </p:sp>
          </mc:Choice>
          <mc:Fallback xmlns="">
            <p:sp>
              <p:nvSpPr>
                <p:cNvPr id="234" name="TextBox 233">
                  <a:extLst>
                    <a:ext uri="{FF2B5EF4-FFF2-40B4-BE49-F238E27FC236}">
                      <a16:creationId xmlns:a16="http://schemas.microsoft.com/office/drawing/2014/main" id="{CAF07864-3DF5-3046-A8CF-EACC4D8AE4AF}"/>
                    </a:ext>
                  </a:extLst>
                </p:cNvPr>
                <p:cNvSpPr txBox="1">
                  <a:spLocks noRot="1" noChangeAspect="1" noMove="1" noResize="1" noEditPoints="1" noAdjustHandles="1" noChangeArrowheads="1" noChangeShapeType="1" noTextEdit="1"/>
                </p:cNvSpPr>
                <p:nvPr/>
              </p:nvSpPr>
              <p:spPr>
                <a:xfrm>
                  <a:off x="9271141" y="5203226"/>
                  <a:ext cx="1604210" cy="367138"/>
                </a:xfrm>
                <a:prstGeom prst="rect">
                  <a:avLst/>
                </a:prstGeom>
                <a:blipFill>
                  <a:blip r:embed="rId15"/>
                  <a:stretch>
                    <a:fillRect t="-6667" b="-26667"/>
                  </a:stretch>
                </a:blipFill>
              </p:spPr>
              <p:txBody>
                <a:bodyPr/>
                <a:lstStyle/>
                <a:p>
                  <a:r>
                    <a:rPr lang="en-US">
                      <a:noFill/>
                    </a:rPr>
                    <a:t> </a:t>
                  </a:r>
                </a:p>
              </p:txBody>
            </p:sp>
          </mc:Fallback>
        </mc:AlternateContent>
        <p:grpSp>
          <p:nvGrpSpPr>
            <p:cNvPr id="235" name="Group 209">
              <a:extLst>
                <a:ext uri="{FF2B5EF4-FFF2-40B4-BE49-F238E27FC236}">
                  <a16:creationId xmlns:a16="http://schemas.microsoft.com/office/drawing/2014/main" id="{C41B8A7A-DE8C-3941-AD84-8B731A7D60F8}"/>
                </a:ext>
              </a:extLst>
            </p:cNvPr>
            <p:cNvGrpSpPr>
              <a:grpSpLocks/>
            </p:cNvGrpSpPr>
            <p:nvPr/>
          </p:nvGrpSpPr>
          <p:grpSpPr bwMode="auto">
            <a:xfrm rot="16200000">
              <a:off x="9008046" y="3619564"/>
              <a:ext cx="151495" cy="734416"/>
              <a:chOff x="3935" y="1728"/>
              <a:chExt cx="96" cy="480"/>
            </a:xfrm>
          </p:grpSpPr>
          <p:sp>
            <p:nvSpPr>
              <p:cNvPr id="312" name="Arc 59">
                <a:extLst>
                  <a:ext uri="{FF2B5EF4-FFF2-40B4-BE49-F238E27FC236}">
                    <a16:creationId xmlns:a16="http://schemas.microsoft.com/office/drawing/2014/main" id="{CB37880F-03E7-E945-BDF2-FBBED4A7BB6B}"/>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3" name="Arc 60">
                <a:extLst>
                  <a:ext uri="{FF2B5EF4-FFF2-40B4-BE49-F238E27FC236}">
                    <a16:creationId xmlns:a16="http://schemas.microsoft.com/office/drawing/2014/main" id="{9D517166-4946-D642-9B44-0AFC8DFE23D2}"/>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4" name="Arc 61">
                <a:extLst>
                  <a:ext uri="{FF2B5EF4-FFF2-40B4-BE49-F238E27FC236}">
                    <a16:creationId xmlns:a16="http://schemas.microsoft.com/office/drawing/2014/main" id="{AB3FAA16-6A73-C041-9286-E7E12E11BFB7}"/>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5" name="Arc 62">
                <a:extLst>
                  <a:ext uri="{FF2B5EF4-FFF2-40B4-BE49-F238E27FC236}">
                    <a16:creationId xmlns:a16="http://schemas.microsoft.com/office/drawing/2014/main" id="{292A2F0B-4DE3-2F4C-976F-44BE1F1A308B}"/>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6" name="Line 63">
                <a:extLst>
                  <a:ext uri="{FF2B5EF4-FFF2-40B4-BE49-F238E27FC236}">
                    <a16:creationId xmlns:a16="http://schemas.microsoft.com/office/drawing/2014/main" id="{6C89BFA4-EEC1-2F4F-95CE-63402C02052B}"/>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 name="Line 64">
                <a:extLst>
                  <a:ext uri="{FF2B5EF4-FFF2-40B4-BE49-F238E27FC236}">
                    <a16:creationId xmlns:a16="http://schemas.microsoft.com/office/drawing/2014/main" id="{B4066F62-EC7E-5A4A-8B03-2FEB0611B668}"/>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 name="Arc 65">
                <a:extLst>
                  <a:ext uri="{FF2B5EF4-FFF2-40B4-BE49-F238E27FC236}">
                    <a16:creationId xmlns:a16="http://schemas.microsoft.com/office/drawing/2014/main" id="{23F70DE9-7486-1848-808C-A58689F645AE}"/>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9" name="Arc 66">
                <a:extLst>
                  <a:ext uri="{FF2B5EF4-FFF2-40B4-BE49-F238E27FC236}">
                    <a16:creationId xmlns:a16="http://schemas.microsoft.com/office/drawing/2014/main" id="{1840335F-2966-1448-AFBC-6FCFB1D701E8}"/>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0" name="Arc 67">
                <a:extLst>
                  <a:ext uri="{FF2B5EF4-FFF2-40B4-BE49-F238E27FC236}">
                    <a16:creationId xmlns:a16="http://schemas.microsoft.com/office/drawing/2014/main" id="{4F628970-6130-F44C-9D5E-27F720BC9DED}"/>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1" name="Arc 68">
                <a:extLst>
                  <a:ext uri="{FF2B5EF4-FFF2-40B4-BE49-F238E27FC236}">
                    <a16:creationId xmlns:a16="http://schemas.microsoft.com/office/drawing/2014/main" id="{CC3E7227-0BB8-8640-9BCF-E1FCBA126F7E}"/>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2" name="Arc 69">
                <a:extLst>
                  <a:ext uri="{FF2B5EF4-FFF2-40B4-BE49-F238E27FC236}">
                    <a16:creationId xmlns:a16="http://schemas.microsoft.com/office/drawing/2014/main" id="{08ACBE7D-5BCE-FA40-994D-2CC3D25CB990}"/>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3" name="Arc 70">
                <a:extLst>
                  <a:ext uri="{FF2B5EF4-FFF2-40B4-BE49-F238E27FC236}">
                    <a16:creationId xmlns:a16="http://schemas.microsoft.com/office/drawing/2014/main" id="{25A9B477-786B-F74A-97A2-0D2B23F01DFC}"/>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4" name="Arc 71">
                <a:extLst>
                  <a:ext uri="{FF2B5EF4-FFF2-40B4-BE49-F238E27FC236}">
                    <a16:creationId xmlns:a16="http://schemas.microsoft.com/office/drawing/2014/main" id="{FA1F58B5-D8BE-164E-9F71-F1B4D22534F0}"/>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236" name="Group 210">
              <a:extLst>
                <a:ext uri="{FF2B5EF4-FFF2-40B4-BE49-F238E27FC236}">
                  <a16:creationId xmlns:a16="http://schemas.microsoft.com/office/drawing/2014/main" id="{B496684D-1B81-4147-85CA-6B11A3E8985B}"/>
                </a:ext>
              </a:extLst>
            </p:cNvPr>
            <p:cNvGrpSpPr>
              <a:grpSpLocks/>
            </p:cNvGrpSpPr>
            <p:nvPr/>
          </p:nvGrpSpPr>
          <p:grpSpPr bwMode="auto">
            <a:xfrm>
              <a:off x="9287464" y="3993750"/>
              <a:ext cx="293767" cy="757474"/>
              <a:chOff x="3216" y="1728"/>
              <a:chExt cx="192" cy="480"/>
            </a:xfrm>
          </p:grpSpPr>
          <p:sp>
            <p:nvSpPr>
              <p:cNvPr id="308" name="Line 8">
                <a:extLst>
                  <a:ext uri="{FF2B5EF4-FFF2-40B4-BE49-F238E27FC236}">
                    <a16:creationId xmlns:a16="http://schemas.microsoft.com/office/drawing/2014/main" id="{8D789D7F-86A5-6741-863D-5FFF44F1069F}"/>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9" name="Line 9">
                <a:extLst>
                  <a:ext uri="{FF2B5EF4-FFF2-40B4-BE49-F238E27FC236}">
                    <a16:creationId xmlns:a16="http://schemas.microsoft.com/office/drawing/2014/main" id="{70E2BC54-0ED2-DB4E-8E96-EA61D16F2D44}"/>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0" name="Line 10">
                <a:extLst>
                  <a:ext uri="{FF2B5EF4-FFF2-40B4-BE49-F238E27FC236}">
                    <a16:creationId xmlns:a16="http://schemas.microsoft.com/office/drawing/2014/main" id="{934C390F-C4DA-3A41-93E5-1B6C58D15631}"/>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1" name="Line 11">
                <a:extLst>
                  <a:ext uri="{FF2B5EF4-FFF2-40B4-BE49-F238E27FC236}">
                    <a16:creationId xmlns:a16="http://schemas.microsoft.com/office/drawing/2014/main" id="{40FF9EE7-96B6-F54C-A6E6-1A880EE1B318}"/>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37" name="Group 220">
              <a:extLst>
                <a:ext uri="{FF2B5EF4-FFF2-40B4-BE49-F238E27FC236}">
                  <a16:creationId xmlns:a16="http://schemas.microsoft.com/office/drawing/2014/main" id="{3632D7F4-B7AA-3846-B00A-3DC9E4A4876E}"/>
                </a:ext>
              </a:extLst>
            </p:cNvPr>
            <p:cNvGrpSpPr>
              <a:grpSpLocks/>
            </p:cNvGrpSpPr>
            <p:nvPr/>
          </p:nvGrpSpPr>
          <p:grpSpPr bwMode="auto">
            <a:xfrm>
              <a:off x="8640701" y="5411721"/>
              <a:ext cx="146883" cy="302990"/>
              <a:chOff x="3264" y="3072"/>
              <a:chExt cx="96" cy="192"/>
            </a:xfrm>
          </p:grpSpPr>
          <p:sp>
            <p:nvSpPr>
              <p:cNvPr id="306" name="Line 17">
                <a:extLst>
                  <a:ext uri="{FF2B5EF4-FFF2-40B4-BE49-F238E27FC236}">
                    <a16:creationId xmlns:a16="http://schemas.microsoft.com/office/drawing/2014/main" id="{D0DA86E9-1F90-804C-8C35-F51C1DC2A47C}"/>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 name="Freeform 18">
                <a:extLst>
                  <a:ext uri="{FF2B5EF4-FFF2-40B4-BE49-F238E27FC236}">
                    <a16:creationId xmlns:a16="http://schemas.microsoft.com/office/drawing/2014/main" id="{F4D6AB92-3B3B-254B-BDBE-3C624D2B688A}"/>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mc:AlternateContent xmlns:mc="http://schemas.openxmlformats.org/markup-compatibility/2006" xmlns:a14="http://schemas.microsoft.com/office/drawing/2010/main">
          <mc:Choice Requires="a14">
            <p:sp>
              <p:nvSpPr>
                <p:cNvPr id="239" name="TextBox 238">
                  <a:extLst>
                    <a:ext uri="{FF2B5EF4-FFF2-40B4-BE49-F238E27FC236}">
                      <a16:creationId xmlns:a16="http://schemas.microsoft.com/office/drawing/2014/main" id="{D2C2CB9B-D47F-2249-8E7B-BC85EC73980D}"/>
                    </a:ext>
                  </a:extLst>
                </p:cNvPr>
                <p:cNvSpPr txBox="1"/>
                <p:nvPr/>
              </p:nvSpPr>
              <p:spPr>
                <a:xfrm>
                  <a:off x="8912427" y="3552836"/>
                  <a:ext cx="387863" cy="338554"/>
                </a:xfrm>
                <a:prstGeom prst="rect">
                  <a:avLst/>
                </a:prstGeom>
                <a:noFill/>
              </p:spPr>
              <p:txBody>
                <a:bodyPr wrap="square" rtlCol="0">
                  <a:spAutoFit/>
                </a:bodyPr>
                <a:lstStyle/>
                <a:p>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𝑋</m:t>
                            </m:r>
                          </m:e>
                          <m:sub>
                            <m:r>
                              <a:rPr lang="en-US" sz="1600" b="0" i="1" smtClean="0">
                                <a:latin typeface="Cambria Math" panose="02040503050406030204" pitchFamily="18" charset="0"/>
                              </a:rPr>
                              <m:t>1</m:t>
                            </m:r>
                          </m:sub>
                        </m:sSub>
                      </m:oMath>
                    </m:oMathPara>
                  </a14:m>
                  <a:endParaRPr lang="en-US" sz="1600" dirty="0"/>
                </a:p>
              </p:txBody>
            </p:sp>
          </mc:Choice>
          <mc:Fallback xmlns="">
            <p:sp>
              <p:nvSpPr>
                <p:cNvPr id="239" name="TextBox 238">
                  <a:extLst>
                    <a:ext uri="{FF2B5EF4-FFF2-40B4-BE49-F238E27FC236}">
                      <a16:creationId xmlns:a16="http://schemas.microsoft.com/office/drawing/2014/main" id="{D2C2CB9B-D47F-2249-8E7B-BC85EC73980D}"/>
                    </a:ext>
                  </a:extLst>
                </p:cNvPr>
                <p:cNvSpPr txBox="1">
                  <a:spLocks noRot="1" noChangeAspect="1" noMove="1" noResize="1" noEditPoints="1" noAdjustHandles="1" noChangeArrowheads="1" noChangeShapeType="1" noTextEdit="1"/>
                </p:cNvSpPr>
                <p:nvPr/>
              </p:nvSpPr>
              <p:spPr>
                <a:xfrm>
                  <a:off x="8912427" y="3552836"/>
                  <a:ext cx="387863" cy="338554"/>
                </a:xfrm>
                <a:prstGeom prst="rect">
                  <a:avLst/>
                </a:prstGeom>
                <a:blipFill>
                  <a:blip r:embed="rId16"/>
                  <a:stretch>
                    <a:fillRect/>
                  </a:stretch>
                </a:blipFill>
              </p:spPr>
              <p:txBody>
                <a:bodyPr/>
                <a:lstStyle/>
                <a:p>
                  <a:r>
                    <a:rPr lang="en-US">
                      <a:noFill/>
                    </a:rPr>
                    <a:t> </a:t>
                  </a:r>
                </a:p>
              </p:txBody>
            </p:sp>
          </mc:Fallback>
        </mc:AlternateContent>
        <p:sp>
          <p:nvSpPr>
            <p:cNvPr id="241" name="Freeform 12">
              <a:extLst>
                <a:ext uri="{FF2B5EF4-FFF2-40B4-BE49-F238E27FC236}">
                  <a16:creationId xmlns:a16="http://schemas.microsoft.com/office/drawing/2014/main" id="{3C473592-A8FC-234F-AD07-AFCA0311EE87}"/>
                </a:ext>
              </a:extLst>
            </p:cNvPr>
            <p:cNvSpPr>
              <a:spLocks noChangeAspect="1"/>
            </p:cNvSpPr>
            <p:nvPr/>
          </p:nvSpPr>
          <p:spPr bwMode="auto">
            <a:xfrm>
              <a:off x="8638444" y="3979702"/>
              <a:ext cx="146883"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42" name="Group 207">
              <a:extLst>
                <a:ext uri="{FF2B5EF4-FFF2-40B4-BE49-F238E27FC236}">
                  <a16:creationId xmlns:a16="http://schemas.microsoft.com/office/drawing/2014/main" id="{3B626E77-73BC-274C-A07E-F891EA293992}"/>
                </a:ext>
              </a:extLst>
            </p:cNvPr>
            <p:cNvGrpSpPr>
              <a:grpSpLocks/>
            </p:cNvGrpSpPr>
            <p:nvPr/>
          </p:nvGrpSpPr>
          <p:grpSpPr bwMode="auto">
            <a:xfrm>
              <a:off x="8565003" y="4726320"/>
              <a:ext cx="293767" cy="762000"/>
              <a:chOff x="4560" y="2400"/>
              <a:chExt cx="192" cy="480"/>
            </a:xfrm>
          </p:grpSpPr>
          <p:sp>
            <p:nvSpPr>
              <p:cNvPr id="297" name="Oval 111">
                <a:extLst>
                  <a:ext uri="{FF2B5EF4-FFF2-40B4-BE49-F238E27FC236}">
                    <a16:creationId xmlns:a16="http://schemas.microsoft.com/office/drawing/2014/main" id="{F29F3D8C-1B46-E54F-8D70-02D7FD74D06D}"/>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298" name="Line 112">
                <a:extLst>
                  <a:ext uri="{FF2B5EF4-FFF2-40B4-BE49-F238E27FC236}">
                    <a16:creationId xmlns:a16="http://schemas.microsoft.com/office/drawing/2014/main" id="{F422614A-A19C-EA4F-9055-6939B5216BD6}"/>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9" name="Line 113">
                <a:extLst>
                  <a:ext uri="{FF2B5EF4-FFF2-40B4-BE49-F238E27FC236}">
                    <a16:creationId xmlns:a16="http://schemas.microsoft.com/office/drawing/2014/main" id="{7DDABFEE-BE7A-974F-A185-DCA3A7A6DDF2}"/>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0" name="Line 114">
                <a:extLst>
                  <a:ext uri="{FF2B5EF4-FFF2-40B4-BE49-F238E27FC236}">
                    <a16:creationId xmlns:a16="http://schemas.microsoft.com/office/drawing/2014/main" id="{C8284C21-61F4-3E4A-82A6-24C88B3FF53A}"/>
                  </a:ext>
                </a:extLst>
              </p:cNvPr>
              <p:cNvSpPr>
                <a:spLocks noChangeAspect="1" noChangeShapeType="1"/>
              </p:cNvSpPr>
              <p:nvPr/>
            </p:nvSpPr>
            <p:spPr bwMode="auto">
              <a:xfrm>
                <a:off x="4584" y="2496"/>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1" name="Line 115">
                <a:extLst>
                  <a:ext uri="{FF2B5EF4-FFF2-40B4-BE49-F238E27FC236}">
                    <a16:creationId xmlns:a16="http://schemas.microsoft.com/office/drawing/2014/main" id="{91AF1D22-FF97-1A49-A7B9-B4821A71F235}"/>
                  </a:ext>
                </a:extLst>
              </p:cNvPr>
              <p:cNvSpPr>
                <a:spLocks noChangeAspect="1" noChangeShapeType="1"/>
              </p:cNvSpPr>
              <p:nvPr/>
            </p:nvSpPr>
            <p:spPr bwMode="auto">
              <a:xfrm>
                <a:off x="4608" y="2472"/>
                <a:ext cx="0" cy="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2" name="Line 116">
                <a:extLst>
                  <a:ext uri="{FF2B5EF4-FFF2-40B4-BE49-F238E27FC236}">
                    <a16:creationId xmlns:a16="http://schemas.microsoft.com/office/drawing/2014/main" id="{9A422E9C-4B5F-1D4D-BBDA-744F12E17EE7}"/>
                  </a:ext>
                </a:extLst>
              </p:cNvPr>
              <p:cNvSpPr>
                <a:spLocks noChangeAspect="1" noChangeShapeType="1"/>
              </p:cNvSpPr>
              <p:nvPr/>
            </p:nvSpPr>
            <p:spPr bwMode="auto">
              <a:xfrm>
                <a:off x="4584" y="2784"/>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03" name="Group 117">
                <a:extLst>
                  <a:ext uri="{FF2B5EF4-FFF2-40B4-BE49-F238E27FC236}">
                    <a16:creationId xmlns:a16="http://schemas.microsoft.com/office/drawing/2014/main" id="{51A8BFFD-9C66-104E-8BDA-24EC9C4E4F1D}"/>
                  </a:ext>
                </a:extLst>
              </p:cNvPr>
              <p:cNvGrpSpPr>
                <a:grpSpLocks noChangeAspect="1"/>
              </p:cNvGrpSpPr>
              <p:nvPr/>
            </p:nvGrpSpPr>
            <p:grpSpPr bwMode="auto">
              <a:xfrm>
                <a:off x="4608" y="2592"/>
                <a:ext cx="96" cy="96"/>
                <a:chOff x="2929" y="3217"/>
                <a:chExt cx="383" cy="191"/>
              </a:xfrm>
            </p:grpSpPr>
            <p:sp>
              <p:nvSpPr>
                <p:cNvPr id="304" name="Arc 118">
                  <a:extLst>
                    <a:ext uri="{FF2B5EF4-FFF2-40B4-BE49-F238E27FC236}">
                      <a16:creationId xmlns:a16="http://schemas.microsoft.com/office/drawing/2014/main" id="{D1DBDA68-28E8-9F4C-9849-898CB84C93C1}"/>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5" name="Arc 119">
                  <a:extLst>
                    <a:ext uri="{FF2B5EF4-FFF2-40B4-BE49-F238E27FC236}">
                      <a16:creationId xmlns:a16="http://schemas.microsoft.com/office/drawing/2014/main" id="{3E57ED39-F6BA-7E46-B0BA-543BD909DA38}"/>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grpSp>
          <p:nvGrpSpPr>
            <p:cNvPr id="243" name="Group 220">
              <a:extLst>
                <a:ext uri="{FF2B5EF4-FFF2-40B4-BE49-F238E27FC236}">
                  <a16:creationId xmlns:a16="http://schemas.microsoft.com/office/drawing/2014/main" id="{61876316-8A34-1843-AC7D-2B2BF1E90948}"/>
                </a:ext>
              </a:extLst>
            </p:cNvPr>
            <p:cNvGrpSpPr>
              <a:grpSpLocks/>
            </p:cNvGrpSpPr>
            <p:nvPr/>
          </p:nvGrpSpPr>
          <p:grpSpPr bwMode="auto">
            <a:xfrm>
              <a:off x="9357869" y="4632474"/>
              <a:ext cx="146883" cy="302990"/>
              <a:chOff x="3264" y="3072"/>
              <a:chExt cx="96" cy="192"/>
            </a:xfrm>
          </p:grpSpPr>
          <p:sp>
            <p:nvSpPr>
              <p:cNvPr id="295" name="Line 17">
                <a:extLst>
                  <a:ext uri="{FF2B5EF4-FFF2-40B4-BE49-F238E27FC236}">
                    <a16:creationId xmlns:a16="http://schemas.microsoft.com/office/drawing/2014/main" id="{1A0D883D-FFC4-C744-9797-23A764FB3988}"/>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6" name="Freeform 18">
                <a:extLst>
                  <a:ext uri="{FF2B5EF4-FFF2-40B4-BE49-F238E27FC236}">
                    <a16:creationId xmlns:a16="http://schemas.microsoft.com/office/drawing/2014/main" id="{857ADA1B-C6ED-6445-9FCE-DC96A334365A}"/>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mc:AlternateContent xmlns:mc="http://schemas.openxmlformats.org/markup-compatibility/2006" xmlns:a14="http://schemas.microsoft.com/office/drawing/2010/main">
          <mc:Choice Requires="a14">
            <p:sp>
              <p:nvSpPr>
                <p:cNvPr id="244" name="TextBox 243">
                  <a:extLst>
                    <a:ext uri="{FF2B5EF4-FFF2-40B4-BE49-F238E27FC236}">
                      <a16:creationId xmlns:a16="http://schemas.microsoft.com/office/drawing/2014/main" id="{D296630A-6BCE-8945-A3A3-8E9F603BC83F}"/>
                    </a:ext>
                  </a:extLst>
                </p:cNvPr>
                <p:cNvSpPr txBox="1"/>
                <p:nvPr/>
              </p:nvSpPr>
              <p:spPr>
                <a:xfrm>
                  <a:off x="8183146" y="4108899"/>
                  <a:ext cx="393723"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𝑖𝑛</m:t>
                            </m:r>
                          </m:sub>
                        </m:sSub>
                      </m:oMath>
                    </m:oMathPara>
                  </a14:m>
                  <a:endParaRPr lang="en-US" dirty="0"/>
                </a:p>
              </p:txBody>
            </p:sp>
          </mc:Choice>
          <mc:Fallback xmlns="">
            <p:sp>
              <p:nvSpPr>
                <p:cNvPr id="244" name="TextBox 243">
                  <a:extLst>
                    <a:ext uri="{FF2B5EF4-FFF2-40B4-BE49-F238E27FC236}">
                      <a16:creationId xmlns:a16="http://schemas.microsoft.com/office/drawing/2014/main" id="{D296630A-6BCE-8945-A3A3-8E9F603BC83F}"/>
                    </a:ext>
                  </a:extLst>
                </p:cNvPr>
                <p:cNvSpPr txBox="1">
                  <a:spLocks noRot="1" noChangeAspect="1" noMove="1" noResize="1" noEditPoints="1" noAdjustHandles="1" noChangeArrowheads="1" noChangeShapeType="1" noTextEdit="1"/>
                </p:cNvSpPr>
                <p:nvPr/>
              </p:nvSpPr>
              <p:spPr>
                <a:xfrm>
                  <a:off x="8183146" y="4108899"/>
                  <a:ext cx="393723" cy="369332"/>
                </a:xfrm>
                <a:prstGeom prst="rect">
                  <a:avLst/>
                </a:prstGeom>
                <a:blipFill>
                  <a:blip r:embed="rId17"/>
                  <a:stretch>
                    <a:fillRect r="-15625"/>
                  </a:stretch>
                </a:blipFill>
              </p:spPr>
              <p:txBody>
                <a:bodyPr/>
                <a:lstStyle/>
                <a:p>
                  <a:r>
                    <a:rPr lang="en-US">
                      <a:noFill/>
                    </a:rPr>
                    <a:t> </a:t>
                  </a:r>
                </a:p>
              </p:txBody>
            </p:sp>
          </mc:Fallback>
        </mc:AlternateContent>
        <p:sp>
          <p:nvSpPr>
            <p:cNvPr id="245" name="Freeform 12">
              <a:extLst>
                <a:ext uri="{FF2B5EF4-FFF2-40B4-BE49-F238E27FC236}">
                  <a16:creationId xmlns:a16="http://schemas.microsoft.com/office/drawing/2014/main" id="{FC902B32-07DB-C044-9563-CC122239F7F9}"/>
                </a:ext>
              </a:extLst>
            </p:cNvPr>
            <p:cNvSpPr>
              <a:spLocks noChangeAspect="1"/>
            </p:cNvSpPr>
            <p:nvPr/>
          </p:nvSpPr>
          <p:spPr bwMode="auto">
            <a:xfrm>
              <a:off x="9749244" y="3989224"/>
              <a:ext cx="146883"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mc:AlternateContent xmlns:mc="http://schemas.openxmlformats.org/markup-compatibility/2006" xmlns:a14="http://schemas.microsoft.com/office/drawing/2010/main">
          <mc:Choice Requires="a14">
            <p:sp>
              <p:nvSpPr>
                <p:cNvPr id="246" name="TextBox 245">
                  <a:extLst>
                    <a:ext uri="{FF2B5EF4-FFF2-40B4-BE49-F238E27FC236}">
                      <a16:creationId xmlns:a16="http://schemas.microsoft.com/office/drawing/2014/main" id="{65D4D229-DDE4-B549-9367-BA11A5D3BFDB}"/>
                    </a:ext>
                  </a:extLst>
                </p:cNvPr>
                <p:cNvSpPr txBox="1"/>
                <p:nvPr/>
              </p:nvSpPr>
              <p:spPr>
                <a:xfrm>
                  <a:off x="9817225" y="4175571"/>
                  <a:ext cx="393723"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rPr>
                          <m:t>𝑅</m:t>
                        </m:r>
                      </m:oMath>
                    </m:oMathPara>
                  </a14:m>
                  <a:endParaRPr lang="en-US" dirty="0"/>
                </a:p>
              </p:txBody>
            </p:sp>
          </mc:Choice>
          <mc:Fallback xmlns="">
            <p:sp>
              <p:nvSpPr>
                <p:cNvPr id="246" name="TextBox 245">
                  <a:extLst>
                    <a:ext uri="{FF2B5EF4-FFF2-40B4-BE49-F238E27FC236}">
                      <a16:creationId xmlns:a16="http://schemas.microsoft.com/office/drawing/2014/main" id="{65D4D229-DDE4-B549-9367-BA11A5D3BFDB}"/>
                    </a:ext>
                  </a:extLst>
                </p:cNvPr>
                <p:cNvSpPr txBox="1">
                  <a:spLocks noRot="1" noChangeAspect="1" noMove="1" noResize="1" noEditPoints="1" noAdjustHandles="1" noChangeArrowheads="1" noChangeShapeType="1" noTextEdit="1"/>
                </p:cNvSpPr>
                <p:nvPr/>
              </p:nvSpPr>
              <p:spPr>
                <a:xfrm>
                  <a:off x="9817225" y="4175571"/>
                  <a:ext cx="393723" cy="369332"/>
                </a:xfrm>
                <a:prstGeom prst="rect">
                  <a:avLst/>
                </a:prstGeom>
                <a:blipFill>
                  <a:blip r:embed="rId18"/>
                  <a:stretch>
                    <a:fillRect/>
                  </a:stretch>
                </a:blipFill>
              </p:spPr>
              <p:txBody>
                <a:bodyPr/>
                <a:lstStyle/>
                <a:p>
                  <a:r>
                    <a:rPr lang="en-US">
                      <a:noFill/>
                    </a:rPr>
                    <a:t> </a:t>
                  </a:r>
                </a:p>
              </p:txBody>
            </p:sp>
          </mc:Fallback>
        </mc:AlternateContent>
        <p:grpSp>
          <p:nvGrpSpPr>
            <p:cNvPr id="247" name="Group 220">
              <a:extLst>
                <a:ext uri="{FF2B5EF4-FFF2-40B4-BE49-F238E27FC236}">
                  <a16:creationId xmlns:a16="http://schemas.microsoft.com/office/drawing/2014/main" id="{A370D8C0-1827-7040-BB0B-0224A3357335}"/>
                </a:ext>
              </a:extLst>
            </p:cNvPr>
            <p:cNvGrpSpPr>
              <a:grpSpLocks/>
            </p:cNvGrpSpPr>
            <p:nvPr/>
          </p:nvGrpSpPr>
          <p:grpSpPr bwMode="auto">
            <a:xfrm>
              <a:off x="9751508" y="4692577"/>
              <a:ext cx="146883" cy="302990"/>
              <a:chOff x="3264" y="3072"/>
              <a:chExt cx="96" cy="192"/>
            </a:xfrm>
          </p:grpSpPr>
          <p:sp>
            <p:nvSpPr>
              <p:cNvPr id="293" name="Line 17">
                <a:extLst>
                  <a:ext uri="{FF2B5EF4-FFF2-40B4-BE49-F238E27FC236}">
                    <a16:creationId xmlns:a16="http://schemas.microsoft.com/office/drawing/2014/main" id="{A4EFFEB8-663F-1D49-9127-AAC220F3AAFF}"/>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4" name="Freeform 18">
                <a:extLst>
                  <a:ext uri="{FF2B5EF4-FFF2-40B4-BE49-F238E27FC236}">
                    <a16:creationId xmlns:a16="http://schemas.microsoft.com/office/drawing/2014/main" id="{241C4FEB-F6A2-8844-B1FB-47A8681FAEB9}"/>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48" name="Group 209">
              <a:extLst>
                <a:ext uri="{FF2B5EF4-FFF2-40B4-BE49-F238E27FC236}">
                  <a16:creationId xmlns:a16="http://schemas.microsoft.com/office/drawing/2014/main" id="{650DA4DA-E555-D14A-B83B-4ED761AE1619}"/>
                </a:ext>
              </a:extLst>
            </p:cNvPr>
            <p:cNvGrpSpPr>
              <a:grpSpLocks/>
            </p:cNvGrpSpPr>
            <p:nvPr/>
          </p:nvGrpSpPr>
          <p:grpSpPr bwMode="auto">
            <a:xfrm rot="16200000">
              <a:off x="11517860" y="3589935"/>
              <a:ext cx="151495" cy="734416"/>
              <a:chOff x="3935" y="1728"/>
              <a:chExt cx="96" cy="480"/>
            </a:xfrm>
          </p:grpSpPr>
          <p:sp>
            <p:nvSpPr>
              <p:cNvPr id="280" name="Arc 59">
                <a:extLst>
                  <a:ext uri="{FF2B5EF4-FFF2-40B4-BE49-F238E27FC236}">
                    <a16:creationId xmlns:a16="http://schemas.microsoft.com/office/drawing/2014/main" id="{3F437A78-7B9F-7D42-9E35-C539E86251D0}"/>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1" name="Arc 60">
                <a:extLst>
                  <a:ext uri="{FF2B5EF4-FFF2-40B4-BE49-F238E27FC236}">
                    <a16:creationId xmlns:a16="http://schemas.microsoft.com/office/drawing/2014/main" id="{E4E8DAA9-AF88-AB44-BC7C-7967517C9759}"/>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2" name="Arc 61">
                <a:extLst>
                  <a:ext uri="{FF2B5EF4-FFF2-40B4-BE49-F238E27FC236}">
                    <a16:creationId xmlns:a16="http://schemas.microsoft.com/office/drawing/2014/main" id="{28C60801-EE84-924F-B139-9C7859B59E95}"/>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3" name="Arc 62">
                <a:extLst>
                  <a:ext uri="{FF2B5EF4-FFF2-40B4-BE49-F238E27FC236}">
                    <a16:creationId xmlns:a16="http://schemas.microsoft.com/office/drawing/2014/main" id="{2938668E-1EA5-444D-8C40-B5B8D0A90A44}"/>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4" name="Line 63">
                <a:extLst>
                  <a:ext uri="{FF2B5EF4-FFF2-40B4-BE49-F238E27FC236}">
                    <a16:creationId xmlns:a16="http://schemas.microsoft.com/office/drawing/2014/main" id="{44DE7450-8FBD-9647-8EDB-884362A218BF}"/>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5" name="Line 64">
                <a:extLst>
                  <a:ext uri="{FF2B5EF4-FFF2-40B4-BE49-F238E27FC236}">
                    <a16:creationId xmlns:a16="http://schemas.microsoft.com/office/drawing/2014/main" id="{94C5AEAB-7CBE-7746-B223-9C011C2EF8BD}"/>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 name="Arc 65">
                <a:extLst>
                  <a:ext uri="{FF2B5EF4-FFF2-40B4-BE49-F238E27FC236}">
                    <a16:creationId xmlns:a16="http://schemas.microsoft.com/office/drawing/2014/main" id="{5F492D97-0269-2741-B1D8-5C12941AEF2A}"/>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7" name="Arc 66">
                <a:extLst>
                  <a:ext uri="{FF2B5EF4-FFF2-40B4-BE49-F238E27FC236}">
                    <a16:creationId xmlns:a16="http://schemas.microsoft.com/office/drawing/2014/main" id="{4C375332-B3C1-DA46-801C-AB135E06964E}"/>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8" name="Arc 67">
                <a:extLst>
                  <a:ext uri="{FF2B5EF4-FFF2-40B4-BE49-F238E27FC236}">
                    <a16:creationId xmlns:a16="http://schemas.microsoft.com/office/drawing/2014/main" id="{F64CE780-C083-7F46-8F11-348AA9C8EF21}"/>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9" name="Arc 68">
                <a:extLst>
                  <a:ext uri="{FF2B5EF4-FFF2-40B4-BE49-F238E27FC236}">
                    <a16:creationId xmlns:a16="http://schemas.microsoft.com/office/drawing/2014/main" id="{BB9D9E35-AEF7-1A4F-B1AD-4326662F2F56}"/>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0" name="Arc 69">
                <a:extLst>
                  <a:ext uri="{FF2B5EF4-FFF2-40B4-BE49-F238E27FC236}">
                    <a16:creationId xmlns:a16="http://schemas.microsoft.com/office/drawing/2014/main" id="{EABAA664-1DA3-C848-9A3D-A92732CAEEA6}"/>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1" name="Arc 70">
                <a:extLst>
                  <a:ext uri="{FF2B5EF4-FFF2-40B4-BE49-F238E27FC236}">
                    <a16:creationId xmlns:a16="http://schemas.microsoft.com/office/drawing/2014/main" id="{91C40761-37A2-C74C-8F37-27B85BB3F6F6}"/>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2" name="Arc 71">
                <a:extLst>
                  <a:ext uri="{FF2B5EF4-FFF2-40B4-BE49-F238E27FC236}">
                    <a16:creationId xmlns:a16="http://schemas.microsoft.com/office/drawing/2014/main" id="{46AEC54C-0D07-5B4F-AEE1-FADCE5A2DC4F}"/>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249" name="Group 210">
              <a:extLst>
                <a:ext uri="{FF2B5EF4-FFF2-40B4-BE49-F238E27FC236}">
                  <a16:creationId xmlns:a16="http://schemas.microsoft.com/office/drawing/2014/main" id="{AAD4FB2A-17B3-F243-869C-954EC29079C7}"/>
                </a:ext>
              </a:extLst>
            </p:cNvPr>
            <p:cNvGrpSpPr>
              <a:grpSpLocks/>
            </p:cNvGrpSpPr>
            <p:nvPr/>
          </p:nvGrpSpPr>
          <p:grpSpPr bwMode="auto">
            <a:xfrm>
              <a:off x="11111634" y="3963009"/>
              <a:ext cx="293767" cy="757474"/>
              <a:chOff x="3216" y="1728"/>
              <a:chExt cx="192" cy="480"/>
            </a:xfrm>
          </p:grpSpPr>
          <p:sp>
            <p:nvSpPr>
              <p:cNvPr id="276" name="Line 8">
                <a:extLst>
                  <a:ext uri="{FF2B5EF4-FFF2-40B4-BE49-F238E27FC236}">
                    <a16:creationId xmlns:a16="http://schemas.microsoft.com/office/drawing/2014/main" id="{35AE6346-B398-A14B-9D29-521C6DF32B62}"/>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 name="Line 9">
                <a:extLst>
                  <a:ext uri="{FF2B5EF4-FFF2-40B4-BE49-F238E27FC236}">
                    <a16:creationId xmlns:a16="http://schemas.microsoft.com/office/drawing/2014/main" id="{1B2EF3C2-4EAE-4D44-A0BC-D7498A4E94B7}"/>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 name="Line 10">
                <a:extLst>
                  <a:ext uri="{FF2B5EF4-FFF2-40B4-BE49-F238E27FC236}">
                    <a16:creationId xmlns:a16="http://schemas.microsoft.com/office/drawing/2014/main" id="{A2309403-7E87-CE47-AC89-2BBE346DF2BC}"/>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9" name="Line 11">
                <a:extLst>
                  <a:ext uri="{FF2B5EF4-FFF2-40B4-BE49-F238E27FC236}">
                    <a16:creationId xmlns:a16="http://schemas.microsoft.com/office/drawing/2014/main" id="{B84C18C7-24C2-DA44-80B9-83047AF3153E}"/>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50" name="Group 220">
              <a:extLst>
                <a:ext uri="{FF2B5EF4-FFF2-40B4-BE49-F238E27FC236}">
                  <a16:creationId xmlns:a16="http://schemas.microsoft.com/office/drawing/2014/main" id="{367C5A78-7B0E-9342-9DE1-FA6764E697B5}"/>
                </a:ext>
              </a:extLst>
            </p:cNvPr>
            <p:cNvGrpSpPr>
              <a:grpSpLocks/>
            </p:cNvGrpSpPr>
            <p:nvPr/>
          </p:nvGrpSpPr>
          <p:grpSpPr bwMode="auto">
            <a:xfrm>
              <a:off x="10508879" y="5392666"/>
              <a:ext cx="146883" cy="302990"/>
              <a:chOff x="3264" y="3072"/>
              <a:chExt cx="96" cy="192"/>
            </a:xfrm>
          </p:grpSpPr>
          <p:sp>
            <p:nvSpPr>
              <p:cNvPr id="274" name="Line 17">
                <a:extLst>
                  <a:ext uri="{FF2B5EF4-FFF2-40B4-BE49-F238E27FC236}">
                    <a16:creationId xmlns:a16="http://schemas.microsoft.com/office/drawing/2014/main" id="{BD8D5177-BCE1-3741-BC48-08990E5A70E5}"/>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5" name="Freeform 18">
                <a:extLst>
                  <a:ext uri="{FF2B5EF4-FFF2-40B4-BE49-F238E27FC236}">
                    <a16:creationId xmlns:a16="http://schemas.microsoft.com/office/drawing/2014/main" id="{BEAF3136-1482-2243-8FE9-760B28DF3E60}"/>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cxnSp>
          <p:nvCxnSpPr>
            <p:cNvPr id="251" name="Straight Connector 250">
              <a:extLst>
                <a:ext uri="{FF2B5EF4-FFF2-40B4-BE49-F238E27FC236}">
                  <a16:creationId xmlns:a16="http://schemas.microsoft.com/office/drawing/2014/main" id="{7C600B30-1B12-DA43-9E88-DE8D98E8D1DD}"/>
                </a:ext>
              </a:extLst>
            </p:cNvPr>
            <p:cNvCxnSpPr>
              <a:cxnSpLocks/>
            </p:cNvCxnSpPr>
            <p:nvPr/>
          </p:nvCxnSpPr>
          <p:spPr>
            <a:xfrm>
              <a:off x="10569371" y="3951479"/>
              <a:ext cx="6888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2" name="TextBox 251">
                  <a:extLst>
                    <a:ext uri="{FF2B5EF4-FFF2-40B4-BE49-F238E27FC236}">
                      <a16:creationId xmlns:a16="http://schemas.microsoft.com/office/drawing/2014/main" id="{7F37FC45-E44C-1742-931D-DE7569483EFA}"/>
                    </a:ext>
                  </a:extLst>
                </p:cNvPr>
                <p:cNvSpPr txBox="1"/>
                <p:nvPr/>
              </p:nvSpPr>
              <p:spPr>
                <a:xfrm>
                  <a:off x="10765375" y="4227558"/>
                  <a:ext cx="387863" cy="348300"/>
                </a:xfrm>
                <a:prstGeom prst="rect">
                  <a:avLst/>
                </a:prstGeom>
                <a:noFill/>
              </p:spPr>
              <p:txBody>
                <a:bodyPr wrap="square" rtlCol="0">
                  <a:spAutoFit/>
                </a:bodyPr>
                <a:lstStyle/>
                <a:p>
                  <a:pPr/>
                  <a14:m>
                    <m:oMathPara xmlns:m="http://schemas.openxmlformats.org/officeDocument/2006/math">
                      <m:oMath>
                        <m:sSubSup>
                          <m:sSubSupPr>
                            <m:ctrlPr>
                              <a:rPr lang="en-US" sz="1600" i="1">
                                <a:latin typeface="Cambria Math" panose="02040503050406030204" pitchFamily="18" charset="0"/>
                                <a:cs typeface="Arial" charset="0"/>
                              </a:rPr>
                            </m:ctrlPr>
                          </m:sSubSupPr>
                          <m:e>
                            <m:r>
                              <a:rPr lang="en-US" sz="1600" i="1">
                                <a:latin typeface="Cambria Math" panose="02040503050406030204" pitchFamily="18" charset="0"/>
                                <a:cs typeface="Arial" charset="0"/>
                              </a:rPr>
                              <m:t>𝑋</m:t>
                            </m:r>
                          </m:e>
                          <m:sub>
                            <m:r>
                              <a:rPr lang="en-US" sz="1600" i="1">
                                <a:latin typeface="Cambria Math" panose="02040503050406030204" pitchFamily="18" charset="0"/>
                                <a:cs typeface="Arial" charset="0"/>
                              </a:rPr>
                              <m:t>2</m:t>
                            </m:r>
                          </m:sub>
                          <m:sup>
                            <m:r>
                              <a:rPr lang="en-US" sz="1600" b="0" i="1" smtClean="0">
                                <a:latin typeface="Cambria Math" panose="02040503050406030204" pitchFamily="18" charset="0"/>
                                <a:cs typeface="Arial" charset="0"/>
                              </a:rPr>
                              <m:t>𝑏</m:t>
                            </m:r>
                          </m:sup>
                        </m:sSubSup>
                      </m:oMath>
                    </m:oMathPara>
                  </a14:m>
                  <a:endParaRPr lang="en-US" sz="1600" baseline="-25000" dirty="0"/>
                </a:p>
              </p:txBody>
            </p:sp>
          </mc:Choice>
          <mc:Fallback xmlns="">
            <p:sp>
              <p:nvSpPr>
                <p:cNvPr id="252" name="TextBox 251">
                  <a:extLst>
                    <a:ext uri="{FF2B5EF4-FFF2-40B4-BE49-F238E27FC236}">
                      <a16:creationId xmlns:a16="http://schemas.microsoft.com/office/drawing/2014/main" id="{7F37FC45-E44C-1742-931D-DE7569483EFA}"/>
                    </a:ext>
                  </a:extLst>
                </p:cNvPr>
                <p:cNvSpPr txBox="1">
                  <a:spLocks noRot="1" noChangeAspect="1" noMove="1" noResize="1" noEditPoints="1" noAdjustHandles="1" noChangeArrowheads="1" noChangeShapeType="1" noTextEdit="1"/>
                </p:cNvSpPr>
                <p:nvPr/>
              </p:nvSpPr>
              <p:spPr>
                <a:xfrm>
                  <a:off x="10765375" y="4227558"/>
                  <a:ext cx="387863" cy="348300"/>
                </a:xfrm>
                <a:prstGeom prst="rect">
                  <a:avLst/>
                </a:prstGeom>
                <a:blipFill>
                  <a:blip r:embed="rId19"/>
                  <a:stretch>
                    <a:fillRect/>
                  </a:stretch>
                </a:blipFill>
              </p:spPr>
              <p:txBody>
                <a:bodyPr/>
                <a:lstStyle/>
                <a:p>
                  <a:r>
                    <a:rPr lang="en-US">
                      <a:noFill/>
                    </a:rPr>
                    <a:t> </a:t>
                  </a:r>
                </a:p>
              </p:txBody>
            </p:sp>
          </mc:Fallback>
        </mc:AlternateContent>
        <p:sp>
          <p:nvSpPr>
            <p:cNvPr id="253" name="TextBox 252">
              <a:extLst>
                <a:ext uri="{FF2B5EF4-FFF2-40B4-BE49-F238E27FC236}">
                  <a16:creationId xmlns:a16="http://schemas.microsoft.com/office/drawing/2014/main" id="{0686BD44-AD85-6C44-B955-AE8F5F7D1254}"/>
                </a:ext>
              </a:extLst>
            </p:cNvPr>
            <p:cNvSpPr txBox="1"/>
            <p:nvPr/>
          </p:nvSpPr>
          <p:spPr>
            <a:xfrm>
              <a:off x="11441020" y="3517538"/>
              <a:ext cx="366683" cy="336543"/>
            </a:xfrm>
            <a:prstGeom prst="rect">
              <a:avLst/>
            </a:prstGeom>
            <a:noFill/>
          </p:spPr>
          <p:txBody>
            <a:bodyPr wrap="square" rtlCol="0">
              <a:spAutoFit/>
            </a:bodyPr>
            <a:lstStyle/>
            <a:p>
              <a:r>
                <a:rPr lang="en-US" sz="1600" dirty="0"/>
                <a:t>X</a:t>
              </a:r>
              <a:r>
                <a:rPr lang="en-US" sz="1600" baseline="-25000" dirty="0"/>
                <a:t>3</a:t>
              </a:r>
            </a:p>
          </p:txBody>
        </p:sp>
        <p:sp>
          <p:nvSpPr>
            <p:cNvPr id="254" name="Freeform 12">
              <a:extLst>
                <a:ext uri="{FF2B5EF4-FFF2-40B4-BE49-F238E27FC236}">
                  <a16:creationId xmlns:a16="http://schemas.microsoft.com/office/drawing/2014/main" id="{8754920B-5EB2-CB43-93F2-DB8E87DABFD8}"/>
                </a:ext>
              </a:extLst>
            </p:cNvPr>
            <p:cNvSpPr>
              <a:spLocks noChangeAspect="1"/>
            </p:cNvSpPr>
            <p:nvPr/>
          </p:nvSpPr>
          <p:spPr bwMode="auto">
            <a:xfrm>
              <a:off x="10506622" y="3974935"/>
              <a:ext cx="146883"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55" name="Group 207">
              <a:extLst>
                <a:ext uri="{FF2B5EF4-FFF2-40B4-BE49-F238E27FC236}">
                  <a16:creationId xmlns:a16="http://schemas.microsoft.com/office/drawing/2014/main" id="{45449382-30FB-8443-A1AD-3FAE7673383B}"/>
                </a:ext>
              </a:extLst>
            </p:cNvPr>
            <p:cNvGrpSpPr>
              <a:grpSpLocks/>
            </p:cNvGrpSpPr>
            <p:nvPr/>
          </p:nvGrpSpPr>
          <p:grpSpPr bwMode="auto">
            <a:xfrm>
              <a:off x="10433181" y="4707265"/>
              <a:ext cx="293767" cy="762000"/>
              <a:chOff x="4560" y="2400"/>
              <a:chExt cx="192" cy="480"/>
            </a:xfrm>
          </p:grpSpPr>
          <p:sp>
            <p:nvSpPr>
              <p:cNvPr id="265" name="Oval 111">
                <a:extLst>
                  <a:ext uri="{FF2B5EF4-FFF2-40B4-BE49-F238E27FC236}">
                    <a16:creationId xmlns:a16="http://schemas.microsoft.com/office/drawing/2014/main" id="{324475CA-1A3A-2D40-8EDF-8BCBB15F460E}"/>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266" name="Line 112">
                <a:extLst>
                  <a:ext uri="{FF2B5EF4-FFF2-40B4-BE49-F238E27FC236}">
                    <a16:creationId xmlns:a16="http://schemas.microsoft.com/office/drawing/2014/main" id="{4046AD1F-62DD-9D45-A5E2-79BFCFE8FA9B}"/>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 name="Line 113">
                <a:extLst>
                  <a:ext uri="{FF2B5EF4-FFF2-40B4-BE49-F238E27FC236}">
                    <a16:creationId xmlns:a16="http://schemas.microsoft.com/office/drawing/2014/main" id="{603D82D1-D573-164C-9F2B-08BC06DCAFA7}"/>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8" name="Line 114">
                <a:extLst>
                  <a:ext uri="{FF2B5EF4-FFF2-40B4-BE49-F238E27FC236}">
                    <a16:creationId xmlns:a16="http://schemas.microsoft.com/office/drawing/2014/main" id="{19A7C72D-FA0B-BB46-9D96-30A12EADA54F}"/>
                  </a:ext>
                </a:extLst>
              </p:cNvPr>
              <p:cNvSpPr>
                <a:spLocks noChangeAspect="1" noChangeShapeType="1"/>
              </p:cNvSpPr>
              <p:nvPr/>
            </p:nvSpPr>
            <p:spPr bwMode="auto">
              <a:xfrm>
                <a:off x="4584" y="2496"/>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9" name="Line 115">
                <a:extLst>
                  <a:ext uri="{FF2B5EF4-FFF2-40B4-BE49-F238E27FC236}">
                    <a16:creationId xmlns:a16="http://schemas.microsoft.com/office/drawing/2014/main" id="{8324FFEE-5C31-B54A-973C-3DFB0253B8BA}"/>
                  </a:ext>
                </a:extLst>
              </p:cNvPr>
              <p:cNvSpPr>
                <a:spLocks noChangeAspect="1" noChangeShapeType="1"/>
              </p:cNvSpPr>
              <p:nvPr/>
            </p:nvSpPr>
            <p:spPr bwMode="auto">
              <a:xfrm>
                <a:off x="4608" y="2472"/>
                <a:ext cx="0" cy="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0" name="Line 116">
                <a:extLst>
                  <a:ext uri="{FF2B5EF4-FFF2-40B4-BE49-F238E27FC236}">
                    <a16:creationId xmlns:a16="http://schemas.microsoft.com/office/drawing/2014/main" id="{C93767AE-A99D-7844-AB6A-07D351B4267D}"/>
                  </a:ext>
                </a:extLst>
              </p:cNvPr>
              <p:cNvSpPr>
                <a:spLocks noChangeAspect="1" noChangeShapeType="1"/>
              </p:cNvSpPr>
              <p:nvPr/>
            </p:nvSpPr>
            <p:spPr bwMode="auto">
              <a:xfrm>
                <a:off x="4584" y="2784"/>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71" name="Group 117">
                <a:extLst>
                  <a:ext uri="{FF2B5EF4-FFF2-40B4-BE49-F238E27FC236}">
                    <a16:creationId xmlns:a16="http://schemas.microsoft.com/office/drawing/2014/main" id="{3B364602-74EF-A24D-8484-DF9E080012F7}"/>
                  </a:ext>
                </a:extLst>
              </p:cNvPr>
              <p:cNvGrpSpPr>
                <a:grpSpLocks noChangeAspect="1"/>
              </p:cNvGrpSpPr>
              <p:nvPr/>
            </p:nvGrpSpPr>
            <p:grpSpPr bwMode="auto">
              <a:xfrm>
                <a:off x="4608" y="2592"/>
                <a:ext cx="96" cy="96"/>
                <a:chOff x="2929" y="3217"/>
                <a:chExt cx="383" cy="191"/>
              </a:xfrm>
            </p:grpSpPr>
            <p:sp>
              <p:nvSpPr>
                <p:cNvPr id="272" name="Arc 118">
                  <a:extLst>
                    <a:ext uri="{FF2B5EF4-FFF2-40B4-BE49-F238E27FC236}">
                      <a16:creationId xmlns:a16="http://schemas.microsoft.com/office/drawing/2014/main" id="{3BACB049-ADF6-7C42-A2F0-8546A15D2349}"/>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3" name="Arc 119">
                  <a:extLst>
                    <a:ext uri="{FF2B5EF4-FFF2-40B4-BE49-F238E27FC236}">
                      <a16:creationId xmlns:a16="http://schemas.microsoft.com/office/drawing/2014/main" id="{78A8B3B4-92FC-E54D-8B5E-442DF8CCF0F0}"/>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grpSp>
          <p:nvGrpSpPr>
            <p:cNvPr id="256" name="Group 220">
              <a:extLst>
                <a:ext uri="{FF2B5EF4-FFF2-40B4-BE49-F238E27FC236}">
                  <a16:creationId xmlns:a16="http://schemas.microsoft.com/office/drawing/2014/main" id="{A06F232C-98F4-2541-A99B-CEEAD1C9A000}"/>
                </a:ext>
              </a:extLst>
            </p:cNvPr>
            <p:cNvGrpSpPr>
              <a:grpSpLocks/>
            </p:cNvGrpSpPr>
            <p:nvPr/>
          </p:nvGrpSpPr>
          <p:grpSpPr bwMode="auto">
            <a:xfrm>
              <a:off x="11184734" y="4599131"/>
              <a:ext cx="146883" cy="302990"/>
              <a:chOff x="3264" y="3072"/>
              <a:chExt cx="96" cy="192"/>
            </a:xfrm>
          </p:grpSpPr>
          <p:sp>
            <p:nvSpPr>
              <p:cNvPr id="263" name="Line 17">
                <a:extLst>
                  <a:ext uri="{FF2B5EF4-FFF2-40B4-BE49-F238E27FC236}">
                    <a16:creationId xmlns:a16="http://schemas.microsoft.com/office/drawing/2014/main" id="{5B2460BE-2F4F-9342-886F-151824B9DA3D}"/>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4" name="Freeform 18">
                <a:extLst>
                  <a:ext uri="{FF2B5EF4-FFF2-40B4-BE49-F238E27FC236}">
                    <a16:creationId xmlns:a16="http://schemas.microsoft.com/office/drawing/2014/main" id="{F2EB5C49-17FB-5C40-B5D8-190D81C5258A}"/>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mc:AlternateContent xmlns:mc="http://schemas.openxmlformats.org/markup-compatibility/2006" xmlns:a14="http://schemas.microsoft.com/office/drawing/2010/main">
          <mc:Choice Requires="a14">
            <p:sp>
              <p:nvSpPr>
                <p:cNvPr id="257" name="TextBox 256">
                  <a:extLst>
                    <a:ext uri="{FF2B5EF4-FFF2-40B4-BE49-F238E27FC236}">
                      <a16:creationId xmlns:a16="http://schemas.microsoft.com/office/drawing/2014/main" id="{3D501021-7B9C-CF4A-8D54-622A27ED6DA7}"/>
                    </a:ext>
                  </a:extLst>
                </p:cNvPr>
                <p:cNvSpPr txBox="1"/>
                <p:nvPr/>
              </p:nvSpPr>
              <p:spPr>
                <a:xfrm>
                  <a:off x="10161490" y="4161284"/>
                  <a:ext cx="393723"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rPr>
                          <m:t>𝑅</m:t>
                        </m:r>
                      </m:oMath>
                    </m:oMathPara>
                  </a14:m>
                  <a:endParaRPr lang="en-US" dirty="0"/>
                </a:p>
              </p:txBody>
            </p:sp>
          </mc:Choice>
          <mc:Fallback xmlns="">
            <p:sp>
              <p:nvSpPr>
                <p:cNvPr id="257" name="TextBox 256">
                  <a:extLst>
                    <a:ext uri="{FF2B5EF4-FFF2-40B4-BE49-F238E27FC236}">
                      <a16:creationId xmlns:a16="http://schemas.microsoft.com/office/drawing/2014/main" id="{3D501021-7B9C-CF4A-8D54-622A27ED6DA7}"/>
                    </a:ext>
                  </a:extLst>
                </p:cNvPr>
                <p:cNvSpPr txBox="1">
                  <a:spLocks noRot="1" noChangeAspect="1" noMove="1" noResize="1" noEditPoints="1" noAdjustHandles="1" noChangeArrowheads="1" noChangeShapeType="1" noTextEdit="1"/>
                </p:cNvSpPr>
                <p:nvPr/>
              </p:nvSpPr>
              <p:spPr>
                <a:xfrm>
                  <a:off x="10161490" y="4161284"/>
                  <a:ext cx="393723" cy="369332"/>
                </a:xfrm>
                <a:prstGeom prst="rect">
                  <a:avLst/>
                </a:prstGeom>
                <a:blipFill>
                  <a:blip r:embed="rId20"/>
                  <a:stretch>
                    <a:fillRect/>
                  </a:stretch>
                </a:blipFill>
              </p:spPr>
              <p:txBody>
                <a:bodyPr/>
                <a:lstStyle/>
                <a:p>
                  <a:r>
                    <a:rPr lang="en-US">
                      <a:noFill/>
                    </a:rPr>
                    <a:t> </a:t>
                  </a:r>
                </a:p>
              </p:txBody>
            </p:sp>
          </mc:Fallback>
        </mc:AlternateContent>
        <p:sp>
          <p:nvSpPr>
            <p:cNvPr id="258" name="Freeform 12">
              <a:extLst>
                <a:ext uri="{FF2B5EF4-FFF2-40B4-BE49-F238E27FC236}">
                  <a16:creationId xmlns:a16="http://schemas.microsoft.com/office/drawing/2014/main" id="{8635EDE5-8481-B744-8453-992B282E553A}"/>
                </a:ext>
              </a:extLst>
            </p:cNvPr>
            <p:cNvSpPr>
              <a:spLocks noChangeAspect="1"/>
            </p:cNvSpPr>
            <p:nvPr/>
          </p:nvSpPr>
          <p:spPr bwMode="auto">
            <a:xfrm>
              <a:off x="11876236" y="3970169"/>
              <a:ext cx="146883"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mc:AlternateContent xmlns:mc="http://schemas.openxmlformats.org/markup-compatibility/2006" xmlns:a14="http://schemas.microsoft.com/office/drawing/2010/main">
          <mc:Choice Requires="a14">
            <p:sp>
              <p:nvSpPr>
                <p:cNvPr id="259" name="TextBox 258">
                  <a:extLst>
                    <a:ext uri="{FF2B5EF4-FFF2-40B4-BE49-F238E27FC236}">
                      <a16:creationId xmlns:a16="http://schemas.microsoft.com/office/drawing/2014/main" id="{B9225564-F2B8-4C40-82B9-EE3ED04BE56D}"/>
                    </a:ext>
                  </a:extLst>
                </p:cNvPr>
                <p:cNvSpPr txBox="1"/>
                <p:nvPr/>
              </p:nvSpPr>
              <p:spPr>
                <a:xfrm>
                  <a:off x="11354910" y="4342256"/>
                  <a:ext cx="393723"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𝑜𝑢𝑡</m:t>
                            </m:r>
                          </m:sub>
                        </m:sSub>
                      </m:oMath>
                    </m:oMathPara>
                  </a14:m>
                  <a:endParaRPr lang="en-US" dirty="0"/>
                </a:p>
              </p:txBody>
            </p:sp>
          </mc:Choice>
          <mc:Fallback xmlns="">
            <p:sp>
              <p:nvSpPr>
                <p:cNvPr id="259" name="TextBox 258">
                  <a:extLst>
                    <a:ext uri="{FF2B5EF4-FFF2-40B4-BE49-F238E27FC236}">
                      <a16:creationId xmlns:a16="http://schemas.microsoft.com/office/drawing/2014/main" id="{B9225564-F2B8-4C40-82B9-EE3ED04BE56D}"/>
                    </a:ext>
                  </a:extLst>
                </p:cNvPr>
                <p:cNvSpPr txBox="1">
                  <a:spLocks noRot="1" noChangeAspect="1" noMove="1" noResize="1" noEditPoints="1" noAdjustHandles="1" noChangeArrowheads="1" noChangeShapeType="1" noTextEdit="1"/>
                </p:cNvSpPr>
                <p:nvPr/>
              </p:nvSpPr>
              <p:spPr>
                <a:xfrm>
                  <a:off x="11354910" y="4342256"/>
                  <a:ext cx="393723" cy="369332"/>
                </a:xfrm>
                <a:prstGeom prst="rect">
                  <a:avLst/>
                </a:prstGeom>
                <a:blipFill>
                  <a:blip r:embed="rId21"/>
                  <a:stretch>
                    <a:fillRect r="-45161"/>
                  </a:stretch>
                </a:blipFill>
              </p:spPr>
              <p:txBody>
                <a:bodyPr/>
                <a:lstStyle/>
                <a:p>
                  <a:r>
                    <a:rPr lang="en-US">
                      <a:noFill/>
                    </a:rPr>
                    <a:t> </a:t>
                  </a:r>
                </a:p>
              </p:txBody>
            </p:sp>
          </mc:Fallback>
        </mc:AlternateContent>
        <p:grpSp>
          <p:nvGrpSpPr>
            <p:cNvPr id="260" name="Group 220">
              <a:extLst>
                <a:ext uri="{FF2B5EF4-FFF2-40B4-BE49-F238E27FC236}">
                  <a16:creationId xmlns:a16="http://schemas.microsoft.com/office/drawing/2014/main" id="{FB4A7B58-397A-0F4D-A97D-797BE87C36C1}"/>
                </a:ext>
              </a:extLst>
            </p:cNvPr>
            <p:cNvGrpSpPr>
              <a:grpSpLocks/>
            </p:cNvGrpSpPr>
            <p:nvPr/>
          </p:nvGrpSpPr>
          <p:grpSpPr bwMode="auto">
            <a:xfrm>
              <a:off x="11878500" y="4673522"/>
              <a:ext cx="146883" cy="302990"/>
              <a:chOff x="3264" y="3072"/>
              <a:chExt cx="96" cy="192"/>
            </a:xfrm>
          </p:grpSpPr>
          <p:sp>
            <p:nvSpPr>
              <p:cNvPr id="261" name="Line 17">
                <a:extLst>
                  <a:ext uri="{FF2B5EF4-FFF2-40B4-BE49-F238E27FC236}">
                    <a16:creationId xmlns:a16="http://schemas.microsoft.com/office/drawing/2014/main" id="{5CF00F68-7EEE-2D41-8639-2E9F551B3667}"/>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2" name="Freeform 18">
                <a:extLst>
                  <a:ext uri="{FF2B5EF4-FFF2-40B4-BE49-F238E27FC236}">
                    <a16:creationId xmlns:a16="http://schemas.microsoft.com/office/drawing/2014/main" id="{6EB469D3-A5D0-B54E-A9C8-15E2284A1408}"/>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mc:AlternateContent xmlns:mc="http://schemas.openxmlformats.org/markup-compatibility/2006" xmlns:a14="http://schemas.microsoft.com/office/drawing/2010/main">
          <mc:Choice Requires="a14">
            <p:sp>
              <p:nvSpPr>
                <p:cNvPr id="327" name="TextBox 326">
                  <a:extLst>
                    <a:ext uri="{FF2B5EF4-FFF2-40B4-BE49-F238E27FC236}">
                      <a16:creationId xmlns:a16="http://schemas.microsoft.com/office/drawing/2014/main" id="{8C17C5AE-D9FB-A64D-9B34-3F828F3FA94D}"/>
                    </a:ext>
                  </a:extLst>
                </p:cNvPr>
                <p:cNvSpPr txBox="1"/>
                <p:nvPr/>
              </p:nvSpPr>
              <p:spPr>
                <a:xfrm>
                  <a:off x="8935376" y="4191007"/>
                  <a:ext cx="387863" cy="333746"/>
                </a:xfrm>
                <a:prstGeom prst="rect">
                  <a:avLst/>
                </a:prstGeom>
                <a:noFill/>
              </p:spPr>
              <p:txBody>
                <a:bodyPr wrap="square" rtlCol="0">
                  <a:spAutoFit/>
                </a:bodyPr>
                <a:lstStyle/>
                <a:p>
                  <a:pPr/>
                  <a14:m>
                    <m:oMathPara xmlns:m="http://schemas.openxmlformats.org/officeDocument/2006/math">
                      <m:oMath>
                        <m:sSubSup>
                          <m:sSubSupPr>
                            <m:ctrlPr>
                              <a:rPr lang="en-US" sz="1600" i="1">
                                <a:latin typeface="Cambria Math" panose="02040503050406030204" pitchFamily="18" charset="0"/>
                                <a:cs typeface="Arial" charset="0"/>
                              </a:rPr>
                            </m:ctrlPr>
                          </m:sSubSupPr>
                          <m:e>
                            <m:r>
                              <a:rPr lang="en-US" sz="1600" i="1">
                                <a:latin typeface="Cambria Math" panose="02040503050406030204" pitchFamily="18" charset="0"/>
                                <a:cs typeface="Arial" charset="0"/>
                              </a:rPr>
                              <m:t>𝑋</m:t>
                            </m:r>
                          </m:e>
                          <m:sub>
                            <m:r>
                              <a:rPr lang="en-US" sz="1600" i="1">
                                <a:latin typeface="Cambria Math" panose="02040503050406030204" pitchFamily="18" charset="0"/>
                                <a:cs typeface="Arial" charset="0"/>
                              </a:rPr>
                              <m:t>2</m:t>
                            </m:r>
                          </m:sub>
                          <m:sup>
                            <m:r>
                              <a:rPr lang="en-US" sz="1600" i="1">
                                <a:latin typeface="Cambria Math" panose="02040503050406030204" pitchFamily="18" charset="0"/>
                                <a:cs typeface="Arial" charset="0"/>
                              </a:rPr>
                              <m:t>𝑎</m:t>
                            </m:r>
                          </m:sup>
                        </m:sSubSup>
                      </m:oMath>
                    </m:oMathPara>
                  </a14:m>
                  <a:endParaRPr lang="en-US" sz="1600" baseline="-25000" dirty="0"/>
                </a:p>
              </p:txBody>
            </p:sp>
          </mc:Choice>
          <mc:Fallback xmlns="">
            <p:sp>
              <p:nvSpPr>
                <p:cNvPr id="327" name="TextBox 326">
                  <a:extLst>
                    <a:ext uri="{FF2B5EF4-FFF2-40B4-BE49-F238E27FC236}">
                      <a16:creationId xmlns:a16="http://schemas.microsoft.com/office/drawing/2014/main" id="{8C17C5AE-D9FB-A64D-9B34-3F828F3FA94D}"/>
                    </a:ext>
                  </a:extLst>
                </p:cNvPr>
                <p:cNvSpPr txBox="1">
                  <a:spLocks noRot="1" noChangeAspect="1" noMove="1" noResize="1" noEditPoints="1" noAdjustHandles="1" noChangeArrowheads="1" noChangeShapeType="1" noTextEdit="1"/>
                </p:cNvSpPr>
                <p:nvPr/>
              </p:nvSpPr>
              <p:spPr>
                <a:xfrm>
                  <a:off x="8935376" y="4191007"/>
                  <a:ext cx="387863" cy="333746"/>
                </a:xfrm>
                <a:prstGeom prst="rect">
                  <a:avLst/>
                </a:prstGeom>
                <a:blipFill>
                  <a:blip r:embed="rId22"/>
                  <a:stretch>
                    <a:fillRect/>
                  </a:stretch>
                </a:blipFill>
              </p:spPr>
              <p:txBody>
                <a:bodyPr/>
                <a:lstStyle/>
                <a:p>
                  <a:r>
                    <a:rPr lang="en-US">
                      <a:noFill/>
                    </a:rPr>
                    <a:t> </a:t>
                  </a:r>
                </a:p>
              </p:txBody>
            </p:sp>
          </mc:Fallback>
        </mc:AlternateContent>
        <p:cxnSp>
          <p:nvCxnSpPr>
            <p:cNvPr id="328" name="Straight Connector 327">
              <a:extLst>
                <a:ext uri="{FF2B5EF4-FFF2-40B4-BE49-F238E27FC236}">
                  <a16:creationId xmlns:a16="http://schemas.microsoft.com/office/drawing/2014/main" id="{75EADE94-1738-F64C-AA64-6F0FAB8B587C}"/>
                </a:ext>
              </a:extLst>
            </p:cNvPr>
            <p:cNvCxnSpPr>
              <a:cxnSpLocks/>
            </p:cNvCxnSpPr>
            <p:nvPr/>
          </p:nvCxnSpPr>
          <p:spPr>
            <a:xfrm>
              <a:off x="9421415" y="3979965"/>
              <a:ext cx="41812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270641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14236" y="76003"/>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Negative feedback</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9605406" y="6425765"/>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51</a:t>
            </a:fld>
            <a:endParaRPr lang="en-US" dirty="0">
              <a:solidFill>
                <a:schemeClr val="tx1"/>
              </a:solidFil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1D6C4E5-95B3-8B40-8A25-9CE8DBFC2F52}"/>
                  </a:ext>
                </a:extLst>
              </p:cNvPr>
              <p:cNvSpPr txBox="1"/>
              <p:nvPr/>
            </p:nvSpPr>
            <p:spPr>
              <a:xfrm>
                <a:off x="484129" y="1320331"/>
                <a:ext cx="7840850" cy="5043413"/>
              </a:xfrm>
              <a:prstGeom prst="rect">
                <a:avLst/>
              </a:prstGeom>
              <a:noFill/>
            </p:spPr>
            <p:txBody>
              <a:bodyPr wrap="square" rtlCol="0">
                <a:noAutofit/>
              </a:bodyPr>
              <a:lstStyle/>
              <a:p>
                <a:pPr marL="285750" indent="-285750">
                  <a:buFont typeface="Arial" panose="020B0604020202020204" pitchFamily="34" charset="0"/>
                  <a:buChar char="•"/>
                </a:pPr>
                <a14:m>
                  <m:oMath xmlns:m="http://schemas.openxmlformats.org/officeDocument/2006/math">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2</m:t>
                            </m:r>
                          </m:sub>
                        </m:sSub>
                      </m:num>
                      <m:den>
                        <m:r>
                          <a:rPr lang="en-US" sz="2000" b="0" i="1" smtClean="0">
                            <a:latin typeface="Cambria Math" panose="02040503050406030204" pitchFamily="18" charset="0"/>
                          </a:rPr>
                          <m:t>𝐴</m:t>
                        </m:r>
                      </m:den>
                    </m:f>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r>
                      <a:rPr lang="en-US" sz="2000" b="0" i="1" smtClean="0">
                        <a:latin typeface="Cambria Math" panose="02040503050406030204" pitchFamily="18" charset="0"/>
                      </a:rPr>
                      <m:t>𝐵</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2</m:t>
                        </m:r>
                      </m:sub>
                    </m:sSub>
                    <m:r>
                      <a:rPr lang="en-US" sz="2000" b="0" i="0" smtClean="0">
                        <a:latin typeface="Cambria Math" panose="02040503050406030204" pitchFamily="18" charset="0"/>
                      </a:rPr>
                      <m:t>,   </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2</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1</m:t>
                            </m:r>
                          </m:sub>
                        </m:sSub>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𝐴</m:t>
                        </m:r>
                      </m:num>
                      <m:den>
                        <m:r>
                          <a:rPr lang="en-US" sz="2000" b="0" i="1" smtClean="0">
                            <a:latin typeface="Cambria Math" panose="02040503050406030204" pitchFamily="18" charset="0"/>
                          </a:rPr>
                          <m:t>1+</m:t>
                        </m:r>
                        <m:r>
                          <a:rPr lang="en-US" sz="2000" b="0" i="1" smtClean="0">
                            <a:latin typeface="Cambria Math" panose="02040503050406030204" pitchFamily="18" charset="0"/>
                          </a:rPr>
                          <m:t>𝐴𝐵</m:t>
                        </m:r>
                      </m:den>
                    </m:f>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𝐾</m:t>
                    </m:r>
                  </m:oMath>
                </a14:m>
                <a:endParaRPr lang="en-US" sz="2000" dirty="0"/>
              </a:p>
              <a:p>
                <a:pPr marL="285750" indent="-285750">
                  <a:buFont typeface="Arial" panose="020B0604020202020204" pitchFamily="34" charset="0"/>
                  <a:buChar char="•"/>
                </a:pPr>
                <a:r>
                  <a:rPr lang="en-US" sz="2000" dirty="0"/>
                  <a:t>No feedback (</a:t>
                </a:r>
                <a14:m>
                  <m:oMath xmlns:m="http://schemas.openxmlformats.org/officeDocument/2006/math">
                    <m:r>
                      <a:rPr lang="en-US" sz="2000" b="0" i="1" smtClean="0">
                        <a:latin typeface="Cambria Math" panose="02040503050406030204" pitchFamily="18" charset="0"/>
                      </a:rPr>
                      <m:t>𝐵</m:t>
                    </m:r>
                    <m:r>
                      <a:rPr lang="en-US" sz="2000" b="0" i="1" smtClean="0">
                        <a:latin typeface="Cambria Math" panose="02040503050406030204" pitchFamily="18" charset="0"/>
                      </a:rPr>
                      <m:t>=0</m:t>
                    </m:r>
                  </m:oMath>
                </a14:m>
                <a:r>
                  <a:rPr lang="en-US" sz="2000" b="0" dirty="0"/>
                  <a:t>):</a:t>
                </a:r>
              </a:p>
              <a:p>
                <a:pPr marL="742950" lvl="1" indent="-285750">
                  <a:buFont typeface="Arial" panose="020B0604020202020204" pitchFamily="34" charset="0"/>
                  <a:buChar char="•"/>
                </a:pPr>
                <a14:m>
                  <m:oMath xmlns:m="http://schemas.openxmlformats.org/officeDocument/2006/math">
                    <m:r>
                      <a:rPr lang="en-US" sz="2000" b="0" i="1" smtClean="0">
                        <a:latin typeface="Cambria Math" panose="02040503050406030204" pitchFamily="18" charset="0"/>
                      </a:rPr>
                      <m:t>𝐾</m:t>
                    </m:r>
                    <m:r>
                      <a:rPr lang="en-US" sz="2000" b="0" i="1" smtClean="0">
                        <a:latin typeface="Cambria Math" panose="02040503050406030204" pitchFamily="18" charset="0"/>
                      </a:rPr>
                      <m:t>=</m:t>
                    </m:r>
                    <m:r>
                      <a:rPr lang="en-US" sz="2000" b="0" i="1" smtClean="0">
                        <a:latin typeface="Cambria Math" panose="02040503050406030204" pitchFamily="18" charset="0"/>
                      </a:rPr>
                      <m:t>𝐴</m:t>
                    </m:r>
                  </m:oMath>
                </a14:m>
                <a:endParaRPr lang="en-US" sz="2000" b="0" dirty="0"/>
              </a:p>
              <a:p>
                <a:pPr marL="285750" indent="-285750">
                  <a:buFont typeface="Arial" panose="020B0604020202020204" pitchFamily="34" charset="0"/>
                  <a:buChar char="•"/>
                </a:pPr>
                <a14:m>
                  <m:oMath xmlns:m="http://schemas.openxmlformats.org/officeDocument/2006/math">
                    <m:r>
                      <a:rPr lang="en-US" sz="2000" b="0" i="1" smtClean="0">
                        <a:latin typeface="Cambria Math" panose="02040503050406030204" pitchFamily="18" charset="0"/>
                      </a:rPr>
                      <m:t>𝐴𝐵</m:t>
                    </m:r>
                    <m:r>
                      <a:rPr lang="en-US" sz="2000" b="0" i="1" smtClean="0">
                        <a:latin typeface="Cambria Math" panose="02040503050406030204" pitchFamily="18" charset="0"/>
                      </a:rPr>
                      <m:t>&lt;0, 1+</m:t>
                    </m:r>
                    <m:r>
                      <a:rPr lang="en-US" sz="2000" b="0" i="1" smtClean="0">
                        <a:latin typeface="Cambria Math" panose="02040503050406030204" pitchFamily="18" charset="0"/>
                      </a:rPr>
                      <m:t>𝐴𝐵</m:t>
                    </m:r>
                    <m:r>
                      <a:rPr lang="en-US" sz="2000" b="0" i="1" smtClean="0">
                        <a:latin typeface="Cambria Math" panose="02040503050406030204" pitchFamily="18" charset="0"/>
                      </a:rPr>
                      <m:t>&lt;1</m:t>
                    </m:r>
                  </m:oMath>
                </a14:m>
                <a:endParaRPr lang="en-US" sz="2000" b="0" dirty="0"/>
              </a:p>
              <a:p>
                <a:pPr marL="742950" lvl="1" indent="-285750">
                  <a:buFont typeface="Arial" panose="020B0604020202020204" pitchFamily="34" charset="0"/>
                  <a:buChar char="•"/>
                </a:pPr>
                <a14:m>
                  <m:oMath xmlns:m="http://schemas.openxmlformats.org/officeDocument/2006/math">
                    <m:r>
                      <a:rPr lang="en-US" sz="2000" b="0" i="1" smtClean="0">
                        <a:latin typeface="Cambria Math" panose="02040503050406030204" pitchFamily="18" charset="0"/>
                      </a:rPr>
                      <m:t>𝐾</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𝐴</m:t>
                    </m:r>
                  </m:oMath>
                </a14:m>
                <a:endParaRPr lang="en-US" sz="2000" b="0" dirty="0"/>
              </a:p>
              <a:p>
                <a:pPr marL="285750" indent="-285750">
                  <a:buFont typeface="Arial" panose="020B0604020202020204" pitchFamily="34" charset="0"/>
                  <a:buChar char="•"/>
                </a:pPr>
                <a14:m>
                  <m:oMath xmlns:m="http://schemas.openxmlformats.org/officeDocument/2006/math">
                    <m:r>
                      <a:rPr lang="en-US" sz="2000" i="1">
                        <a:latin typeface="Cambria Math" panose="02040503050406030204" pitchFamily="18" charset="0"/>
                      </a:rPr>
                      <m:t>𝐴𝐵</m:t>
                    </m:r>
                    <m:r>
                      <a:rPr lang="en-US" sz="2000" b="0" i="1" smtClean="0">
                        <a:latin typeface="Cambria Math" panose="02040503050406030204" pitchFamily="18" charset="0"/>
                      </a:rPr>
                      <m:t>=−1</m:t>
                    </m:r>
                  </m:oMath>
                </a14:m>
                <a:endParaRPr lang="en-US" sz="2000" b="0" dirty="0"/>
              </a:p>
              <a:p>
                <a:pPr marL="742950" lvl="1" indent="-285750">
                  <a:buFont typeface="Arial" panose="020B0604020202020204" pitchFamily="34" charset="0"/>
                  <a:buChar char="•"/>
                </a:pPr>
                <a14:m>
                  <m:oMath xmlns:m="http://schemas.openxmlformats.org/officeDocument/2006/math">
                    <m:r>
                      <a:rPr lang="en-US" sz="2000" b="0" i="1" smtClean="0">
                        <a:latin typeface="Cambria Math" panose="02040503050406030204" pitchFamily="18" charset="0"/>
                      </a:rPr>
                      <m:t>𝐾</m:t>
                    </m:r>
                    <m:r>
                      <a:rPr lang="en-US" sz="2000" b="0" i="1" smtClean="0">
                        <a:latin typeface="Cambria Math" panose="02040503050406030204" pitchFamily="18" charset="0"/>
                      </a:rPr>
                      <m:t>=∞</m:t>
                    </m:r>
                  </m:oMath>
                </a14:m>
                <a:endParaRPr lang="en-US" sz="2000" b="0" dirty="0"/>
              </a:p>
              <a:p>
                <a:pPr marL="285750" indent="-285750">
                  <a:buFont typeface="Arial" panose="020B0604020202020204" pitchFamily="34" charset="0"/>
                  <a:buChar char="•"/>
                </a:pPr>
                <a14:m>
                  <m:oMath xmlns:m="http://schemas.openxmlformats.org/officeDocument/2006/math">
                    <m:r>
                      <a:rPr lang="en-US" sz="2000" i="1">
                        <a:latin typeface="Cambria Math" panose="02040503050406030204" pitchFamily="18" charset="0"/>
                      </a:rPr>
                      <m:t>𝐴𝐵</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0</m:t>
                    </m:r>
                  </m:oMath>
                </a14:m>
                <a:endParaRPr lang="en-US" sz="2000" b="0" dirty="0"/>
              </a:p>
              <a:p>
                <a:pPr marL="742950" lvl="1" indent="-285750">
                  <a:buFont typeface="Arial" panose="020B0604020202020204" pitchFamily="34" charset="0"/>
                  <a:buChar char="•"/>
                </a:pPr>
                <a14:m>
                  <m:oMath xmlns:m="http://schemas.openxmlformats.org/officeDocument/2006/math">
                    <m:r>
                      <a:rPr lang="en-US" sz="2000" b="0" i="1" smtClean="0">
                        <a:latin typeface="Cambria Math" panose="02040503050406030204" pitchFamily="18" charset="0"/>
                      </a:rPr>
                      <m:t>𝐾</m:t>
                    </m:r>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m:t>
                        </m:r>
                      </m:num>
                      <m:den>
                        <m:r>
                          <a:rPr lang="en-US" sz="2000" b="0" i="1" smtClean="0">
                            <a:latin typeface="Cambria Math" panose="02040503050406030204" pitchFamily="18" charset="0"/>
                            <a:ea typeface="Cambria Math" panose="02040503050406030204" pitchFamily="18" charset="0"/>
                          </a:rPr>
                          <m:t>𝐵</m:t>
                        </m:r>
                      </m:den>
                    </m:f>
                  </m:oMath>
                </a14:m>
                <a:endParaRPr lang="en-US" sz="2000" b="0" dirty="0"/>
              </a:p>
              <a:p>
                <a:pPr marL="285750" indent="-285750">
                  <a:buFont typeface="Arial" panose="020B0604020202020204" pitchFamily="34" charset="0"/>
                  <a:buChar char="•"/>
                </a:pPr>
                <a14:m>
                  <m:oMath xmlns:m="http://schemas.openxmlformats.org/officeDocument/2006/math">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𝑑𝐾</m:t>
                        </m:r>
                      </m:num>
                      <m:den>
                        <m:r>
                          <a:rPr lang="en-US" sz="2000" b="0" i="1" smtClean="0">
                            <a:latin typeface="Cambria Math" panose="02040503050406030204" pitchFamily="18" charset="0"/>
                          </a:rPr>
                          <m:t>𝑑𝐴</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(1+</m:t>
                            </m:r>
                            <m:r>
                              <a:rPr lang="en-US" sz="2000" b="0" i="1" smtClean="0">
                                <a:latin typeface="Cambria Math" panose="02040503050406030204" pitchFamily="18" charset="0"/>
                              </a:rPr>
                              <m:t>𝐴𝐵</m:t>
                            </m:r>
                            <m:r>
                              <a:rPr lang="en-US" sz="2000" b="0" i="1" smtClean="0">
                                <a:latin typeface="Cambria Math" panose="02040503050406030204" pitchFamily="18" charset="0"/>
                              </a:rPr>
                              <m:t>)</m:t>
                            </m:r>
                          </m:e>
                          <m:sup>
                            <m:r>
                              <a:rPr lang="en-US" sz="2000" b="0" i="1" smtClean="0">
                                <a:latin typeface="Cambria Math" panose="02040503050406030204" pitchFamily="18" charset="0"/>
                              </a:rPr>
                              <m:t>2</m:t>
                            </m:r>
                          </m:sup>
                        </m:sSup>
                      </m:den>
                    </m:f>
                  </m:oMath>
                </a14:m>
                <a:r>
                  <a:rPr lang="en-US" sz="2000" b="0" dirty="0"/>
                  <a:t> measures stability</a:t>
                </a:r>
              </a:p>
              <a:p>
                <a:pPr marL="285750" indent="-285750">
                  <a:buFont typeface="Arial" panose="020B0604020202020204" pitchFamily="34" charset="0"/>
                  <a:buChar char="•"/>
                </a:pPr>
                <a:r>
                  <a:rPr lang="en-US" sz="2000" dirty="0"/>
                  <a:t>If forward gain is </a:t>
                </a:r>
                <a14:m>
                  <m:oMath xmlns:m="http://schemas.openxmlformats.org/officeDocument/2006/math">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𝐴</m:t>
                        </m:r>
                      </m:num>
                      <m:den>
                        <m:r>
                          <a:rPr lang="en-US" sz="2000" b="0" i="1" smtClean="0">
                            <a:latin typeface="Cambria Math" panose="02040503050406030204" pitchFamily="18" charset="0"/>
                          </a:rPr>
                          <m:t>1+</m:t>
                        </m:r>
                        <m:r>
                          <a:rPr lang="en-US" sz="2000" b="0" i="1" smtClean="0">
                            <a:latin typeface="Cambria Math" panose="02040503050406030204" pitchFamily="18" charset="0"/>
                          </a:rPr>
                          <m:t>𝑗</m:t>
                        </m:r>
                        <m:r>
                          <a:rPr lang="en-US" sz="2000" b="0" i="1" smtClean="0">
                            <a:latin typeface="Cambria Math" panose="02040503050406030204" pitchFamily="18" charset="0"/>
                            <a:ea typeface="Cambria Math" panose="02040503050406030204" pitchFamily="18" charset="0"/>
                          </a:rPr>
                          <m:t>𝜔</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𝜏</m:t>
                            </m:r>
                          </m:e>
                          <m:sub>
                            <m:r>
                              <a:rPr lang="en-US" sz="2000" b="0" i="1" smtClean="0">
                                <a:latin typeface="Cambria Math" panose="02040503050406030204" pitchFamily="18" charset="0"/>
                                <a:ea typeface="Cambria Math" panose="02040503050406030204" pitchFamily="18" charset="0"/>
                              </a:rPr>
                              <m:t>1</m:t>
                            </m:r>
                          </m:sub>
                        </m:sSub>
                      </m:den>
                    </m:f>
                  </m:oMath>
                </a14:m>
                <a:r>
                  <a:rPr lang="en-US" sz="2000" b="0" dirty="0"/>
                  <a: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𝐾</m:t>
                        </m:r>
                      </m:e>
                      <m:sub>
                        <m:r>
                          <a:rPr lang="en-US" sz="2000" b="0" i="1" smtClean="0">
                            <a:latin typeface="Cambria Math" panose="02040503050406030204" pitchFamily="18" charset="0"/>
                          </a:rPr>
                          <m:t>𝑓𝑒𝑒𝑏𝑏𝑎𝑐𝑘</m:t>
                        </m:r>
                      </m:sub>
                    </m:sSub>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(1+</m:t>
                            </m:r>
                            <m:r>
                              <a:rPr lang="en-US" sz="2000" b="0" i="1" smtClean="0">
                                <a:latin typeface="Cambria Math" panose="02040503050406030204" pitchFamily="18" charset="0"/>
                              </a:rPr>
                              <m:t>𝐴𝐵</m:t>
                            </m:r>
                            <m:r>
                              <a:rPr lang="en-US" sz="2000" b="0" i="1" smtClean="0">
                                <a:latin typeface="Cambria Math" panose="02040503050406030204" pitchFamily="18" charset="0"/>
                              </a:rPr>
                              <m:t>)</m:t>
                            </m:r>
                            <m:r>
                              <a:rPr lang="en-US" sz="2000" b="0" i="1" smtClean="0">
                                <a:latin typeface="Cambria Math" panose="02040503050406030204" pitchFamily="18" charset="0"/>
                              </a:rPr>
                              <m:t>𝐾</m:t>
                            </m:r>
                          </m:e>
                          <m:sub>
                            <m:r>
                              <a:rPr lang="en-US" sz="2000" b="0" i="1" smtClean="0">
                                <a:latin typeface="Cambria Math" panose="02040503050406030204" pitchFamily="18" charset="0"/>
                              </a:rPr>
                              <m:t>𝑛𝑜</m:t>
                            </m:r>
                            <m:r>
                              <a:rPr lang="en-US" sz="2000" b="0" i="1" smtClean="0">
                                <a:latin typeface="Cambria Math" panose="02040503050406030204" pitchFamily="18" charset="0"/>
                              </a:rPr>
                              <m:t>−</m:t>
                            </m:r>
                            <m:r>
                              <a:rPr lang="en-US" sz="2000" b="0" i="1" smtClean="0">
                                <a:latin typeface="Cambria Math" panose="02040503050406030204" pitchFamily="18" charset="0"/>
                              </a:rPr>
                              <m:t>𝑓𝑒𝑒𝑑𝑏𝑎𝑐𝑘</m:t>
                            </m:r>
                          </m:sub>
                        </m:sSub>
                      </m:num>
                      <m:den>
                        <m:r>
                          <a:rPr lang="en-US" sz="2000" i="1">
                            <a:latin typeface="Cambria Math" panose="02040503050406030204" pitchFamily="18" charset="0"/>
                          </a:rPr>
                          <m:t>1+</m:t>
                        </m:r>
                        <m:r>
                          <a:rPr lang="en-US" sz="2000" i="1">
                            <a:latin typeface="Cambria Math" panose="02040503050406030204" pitchFamily="18" charset="0"/>
                          </a:rPr>
                          <m:t>𝑗</m:t>
                        </m:r>
                        <m:r>
                          <a:rPr lang="en-US" sz="2000" i="1">
                            <a:latin typeface="Cambria Math" panose="02040503050406030204" pitchFamily="18" charset="0"/>
                            <a:ea typeface="Cambria Math" panose="02040503050406030204" pitchFamily="18" charset="0"/>
                          </a:rPr>
                          <m:t>𝜔</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𝜏</m:t>
                            </m:r>
                          </m:e>
                          <m:sub>
                            <m:r>
                              <a:rPr lang="en-US" sz="2000" i="1">
                                <a:latin typeface="Cambria Math" panose="02040503050406030204" pitchFamily="18" charset="0"/>
                                <a:ea typeface="Cambria Math" panose="02040503050406030204" pitchFamily="18" charset="0"/>
                              </a:rPr>
                              <m:t>1</m:t>
                            </m:r>
                          </m:sub>
                        </m:sSub>
                      </m:den>
                    </m:f>
                  </m:oMath>
                </a14:m>
                <a:endParaRPr lang="en-US" sz="2000" b="0" dirty="0"/>
              </a:p>
              <a:p>
                <a:pPr marL="742950" lvl="1" indent="-285750">
                  <a:buFont typeface="Arial" panose="020B0604020202020204" pitchFamily="34" charset="0"/>
                  <a:buChar char="•"/>
                </a:pPr>
                <a:r>
                  <a:rPr lang="en-US" sz="2000" dirty="0"/>
                  <a:t>This increases frequency response</a:t>
                </a:r>
              </a:p>
              <a:p>
                <a:pPr marL="285750" indent="-285750">
                  <a:buFont typeface="Arial" panose="020B0604020202020204" pitchFamily="34" charset="0"/>
                  <a:buChar char="•"/>
                </a:pPr>
                <a:r>
                  <a:rPr lang="en-US" sz="2000" b="0" dirty="0"/>
                  <a:t>Effect on impedance</a:t>
                </a:r>
                <a:endParaRPr lang="en-US" sz="2000" dirty="0"/>
              </a:p>
              <a:p>
                <a:pPr marL="742950" lvl="1" indent="-28575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1</m:t>
                        </m:r>
                      </m:sub>
                    </m:sSub>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𝑍</m:t>
                        </m:r>
                      </m:e>
                      <m:sub>
                        <m:r>
                          <a:rPr lang="en-US" sz="2000" b="0" i="1" smtClean="0">
                            <a:latin typeface="Cambria Math" panose="02040503050406030204" pitchFamily="18" charset="0"/>
                            <a:ea typeface="Cambria Math" panose="02040503050406030204" pitchFamily="18" charset="0"/>
                          </a:rPr>
                          <m:t>1</m:t>
                        </m:r>
                      </m:sub>
                    </m:sSub>
                    <m:r>
                      <a:rPr lang="en-US" sz="2000" b="0" i="1" smtClean="0">
                        <a:latin typeface="Cambria Math" panose="02040503050406030204" pitchFamily="18" charset="0"/>
                        <a:ea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𝐴𝐵</m:t>
                    </m:r>
                    <m:r>
                      <a:rPr lang="en-US" sz="2000" b="0" i="1" smtClean="0">
                        <a:latin typeface="Cambria Math" panose="02040503050406030204" pitchFamily="18" charset="0"/>
                        <a:ea typeface="Cambria Math" panose="02040503050406030204" pitchFamily="18" charset="0"/>
                      </a:rPr>
                      <m:t>)</m:t>
                    </m:r>
                  </m:oMath>
                </a14:m>
                <a:r>
                  <a:rPr lang="en-US" sz="2000" b="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𝑍</m:t>
                        </m:r>
                      </m:e>
                      <m:sub>
                        <m:r>
                          <a:rPr lang="en-US" sz="2000" b="0" i="1" smtClean="0">
                            <a:latin typeface="Cambria Math" panose="02040503050406030204" pitchFamily="18" charset="0"/>
                          </a:rPr>
                          <m:t>2</m:t>
                        </m:r>
                      </m:sub>
                    </m:sSub>
                    <m:r>
                      <a:rPr lang="en-US" sz="2000" i="1">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𝑍</m:t>
                            </m:r>
                          </m:e>
                          <m:sub>
                            <m:r>
                              <a:rPr lang="en-US" sz="2000" i="1">
                                <a:latin typeface="Cambria Math" panose="02040503050406030204" pitchFamily="18" charset="0"/>
                              </a:rPr>
                              <m:t>2</m:t>
                            </m:r>
                          </m:sub>
                        </m:sSub>
                      </m:num>
                      <m:den>
                        <m:r>
                          <a:rPr lang="en-US" sz="2000" i="1">
                            <a:latin typeface="Cambria Math" panose="02040503050406030204" pitchFamily="18" charset="0"/>
                            <a:ea typeface="Cambria Math" panose="02040503050406030204" pitchFamily="18" charset="0"/>
                          </a:rPr>
                          <m:t>1+</m:t>
                        </m:r>
                        <m:r>
                          <a:rPr lang="en-US" sz="2000" i="1">
                            <a:latin typeface="Cambria Math" panose="02040503050406030204" pitchFamily="18" charset="0"/>
                            <a:ea typeface="Cambria Math" panose="02040503050406030204" pitchFamily="18" charset="0"/>
                          </a:rPr>
                          <m:t>𝐴𝐵</m:t>
                        </m:r>
                      </m:den>
                    </m:f>
                  </m:oMath>
                </a14:m>
                <a:endParaRPr lang="en-US" sz="2000" dirty="0"/>
              </a:p>
              <a:p>
                <a:pPr marL="285750" indent="-285750">
                  <a:buFont typeface="Arial" panose="020B0604020202020204" pitchFamily="34" charset="0"/>
                  <a:buChar char="•"/>
                </a:pPr>
                <a:endParaRPr lang="en-US" dirty="0"/>
              </a:p>
            </p:txBody>
          </p:sp>
        </mc:Choice>
        <mc:Fallback xmlns="">
          <p:sp>
            <p:nvSpPr>
              <p:cNvPr id="2" name="TextBox 1">
                <a:extLst>
                  <a:ext uri="{FF2B5EF4-FFF2-40B4-BE49-F238E27FC236}">
                    <a16:creationId xmlns:a16="http://schemas.microsoft.com/office/drawing/2014/main" id="{01D6C4E5-95B3-8B40-8A25-9CE8DBFC2F52}"/>
                  </a:ext>
                </a:extLst>
              </p:cNvPr>
              <p:cNvSpPr txBox="1">
                <a:spLocks noRot="1" noChangeAspect="1" noMove="1" noResize="1" noEditPoints="1" noAdjustHandles="1" noChangeArrowheads="1" noChangeShapeType="1" noTextEdit="1"/>
              </p:cNvSpPr>
              <p:nvPr/>
            </p:nvSpPr>
            <p:spPr>
              <a:xfrm>
                <a:off x="484129" y="1320331"/>
                <a:ext cx="7840850" cy="5043413"/>
              </a:xfrm>
              <a:prstGeom prst="rect">
                <a:avLst/>
              </a:prstGeom>
              <a:blipFill>
                <a:blip r:embed="rId3"/>
                <a:stretch>
                  <a:fillRect l="-485" b="-2764"/>
                </a:stretch>
              </a:blipFill>
            </p:spPr>
            <p:txBody>
              <a:bodyPr/>
              <a:lstStyle/>
              <a:p>
                <a:r>
                  <a:rPr lang="en-US">
                    <a:noFill/>
                  </a:rPr>
                  <a:t> </a:t>
                </a:r>
              </a:p>
            </p:txBody>
          </p:sp>
        </mc:Fallback>
      </mc:AlternateContent>
      <p:grpSp>
        <p:nvGrpSpPr>
          <p:cNvPr id="25" name="Group 24">
            <a:extLst>
              <a:ext uri="{FF2B5EF4-FFF2-40B4-BE49-F238E27FC236}">
                <a16:creationId xmlns:a16="http://schemas.microsoft.com/office/drawing/2014/main" id="{303BCB01-B127-3148-BDF5-07CD6F4D56A8}"/>
              </a:ext>
            </a:extLst>
          </p:cNvPr>
          <p:cNvGrpSpPr/>
          <p:nvPr/>
        </p:nvGrpSpPr>
        <p:grpSpPr>
          <a:xfrm>
            <a:off x="8485276" y="2678119"/>
            <a:ext cx="3272651" cy="1868481"/>
            <a:chOff x="7930301" y="2578295"/>
            <a:chExt cx="3567548" cy="1893497"/>
          </a:xfrm>
        </p:grpSpPr>
        <p:sp>
          <p:nvSpPr>
            <p:cNvPr id="117" name="Freeform 43">
              <a:extLst>
                <a:ext uri="{FF2B5EF4-FFF2-40B4-BE49-F238E27FC236}">
                  <a16:creationId xmlns:a16="http://schemas.microsoft.com/office/drawing/2014/main" id="{8EDA3DBA-303A-A644-AA62-49A9855D1A27}"/>
                </a:ext>
              </a:extLst>
            </p:cNvPr>
            <p:cNvSpPr>
              <a:spLocks/>
            </p:cNvSpPr>
            <p:nvPr/>
          </p:nvSpPr>
          <p:spPr bwMode="auto">
            <a:xfrm>
              <a:off x="9386728" y="2578295"/>
              <a:ext cx="789273" cy="986514"/>
            </a:xfrm>
            <a:custGeom>
              <a:avLst/>
              <a:gdLst>
                <a:gd name="T0" fmla="*/ 6120 w 432"/>
                <a:gd name="T1" fmla="*/ 779 h 768"/>
                <a:gd name="T2" fmla="*/ 0 w 432"/>
                <a:gd name="T3" fmla="*/ 1558 h 768"/>
                <a:gd name="T4" fmla="*/ 0 w 432"/>
                <a:gd name="T5" fmla="*/ 0 h 768"/>
                <a:gd name="T6" fmla="*/ 6120 w 432"/>
                <a:gd name="T7" fmla="*/ 779 h 768"/>
                <a:gd name="T8" fmla="*/ 0 60000 65536"/>
                <a:gd name="T9" fmla="*/ 0 60000 65536"/>
                <a:gd name="T10" fmla="*/ 0 60000 65536"/>
                <a:gd name="T11" fmla="*/ 0 60000 65536"/>
                <a:gd name="T12" fmla="*/ 0 w 432"/>
                <a:gd name="T13" fmla="*/ 0 h 768"/>
                <a:gd name="T14" fmla="*/ 432 w 432"/>
                <a:gd name="T15" fmla="*/ 768 h 768"/>
              </a:gdLst>
              <a:ahLst/>
              <a:cxnLst>
                <a:cxn ang="T8">
                  <a:pos x="T0" y="T1"/>
                </a:cxn>
                <a:cxn ang="T9">
                  <a:pos x="T2" y="T3"/>
                </a:cxn>
                <a:cxn ang="T10">
                  <a:pos x="T4" y="T5"/>
                </a:cxn>
                <a:cxn ang="T11">
                  <a:pos x="T6" y="T7"/>
                </a:cxn>
              </a:cxnLst>
              <a:rect l="T12" t="T13" r="T14" b="T15"/>
              <a:pathLst>
                <a:path w="432" h="768">
                  <a:moveTo>
                    <a:pt x="432" y="384"/>
                  </a:moveTo>
                  <a:lnTo>
                    <a:pt x="0" y="768"/>
                  </a:lnTo>
                  <a:lnTo>
                    <a:pt x="0" y="0"/>
                  </a:lnTo>
                  <a:lnTo>
                    <a:pt x="432" y="38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grpSp>
          <p:nvGrpSpPr>
            <p:cNvPr id="154" name="Group 13">
              <a:extLst>
                <a:ext uri="{FF2B5EF4-FFF2-40B4-BE49-F238E27FC236}">
                  <a16:creationId xmlns:a16="http://schemas.microsoft.com/office/drawing/2014/main" id="{CEA9266D-062C-B64C-874B-5517117ADE8F}"/>
                </a:ext>
              </a:extLst>
            </p:cNvPr>
            <p:cNvGrpSpPr>
              <a:grpSpLocks noChangeAspect="1"/>
            </p:cNvGrpSpPr>
            <p:nvPr/>
          </p:nvGrpSpPr>
          <p:grpSpPr bwMode="auto">
            <a:xfrm>
              <a:off x="11202225" y="2993308"/>
              <a:ext cx="152400" cy="152400"/>
              <a:chOff x="1344" y="2064"/>
              <a:chExt cx="192" cy="192"/>
            </a:xfrm>
          </p:grpSpPr>
          <p:sp>
            <p:nvSpPr>
              <p:cNvPr id="186" name="Oval 14">
                <a:extLst>
                  <a:ext uri="{FF2B5EF4-FFF2-40B4-BE49-F238E27FC236}">
                    <a16:creationId xmlns:a16="http://schemas.microsoft.com/office/drawing/2014/main" id="{22F3A559-78E9-1B43-BB96-68D74F7CC146}"/>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87" name="Rectangle 15">
                <a:extLst>
                  <a:ext uri="{FF2B5EF4-FFF2-40B4-BE49-F238E27FC236}">
                    <a16:creationId xmlns:a16="http://schemas.microsoft.com/office/drawing/2014/main" id="{BC6F730F-47A3-2A48-878E-61E75F9BA9C0}"/>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5" name="Rectangle 4">
              <a:extLst>
                <a:ext uri="{FF2B5EF4-FFF2-40B4-BE49-F238E27FC236}">
                  <a16:creationId xmlns:a16="http://schemas.microsoft.com/office/drawing/2014/main" id="{E2745A86-330C-1544-8C51-33099C6FE236}"/>
                </a:ext>
              </a:extLst>
            </p:cNvPr>
            <p:cNvSpPr/>
            <p:nvPr/>
          </p:nvSpPr>
          <p:spPr>
            <a:xfrm>
              <a:off x="9240541" y="3877938"/>
              <a:ext cx="1181416" cy="593854"/>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1A435C7-C08A-AF4D-B209-4A0D52D67800}"/>
                </a:ext>
              </a:extLst>
            </p:cNvPr>
            <p:cNvSpPr txBox="1"/>
            <p:nvPr/>
          </p:nvSpPr>
          <p:spPr>
            <a:xfrm>
              <a:off x="9474506" y="2853369"/>
              <a:ext cx="341523" cy="372626"/>
            </a:xfrm>
            <a:prstGeom prst="rect">
              <a:avLst/>
            </a:prstGeom>
            <a:noFill/>
          </p:spPr>
          <p:txBody>
            <a:bodyPr wrap="square" rtlCol="0">
              <a:spAutoFit/>
            </a:bodyPr>
            <a:lstStyle/>
            <a:p>
              <a:r>
                <a:rPr lang="en-US" dirty="0"/>
                <a:t>A</a:t>
              </a:r>
            </a:p>
          </p:txBody>
        </p:sp>
        <p:sp>
          <p:nvSpPr>
            <p:cNvPr id="188" name="TextBox 187">
              <a:extLst>
                <a:ext uri="{FF2B5EF4-FFF2-40B4-BE49-F238E27FC236}">
                  <a16:creationId xmlns:a16="http://schemas.microsoft.com/office/drawing/2014/main" id="{49908BC8-5012-AA42-84F7-8CEF01D0FC8B}"/>
                </a:ext>
              </a:extLst>
            </p:cNvPr>
            <p:cNvSpPr txBox="1"/>
            <p:nvPr/>
          </p:nvSpPr>
          <p:spPr>
            <a:xfrm>
              <a:off x="9582838" y="3964236"/>
              <a:ext cx="341523" cy="372626"/>
            </a:xfrm>
            <a:prstGeom prst="rect">
              <a:avLst/>
            </a:prstGeom>
            <a:noFill/>
          </p:spPr>
          <p:txBody>
            <a:bodyPr wrap="square" rtlCol="0">
              <a:spAutoFit/>
            </a:bodyPr>
            <a:lstStyle/>
            <a:p>
              <a:r>
                <a:rPr lang="en-US" dirty="0"/>
                <a:t>B</a:t>
              </a:r>
            </a:p>
          </p:txBody>
        </p:sp>
        <p:sp>
          <p:nvSpPr>
            <p:cNvPr id="7" name="Oval 6">
              <a:extLst>
                <a:ext uri="{FF2B5EF4-FFF2-40B4-BE49-F238E27FC236}">
                  <a16:creationId xmlns:a16="http://schemas.microsoft.com/office/drawing/2014/main" id="{2CC0419D-A0D9-CE45-B7E1-F9F47E67E181}"/>
                </a:ext>
              </a:extLst>
            </p:cNvPr>
            <p:cNvSpPr/>
            <p:nvPr/>
          </p:nvSpPr>
          <p:spPr>
            <a:xfrm>
              <a:off x="8462010" y="2900907"/>
              <a:ext cx="324998" cy="300558"/>
            </a:xfrm>
            <a:prstGeom prst="ellipse">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40C72B2-814B-C445-AFD2-D0A7FFEADDE4}"/>
                </a:ext>
              </a:extLst>
            </p:cNvPr>
            <p:cNvSpPr txBox="1"/>
            <p:nvPr/>
          </p:nvSpPr>
          <p:spPr>
            <a:xfrm>
              <a:off x="8480120" y="2857068"/>
              <a:ext cx="218587" cy="369332"/>
            </a:xfrm>
            <a:prstGeom prst="rect">
              <a:avLst/>
            </a:prstGeom>
            <a:noFill/>
          </p:spPr>
          <p:txBody>
            <a:bodyPr wrap="square" rtlCol="0">
              <a:spAutoFit/>
            </a:bodyPr>
            <a:lstStyle/>
            <a:p>
              <a:r>
                <a:rPr lang="en-US" dirty="0"/>
                <a:t>+</a:t>
              </a:r>
            </a:p>
          </p:txBody>
        </p:sp>
        <p:cxnSp>
          <p:nvCxnSpPr>
            <p:cNvPr id="10" name="Straight Arrow Connector 9">
              <a:extLst>
                <a:ext uri="{FF2B5EF4-FFF2-40B4-BE49-F238E27FC236}">
                  <a16:creationId xmlns:a16="http://schemas.microsoft.com/office/drawing/2014/main" id="{407864D3-8BB0-614B-8D7E-72F36EF4AF3C}"/>
                </a:ext>
              </a:extLst>
            </p:cNvPr>
            <p:cNvCxnSpPr/>
            <p:nvPr/>
          </p:nvCxnSpPr>
          <p:spPr>
            <a:xfrm>
              <a:off x="10155923" y="3068464"/>
              <a:ext cx="1097280" cy="0"/>
            </a:xfrm>
            <a:prstGeom prst="straightConnector1">
              <a:avLst/>
            </a:prstGeom>
            <a:ln w="254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DD7B2CEA-85E8-2E4A-B309-BBC98E6F579D}"/>
                </a:ext>
              </a:extLst>
            </p:cNvPr>
            <p:cNvCxnSpPr>
              <a:cxnSpLocks/>
            </p:cNvCxnSpPr>
            <p:nvPr/>
          </p:nvCxnSpPr>
          <p:spPr>
            <a:xfrm flipH="1" flipV="1">
              <a:off x="8614465" y="3226400"/>
              <a:ext cx="10044" cy="971026"/>
            </a:xfrm>
            <a:prstGeom prst="straightConnector1">
              <a:avLst/>
            </a:prstGeom>
            <a:ln w="254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90" name="Straight Arrow Connector 189">
              <a:extLst>
                <a:ext uri="{FF2B5EF4-FFF2-40B4-BE49-F238E27FC236}">
                  <a16:creationId xmlns:a16="http://schemas.microsoft.com/office/drawing/2014/main" id="{BB1E4A9A-7309-4247-B839-B0367E9628EC}"/>
                </a:ext>
              </a:extLst>
            </p:cNvPr>
            <p:cNvCxnSpPr>
              <a:cxnSpLocks/>
            </p:cNvCxnSpPr>
            <p:nvPr/>
          </p:nvCxnSpPr>
          <p:spPr>
            <a:xfrm>
              <a:off x="8787008" y="3068993"/>
              <a:ext cx="572722" cy="0"/>
            </a:xfrm>
            <a:prstGeom prst="straightConnector1">
              <a:avLst/>
            </a:prstGeom>
            <a:ln w="254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A4FCC9E4-43BE-514C-A712-AD0AA474144E}"/>
                </a:ext>
              </a:extLst>
            </p:cNvPr>
            <p:cNvCxnSpPr>
              <a:cxnSpLocks/>
            </p:cNvCxnSpPr>
            <p:nvPr/>
          </p:nvCxnSpPr>
          <p:spPr>
            <a:xfrm flipH="1">
              <a:off x="8589413" y="4197426"/>
              <a:ext cx="651128" cy="0"/>
            </a:xfrm>
            <a:prstGeom prst="straightConnector1">
              <a:avLst/>
            </a:prstGeom>
            <a:ln w="254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92" name="Straight Arrow Connector 191">
              <a:extLst>
                <a:ext uri="{FF2B5EF4-FFF2-40B4-BE49-F238E27FC236}">
                  <a16:creationId xmlns:a16="http://schemas.microsoft.com/office/drawing/2014/main" id="{BF771587-DCD7-4549-B40C-D303793A5224}"/>
                </a:ext>
              </a:extLst>
            </p:cNvPr>
            <p:cNvCxnSpPr>
              <a:cxnSpLocks/>
            </p:cNvCxnSpPr>
            <p:nvPr/>
          </p:nvCxnSpPr>
          <p:spPr>
            <a:xfrm>
              <a:off x="10959909" y="3051186"/>
              <a:ext cx="0" cy="1146240"/>
            </a:xfrm>
            <a:prstGeom prst="straightConnector1">
              <a:avLst/>
            </a:prstGeom>
            <a:ln w="254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93" name="Straight Arrow Connector 192">
              <a:extLst>
                <a:ext uri="{FF2B5EF4-FFF2-40B4-BE49-F238E27FC236}">
                  <a16:creationId xmlns:a16="http://schemas.microsoft.com/office/drawing/2014/main" id="{0E3F43A3-7677-F24D-80BB-20F6BCC3B5CA}"/>
                </a:ext>
              </a:extLst>
            </p:cNvPr>
            <p:cNvCxnSpPr>
              <a:cxnSpLocks/>
            </p:cNvCxnSpPr>
            <p:nvPr/>
          </p:nvCxnSpPr>
          <p:spPr>
            <a:xfrm flipH="1">
              <a:off x="10407771" y="4186988"/>
              <a:ext cx="552138" cy="0"/>
            </a:xfrm>
            <a:prstGeom prst="straightConnector1">
              <a:avLst/>
            </a:prstGeom>
            <a:ln w="254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CB6BB147-F52B-E14A-A969-67916BB0672B}"/>
                </a:ext>
              </a:extLst>
            </p:cNvPr>
            <p:cNvCxnSpPr>
              <a:cxnSpLocks/>
            </p:cNvCxnSpPr>
            <p:nvPr/>
          </p:nvCxnSpPr>
          <p:spPr>
            <a:xfrm>
              <a:off x="8032931" y="3061320"/>
              <a:ext cx="409480" cy="0"/>
            </a:xfrm>
            <a:prstGeom prst="straightConnector1">
              <a:avLst/>
            </a:prstGeom>
            <a:ln w="254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nvGrpSpPr>
            <p:cNvPr id="195" name="Group 13">
              <a:extLst>
                <a:ext uri="{FF2B5EF4-FFF2-40B4-BE49-F238E27FC236}">
                  <a16:creationId xmlns:a16="http://schemas.microsoft.com/office/drawing/2014/main" id="{73E06312-6907-0C45-A1F0-A996D59F180F}"/>
                </a:ext>
              </a:extLst>
            </p:cNvPr>
            <p:cNvGrpSpPr>
              <a:grpSpLocks noChangeAspect="1"/>
            </p:cNvGrpSpPr>
            <p:nvPr/>
          </p:nvGrpSpPr>
          <p:grpSpPr bwMode="auto">
            <a:xfrm>
              <a:off x="7972605" y="2995396"/>
              <a:ext cx="152400" cy="152400"/>
              <a:chOff x="1344" y="2064"/>
              <a:chExt cx="192" cy="192"/>
            </a:xfrm>
          </p:grpSpPr>
          <p:sp>
            <p:nvSpPr>
              <p:cNvPr id="196" name="Oval 14">
                <a:extLst>
                  <a:ext uri="{FF2B5EF4-FFF2-40B4-BE49-F238E27FC236}">
                    <a16:creationId xmlns:a16="http://schemas.microsoft.com/office/drawing/2014/main" id="{01A6443E-8DE8-724B-9BCE-8CEDEE051F35}"/>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97" name="Rectangle 15">
                <a:extLst>
                  <a:ext uri="{FF2B5EF4-FFF2-40B4-BE49-F238E27FC236}">
                    <a16:creationId xmlns:a16="http://schemas.microsoft.com/office/drawing/2014/main" id="{5881CAAD-D174-9E41-8AD0-0F3E5EE6999F}"/>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24" name="TextBox 23">
              <a:extLst>
                <a:ext uri="{FF2B5EF4-FFF2-40B4-BE49-F238E27FC236}">
                  <a16:creationId xmlns:a16="http://schemas.microsoft.com/office/drawing/2014/main" id="{356A60BF-BE48-9A43-9895-FBA7E0D8069D}"/>
                </a:ext>
              </a:extLst>
            </p:cNvPr>
            <p:cNvSpPr txBox="1"/>
            <p:nvPr/>
          </p:nvSpPr>
          <p:spPr>
            <a:xfrm>
              <a:off x="11060934" y="2688465"/>
              <a:ext cx="436915" cy="369332"/>
            </a:xfrm>
            <a:prstGeom prst="rect">
              <a:avLst/>
            </a:prstGeom>
            <a:noFill/>
          </p:spPr>
          <p:txBody>
            <a:bodyPr wrap="square" rtlCol="0">
              <a:spAutoFit/>
            </a:bodyPr>
            <a:lstStyle/>
            <a:p>
              <a:r>
                <a:rPr lang="en-US" dirty="0"/>
                <a:t>X</a:t>
              </a:r>
              <a:r>
                <a:rPr lang="en-US" baseline="-25000" dirty="0"/>
                <a:t>2</a:t>
              </a:r>
            </a:p>
          </p:txBody>
        </p:sp>
        <p:sp>
          <p:nvSpPr>
            <p:cNvPr id="198" name="TextBox 197">
              <a:extLst>
                <a:ext uri="{FF2B5EF4-FFF2-40B4-BE49-F238E27FC236}">
                  <a16:creationId xmlns:a16="http://schemas.microsoft.com/office/drawing/2014/main" id="{9F4E0758-F429-DC45-B950-425C9863BCB7}"/>
                </a:ext>
              </a:extLst>
            </p:cNvPr>
            <p:cNvSpPr txBox="1"/>
            <p:nvPr/>
          </p:nvSpPr>
          <p:spPr>
            <a:xfrm>
              <a:off x="7930301" y="2653576"/>
              <a:ext cx="436915" cy="369332"/>
            </a:xfrm>
            <a:prstGeom prst="rect">
              <a:avLst/>
            </a:prstGeom>
            <a:noFill/>
          </p:spPr>
          <p:txBody>
            <a:bodyPr wrap="square" rtlCol="0">
              <a:spAutoFit/>
            </a:bodyPr>
            <a:lstStyle/>
            <a:p>
              <a:r>
                <a:rPr lang="en-US" dirty="0"/>
                <a:t>X</a:t>
              </a:r>
              <a:r>
                <a:rPr lang="en-US" baseline="-25000" dirty="0"/>
                <a:t>1</a:t>
              </a:r>
            </a:p>
          </p:txBody>
        </p:sp>
      </p:grpSp>
    </p:spTree>
    <p:extLst>
      <p:ext uri="{BB962C8B-B14F-4D97-AF65-F5344CB8AC3E}">
        <p14:creationId xmlns:p14="http://schemas.microsoft.com/office/powerpoint/2010/main" val="25746035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39781" y="146594"/>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Oscillators and feedback</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9649738" y="628330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52</a:t>
            </a:fld>
            <a:endParaRPr lang="en-US" dirty="0">
              <a:solidFill>
                <a:schemeClr val="tx1"/>
              </a:solidFil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1D6C4E5-95B3-8B40-8A25-9CE8DBFC2F52}"/>
                  </a:ext>
                </a:extLst>
              </p:cNvPr>
              <p:cNvSpPr txBox="1"/>
              <p:nvPr/>
            </p:nvSpPr>
            <p:spPr>
              <a:xfrm>
                <a:off x="665205" y="2351358"/>
                <a:ext cx="7007752" cy="2233827"/>
              </a:xfrm>
              <a:prstGeom prst="rect">
                <a:avLst/>
              </a:prstGeom>
              <a:noFill/>
            </p:spPr>
            <p:txBody>
              <a:bodyPr wrap="square" rtlCol="0">
                <a:noAutofit/>
              </a:bodyPr>
              <a:lstStyle/>
              <a:p>
                <a:pPr marL="285750" indent="-285750">
                  <a:buFont typeface="Arial" panose="020B0604020202020204" pitchFamily="34" charset="0"/>
                  <a:buChar char="•"/>
                </a:pPr>
                <a14:m>
                  <m:oMath xmlns:m="http://schemas.openxmlformats.org/officeDocument/2006/math">
                    <m:r>
                      <a:rPr lang="en-US" sz="2000" b="0" i="1" smtClean="0">
                        <a:latin typeface="Cambria Math" panose="02040503050406030204" pitchFamily="18" charset="0"/>
                      </a:rPr>
                      <m:t>𝐾</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𝐴</m:t>
                        </m:r>
                      </m:num>
                      <m:den>
                        <m:r>
                          <a:rPr lang="en-US" sz="2000" b="0" i="1" smtClean="0">
                            <a:latin typeface="Cambria Math" panose="02040503050406030204" pitchFamily="18" charset="0"/>
                          </a:rPr>
                          <m:t>1+</m:t>
                        </m:r>
                        <m:r>
                          <a:rPr lang="en-US" sz="2000" b="0" i="1" smtClean="0">
                            <a:latin typeface="Cambria Math" panose="02040503050406030204" pitchFamily="18" charset="0"/>
                          </a:rPr>
                          <m:t>𝐴𝐵</m:t>
                        </m:r>
                      </m:den>
                    </m:f>
                  </m:oMath>
                </a14:m>
                <a:endParaRPr lang="en-US" sz="2000" b="0" dirty="0"/>
              </a:p>
              <a:p>
                <a:pPr marL="285750" indent="-285750">
                  <a:buFont typeface="Arial" panose="020B0604020202020204" pitchFamily="34" charset="0"/>
                  <a:buChar char="•"/>
                </a:pPr>
                <a:r>
                  <a:rPr lang="en-US" sz="2000" dirty="0"/>
                  <a:t>On upper right, oscillation conditions is </a:t>
                </a:r>
                <a14:m>
                  <m:oMath xmlns:m="http://schemas.openxmlformats.org/officeDocument/2006/math">
                    <m:r>
                      <a:rPr lang="en-US" sz="2000" b="0" i="1" smtClean="0">
                        <a:latin typeface="Cambria Math" panose="02040503050406030204" pitchFamily="18" charset="0"/>
                      </a:rPr>
                      <m:t>𝐴𝐵</m:t>
                    </m:r>
                    <m:r>
                      <a:rPr lang="en-US" sz="2000" b="0" i="1" smtClean="0">
                        <a:latin typeface="Cambria Math" panose="02040503050406030204" pitchFamily="18" charset="0"/>
                      </a:rPr>
                      <m:t>=1∠180</m:t>
                    </m:r>
                  </m:oMath>
                </a14:m>
                <a:endParaRPr lang="en-US" sz="2000" b="0" dirty="0"/>
              </a:p>
              <a:p>
                <a:pPr marL="285750" indent="-285750">
                  <a:buFont typeface="Arial" panose="020B0604020202020204" pitchFamily="34" charset="0"/>
                  <a:buChar char="•"/>
                </a:pPr>
                <a:r>
                  <a:rPr lang="en-US" sz="2000" dirty="0"/>
                  <a:t>For lower right, </a:t>
                </a:r>
                <a14:m>
                  <m:oMath xmlns:m="http://schemas.openxmlformats.org/officeDocument/2006/math">
                    <m:r>
                      <a:rPr lang="en-US" sz="2000" b="0" i="1" smtClean="0">
                        <a:latin typeface="Cambria Math" panose="02040503050406030204" pitchFamily="18" charset="0"/>
                      </a:rPr>
                      <m:t>𝐴𝐵</m:t>
                    </m:r>
                    <m:r>
                      <a:rPr lang="en-US" sz="2000" b="0" i="1" smtClean="0">
                        <a:latin typeface="Cambria Math" panose="02040503050406030204" pitchFamily="18" charset="0"/>
                      </a:rPr>
                      <m:t>=1∠0</m:t>
                    </m:r>
                  </m:oMath>
                </a14:m>
                <a:endParaRPr lang="en-US" sz="2000" b="0" dirty="0"/>
              </a:p>
              <a:p>
                <a:pPr marL="285750" indent="-285750">
                  <a:buFont typeface="Arial" panose="020B0604020202020204" pitchFamily="34" charset="0"/>
                  <a:buChar char="•"/>
                </a:pPr>
                <a:endParaRPr lang="en-US" dirty="0"/>
              </a:p>
            </p:txBody>
          </p:sp>
        </mc:Choice>
        <mc:Fallback xmlns="">
          <p:sp>
            <p:nvSpPr>
              <p:cNvPr id="2" name="TextBox 1">
                <a:extLst>
                  <a:ext uri="{FF2B5EF4-FFF2-40B4-BE49-F238E27FC236}">
                    <a16:creationId xmlns:a16="http://schemas.microsoft.com/office/drawing/2014/main" id="{01D6C4E5-95B3-8B40-8A25-9CE8DBFC2F52}"/>
                  </a:ext>
                </a:extLst>
              </p:cNvPr>
              <p:cNvSpPr txBox="1">
                <a:spLocks noRot="1" noChangeAspect="1" noMove="1" noResize="1" noEditPoints="1" noAdjustHandles="1" noChangeArrowheads="1" noChangeShapeType="1" noTextEdit="1"/>
              </p:cNvSpPr>
              <p:nvPr/>
            </p:nvSpPr>
            <p:spPr>
              <a:xfrm>
                <a:off x="665205" y="2351358"/>
                <a:ext cx="7007752" cy="2233827"/>
              </a:xfrm>
              <a:prstGeom prst="rect">
                <a:avLst/>
              </a:prstGeom>
              <a:blipFill>
                <a:blip r:embed="rId3"/>
                <a:stretch>
                  <a:fillRect l="-723"/>
                </a:stretch>
              </a:blipFill>
            </p:spPr>
            <p:txBody>
              <a:bodyPr/>
              <a:lstStyle/>
              <a:p>
                <a:r>
                  <a:rPr lang="en-US">
                    <a:noFill/>
                  </a:rPr>
                  <a:t> </a:t>
                </a:r>
              </a:p>
            </p:txBody>
          </p:sp>
        </mc:Fallback>
      </mc:AlternateContent>
      <p:grpSp>
        <p:nvGrpSpPr>
          <p:cNvPr id="14" name="Group 13">
            <a:extLst>
              <a:ext uri="{FF2B5EF4-FFF2-40B4-BE49-F238E27FC236}">
                <a16:creationId xmlns:a16="http://schemas.microsoft.com/office/drawing/2014/main" id="{2C7D8353-5FE4-4049-8E63-64AA892D61F6}"/>
              </a:ext>
            </a:extLst>
          </p:cNvPr>
          <p:cNvGrpSpPr/>
          <p:nvPr/>
        </p:nvGrpSpPr>
        <p:grpSpPr>
          <a:xfrm>
            <a:off x="8848259" y="1320901"/>
            <a:ext cx="2716286" cy="1861011"/>
            <a:chOff x="8638939" y="4125660"/>
            <a:chExt cx="2716286" cy="1861011"/>
          </a:xfrm>
        </p:grpSpPr>
        <p:grpSp>
          <p:nvGrpSpPr>
            <p:cNvPr id="154" name="Group 13">
              <a:extLst>
                <a:ext uri="{FF2B5EF4-FFF2-40B4-BE49-F238E27FC236}">
                  <a16:creationId xmlns:a16="http://schemas.microsoft.com/office/drawing/2014/main" id="{CEA9266D-062C-B64C-874B-5517117ADE8F}"/>
                </a:ext>
              </a:extLst>
            </p:cNvPr>
            <p:cNvGrpSpPr>
              <a:grpSpLocks noChangeAspect="1"/>
            </p:cNvGrpSpPr>
            <p:nvPr/>
          </p:nvGrpSpPr>
          <p:grpSpPr bwMode="auto">
            <a:xfrm>
              <a:off x="11035937" y="4603782"/>
              <a:ext cx="152400" cy="152400"/>
              <a:chOff x="1344" y="2064"/>
              <a:chExt cx="192" cy="192"/>
            </a:xfrm>
          </p:grpSpPr>
          <p:sp>
            <p:nvSpPr>
              <p:cNvPr id="186" name="Oval 14">
                <a:extLst>
                  <a:ext uri="{FF2B5EF4-FFF2-40B4-BE49-F238E27FC236}">
                    <a16:creationId xmlns:a16="http://schemas.microsoft.com/office/drawing/2014/main" id="{22F3A559-78E9-1B43-BB96-68D74F7CC146}"/>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87" name="Rectangle 15">
                <a:extLst>
                  <a:ext uri="{FF2B5EF4-FFF2-40B4-BE49-F238E27FC236}">
                    <a16:creationId xmlns:a16="http://schemas.microsoft.com/office/drawing/2014/main" id="{BC6F730F-47A3-2A48-878E-61E75F9BA9C0}"/>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5" name="Rectangle 4">
              <a:extLst>
                <a:ext uri="{FF2B5EF4-FFF2-40B4-BE49-F238E27FC236}">
                  <a16:creationId xmlns:a16="http://schemas.microsoft.com/office/drawing/2014/main" id="{E2745A86-330C-1544-8C51-33099C6FE236}"/>
                </a:ext>
              </a:extLst>
            </p:cNvPr>
            <p:cNvSpPr/>
            <p:nvPr/>
          </p:nvSpPr>
          <p:spPr>
            <a:xfrm>
              <a:off x="9098121" y="5392817"/>
              <a:ext cx="1181416" cy="593854"/>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TextBox 187">
              <a:extLst>
                <a:ext uri="{FF2B5EF4-FFF2-40B4-BE49-F238E27FC236}">
                  <a16:creationId xmlns:a16="http://schemas.microsoft.com/office/drawing/2014/main" id="{49908BC8-5012-AA42-84F7-8CEF01D0FC8B}"/>
                </a:ext>
              </a:extLst>
            </p:cNvPr>
            <p:cNvSpPr txBox="1"/>
            <p:nvPr/>
          </p:nvSpPr>
          <p:spPr>
            <a:xfrm>
              <a:off x="9440418" y="5479115"/>
              <a:ext cx="341523" cy="372626"/>
            </a:xfrm>
            <a:prstGeom prst="rect">
              <a:avLst/>
            </a:prstGeom>
            <a:noFill/>
          </p:spPr>
          <p:txBody>
            <a:bodyPr wrap="square" rtlCol="0">
              <a:spAutoFit/>
            </a:bodyPr>
            <a:lstStyle/>
            <a:p>
              <a:r>
                <a:rPr lang="en-US" dirty="0"/>
                <a:t>B</a:t>
              </a:r>
            </a:p>
          </p:txBody>
        </p:sp>
        <p:grpSp>
          <p:nvGrpSpPr>
            <p:cNvPr id="28" name="Group 38">
              <a:extLst>
                <a:ext uri="{FF2B5EF4-FFF2-40B4-BE49-F238E27FC236}">
                  <a16:creationId xmlns:a16="http://schemas.microsoft.com/office/drawing/2014/main" id="{C6960ADC-77A7-3147-BAB3-625F56F37BC5}"/>
                </a:ext>
              </a:extLst>
            </p:cNvPr>
            <p:cNvGrpSpPr>
              <a:grpSpLocks/>
            </p:cNvGrpSpPr>
            <p:nvPr/>
          </p:nvGrpSpPr>
          <p:grpSpPr bwMode="auto">
            <a:xfrm>
              <a:off x="8716624" y="4125660"/>
              <a:ext cx="1296879" cy="1105635"/>
              <a:chOff x="768" y="240"/>
              <a:chExt cx="1056" cy="864"/>
            </a:xfrm>
          </p:grpSpPr>
          <p:grpSp>
            <p:nvGrpSpPr>
              <p:cNvPr id="29" name="Group 39">
                <a:extLst>
                  <a:ext uri="{FF2B5EF4-FFF2-40B4-BE49-F238E27FC236}">
                    <a16:creationId xmlns:a16="http://schemas.microsoft.com/office/drawing/2014/main" id="{C57A88B0-E6D7-C44E-B9FA-1C687A7E290C}"/>
                  </a:ext>
                </a:extLst>
              </p:cNvPr>
              <p:cNvGrpSpPr>
                <a:grpSpLocks/>
              </p:cNvGrpSpPr>
              <p:nvPr/>
            </p:nvGrpSpPr>
            <p:grpSpPr bwMode="auto">
              <a:xfrm>
                <a:off x="768" y="240"/>
                <a:ext cx="1056" cy="864"/>
                <a:chOff x="2496" y="1968"/>
                <a:chExt cx="1056" cy="864"/>
              </a:xfrm>
            </p:grpSpPr>
            <p:sp>
              <p:nvSpPr>
                <p:cNvPr id="33" name="Line 40">
                  <a:extLst>
                    <a:ext uri="{FF2B5EF4-FFF2-40B4-BE49-F238E27FC236}">
                      <a16:creationId xmlns:a16="http://schemas.microsoft.com/office/drawing/2014/main" id="{3219C03A-6737-2140-A7DC-2B2A1B8C6442}"/>
                    </a:ext>
                  </a:extLst>
                </p:cNvPr>
                <p:cNvSpPr>
                  <a:spLocks noChangeShapeType="1"/>
                </p:cNvSpPr>
                <p:nvPr/>
              </p:nvSpPr>
              <p:spPr bwMode="auto">
                <a:xfrm>
                  <a:off x="2496" y="216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 name="Line 41">
                  <a:extLst>
                    <a:ext uri="{FF2B5EF4-FFF2-40B4-BE49-F238E27FC236}">
                      <a16:creationId xmlns:a16="http://schemas.microsoft.com/office/drawing/2014/main" id="{7C054785-EB7B-3044-B43F-D8D52970DD7F}"/>
                    </a:ext>
                  </a:extLst>
                </p:cNvPr>
                <p:cNvSpPr>
                  <a:spLocks noChangeShapeType="1"/>
                </p:cNvSpPr>
                <p:nvPr/>
              </p:nvSpPr>
              <p:spPr bwMode="auto">
                <a:xfrm>
                  <a:off x="2496" y="264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 name="Line 42">
                  <a:extLst>
                    <a:ext uri="{FF2B5EF4-FFF2-40B4-BE49-F238E27FC236}">
                      <a16:creationId xmlns:a16="http://schemas.microsoft.com/office/drawing/2014/main" id="{52D52079-1702-2E41-A3F9-5B06D3F64A77}"/>
                    </a:ext>
                  </a:extLst>
                </p:cNvPr>
                <p:cNvSpPr>
                  <a:spLocks noChangeShapeType="1"/>
                </p:cNvSpPr>
                <p:nvPr/>
              </p:nvSpPr>
              <p:spPr bwMode="auto">
                <a:xfrm>
                  <a:off x="3360" y="240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 name="Freeform 43">
                  <a:extLst>
                    <a:ext uri="{FF2B5EF4-FFF2-40B4-BE49-F238E27FC236}">
                      <a16:creationId xmlns:a16="http://schemas.microsoft.com/office/drawing/2014/main" id="{000BEFF5-C47D-9449-971B-8E305BF10E5E}"/>
                    </a:ext>
                  </a:extLst>
                </p:cNvPr>
                <p:cNvSpPr>
                  <a:spLocks/>
                </p:cNvSpPr>
                <p:nvPr/>
              </p:nvSpPr>
              <p:spPr bwMode="auto">
                <a:xfrm>
                  <a:off x="2688" y="1968"/>
                  <a:ext cx="672" cy="864"/>
                </a:xfrm>
                <a:custGeom>
                  <a:avLst/>
                  <a:gdLst>
                    <a:gd name="T0" fmla="*/ 6120 w 432"/>
                    <a:gd name="T1" fmla="*/ 779 h 768"/>
                    <a:gd name="T2" fmla="*/ 0 w 432"/>
                    <a:gd name="T3" fmla="*/ 1558 h 768"/>
                    <a:gd name="T4" fmla="*/ 0 w 432"/>
                    <a:gd name="T5" fmla="*/ 0 h 768"/>
                    <a:gd name="T6" fmla="*/ 6120 w 432"/>
                    <a:gd name="T7" fmla="*/ 779 h 768"/>
                    <a:gd name="T8" fmla="*/ 0 60000 65536"/>
                    <a:gd name="T9" fmla="*/ 0 60000 65536"/>
                    <a:gd name="T10" fmla="*/ 0 60000 65536"/>
                    <a:gd name="T11" fmla="*/ 0 60000 65536"/>
                    <a:gd name="T12" fmla="*/ 0 w 432"/>
                    <a:gd name="T13" fmla="*/ 0 h 768"/>
                    <a:gd name="T14" fmla="*/ 432 w 432"/>
                    <a:gd name="T15" fmla="*/ 768 h 768"/>
                  </a:gdLst>
                  <a:ahLst/>
                  <a:cxnLst>
                    <a:cxn ang="T8">
                      <a:pos x="T0" y="T1"/>
                    </a:cxn>
                    <a:cxn ang="T9">
                      <a:pos x="T2" y="T3"/>
                    </a:cxn>
                    <a:cxn ang="T10">
                      <a:pos x="T4" y="T5"/>
                    </a:cxn>
                    <a:cxn ang="T11">
                      <a:pos x="T6" y="T7"/>
                    </a:cxn>
                  </a:cxnLst>
                  <a:rect l="T12" t="T13" r="T14" b="T15"/>
                  <a:pathLst>
                    <a:path w="432" h="768">
                      <a:moveTo>
                        <a:pt x="432" y="384"/>
                      </a:moveTo>
                      <a:lnTo>
                        <a:pt x="0" y="768"/>
                      </a:lnTo>
                      <a:lnTo>
                        <a:pt x="0" y="0"/>
                      </a:lnTo>
                      <a:lnTo>
                        <a:pt x="432" y="38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30" name="Line 44">
                <a:extLst>
                  <a:ext uri="{FF2B5EF4-FFF2-40B4-BE49-F238E27FC236}">
                    <a16:creationId xmlns:a16="http://schemas.microsoft.com/office/drawing/2014/main" id="{5D956F9B-C65B-4F41-915A-0090C5068314}"/>
                  </a:ext>
                </a:extLst>
              </p:cNvPr>
              <p:cNvSpPr>
                <a:spLocks noChangeShapeType="1"/>
              </p:cNvSpPr>
              <p:nvPr/>
            </p:nvSpPr>
            <p:spPr bwMode="auto">
              <a:xfrm>
                <a:off x="1008" y="912"/>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45">
                <a:extLst>
                  <a:ext uri="{FF2B5EF4-FFF2-40B4-BE49-F238E27FC236}">
                    <a16:creationId xmlns:a16="http://schemas.microsoft.com/office/drawing/2014/main" id="{5F981092-C9F8-5E43-A04F-48E7DFC309FD}"/>
                  </a:ext>
                </a:extLst>
              </p:cNvPr>
              <p:cNvSpPr>
                <a:spLocks noChangeShapeType="1"/>
              </p:cNvSpPr>
              <p:nvPr/>
            </p:nvSpPr>
            <p:spPr bwMode="auto">
              <a:xfrm>
                <a:off x="1032" y="408"/>
                <a:ext cx="0" cy="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46">
                <a:extLst>
                  <a:ext uri="{FF2B5EF4-FFF2-40B4-BE49-F238E27FC236}">
                    <a16:creationId xmlns:a16="http://schemas.microsoft.com/office/drawing/2014/main" id="{A3B44FE8-D15F-0346-BBC5-FD4146EE48BC}"/>
                  </a:ext>
                </a:extLst>
              </p:cNvPr>
              <p:cNvSpPr>
                <a:spLocks noChangeShapeType="1"/>
              </p:cNvSpPr>
              <p:nvPr/>
            </p:nvSpPr>
            <p:spPr bwMode="auto">
              <a:xfrm>
                <a:off x="1008" y="432"/>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7" name="Group 220">
              <a:extLst>
                <a:ext uri="{FF2B5EF4-FFF2-40B4-BE49-F238E27FC236}">
                  <a16:creationId xmlns:a16="http://schemas.microsoft.com/office/drawing/2014/main" id="{6C3D8D59-D326-C548-BF53-4D1BD8C4EAA6}"/>
                </a:ext>
              </a:extLst>
            </p:cNvPr>
            <p:cNvGrpSpPr>
              <a:grpSpLocks/>
            </p:cNvGrpSpPr>
            <p:nvPr/>
          </p:nvGrpSpPr>
          <p:grpSpPr bwMode="auto">
            <a:xfrm>
              <a:off x="8638939" y="4367149"/>
              <a:ext cx="152400" cy="304800"/>
              <a:chOff x="3264" y="3072"/>
              <a:chExt cx="96" cy="192"/>
            </a:xfrm>
          </p:grpSpPr>
          <p:sp>
            <p:nvSpPr>
              <p:cNvPr id="38" name="Line 17">
                <a:extLst>
                  <a:ext uri="{FF2B5EF4-FFF2-40B4-BE49-F238E27FC236}">
                    <a16:creationId xmlns:a16="http://schemas.microsoft.com/office/drawing/2014/main" id="{3119F28D-0F75-1E40-8E3E-5CB73FC19777}"/>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 name="Freeform 18">
                <a:extLst>
                  <a:ext uri="{FF2B5EF4-FFF2-40B4-BE49-F238E27FC236}">
                    <a16:creationId xmlns:a16="http://schemas.microsoft.com/office/drawing/2014/main" id="{950F8F4B-11DA-ED4D-A3D9-2412BFF20EA1}"/>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cxnSp>
          <p:nvCxnSpPr>
            <p:cNvPr id="9" name="Straight Connector 8">
              <a:extLst>
                <a:ext uri="{FF2B5EF4-FFF2-40B4-BE49-F238E27FC236}">
                  <a16:creationId xmlns:a16="http://schemas.microsoft.com/office/drawing/2014/main" id="{8331B393-1FC2-5842-B135-45E93A53BEE7}"/>
                </a:ext>
              </a:extLst>
            </p:cNvPr>
            <p:cNvCxnSpPr/>
            <p:nvPr/>
          </p:nvCxnSpPr>
          <p:spPr>
            <a:xfrm>
              <a:off x="9986551" y="4674933"/>
              <a:ext cx="10972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2786E152-1FC8-CB44-BF20-FFC9B07698BB}"/>
                </a:ext>
              </a:extLst>
            </p:cNvPr>
            <p:cNvCxnSpPr>
              <a:cxnSpLocks/>
            </p:cNvCxnSpPr>
            <p:nvPr/>
          </p:nvCxnSpPr>
          <p:spPr>
            <a:xfrm>
              <a:off x="10279537" y="5667373"/>
              <a:ext cx="40682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24CF1D-5C10-1C42-8872-240D59D202BB}"/>
                </a:ext>
              </a:extLst>
            </p:cNvPr>
            <p:cNvCxnSpPr/>
            <p:nvPr/>
          </p:nvCxnSpPr>
          <p:spPr>
            <a:xfrm>
              <a:off x="8711397" y="5656356"/>
              <a:ext cx="40233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503B752-6274-F847-AF01-D7FDA386C654}"/>
                </a:ext>
              </a:extLst>
            </p:cNvPr>
            <p:cNvCxnSpPr>
              <a:cxnSpLocks/>
            </p:cNvCxnSpPr>
            <p:nvPr/>
          </p:nvCxnSpPr>
          <p:spPr>
            <a:xfrm flipV="1">
              <a:off x="10673835" y="4668972"/>
              <a:ext cx="0" cy="10058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CBE3BF8-8F60-3348-B244-13ED4A6EA946}"/>
                </a:ext>
              </a:extLst>
            </p:cNvPr>
            <p:cNvCxnSpPr>
              <a:cxnSpLocks/>
            </p:cNvCxnSpPr>
            <p:nvPr/>
          </p:nvCxnSpPr>
          <p:spPr>
            <a:xfrm flipV="1">
              <a:off x="8721867" y="4984210"/>
              <a:ext cx="0" cy="65836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832BEA71-347B-9B4C-B559-CD384EAF204D}"/>
                </a:ext>
              </a:extLst>
            </p:cNvPr>
            <p:cNvSpPr txBox="1"/>
            <p:nvPr/>
          </p:nvSpPr>
          <p:spPr>
            <a:xfrm>
              <a:off x="9066726" y="4466597"/>
              <a:ext cx="341523" cy="372626"/>
            </a:xfrm>
            <a:prstGeom prst="rect">
              <a:avLst/>
            </a:prstGeom>
            <a:noFill/>
          </p:spPr>
          <p:txBody>
            <a:bodyPr wrap="square" rtlCol="0">
              <a:spAutoFit/>
            </a:bodyPr>
            <a:lstStyle/>
            <a:p>
              <a:r>
                <a:rPr lang="en-US" dirty="0"/>
                <a:t>A</a:t>
              </a:r>
            </a:p>
          </p:txBody>
        </p:sp>
        <p:sp>
          <p:nvSpPr>
            <p:cNvPr id="13" name="TextBox 12">
              <a:extLst>
                <a:ext uri="{FF2B5EF4-FFF2-40B4-BE49-F238E27FC236}">
                  <a16:creationId xmlns:a16="http://schemas.microsoft.com/office/drawing/2014/main" id="{8527470B-A6F4-9946-8183-C872AAAFF4A6}"/>
                </a:ext>
              </a:extLst>
            </p:cNvPr>
            <p:cNvSpPr txBox="1"/>
            <p:nvPr/>
          </p:nvSpPr>
          <p:spPr>
            <a:xfrm>
              <a:off x="10906701" y="4307596"/>
              <a:ext cx="448524" cy="338554"/>
            </a:xfrm>
            <a:prstGeom prst="rect">
              <a:avLst/>
            </a:prstGeom>
            <a:noFill/>
          </p:spPr>
          <p:txBody>
            <a:bodyPr wrap="square" rtlCol="0">
              <a:spAutoFit/>
            </a:bodyPr>
            <a:lstStyle/>
            <a:p>
              <a:r>
                <a:rPr lang="en-US" sz="1600" dirty="0" err="1"/>
                <a:t>v</a:t>
              </a:r>
              <a:r>
                <a:rPr lang="en-US" sz="1600" baseline="-25000" dirty="0" err="1"/>
                <a:t>o</a:t>
              </a:r>
              <a:endParaRPr lang="en-US" sz="1600" baseline="-25000" dirty="0"/>
            </a:p>
          </p:txBody>
        </p:sp>
      </p:grpSp>
      <p:grpSp>
        <p:nvGrpSpPr>
          <p:cNvPr id="15" name="Group 14">
            <a:extLst>
              <a:ext uri="{FF2B5EF4-FFF2-40B4-BE49-F238E27FC236}">
                <a16:creationId xmlns:a16="http://schemas.microsoft.com/office/drawing/2014/main" id="{7FA7FBA0-86C8-924C-9194-6DAE56B54251}"/>
              </a:ext>
            </a:extLst>
          </p:cNvPr>
          <p:cNvGrpSpPr/>
          <p:nvPr/>
        </p:nvGrpSpPr>
        <p:grpSpPr>
          <a:xfrm>
            <a:off x="8952886" y="3896250"/>
            <a:ext cx="2716286" cy="1939634"/>
            <a:chOff x="8931187" y="3614189"/>
            <a:chExt cx="2716286" cy="1939634"/>
          </a:xfrm>
        </p:grpSpPr>
        <p:grpSp>
          <p:nvGrpSpPr>
            <p:cNvPr id="52" name="Group 13">
              <a:extLst>
                <a:ext uri="{FF2B5EF4-FFF2-40B4-BE49-F238E27FC236}">
                  <a16:creationId xmlns:a16="http://schemas.microsoft.com/office/drawing/2014/main" id="{BAA85F41-7FB7-4447-8681-F529E4869E7A}"/>
                </a:ext>
              </a:extLst>
            </p:cNvPr>
            <p:cNvGrpSpPr>
              <a:grpSpLocks noChangeAspect="1"/>
            </p:cNvGrpSpPr>
            <p:nvPr/>
          </p:nvGrpSpPr>
          <p:grpSpPr bwMode="auto">
            <a:xfrm>
              <a:off x="11328185" y="4868711"/>
              <a:ext cx="152400" cy="152400"/>
              <a:chOff x="1344" y="2064"/>
              <a:chExt cx="192" cy="192"/>
            </a:xfrm>
          </p:grpSpPr>
          <p:sp>
            <p:nvSpPr>
              <p:cNvPr id="75" name="Oval 14">
                <a:extLst>
                  <a:ext uri="{FF2B5EF4-FFF2-40B4-BE49-F238E27FC236}">
                    <a16:creationId xmlns:a16="http://schemas.microsoft.com/office/drawing/2014/main" id="{2F59814F-763B-8849-94C4-E116A4AE920F}"/>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76" name="Rectangle 15">
                <a:extLst>
                  <a:ext uri="{FF2B5EF4-FFF2-40B4-BE49-F238E27FC236}">
                    <a16:creationId xmlns:a16="http://schemas.microsoft.com/office/drawing/2014/main" id="{D9553E8B-6248-4C4C-9A4E-188F0F25A0D9}"/>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53" name="Rectangle 52">
              <a:extLst>
                <a:ext uri="{FF2B5EF4-FFF2-40B4-BE49-F238E27FC236}">
                  <a16:creationId xmlns:a16="http://schemas.microsoft.com/office/drawing/2014/main" id="{5474D9F5-7C56-B44B-A673-7B1389A1ED89}"/>
                </a:ext>
              </a:extLst>
            </p:cNvPr>
            <p:cNvSpPr/>
            <p:nvPr/>
          </p:nvSpPr>
          <p:spPr>
            <a:xfrm>
              <a:off x="9390369" y="3614189"/>
              <a:ext cx="1181416" cy="593854"/>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5AC97D2D-B539-DE4B-9C47-BFF1B1A17922}"/>
                </a:ext>
              </a:extLst>
            </p:cNvPr>
            <p:cNvSpPr txBox="1"/>
            <p:nvPr/>
          </p:nvSpPr>
          <p:spPr>
            <a:xfrm>
              <a:off x="9732666" y="3700487"/>
              <a:ext cx="341523" cy="372626"/>
            </a:xfrm>
            <a:prstGeom prst="rect">
              <a:avLst/>
            </a:prstGeom>
            <a:noFill/>
          </p:spPr>
          <p:txBody>
            <a:bodyPr wrap="square" rtlCol="0">
              <a:spAutoFit/>
            </a:bodyPr>
            <a:lstStyle/>
            <a:p>
              <a:r>
                <a:rPr lang="en-US" dirty="0"/>
                <a:t>B</a:t>
              </a:r>
            </a:p>
          </p:txBody>
        </p:sp>
        <p:grpSp>
          <p:nvGrpSpPr>
            <p:cNvPr id="55" name="Group 38">
              <a:extLst>
                <a:ext uri="{FF2B5EF4-FFF2-40B4-BE49-F238E27FC236}">
                  <a16:creationId xmlns:a16="http://schemas.microsoft.com/office/drawing/2014/main" id="{FA5BFE27-5016-844D-8069-1DC74B592F05}"/>
                </a:ext>
              </a:extLst>
            </p:cNvPr>
            <p:cNvGrpSpPr>
              <a:grpSpLocks/>
            </p:cNvGrpSpPr>
            <p:nvPr/>
          </p:nvGrpSpPr>
          <p:grpSpPr bwMode="auto">
            <a:xfrm>
              <a:off x="9008872" y="4390589"/>
              <a:ext cx="1296879" cy="1105635"/>
              <a:chOff x="768" y="240"/>
              <a:chExt cx="1056" cy="864"/>
            </a:xfrm>
          </p:grpSpPr>
          <p:grpSp>
            <p:nvGrpSpPr>
              <p:cNvPr id="67" name="Group 39">
                <a:extLst>
                  <a:ext uri="{FF2B5EF4-FFF2-40B4-BE49-F238E27FC236}">
                    <a16:creationId xmlns:a16="http://schemas.microsoft.com/office/drawing/2014/main" id="{F0375212-2F1E-5B4E-B362-D1C49E3A73F3}"/>
                  </a:ext>
                </a:extLst>
              </p:cNvPr>
              <p:cNvGrpSpPr>
                <a:grpSpLocks/>
              </p:cNvGrpSpPr>
              <p:nvPr/>
            </p:nvGrpSpPr>
            <p:grpSpPr bwMode="auto">
              <a:xfrm>
                <a:off x="768" y="240"/>
                <a:ext cx="1056" cy="864"/>
                <a:chOff x="2496" y="1968"/>
                <a:chExt cx="1056" cy="864"/>
              </a:xfrm>
            </p:grpSpPr>
            <p:sp>
              <p:nvSpPr>
                <p:cNvPr id="71" name="Line 40">
                  <a:extLst>
                    <a:ext uri="{FF2B5EF4-FFF2-40B4-BE49-F238E27FC236}">
                      <a16:creationId xmlns:a16="http://schemas.microsoft.com/office/drawing/2014/main" id="{BC098BF7-A2F8-2C46-A474-BF07D01DAFB7}"/>
                    </a:ext>
                  </a:extLst>
                </p:cNvPr>
                <p:cNvSpPr>
                  <a:spLocks noChangeShapeType="1"/>
                </p:cNvSpPr>
                <p:nvPr/>
              </p:nvSpPr>
              <p:spPr bwMode="auto">
                <a:xfrm>
                  <a:off x="2496" y="216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 name="Line 41">
                  <a:extLst>
                    <a:ext uri="{FF2B5EF4-FFF2-40B4-BE49-F238E27FC236}">
                      <a16:creationId xmlns:a16="http://schemas.microsoft.com/office/drawing/2014/main" id="{80F74878-9E3D-7E41-A236-3F48795C436B}"/>
                    </a:ext>
                  </a:extLst>
                </p:cNvPr>
                <p:cNvSpPr>
                  <a:spLocks noChangeShapeType="1"/>
                </p:cNvSpPr>
                <p:nvPr/>
              </p:nvSpPr>
              <p:spPr bwMode="auto">
                <a:xfrm>
                  <a:off x="2496" y="264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 name="Line 42">
                  <a:extLst>
                    <a:ext uri="{FF2B5EF4-FFF2-40B4-BE49-F238E27FC236}">
                      <a16:creationId xmlns:a16="http://schemas.microsoft.com/office/drawing/2014/main" id="{EF402D32-9F4F-5647-B7CE-6F8513099719}"/>
                    </a:ext>
                  </a:extLst>
                </p:cNvPr>
                <p:cNvSpPr>
                  <a:spLocks noChangeShapeType="1"/>
                </p:cNvSpPr>
                <p:nvPr/>
              </p:nvSpPr>
              <p:spPr bwMode="auto">
                <a:xfrm>
                  <a:off x="3360" y="240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 name="Freeform 43">
                  <a:extLst>
                    <a:ext uri="{FF2B5EF4-FFF2-40B4-BE49-F238E27FC236}">
                      <a16:creationId xmlns:a16="http://schemas.microsoft.com/office/drawing/2014/main" id="{A901C4A9-3E57-8043-9EAE-037CFE926048}"/>
                    </a:ext>
                  </a:extLst>
                </p:cNvPr>
                <p:cNvSpPr>
                  <a:spLocks/>
                </p:cNvSpPr>
                <p:nvPr/>
              </p:nvSpPr>
              <p:spPr bwMode="auto">
                <a:xfrm>
                  <a:off x="2688" y="1968"/>
                  <a:ext cx="672" cy="864"/>
                </a:xfrm>
                <a:custGeom>
                  <a:avLst/>
                  <a:gdLst>
                    <a:gd name="T0" fmla="*/ 6120 w 432"/>
                    <a:gd name="T1" fmla="*/ 779 h 768"/>
                    <a:gd name="T2" fmla="*/ 0 w 432"/>
                    <a:gd name="T3" fmla="*/ 1558 h 768"/>
                    <a:gd name="T4" fmla="*/ 0 w 432"/>
                    <a:gd name="T5" fmla="*/ 0 h 768"/>
                    <a:gd name="T6" fmla="*/ 6120 w 432"/>
                    <a:gd name="T7" fmla="*/ 779 h 768"/>
                    <a:gd name="T8" fmla="*/ 0 60000 65536"/>
                    <a:gd name="T9" fmla="*/ 0 60000 65536"/>
                    <a:gd name="T10" fmla="*/ 0 60000 65536"/>
                    <a:gd name="T11" fmla="*/ 0 60000 65536"/>
                    <a:gd name="T12" fmla="*/ 0 w 432"/>
                    <a:gd name="T13" fmla="*/ 0 h 768"/>
                    <a:gd name="T14" fmla="*/ 432 w 432"/>
                    <a:gd name="T15" fmla="*/ 768 h 768"/>
                  </a:gdLst>
                  <a:ahLst/>
                  <a:cxnLst>
                    <a:cxn ang="T8">
                      <a:pos x="T0" y="T1"/>
                    </a:cxn>
                    <a:cxn ang="T9">
                      <a:pos x="T2" y="T3"/>
                    </a:cxn>
                    <a:cxn ang="T10">
                      <a:pos x="T4" y="T5"/>
                    </a:cxn>
                    <a:cxn ang="T11">
                      <a:pos x="T6" y="T7"/>
                    </a:cxn>
                  </a:cxnLst>
                  <a:rect l="T12" t="T13" r="T14" b="T15"/>
                  <a:pathLst>
                    <a:path w="432" h="768">
                      <a:moveTo>
                        <a:pt x="432" y="384"/>
                      </a:moveTo>
                      <a:lnTo>
                        <a:pt x="0" y="768"/>
                      </a:lnTo>
                      <a:lnTo>
                        <a:pt x="0" y="0"/>
                      </a:lnTo>
                      <a:lnTo>
                        <a:pt x="432" y="38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68" name="Line 44">
                <a:extLst>
                  <a:ext uri="{FF2B5EF4-FFF2-40B4-BE49-F238E27FC236}">
                    <a16:creationId xmlns:a16="http://schemas.microsoft.com/office/drawing/2014/main" id="{24A6F228-B809-DE45-89AE-5F086AE3DF30}"/>
                  </a:ext>
                </a:extLst>
              </p:cNvPr>
              <p:cNvSpPr>
                <a:spLocks noChangeShapeType="1"/>
              </p:cNvSpPr>
              <p:nvPr/>
            </p:nvSpPr>
            <p:spPr bwMode="auto">
              <a:xfrm>
                <a:off x="1008" y="912"/>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9" name="Line 45">
                <a:extLst>
                  <a:ext uri="{FF2B5EF4-FFF2-40B4-BE49-F238E27FC236}">
                    <a16:creationId xmlns:a16="http://schemas.microsoft.com/office/drawing/2014/main" id="{ECF6D108-6EB7-794B-8187-7BE66BDA7F1D}"/>
                  </a:ext>
                </a:extLst>
              </p:cNvPr>
              <p:cNvSpPr>
                <a:spLocks noChangeShapeType="1"/>
              </p:cNvSpPr>
              <p:nvPr/>
            </p:nvSpPr>
            <p:spPr bwMode="auto">
              <a:xfrm>
                <a:off x="1032" y="408"/>
                <a:ext cx="0" cy="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 name="Line 46">
                <a:extLst>
                  <a:ext uri="{FF2B5EF4-FFF2-40B4-BE49-F238E27FC236}">
                    <a16:creationId xmlns:a16="http://schemas.microsoft.com/office/drawing/2014/main" id="{1315C036-33BB-DA4C-A672-3FEB109D7E30}"/>
                  </a:ext>
                </a:extLst>
              </p:cNvPr>
              <p:cNvSpPr>
                <a:spLocks noChangeShapeType="1"/>
              </p:cNvSpPr>
              <p:nvPr/>
            </p:nvSpPr>
            <p:spPr bwMode="auto">
              <a:xfrm>
                <a:off x="1008" y="432"/>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6" name="Group 220">
              <a:extLst>
                <a:ext uri="{FF2B5EF4-FFF2-40B4-BE49-F238E27FC236}">
                  <a16:creationId xmlns:a16="http://schemas.microsoft.com/office/drawing/2014/main" id="{AF61279A-4668-5943-BB93-DF3D19FB0320}"/>
                </a:ext>
              </a:extLst>
            </p:cNvPr>
            <p:cNvGrpSpPr>
              <a:grpSpLocks/>
            </p:cNvGrpSpPr>
            <p:nvPr/>
          </p:nvGrpSpPr>
          <p:grpSpPr bwMode="auto">
            <a:xfrm>
              <a:off x="8931187" y="5249023"/>
              <a:ext cx="152400" cy="304800"/>
              <a:chOff x="3264" y="3072"/>
              <a:chExt cx="96" cy="192"/>
            </a:xfrm>
          </p:grpSpPr>
          <p:sp>
            <p:nvSpPr>
              <p:cNvPr id="65" name="Line 17">
                <a:extLst>
                  <a:ext uri="{FF2B5EF4-FFF2-40B4-BE49-F238E27FC236}">
                    <a16:creationId xmlns:a16="http://schemas.microsoft.com/office/drawing/2014/main" id="{34055C0A-AEC0-4440-A1FA-E5A732D732AB}"/>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 name="Freeform 18">
                <a:extLst>
                  <a:ext uri="{FF2B5EF4-FFF2-40B4-BE49-F238E27FC236}">
                    <a16:creationId xmlns:a16="http://schemas.microsoft.com/office/drawing/2014/main" id="{EEF28743-700D-EC49-9FC7-DAB7EC20EE46}"/>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cxnSp>
          <p:nvCxnSpPr>
            <p:cNvPr id="57" name="Straight Connector 56">
              <a:extLst>
                <a:ext uri="{FF2B5EF4-FFF2-40B4-BE49-F238E27FC236}">
                  <a16:creationId xmlns:a16="http://schemas.microsoft.com/office/drawing/2014/main" id="{613C5031-E4BF-0443-A1A7-B7CCFD0AA4F2}"/>
                </a:ext>
              </a:extLst>
            </p:cNvPr>
            <p:cNvCxnSpPr/>
            <p:nvPr/>
          </p:nvCxnSpPr>
          <p:spPr>
            <a:xfrm>
              <a:off x="10278799" y="4939862"/>
              <a:ext cx="10972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B78321C-4B0F-1E4B-ACCC-98699255C017}"/>
                </a:ext>
              </a:extLst>
            </p:cNvPr>
            <p:cNvCxnSpPr>
              <a:cxnSpLocks/>
            </p:cNvCxnSpPr>
            <p:nvPr/>
          </p:nvCxnSpPr>
          <p:spPr>
            <a:xfrm>
              <a:off x="10571785" y="3927021"/>
              <a:ext cx="40682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1E7ED5F-A684-8643-A120-90868D264328}"/>
                </a:ext>
              </a:extLst>
            </p:cNvPr>
            <p:cNvCxnSpPr/>
            <p:nvPr/>
          </p:nvCxnSpPr>
          <p:spPr>
            <a:xfrm>
              <a:off x="9003645" y="3877728"/>
              <a:ext cx="40233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A5F386B-8CB3-3542-8BC5-AEE2C8CDF530}"/>
                </a:ext>
              </a:extLst>
            </p:cNvPr>
            <p:cNvCxnSpPr>
              <a:cxnSpLocks/>
            </p:cNvCxnSpPr>
            <p:nvPr/>
          </p:nvCxnSpPr>
          <p:spPr>
            <a:xfrm flipV="1">
              <a:off x="10966083" y="3925934"/>
              <a:ext cx="0" cy="10058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43FFD1F1-1BFB-0948-8B44-85AE24448966}"/>
                </a:ext>
              </a:extLst>
            </p:cNvPr>
            <p:cNvCxnSpPr>
              <a:cxnSpLocks/>
            </p:cNvCxnSpPr>
            <p:nvPr/>
          </p:nvCxnSpPr>
          <p:spPr>
            <a:xfrm flipV="1">
              <a:off x="9014115" y="3878065"/>
              <a:ext cx="0" cy="76809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63836006-7D84-B347-A189-46C01F08BD5D}"/>
                </a:ext>
              </a:extLst>
            </p:cNvPr>
            <p:cNvSpPr txBox="1"/>
            <p:nvPr/>
          </p:nvSpPr>
          <p:spPr>
            <a:xfrm>
              <a:off x="9358974" y="4731526"/>
              <a:ext cx="341523" cy="372626"/>
            </a:xfrm>
            <a:prstGeom prst="rect">
              <a:avLst/>
            </a:prstGeom>
            <a:noFill/>
          </p:spPr>
          <p:txBody>
            <a:bodyPr wrap="square" rtlCol="0">
              <a:spAutoFit/>
            </a:bodyPr>
            <a:lstStyle/>
            <a:p>
              <a:r>
                <a:rPr lang="en-US" dirty="0"/>
                <a:t>A</a:t>
              </a:r>
            </a:p>
          </p:txBody>
        </p:sp>
        <p:sp>
          <p:nvSpPr>
            <p:cNvPr id="64" name="TextBox 63">
              <a:extLst>
                <a:ext uri="{FF2B5EF4-FFF2-40B4-BE49-F238E27FC236}">
                  <a16:creationId xmlns:a16="http://schemas.microsoft.com/office/drawing/2014/main" id="{0DF30E72-7BF6-9340-B2B1-B4B0CF34BAE3}"/>
                </a:ext>
              </a:extLst>
            </p:cNvPr>
            <p:cNvSpPr txBox="1"/>
            <p:nvPr/>
          </p:nvSpPr>
          <p:spPr>
            <a:xfrm>
              <a:off x="11198949" y="4572525"/>
              <a:ext cx="448524" cy="338554"/>
            </a:xfrm>
            <a:prstGeom prst="rect">
              <a:avLst/>
            </a:prstGeom>
            <a:noFill/>
          </p:spPr>
          <p:txBody>
            <a:bodyPr wrap="square" rtlCol="0">
              <a:spAutoFit/>
            </a:bodyPr>
            <a:lstStyle/>
            <a:p>
              <a:r>
                <a:rPr lang="en-US" sz="1600" dirty="0" err="1"/>
                <a:t>v</a:t>
              </a:r>
              <a:r>
                <a:rPr lang="en-US" sz="1600" baseline="-25000" dirty="0" err="1"/>
                <a:t>o</a:t>
              </a:r>
              <a:endParaRPr lang="en-US" sz="1600" baseline="-25000" dirty="0"/>
            </a:p>
          </p:txBody>
        </p:sp>
      </p:grpSp>
    </p:spTree>
    <p:extLst>
      <p:ext uri="{BB962C8B-B14F-4D97-AF65-F5344CB8AC3E}">
        <p14:creationId xmlns:p14="http://schemas.microsoft.com/office/powerpoint/2010/main" val="40583242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862103" y="123590"/>
            <a:ext cx="10515600" cy="869909"/>
          </a:xfrm>
        </p:spPr>
        <p:txBody>
          <a:bodyPr/>
          <a:lstStyle/>
          <a:p>
            <a:pPr algn="ctr"/>
            <a:r>
              <a:rPr lang="en-US" dirty="0">
                <a:latin typeface="+mn-lt"/>
              </a:rPr>
              <a:t>Some filter transfer functions</a:t>
            </a:r>
          </a:p>
        </p:txBody>
      </p:sp>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a:xfrm>
            <a:off x="9301381" y="6199524"/>
            <a:ext cx="2743200" cy="365125"/>
          </a:xfrm>
        </p:spPr>
        <p:txBody>
          <a:bodyPr/>
          <a:lstStyle/>
          <a:p>
            <a:fld id="{6B76BA51-8322-1A4D-B259-B74706370693}" type="slidenum">
              <a:rPr lang="en-US" smtClean="0"/>
              <a:t>53</a:t>
            </a:fld>
            <a:endParaRPr lang="en-US"/>
          </a:p>
        </p:txBody>
      </p:sp>
      <p:grpSp>
        <p:nvGrpSpPr>
          <p:cNvPr id="12" name="Group 11">
            <a:extLst>
              <a:ext uri="{FF2B5EF4-FFF2-40B4-BE49-F238E27FC236}">
                <a16:creationId xmlns:a16="http://schemas.microsoft.com/office/drawing/2014/main" id="{47DD92DC-4CE5-2E47-8F7A-E35D231D717B}"/>
              </a:ext>
            </a:extLst>
          </p:cNvPr>
          <p:cNvGrpSpPr/>
          <p:nvPr/>
        </p:nvGrpSpPr>
        <p:grpSpPr>
          <a:xfrm>
            <a:off x="1137261" y="1488636"/>
            <a:ext cx="1899609" cy="2955202"/>
            <a:chOff x="718763" y="1947677"/>
            <a:chExt cx="1899609" cy="2955202"/>
          </a:xfrm>
        </p:grpSpPr>
        <p:sp>
          <p:nvSpPr>
            <p:cNvPr id="179" name="TextBox 178">
              <a:extLst>
                <a:ext uri="{FF2B5EF4-FFF2-40B4-BE49-F238E27FC236}">
                  <a16:creationId xmlns:a16="http://schemas.microsoft.com/office/drawing/2014/main" id="{4AAED862-24AE-674F-BF88-3048631E0A9B}"/>
                </a:ext>
              </a:extLst>
            </p:cNvPr>
            <p:cNvSpPr txBox="1"/>
            <p:nvPr/>
          </p:nvSpPr>
          <p:spPr>
            <a:xfrm>
              <a:off x="718763" y="1947677"/>
              <a:ext cx="1802296" cy="369332"/>
            </a:xfrm>
            <a:prstGeom prst="rect">
              <a:avLst/>
            </a:prstGeom>
            <a:noFill/>
          </p:spPr>
          <p:txBody>
            <a:bodyPr wrap="square" rtlCol="0">
              <a:spAutoFit/>
            </a:bodyPr>
            <a:lstStyle/>
            <a:p>
              <a:r>
                <a:rPr lang="en-US" dirty="0"/>
                <a:t>High pass</a:t>
              </a:r>
            </a:p>
          </p:txBody>
        </p:sp>
        <p:grpSp>
          <p:nvGrpSpPr>
            <p:cNvPr id="216" name="Group 210">
              <a:extLst>
                <a:ext uri="{FF2B5EF4-FFF2-40B4-BE49-F238E27FC236}">
                  <a16:creationId xmlns:a16="http://schemas.microsoft.com/office/drawing/2014/main" id="{781D7168-2BB8-1A4B-8861-F7E32479C863}"/>
                </a:ext>
              </a:extLst>
            </p:cNvPr>
            <p:cNvGrpSpPr>
              <a:grpSpLocks/>
            </p:cNvGrpSpPr>
            <p:nvPr/>
          </p:nvGrpSpPr>
          <p:grpSpPr bwMode="auto">
            <a:xfrm rot="5400000">
              <a:off x="1318259" y="2433813"/>
              <a:ext cx="304800" cy="762000"/>
              <a:chOff x="3216" y="1728"/>
              <a:chExt cx="192" cy="480"/>
            </a:xfrm>
          </p:grpSpPr>
          <p:sp>
            <p:nvSpPr>
              <p:cNvPr id="217" name="Line 8">
                <a:extLst>
                  <a:ext uri="{FF2B5EF4-FFF2-40B4-BE49-F238E27FC236}">
                    <a16:creationId xmlns:a16="http://schemas.microsoft.com/office/drawing/2014/main" id="{A22C8E63-CE42-7A4F-A40D-239C40FA9BE9}"/>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8" name="Line 9">
                <a:extLst>
                  <a:ext uri="{FF2B5EF4-FFF2-40B4-BE49-F238E27FC236}">
                    <a16:creationId xmlns:a16="http://schemas.microsoft.com/office/drawing/2014/main" id="{094A48CB-BCB1-2646-A9E3-1DD0C17D56A2}"/>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9" name="Line 10">
                <a:extLst>
                  <a:ext uri="{FF2B5EF4-FFF2-40B4-BE49-F238E27FC236}">
                    <a16:creationId xmlns:a16="http://schemas.microsoft.com/office/drawing/2014/main" id="{7B628763-DAF7-3D45-A60D-83A8A4602DC5}"/>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0" name="Line 11">
                <a:extLst>
                  <a:ext uri="{FF2B5EF4-FFF2-40B4-BE49-F238E27FC236}">
                    <a16:creationId xmlns:a16="http://schemas.microsoft.com/office/drawing/2014/main" id="{CC585950-DCE1-EE44-BF6F-854DFC73A285}"/>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55" name="TextBox 254">
              <a:extLst>
                <a:ext uri="{FF2B5EF4-FFF2-40B4-BE49-F238E27FC236}">
                  <a16:creationId xmlns:a16="http://schemas.microsoft.com/office/drawing/2014/main" id="{32E6B35D-BCAE-384E-8E9F-735CDDE101B2}"/>
                </a:ext>
              </a:extLst>
            </p:cNvPr>
            <p:cNvSpPr txBox="1"/>
            <p:nvPr/>
          </p:nvSpPr>
          <p:spPr>
            <a:xfrm>
              <a:off x="1261109" y="2317009"/>
              <a:ext cx="1015003" cy="338554"/>
            </a:xfrm>
            <a:prstGeom prst="rect">
              <a:avLst/>
            </a:prstGeom>
            <a:noFill/>
          </p:spPr>
          <p:txBody>
            <a:bodyPr wrap="square" rtlCol="0">
              <a:spAutoFit/>
            </a:bodyPr>
            <a:lstStyle/>
            <a:p>
              <a:r>
                <a:rPr lang="en-US" sz="1600" dirty="0"/>
                <a:t>C</a:t>
              </a:r>
              <a:endParaRPr lang="en-US" baseline="-25000" dirty="0"/>
            </a:p>
          </p:txBody>
        </p:sp>
        <p:sp>
          <p:nvSpPr>
            <p:cNvPr id="263" name="Freeform 12">
              <a:extLst>
                <a:ext uri="{FF2B5EF4-FFF2-40B4-BE49-F238E27FC236}">
                  <a16:creationId xmlns:a16="http://schemas.microsoft.com/office/drawing/2014/main" id="{E5940BCB-685A-6E47-A0F6-837F7E5D0D57}"/>
                </a:ext>
              </a:extLst>
            </p:cNvPr>
            <p:cNvSpPr>
              <a:spLocks noChangeAspect="1"/>
            </p:cNvSpPr>
            <p:nvPr/>
          </p:nvSpPr>
          <p:spPr bwMode="auto">
            <a:xfrm>
              <a:off x="1771646" y="2804791"/>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64" name="Group 220">
              <a:extLst>
                <a:ext uri="{FF2B5EF4-FFF2-40B4-BE49-F238E27FC236}">
                  <a16:creationId xmlns:a16="http://schemas.microsoft.com/office/drawing/2014/main" id="{D957622C-9ADF-734D-8001-97EA6206096F}"/>
                </a:ext>
              </a:extLst>
            </p:cNvPr>
            <p:cNvGrpSpPr>
              <a:grpSpLocks/>
            </p:cNvGrpSpPr>
            <p:nvPr/>
          </p:nvGrpSpPr>
          <p:grpSpPr bwMode="auto">
            <a:xfrm>
              <a:off x="1764355" y="3496657"/>
              <a:ext cx="152400" cy="304800"/>
              <a:chOff x="3264" y="3072"/>
              <a:chExt cx="96" cy="192"/>
            </a:xfrm>
          </p:grpSpPr>
          <p:sp>
            <p:nvSpPr>
              <p:cNvPr id="265" name="Line 17">
                <a:extLst>
                  <a:ext uri="{FF2B5EF4-FFF2-40B4-BE49-F238E27FC236}">
                    <a16:creationId xmlns:a16="http://schemas.microsoft.com/office/drawing/2014/main" id="{ED7EA051-365D-774B-A256-810C1ACAC9B7}"/>
                  </a:ext>
                </a:extLst>
              </p:cNvPr>
              <p:cNvSpPr>
                <a:spLocks noChangeAspect="1" noChangeShapeType="1"/>
              </p:cNvSpPr>
              <p:nvPr/>
            </p:nvSpPr>
            <p:spPr bwMode="auto">
              <a:xfrm>
                <a:off x="3319"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 name="Freeform 18">
                <a:extLst>
                  <a:ext uri="{FF2B5EF4-FFF2-40B4-BE49-F238E27FC236}">
                    <a16:creationId xmlns:a16="http://schemas.microsoft.com/office/drawing/2014/main" id="{B5BF2053-F60C-734B-8FFD-1EE671B55EFA}"/>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72" name="TextBox 271">
              <a:extLst>
                <a:ext uri="{FF2B5EF4-FFF2-40B4-BE49-F238E27FC236}">
                  <a16:creationId xmlns:a16="http://schemas.microsoft.com/office/drawing/2014/main" id="{CA0D47EA-AEDB-8C44-8BC4-CC7E78457AA6}"/>
                </a:ext>
              </a:extLst>
            </p:cNvPr>
            <p:cNvSpPr txBox="1"/>
            <p:nvPr/>
          </p:nvSpPr>
          <p:spPr>
            <a:xfrm>
              <a:off x="1422477" y="3043406"/>
              <a:ext cx="360186" cy="338554"/>
            </a:xfrm>
            <a:prstGeom prst="rect">
              <a:avLst/>
            </a:prstGeom>
            <a:noFill/>
          </p:spPr>
          <p:txBody>
            <a:bodyPr wrap="square" rtlCol="0">
              <a:spAutoFit/>
            </a:bodyPr>
            <a:lstStyle/>
            <a:p>
              <a:r>
                <a:rPr lang="en-US" sz="1600" dirty="0"/>
                <a:t>R</a:t>
              </a:r>
              <a:endParaRPr lang="en-US" baseline="-25000" dirty="0"/>
            </a:p>
          </p:txBody>
        </p:sp>
        <mc:AlternateContent xmlns:mc="http://schemas.openxmlformats.org/markup-compatibility/2006" xmlns:a14="http://schemas.microsoft.com/office/drawing/2010/main">
          <mc:Choice Requires="a14">
            <p:sp>
              <p:nvSpPr>
                <p:cNvPr id="383" name="TextBox 382">
                  <a:extLst>
                    <a:ext uri="{FF2B5EF4-FFF2-40B4-BE49-F238E27FC236}">
                      <a16:creationId xmlns:a16="http://schemas.microsoft.com/office/drawing/2014/main" id="{1C65CDC6-F7EB-6A4F-ACE1-D4684D95A85C}"/>
                    </a:ext>
                  </a:extLst>
                </p:cNvPr>
                <p:cNvSpPr txBox="1"/>
                <p:nvPr/>
              </p:nvSpPr>
              <p:spPr>
                <a:xfrm>
                  <a:off x="946953" y="4063803"/>
                  <a:ext cx="1671419" cy="839076"/>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𝐻𝑃</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0</m:t>
                                    </m:r>
                                  </m:sub>
                                </m:sSub>
                              </m:num>
                              <m:den>
                                <m:r>
                                  <a:rPr lang="en-US" b="0" i="1" smtClean="0">
                                    <a:latin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𝜔</m:t>
                                </m:r>
                              </m:den>
                            </m:f>
                          </m:den>
                        </m:f>
                      </m:oMath>
                    </m:oMathPara>
                  </a14:m>
                  <a:endParaRPr lang="en-US" dirty="0"/>
                </a:p>
              </p:txBody>
            </p:sp>
          </mc:Choice>
          <mc:Fallback xmlns="">
            <p:sp>
              <p:nvSpPr>
                <p:cNvPr id="383" name="TextBox 382">
                  <a:extLst>
                    <a:ext uri="{FF2B5EF4-FFF2-40B4-BE49-F238E27FC236}">
                      <a16:creationId xmlns:a16="http://schemas.microsoft.com/office/drawing/2014/main" id="{1C65CDC6-F7EB-6A4F-ACE1-D4684D95A85C}"/>
                    </a:ext>
                  </a:extLst>
                </p:cNvPr>
                <p:cNvSpPr txBox="1">
                  <a:spLocks noRot="1" noChangeAspect="1" noMove="1" noResize="1" noEditPoints="1" noAdjustHandles="1" noChangeArrowheads="1" noChangeShapeType="1" noTextEdit="1"/>
                </p:cNvSpPr>
                <p:nvPr/>
              </p:nvSpPr>
              <p:spPr>
                <a:xfrm>
                  <a:off x="946953" y="4063803"/>
                  <a:ext cx="1671419" cy="839076"/>
                </a:xfrm>
                <a:prstGeom prst="rect">
                  <a:avLst/>
                </a:prstGeom>
                <a:blipFill>
                  <a:blip r:embed="rId2"/>
                  <a:stretch>
                    <a:fillRect b="-6061"/>
                  </a:stretch>
                </a:blipFill>
              </p:spPr>
              <p:txBody>
                <a:bodyPr/>
                <a:lstStyle/>
                <a:p>
                  <a:r>
                    <a:rPr lang="en-US">
                      <a:noFill/>
                    </a:rPr>
                    <a:t> </a:t>
                  </a:r>
                </a:p>
              </p:txBody>
            </p:sp>
          </mc:Fallback>
        </mc:AlternateContent>
        <p:cxnSp>
          <p:nvCxnSpPr>
            <p:cNvPr id="6" name="Straight Connector 5">
              <a:extLst>
                <a:ext uri="{FF2B5EF4-FFF2-40B4-BE49-F238E27FC236}">
                  <a16:creationId xmlns:a16="http://schemas.microsoft.com/office/drawing/2014/main" id="{D81F03EC-047A-E146-9533-9F398C32E19E}"/>
                </a:ext>
              </a:extLst>
            </p:cNvPr>
            <p:cNvCxnSpPr>
              <a:cxnSpLocks/>
            </p:cNvCxnSpPr>
            <p:nvPr/>
          </p:nvCxnSpPr>
          <p:spPr>
            <a:xfrm>
              <a:off x="1822591" y="2814813"/>
              <a:ext cx="51683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4" name="Group 13">
              <a:extLst>
                <a:ext uri="{FF2B5EF4-FFF2-40B4-BE49-F238E27FC236}">
                  <a16:creationId xmlns:a16="http://schemas.microsoft.com/office/drawing/2014/main" id="{ABAA0466-4BCA-E744-8F58-37A1060CA5AA}"/>
                </a:ext>
              </a:extLst>
            </p:cNvPr>
            <p:cNvGrpSpPr>
              <a:grpSpLocks noChangeAspect="1"/>
            </p:cNvGrpSpPr>
            <p:nvPr/>
          </p:nvGrpSpPr>
          <p:grpSpPr bwMode="auto">
            <a:xfrm>
              <a:off x="986325" y="2741126"/>
              <a:ext cx="155448" cy="155448"/>
              <a:chOff x="1344" y="2064"/>
              <a:chExt cx="192" cy="192"/>
            </a:xfrm>
          </p:grpSpPr>
          <p:sp>
            <p:nvSpPr>
              <p:cNvPr id="195" name="Oval 14">
                <a:extLst>
                  <a:ext uri="{FF2B5EF4-FFF2-40B4-BE49-F238E27FC236}">
                    <a16:creationId xmlns:a16="http://schemas.microsoft.com/office/drawing/2014/main" id="{D55984E6-9B2F-D14B-BB8A-73B57064BEEF}"/>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96" name="Rectangle 15">
                <a:extLst>
                  <a:ext uri="{FF2B5EF4-FFF2-40B4-BE49-F238E27FC236}">
                    <a16:creationId xmlns:a16="http://schemas.microsoft.com/office/drawing/2014/main" id="{F2D4BCA0-8E01-F043-BE46-C27720E5E822}"/>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97" name="Group 13">
              <a:extLst>
                <a:ext uri="{FF2B5EF4-FFF2-40B4-BE49-F238E27FC236}">
                  <a16:creationId xmlns:a16="http://schemas.microsoft.com/office/drawing/2014/main" id="{A74EEDEE-AEE3-5445-826B-AD9C0B28BEA6}"/>
                </a:ext>
              </a:extLst>
            </p:cNvPr>
            <p:cNvGrpSpPr>
              <a:grpSpLocks noChangeAspect="1"/>
            </p:cNvGrpSpPr>
            <p:nvPr/>
          </p:nvGrpSpPr>
          <p:grpSpPr bwMode="auto">
            <a:xfrm>
              <a:off x="2261702" y="2737089"/>
              <a:ext cx="155448" cy="155448"/>
              <a:chOff x="1344" y="2064"/>
              <a:chExt cx="192" cy="192"/>
            </a:xfrm>
          </p:grpSpPr>
          <p:sp>
            <p:nvSpPr>
              <p:cNvPr id="198" name="Oval 14">
                <a:extLst>
                  <a:ext uri="{FF2B5EF4-FFF2-40B4-BE49-F238E27FC236}">
                    <a16:creationId xmlns:a16="http://schemas.microsoft.com/office/drawing/2014/main" id="{7E878CB1-5EE5-BE46-AC28-FFBB31D9691D}"/>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99" name="Rectangle 15">
                <a:extLst>
                  <a:ext uri="{FF2B5EF4-FFF2-40B4-BE49-F238E27FC236}">
                    <a16:creationId xmlns:a16="http://schemas.microsoft.com/office/drawing/2014/main" id="{32A1B6A8-7658-D547-8CE3-8E36DF66F9D4}"/>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grpSp>
        <p:nvGrpSpPr>
          <p:cNvPr id="9" name="Group 8">
            <a:extLst>
              <a:ext uri="{FF2B5EF4-FFF2-40B4-BE49-F238E27FC236}">
                <a16:creationId xmlns:a16="http://schemas.microsoft.com/office/drawing/2014/main" id="{F93EC9BD-8128-E64F-AA30-1ACF10BCBE66}"/>
              </a:ext>
            </a:extLst>
          </p:cNvPr>
          <p:cNvGrpSpPr/>
          <p:nvPr/>
        </p:nvGrpSpPr>
        <p:grpSpPr>
          <a:xfrm>
            <a:off x="4757658" y="1540187"/>
            <a:ext cx="2341143" cy="2839590"/>
            <a:chOff x="6914163" y="2198051"/>
            <a:chExt cx="2341143" cy="2839590"/>
          </a:xfrm>
        </p:grpSpPr>
        <p:sp>
          <p:nvSpPr>
            <p:cNvPr id="201" name="TextBox 200">
              <a:extLst>
                <a:ext uri="{FF2B5EF4-FFF2-40B4-BE49-F238E27FC236}">
                  <a16:creationId xmlns:a16="http://schemas.microsoft.com/office/drawing/2014/main" id="{498F6EB8-BA07-AA4C-9948-F93E89AD1F30}"/>
                </a:ext>
              </a:extLst>
            </p:cNvPr>
            <p:cNvSpPr txBox="1"/>
            <p:nvPr/>
          </p:nvSpPr>
          <p:spPr>
            <a:xfrm>
              <a:off x="6914163" y="2198051"/>
              <a:ext cx="1802296" cy="369332"/>
            </a:xfrm>
            <a:prstGeom prst="rect">
              <a:avLst/>
            </a:prstGeom>
            <a:noFill/>
          </p:spPr>
          <p:txBody>
            <a:bodyPr wrap="square" rtlCol="0">
              <a:spAutoFit/>
            </a:bodyPr>
            <a:lstStyle/>
            <a:p>
              <a:r>
                <a:rPr lang="en-US" dirty="0"/>
                <a:t>Low pass</a:t>
              </a:r>
            </a:p>
          </p:txBody>
        </p:sp>
        <p:grpSp>
          <p:nvGrpSpPr>
            <p:cNvPr id="202" name="Group 210">
              <a:extLst>
                <a:ext uri="{FF2B5EF4-FFF2-40B4-BE49-F238E27FC236}">
                  <a16:creationId xmlns:a16="http://schemas.microsoft.com/office/drawing/2014/main" id="{095E5207-3F7B-A54B-ADE3-AE955D474476}"/>
                </a:ext>
              </a:extLst>
            </p:cNvPr>
            <p:cNvGrpSpPr>
              <a:grpSpLocks/>
            </p:cNvGrpSpPr>
            <p:nvPr/>
          </p:nvGrpSpPr>
          <p:grpSpPr bwMode="auto">
            <a:xfrm>
              <a:off x="7888365" y="2963052"/>
              <a:ext cx="304800" cy="762000"/>
              <a:chOff x="3216" y="1728"/>
              <a:chExt cx="192" cy="480"/>
            </a:xfrm>
          </p:grpSpPr>
          <p:sp>
            <p:nvSpPr>
              <p:cNvPr id="204" name="Line 8">
                <a:extLst>
                  <a:ext uri="{FF2B5EF4-FFF2-40B4-BE49-F238E27FC236}">
                    <a16:creationId xmlns:a16="http://schemas.microsoft.com/office/drawing/2014/main" id="{97FC6C27-4355-CC49-BE00-71EB750E7578}"/>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 name="Line 9">
                <a:extLst>
                  <a:ext uri="{FF2B5EF4-FFF2-40B4-BE49-F238E27FC236}">
                    <a16:creationId xmlns:a16="http://schemas.microsoft.com/office/drawing/2014/main" id="{31EE8A7E-CDAA-C146-9814-5796F7785ECB}"/>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6" name="Line 10">
                <a:extLst>
                  <a:ext uri="{FF2B5EF4-FFF2-40B4-BE49-F238E27FC236}">
                    <a16:creationId xmlns:a16="http://schemas.microsoft.com/office/drawing/2014/main" id="{B4962922-EE71-7146-922A-A6C663A85997}"/>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9" name="Line 11">
                <a:extLst>
                  <a:ext uri="{FF2B5EF4-FFF2-40B4-BE49-F238E27FC236}">
                    <a16:creationId xmlns:a16="http://schemas.microsoft.com/office/drawing/2014/main" id="{C7AE8459-6946-864C-BA08-3194A933E43F}"/>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21" name="TextBox 220">
              <a:extLst>
                <a:ext uri="{FF2B5EF4-FFF2-40B4-BE49-F238E27FC236}">
                  <a16:creationId xmlns:a16="http://schemas.microsoft.com/office/drawing/2014/main" id="{04A61E09-A9B2-1E44-AE4C-9EB85E82812A}"/>
                </a:ext>
              </a:extLst>
            </p:cNvPr>
            <p:cNvSpPr txBox="1"/>
            <p:nvPr/>
          </p:nvSpPr>
          <p:spPr>
            <a:xfrm>
              <a:off x="8240303" y="3215048"/>
              <a:ext cx="1015003" cy="338554"/>
            </a:xfrm>
            <a:prstGeom prst="rect">
              <a:avLst/>
            </a:prstGeom>
            <a:noFill/>
          </p:spPr>
          <p:txBody>
            <a:bodyPr wrap="square" rtlCol="0">
              <a:spAutoFit/>
            </a:bodyPr>
            <a:lstStyle/>
            <a:p>
              <a:r>
                <a:rPr lang="en-US" sz="1600" dirty="0"/>
                <a:t>C</a:t>
              </a:r>
              <a:endParaRPr lang="en-US" baseline="-25000" dirty="0"/>
            </a:p>
          </p:txBody>
        </p:sp>
        <p:grpSp>
          <p:nvGrpSpPr>
            <p:cNvPr id="223" name="Group 220">
              <a:extLst>
                <a:ext uri="{FF2B5EF4-FFF2-40B4-BE49-F238E27FC236}">
                  <a16:creationId xmlns:a16="http://schemas.microsoft.com/office/drawing/2014/main" id="{50812427-678C-734B-BDC0-89B6BF5A69D5}"/>
                </a:ext>
              </a:extLst>
            </p:cNvPr>
            <p:cNvGrpSpPr>
              <a:grpSpLocks/>
            </p:cNvGrpSpPr>
            <p:nvPr/>
          </p:nvGrpSpPr>
          <p:grpSpPr bwMode="auto">
            <a:xfrm>
              <a:off x="7970868" y="3649057"/>
              <a:ext cx="152400" cy="304800"/>
              <a:chOff x="3271" y="3072"/>
              <a:chExt cx="96" cy="192"/>
            </a:xfrm>
          </p:grpSpPr>
          <p:sp>
            <p:nvSpPr>
              <p:cNvPr id="224" name="Line 17">
                <a:extLst>
                  <a:ext uri="{FF2B5EF4-FFF2-40B4-BE49-F238E27FC236}">
                    <a16:creationId xmlns:a16="http://schemas.microsoft.com/office/drawing/2014/main" id="{7DA2CCCD-D9A6-F246-A319-56BFEC7EFC71}"/>
                  </a:ext>
                </a:extLst>
              </p:cNvPr>
              <p:cNvSpPr>
                <a:spLocks noChangeAspect="1" noChangeShapeType="1"/>
              </p:cNvSpPr>
              <p:nvPr/>
            </p:nvSpPr>
            <p:spPr bwMode="auto">
              <a:xfrm>
                <a:off x="3319"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 name="Freeform 18">
                <a:extLst>
                  <a:ext uri="{FF2B5EF4-FFF2-40B4-BE49-F238E27FC236}">
                    <a16:creationId xmlns:a16="http://schemas.microsoft.com/office/drawing/2014/main" id="{64BF388E-2EE4-0A43-918E-27A2B4130292}"/>
                  </a:ext>
                </a:extLst>
              </p:cNvPr>
              <p:cNvSpPr>
                <a:spLocks noChangeAspect="1"/>
              </p:cNvSpPr>
              <p:nvPr/>
            </p:nvSpPr>
            <p:spPr bwMode="auto">
              <a:xfrm>
                <a:off x="3271"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26" name="TextBox 225">
              <a:extLst>
                <a:ext uri="{FF2B5EF4-FFF2-40B4-BE49-F238E27FC236}">
                  <a16:creationId xmlns:a16="http://schemas.microsoft.com/office/drawing/2014/main" id="{028C0FAB-047D-1A4D-AC92-7178B09128D0}"/>
                </a:ext>
              </a:extLst>
            </p:cNvPr>
            <p:cNvSpPr txBox="1"/>
            <p:nvPr/>
          </p:nvSpPr>
          <p:spPr>
            <a:xfrm>
              <a:off x="7591373" y="2586205"/>
              <a:ext cx="360186" cy="338554"/>
            </a:xfrm>
            <a:prstGeom prst="rect">
              <a:avLst/>
            </a:prstGeom>
            <a:noFill/>
          </p:spPr>
          <p:txBody>
            <a:bodyPr wrap="square" rtlCol="0">
              <a:spAutoFit/>
            </a:bodyPr>
            <a:lstStyle/>
            <a:p>
              <a:r>
                <a:rPr lang="en-US" sz="1600" dirty="0"/>
                <a:t>R</a:t>
              </a:r>
              <a:endParaRPr lang="en-US" baseline="-25000" dirty="0"/>
            </a:p>
          </p:txBody>
        </p:sp>
        <mc:AlternateContent xmlns:mc="http://schemas.openxmlformats.org/markup-compatibility/2006" xmlns:a14="http://schemas.microsoft.com/office/drawing/2010/main">
          <mc:Choice Requires="a14">
            <p:sp>
              <p:nvSpPr>
                <p:cNvPr id="227" name="TextBox 226">
                  <a:extLst>
                    <a:ext uri="{FF2B5EF4-FFF2-40B4-BE49-F238E27FC236}">
                      <a16:creationId xmlns:a16="http://schemas.microsoft.com/office/drawing/2014/main" id="{17483962-C1A0-994B-80DB-BE106249B59C}"/>
                    </a:ext>
                  </a:extLst>
                </p:cNvPr>
                <p:cNvSpPr txBox="1"/>
                <p:nvPr/>
              </p:nvSpPr>
              <p:spPr>
                <a:xfrm>
                  <a:off x="7124045" y="4200361"/>
                  <a:ext cx="1671419" cy="837280"/>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𝐿𝑃</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r>
                              <a:rPr lang="en-US" b="0" i="1" smtClean="0">
                                <a:latin typeface="Cambria Math" panose="02040503050406030204" pitchFamily="18" charset="0"/>
                              </a:rPr>
                              <m:t>𝑗</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𝜔</m:t>
                                </m:r>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0</m:t>
                                    </m:r>
                                  </m:sub>
                                </m:sSub>
                              </m:den>
                            </m:f>
                          </m:den>
                        </m:f>
                      </m:oMath>
                    </m:oMathPara>
                  </a14:m>
                  <a:endParaRPr lang="en-US" dirty="0"/>
                </a:p>
              </p:txBody>
            </p:sp>
          </mc:Choice>
          <mc:Fallback xmlns="">
            <p:sp>
              <p:nvSpPr>
                <p:cNvPr id="227" name="TextBox 226">
                  <a:extLst>
                    <a:ext uri="{FF2B5EF4-FFF2-40B4-BE49-F238E27FC236}">
                      <a16:creationId xmlns:a16="http://schemas.microsoft.com/office/drawing/2014/main" id="{17483962-C1A0-994B-80DB-BE106249B59C}"/>
                    </a:ext>
                  </a:extLst>
                </p:cNvPr>
                <p:cNvSpPr txBox="1">
                  <a:spLocks noRot="1" noChangeAspect="1" noMove="1" noResize="1" noEditPoints="1" noAdjustHandles="1" noChangeArrowheads="1" noChangeShapeType="1" noTextEdit="1"/>
                </p:cNvSpPr>
                <p:nvPr/>
              </p:nvSpPr>
              <p:spPr>
                <a:xfrm>
                  <a:off x="7124045" y="4200361"/>
                  <a:ext cx="1671419" cy="837280"/>
                </a:xfrm>
                <a:prstGeom prst="rect">
                  <a:avLst/>
                </a:prstGeom>
                <a:blipFill>
                  <a:blip r:embed="rId3"/>
                  <a:stretch>
                    <a:fillRect b="-1493"/>
                  </a:stretch>
                </a:blipFill>
              </p:spPr>
              <p:txBody>
                <a:bodyPr/>
                <a:lstStyle/>
                <a:p>
                  <a:r>
                    <a:rPr lang="en-US">
                      <a:noFill/>
                    </a:rPr>
                    <a:t> </a:t>
                  </a:r>
                </a:p>
              </p:txBody>
            </p:sp>
          </mc:Fallback>
        </mc:AlternateContent>
        <p:cxnSp>
          <p:nvCxnSpPr>
            <p:cNvPr id="228" name="Straight Connector 227">
              <a:extLst>
                <a:ext uri="{FF2B5EF4-FFF2-40B4-BE49-F238E27FC236}">
                  <a16:creationId xmlns:a16="http://schemas.microsoft.com/office/drawing/2014/main" id="{6AFDA3AA-0839-734B-A0BD-6AE7BB483457}"/>
                </a:ext>
              </a:extLst>
            </p:cNvPr>
            <p:cNvCxnSpPr>
              <a:cxnSpLocks/>
            </p:cNvCxnSpPr>
            <p:nvPr/>
          </p:nvCxnSpPr>
          <p:spPr>
            <a:xfrm>
              <a:off x="8017991" y="2967213"/>
              <a:ext cx="51683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9" name="Group 13">
              <a:extLst>
                <a:ext uri="{FF2B5EF4-FFF2-40B4-BE49-F238E27FC236}">
                  <a16:creationId xmlns:a16="http://schemas.microsoft.com/office/drawing/2014/main" id="{2831B353-11A2-4C41-9904-A10AECA3400E}"/>
                </a:ext>
              </a:extLst>
            </p:cNvPr>
            <p:cNvGrpSpPr>
              <a:grpSpLocks noChangeAspect="1"/>
            </p:cNvGrpSpPr>
            <p:nvPr/>
          </p:nvGrpSpPr>
          <p:grpSpPr bwMode="auto">
            <a:xfrm>
              <a:off x="7181725" y="2893526"/>
              <a:ext cx="155448" cy="155448"/>
              <a:chOff x="1344" y="2064"/>
              <a:chExt cx="192" cy="192"/>
            </a:xfrm>
          </p:grpSpPr>
          <p:sp>
            <p:nvSpPr>
              <p:cNvPr id="230" name="Oval 14">
                <a:extLst>
                  <a:ext uri="{FF2B5EF4-FFF2-40B4-BE49-F238E27FC236}">
                    <a16:creationId xmlns:a16="http://schemas.microsoft.com/office/drawing/2014/main" id="{95AD7F3F-E0F1-6443-BC7F-CD11456C14B8}"/>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31" name="Rectangle 15">
                <a:extLst>
                  <a:ext uri="{FF2B5EF4-FFF2-40B4-BE49-F238E27FC236}">
                    <a16:creationId xmlns:a16="http://schemas.microsoft.com/office/drawing/2014/main" id="{E7102DE3-3E8B-C544-9317-D041F35CB5CC}"/>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232" name="Group 13">
              <a:extLst>
                <a:ext uri="{FF2B5EF4-FFF2-40B4-BE49-F238E27FC236}">
                  <a16:creationId xmlns:a16="http://schemas.microsoft.com/office/drawing/2014/main" id="{66D85167-04F7-0C49-A861-37F324EAECAE}"/>
                </a:ext>
              </a:extLst>
            </p:cNvPr>
            <p:cNvGrpSpPr>
              <a:grpSpLocks noChangeAspect="1"/>
            </p:cNvGrpSpPr>
            <p:nvPr/>
          </p:nvGrpSpPr>
          <p:grpSpPr bwMode="auto">
            <a:xfrm>
              <a:off x="8457102" y="2889489"/>
              <a:ext cx="155448" cy="155448"/>
              <a:chOff x="1344" y="2064"/>
              <a:chExt cx="192" cy="192"/>
            </a:xfrm>
          </p:grpSpPr>
          <p:sp>
            <p:nvSpPr>
              <p:cNvPr id="237" name="Oval 14">
                <a:extLst>
                  <a:ext uri="{FF2B5EF4-FFF2-40B4-BE49-F238E27FC236}">
                    <a16:creationId xmlns:a16="http://schemas.microsoft.com/office/drawing/2014/main" id="{59B7A830-61AF-A141-B39E-021A175E4367}"/>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38" name="Rectangle 15">
                <a:extLst>
                  <a:ext uri="{FF2B5EF4-FFF2-40B4-BE49-F238E27FC236}">
                    <a16:creationId xmlns:a16="http://schemas.microsoft.com/office/drawing/2014/main" id="{174E22ED-2C53-2448-AD77-E53E49B90D64}"/>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239" name="Freeform 12">
              <a:extLst>
                <a:ext uri="{FF2B5EF4-FFF2-40B4-BE49-F238E27FC236}">
                  <a16:creationId xmlns:a16="http://schemas.microsoft.com/office/drawing/2014/main" id="{F50DA443-2C61-B54D-8227-2E76C865FA4B}"/>
                </a:ext>
              </a:extLst>
            </p:cNvPr>
            <p:cNvSpPr>
              <a:spLocks noChangeAspect="1"/>
            </p:cNvSpPr>
            <p:nvPr/>
          </p:nvSpPr>
          <p:spPr bwMode="auto">
            <a:xfrm rot="5400000">
              <a:off x="7604930" y="2592754"/>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930FE88-E87D-D641-96D0-28F6BDA0A595}"/>
                  </a:ext>
                </a:extLst>
              </p:cNvPr>
              <p:cNvSpPr txBox="1"/>
              <p:nvPr/>
            </p:nvSpPr>
            <p:spPr>
              <a:xfrm>
                <a:off x="7393523" y="3903049"/>
                <a:ext cx="4501347" cy="2518752"/>
              </a:xfrm>
              <a:prstGeom prst="rect">
                <a:avLst/>
              </a:prstGeom>
              <a:noFill/>
            </p:spPr>
            <p:txBody>
              <a:bodyPr wrap="square" rtlCol="0">
                <a:noAutofit/>
              </a:bodyPr>
              <a:lstStyle/>
              <a:p>
                <a:pPr marL="285750" indent="-285750">
                  <a:buFont typeface="Arial" panose="020B0604020202020204" pitchFamily="34" charset="0"/>
                  <a:buChar char="•"/>
                </a:pPr>
                <a14:m>
                  <m:oMath xmlns:m="http://schemas.openxmlformats.org/officeDocument/2006/math">
                    <m:f>
                      <m:fPr>
                        <m:ctrlPr>
                          <a:rPr lang="en-US" sz="200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2</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1</m:t>
                            </m:r>
                          </m:sub>
                        </m:sSub>
                      </m:den>
                    </m:f>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eqArr>
                          <m:eqArrPr>
                            <m:ctrlPr>
                              <a:rPr lang="en-US" sz="2000" b="0" i="1" smtClean="0">
                                <a:latin typeface="Cambria Math" panose="02040503050406030204" pitchFamily="18" charset="0"/>
                              </a:rPr>
                            </m:ctrlPr>
                          </m:eqArrPr>
                          <m:e>
                            <m:r>
                              <a:rPr lang="en-US" sz="2000" b="0" i="1" smtClean="0">
                                <a:latin typeface="Cambria Math" panose="02040503050406030204" pitchFamily="18" charset="0"/>
                              </a:rPr>
                              <m:t>3+</m:t>
                            </m:r>
                            <m:r>
                              <a:rPr lang="en-US" sz="2000" b="0" i="1" smtClean="0">
                                <a:latin typeface="Cambria Math" panose="02040503050406030204" pitchFamily="18" charset="0"/>
                              </a:rPr>
                              <m:t>𝑗</m:t>
                            </m:r>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𝐶𝑅</m:t>
                            </m:r>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m:t>
                                </m:r>
                              </m:num>
                              <m:den>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𝐶𝑅</m:t>
                                </m:r>
                              </m:den>
                            </m:f>
                            <m:r>
                              <a:rPr lang="en-US" sz="2000" b="0" i="1" smtClean="0">
                                <a:latin typeface="Cambria Math" panose="02040503050406030204" pitchFamily="18" charset="0"/>
                                <a:ea typeface="Cambria Math" panose="02040503050406030204" pitchFamily="18" charset="0"/>
                              </a:rPr>
                              <m:t>)</m:t>
                            </m:r>
                          </m:e>
                          <m:e/>
                        </m:eqArr>
                      </m:den>
                    </m:f>
                  </m:oMath>
                </a14:m>
                <a:endParaRPr lang="en-US" sz="2000" dirty="0"/>
              </a:p>
              <a:p>
                <a:pPr marL="285750" indent="-285750">
                  <a:buFont typeface="Arial" panose="020B0604020202020204" pitchFamily="34" charset="0"/>
                  <a:buChar char="•"/>
                </a:pPr>
                <a:r>
                  <a:rPr lang="en-US" sz="2000" dirty="0"/>
                  <a:t>Oscillation when  </a:t>
                </a:r>
                <a14:m>
                  <m:oMath xmlns:m="http://schemas.openxmlformats.org/officeDocument/2006/math">
                    <m:r>
                      <a:rPr lang="en-US" sz="200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𝐶𝑅</m:t>
                    </m:r>
                    <m:r>
                      <a:rPr lang="en-US" sz="2000" b="0" i="1" smtClean="0">
                        <a:latin typeface="Cambria Math" panose="02040503050406030204" pitchFamily="18" charset="0"/>
                        <a:ea typeface="Cambria Math" panose="02040503050406030204" pitchFamily="18" charset="0"/>
                      </a:rPr>
                      <m:t>=1</m:t>
                    </m:r>
                  </m:oMath>
                </a14:m>
                <a:endParaRPr lang="en-US" sz="2000" dirty="0"/>
              </a:p>
              <a:p>
                <a:pPr marL="285750" indent="-285750">
                  <a:buFont typeface="Arial" panose="020B0604020202020204" pitchFamily="34" charset="0"/>
                  <a:buChar char="•"/>
                </a:pPr>
                <a14:m>
                  <m:oMath xmlns:m="http://schemas.openxmlformats.org/officeDocument/2006/math">
                    <m:func>
                      <m:funcPr>
                        <m:ctrlPr>
                          <a:rPr lang="en-US" sz="2000" b="0" i="0" smtClean="0">
                            <a:latin typeface="Cambria Math" panose="02040503050406030204" pitchFamily="18" charset="0"/>
                          </a:rPr>
                        </m:ctrlPr>
                      </m:funcPr>
                      <m:fName>
                        <m:r>
                          <m:rPr>
                            <m:sty m:val="p"/>
                          </m:rPr>
                          <a:rPr lang="en-US" sz="2000" b="0" i="0" smtClean="0">
                            <a:latin typeface="Cambria Math" panose="02040503050406030204" pitchFamily="18" charset="0"/>
                          </a:rPr>
                          <m:t>tan</m:t>
                        </m:r>
                      </m:fName>
                      <m:e>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𝜙</m:t>
                            </m:r>
                          </m:e>
                        </m:d>
                      </m:e>
                    </m:func>
                    <m:r>
                      <a:rPr lang="en-US" sz="2000" b="0" i="1" smtClean="0">
                        <a:latin typeface="Cambria Math" panose="02040503050406030204" pitchFamily="18" charset="0"/>
                        <a:ea typeface="Cambria Math" panose="02040503050406030204" pitchFamily="18" charset="0"/>
                      </a:rPr>
                      <m:t>= </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𝑅</m:t>
                            </m:r>
                          </m:e>
                          <m:sub>
                            <m:r>
                              <a:rPr lang="en-US" sz="2000" b="0" i="1" smtClean="0">
                                <a:latin typeface="Cambria Math" panose="02040503050406030204" pitchFamily="18" charset="0"/>
                                <a:ea typeface="Cambria Math" panose="02040503050406030204" pitchFamily="18" charset="0"/>
                              </a:rPr>
                              <m:t>1</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𝑅</m:t>
                            </m:r>
                          </m:e>
                          <m:sub>
                            <m:r>
                              <a:rPr lang="en-US" sz="2000" b="0" i="1" smtClean="0">
                                <a:latin typeface="Cambria Math" panose="02040503050406030204" pitchFamily="18" charset="0"/>
                                <a:ea typeface="Cambria Math" panose="02040503050406030204" pitchFamily="18" charset="0"/>
                              </a:rPr>
                              <m:t>2</m:t>
                            </m:r>
                          </m:sub>
                        </m:sSub>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𝜔</m:t>
                        </m:r>
                        <m:r>
                          <a:rPr lang="en-US" sz="2000" i="1">
                            <a:latin typeface="Cambria Math" panose="02040503050406030204" pitchFamily="18" charset="0"/>
                            <a:ea typeface="Cambria Math" panose="02040503050406030204" pitchFamily="18" charset="0"/>
                          </a:rPr>
                          <m:t>𝐶𝑅</m:t>
                        </m:r>
                        <m:r>
                          <a:rPr lang="en-US" sz="2000" i="1">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m:t>
                            </m:r>
                          </m:num>
                          <m:den>
                            <m:r>
                              <a:rPr lang="en-US" sz="2000" i="1">
                                <a:latin typeface="Cambria Math" panose="02040503050406030204" pitchFamily="18" charset="0"/>
                                <a:ea typeface="Cambria Math" panose="02040503050406030204" pitchFamily="18" charset="0"/>
                              </a:rPr>
                              <m:t>𝜔</m:t>
                            </m:r>
                            <m:r>
                              <a:rPr lang="en-US" sz="2000" i="1">
                                <a:latin typeface="Cambria Math" panose="02040503050406030204" pitchFamily="18" charset="0"/>
                                <a:ea typeface="Cambria Math" panose="02040503050406030204" pitchFamily="18" charset="0"/>
                              </a:rPr>
                              <m:t>𝐶𝑅</m:t>
                            </m:r>
                          </m:den>
                        </m:f>
                        <m:r>
                          <a:rPr lang="en-US" sz="2000" i="1">
                            <a:latin typeface="Cambria Math" panose="02040503050406030204" pitchFamily="18" charset="0"/>
                            <a:ea typeface="Cambria Math" panose="02040503050406030204" pitchFamily="18" charset="0"/>
                          </a:rPr>
                          <m:t>)</m:t>
                        </m:r>
                      </m:num>
                      <m:den>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𝑅</m:t>
                            </m:r>
                          </m:e>
                          <m:sub>
                            <m:r>
                              <a:rPr lang="en-US" sz="2000" b="0" i="1" smtClean="0">
                                <a:latin typeface="Cambria Math" panose="02040503050406030204" pitchFamily="18" charset="0"/>
                                <a:ea typeface="Cambria Math" panose="02040503050406030204" pitchFamily="18" charset="0"/>
                              </a:rPr>
                              <m:t>1</m:t>
                            </m:r>
                          </m:sub>
                        </m:sSub>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𝑅</m:t>
                            </m:r>
                          </m:e>
                          <m:sub>
                            <m:r>
                              <a:rPr lang="en-US" sz="2000" b="0" i="1" smtClean="0">
                                <a:latin typeface="Cambria Math" panose="02040503050406030204" pitchFamily="18" charset="0"/>
                                <a:ea typeface="Cambria Math" panose="02040503050406030204" pitchFamily="18" charset="0"/>
                              </a:rPr>
                              <m:t>2</m:t>
                            </m:r>
                          </m:sub>
                        </m:sSub>
                      </m:den>
                    </m:f>
                  </m:oMath>
                </a14:m>
                <a:endParaRPr lang="en-US" sz="2000" dirty="0"/>
              </a:p>
              <a:p>
                <a:pPr marL="285750" indent="-285750">
                  <a:buFont typeface="Arial" panose="020B0604020202020204" pitchFamily="34" charset="0"/>
                  <a:buChar char="•"/>
                </a:pPr>
                <a14:m>
                  <m:oMath xmlns:m="http://schemas.openxmlformats.org/officeDocument/2006/math">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𝑑</m:t>
                        </m:r>
                        <m:r>
                          <a:rPr lang="en-US" sz="2000" b="0" i="1" smtClean="0">
                            <a:latin typeface="Cambria Math" panose="02040503050406030204" pitchFamily="18" charset="0"/>
                            <a:ea typeface="Cambria Math" panose="02040503050406030204" pitchFamily="18" charset="0"/>
                          </a:rPr>
                          <m:t>𝜙</m:t>
                        </m:r>
                      </m:num>
                      <m:den>
                        <m:r>
                          <a:rPr lang="en-US" sz="2000" b="0" i="1" smtClean="0">
                            <a:latin typeface="Cambria Math" panose="02040503050406030204" pitchFamily="18" charset="0"/>
                          </a:rPr>
                          <m:t>𝑑</m:t>
                        </m:r>
                        <m:r>
                          <a:rPr lang="en-US" sz="2000" b="0" i="1" smtClean="0">
                            <a:latin typeface="Cambria Math" panose="02040503050406030204" pitchFamily="18" charset="0"/>
                            <a:ea typeface="Cambria Math" panose="02040503050406030204" pitchFamily="18" charset="0"/>
                          </a:rPr>
                          <m:t>𝜔</m:t>
                        </m:r>
                      </m:den>
                    </m:f>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m:t>
                        </m:r>
                        <m:r>
                          <a:rPr lang="en-US" sz="2000" b="0" i="1" smtClean="0">
                            <a:latin typeface="Cambria Math" panose="02040503050406030204" pitchFamily="18" charset="0"/>
                          </a:rPr>
                          <m:t>𝑄</m:t>
                        </m:r>
                      </m:num>
                      <m:den>
                        <m:r>
                          <a:rPr lang="en-US" sz="2000" b="0" i="1" smtClean="0">
                            <a:latin typeface="Cambria Math" panose="02040503050406030204" pitchFamily="18" charset="0"/>
                            <a:ea typeface="Cambria Math" panose="02040503050406030204" pitchFamily="18" charset="0"/>
                          </a:rPr>
                          <m:t>𝜔</m:t>
                        </m:r>
                      </m:den>
                    </m:f>
                  </m:oMath>
                </a14:m>
                <a:r>
                  <a:rPr lang="en-US" sz="2000" dirty="0"/>
                  <a:t> so high Q improved stability</a:t>
                </a:r>
              </a:p>
            </p:txBody>
          </p:sp>
        </mc:Choice>
        <mc:Fallback xmlns="">
          <p:sp>
            <p:nvSpPr>
              <p:cNvPr id="53" name="TextBox 52">
                <a:extLst>
                  <a:ext uri="{FF2B5EF4-FFF2-40B4-BE49-F238E27FC236}">
                    <a16:creationId xmlns:a16="http://schemas.microsoft.com/office/drawing/2014/main" id="{7930FE88-E87D-D641-96D0-28F6BDA0A595}"/>
                  </a:ext>
                </a:extLst>
              </p:cNvPr>
              <p:cNvSpPr txBox="1">
                <a:spLocks noRot="1" noChangeAspect="1" noMove="1" noResize="1" noEditPoints="1" noAdjustHandles="1" noChangeArrowheads="1" noChangeShapeType="1" noTextEdit="1"/>
              </p:cNvSpPr>
              <p:nvPr/>
            </p:nvSpPr>
            <p:spPr>
              <a:xfrm>
                <a:off x="7393523" y="3903049"/>
                <a:ext cx="4501347" cy="2518752"/>
              </a:xfrm>
              <a:prstGeom prst="rect">
                <a:avLst/>
              </a:prstGeom>
              <a:blipFill>
                <a:blip r:embed="rId4"/>
                <a:stretch>
                  <a:fillRect l="-1408" b="-3518"/>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E3F9D0ED-CEC7-F840-B9C7-101B9FC7F391}"/>
              </a:ext>
            </a:extLst>
          </p:cNvPr>
          <p:cNvGrpSpPr/>
          <p:nvPr/>
        </p:nvGrpSpPr>
        <p:grpSpPr>
          <a:xfrm>
            <a:off x="8465036" y="1481206"/>
            <a:ext cx="2244245" cy="1904580"/>
            <a:chOff x="7183925" y="2100077"/>
            <a:chExt cx="2244245" cy="1904580"/>
          </a:xfrm>
        </p:grpSpPr>
        <p:sp>
          <p:nvSpPr>
            <p:cNvPr id="47" name="TextBox 46">
              <a:extLst>
                <a:ext uri="{FF2B5EF4-FFF2-40B4-BE49-F238E27FC236}">
                  <a16:creationId xmlns:a16="http://schemas.microsoft.com/office/drawing/2014/main" id="{8FC239EC-0C01-3949-91EB-BF690BDC9F26}"/>
                </a:ext>
              </a:extLst>
            </p:cNvPr>
            <p:cNvSpPr txBox="1"/>
            <p:nvPr/>
          </p:nvSpPr>
          <p:spPr>
            <a:xfrm>
              <a:off x="7585836" y="2100077"/>
              <a:ext cx="1802296" cy="369332"/>
            </a:xfrm>
            <a:prstGeom prst="rect">
              <a:avLst/>
            </a:prstGeom>
            <a:noFill/>
          </p:spPr>
          <p:txBody>
            <a:bodyPr wrap="square" rtlCol="0">
              <a:spAutoFit/>
            </a:bodyPr>
            <a:lstStyle/>
            <a:p>
              <a:r>
                <a:rPr lang="en-US" dirty="0"/>
                <a:t>Wein</a:t>
              </a:r>
            </a:p>
          </p:txBody>
        </p:sp>
        <p:grpSp>
          <p:nvGrpSpPr>
            <p:cNvPr id="48" name="Group 210">
              <a:extLst>
                <a:ext uri="{FF2B5EF4-FFF2-40B4-BE49-F238E27FC236}">
                  <a16:creationId xmlns:a16="http://schemas.microsoft.com/office/drawing/2014/main" id="{7DD866B5-6648-C04F-B604-6A40FA21D83E}"/>
                </a:ext>
              </a:extLst>
            </p:cNvPr>
            <p:cNvGrpSpPr>
              <a:grpSpLocks/>
            </p:cNvGrpSpPr>
            <p:nvPr/>
          </p:nvGrpSpPr>
          <p:grpSpPr bwMode="auto">
            <a:xfrm rot="5400000">
              <a:off x="7515859" y="2586213"/>
              <a:ext cx="304800" cy="762000"/>
              <a:chOff x="3216" y="1728"/>
              <a:chExt cx="192" cy="480"/>
            </a:xfrm>
          </p:grpSpPr>
          <p:sp>
            <p:nvSpPr>
              <p:cNvPr id="63" name="Line 8">
                <a:extLst>
                  <a:ext uri="{FF2B5EF4-FFF2-40B4-BE49-F238E27FC236}">
                    <a16:creationId xmlns:a16="http://schemas.microsoft.com/office/drawing/2014/main" id="{E3CC2CC0-0B6F-B446-8D5F-65733AA42310}"/>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 name="Line 9">
                <a:extLst>
                  <a:ext uri="{FF2B5EF4-FFF2-40B4-BE49-F238E27FC236}">
                    <a16:creationId xmlns:a16="http://schemas.microsoft.com/office/drawing/2014/main" id="{182B38D8-339C-9449-999D-277B0C0E460E}"/>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 name="Line 10">
                <a:extLst>
                  <a:ext uri="{FF2B5EF4-FFF2-40B4-BE49-F238E27FC236}">
                    <a16:creationId xmlns:a16="http://schemas.microsoft.com/office/drawing/2014/main" id="{9A8933DA-DC13-CE41-A3F7-3C917A5F995E}"/>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 name="Line 11">
                <a:extLst>
                  <a:ext uri="{FF2B5EF4-FFF2-40B4-BE49-F238E27FC236}">
                    <a16:creationId xmlns:a16="http://schemas.microsoft.com/office/drawing/2014/main" id="{70779B1E-9EBF-5B48-8CF6-7D6E84FBB11C}"/>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9" name="TextBox 48">
              <a:extLst>
                <a:ext uri="{FF2B5EF4-FFF2-40B4-BE49-F238E27FC236}">
                  <a16:creationId xmlns:a16="http://schemas.microsoft.com/office/drawing/2014/main" id="{6FB3B43F-0F06-1A4F-AC9C-0C428D158872}"/>
                </a:ext>
              </a:extLst>
            </p:cNvPr>
            <p:cNvSpPr txBox="1"/>
            <p:nvPr/>
          </p:nvSpPr>
          <p:spPr>
            <a:xfrm>
              <a:off x="7458709" y="2469409"/>
              <a:ext cx="1015003" cy="338554"/>
            </a:xfrm>
            <a:prstGeom prst="rect">
              <a:avLst/>
            </a:prstGeom>
            <a:noFill/>
          </p:spPr>
          <p:txBody>
            <a:bodyPr wrap="square" rtlCol="0">
              <a:spAutoFit/>
            </a:bodyPr>
            <a:lstStyle/>
            <a:p>
              <a:r>
                <a:rPr lang="en-US" sz="1600" dirty="0"/>
                <a:t>C</a:t>
              </a:r>
              <a:endParaRPr lang="en-US" baseline="-25000" dirty="0"/>
            </a:p>
          </p:txBody>
        </p:sp>
        <p:sp>
          <p:nvSpPr>
            <p:cNvPr id="50" name="Freeform 12">
              <a:extLst>
                <a:ext uri="{FF2B5EF4-FFF2-40B4-BE49-F238E27FC236}">
                  <a16:creationId xmlns:a16="http://schemas.microsoft.com/office/drawing/2014/main" id="{91A9DCB1-5EE9-2C42-AB23-C3B99D4ED744}"/>
                </a:ext>
              </a:extLst>
            </p:cNvPr>
            <p:cNvSpPr>
              <a:spLocks noChangeAspect="1"/>
            </p:cNvSpPr>
            <p:nvPr/>
          </p:nvSpPr>
          <p:spPr bwMode="auto">
            <a:xfrm>
              <a:off x="8629646" y="2957191"/>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51" name="Group 220">
              <a:extLst>
                <a:ext uri="{FF2B5EF4-FFF2-40B4-BE49-F238E27FC236}">
                  <a16:creationId xmlns:a16="http://schemas.microsoft.com/office/drawing/2014/main" id="{83B38DEE-BBE4-1B4C-A226-223BD51E4118}"/>
                </a:ext>
              </a:extLst>
            </p:cNvPr>
            <p:cNvGrpSpPr>
              <a:grpSpLocks/>
            </p:cNvGrpSpPr>
            <p:nvPr/>
          </p:nvGrpSpPr>
          <p:grpSpPr bwMode="auto">
            <a:xfrm>
              <a:off x="8622355" y="3649057"/>
              <a:ext cx="152400" cy="304800"/>
              <a:chOff x="3264" y="3072"/>
              <a:chExt cx="96" cy="192"/>
            </a:xfrm>
          </p:grpSpPr>
          <p:sp>
            <p:nvSpPr>
              <p:cNvPr id="61" name="Line 17">
                <a:extLst>
                  <a:ext uri="{FF2B5EF4-FFF2-40B4-BE49-F238E27FC236}">
                    <a16:creationId xmlns:a16="http://schemas.microsoft.com/office/drawing/2014/main" id="{23926A1B-DB02-0F42-BE98-509E31CBCB58}"/>
                  </a:ext>
                </a:extLst>
              </p:cNvPr>
              <p:cNvSpPr>
                <a:spLocks noChangeAspect="1" noChangeShapeType="1"/>
              </p:cNvSpPr>
              <p:nvPr/>
            </p:nvSpPr>
            <p:spPr bwMode="auto">
              <a:xfrm>
                <a:off x="3319"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 name="Freeform 18">
                <a:extLst>
                  <a:ext uri="{FF2B5EF4-FFF2-40B4-BE49-F238E27FC236}">
                    <a16:creationId xmlns:a16="http://schemas.microsoft.com/office/drawing/2014/main" id="{EA91FC85-FA23-AB44-92F7-B7D5B37D810F}"/>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52" name="TextBox 51">
              <a:extLst>
                <a:ext uri="{FF2B5EF4-FFF2-40B4-BE49-F238E27FC236}">
                  <a16:creationId xmlns:a16="http://schemas.microsoft.com/office/drawing/2014/main" id="{7FFC62F9-9455-E640-BB13-6A8ECB6C9FF1}"/>
                </a:ext>
              </a:extLst>
            </p:cNvPr>
            <p:cNvSpPr txBox="1"/>
            <p:nvPr/>
          </p:nvSpPr>
          <p:spPr>
            <a:xfrm>
              <a:off x="7620077" y="3195806"/>
              <a:ext cx="360186" cy="338554"/>
            </a:xfrm>
            <a:prstGeom prst="rect">
              <a:avLst/>
            </a:prstGeom>
            <a:noFill/>
          </p:spPr>
          <p:txBody>
            <a:bodyPr wrap="square" rtlCol="0">
              <a:spAutoFit/>
            </a:bodyPr>
            <a:lstStyle/>
            <a:p>
              <a:r>
                <a:rPr lang="en-US" sz="1600" dirty="0"/>
                <a:t>R</a:t>
              </a:r>
              <a:endParaRPr lang="en-US" baseline="-25000" dirty="0"/>
            </a:p>
          </p:txBody>
        </p:sp>
        <p:cxnSp>
          <p:nvCxnSpPr>
            <p:cNvPr id="54" name="Straight Connector 53">
              <a:extLst>
                <a:ext uri="{FF2B5EF4-FFF2-40B4-BE49-F238E27FC236}">
                  <a16:creationId xmlns:a16="http://schemas.microsoft.com/office/drawing/2014/main" id="{242ECC84-DD40-D144-B01B-4816351EC309}"/>
                </a:ext>
              </a:extLst>
            </p:cNvPr>
            <p:cNvCxnSpPr>
              <a:cxnSpLocks/>
            </p:cNvCxnSpPr>
            <p:nvPr/>
          </p:nvCxnSpPr>
          <p:spPr>
            <a:xfrm>
              <a:off x="8721045" y="2967213"/>
              <a:ext cx="6400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5" name="Group 13">
              <a:extLst>
                <a:ext uri="{FF2B5EF4-FFF2-40B4-BE49-F238E27FC236}">
                  <a16:creationId xmlns:a16="http://schemas.microsoft.com/office/drawing/2014/main" id="{98FFFED6-CFDF-644D-A3EA-83A1E9F52F7B}"/>
                </a:ext>
              </a:extLst>
            </p:cNvPr>
            <p:cNvGrpSpPr>
              <a:grpSpLocks noChangeAspect="1"/>
            </p:cNvGrpSpPr>
            <p:nvPr/>
          </p:nvGrpSpPr>
          <p:grpSpPr bwMode="auto">
            <a:xfrm>
              <a:off x="7183925" y="2893526"/>
              <a:ext cx="155448" cy="155448"/>
              <a:chOff x="1344" y="2064"/>
              <a:chExt cx="192" cy="192"/>
            </a:xfrm>
          </p:grpSpPr>
          <p:sp>
            <p:nvSpPr>
              <p:cNvPr id="59" name="Oval 14">
                <a:extLst>
                  <a:ext uri="{FF2B5EF4-FFF2-40B4-BE49-F238E27FC236}">
                    <a16:creationId xmlns:a16="http://schemas.microsoft.com/office/drawing/2014/main" id="{0468EB22-B83C-B74E-9310-DE701592C0BD}"/>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60" name="Rectangle 15">
                <a:extLst>
                  <a:ext uri="{FF2B5EF4-FFF2-40B4-BE49-F238E27FC236}">
                    <a16:creationId xmlns:a16="http://schemas.microsoft.com/office/drawing/2014/main" id="{394E970A-89B8-B24C-AB30-0FB06227DFAD}"/>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56" name="Group 13">
              <a:extLst>
                <a:ext uri="{FF2B5EF4-FFF2-40B4-BE49-F238E27FC236}">
                  <a16:creationId xmlns:a16="http://schemas.microsoft.com/office/drawing/2014/main" id="{550A3F6C-8445-6944-98CB-614D8CFEE803}"/>
                </a:ext>
              </a:extLst>
            </p:cNvPr>
            <p:cNvGrpSpPr>
              <a:grpSpLocks noChangeAspect="1"/>
            </p:cNvGrpSpPr>
            <p:nvPr/>
          </p:nvGrpSpPr>
          <p:grpSpPr bwMode="auto">
            <a:xfrm>
              <a:off x="9272722" y="2892537"/>
              <a:ext cx="155448" cy="155448"/>
              <a:chOff x="1344" y="2064"/>
              <a:chExt cx="192" cy="192"/>
            </a:xfrm>
          </p:grpSpPr>
          <p:sp>
            <p:nvSpPr>
              <p:cNvPr id="57" name="Oval 14">
                <a:extLst>
                  <a:ext uri="{FF2B5EF4-FFF2-40B4-BE49-F238E27FC236}">
                    <a16:creationId xmlns:a16="http://schemas.microsoft.com/office/drawing/2014/main" id="{05D87E91-7EE5-CE45-AAAD-9BE83DDA3BBB}"/>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58" name="Rectangle 15">
                <a:extLst>
                  <a:ext uri="{FF2B5EF4-FFF2-40B4-BE49-F238E27FC236}">
                    <a16:creationId xmlns:a16="http://schemas.microsoft.com/office/drawing/2014/main" id="{B0203B47-6122-5B48-A935-843ECC069301}"/>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67" name="Group 210">
              <a:extLst>
                <a:ext uri="{FF2B5EF4-FFF2-40B4-BE49-F238E27FC236}">
                  <a16:creationId xmlns:a16="http://schemas.microsoft.com/office/drawing/2014/main" id="{2225E146-C17B-ED4B-995B-E19A70A739AE}"/>
                </a:ext>
              </a:extLst>
            </p:cNvPr>
            <p:cNvGrpSpPr>
              <a:grpSpLocks/>
            </p:cNvGrpSpPr>
            <p:nvPr/>
          </p:nvGrpSpPr>
          <p:grpSpPr bwMode="auto">
            <a:xfrm>
              <a:off x="8919185" y="2953993"/>
              <a:ext cx="304800" cy="762000"/>
              <a:chOff x="3216" y="1728"/>
              <a:chExt cx="192" cy="480"/>
            </a:xfrm>
          </p:grpSpPr>
          <p:sp>
            <p:nvSpPr>
              <p:cNvPr id="68" name="Line 8">
                <a:extLst>
                  <a:ext uri="{FF2B5EF4-FFF2-40B4-BE49-F238E27FC236}">
                    <a16:creationId xmlns:a16="http://schemas.microsoft.com/office/drawing/2014/main" id="{81DA5561-54CA-5741-9A22-8D80ED2A6074}"/>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 name="Line 9">
                <a:extLst>
                  <a:ext uri="{FF2B5EF4-FFF2-40B4-BE49-F238E27FC236}">
                    <a16:creationId xmlns:a16="http://schemas.microsoft.com/office/drawing/2014/main" id="{DB8B3BFA-2E69-5540-8F2D-44578C8C533D}"/>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 name="Line 10">
                <a:extLst>
                  <a:ext uri="{FF2B5EF4-FFF2-40B4-BE49-F238E27FC236}">
                    <a16:creationId xmlns:a16="http://schemas.microsoft.com/office/drawing/2014/main" id="{184482CD-6A71-5A42-89BC-4B0A78D2A434}"/>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 name="Line 11">
                <a:extLst>
                  <a:ext uri="{FF2B5EF4-FFF2-40B4-BE49-F238E27FC236}">
                    <a16:creationId xmlns:a16="http://schemas.microsoft.com/office/drawing/2014/main" id="{83AA4B14-A368-4949-82C5-9C5F00B1F70D}"/>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2" name="Freeform 12">
              <a:extLst>
                <a:ext uri="{FF2B5EF4-FFF2-40B4-BE49-F238E27FC236}">
                  <a16:creationId xmlns:a16="http://schemas.microsoft.com/office/drawing/2014/main" id="{2938D971-A6A2-4C4D-ABDE-F108BD3D7133}"/>
                </a:ext>
              </a:extLst>
            </p:cNvPr>
            <p:cNvSpPr>
              <a:spLocks noChangeAspect="1"/>
            </p:cNvSpPr>
            <p:nvPr/>
          </p:nvSpPr>
          <p:spPr bwMode="auto">
            <a:xfrm rot="5400000">
              <a:off x="8286886" y="2589488"/>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73" name="Group 220">
              <a:extLst>
                <a:ext uri="{FF2B5EF4-FFF2-40B4-BE49-F238E27FC236}">
                  <a16:creationId xmlns:a16="http://schemas.microsoft.com/office/drawing/2014/main" id="{B8306897-228F-6749-AB89-7EC1035CBADF}"/>
                </a:ext>
              </a:extLst>
            </p:cNvPr>
            <p:cNvGrpSpPr>
              <a:grpSpLocks/>
            </p:cNvGrpSpPr>
            <p:nvPr/>
          </p:nvGrpSpPr>
          <p:grpSpPr bwMode="auto">
            <a:xfrm>
              <a:off x="8990655" y="3699857"/>
              <a:ext cx="152400" cy="304800"/>
              <a:chOff x="3264" y="3072"/>
              <a:chExt cx="96" cy="192"/>
            </a:xfrm>
          </p:grpSpPr>
          <p:sp>
            <p:nvSpPr>
              <p:cNvPr id="74" name="Line 17">
                <a:extLst>
                  <a:ext uri="{FF2B5EF4-FFF2-40B4-BE49-F238E27FC236}">
                    <a16:creationId xmlns:a16="http://schemas.microsoft.com/office/drawing/2014/main" id="{25DA43E6-E1C1-EE40-A58A-F20D5D12018B}"/>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 name="Freeform 18">
                <a:extLst>
                  <a:ext uri="{FF2B5EF4-FFF2-40B4-BE49-F238E27FC236}">
                    <a16:creationId xmlns:a16="http://schemas.microsoft.com/office/drawing/2014/main" id="{1E1BDA45-793B-4A4B-9FC3-68F5271C18AB}"/>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136869A3-43E1-EE41-8904-0B8BEA7413A1}"/>
                  </a:ext>
                </a:extLst>
              </p:cNvPr>
              <p:cNvSpPr txBox="1"/>
              <p:nvPr/>
            </p:nvSpPr>
            <p:spPr>
              <a:xfrm>
                <a:off x="736325" y="4764976"/>
                <a:ext cx="4501347" cy="1554181"/>
              </a:xfrm>
              <a:prstGeom prst="rect">
                <a:avLst/>
              </a:prstGeom>
              <a:noFill/>
            </p:spPr>
            <p:txBody>
              <a:bodyPr wrap="square" rtlCol="0">
                <a:noAutofit/>
              </a:bodyPr>
              <a:lstStyle/>
              <a:p>
                <a:pPr marL="285750" indent="-285750">
                  <a:buFont typeface="Arial" panose="020B0604020202020204" pitchFamily="34" charset="0"/>
                  <a:buChar char="•"/>
                </a:pPr>
                <a:r>
                  <a:rPr lang="en-US" sz="2000" dirty="0"/>
                  <a:t>For CR ladder filter of length 3</a:t>
                </a:r>
              </a:p>
              <a:p>
                <a:pPr marL="285750" indent="-285750">
                  <a:buFont typeface="Arial" panose="020B0604020202020204" pitchFamily="34" charset="0"/>
                  <a:buChar char="•"/>
                </a:pPr>
                <a14:m>
                  <m:oMath xmlns:m="http://schemas.openxmlformats.org/officeDocument/2006/math">
                    <m:f>
                      <m:fPr>
                        <m:ctrlPr>
                          <a:rPr lang="en-US" sz="200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2</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1</m:t>
                            </m:r>
                          </m:sub>
                        </m:sSub>
                      </m:den>
                    </m:f>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1−5</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𝜔</m:t>
                            </m:r>
                          </m:e>
                          <m:sup>
                            <m:r>
                              <a:rPr lang="en-US" sz="2000" b="0" i="1" smtClean="0">
                                <a:latin typeface="Cambria Math" panose="02040503050406030204" pitchFamily="18" charset="0"/>
                              </a:rPr>
                              <m:t>2</m:t>
                            </m:r>
                          </m:sup>
                        </m:sSup>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𝐶</m:t>
                            </m:r>
                          </m:e>
                          <m:sup>
                            <m:r>
                              <a:rPr lang="en-US" sz="2000" b="0" i="1" smtClean="0">
                                <a:latin typeface="Cambria Math" panose="02040503050406030204" pitchFamily="18" charset="0"/>
                              </a:rPr>
                              <m:t>2</m:t>
                            </m:r>
                          </m:sup>
                        </m:sSup>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𝑅</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r>
                          <a:rPr lang="en-US" sz="2000" b="0" i="1" smtClean="0">
                            <a:latin typeface="Cambria Math" panose="02040503050406030204" pitchFamily="18" charset="0"/>
                          </a:rPr>
                          <m:t>𝑗</m:t>
                        </m:r>
                        <m:r>
                          <a:rPr lang="en-US" sz="2000" b="0" i="1" smtClean="0">
                            <a:latin typeface="Cambria Math" panose="02040503050406030204" pitchFamily="18" charset="0"/>
                          </a:rPr>
                          <m:t>((6</m:t>
                        </m:r>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𝐶𝑅</m:t>
                        </m:r>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𝜔</m:t>
                            </m:r>
                          </m:e>
                          <m:sup>
                            <m:r>
                              <a:rPr lang="en-US" sz="2000" b="0" i="1" smtClean="0">
                                <a:latin typeface="Cambria Math" panose="02040503050406030204" pitchFamily="18" charset="0"/>
                                <a:ea typeface="Cambria Math" panose="02040503050406030204" pitchFamily="18" charset="0"/>
                              </a:rPr>
                              <m:t>3</m:t>
                            </m:r>
                          </m:sup>
                        </m:sSup>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𝐶</m:t>
                            </m:r>
                          </m:e>
                          <m:sup>
                            <m:r>
                              <a:rPr lang="en-US" sz="2000" b="0" i="1" smtClean="0">
                                <a:latin typeface="Cambria Math" panose="02040503050406030204" pitchFamily="18" charset="0"/>
                                <a:ea typeface="Cambria Math" panose="02040503050406030204" pitchFamily="18" charset="0"/>
                              </a:rPr>
                              <m:t>3</m:t>
                            </m:r>
                          </m:sup>
                        </m:sSup>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𝑅</m:t>
                            </m:r>
                          </m:e>
                          <m:sup>
                            <m:r>
                              <a:rPr lang="en-US" sz="2000" b="0" i="1" smtClean="0">
                                <a:latin typeface="Cambria Math" panose="02040503050406030204" pitchFamily="18" charset="0"/>
                                <a:ea typeface="Cambria Math" panose="02040503050406030204" pitchFamily="18" charset="0"/>
                              </a:rPr>
                              <m:t>3</m:t>
                            </m:r>
                          </m:sup>
                        </m:sSup>
                        <m:r>
                          <a:rPr lang="en-US" sz="2000" b="0" i="1" smtClean="0">
                            <a:latin typeface="Cambria Math" panose="02040503050406030204" pitchFamily="18" charset="0"/>
                            <a:ea typeface="Cambria Math" panose="02040503050406030204" pitchFamily="18" charset="0"/>
                          </a:rPr>
                          <m:t>)</m:t>
                        </m:r>
                      </m:den>
                    </m:f>
                  </m:oMath>
                </a14:m>
                <a:endParaRPr lang="en-US" sz="2000" dirty="0"/>
              </a:p>
              <a:p>
                <a:pPr marL="285750" indent="-285750">
                  <a:buFont typeface="Arial" panose="020B0604020202020204" pitchFamily="34" charset="0"/>
                  <a:buChar char="•"/>
                </a:pPr>
                <a:r>
                  <a:rPr lang="en-US" sz="2000" dirty="0"/>
                  <a:t>Phase shift is 0 when </a:t>
                </a:r>
                <a14:m>
                  <m:oMath xmlns:m="http://schemas.openxmlformats.org/officeDocument/2006/math">
                    <m:r>
                      <a:rPr lang="en-US" sz="2000" i="1">
                        <a:latin typeface="Cambria Math" panose="02040503050406030204" pitchFamily="18" charset="0"/>
                      </a:rPr>
                      <m:t>6</m:t>
                    </m:r>
                    <m:r>
                      <a:rPr lang="en-US" sz="2000" b="0" i="1" smtClean="0">
                        <a:latin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𝜔</m:t>
                        </m:r>
                      </m:e>
                      <m:sup>
                        <m:r>
                          <a:rPr lang="en-US" sz="2000" b="0" i="1" smtClean="0">
                            <a:latin typeface="Cambria Math" panose="02040503050406030204" pitchFamily="18" charset="0"/>
                            <a:ea typeface="Cambria Math" panose="02040503050406030204" pitchFamily="18" charset="0"/>
                          </a:rPr>
                          <m:t>2</m:t>
                        </m:r>
                      </m:sup>
                    </m:sSup>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𝐶</m:t>
                        </m:r>
                      </m:e>
                      <m:sup>
                        <m:r>
                          <a:rPr lang="en-US" sz="2000" b="0" i="1" smtClean="0">
                            <a:latin typeface="Cambria Math" panose="02040503050406030204" pitchFamily="18" charset="0"/>
                            <a:ea typeface="Cambria Math" panose="02040503050406030204" pitchFamily="18" charset="0"/>
                          </a:rPr>
                          <m:t>2</m:t>
                        </m:r>
                      </m:sup>
                    </m:sSup>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𝑅</m:t>
                        </m:r>
                      </m:e>
                      <m:sup>
                        <m:r>
                          <a:rPr lang="en-US" sz="2000" b="0" i="1" smtClean="0">
                            <a:latin typeface="Cambria Math" panose="02040503050406030204" pitchFamily="18" charset="0"/>
                            <a:ea typeface="Cambria Math" panose="02040503050406030204" pitchFamily="18" charset="0"/>
                          </a:rPr>
                          <m:t>2</m:t>
                        </m:r>
                      </m:sup>
                    </m:sSup>
                  </m:oMath>
                </a14:m>
                <a:endParaRPr lang="en-US" dirty="0"/>
              </a:p>
              <a:p>
                <a:endParaRPr lang="en-US" dirty="0"/>
              </a:p>
            </p:txBody>
          </p:sp>
        </mc:Choice>
        <mc:Fallback xmlns="">
          <p:sp>
            <p:nvSpPr>
              <p:cNvPr id="76" name="TextBox 75">
                <a:extLst>
                  <a:ext uri="{FF2B5EF4-FFF2-40B4-BE49-F238E27FC236}">
                    <a16:creationId xmlns:a16="http://schemas.microsoft.com/office/drawing/2014/main" id="{136869A3-43E1-EE41-8904-0B8BEA7413A1}"/>
                  </a:ext>
                </a:extLst>
              </p:cNvPr>
              <p:cNvSpPr txBox="1">
                <a:spLocks noRot="1" noChangeAspect="1" noMove="1" noResize="1" noEditPoints="1" noAdjustHandles="1" noChangeArrowheads="1" noChangeShapeType="1" noTextEdit="1"/>
              </p:cNvSpPr>
              <p:nvPr/>
            </p:nvSpPr>
            <p:spPr>
              <a:xfrm>
                <a:off x="736325" y="4764976"/>
                <a:ext cx="4501347" cy="1554181"/>
              </a:xfrm>
              <a:prstGeom prst="rect">
                <a:avLst/>
              </a:prstGeom>
              <a:blipFill>
                <a:blip r:embed="rId5"/>
                <a:stretch>
                  <a:fillRect l="-1408" t="-2439"/>
                </a:stretch>
              </a:blipFill>
            </p:spPr>
            <p:txBody>
              <a:bodyPr/>
              <a:lstStyle/>
              <a:p>
                <a:r>
                  <a:rPr lang="en-US">
                    <a:noFill/>
                  </a:rPr>
                  <a:t> </a:t>
                </a:r>
              </a:p>
            </p:txBody>
          </p:sp>
        </mc:Fallback>
      </mc:AlternateContent>
    </p:spTree>
    <p:extLst>
      <p:ext uri="{BB962C8B-B14F-4D97-AF65-F5344CB8AC3E}">
        <p14:creationId xmlns:p14="http://schemas.microsoft.com/office/powerpoint/2010/main" val="715696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728424" y="136525"/>
            <a:ext cx="10515600" cy="869909"/>
          </a:xfrm>
        </p:spPr>
        <p:txBody>
          <a:bodyPr/>
          <a:lstStyle/>
          <a:p>
            <a:pPr algn="ctr"/>
            <a:r>
              <a:rPr lang="en-US" dirty="0">
                <a:latin typeface="Calibri" panose="020F0502020204030204" pitchFamily="34" charset="0"/>
                <a:cs typeface="Calibri" panose="020F0502020204030204" pitchFamily="34" charset="0"/>
              </a:rPr>
              <a:t>Feedback networks for oscillators</a:t>
            </a:r>
          </a:p>
        </p:txBody>
      </p:sp>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54</a:t>
            </a:fld>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753BD47-7B0F-4141-B946-BD16449FE8C1}"/>
                  </a:ext>
                </a:extLst>
              </p:cNvPr>
              <p:cNvSpPr txBox="1"/>
              <p:nvPr/>
            </p:nvSpPr>
            <p:spPr>
              <a:xfrm>
                <a:off x="4744188" y="1417779"/>
                <a:ext cx="5998501" cy="912376"/>
              </a:xfrm>
              <a:prstGeom prst="rect">
                <a:avLst/>
              </a:prstGeom>
              <a:noFill/>
            </p:spPr>
            <p:txBody>
              <a:bodyPr wrap="square" rtlCol="0">
                <a:noAutofit/>
              </a:bodyPr>
              <a:lstStyle/>
              <a:p>
                <a:pPr marL="285750" indent="-285750">
                  <a:buFont typeface="Arial" panose="020B0604020202020204" pitchFamily="34" charset="0"/>
                  <a:buChar char="•"/>
                </a:pPr>
                <a14:m>
                  <m:oMath xmlns:m="http://schemas.openxmlformats.org/officeDocument/2006/math">
                    <m:f>
                      <m:fPr>
                        <m:ctrlPr>
                          <a:rPr lang="en-US" sz="200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2</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1</m:t>
                            </m:r>
                          </m:sub>
                        </m:sSub>
                      </m:den>
                    </m:f>
                    <m:r>
                      <a:rPr lang="en-US" sz="2000" b="0" i="1" smtClean="0">
                        <a:latin typeface="Cambria Math" panose="02040503050406030204" pitchFamily="18" charset="0"/>
                      </a:rPr>
                      <m:t>=</m:t>
                    </m:r>
                    <m:f>
                      <m:fPr>
                        <m:type m:val="skw"/>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d>
                          <m:dPr>
                            <m:ctrlPr>
                              <a:rPr lang="en-US" sz="2000" b="0" i="1" smtClean="0">
                                <a:latin typeface="Cambria Math" panose="02040503050406030204" pitchFamily="18" charset="0"/>
                              </a:rPr>
                            </m:ctrlPr>
                          </m:dPr>
                          <m:e>
                            <m:r>
                              <a:rPr lang="en-US" sz="2000" b="0" i="1" smtClean="0">
                                <a:latin typeface="Cambria Math" panose="02040503050406030204" pitchFamily="18" charset="0"/>
                              </a:rPr>
                              <m:t>1−5</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𝜔</m:t>
                                </m:r>
                              </m:e>
                              <m:sup>
                                <m:r>
                                  <a:rPr lang="en-US" sz="2000" b="0" i="1" smtClean="0">
                                    <a:latin typeface="Cambria Math" panose="02040503050406030204" pitchFamily="18" charset="0"/>
                                  </a:rPr>
                                  <m:t>2</m:t>
                                </m:r>
                              </m:sup>
                            </m:sSup>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𝐶</m:t>
                                </m:r>
                              </m:e>
                              <m:sup>
                                <m:r>
                                  <a:rPr lang="en-US" sz="2000" b="0" i="1" smtClean="0">
                                    <a:latin typeface="Cambria Math" panose="02040503050406030204" pitchFamily="18" charset="0"/>
                                  </a:rPr>
                                  <m:t>2</m:t>
                                </m:r>
                              </m:sup>
                            </m:sSup>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𝑅</m:t>
                                </m:r>
                              </m:e>
                              <m:sup>
                                <m:r>
                                  <a:rPr lang="en-US" sz="2000" b="0" i="1" smtClean="0">
                                    <a:latin typeface="Cambria Math" panose="02040503050406030204" pitchFamily="18" charset="0"/>
                                  </a:rPr>
                                  <m:t>2</m:t>
                                </m:r>
                              </m:sup>
                            </m:sSup>
                          </m:e>
                        </m:d>
                        <m:r>
                          <a:rPr lang="en-US" sz="2000" b="0" i="1" smtClean="0">
                            <a:latin typeface="Cambria Math" panose="02040503050406030204" pitchFamily="18" charset="0"/>
                          </a:rPr>
                          <m:t>+</m:t>
                        </m:r>
                        <m:r>
                          <a:rPr lang="en-US" sz="2000" b="0" i="1" smtClean="0">
                            <a:latin typeface="Cambria Math" panose="02040503050406030204" pitchFamily="18" charset="0"/>
                          </a:rPr>
                          <m:t>𝑗</m:t>
                        </m:r>
                        <m:r>
                          <a:rPr lang="en-US" sz="2000" b="0" i="1" smtClean="0">
                            <a:latin typeface="Cambria Math" panose="02040503050406030204" pitchFamily="18" charset="0"/>
                          </a:rPr>
                          <m:t>(6</m:t>
                        </m:r>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𝐶𝑅</m:t>
                        </m:r>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𝜔</m:t>
                            </m:r>
                          </m:e>
                          <m:sup>
                            <m:r>
                              <a:rPr lang="en-US" sz="2000" b="0" i="1" smtClean="0">
                                <a:latin typeface="Cambria Math" panose="02040503050406030204" pitchFamily="18" charset="0"/>
                                <a:ea typeface="Cambria Math" panose="02040503050406030204" pitchFamily="18" charset="0"/>
                              </a:rPr>
                              <m:t>3</m:t>
                            </m:r>
                          </m:sup>
                        </m:sSup>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𝐶</m:t>
                            </m:r>
                          </m:e>
                          <m:sup>
                            <m:r>
                              <a:rPr lang="en-US" sz="2000" b="0" i="1" smtClean="0">
                                <a:latin typeface="Cambria Math" panose="02040503050406030204" pitchFamily="18" charset="0"/>
                                <a:ea typeface="Cambria Math" panose="02040503050406030204" pitchFamily="18" charset="0"/>
                              </a:rPr>
                              <m:t>3</m:t>
                            </m:r>
                          </m:sup>
                        </m:sSup>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𝑅</m:t>
                            </m:r>
                          </m:e>
                          <m:sup>
                            <m:r>
                              <a:rPr lang="en-US" sz="2000" b="0" i="1" smtClean="0">
                                <a:latin typeface="Cambria Math" panose="02040503050406030204" pitchFamily="18" charset="0"/>
                                <a:ea typeface="Cambria Math" panose="02040503050406030204" pitchFamily="18" charset="0"/>
                              </a:rPr>
                              <m:t>3</m:t>
                            </m:r>
                          </m:sup>
                        </m:sSup>
                        <m:r>
                          <a:rPr lang="en-US" sz="2000" b="0" i="1" smtClean="0">
                            <a:latin typeface="Cambria Math" panose="02040503050406030204" pitchFamily="18" charset="0"/>
                            <a:ea typeface="Cambria Math" panose="02040503050406030204" pitchFamily="18" charset="0"/>
                          </a:rPr>
                          <m:t>)</m:t>
                        </m:r>
                      </m:den>
                    </m:f>
                  </m:oMath>
                </a14:m>
                <a:endParaRPr lang="en-US" sz="2000" dirty="0"/>
              </a:p>
            </p:txBody>
          </p:sp>
        </mc:Choice>
        <mc:Fallback xmlns="">
          <p:sp>
            <p:nvSpPr>
              <p:cNvPr id="7" name="TextBox 6">
                <a:extLst>
                  <a:ext uri="{FF2B5EF4-FFF2-40B4-BE49-F238E27FC236}">
                    <a16:creationId xmlns:a16="http://schemas.microsoft.com/office/drawing/2014/main" id="{D753BD47-7B0F-4141-B946-BD16449FE8C1}"/>
                  </a:ext>
                </a:extLst>
              </p:cNvPr>
              <p:cNvSpPr txBox="1">
                <a:spLocks noRot="1" noChangeAspect="1" noMove="1" noResize="1" noEditPoints="1" noAdjustHandles="1" noChangeArrowheads="1" noChangeShapeType="1" noTextEdit="1"/>
              </p:cNvSpPr>
              <p:nvPr/>
            </p:nvSpPr>
            <p:spPr>
              <a:xfrm>
                <a:off x="4744188" y="1417779"/>
                <a:ext cx="5998501" cy="912376"/>
              </a:xfrm>
              <a:prstGeom prst="rect">
                <a:avLst/>
              </a:prstGeom>
              <a:blipFill>
                <a:blip r:embed="rId3"/>
                <a:stretch>
                  <a:fillRect l="-846" t="-63014" b="-60274"/>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607B70F2-D0BD-5145-84D6-D76A1C0476BD}"/>
              </a:ext>
            </a:extLst>
          </p:cNvPr>
          <p:cNvGrpSpPr/>
          <p:nvPr/>
        </p:nvGrpSpPr>
        <p:grpSpPr>
          <a:xfrm>
            <a:off x="619409" y="1149504"/>
            <a:ext cx="3102864" cy="1865547"/>
            <a:chOff x="650735" y="879163"/>
            <a:chExt cx="3102864" cy="1865547"/>
          </a:xfrm>
        </p:grpSpPr>
        <p:grpSp>
          <p:nvGrpSpPr>
            <p:cNvPr id="687" name="Group 210">
              <a:extLst>
                <a:ext uri="{FF2B5EF4-FFF2-40B4-BE49-F238E27FC236}">
                  <a16:creationId xmlns:a16="http://schemas.microsoft.com/office/drawing/2014/main" id="{B538BCA2-9066-0B4D-B7EB-394950435983}"/>
                </a:ext>
              </a:extLst>
            </p:cNvPr>
            <p:cNvGrpSpPr>
              <a:grpSpLocks/>
            </p:cNvGrpSpPr>
            <p:nvPr/>
          </p:nvGrpSpPr>
          <p:grpSpPr bwMode="auto">
            <a:xfrm>
              <a:off x="1367037" y="1339170"/>
              <a:ext cx="304800" cy="762000"/>
              <a:chOff x="3216" y="1728"/>
              <a:chExt cx="192" cy="480"/>
            </a:xfrm>
          </p:grpSpPr>
          <p:sp>
            <p:nvSpPr>
              <p:cNvPr id="712" name="Line 8">
                <a:extLst>
                  <a:ext uri="{FF2B5EF4-FFF2-40B4-BE49-F238E27FC236}">
                    <a16:creationId xmlns:a16="http://schemas.microsoft.com/office/drawing/2014/main" id="{6C77E5EE-3079-4944-9BA3-D2D355A4AB18}"/>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3" name="Line 9">
                <a:extLst>
                  <a:ext uri="{FF2B5EF4-FFF2-40B4-BE49-F238E27FC236}">
                    <a16:creationId xmlns:a16="http://schemas.microsoft.com/office/drawing/2014/main" id="{B50DD889-2ABC-704E-92F2-D95035108911}"/>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4" name="Line 10">
                <a:extLst>
                  <a:ext uri="{FF2B5EF4-FFF2-40B4-BE49-F238E27FC236}">
                    <a16:creationId xmlns:a16="http://schemas.microsoft.com/office/drawing/2014/main" id="{8E62A679-E34B-974F-8FA4-C6F322B2432F}"/>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5" name="Line 11">
                <a:extLst>
                  <a:ext uri="{FF2B5EF4-FFF2-40B4-BE49-F238E27FC236}">
                    <a16:creationId xmlns:a16="http://schemas.microsoft.com/office/drawing/2014/main" id="{21AB4D70-3BE4-A645-837B-ADF452B1C374}"/>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62" name="Freeform 761">
              <a:extLst>
                <a:ext uri="{FF2B5EF4-FFF2-40B4-BE49-F238E27FC236}">
                  <a16:creationId xmlns:a16="http://schemas.microsoft.com/office/drawing/2014/main" id="{4D17F137-D285-D247-8FF1-71D59B47DA8D}"/>
                </a:ext>
              </a:extLst>
            </p:cNvPr>
            <p:cNvSpPr>
              <a:spLocks noChangeAspect="1"/>
            </p:cNvSpPr>
            <p:nvPr/>
          </p:nvSpPr>
          <p:spPr bwMode="auto">
            <a:xfrm rot="5400000">
              <a:off x="1847672" y="935587"/>
              <a:ext cx="165855" cy="836239"/>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05" name="TextBox 804">
              <a:extLst>
                <a:ext uri="{FF2B5EF4-FFF2-40B4-BE49-F238E27FC236}">
                  <a16:creationId xmlns:a16="http://schemas.microsoft.com/office/drawing/2014/main" id="{710AE6D9-D2FA-4E4E-8B8C-2A610921053F}"/>
                </a:ext>
              </a:extLst>
            </p:cNvPr>
            <p:cNvSpPr txBox="1"/>
            <p:nvPr/>
          </p:nvSpPr>
          <p:spPr>
            <a:xfrm>
              <a:off x="1742693" y="879163"/>
              <a:ext cx="400820" cy="338554"/>
            </a:xfrm>
            <a:prstGeom prst="rect">
              <a:avLst/>
            </a:prstGeom>
            <a:noFill/>
          </p:spPr>
          <p:txBody>
            <a:bodyPr wrap="square" rtlCol="0">
              <a:spAutoFit/>
            </a:bodyPr>
            <a:lstStyle/>
            <a:p>
              <a:r>
                <a:rPr lang="en-US" sz="1600" dirty="0"/>
                <a:t>R</a:t>
              </a:r>
            </a:p>
          </p:txBody>
        </p:sp>
        <p:sp>
          <p:nvSpPr>
            <p:cNvPr id="806" name="TextBox 805">
              <a:extLst>
                <a:ext uri="{FF2B5EF4-FFF2-40B4-BE49-F238E27FC236}">
                  <a16:creationId xmlns:a16="http://schemas.microsoft.com/office/drawing/2014/main" id="{B1F4EEC7-E70E-7240-93EC-29F52BEFA038}"/>
                </a:ext>
              </a:extLst>
            </p:cNvPr>
            <p:cNvSpPr txBox="1"/>
            <p:nvPr/>
          </p:nvSpPr>
          <p:spPr>
            <a:xfrm>
              <a:off x="1113694" y="1555664"/>
              <a:ext cx="345255" cy="338554"/>
            </a:xfrm>
            <a:prstGeom prst="rect">
              <a:avLst/>
            </a:prstGeom>
            <a:noFill/>
          </p:spPr>
          <p:txBody>
            <a:bodyPr wrap="square" rtlCol="0">
              <a:spAutoFit/>
            </a:bodyPr>
            <a:lstStyle/>
            <a:p>
              <a:r>
                <a:rPr lang="en-US" sz="1600" dirty="0"/>
                <a:t>C</a:t>
              </a:r>
            </a:p>
          </p:txBody>
        </p:sp>
        <p:sp>
          <p:nvSpPr>
            <p:cNvPr id="264" name="Freeform 263">
              <a:extLst>
                <a:ext uri="{FF2B5EF4-FFF2-40B4-BE49-F238E27FC236}">
                  <a16:creationId xmlns:a16="http://schemas.microsoft.com/office/drawing/2014/main" id="{74E9FA25-C3E8-C741-A6E2-BD54E341EB1E}"/>
                </a:ext>
              </a:extLst>
            </p:cNvPr>
            <p:cNvSpPr>
              <a:spLocks noChangeAspect="1"/>
            </p:cNvSpPr>
            <p:nvPr/>
          </p:nvSpPr>
          <p:spPr bwMode="auto">
            <a:xfrm rot="5400000">
              <a:off x="2665330" y="942215"/>
              <a:ext cx="165855" cy="836239"/>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5" name="TextBox 264">
              <a:extLst>
                <a:ext uri="{FF2B5EF4-FFF2-40B4-BE49-F238E27FC236}">
                  <a16:creationId xmlns:a16="http://schemas.microsoft.com/office/drawing/2014/main" id="{F03F1E23-DF6A-5748-B946-1CA503B4E6BE}"/>
                </a:ext>
              </a:extLst>
            </p:cNvPr>
            <p:cNvSpPr txBox="1"/>
            <p:nvPr/>
          </p:nvSpPr>
          <p:spPr>
            <a:xfrm>
              <a:off x="2645695" y="922367"/>
              <a:ext cx="400820" cy="338554"/>
            </a:xfrm>
            <a:prstGeom prst="rect">
              <a:avLst/>
            </a:prstGeom>
            <a:noFill/>
          </p:spPr>
          <p:txBody>
            <a:bodyPr wrap="square" rtlCol="0">
              <a:spAutoFit/>
            </a:bodyPr>
            <a:lstStyle/>
            <a:p>
              <a:r>
                <a:rPr lang="en-US" sz="1600" dirty="0"/>
                <a:t>R</a:t>
              </a:r>
            </a:p>
          </p:txBody>
        </p:sp>
        <p:grpSp>
          <p:nvGrpSpPr>
            <p:cNvPr id="270" name="Group 210">
              <a:extLst>
                <a:ext uri="{FF2B5EF4-FFF2-40B4-BE49-F238E27FC236}">
                  <a16:creationId xmlns:a16="http://schemas.microsoft.com/office/drawing/2014/main" id="{72878ABD-34A4-C648-9870-DB237EECA62F}"/>
                </a:ext>
              </a:extLst>
            </p:cNvPr>
            <p:cNvGrpSpPr>
              <a:grpSpLocks/>
            </p:cNvGrpSpPr>
            <p:nvPr/>
          </p:nvGrpSpPr>
          <p:grpSpPr bwMode="auto">
            <a:xfrm>
              <a:off x="2993076" y="1345797"/>
              <a:ext cx="304800" cy="762000"/>
              <a:chOff x="3216" y="1728"/>
              <a:chExt cx="192" cy="480"/>
            </a:xfrm>
          </p:grpSpPr>
          <p:sp>
            <p:nvSpPr>
              <p:cNvPr id="271" name="Line 8">
                <a:extLst>
                  <a:ext uri="{FF2B5EF4-FFF2-40B4-BE49-F238E27FC236}">
                    <a16:creationId xmlns:a16="http://schemas.microsoft.com/office/drawing/2014/main" id="{DC61C338-AAC2-F940-B84A-7BB24FF43399}"/>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2" name="Line 9">
                <a:extLst>
                  <a:ext uri="{FF2B5EF4-FFF2-40B4-BE49-F238E27FC236}">
                    <a16:creationId xmlns:a16="http://schemas.microsoft.com/office/drawing/2014/main" id="{6130B9E9-7191-7147-B828-D88650DDC5D4}"/>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3" name="Line 10">
                <a:extLst>
                  <a:ext uri="{FF2B5EF4-FFF2-40B4-BE49-F238E27FC236}">
                    <a16:creationId xmlns:a16="http://schemas.microsoft.com/office/drawing/2014/main" id="{6AE23AA6-5ACA-5E49-9C57-364D52002DFC}"/>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4" name="Line 11">
                <a:extLst>
                  <a:ext uri="{FF2B5EF4-FFF2-40B4-BE49-F238E27FC236}">
                    <a16:creationId xmlns:a16="http://schemas.microsoft.com/office/drawing/2014/main" id="{3720A286-93F1-BF4F-9A93-FF0FC5A81F8B}"/>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82" name="TextBox 281">
              <a:extLst>
                <a:ext uri="{FF2B5EF4-FFF2-40B4-BE49-F238E27FC236}">
                  <a16:creationId xmlns:a16="http://schemas.microsoft.com/office/drawing/2014/main" id="{CC604B66-37C5-6D4A-8CAD-C22F2B0D3374}"/>
                </a:ext>
              </a:extLst>
            </p:cNvPr>
            <p:cNvSpPr txBox="1"/>
            <p:nvPr/>
          </p:nvSpPr>
          <p:spPr>
            <a:xfrm>
              <a:off x="2727063" y="1560046"/>
              <a:ext cx="345258" cy="338554"/>
            </a:xfrm>
            <a:prstGeom prst="rect">
              <a:avLst/>
            </a:prstGeom>
            <a:noFill/>
          </p:spPr>
          <p:txBody>
            <a:bodyPr wrap="square" rtlCol="0">
              <a:spAutoFit/>
            </a:bodyPr>
            <a:lstStyle/>
            <a:p>
              <a:r>
                <a:rPr lang="en-US" sz="1600" dirty="0"/>
                <a:t>C</a:t>
              </a:r>
            </a:p>
          </p:txBody>
        </p:sp>
        <p:cxnSp>
          <p:nvCxnSpPr>
            <p:cNvPr id="283" name="Straight Connector 282">
              <a:extLst>
                <a:ext uri="{FF2B5EF4-FFF2-40B4-BE49-F238E27FC236}">
                  <a16:creationId xmlns:a16="http://schemas.microsoft.com/office/drawing/2014/main" id="{09334534-8720-744F-9D30-BFB69E46698A}"/>
                </a:ext>
              </a:extLst>
            </p:cNvPr>
            <p:cNvCxnSpPr>
              <a:cxnSpLocks/>
            </p:cNvCxnSpPr>
            <p:nvPr/>
          </p:nvCxnSpPr>
          <p:spPr>
            <a:xfrm>
              <a:off x="3125521" y="1360334"/>
              <a:ext cx="51290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4" name="Oval 283">
              <a:extLst>
                <a:ext uri="{FF2B5EF4-FFF2-40B4-BE49-F238E27FC236}">
                  <a16:creationId xmlns:a16="http://schemas.microsoft.com/office/drawing/2014/main" id="{16FB2294-0844-E047-B491-1148A71B7B19}"/>
                </a:ext>
              </a:extLst>
            </p:cNvPr>
            <p:cNvSpPr>
              <a:spLocks noChangeAspect="1" noChangeArrowheads="1"/>
            </p:cNvSpPr>
            <p:nvPr/>
          </p:nvSpPr>
          <p:spPr bwMode="auto">
            <a:xfrm>
              <a:off x="3076943" y="1287715"/>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30" name="Freeform 129">
              <a:extLst>
                <a:ext uri="{FF2B5EF4-FFF2-40B4-BE49-F238E27FC236}">
                  <a16:creationId xmlns:a16="http://schemas.microsoft.com/office/drawing/2014/main" id="{F39E37F6-82A9-AB40-AEAA-EB9B6E523855}"/>
                </a:ext>
              </a:extLst>
            </p:cNvPr>
            <p:cNvSpPr>
              <a:spLocks noChangeAspect="1"/>
            </p:cNvSpPr>
            <p:nvPr/>
          </p:nvSpPr>
          <p:spPr bwMode="auto">
            <a:xfrm rot="5400000">
              <a:off x="1024712" y="941683"/>
              <a:ext cx="165855" cy="836239"/>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1" name="Oval 130">
              <a:extLst>
                <a:ext uri="{FF2B5EF4-FFF2-40B4-BE49-F238E27FC236}">
                  <a16:creationId xmlns:a16="http://schemas.microsoft.com/office/drawing/2014/main" id="{4B752AA2-C393-1746-A327-5DAB4FCF82E3}"/>
                </a:ext>
              </a:extLst>
            </p:cNvPr>
            <p:cNvSpPr>
              <a:spLocks noChangeAspect="1" noChangeArrowheads="1"/>
            </p:cNvSpPr>
            <p:nvPr/>
          </p:nvSpPr>
          <p:spPr bwMode="auto">
            <a:xfrm>
              <a:off x="1449311" y="1306003"/>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32" name="Oval 131">
              <a:extLst>
                <a:ext uri="{FF2B5EF4-FFF2-40B4-BE49-F238E27FC236}">
                  <a16:creationId xmlns:a16="http://schemas.microsoft.com/office/drawing/2014/main" id="{CD0877DB-6C2F-854F-A7B8-24A6C747CB58}"/>
                </a:ext>
              </a:extLst>
            </p:cNvPr>
            <p:cNvSpPr>
              <a:spLocks noChangeAspect="1" noChangeArrowheads="1"/>
            </p:cNvSpPr>
            <p:nvPr/>
          </p:nvSpPr>
          <p:spPr bwMode="auto">
            <a:xfrm>
              <a:off x="650735" y="1287715"/>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134" name="Group 210">
              <a:extLst>
                <a:ext uri="{FF2B5EF4-FFF2-40B4-BE49-F238E27FC236}">
                  <a16:creationId xmlns:a16="http://schemas.microsoft.com/office/drawing/2014/main" id="{7E98CA95-C6D0-514E-82FC-38D79EA4C37F}"/>
                </a:ext>
              </a:extLst>
            </p:cNvPr>
            <p:cNvGrpSpPr>
              <a:grpSpLocks/>
            </p:cNvGrpSpPr>
            <p:nvPr/>
          </p:nvGrpSpPr>
          <p:grpSpPr bwMode="auto">
            <a:xfrm>
              <a:off x="2202189" y="1333074"/>
              <a:ext cx="304800" cy="762000"/>
              <a:chOff x="3216" y="1728"/>
              <a:chExt cx="192" cy="480"/>
            </a:xfrm>
          </p:grpSpPr>
          <p:sp>
            <p:nvSpPr>
              <p:cNvPr id="135" name="Line 8">
                <a:extLst>
                  <a:ext uri="{FF2B5EF4-FFF2-40B4-BE49-F238E27FC236}">
                    <a16:creationId xmlns:a16="http://schemas.microsoft.com/office/drawing/2014/main" id="{CA0BA6CA-D3D6-FD4A-9F59-1679E4C24639}"/>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 name="Line 9">
                <a:extLst>
                  <a:ext uri="{FF2B5EF4-FFF2-40B4-BE49-F238E27FC236}">
                    <a16:creationId xmlns:a16="http://schemas.microsoft.com/office/drawing/2014/main" id="{4D2120A1-EDDE-724C-8711-9E9BA3DE9E6D}"/>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 name="Line 10">
                <a:extLst>
                  <a:ext uri="{FF2B5EF4-FFF2-40B4-BE49-F238E27FC236}">
                    <a16:creationId xmlns:a16="http://schemas.microsoft.com/office/drawing/2014/main" id="{75A311D2-025D-D74B-AB5B-9A2937DD02C0}"/>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8" name="Line 11">
                <a:extLst>
                  <a:ext uri="{FF2B5EF4-FFF2-40B4-BE49-F238E27FC236}">
                    <a16:creationId xmlns:a16="http://schemas.microsoft.com/office/drawing/2014/main" id="{C617EE80-9AC5-0B4C-A272-6F3FC38885F8}"/>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39" name="Oval 138">
              <a:extLst>
                <a:ext uri="{FF2B5EF4-FFF2-40B4-BE49-F238E27FC236}">
                  <a16:creationId xmlns:a16="http://schemas.microsoft.com/office/drawing/2014/main" id="{DD9B761D-B3CE-064D-9551-50B6A62B2299}"/>
                </a:ext>
              </a:extLst>
            </p:cNvPr>
            <p:cNvSpPr>
              <a:spLocks noChangeAspect="1" noChangeArrowheads="1"/>
            </p:cNvSpPr>
            <p:nvPr/>
          </p:nvSpPr>
          <p:spPr bwMode="auto">
            <a:xfrm>
              <a:off x="2284463" y="1299907"/>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40" name="TextBox 139">
              <a:extLst>
                <a:ext uri="{FF2B5EF4-FFF2-40B4-BE49-F238E27FC236}">
                  <a16:creationId xmlns:a16="http://schemas.microsoft.com/office/drawing/2014/main" id="{E861ACD6-8230-8342-92DD-1DB874D90FAB}"/>
                </a:ext>
              </a:extLst>
            </p:cNvPr>
            <p:cNvSpPr txBox="1"/>
            <p:nvPr/>
          </p:nvSpPr>
          <p:spPr>
            <a:xfrm>
              <a:off x="907229" y="899502"/>
              <a:ext cx="400820" cy="338554"/>
            </a:xfrm>
            <a:prstGeom prst="rect">
              <a:avLst/>
            </a:prstGeom>
            <a:noFill/>
          </p:spPr>
          <p:txBody>
            <a:bodyPr wrap="square" rtlCol="0">
              <a:spAutoFit/>
            </a:bodyPr>
            <a:lstStyle/>
            <a:p>
              <a:r>
                <a:rPr lang="en-US" sz="1600" dirty="0"/>
                <a:t>R</a:t>
              </a:r>
            </a:p>
          </p:txBody>
        </p:sp>
        <p:sp>
          <p:nvSpPr>
            <p:cNvPr id="141" name="Oval 140">
              <a:extLst>
                <a:ext uri="{FF2B5EF4-FFF2-40B4-BE49-F238E27FC236}">
                  <a16:creationId xmlns:a16="http://schemas.microsoft.com/office/drawing/2014/main" id="{BBC807D3-B7FD-8448-9FF5-D2EDF7C2A5C4}"/>
                </a:ext>
              </a:extLst>
            </p:cNvPr>
            <p:cNvSpPr>
              <a:spLocks noChangeAspect="1" noChangeArrowheads="1"/>
            </p:cNvSpPr>
            <p:nvPr/>
          </p:nvSpPr>
          <p:spPr bwMode="auto">
            <a:xfrm>
              <a:off x="3582911" y="1293811"/>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42" name="TextBox 141">
              <a:extLst>
                <a:ext uri="{FF2B5EF4-FFF2-40B4-BE49-F238E27FC236}">
                  <a16:creationId xmlns:a16="http://schemas.microsoft.com/office/drawing/2014/main" id="{001DB015-E776-AD4F-BC28-BD26CCFBB712}"/>
                </a:ext>
              </a:extLst>
            </p:cNvPr>
            <p:cNvSpPr txBox="1"/>
            <p:nvPr/>
          </p:nvSpPr>
          <p:spPr>
            <a:xfrm>
              <a:off x="1928487" y="1553950"/>
              <a:ext cx="345258" cy="338554"/>
            </a:xfrm>
            <a:prstGeom prst="rect">
              <a:avLst/>
            </a:prstGeom>
            <a:noFill/>
          </p:spPr>
          <p:txBody>
            <a:bodyPr wrap="square" rtlCol="0">
              <a:spAutoFit/>
            </a:bodyPr>
            <a:lstStyle/>
            <a:p>
              <a:r>
                <a:rPr lang="en-US" sz="1600" dirty="0"/>
                <a:t>C</a:t>
              </a:r>
            </a:p>
          </p:txBody>
        </p:sp>
        <p:grpSp>
          <p:nvGrpSpPr>
            <p:cNvPr id="143" name="Group 220">
              <a:extLst>
                <a:ext uri="{FF2B5EF4-FFF2-40B4-BE49-F238E27FC236}">
                  <a16:creationId xmlns:a16="http://schemas.microsoft.com/office/drawing/2014/main" id="{6A42827A-FA43-3248-A5B8-D2DE345AE028}"/>
                </a:ext>
              </a:extLst>
            </p:cNvPr>
            <p:cNvGrpSpPr>
              <a:grpSpLocks/>
            </p:cNvGrpSpPr>
            <p:nvPr/>
          </p:nvGrpSpPr>
          <p:grpSpPr bwMode="auto">
            <a:xfrm>
              <a:off x="2272519" y="2025354"/>
              <a:ext cx="152400" cy="304800"/>
              <a:chOff x="3264" y="3072"/>
              <a:chExt cx="96" cy="192"/>
            </a:xfrm>
          </p:grpSpPr>
          <p:sp>
            <p:nvSpPr>
              <p:cNvPr id="144" name="Line 17">
                <a:extLst>
                  <a:ext uri="{FF2B5EF4-FFF2-40B4-BE49-F238E27FC236}">
                    <a16:creationId xmlns:a16="http://schemas.microsoft.com/office/drawing/2014/main" id="{64485488-CF6B-EE42-A13D-45C53469961E}"/>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5" name="Freeform 18">
                <a:extLst>
                  <a:ext uri="{FF2B5EF4-FFF2-40B4-BE49-F238E27FC236}">
                    <a16:creationId xmlns:a16="http://schemas.microsoft.com/office/drawing/2014/main" id="{6417DBE8-036E-8E40-B509-C9B8101C93F8}"/>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46" name="Group 220">
              <a:extLst>
                <a:ext uri="{FF2B5EF4-FFF2-40B4-BE49-F238E27FC236}">
                  <a16:creationId xmlns:a16="http://schemas.microsoft.com/office/drawing/2014/main" id="{18175FF2-9083-C244-9EB3-1B42499F1FCF}"/>
                </a:ext>
              </a:extLst>
            </p:cNvPr>
            <p:cNvGrpSpPr>
              <a:grpSpLocks/>
            </p:cNvGrpSpPr>
            <p:nvPr/>
          </p:nvGrpSpPr>
          <p:grpSpPr bwMode="auto">
            <a:xfrm>
              <a:off x="3071146" y="1987254"/>
              <a:ext cx="152400" cy="304800"/>
              <a:chOff x="3264" y="3072"/>
              <a:chExt cx="96" cy="192"/>
            </a:xfrm>
          </p:grpSpPr>
          <p:sp>
            <p:nvSpPr>
              <p:cNvPr id="147" name="Line 17">
                <a:extLst>
                  <a:ext uri="{FF2B5EF4-FFF2-40B4-BE49-F238E27FC236}">
                    <a16:creationId xmlns:a16="http://schemas.microsoft.com/office/drawing/2014/main" id="{30ED3323-7554-3140-A06F-0F6562A2EF77}"/>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 name="Freeform 18">
                <a:extLst>
                  <a:ext uri="{FF2B5EF4-FFF2-40B4-BE49-F238E27FC236}">
                    <a16:creationId xmlns:a16="http://schemas.microsoft.com/office/drawing/2014/main" id="{DA939F55-21B4-8A4D-B48F-C40CD84857F5}"/>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49" name="Group 220">
              <a:extLst>
                <a:ext uri="{FF2B5EF4-FFF2-40B4-BE49-F238E27FC236}">
                  <a16:creationId xmlns:a16="http://schemas.microsoft.com/office/drawing/2014/main" id="{BEF6853C-2334-5241-BCA5-0F56EF56EE01}"/>
                </a:ext>
              </a:extLst>
            </p:cNvPr>
            <p:cNvGrpSpPr>
              <a:grpSpLocks/>
            </p:cNvGrpSpPr>
            <p:nvPr/>
          </p:nvGrpSpPr>
          <p:grpSpPr bwMode="auto">
            <a:xfrm>
              <a:off x="1447879" y="1987254"/>
              <a:ext cx="152400" cy="304800"/>
              <a:chOff x="3264" y="3072"/>
              <a:chExt cx="96" cy="192"/>
            </a:xfrm>
          </p:grpSpPr>
          <p:sp>
            <p:nvSpPr>
              <p:cNvPr id="150" name="Line 17">
                <a:extLst>
                  <a:ext uri="{FF2B5EF4-FFF2-40B4-BE49-F238E27FC236}">
                    <a16:creationId xmlns:a16="http://schemas.microsoft.com/office/drawing/2014/main" id="{6B13BC25-F58C-1648-BD9D-1BDD9BB4A308}"/>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1" name="Freeform 18">
                <a:extLst>
                  <a:ext uri="{FF2B5EF4-FFF2-40B4-BE49-F238E27FC236}">
                    <a16:creationId xmlns:a16="http://schemas.microsoft.com/office/drawing/2014/main" id="{B03B193C-49F6-8E4D-8D23-54284BDD638F}"/>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8" name="TextBox 7">
              <a:extLst>
                <a:ext uri="{FF2B5EF4-FFF2-40B4-BE49-F238E27FC236}">
                  <a16:creationId xmlns:a16="http://schemas.microsoft.com/office/drawing/2014/main" id="{157924AF-EE7B-7D41-A0D1-6C41690C78B4}"/>
                </a:ext>
              </a:extLst>
            </p:cNvPr>
            <p:cNvSpPr txBox="1"/>
            <p:nvPr/>
          </p:nvSpPr>
          <p:spPr>
            <a:xfrm>
              <a:off x="815327" y="2375378"/>
              <a:ext cx="2938272" cy="369332"/>
            </a:xfrm>
            <a:prstGeom prst="rect">
              <a:avLst/>
            </a:prstGeom>
            <a:noFill/>
          </p:spPr>
          <p:txBody>
            <a:bodyPr wrap="square" rtlCol="0">
              <a:spAutoFit/>
            </a:bodyPr>
            <a:lstStyle/>
            <a:p>
              <a:r>
                <a:rPr lang="en-US" dirty="0"/>
                <a:t>Phase Shift Ladder</a:t>
              </a:r>
            </a:p>
          </p:txBody>
        </p:sp>
      </p:grpSp>
      <mc:AlternateContent xmlns:mc="http://schemas.openxmlformats.org/markup-compatibility/2006" xmlns:a14="http://schemas.microsoft.com/office/drawing/2010/main">
        <mc:Choice Requires="a14">
          <p:sp>
            <p:nvSpPr>
              <p:cNvPr id="195" name="TextBox 194">
                <a:extLst>
                  <a:ext uri="{FF2B5EF4-FFF2-40B4-BE49-F238E27FC236}">
                    <a16:creationId xmlns:a16="http://schemas.microsoft.com/office/drawing/2014/main" id="{3548E4C0-D34A-DF44-BA4E-C7493D80DF8B}"/>
                  </a:ext>
                </a:extLst>
              </p:cNvPr>
              <p:cNvSpPr txBox="1"/>
              <p:nvPr/>
            </p:nvSpPr>
            <p:spPr>
              <a:xfrm>
                <a:off x="4744188" y="3249954"/>
                <a:ext cx="5998501" cy="1163758"/>
              </a:xfrm>
              <a:prstGeom prst="rect">
                <a:avLst/>
              </a:prstGeom>
              <a:noFill/>
            </p:spPr>
            <p:txBody>
              <a:bodyPr wrap="square" rtlCol="0">
                <a:noAutofit/>
              </a:bodyPr>
              <a:lstStyle/>
              <a:p>
                <a:pPr marL="285750" indent="-285750">
                  <a:buFont typeface="Arial" panose="020B0604020202020204" pitchFamily="34" charset="0"/>
                  <a:buChar char="•"/>
                </a:pPr>
                <a14:m>
                  <m:oMath xmlns:m="http://schemas.openxmlformats.org/officeDocument/2006/math">
                    <m:f>
                      <m:fPr>
                        <m:ctrlPr>
                          <a:rPr lang="en-US" sz="200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2</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1</m:t>
                            </m:r>
                          </m:sub>
                        </m:sSub>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3</m:t>
                        </m:r>
                      </m:den>
                    </m:f>
                  </m:oMath>
                </a14:m>
                <a:endParaRPr lang="en-US" sz="2000" dirty="0"/>
              </a:p>
            </p:txBody>
          </p:sp>
        </mc:Choice>
        <mc:Fallback xmlns="">
          <p:sp>
            <p:nvSpPr>
              <p:cNvPr id="195" name="TextBox 194">
                <a:extLst>
                  <a:ext uri="{FF2B5EF4-FFF2-40B4-BE49-F238E27FC236}">
                    <a16:creationId xmlns:a16="http://schemas.microsoft.com/office/drawing/2014/main" id="{3548E4C0-D34A-DF44-BA4E-C7493D80DF8B}"/>
                  </a:ext>
                </a:extLst>
              </p:cNvPr>
              <p:cNvSpPr txBox="1">
                <a:spLocks noRot="1" noChangeAspect="1" noMove="1" noResize="1" noEditPoints="1" noAdjustHandles="1" noChangeArrowheads="1" noChangeShapeType="1" noTextEdit="1"/>
              </p:cNvSpPr>
              <p:nvPr/>
            </p:nvSpPr>
            <p:spPr>
              <a:xfrm>
                <a:off x="4744188" y="3249954"/>
                <a:ext cx="5998501" cy="1163758"/>
              </a:xfrm>
              <a:prstGeom prst="rect">
                <a:avLst/>
              </a:prstGeom>
              <a:blipFill>
                <a:blip r:embed="rId4"/>
                <a:stretch>
                  <a:fillRect l="-846"/>
                </a:stretch>
              </a:blipFill>
            </p:spPr>
            <p:txBody>
              <a:bodyPr/>
              <a:lstStyle/>
              <a:p>
                <a:r>
                  <a:rPr lang="en-US">
                    <a:noFill/>
                  </a:rPr>
                  <a:t> </a:t>
                </a:r>
              </a:p>
            </p:txBody>
          </p:sp>
        </mc:Fallback>
      </mc:AlternateContent>
      <p:grpSp>
        <p:nvGrpSpPr>
          <p:cNvPr id="10" name="Group 9">
            <a:extLst>
              <a:ext uri="{FF2B5EF4-FFF2-40B4-BE49-F238E27FC236}">
                <a16:creationId xmlns:a16="http://schemas.microsoft.com/office/drawing/2014/main" id="{BAB2EEFC-60F3-8262-B60D-3E99D5FC431A}"/>
              </a:ext>
            </a:extLst>
          </p:cNvPr>
          <p:cNvGrpSpPr/>
          <p:nvPr/>
        </p:nvGrpSpPr>
        <p:grpSpPr>
          <a:xfrm>
            <a:off x="583316" y="3444323"/>
            <a:ext cx="2587752" cy="1110913"/>
            <a:chOff x="583316" y="3444323"/>
            <a:chExt cx="2587752" cy="1110913"/>
          </a:xfrm>
        </p:grpSpPr>
        <p:sp>
          <p:nvSpPr>
            <p:cNvPr id="157" name="Freeform 156">
              <a:extLst>
                <a:ext uri="{FF2B5EF4-FFF2-40B4-BE49-F238E27FC236}">
                  <a16:creationId xmlns:a16="http://schemas.microsoft.com/office/drawing/2014/main" id="{4DD4D46C-6408-C846-A875-F2ED85E4839B}"/>
                </a:ext>
              </a:extLst>
            </p:cNvPr>
            <p:cNvSpPr>
              <a:spLocks noChangeAspect="1"/>
            </p:cNvSpPr>
            <p:nvPr/>
          </p:nvSpPr>
          <p:spPr bwMode="auto">
            <a:xfrm>
              <a:off x="1987517" y="3564529"/>
              <a:ext cx="165855" cy="836239"/>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62" name="Group 210">
              <a:extLst>
                <a:ext uri="{FF2B5EF4-FFF2-40B4-BE49-F238E27FC236}">
                  <a16:creationId xmlns:a16="http://schemas.microsoft.com/office/drawing/2014/main" id="{29217688-650A-3C4D-AF8C-73DBBB63EB58}"/>
                </a:ext>
              </a:extLst>
            </p:cNvPr>
            <p:cNvGrpSpPr>
              <a:grpSpLocks/>
            </p:cNvGrpSpPr>
            <p:nvPr/>
          </p:nvGrpSpPr>
          <p:grpSpPr bwMode="auto">
            <a:xfrm>
              <a:off x="2474553" y="3584595"/>
              <a:ext cx="304800" cy="762000"/>
              <a:chOff x="3216" y="1728"/>
              <a:chExt cx="192" cy="480"/>
            </a:xfrm>
          </p:grpSpPr>
          <p:sp>
            <p:nvSpPr>
              <p:cNvPr id="187" name="Line 8">
                <a:extLst>
                  <a:ext uri="{FF2B5EF4-FFF2-40B4-BE49-F238E27FC236}">
                    <a16:creationId xmlns:a16="http://schemas.microsoft.com/office/drawing/2014/main" id="{453F32AA-11E1-BD43-9199-1C90657D7936}"/>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8" name="Line 9">
                <a:extLst>
                  <a:ext uri="{FF2B5EF4-FFF2-40B4-BE49-F238E27FC236}">
                    <a16:creationId xmlns:a16="http://schemas.microsoft.com/office/drawing/2014/main" id="{7A409DA5-D6D8-EF4E-8A03-831E6D94A4C4}"/>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9" name="Line 10">
                <a:extLst>
                  <a:ext uri="{FF2B5EF4-FFF2-40B4-BE49-F238E27FC236}">
                    <a16:creationId xmlns:a16="http://schemas.microsoft.com/office/drawing/2014/main" id="{7C8EB710-43E2-0047-85D1-CBB6E66B5D3C}"/>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0" name="Line 11">
                <a:extLst>
                  <a:ext uri="{FF2B5EF4-FFF2-40B4-BE49-F238E27FC236}">
                    <a16:creationId xmlns:a16="http://schemas.microsoft.com/office/drawing/2014/main" id="{4A73FFF6-EAE9-594B-86F4-98B4B75ED68F}"/>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63" name="TextBox 162">
              <a:extLst>
                <a:ext uri="{FF2B5EF4-FFF2-40B4-BE49-F238E27FC236}">
                  <a16:creationId xmlns:a16="http://schemas.microsoft.com/office/drawing/2014/main" id="{7BDC42BD-41B0-A147-8D52-85724242FB7C}"/>
                </a:ext>
              </a:extLst>
            </p:cNvPr>
            <p:cNvSpPr txBox="1"/>
            <p:nvPr/>
          </p:nvSpPr>
          <p:spPr>
            <a:xfrm>
              <a:off x="2208540" y="3798844"/>
              <a:ext cx="345258" cy="338554"/>
            </a:xfrm>
            <a:prstGeom prst="rect">
              <a:avLst/>
            </a:prstGeom>
            <a:noFill/>
          </p:spPr>
          <p:txBody>
            <a:bodyPr wrap="square" rtlCol="0">
              <a:spAutoFit/>
            </a:bodyPr>
            <a:lstStyle/>
            <a:p>
              <a:r>
                <a:rPr lang="en-US" sz="1600" dirty="0"/>
                <a:t>C</a:t>
              </a:r>
            </a:p>
          </p:txBody>
        </p:sp>
        <p:cxnSp>
          <p:nvCxnSpPr>
            <p:cNvPr id="164" name="Straight Connector 163">
              <a:extLst>
                <a:ext uri="{FF2B5EF4-FFF2-40B4-BE49-F238E27FC236}">
                  <a16:creationId xmlns:a16="http://schemas.microsoft.com/office/drawing/2014/main" id="{C11B49ED-714D-4D41-B8A4-606BF34D6DCB}"/>
                </a:ext>
              </a:extLst>
            </p:cNvPr>
            <p:cNvCxnSpPr>
              <a:cxnSpLocks/>
            </p:cNvCxnSpPr>
            <p:nvPr/>
          </p:nvCxnSpPr>
          <p:spPr>
            <a:xfrm>
              <a:off x="2080132" y="3608915"/>
              <a:ext cx="51290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66" name="Freeform 165">
              <a:extLst>
                <a:ext uri="{FF2B5EF4-FFF2-40B4-BE49-F238E27FC236}">
                  <a16:creationId xmlns:a16="http://schemas.microsoft.com/office/drawing/2014/main" id="{F27974AC-ECEF-7840-91B1-802DEC64AD41}"/>
                </a:ext>
              </a:extLst>
            </p:cNvPr>
            <p:cNvSpPr>
              <a:spLocks noChangeAspect="1"/>
            </p:cNvSpPr>
            <p:nvPr/>
          </p:nvSpPr>
          <p:spPr bwMode="auto">
            <a:xfrm rot="5400000">
              <a:off x="1579085" y="3180481"/>
              <a:ext cx="165855" cy="836239"/>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7" name="Oval 166">
              <a:extLst>
                <a:ext uri="{FF2B5EF4-FFF2-40B4-BE49-F238E27FC236}">
                  <a16:creationId xmlns:a16="http://schemas.microsoft.com/office/drawing/2014/main" id="{3A257AD9-1CAE-C541-83DB-EE3D9B300616}"/>
                </a:ext>
              </a:extLst>
            </p:cNvPr>
            <p:cNvSpPr>
              <a:spLocks noChangeAspect="1" noChangeArrowheads="1"/>
            </p:cNvSpPr>
            <p:nvPr/>
          </p:nvSpPr>
          <p:spPr bwMode="auto">
            <a:xfrm>
              <a:off x="2003684" y="3544801"/>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68" name="Oval 167">
              <a:extLst>
                <a:ext uri="{FF2B5EF4-FFF2-40B4-BE49-F238E27FC236}">
                  <a16:creationId xmlns:a16="http://schemas.microsoft.com/office/drawing/2014/main" id="{DDE110A0-04A5-CE43-99F1-EB5A68680FEF}"/>
                </a:ext>
              </a:extLst>
            </p:cNvPr>
            <p:cNvSpPr>
              <a:spLocks noChangeAspect="1" noChangeArrowheads="1"/>
            </p:cNvSpPr>
            <p:nvPr/>
          </p:nvSpPr>
          <p:spPr bwMode="auto">
            <a:xfrm>
              <a:off x="583316" y="3526513"/>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169" name="Group 210">
              <a:extLst>
                <a:ext uri="{FF2B5EF4-FFF2-40B4-BE49-F238E27FC236}">
                  <a16:creationId xmlns:a16="http://schemas.microsoft.com/office/drawing/2014/main" id="{17F238ED-4B91-DD4D-B5FF-4B47CF993D04}"/>
                </a:ext>
              </a:extLst>
            </p:cNvPr>
            <p:cNvGrpSpPr>
              <a:grpSpLocks/>
            </p:cNvGrpSpPr>
            <p:nvPr/>
          </p:nvGrpSpPr>
          <p:grpSpPr bwMode="auto">
            <a:xfrm rot="5400000">
              <a:off x="829785" y="3215723"/>
              <a:ext cx="304800" cy="762000"/>
              <a:chOff x="3216" y="1728"/>
              <a:chExt cx="192" cy="480"/>
            </a:xfrm>
          </p:grpSpPr>
          <p:sp>
            <p:nvSpPr>
              <p:cNvPr id="183" name="Line 8">
                <a:extLst>
                  <a:ext uri="{FF2B5EF4-FFF2-40B4-BE49-F238E27FC236}">
                    <a16:creationId xmlns:a16="http://schemas.microsoft.com/office/drawing/2014/main" id="{CE9AAB07-0EE1-2847-81F2-F67E9B7C86A1}"/>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 name="Line 9">
                <a:extLst>
                  <a:ext uri="{FF2B5EF4-FFF2-40B4-BE49-F238E27FC236}">
                    <a16:creationId xmlns:a16="http://schemas.microsoft.com/office/drawing/2014/main" id="{7B6FF02E-058F-6940-97A9-B5BEFBC730CD}"/>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 name="Line 10">
                <a:extLst>
                  <a:ext uri="{FF2B5EF4-FFF2-40B4-BE49-F238E27FC236}">
                    <a16:creationId xmlns:a16="http://schemas.microsoft.com/office/drawing/2014/main" id="{5A260559-E1B3-C24A-A2E6-261C1DA99CC5}"/>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6" name="Line 11">
                <a:extLst>
                  <a:ext uri="{FF2B5EF4-FFF2-40B4-BE49-F238E27FC236}">
                    <a16:creationId xmlns:a16="http://schemas.microsoft.com/office/drawing/2014/main" id="{D87FA7FE-7B73-F941-9F5A-0A7D50B4097B}"/>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70" name="Oval 169">
              <a:extLst>
                <a:ext uri="{FF2B5EF4-FFF2-40B4-BE49-F238E27FC236}">
                  <a16:creationId xmlns:a16="http://schemas.microsoft.com/office/drawing/2014/main" id="{5E88823A-DA86-2D4A-ABCB-7F4798457D60}"/>
                </a:ext>
              </a:extLst>
            </p:cNvPr>
            <p:cNvSpPr>
              <a:spLocks noChangeAspect="1" noChangeArrowheads="1"/>
            </p:cNvSpPr>
            <p:nvPr/>
          </p:nvSpPr>
          <p:spPr bwMode="auto">
            <a:xfrm>
              <a:off x="2546228" y="3538705"/>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71" name="TextBox 170">
              <a:extLst>
                <a:ext uri="{FF2B5EF4-FFF2-40B4-BE49-F238E27FC236}">
                  <a16:creationId xmlns:a16="http://schemas.microsoft.com/office/drawing/2014/main" id="{162759BB-9394-454B-BB15-F0E11D037C92}"/>
                </a:ext>
              </a:extLst>
            </p:cNvPr>
            <p:cNvSpPr txBox="1"/>
            <p:nvPr/>
          </p:nvSpPr>
          <p:spPr>
            <a:xfrm>
              <a:off x="1461602" y="3662556"/>
              <a:ext cx="400820" cy="338554"/>
            </a:xfrm>
            <a:prstGeom prst="rect">
              <a:avLst/>
            </a:prstGeom>
            <a:noFill/>
          </p:spPr>
          <p:txBody>
            <a:bodyPr wrap="square" rtlCol="0">
              <a:spAutoFit/>
            </a:bodyPr>
            <a:lstStyle/>
            <a:p>
              <a:r>
                <a:rPr lang="en-US" sz="1600" dirty="0"/>
                <a:t>R</a:t>
              </a:r>
            </a:p>
          </p:txBody>
        </p:sp>
        <p:sp>
          <p:nvSpPr>
            <p:cNvPr id="173" name="TextBox 172">
              <a:extLst>
                <a:ext uri="{FF2B5EF4-FFF2-40B4-BE49-F238E27FC236}">
                  <a16:creationId xmlns:a16="http://schemas.microsoft.com/office/drawing/2014/main" id="{BD3DE9B0-A943-5A44-82FA-55E2C3F53256}"/>
                </a:ext>
              </a:extLst>
            </p:cNvPr>
            <p:cNvSpPr txBox="1"/>
            <p:nvPr/>
          </p:nvSpPr>
          <p:spPr>
            <a:xfrm>
              <a:off x="824748" y="3731788"/>
              <a:ext cx="345258" cy="338554"/>
            </a:xfrm>
            <a:prstGeom prst="rect">
              <a:avLst/>
            </a:prstGeom>
            <a:noFill/>
          </p:spPr>
          <p:txBody>
            <a:bodyPr wrap="square" rtlCol="0">
              <a:spAutoFit/>
            </a:bodyPr>
            <a:lstStyle/>
            <a:p>
              <a:r>
                <a:rPr lang="en-US" sz="1600" dirty="0"/>
                <a:t>C</a:t>
              </a:r>
            </a:p>
          </p:txBody>
        </p:sp>
        <p:grpSp>
          <p:nvGrpSpPr>
            <p:cNvPr id="175" name="Group 220">
              <a:extLst>
                <a:ext uri="{FF2B5EF4-FFF2-40B4-BE49-F238E27FC236}">
                  <a16:creationId xmlns:a16="http://schemas.microsoft.com/office/drawing/2014/main" id="{75A5CFD3-CECD-5C48-8A98-18A642EE50B0}"/>
                </a:ext>
              </a:extLst>
            </p:cNvPr>
            <p:cNvGrpSpPr>
              <a:grpSpLocks/>
            </p:cNvGrpSpPr>
            <p:nvPr/>
          </p:nvGrpSpPr>
          <p:grpSpPr bwMode="auto">
            <a:xfrm>
              <a:off x="2554306" y="4226052"/>
              <a:ext cx="152400" cy="304800"/>
              <a:chOff x="3264" y="3072"/>
              <a:chExt cx="96" cy="192"/>
            </a:xfrm>
          </p:grpSpPr>
          <p:sp>
            <p:nvSpPr>
              <p:cNvPr id="179" name="Line 17">
                <a:extLst>
                  <a:ext uri="{FF2B5EF4-FFF2-40B4-BE49-F238E27FC236}">
                    <a16:creationId xmlns:a16="http://schemas.microsoft.com/office/drawing/2014/main" id="{0C24D1A6-700D-ED46-B63F-BF55BF718B92}"/>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0" name="Freeform 18">
                <a:extLst>
                  <a:ext uri="{FF2B5EF4-FFF2-40B4-BE49-F238E27FC236}">
                    <a16:creationId xmlns:a16="http://schemas.microsoft.com/office/drawing/2014/main" id="{B7BD53DA-9F21-6140-B247-646014CD6416}"/>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76" name="Group 220">
              <a:extLst>
                <a:ext uri="{FF2B5EF4-FFF2-40B4-BE49-F238E27FC236}">
                  <a16:creationId xmlns:a16="http://schemas.microsoft.com/office/drawing/2014/main" id="{909596A2-6581-0844-8121-3E3E78C4896A}"/>
                </a:ext>
              </a:extLst>
            </p:cNvPr>
            <p:cNvGrpSpPr>
              <a:grpSpLocks/>
            </p:cNvGrpSpPr>
            <p:nvPr/>
          </p:nvGrpSpPr>
          <p:grpSpPr bwMode="auto">
            <a:xfrm>
              <a:off x="1990060" y="4250436"/>
              <a:ext cx="152400" cy="304800"/>
              <a:chOff x="3264" y="3072"/>
              <a:chExt cx="96" cy="192"/>
            </a:xfrm>
          </p:grpSpPr>
          <p:sp>
            <p:nvSpPr>
              <p:cNvPr id="177" name="Line 17">
                <a:extLst>
                  <a:ext uri="{FF2B5EF4-FFF2-40B4-BE49-F238E27FC236}">
                    <a16:creationId xmlns:a16="http://schemas.microsoft.com/office/drawing/2014/main" id="{AEBA16AE-CF98-C041-B978-B7BAE79E46B0}"/>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8" name="Freeform 18">
                <a:extLst>
                  <a:ext uri="{FF2B5EF4-FFF2-40B4-BE49-F238E27FC236}">
                    <a16:creationId xmlns:a16="http://schemas.microsoft.com/office/drawing/2014/main" id="{17D12437-7F64-D04F-B28A-555BBD1506E5}"/>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96" name="TextBox 195">
              <a:extLst>
                <a:ext uri="{FF2B5EF4-FFF2-40B4-BE49-F238E27FC236}">
                  <a16:creationId xmlns:a16="http://schemas.microsoft.com/office/drawing/2014/main" id="{71EDAB4E-63CD-5F43-B94E-0A769899AD32}"/>
                </a:ext>
              </a:extLst>
            </p:cNvPr>
            <p:cNvSpPr txBox="1"/>
            <p:nvPr/>
          </p:nvSpPr>
          <p:spPr>
            <a:xfrm>
              <a:off x="704817" y="4152298"/>
              <a:ext cx="1157602" cy="369332"/>
            </a:xfrm>
            <a:prstGeom prst="rect">
              <a:avLst/>
            </a:prstGeom>
            <a:noFill/>
          </p:spPr>
          <p:txBody>
            <a:bodyPr wrap="square" rtlCol="0">
              <a:spAutoFit/>
            </a:bodyPr>
            <a:lstStyle/>
            <a:p>
              <a:r>
                <a:rPr lang="en-US" dirty="0"/>
                <a:t>Wein</a:t>
              </a:r>
            </a:p>
          </p:txBody>
        </p:sp>
        <p:sp>
          <p:nvSpPr>
            <p:cNvPr id="197" name="TextBox 196">
              <a:extLst>
                <a:ext uri="{FF2B5EF4-FFF2-40B4-BE49-F238E27FC236}">
                  <a16:creationId xmlns:a16="http://schemas.microsoft.com/office/drawing/2014/main" id="{AE148619-8D4A-0044-9C0A-54D971A01F06}"/>
                </a:ext>
              </a:extLst>
            </p:cNvPr>
            <p:cNvSpPr txBox="1"/>
            <p:nvPr/>
          </p:nvSpPr>
          <p:spPr>
            <a:xfrm>
              <a:off x="1723730" y="3863724"/>
              <a:ext cx="400820" cy="338554"/>
            </a:xfrm>
            <a:prstGeom prst="rect">
              <a:avLst/>
            </a:prstGeom>
            <a:noFill/>
          </p:spPr>
          <p:txBody>
            <a:bodyPr wrap="square" rtlCol="0">
              <a:spAutoFit/>
            </a:bodyPr>
            <a:lstStyle/>
            <a:p>
              <a:r>
                <a:rPr lang="en-US" sz="1600" dirty="0"/>
                <a:t>R</a:t>
              </a:r>
            </a:p>
          </p:txBody>
        </p:sp>
        <p:cxnSp>
          <p:nvCxnSpPr>
            <p:cNvPr id="199" name="Straight Connector 198">
              <a:extLst>
                <a:ext uri="{FF2B5EF4-FFF2-40B4-BE49-F238E27FC236}">
                  <a16:creationId xmlns:a16="http://schemas.microsoft.com/office/drawing/2014/main" id="{2D8F5145-2B98-894D-9E8D-956D8F5AA6D8}"/>
                </a:ext>
              </a:extLst>
            </p:cNvPr>
            <p:cNvCxnSpPr>
              <a:cxnSpLocks/>
            </p:cNvCxnSpPr>
            <p:nvPr/>
          </p:nvCxnSpPr>
          <p:spPr>
            <a:xfrm>
              <a:off x="2610484" y="3602819"/>
              <a:ext cx="51290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00" name="Oval 199">
              <a:extLst>
                <a:ext uri="{FF2B5EF4-FFF2-40B4-BE49-F238E27FC236}">
                  <a16:creationId xmlns:a16="http://schemas.microsoft.com/office/drawing/2014/main" id="{336B31C5-73C4-714D-945F-727B395A22BC}"/>
                </a:ext>
              </a:extLst>
            </p:cNvPr>
            <p:cNvSpPr>
              <a:spLocks noChangeAspect="1" noChangeArrowheads="1"/>
            </p:cNvSpPr>
            <p:nvPr/>
          </p:nvSpPr>
          <p:spPr bwMode="auto">
            <a:xfrm>
              <a:off x="3033908" y="3538705"/>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mc:AlternateContent xmlns:mc="http://schemas.openxmlformats.org/markup-compatibility/2006" xmlns:a14="http://schemas.microsoft.com/office/drawing/2010/main">
        <mc:Choice Requires="a14">
          <p:sp>
            <p:nvSpPr>
              <p:cNvPr id="343" name="TextBox 342">
                <a:extLst>
                  <a:ext uri="{FF2B5EF4-FFF2-40B4-BE49-F238E27FC236}">
                    <a16:creationId xmlns:a16="http://schemas.microsoft.com/office/drawing/2014/main" id="{43087C03-F697-4944-B439-4770756D236A}"/>
                  </a:ext>
                </a:extLst>
              </p:cNvPr>
              <p:cNvSpPr txBox="1"/>
              <p:nvPr/>
            </p:nvSpPr>
            <p:spPr>
              <a:xfrm>
                <a:off x="4628454" y="4815582"/>
                <a:ext cx="5998501" cy="1163758"/>
              </a:xfrm>
              <a:prstGeom prst="rect">
                <a:avLst/>
              </a:prstGeom>
              <a:noFill/>
            </p:spPr>
            <p:txBody>
              <a:bodyPr wrap="square" rtlCol="0">
                <a:noAutofit/>
              </a:bodyPr>
              <a:lstStyle/>
              <a:p>
                <a:pPr marL="285750" indent="-285750">
                  <a:buFont typeface="Arial" panose="020B0604020202020204" pitchFamily="34" charset="0"/>
                  <a:buChar char="•"/>
                </a:pPr>
                <a14:m>
                  <m:oMath xmlns:m="http://schemas.openxmlformats.org/officeDocument/2006/math">
                    <m:f>
                      <m:fPr>
                        <m:ctrlPr>
                          <a:rPr lang="en-US" sz="200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2</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1</m:t>
                            </m:r>
                          </m:sub>
                        </m:sSub>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𝑀</m:t>
                        </m:r>
                      </m:num>
                      <m:den>
                        <m:r>
                          <a:rPr lang="en-US" sz="2000" b="0" i="1" smtClean="0">
                            <a:latin typeface="Cambria Math" panose="02040503050406030204" pitchFamily="18" charset="0"/>
                          </a:rPr>
                          <m:t>𝐿</m:t>
                        </m:r>
                      </m:den>
                    </m:f>
                    <m:r>
                      <a:rPr lang="en-US" sz="2000" b="0" i="1" smtClean="0">
                        <a:latin typeface="Cambria Math" panose="02040503050406030204" pitchFamily="18" charset="0"/>
                      </a:rPr>
                      <m:t>)(</m:t>
                    </m:r>
                    <m:f>
                      <m:fPr>
                        <m:type m:val="skw"/>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+1</m:t>
                            </m:r>
                          </m:e>
                        </m:d>
                        <m:r>
                          <a:rPr lang="en-US" sz="2000" b="0" i="1" smtClean="0">
                            <a:latin typeface="Cambria Math" panose="02040503050406030204" pitchFamily="18" charset="0"/>
                          </a:rPr>
                          <m:t>+</m:t>
                        </m:r>
                        <m:r>
                          <a:rPr lang="en-US" sz="2000" b="0" i="1" smtClean="0">
                            <a:latin typeface="Cambria Math" panose="02040503050406030204" pitchFamily="18" charset="0"/>
                          </a:rPr>
                          <m:t>𝑗</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1</m:t>
                                </m:r>
                              </m:sub>
                            </m:sSub>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𝐶</m:t>
                            </m:r>
                            <m:r>
                              <a:rPr lang="en-US" sz="2000" b="0" i="1" smtClean="0">
                                <a:latin typeface="Cambria Math" panose="02040503050406030204" pitchFamily="18" charset="0"/>
                                <a:ea typeface="Cambria Math" panose="02040503050406030204" pitchFamily="18" charset="0"/>
                              </a:rPr>
                              <m:t>−</m:t>
                            </m:r>
                            <m:f>
                              <m:fPr>
                                <m:type m:val="skw"/>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b="0" i="1" smtClean="0">
                                        <a:latin typeface="Cambria Math" panose="02040503050406030204" pitchFamily="18" charset="0"/>
                                      </a:rPr>
                                      <m:t>1</m:t>
                                    </m:r>
                                  </m:sub>
                                </m:sSub>
                              </m:num>
                              <m:den>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𝐿</m:t>
                                    </m:r>
                                  </m:e>
                                </m:d>
                              </m:den>
                            </m:f>
                          </m:e>
                        </m:d>
                      </m:den>
                    </m:f>
                    <m:r>
                      <a:rPr lang="en-US" sz="2000" b="0" i="1" smtClean="0">
                        <a:latin typeface="Cambria Math" panose="02040503050406030204" pitchFamily="18" charset="0"/>
                      </a:rPr>
                      <m:t>)</m:t>
                    </m:r>
                  </m:oMath>
                </a14:m>
                <a:endParaRPr lang="en-US" sz="2000" dirty="0"/>
              </a:p>
            </p:txBody>
          </p:sp>
        </mc:Choice>
        <mc:Fallback xmlns="">
          <p:sp>
            <p:nvSpPr>
              <p:cNvPr id="343" name="TextBox 342">
                <a:extLst>
                  <a:ext uri="{FF2B5EF4-FFF2-40B4-BE49-F238E27FC236}">
                    <a16:creationId xmlns:a16="http://schemas.microsoft.com/office/drawing/2014/main" id="{43087C03-F697-4944-B439-4770756D236A}"/>
                  </a:ext>
                </a:extLst>
              </p:cNvPr>
              <p:cNvSpPr txBox="1">
                <a:spLocks noRot="1" noChangeAspect="1" noMove="1" noResize="1" noEditPoints="1" noAdjustHandles="1" noChangeArrowheads="1" noChangeShapeType="1" noTextEdit="1"/>
              </p:cNvSpPr>
              <p:nvPr/>
            </p:nvSpPr>
            <p:spPr>
              <a:xfrm>
                <a:off x="4628454" y="4815582"/>
                <a:ext cx="5998501" cy="1163758"/>
              </a:xfrm>
              <a:prstGeom prst="rect">
                <a:avLst/>
              </a:prstGeom>
              <a:blipFill>
                <a:blip r:embed="rId5"/>
                <a:stretch>
                  <a:fillRect l="-846" t="-45652" b="-30435"/>
                </a:stretch>
              </a:blipFill>
            </p:spPr>
            <p:txBody>
              <a:bodyPr/>
              <a:lstStyle/>
              <a:p>
                <a:r>
                  <a:rPr lang="en-US">
                    <a:noFill/>
                  </a:rPr>
                  <a:t> </a:t>
                </a:r>
              </a:p>
            </p:txBody>
          </p:sp>
        </mc:Fallback>
      </mc:AlternateContent>
      <p:sp>
        <p:nvSpPr>
          <p:cNvPr id="201" name="Freeform 200">
            <a:extLst>
              <a:ext uri="{FF2B5EF4-FFF2-40B4-BE49-F238E27FC236}">
                <a16:creationId xmlns:a16="http://schemas.microsoft.com/office/drawing/2014/main" id="{34D5FA7E-E7FD-3143-A4E0-D1BE78EB8128}"/>
              </a:ext>
            </a:extLst>
          </p:cNvPr>
          <p:cNvSpPr>
            <a:spLocks noChangeAspect="1"/>
          </p:cNvSpPr>
          <p:nvPr/>
        </p:nvSpPr>
        <p:spPr bwMode="auto">
          <a:xfrm>
            <a:off x="1351178" y="5317339"/>
            <a:ext cx="165855" cy="836239"/>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02" name="Group 210">
            <a:extLst>
              <a:ext uri="{FF2B5EF4-FFF2-40B4-BE49-F238E27FC236}">
                <a16:creationId xmlns:a16="http://schemas.microsoft.com/office/drawing/2014/main" id="{71A625D2-DBE4-BD4B-AC6E-1B1F6AD7325D}"/>
              </a:ext>
            </a:extLst>
          </p:cNvPr>
          <p:cNvGrpSpPr>
            <a:grpSpLocks/>
          </p:cNvGrpSpPr>
          <p:nvPr/>
        </p:nvGrpSpPr>
        <p:grpSpPr bwMode="auto">
          <a:xfrm>
            <a:off x="1838214" y="5337405"/>
            <a:ext cx="304800" cy="762000"/>
            <a:chOff x="3216" y="1728"/>
            <a:chExt cx="192" cy="480"/>
          </a:xfrm>
        </p:grpSpPr>
        <p:sp>
          <p:nvSpPr>
            <p:cNvPr id="203" name="Line 8">
              <a:extLst>
                <a:ext uri="{FF2B5EF4-FFF2-40B4-BE49-F238E27FC236}">
                  <a16:creationId xmlns:a16="http://schemas.microsoft.com/office/drawing/2014/main" id="{AC80251F-E82B-FB42-9F8F-D905D1CD2CBF}"/>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 name="Line 9">
              <a:extLst>
                <a:ext uri="{FF2B5EF4-FFF2-40B4-BE49-F238E27FC236}">
                  <a16:creationId xmlns:a16="http://schemas.microsoft.com/office/drawing/2014/main" id="{59801D84-0BF6-064B-94AF-D44D2A3A776F}"/>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 name="Line 10">
              <a:extLst>
                <a:ext uri="{FF2B5EF4-FFF2-40B4-BE49-F238E27FC236}">
                  <a16:creationId xmlns:a16="http://schemas.microsoft.com/office/drawing/2014/main" id="{9D8881C3-2AF1-F94F-9566-81B6BA3B71D8}"/>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6" name="Line 11">
              <a:extLst>
                <a:ext uri="{FF2B5EF4-FFF2-40B4-BE49-F238E27FC236}">
                  <a16:creationId xmlns:a16="http://schemas.microsoft.com/office/drawing/2014/main" id="{94166F7B-A975-BB4A-9520-ACAAC2672133}"/>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07" name="TextBox 206">
            <a:extLst>
              <a:ext uri="{FF2B5EF4-FFF2-40B4-BE49-F238E27FC236}">
                <a16:creationId xmlns:a16="http://schemas.microsoft.com/office/drawing/2014/main" id="{045633F4-C19B-FE40-A230-EA84FD9D3874}"/>
              </a:ext>
            </a:extLst>
          </p:cNvPr>
          <p:cNvSpPr txBox="1"/>
          <p:nvPr/>
        </p:nvSpPr>
        <p:spPr>
          <a:xfrm>
            <a:off x="1572201" y="5551654"/>
            <a:ext cx="345258" cy="338554"/>
          </a:xfrm>
          <a:prstGeom prst="rect">
            <a:avLst/>
          </a:prstGeom>
          <a:noFill/>
        </p:spPr>
        <p:txBody>
          <a:bodyPr wrap="square" rtlCol="0">
            <a:spAutoFit/>
          </a:bodyPr>
          <a:lstStyle/>
          <a:p>
            <a:r>
              <a:rPr lang="en-US" sz="1600" dirty="0"/>
              <a:t>C</a:t>
            </a:r>
          </a:p>
        </p:txBody>
      </p:sp>
      <p:cxnSp>
        <p:nvCxnSpPr>
          <p:cNvPr id="208" name="Straight Connector 207">
            <a:extLst>
              <a:ext uri="{FF2B5EF4-FFF2-40B4-BE49-F238E27FC236}">
                <a16:creationId xmlns:a16="http://schemas.microsoft.com/office/drawing/2014/main" id="{D3310DB1-4301-5F49-B563-FA0E4A5AFF2B}"/>
              </a:ext>
            </a:extLst>
          </p:cNvPr>
          <p:cNvCxnSpPr>
            <a:cxnSpLocks/>
          </p:cNvCxnSpPr>
          <p:nvPr/>
        </p:nvCxnSpPr>
        <p:spPr>
          <a:xfrm>
            <a:off x="1443793" y="5361725"/>
            <a:ext cx="51290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09" name="Freeform 208">
            <a:extLst>
              <a:ext uri="{FF2B5EF4-FFF2-40B4-BE49-F238E27FC236}">
                <a16:creationId xmlns:a16="http://schemas.microsoft.com/office/drawing/2014/main" id="{C9525117-03BD-6445-A42F-3DB0F50C346B}"/>
              </a:ext>
            </a:extLst>
          </p:cNvPr>
          <p:cNvSpPr>
            <a:spLocks noChangeAspect="1"/>
          </p:cNvSpPr>
          <p:nvPr/>
        </p:nvSpPr>
        <p:spPr bwMode="auto">
          <a:xfrm rot="5400000">
            <a:off x="942746" y="4933291"/>
            <a:ext cx="165855" cy="836239"/>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0" name="Oval 209">
            <a:extLst>
              <a:ext uri="{FF2B5EF4-FFF2-40B4-BE49-F238E27FC236}">
                <a16:creationId xmlns:a16="http://schemas.microsoft.com/office/drawing/2014/main" id="{59C408F1-0D6D-484A-970F-5026C35F8CE6}"/>
              </a:ext>
            </a:extLst>
          </p:cNvPr>
          <p:cNvSpPr>
            <a:spLocks noChangeAspect="1" noChangeArrowheads="1"/>
          </p:cNvSpPr>
          <p:nvPr/>
        </p:nvSpPr>
        <p:spPr bwMode="auto">
          <a:xfrm>
            <a:off x="1367345" y="5297611"/>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11" name="Oval 210">
            <a:extLst>
              <a:ext uri="{FF2B5EF4-FFF2-40B4-BE49-F238E27FC236}">
                <a16:creationId xmlns:a16="http://schemas.microsoft.com/office/drawing/2014/main" id="{4E3555B1-6CAB-A444-8081-C5C831948D05}"/>
              </a:ext>
            </a:extLst>
          </p:cNvPr>
          <p:cNvSpPr>
            <a:spLocks noChangeAspect="1" noChangeArrowheads="1"/>
          </p:cNvSpPr>
          <p:nvPr/>
        </p:nvSpPr>
        <p:spPr bwMode="auto">
          <a:xfrm>
            <a:off x="544385" y="5279323"/>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17" name="Oval 216">
            <a:extLst>
              <a:ext uri="{FF2B5EF4-FFF2-40B4-BE49-F238E27FC236}">
                <a16:creationId xmlns:a16="http://schemas.microsoft.com/office/drawing/2014/main" id="{36BDD122-B782-774E-BD74-7F834DF03575}"/>
              </a:ext>
            </a:extLst>
          </p:cNvPr>
          <p:cNvSpPr>
            <a:spLocks noChangeAspect="1" noChangeArrowheads="1"/>
          </p:cNvSpPr>
          <p:nvPr/>
        </p:nvSpPr>
        <p:spPr bwMode="auto">
          <a:xfrm>
            <a:off x="1909889" y="5291515"/>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18" name="TextBox 217">
            <a:extLst>
              <a:ext uri="{FF2B5EF4-FFF2-40B4-BE49-F238E27FC236}">
                <a16:creationId xmlns:a16="http://schemas.microsoft.com/office/drawing/2014/main" id="{8069B3A3-994B-0841-9408-2B9643D8147F}"/>
              </a:ext>
            </a:extLst>
          </p:cNvPr>
          <p:cNvSpPr txBox="1"/>
          <p:nvPr/>
        </p:nvSpPr>
        <p:spPr>
          <a:xfrm>
            <a:off x="748741" y="5443225"/>
            <a:ext cx="400820" cy="338554"/>
          </a:xfrm>
          <a:prstGeom prst="rect">
            <a:avLst/>
          </a:prstGeom>
          <a:noFill/>
        </p:spPr>
        <p:txBody>
          <a:bodyPr wrap="square" rtlCol="0">
            <a:spAutoFit/>
          </a:bodyPr>
          <a:lstStyle/>
          <a:p>
            <a:r>
              <a:rPr lang="en-US" sz="1600" dirty="0"/>
              <a:t>R</a:t>
            </a:r>
            <a:r>
              <a:rPr lang="en-US" sz="1600" baseline="-25000" dirty="0"/>
              <a:t>1</a:t>
            </a:r>
          </a:p>
        </p:txBody>
      </p:sp>
      <p:grpSp>
        <p:nvGrpSpPr>
          <p:cNvPr id="220" name="Group 220">
            <a:extLst>
              <a:ext uri="{FF2B5EF4-FFF2-40B4-BE49-F238E27FC236}">
                <a16:creationId xmlns:a16="http://schemas.microsoft.com/office/drawing/2014/main" id="{A731638F-52A8-B047-A377-B60484791D24}"/>
              </a:ext>
            </a:extLst>
          </p:cNvPr>
          <p:cNvGrpSpPr>
            <a:grpSpLocks/>
          </p:cNvGrpSpPr>
          <p:nvPr/>
        </p:nvGrpSpPr>
        <p:grpSpPr bwMode="auto">
          <a:xfrm>
            <a:off x="1930667" y="5978862"/>
            <a:ext cx="152400" cy="304800"/>
            <a:chOff x="3272" y="3072"/>
            <a:chExt cx="96" cy="192"/>
          </a:xfrm>
        </p:grpSpPr>
        <p:sp>
          <p:nvSpPr>
            <p:cNvPr id="221" name="Line 17">
              <a:extLst>
                <a:ext uri="{FF2B5EF4-FFF2-40B4-BE49-F238E27FC236}">
                  <a16:creationId xmlns:a16="http://schemas.microsoft.com/office/drawing/2014/main" id="{DE265B2D-9A6B-834B-BAB0-AF8E7899BEA2}"/>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2" name="Freeform 18">
              <a:extLst>
                <a:ext uri="{FF2B5EF4-FFF2-40B4-BE49-F238E27FC236}">
                  <a16:creationId xmlns:a16="http://schemas.microsoft.com/office/drawing/2014/main" id="{BBBCF551-1844-4144-9464-780EAF23D18C}"/>
                </a:ext>
              </a:extLst>
            </p:cNvPr>
            <p:cNvSpPr>
              <a:spLocks noChangeAspect="1"/>
            </p:cNvSpPr>
            <p:nvPr/>
          </p:nvSpPr>
          <p:spPr bwMode="auto">
            <a:xfrm>
              <a:off x="3272"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23" name="Group 220">
            <a:extLst>
              <a:ext uri="{FF2B5EF4-FFF2-40B4-BE49-F238E27FC236}">
                <a16:creationId xmlns:a16="http://schemas.microsoft.com/office/drawing/2014/main" id="{A2DEBA0B-6CC6-A24E-B0F5-C5ED720DCC56}"/>
              </a:ext>
            </a:extLst>
          </p:cNvPr>
          <p:cNvGrpSpPr>
            <a:grpSpLocks/>
          </p:cNvGrpSpPr>
          <p:nvPr/>
        </p:nvGrpSpPr>
        <p:grpSpPr bwMode="auto">
          <a:xfrm>
            <a:off x="1353721" y="6003246"/>
            <a:ext cx="152400" cy="304800"/>
            <a:chOff x="3264" y="3072"/>
            <a:chExt cx="96" cy="192"/>
          </a:xfrm>
        </p:grpSpPr>
        <p:sp>
          <p:nvSpPr>
            <p:cNvPr id="224" name="Line 17">
              <a:extLst>
                <a:ext uri="{FF2B5EF4-FFF2-40B4-BE49-F238E27FC236}">
                  <a16:creationId xmlns:a16="http://schemas.microsoft.com/office/drawing/2014/main" id="{E1BDFBF9-81CF-5942-8054-529D2C600170}"/>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 name="Freeform 18">
              <a:extLst>
                <a:ext uri="{FF2B5EF4-FFF2-40B4-BE49-F238E27FC236}">
                  <a16:creationId xmlns:a16="http://schemas.microsoft.com/office/drawing/2014/main" id="{432D8538-5018-9140-865E-ED170C94D638}"/>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27" name="TextBox 226">
            <a:extLst>
              <a:ext uri="{FF2B5EF4-FFF2-40B4-BE49-F238E27FC236}">
                <a16:creationId xmlns:a16="http://schemas.microsoft.com/office/drawing/2014/main" id="{B80BCEBC-07C7-EA49-9703-29F9E5A70BA0}"/>
              </a:ext>
            </a:extLst>
          </p:cNvPr>
          <p:cNvSpPr txBox="1"/>
          <p:nvPr/>
        </p:nvSpPr>
        <p:spPr>
          <a:xfrm>
            <a:off x="1038623" y="5616534"/>
            <a:ext cx="400820" cy="338554"/>
          </a:xfrm>
          <a:prstGeom prst="rect">
            <a:avLst/>
          </a:prstGeom>
          <a:noFill/>
        </p:spPr>
        <p:txBody>
          <a:bodyPr wrap="square" rtlCol="0">
            <a:spAutoFit/>
          </a:bodyPr>
          <a:lstStyle/>
          <a:p>
            <a:r>
              <a:rPr lang="en-US" sz="1600" dirty="0"/>
              <a:t>R</a:t>
            </a:r>
            <a:r>
              <a:rPr lang="en-US" sz="1600" baseline="-25000" dirty="0"/>
              <a:t>2</a:t>
            </a:r>
          </a:p>
        </p:txBody>
      </p:sp>
      <p:cxnSp>
        <p:nvCxnSpPr>
          <p:cNvPr id="228" name="Straight Connector 227">
            <a:extLst>
              <a:ext uri="{FF2B5EF4-FFF2-40B4-BE49-F238E27FC236}">
                <a16:creationId xmlns:a16="http://schemas.microsoft.com/office/drawing/2014/main" id="{6B048C70-2736-6C40-9047-CCCAF1F21F43}"/>
              </a:ext>
            </a:extLst>
          </p:cNvPr>
          <p:cNvCxnSpPr>
            <a:cxnSpLocks/>
          </p:cNvCxnSpPr>
          <p:nvPr/>
        </p:nvCxnSpPr>
        <p:spPr>
          <a:xfrm>
            <a:off x="1974145" y="5355629"/>
            <a:ext cx="51290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1" name="Group 300">
            <a:extLst>
              <a:ext uri="{FF2B5EF4-FFF2-40B4-BE49-F238E27FC236}">
                <a16:creationId xmlns:a16="http://schemas.microsoft.com/office/drawing/2014/main" id="{810F6C19-0BCF-384A-A373-A3D56B9FEEAB}"/>
              </a:ext>
            </a:extLst>
          </p:cNvPr>
          <p:cNvGrpSpPr>
            <a:grpSpLocks/>
          </p:cNvGrpSpPr>
          <p:nvPr/>
        </p:nvGrpSpPr>
        <p:grpSpPr bwMode="auto">
          <a:xfrm>
            <a:off x="2401708" y="5346010"/>
            <a:ext cx="533400" cy="762000"/>
            <a:chOff x="4896" y="1728"/>
            <a:chExt cx="336" cy="480"/>
          </a:xfrm>
        </p:grpSpPr>
        <p:grpSp>
          <p:nvGrpSpPr>
            <p:cNvPr id="232" name="Group 267">
              <a:extLst>
                <a:ext uri="{FF2B5EF4-FFF2-40B4-BE49-F238E27FC236}">
                  <a16:creationId xmlns:a16="http://schemas.microsoft.com/office/drawing/2014/main" id="{E87B20AA-332D-D94D-8330-2A99ABC84C6B}"/>
                </a:ext>
              </a:extLst>
            </p:cNvPr>
            <p:cNvGrpSpPr>
              <a:grpSpLocks/>
            </p:cNvGrpSpPr>
            <p:nvPr/>
          </p:nvGrpSpPr>
          <p:grpSpPr bwMode="auto">
            <a:xfrm>
              <a:off x="4896" y="1728"/>
              <a:ext cx="96" cy="480"/>
              <a:chOff x="3935" y="1728"/>
              <a:chExt cx="96" cy="480"/>
            </a:xfrm>
          </p:grpSpPr>
          <p:sp>
            <p:nvSpPr>
              <p:cNvPr id="249" name="Arc 268">
                <a:extLst>
                  <a:ext uri="{FF2B5EF4-FFF2-40B4-BE49-F238E27FC236}">
                    <a16:creationId xmlns:a16="http://schemas.microsoft.com/office/drawing/2014/main" id="{07B66ADA-6FEF-D841-8080-563A2DFDD766}"/>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0" name="Arc 269">
                <a:extLst>
                  <a:ext uri="{FF2B5EF4-FFF2-40B4-BE49-F238E27FC236}">
                    <a16:creationId xmlns:a16="http://schemas.microsoft.com/office/drawing/2014/main" id="{E2F000A6-CD10-614C-8FB2-2D99228A1099}"/>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1" name="Arc 270">
                <a:extLst>
                  <a:ext uri="{FF2B5EF4-FFF2-40B4-BE49-F238E27FC236}">
                    <a16:creationId xmlns:a16="http://schemas.microsoft.com/office/drawing/2014/main" id="{0AAC5CAF-D198-A84B-9516-4D4C82137234}"/>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2" name="Arc 271">
                <a:extLst>
                  <a:ext uri="{FF2B5EF4-FFF2-40B4-BE49-F238E27FC236}">
                    <a16:creationId xmlns:a16="http://schemas.microsoft.com/office/drawing/2014/main" id="{71F235A1-EF63-7E4F-A117-07845A2C80D2}"/>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3" name="Line 272">
                <a:extLst>
                  <a:ext uri="{FF2B5EF4-FFF2-40B4-BE49-F238E27FC236}">
                    <a16:creationId xmlns:a16="http://schemas.microsoft.com/office/drawing/2014/main" id="{7CE07A72-F79C-AA4C-A16B-F77EA1F03E16}"/>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4" name="Line 273">
                <a:extLst>
                  <a:ext uri="{FF2B5EF4-FFF2-40B4-BE49-F238E27FC236}">
                    <a16:creationId xmlns:a16="http://schemas.microsoft.com/office/drawing/2014/main" id="{F70BDD19-748F-C84D-81DC-97E09F9F62B2}"/>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5" name="Arc 274">
                <a:extLst>
                  <a:ext uri="{FF2B5EF4-FFF2-40B4-BE49-F238E27FC236}">
                    <a16:creationId xmlns:a16="http://schemas.microsoft.com/office/drawing/2014/main" id="{5620852E-9FA5-824F-AE80-74334F428DB3}"/>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6" name="Arc 275">
                <a:extLst>
                  <a:ext uri="{FF2B5EF4-FFF2-40B4-BE49-F238E27FC236}">
                    <a16:creationId xmlns:a16="http://schemas.microsoft.com/office/drawing/2014/main" id="{BB4EA0E1-E398-6F4F-BA17-307D28E94E02}"/>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7" name="Arc 276">
                <a:extLst>
                  <a:ext uri="{FF2B5EF4-FFF2-40B4-BE49-F238E27FC236}">
                    <a16:creationId xmlns:a16="http://schemas.microsoft.com/office/drawing/2014/main" id="{DA64742C-9E80-6440-9950-7F670F3929B8}"/>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8" name="Arc 277">
                <a:extLst>
                  <a:ext uri="{FF2B5EF4-FFF2-40B4-BE49-F238E27FC236}">
                    <a16:creationId xmlns:a16="http://schemas.microsoft.com/office/drawing/2014/main" id="{C1763044-0B3A-4F49-893E-79A1E40DB9D2}"/>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9" name="Arc 278">
                <a:extLst>
                  <a:ext uri="{FF2B5EF4-FFF2-40B4-BE49-F238E27FC236}">
                    <a16:creationId xmlns:a16="http://schemas.microsoft.com/office/drawing/2014/main" id="{E18722A9-4F7F-AC41-9B99-3A95795E5076}"/>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0" name="Arc 279">
                <a:extLst>
                  <a:ext uri="{FF2B5EF4-FFF2-40B4-BE49-F238E27FC236}">
                    <a16:creationId xmlns:a16="http://schemas.microsoft.com/office/drawing/2014/main" id="{A2594337-9743-0748-A4C1-11A91EB4361A}"/>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1" name="Arc 280">
                <a:extLst>
                  <a:ext uri="{FF2B5EF4-FFF2-40B4-BE49-F238E27FC236}">
                    <a16:creationId xmlns:a16="http://schemas.microsoft.com/office/drawing/2014/main" id="{7D582507-B6C7-7441-AEA7-EA4637E2B2E1}"/>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233" name="Group 281">
              <a:extLst>
                <a:ext uri="{FF2B5EF4-FFF2-40B4-BE49-F238E27FC236}">
                  <a16:creationId xmlns:a16="http://schemas.microsoft.com/office/drawing/2014/main" id="{4511F9A9-ADFB-7041-B03D-31C3F0112E64}"/>
                </a:ext>
              </a:extLst>
            </p:cNvPr>
            <p:cNvGrpSpPr>
              <a:grpSpLocks/>
            </p:cNvGrpSpPr>
            <p:nvPr/>
          </p:nvGrpSpPr>
          <p:grpSpPr bwMode="auto">
            <a:xfrm flipH="1">
              <a:off x="5136" y="1728"/>
              <a:ext cx="96" cy="480"/>
              <a:chOff x="3935" y="1728"/>
              <a:chExt cx="96" cy="480"/>
            </a:xfrm>
          </p:grpSpPr>
          <p:sp>
            <p:nvSpPr>
              <p:cNvPr id="236" name="Arc 282">
                <a:extLst>
                  <a:ext uri="{FF2B5EF4-FFF2-40B4-BE49-F238E27FC236}">
                    <a16:creationId xmlns:a16="http://schemas.microsoft.com/office/drawing/2014/main" id="{6C5DC317-BD79-6E45-B4E8-C2B80BB79FE4}"/>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37" name="Arc 283">
                <a:extLst>
                  <a:ext uri="{FF2B5EF4-FFF2-40B4-BE49-F238E27FC236}">
                    <a16:creationId xmlns:a16="http://schemas.microsoft.com/office/drawing/2014/main" id="{E8776787-067E-FB40-BCE6-2803FAB46BCB}"/>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38" name="Arc 284">
                <a:extLst>
                  <a:ext uri="{FF2B5EF4-FFF2-40B4-BE49-F238E27FC236}">
                    <a16:creationId xmlns:a16="http://schemas.microsoft.com/office/drawing/2014/main" id="{5C0A7E5C-7B8C-164F-AA7A-F5729527F704}"/>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39" name="Arc 285">
                <a:extLst>
                  <a:ext uri="{FF2B5EF4-FFF2-40B4-BE49-F238E27FC236}">
                    <a16:creationId xmlns:a16="http://schemas.microsoft.com/office/drawing/2014/main" id="{DAE2EE8F-8EB2-FB44-A49D-C1F2B6778C4A}"/>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40" name="Line 286">
                <a:extLst>
                  <a:ext uri="{FF2B5EF4-FFF2-40B4-BE49-F238E27FC236}">
                    <a16:creationId xmlns:a16="http://schemas.microsoft.com/office/drawing/2014/main" id="{2B918CF8-1520-1D4A-943D-D087DEDEF0EB}"/>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1" name="Line 287">
                <a:extLst>
                  <a:ext uri="{FF2B5EF4-FFF2-40B4-BE49-F238E27FC236}">
                    <a16:creationId xmlns:a16="http://schemas.microsoft.com/office/drawing/2014/main" id="{3ACD2492-4475-804D-972A-3FA74B87E1AB}"/>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2" name="Arc 288">
                <a:extLst>
                  <a:ext uri="{FF2B5EF4-FFF2-40B4-BE49-F238E27FC236}">
                    <a16:creationId xmlns:a16="http://schemas.microsoft.com/office/drawing/2014/main" id="{89EDB650-BF58-9C4C-AF75-6D657CFBDE51}"/>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43" name="Arc 289">
                <a:extLst>
                  <a:ext uri="{FF2B5EF4-FFF2-40B4-BE49-F238E27FC236}">
                    <a16:creationId xmlns:a16="http://schemas.microsoft.com/office/drawing/2014/main" id="{C3E3D8C3-F94F-0549-A4D4-E09099D49FB8}"/>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44" name="Arc 290">
                <a:extLst>
                  <a:ext uri="{FF2B5EF4-FFF2-40B4-BE49-F238E27FC236}">
                    <a16:creationId xmlns:a16="http://schemas.microsoft.com/office/drawing/2014/main" id="{9D49BA95-78E2-9148-9575-A770D088BA02}"/>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45" name="Arc 291">
                <a:extLst>
                  <a:ext uri="{FF2B5EF4-FFF2-40B4-BE49-F238E27FC236}">
                    <a16:creationId xmlns:a16="http://schemas.microsoft.com/office/drawing/2014/main" id="{9EA32289-EFA0-654F-B89C-C3F177C516DB}"/>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46" name="Arc 292">
                <a:extLst>
                  <a:ext uri="{FF2B5EF4-FFF2-40B4-BE49-F238E27FC236}">
                    <a16:creationId xmlns:a16="http://schemas.microsoft.com/office/drawing/2014/main" id="{0C428E08-F1B1-CC4B-B7E5-9EC48663CB9E}"/>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47" name="Arc 293">
                <a:extLst>
                  <a:ext uri="{FF2B5EF4-FFF2-40B4-BE49-F238E27FC236}">
                    <a16:creationId xmlns:a16="http://schemas.microsoft.com/office/drawing/2014/main" id="{8DDE2AC5-8EBE-7945-8CC9-D5D3EC16AF06}"/>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48" name="Arc 294">
                <a:extLst>
                  <a:ext uri="{FF2B5EF4-FFF2-40B4-BE49-F238E27FC236}">
                    <a16:creationId xmlns:a16="http://schemas.microsoft.com/office/drawing/2014/main" id="{D05E3E59-061E-9B4D-B027-8B971E5FF154}"/>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234" name="Line 295">
              <a:extLst>
                <a:ext uri="{FF2B5EF4-FFF2-40B4-BE49-F238E27FC236}">
                  <a16:creationId xmlns:a16="http://schemas.microsoft.com/office/drawing/2014/main" id="{AFF07941-8F99-0C41-A54E-1573B33DEA80}"/>
                </a:ext>
              </a:extLst>
            </p:cNvPr>
            <p:cNvSpPr>
              <a:spLocks noChangeShapeType="1"/>
            </p:cNvSpPr>
            <p:nvPr/>
          </p:nvSpPr>
          <p:spPr bwMode="auto">
            <a:xfrm>
              <a:off x="5040" y="1824"/>
              <a:ext cx="0" cy="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 name="Line 296">
              <a:extLst>
                <a:ext uri="{FF2B5EF4-FFF2-40B4-BE49-F238E27FC236}">
                  <a16:creationId xmlns:a16="http://schemas.microsoft.com/office/drawing/2014/main" id="{6BCD189C-32AD-0A46-86A1-CB0BA24F2E77}"/>
                </a:ext>
              </a:extLst>
            </p:cNvPr>
            <p:cNvSpPr>
              <a:spLocks noChangeShapeType="1"/>
            </p:cNvSpPr>
            <p:nvPr/>
          </p:nvSpPr>
          <p:spPr bwMode="auto">
            <a:xfrm>
              <a:off x="5088" y="1824"/>
              <a:ext cx="0" cy="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62" name="Group 220">
            <a:extLst>
              <a:ext uri="{FF2B5EF4-FFF2-40B4-BE49-F238E27FC236}">
                <a16:creationId xmlns:a16="http://schemas.microsoft.com/office/drawing/2014/main" id="{EEC864C8-D611-0842-B0FA-3F7787813582}"/>
              </a:ext>
            </a:extLst>
          </p:cNvPr>
          <p:cNvGrpSpPr>
            <a:grpSpLocks/>
          </p:cNvGrpSpPr>
          <p:nvPr/>
        </p:nvGrpSpPr>
        <p:grpSpPr bwMode="auto">
          <a:xfrm>
            <a:off x="2399043" y="6082494"/>
            <a:ext cx="152400" cy="304800"/>
            <a:chOff x="3264" y="3072"/>
            <a:chExt cx="96" cy="192"/>
          </a:xfrm>
        </p:grpSpPr>
        <p:sp>
          <p:nvSpPr>
            <p:cNvPr id="263" name="Line 17">
              <a:extLst>
                <a:ext uri="{FF2B5EF4-FFF2-40B4-BE49-F238E27FC236}">
                  <a16:creationId xmlns:a16="http://schemas.microsoft.com/office/drawing/2014/main" id="{6A57BD3B-4D89-134B-A2DF-C073587A56E4}"/>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 name="Freeform 18">
              <a:extLst>
                <a:ext uri="{FF2B5EF4-FFF2-40B4-BE49-F238E27FC236}">
                  <a16:creationId xmlns:a16="http://schemas.microsoft.com/office/drawing/2014/main" id="{58C61483-0182-0B44-B0FD-CDBB98816A3F}"/>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68" name="Group 220">
            <a:extLst>
              <a:ext uri="{FF2B5EF4-FFF2-40B4-BE49-F238E27FC236}">
                <a16:creationId xmlns:a16="http://schemas.microsoft.com/office/drawing/2014/main" id="{5CF62881-E4E7-CC4B-BA09-6B7A352F6D1B}"/>
              </a:ext>
            </a:extLst>
          </p:cNvPr>
          <p:cNvGrpSpPr>
            <a:grpSpLocks/>
          </p:cNvGrpSpPr>
          <p:nvPr/>
        </p:nvGrpSpPr>
        <p:grpSpPr bwMode="auto">
          <a:xfrm>
            <a:off x="2783091" y="6076398"/>
            <a:ext cx="152400" cy="304800"/>
            <a:chOff x="3264" y="3072"/>
            <a:chExt cx="96" cy="192"/>
          </a:xfrm>
        </p:grpSpPr>
        <p:sp>
          <p:nvSpPr>
            <p:cNvPr id="285" name="Line 17">
              <a:extLst>
                <a:ext uri="{FF2B5EF4-FFF2-40B4-BE49-F238E27FC236}">
                  <a16:creationId xmlns:a16="http://schemas.microsoft.com/office/drawing/2014/main" id="{178A8118-9DBF-A84F-AD6D-C7FAD7412AAA}"/>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 name="Freeform 18">
              <a:extLst>
                <a:ext uri="{FF2B5EF4-FFF2-40B4-BE49-F238E27FC236}">
                  <a16:creationId xmlns:a16="http://schemas.microsoft.com/office/drawing/2014/main" id="{BA8AF098-1A7D-F148-B0F5-A93DA85F47CF}"/>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cxnSp>
        <p:nvCxnSpPr>
          <p:cNvPr id="287" name="Straight Connector 286">
            <a:extLst>
              <a:ext uri="{FF2B5EF4-FFF2-40B4-BE49-F238E27FC236}">
                <a16:creationId xmlns:a16="http://schemas.microsoft.com/office/drawing/2014/main" id="{5AC79F54-516B-0F43-889C-E933950743ED}"/>
              </a:ext>
            </a:extLst>
          </p:cNvPr>
          <p:cNvCxnSpPr>
            <a:cxnSpLocks/>
          </p:cNvCxnSpPr>
          <p:nvPr/>
        </p:nvCxnSpPr>
        <p:spPr>
          <a:xfrm>
            <a:off x="2851969" y="5355629"/>
            <a:ext cx="51290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8" name="Oval 287">
            <a:extLst>
              <a:ext uri="{FF2B5EF4-FFF2-40B4-BE49-F238E27FC236}">
                <a16:creationId xmlns:a16="http://schemas.microsoft.com/office/drawing/2014/main" id="{9B0A77CA-4FEB-3946-8911-0C53C7117A5F}"/>
              </a:ext>
            </a:extLst>
          </p:cNvPr>
          <p:cNvSpPr>
            <a:spLocks noChangeAspect="1" noChangeArrowheads="1"/>
          </p:cNvSpPr>
          <p:nvPr/>
        </p:nvSpPr>
        <p:spPr bwMode="auto">
          <a:xfrm>
            <a:off x="3244913" y="5297611"/>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325" name="TextBox 324">
            <a:extLst>
              <a:ext uri="{FF2B5EF4-FFF2-40B4-BE49-F238E27FC236}">
                <a16:creationId xmlns:a16="http://schemas.microsoft.com/office/drawing/2014/main" id="{EF89FA90-19FB-5047-82C3-9C1C939FB8C3}"/>
              </a:ext>
            </a:extLst>
          </p:cNvPr>
          <p:cNvSpPr txBox="1"/>
          <p:nvPr/>
        </p:nvSpPr>
        <p:spPr>
          <a:xfrm>
            <a:off x="2126937" y="5704054"/>
            <a:ext cx="345258" cy="338554"/>
          </a:xfrm>
          <a:prstGeom prst="rect">
            <a:avLst/>
          </a:prstGeom>
          <a:noFill/>
        </p:spPr>
        <p:txBody>
          <a:bodyPr wrap="square" rtlCol="0">
            <a:spAutoFit/>
          </a:bodyPr>
          <a:lstStyle/>
          <a:p>
            <a:r>
              <a:rPr lang="en-US" sz="1600" dirty="0"/>
              <a:t>L</a:t>
            </a:r>
          </a:p>
        </p:txBody>
      </p:sp>
      <p:sp>
        <p:nvSpPr>
          <p:cNvPr id="326" name="TextBox 325">
            <a:extLst>
              <a:ext uri="{FF2B5EF4-FFF2-40B4-BE49-F238E27FC236}">
                <a16:creationId xmlns:a16="http://schemas.microsoft.com/office/drawing/2014/main" id="{CEA66BF1-CF97-D04B-8A43-40FED2374C34}"/>
              </a:ext>
            </a:extLst>
          </p:cNvPr>
          <p:cNvSpPr txBox="1"/>
          <p:nvPr/>
        </p:nvSpPr>
        <p:spPr>
          <a:xfrm>
            <a:off x="2535369" y="5039590"/>
            <a:ext cx="345258" cy="338554"/>
          </a:xfrm>
          <a:prstGeom prst="rect">
            <a:avLst/>
          </a:prstGeom>
          <a:noFill/>
        </p:spPr>
        <p:txBody>
          <a:bodyPr wrap="square" rtlCol="0">
            <a:spAutoFit/>
          </a:bodyPr>
          <a:lstStyle/>
          <a:p>
            <a:r>
              <a:rPr lang="en-US" sz="1600" dirty="0"/>
              <a:t>M</a:t>
            </a:r>
          </a:p>
        </p:txBody>
      </p:sp>
      <p:sp>
        <p:nvSpPr>
          <p:cNvPr id="152" name="TextBox 151">
            <a:extLst>
              <a:ext uri="{FF2B5EF4-FFF2-40B4-BE49-F238E27FC236}">
                <a16:creationId xmlns:a16="http://schemas.microsoft.com/office/drawing/2014/main" id="{5477D691-6896-A14F-AE8C-FE532A7225C3}"/>
              </a:ext>
            </a:extLst>
          </p:cNvPr>
          <p:cNvSpPr txBox="1"/>
          <p:nvPr/>
        </p:nvSpPr>
        <p:spPr>
          <a:xfrm>
            <a:off x="657002" y="6424062"/>
            <a:ext cx="2938272" cy="369332"/>
          </a:xfrm>
          <a:prstGeom prst="rect">
            <a:avLst/>
          </a:prstGeom>
          <a:noFill/>
        </p:spPr>
        <p:txBody>
          <a:bodyPr wrap="square" rtlCol="0">
            <a:spAutoFit/>
          </a:bodyPr>
          <a:lstStyle/>
          <a:p>
            <a:r>
              <a:rPr lang="en-US" dirty="0"/>
              <a:t>Tuned circuit</a:t>
            </a:r>
          </a:p>
        </p:txBody>
      </p:sp>
    </p:spTree>
    <p:extLst>
      <p:ext uri="{BB962C8B-B14F-4D97-AF65-F5344CB8AC3E}">
        <p14:creationId xmlns:p14="http://schemas.microsoft.com/office/powerpoint/2010/main" val="11273805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69372" y="166554"/>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More on oscillation</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9582757" y="6465448"/>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55</a:t>
            </a:fld>
            <a:endParaRPr lang="en-US" dirty="0">
              <a:solidFill>
                <a:schemeClr val="tx1"/>
              </a:solidFil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1D6C4E5-95B3-8B40-8A25-9CE8DBFC2F52}"/>
                  </a:ext>
                </a:extLst>
              </p:cNvPr>
              <p:cNvSpPr txBox="1"/>
              <p:nvPr/>
            </p:nvSpPr>
            <p:spPr>
              <a:xfrm>
                <a:off x="498122" y="2203377"/>
                <a:ext cx="7840850" cy="3747329"/>
              </a:xfrm>
              <a:prstGeom prst="rect">
                <a:avLst/>
              </a:prstGeom>
              <a:noFill/>
            </p:spPr>
            <p:txBody>
              <a:bodyPr wrap="square" rtlCol="0">
                <a:noAutofit/>
              </a:bodyPr>
              <a:lstStyle/>
              <a:p>
                <a:pPr marL="285750" indent="-285750">
                  <a:buFont typeface="Arial" panose="020B0604020202020204" pitchFamily="34" charset="0"/>
                  <a:buChar char="•"/>
                </a:pPr>
                <a:r>
                  <a:rPr lang="en-US" sz="2000" b="0" dirty="0"/>
                  <a:t>For sine waves, </a:t>
                </a:r>
                <a14:m>
                  <m:oMath xmlns:m="http://schemas.openxmlformats.org/officeDocument/2006/math">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1</m:t>
                            </m:r>
                          </m:sub>
                        </m:sSub>
                      </m:e>
                    </m:d>
                    <m:r>
                      <a:rPr lang="en-US" sz="2000" b="0" i="1" smtClean="0">
                        <a:latin typeface="Cambria Math" panose="02040503050406030204" pitchFamily="18" charset="0"/>
                      </a:rPr>
                      <m:t>=1, </m:t>
                    </m:r>
                    <m:r>
                      <a:rPr lang="en-US" sz="2000" b="0" i="1" smtClean="0">
                        <a:latin typeface="Cambria Math" panose="02040503050406030204" pitchFamily="18" charset="0"/>
                      </a:rPr>
                      <m:t>𝐴𝐵</m:t>
                    </m:r>
                    <m:r>
                      <a:rPr lang="en-US" sz="2000" b="0" i="1" smtClean="0">
                        <a:latin typeface="Cambria Math" panose="02040503050406030204" pitchFamily="18" charset="0"/>
                        <a:ea typeface="Cambria Math" panose="02040503050406030204" pitchFamily="18" charset="0"/>
                      </a:rPr>
                      <m:t>&gt;1</m:t>
                    </m:r>
                  </m:oMath>
                </a14:m>
                <a:r>
                  <a:rPr lang="en-US" sz="2000" b="0" dirty="0"/>
                  <a:t> </a:t>
                </a:r>
              </a:p>
              <a:p>
                <a:pPr marL="285750" indent="-28575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r>
                      <a:rPr lang="en-US" sz="2000" b="0" i="1" smtClean="0">
                        <a:latin typeface="Cambria Math" panose="02040503050406030204" pitchFamily="18" charset="0"/>
                      </a:rPr>
                      <m:t>𝐴𝐵</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1</m:t>
                        </m:r>
                      </m:sub>
                    </m:sSub>
                  </m:oMath>
                </a14:m>
                <a:endParaRPr lang="en-US" sz="2000" dirty="0"/>
              </a:p>
              <a:p>
                <a:pPr marL="285750" indent="-285750">
                  <a:buFont typeface="Arial" panose="020B0604020202020204" pitchFamily="34" charset="0"/>
                  <a:buChar char="•"/>
                </a:pPr>
                <a:r>
                  <a:rPr lang="en-US" sz="2000" dirty="0"/>
                  <a:t>You can use the feedback networks on the previous slide for B</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Want hi Q for stability</a:t>
                </a:r>
              </a:p>
              <a:p>
                <a:pPr marL="285750" indent="-285750">
                  <a:buFont typeface="Arial" panose="020B0604020202020204" pitchFamily="34" charset="0"/>
                  <a:buChar char="•"/>
                </a:pP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𝑣</m:t>
                        </m:r>
                      </m:e>
                      <m:sub>
                        <m:r>
                          <a:rPr lang="en-US" sz="2000" i="1">
                            <a:latin typeface="Cambria Math" panose="02040503050406030204" pitchFamily="18" charset="0"/>
                          </a:rPr>
                          <m:t>𝑜</m:t>
                        </m:r>
                      </m:sub>
                    </m:sSub>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𝐴</m:t>
                        </m:r>
                      </m:num>
                      <m:den>
                        <m:r>
                          <a:rPr lang="en-US" sz="2000" i="1">
                            <a:latin typeface="Cambria Math" panose="02040503050406030204" pitchFamily="18" charset="0"/>
                          </a:rPr>
                          <m:t>1−</m:t>
                        </m:r>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𝑖</m:t>
                                </m:r>
                              </m:sub>
                            </m:sSub>
                            <m:r>
                              <a:rPr lang="en-US" sz="2000" i="1">
                                <a:latin typeface="Cambria Math" panose="02040503050406030204" pitchFamily="18" charset="0"/>
                              </a:rPr>
                              <m:t>𝐴</m:t>
                            </m:r>
                          </m:num>
                          <m:den>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𝑖</m:t>
                                </m:r>
                              </m:sub>
                            </m:sSub>
                            <m:r>
                              <a:rPr lang="en-US" sz="2000" i="1">
                                <a:latin typeface="Cambria Math" panose="02040503050406030204" pitchFamily="18" charset="0"/>
                              </a:rPr>
                              <m:t>+</m:t>
                            </m:r>
                            <m:r>
                              <a:rPr lang="en-US" sz="2000" i="1">
                                <a:latin typeface="Cambria Math" panose="02040503050406030204" pitchFamily="18" charset="0"/>
                              </a:rPr>
                              <m:t>𝑅</m:t>
                            </m:r>
                            <m:r>
                              <a:rPr lang="en-US" sz="2000" i="1">
                                <a:latin typeface="Cambria Math" panose="02040503050406030204" pitchFamily="18" charset="0"/>
                              </a:rPr>
                              <m:t>+</m:t>
                            </m:r>
                            <m:r>
                              <a:rPr lang="en-US" sz="2000" i="1">
                                <a:latin typeface="Cambria Math" panose="02040503050406030204" pitchFamily="18" charset="0"/>
                              </a:rPr>
                              <m:t>𝑗</m:t>
                            </m:r>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𝜔</m:t>
                            </m:r>
                            <m:r>
                              <a:rPr lang="en-US" sz="2000" i="1">
                                <a:latin typeface="Cambria Math" panose="02040503050406030204" pitchFamily="18" charset="0"/>
                                <a:ea typeface="Cambria Math" panose="02040503050406030204" pitchFamily="18" charset="0"/>
                              </a:rPr>
                              <m:t>𝐿</m:t>
                            </m:r>
                            <m:r>
                              <a:rPr lang="en-US" sz="2000" i="1">
                                <a:latin typeface="Cambria Math" panose="02040503050406030204" pitchFamily="18" charset="0"/>
                                <a:ea typeface="Cambria Math" panose="02040503050406030204" pitchFamily="18" charset="0"/>
                              </a:rPr>
                              <m:t>−</m:t>
                            </m:r>
                            <m:f>
                              <m:fPr>
                                <m:type m:val="skw"/>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m:t>
                                </m:r>
                              </m:num>
                              <m:den>
                                <m:r>
                                  <a:rPr lang="en-US" sz="2000" i="1">
                                    <a:latin typeface="Cambria Math" panose="02040503050406030204" pitchFamily="18" charset="0"/>
                                    <a:ea typeface="Cambria Math" panose="02040503050406030204" pitchFamily="18" charset="0"/>
                                  </a:rPr>
                                  <m:t>𝜔</m:t>
                                </m:r>
                                <m:r>
                                  <a:rPr lang="en-US" sz="2000" i="1">
                                    <a:latin typeface="Cambria Math" panose="02040503050406030204" pitchFamily="18" charset="0"/>
                                    <a:ea typeface="Cambria Math" panose="02040503050406030204" pitchFamily="18" charset="0"/>
                                  </a:rPr>
                                  <m:t>𝐶</m:t>
                                </m:r>
                              </m:den>
                            </m:f>
                            <m:r>
                              <a:rPr lang="en-US" sz="2000" i="1">
                                <a:latin typeface="Cambria Math" panose="02040503050406030204" pitchFamily="18" charset="0"/>
                                <a:ea typeface="Cambria Math" panose="02040503050406030204" pitchFamily="18" charset="0"/>
                              </a:rPr>
                              <m:t>)</m:t>
                            </m:r>
                          </m:den>
                        </m:f>
                      </m:den>
                    </m:f>
                    <m:sSub>
                      <m:sSubPr>
                        <m:ctrlPr>
                          <a:rPr lang="en-US" sz="2000" i="1">
                            <a:latin typeface="Cambria Math" panose="02040503050406030204" pitchFamily="18" charset="0"/>
                          </a:rPr>
                        </m:ctrlPr>
                      </m:sSubPr>
                      <m:e>
                        <m:r>
                          <a:rPr lang="en-US" sz="2000" i="1">
                            <a:latin typeface="Cambria Math" panose="02040503050406030204" pitchFamily="18" charset="0"/>
                          </a:rPr>
                          <m:t>𝑣</m:t>
                        </m:r>
                      </m:e>
                      <m:sub>
                        <m:r>
                          <a:rPr lang="en-US" sz="2000" i="1">
                            <a:latin typeface="Cambria Math" panose="02040503050406030204" pitchFamily="18" charset="0"/>
                          </a:rPr>
                          <m:t>𝑖</m:t>
                        </m:r>
                      </m:sub>
                    </m:sSub>
                  </m:oMath>
                </a14:m>
                <a:endParaRPr lang="en-US" sz="2000" dirty="0"/>
              </a:p>
              <a:p>
                <a:pPr marL="285750" indent="-285750">
                  <a:buFont typeface="Arial" panose="020B0604020202020204" pitchFamily="34" charset="0"/>
                  <a:buChar char="•"/>
                </a:pPr>
                <a14:m>
                  <m:oMath xmlns:m="http://schemas.openxmlformats.org/officeDocument/2006/math">
                    <m:r>
                      <a:rPr lang="en-US" sz="2000" i="1">
                        <a:latin typeface="Cambria Math" panose="02040503050406030204" pitchFamily="18" charset="0"/>
                      </a:rPr>
                      <m:t>𝑄</m:t>
                    </m:r>
                    <m:r>
                      <a:rPr lang="en-US" sz="2000" i="1">
                        <a:latin typeface="Cambria Math" panose="02040503050406030204" pitchFamily="18" charset="0"/>
                      </a:rPr>
                      <m:t>=</m:t>
                    </m:r>
                    <m:f>
                      <m:fPr>
                        <m:ctrlPr>
                          <a:rPr lang="en-US" sz="2000" i="1">
                            <a:latin typeface="Cambria Math" panose="02040503050406030204" pitchFamily="18" charset="0"/>
                          </a:rPr>
                        </m:ctrlPr>
                      </m:fPr>
                      <m:num>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rPr>
                              <m:t>0</m:t>
                            </m:r>
                          </m:sub>
                        </m:sSub>
                        <m:r>
                          <a:rPr lang="en-US" sz="2000" i="1">
                            <a:latin typeface="Cambria Math" panose="02040503050406030204" pitchFamily="18" charset="0"/>
                          </a:rPr>
                          <m:t>𝐿</m:t>
                        </m:r>
                      </m:num>
                      <m:den>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𝑖</m:t>
                            </m:r>
                          </m:sub>
                        </m:sSub>
                        <m:r>
                          <a:rPr lang="en-US" sz="2000" i="1">
                            <a:latin typeface="Cambria Math" panose="02040503050406030204" pitchFamily="18" charset="0"/>
                          </a:rPr>
                          <m:t>+</m:t>
                        </m:r>
                        <m:r>
                          <a:rPr lang="en-US" sz="2000" i="1">
                            <a:latin typeface="Cambria Math" panose="02040503050406030204" pitchFamily="18" charset="0"/>
                          </a:rPr>
                          <m:t>𝑅</m:t>
                        </m:r>
                      </m:den>
                    </m:f>
                  </m:oMath>
                </a14:m>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mc:Choice>
        <mc:Fallback xmlns="">
          <p:sp>
            <p:nvSpPr>
              <p:cNvPr id="2" name="TextBox 1">
                <a:extLst>
                  <a:ext uri="{FF2B5EF4-FFF2-40B4-BE49-F238E27FC236}">
                    <a16:creationId xmlns:a16="http://schemas.microsoft.com/office/drawing/2014/main" id="{01D6C4E5-95B3-8B40-8A25-9CE8DBFC2F52}"/>
                  </a:ext>
                </a:extLst>
              </p:cNvPr>
              <p:cNvSpPr txBox="1">
                <a:spLocks noRot="1" noChangeAspect="1" noMove="1" noResize="1" noEditPoints="1" noAdjustHandles="1" noChangeArrowheads="1" noChangeShapeType="1" noTextEdit="1"/>
              </p:cNvSpPr>
              <p:nvPr/>
            </p:nvSpPr>
            <p:spPr>
              <a:xfrm>
                <a:off x="498122" y="2203377"/>
                <a:ext cx="7840850" cy="3747329"/>
              </a:xfrm>
              <a:prstGeom prst="rect">
                <a:avLst/>
              </a:prstGeom>
              <a:blipFill>
                <a:blip r:embed="rId3"/>
                <a:stretch>
                  <a:fillRect l="-647" t="-1014"/>
                </a:stretch>
              </a:blipFill>
            </p:spPr>
            <p:txBody>
              <a:bodyPr/>
              <a:lstStyle/>
              <a:p>
                <a:r>
                  <a:rPr lang="en-US">
                    <a:noFill/>
                  </a:rPr>
                  <a:t> </a:t>
                </a:r>
              </a:p>
            </p:txBody>
          </p:sp>
        </mc:Fallback>
      </mc:AlternateContent>
      <p:grpSp>
        <p:nvGrpSpPr>
          <p:cNvPr id="9" name="Group 8">
            <a:extLst>
              <a:ext uri="{FF2B5EF4-FFF2-40B4-BE49-F238E27FC236}">
                <a16:creationId xmlns:a16="http://schemas.microsoft.com/office/drawing/2014/main" id="{D3433058-5B50-1F4E-A2AC-A350C29855FB}"/>
              </a:ext>
            </a:extLst>
          </p:cNvPr>
          <p:cNvGrpSpPr/>
          <p:nvPr/>
        </p:nvGrpSpPr>
        <p:grpSpPr>
          <a:xfrm>
            <a:off x="8983037" y="1036606"/>
            <a:ext cx="2710841" cy="1893497"/>
            <a:chOff x="9227683" y="2678119"/>
            <a:chExt cx="2710841" cy="1893497"/>
          </a:xfrm>
        </p:grpSpPr>
        <p:sp>
          <p:nvSpPr>
            <p:cNvPr id="117" name="Freeform 43">
              <a:extLst>
                <a:ext uri="{FF2B5EF4-FFF2-40B4-BE49-F238E27FC236}">
                  <a16:creationId xmlns:a16="http://schemas.microsoft.com/office/drawing/2014/main" id="{8EDA3DBA-303A-A644-AA62-49A9855D1A27}"/>
                </a:ext>
              </a:extLst>
            </p:cNvPr>
            <p:cNvSpPr>
              <a:spLocks/>
            </p:cNvSpPr>
            <p:nvPr/>
          </p:nvSpPr>
          <p:spPr bwMode="auto">
            <a:xfrm>
              <a:off x="9827403" y="2678119"/>
              <a:ext cx="789273" cy="986514"/>
            </a:xfrm>
            <a:custGeom>
              <a:avLst/>
              <a:gdLst>
                <a:gd name="T0" fmla="*/ 6120 w 432"/>
                <a:gd name="T1" fmla="*/ 779 h 768"/>
                <a:gd name="T2" fmla="*/ 0 w 432"/>
                <a:gd name="T3" fmla="*/ 1558 h 768"/>
                <a:gd name="T4" fmla="*/ 0 w 432"/>
                <a:gd name="T5" fmla="*/ 0 h 768"/>
                <a:gd name="T6" fmla="*/ 6120 w 432"/>
                <a:gd name="T7" fmla="*/ 779 h 768"/>
                <a:gd name="T8" fmla="*/ 0 60000 65536"/>
                <a:gd name="T9" fmla="*/ 0 60000 65536"/>
                <a:gd name="T10" fmla="*/ 0 60000 65536"/>
                <a:gd name="T11" fmla="*/ 0 60000 65536"/>
                <a:gd name="T12" fmla="*/ 0 w 432"/>
                <a:gd name="T13" fmla="*/ 0 h 768"/>
                <a:gd name="T14" fmla="*/ 432 w 432"/>
                <a:gd name="T15" fmla="*/ 768 h 768"/>
              </a:gdLst>
              <a:ahLst/>
              <a:cxnLst>
                <a:cxn ang="T8">
                  <a:pos x="T0" y="T1"/>
                </a:cxn>
                <a:cxn ang="T9">
                  <a:pos x="T2" y="T3"/>
                </a:cxn>
                <a:cxn ang="T10">
                  <a:pos x="T4" y="T5"/>
                </a:cxn>
                <a:cxn ang="T11">
                  <a:pos x="T6" y="T7"/>
                </a:cxn>
              </a:cxnLst>
              <a:rect l="T12" t="T13" r="T14" b="T15"/>
              <a:pathLst>
                <a:path w="432" h="768">
                  <a:moveTo>
                    <a:pt x="432" y="384"/>
                  </a:moveTo>
                  <a:lnTo>
                    <a:pt x="0" y="768"/>
                  </a:lnTo>
                  <a:lnTo>
                    <a:pt x="0" y="0"/>
                  </a:lnTo>
                  <a:lnTo>
                    <a:pt x="432" y="38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grpSp>
          <p:nvGrpSpPr>
            <p:cNvPr id="154" name="Group 13">
              <a:extLst>
                <a:ext uri="{FF2B5EF4-FFF2-40B4-BE49-F238E27FC236}">
                  <a16:creationId xmlns:a16="http://schemas.microsoft.com/office/drawing/2014/main" id="{CEA9266D-062C-B64C-874B-5517117ADE8F}"/>
                </a:ext>
              </a:extLst>
            </p:cNvPr>
            <p:cNvGrpSpPr>
              <a:grpSpLocks noChangeAspect="1"/>
            </p:cNvGrpSpPr>
            <p:nvPr/>
          </p:nvGrpSpPr>
          <p:grpSpPr bwMode="auto">
            <a:xfrm>
              <a:off x="11642900" y="3093132"/>
              <a:ext cx="152400" cy="152400"/>
              <a:chOff x="1344" y="2064"/>
              <a:chExt cx="192" cy="192"/>
            </a:xfrm>
          </p:grpSpPr>
          <p:sp>
            <p:nvSpPr>
              <p:cNvPr id="186" name="Oval 14">
                <a:extLst>
                  <a:ext uri="{FF2B5EF4-FFF2-40B4-BE49-F238E27FC236}">
                    <a16:creationId xmlns:a16="http://schemas.microsoft.com/office/drawing/2014/main" id="{22F3A559-78E9-1B43-BB96-68D74F7CC146}"/>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87" name="Rectangle 15">
                <a:extLst>
                  <a:ext uri="{FF2B5EF4-FFF2-40B4-BE49-F238E27FC236}">
                    <a16:creationId xmlns:a16="http://schemas.microsoft.com/office/drawing/2014/main" id="{BC6F730F-47A3-2A48-878E-61E75F9BA9C0}"/>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5" name="Rectangle 4">
              <a:extLst>
                <a:ext uri="{FF2B5EF4-FFF2-40B4-BE49-F238E27FC236}">
                  <a16:creationId xmlns:a16="http://schemas.microsoft.com/office/drawing/2014/main" id="{E2745A86-330C-1544-8C51-33099C6FE236}"/>
                </a:ext>
              </a:extLst>
            </p:cNvPr>
            <p:cNvSpPr/>
            <p:nvPr/>
          </p:nvSpPr>
          <p:spPr>
            <a:xfrm>
              <a:off x="9681216" y="3977762"/>
              <a:ext cx="1181416" cy="593854"/>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1A435C7-C08A-AF4D-B209-4A0D52D67800}"/>
                </a:ext>
              </a:extLst>
            </p:cNvPr>
            <p:cNvSpPr txBox="1"/>
            <p:nvPr/>
          </p:nvSpPr>
          <p:spPr>
            <a:xfrm>
              <a:off x="9915181" y="2953193"/>
              <a:ext cx="341523" cy="372626"/>
            </a:xfrm>
            <a:prstGeom prst="rect">
              <a:avLst/>
            </a:prstGeom>
            <a:noFill/>
          </p:spPr>
          <p:txBody>
            <a:bodyPr wrap="square" rtlCol="0">
              <a:spAutoFit/>
            </a:bodyPr>
            <a:lstStyle/>
            <a:p>
              <a:r>
                <a:rPr lang="en-US" dirty="0"/>
                <a:t>A</a:t>
              </a:r>
            </a:p>
          </p:txBody>
        </p:sp>
        <p:sp>
          <p:nvSpPr>
            <p:cNvPr id="188" name="TextBox 187">
              <a:extLst>
                <a:ext uri="{FF2B5EF4-FFF2-40B4-BE49-F238E27FC236}">
                  <a16:creationId xmlns:a16="http://schemas.microsoft.com/office/drawing/2014/main" id="{49908BC8-5012-AA42-84F7-8CEF01D0FC8B}"/>
                </a:ext>
              </a:extLst>
            </p:cNvPr>
            <p:cNvSpPr txBox="1"/>
            <p:nvPr/>
          </p:nvSpPr>
          <p:spPr>
            <a:xfrm>
              <a:off x="10023513" y="4064060"/>
              <a:ext cx="341523" cy="372626"/>
            </a:xfrm>
            <a:prstGeom prst="rect">
              <a:avLst/>
            </a:prstGeom>
            <a:noFill/>
          </p:spPr>
          <p:txBody>
            <a:bodyPr wrap="square" rtlCol="0">
              <a:spAutoFit/>
            </a:bodyPr>
            <a:lstStyle/>
            <a:p>
              <a:r>
                <a:rPr lang="en-US" dirty="0"/>
                <a:t>B</a:t>
              </a:r>
            </a:p>
          </p:txBody>
        </p:sp>
        <p:cxnSp>
          <p:nvCxnSpPr>
            <p:cNvPr id="10" name="Straight Arrow Connector 9">
              <a:extLst>
                <a:ext uri="{FF2B5EF4-FFF2-40B4-BE49-F238E27FC236}">
                  <a16:creationId xmlns:a16="http://schemas.microsoft.com/office/drawing/2014/main" id="{407864D3-8BB0-614B-8D7E-72F36EF4AF3C}"/>
                </a:ext>
              </a:extLst>
            </p:cNvPr>
            <p:cNvCxnSpPr/>
            <p:nvPr/>
          </p:nvCxnSpPr>
          <p:spPr>
            <a:xfrm>
              <a:off x="10596598" y="3168288"/>
              <a:ext cx="1097280" cy="0"/>
            </a:xfrm>
            <a:prstGeom prst="straightConnector1">
              <a:avLst/>
            </a:prstGeom>
            <a:ln w="254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DD7B2CEA-85E8-2E4A-B309-BBC98E6F579D}"/>
                </a:ext>
              </a:extLst>
            </p:cNvPr>
            <p:cNvCxnSpPr>
              <a:cxnSpLocks/>
            </p:cNvCxnSpPr>
            <p:nvPr/>
          </p:nvCxnSpPr>
          <p:spPr>
            <a:xfrm flipH="1" flipV="1">
              <a:off x="9230362" y="3151010"/>
              <a:ext cx="0" cy="1060704"/>
            </a:xfrm>
            <a:prstGeom prst="straightConnector1">
              <a:avLst/>
            </a:prstGeom>
            <a:ln w="254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90" name="Straight Arrow Connector 189">
              <a:extLst>
                <a:ext uri="{FF2B5EF4-FFF2-40B4-BE49-F238E27FC236}">
                  <a16:creationId xmlns:a16="http://schemas.microsoft.com/office/drawing/2014/main" id="{BB1E4A9A-7309-4247-B839-B0367E9628EC}"/>
                </a:ext>
              </a:extLst>
            </p:cNvPr>
            <p:cNvCxnSpPr>
              <a:cxnSpLocks/>
            </p:cNvCxnSpPr>
            <p:nvPr/>
          </p:nvCxnSpPr>
          <p:spPr>
            <a:xfrm>
              <a:off x="9227683" y="3168817"/>
              <a:ext cx="572722" cy="0"/>
            </a:xfrm>
            <a:prstGeom prst="straightConnector1">
              <a:avLst/>
            </a:prstGeom>
            <a:ln w="254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A4FCC9E4-43BE-514C-A712-AD0AA474144E}"/>
                </a:ext>
              </a:extLst>
            </p:cNvPr>
            <p:cNvCxnSpPr>
              <a:cxnSpLocks/>
            </p:cNvCxnSpPr>
            <p:nvPr/>
          </p:nvCxnSpPr>
          <p:spPr>
            <a:xfrm flipH="1">
              <a:off x="9235384" y="4198097"/>
              <a:ext cx="445832" cy="0"/>
            </a:xfrm>
            <a:prstGeom prst="straightConnector1">
              <a:avLst/>
            </a:prstGeom>
            <a:ln w="254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92" name="Straight Arrow Connector 191">
              <a:extLst>
                <a:ext uri="{FF2B5EF4-FFF2-40B4-BE49-F238E27FC236}">
                  <a16:creationId xmlns:a16="http://schemas.microsoft.com/office/drawing/2014/main" id="{BF771587-DCD7-4549-B40C-D303793A5224}"/>
                </a:ext>
              </a:extLst>
            </p:cNvPr>
            <p:cNvCxnSpPr>
              <a:cxnSpLocks/>
            </p:cNvCxnSpPr>
            <p:nvPr/>
          </p:nvCxnSpPr>
          <p:spPr>
            <a:xfrm>
              <a:off x="11400584" y="3151010"/>
              <a:ext cx="0" cy="1146240"/>
            </a:xfrm>
            <a:prstGeom prst="straightConnector1">
              <a:avLst/>
            </a:prstGeom>
            <a:ln w="254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93" name="Straight Arrow Connector 192">
              <a:extLst>
                <a:ext uri="{FF2B5EF4-FFF2-40B4-BE49-F238E27FC236}">
                  <a16:creationId xmlns:a16="http://schemas.microsoft.com/office/drawing/2014/main" id="{0E3F43A3-7677-F24D-80BB-20F6BCC3B5CA}"/>
                </a:ext>
              </a:extLst>
            </p:cNvPr>
            <p:cNvCxnSpPr>
              <a:cxnSpLocks/>
            </p:cNvCxnSpPr>
            <p:nvPr/>
          </p:nvCxnSpPr>
          <p:spPr>
            <a:xfrm flipH="1">
              <a:off x="10848446" y="4286812"/>
              <a:ext cx="552138" cy="0"/>
            </a:xfrm>
            <a:prstGeom prst="straightConnector1">
              <a:avLst/>
            </a:prstGeom>
            <a:ln w="254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356A60BF-BE48-9A43-9895-FBA7E0D8069D}"/>
                </a:ext>
              </a:extLst>
            </p:cNvPr>
            <p:cNvSpPr txBox="1"/>
            <p:nvPr/>
          </p:nvSpPr>
          <p:spPr>
            <a:xfrm>
              <a:off x="11501609" y="2788289"/>
              <a:ext cx="436915" cy="369332"/>
            </a:xfrm>
            <a:prstGeom prst="rect">
              <a:avLst/>
            </a:prstGeom>
            <a:noFill/>
          </p:spPr>
          <p:txBody>
            <a:bodyPr wrap="square" rtlCol="0">
              <a:spAutoFit/>
            </a:bodyPr>
            <a:lstStyle/>
            <a:p>
              <a:r>
                <a:rPr lang="en-US" dirty="0"/>
                <a:t>v</a:t>
              </a:r>
              <a:r>
                <a:rPr lang="en-US" baseline="-25000" dirty="0"/>
                <a:t>1</a:t>
              </a:r>
            </a:p>
          </p:txBody>
        </p:sp>
      </p:grpSp>
      <p:grpSp>
        <p:nvGrpSpPr>
          <p:cNvPr id="30" name="Group 29">
            <a:extLst>
              <a:ext uri="{FF2B5EF4-FFF2-40B4-BE49-F238E27FC236}">
                <a16:creationId xmlns:a16="http://schemas.microsoft.com/office/drawing/2014/main" id="{1D35A345-D6B2-B043-8815-788D82C36797}"/>
              </a:ext>
            </a:extLst>
          </p:cNvPr>
          <p:cNvGrpSpPr/>
          <p:nvPr/>
        </p:nvGrpSpPr>
        <p:grpSpPr>
          <a:xfrm>
            <a:off x="8230990" y="3694598"/>
            <a:ext cx="3367773" cy="2016626"/>
            <a:chOff x="2969491" y="3545181"/>
            <a:chExt cx="3367773" cy="2016626"/>
          </a:xfrm>
        </p:grpSpPr>
        <p:grpSp>
          <p:nvGrpSpPr>
            <p:cNvPr id="31" name="Group 210">
              <a:extLst>
                <a:ext uri="{FF2B5EF4-FFF2-40B4-BE49-F238E27FC236}">
                  <a16:creationId xmlns:a16="http://schemas.microsoft.com/office/drawing/2014/main" id="{FF918263-7242-9F45-A207-6F4194D05104}"/>
                </a:ext>
              </a:extLst>
            </p:cNvPr>
            <p:cNvGrpSpPr>
              <a:grpSpLocks/>
            </p:cNvGrpSpPr>
            <p:nvPr/>
          </p:nvGrpSpPr>
          <p:grpSpPr bwMode="auto">
            <a:xfrm rot="5400000">
              <a:off x="5114443" y="3696395"/>
              <a:ext cx="304800" cy="762000"/>
              <a:chOff x="3216" y="1728"/>
              <a:chExt cx="192" cy="480"/>
            </a:xfrm>
          </p:grpSpPr>
          <p:sp>
            <p:nvSpPr>
              <p:cNvPr id="75" name="Line 8">
                <a:extLst>
                  <a:ext uri="{FF2B5EF4-FFF2-40B4-BE49-F238E27FC236}">
                    <a16:creationId xmlns:a16="http://schemas.microsoft.com/office/drawing/2014/main" id="{55030D62-6C36-354E-9260-723B9C5E377F}"/>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 name="Line 9">
                <a:extLst>
                  <a:ext uri="{FF2B5EF4-FFF2-40B4-BE49-F238E27FC236}">
                    <a16:creationId xmlns:a16="http://schemas.microsoft.com/office/drawing/2014/main" id="{CB1B3F4A-6EC7-C247-B0BD-24E6C506E85A}"/>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 name="Line 10">
                <a:extLst>
                  <a:ext uri="{FF2B5EF4-FFF2-40B4-BE49-F238E27FC236}">
                    <a16:creationId xmlns:a16="http://schemas.microsoft.com/office/drawing/2014/main" id="{A7D8E2AA-D1E6-134F-BFC4-AE76A10EFE3B}"/>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 name="Line 11">
                <a:extLst>
                  <a:ext uri="{FF2B5EF4-FFF2-40B4-BE49-F238E27FC236}">
                    <a16:creationId xmlns:a16="http://schemas.microsoft.com/office/drawing/2014/main" id="{4EC929A8-CDAD-814B-8709-7C07C1AA390F}"/>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2" name="Freeform 12">
              <a:extLst>
                <a:ext uri="{FF2B5EF4-FFF2-40B4-BE49-F238E27FC236}">
                  <a16:creationId xmlns:a16="http://schemas.microsoft.com/office/drawing/2014/main" id="{D23AF698-A440-D643-BDFF-2A941AD71DF4}"/>
                </a:ext>
              </a:extLst>
            </p:cNvPr>
            <p:cNvSpPr>
              <a:spLocks noChangeAspect="1"/>
            </p:cNvSpPr>
            <p:nvPr/>
          </p:nvSpPr>
          <p:spPr bwMode="auto">
            <a:xfrm>
              <a:off x="3354198" y="4571207"/>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33" name="Group 220">
              <a:extLst>
                <a:ext uri="{FF2B5EF4-FFF2-40B4-BE49-F238E27FC236}">
                  <a16:creationId xmlns:a16="http://schemas.microsoft.com/office/drawing/2014/main" id="{532B1B58-1447-2C40-B0C2-BF1B1B028267}"/>
                </a:ext>
              </a:extLst>
            </p:cNvPr>
            <p:cNvGrpSpPr>
              <a:grpSpLocks/>
            </p:cNvGrpSpPr>
            <p:nvPr/>
          </p:nvGrpSpPr>
          <p:grpSpPr bwMode="auto">
            <a:xfrm>
              <a:off x="3353806" y="5257007"/>
              <a:ext cx="152400" cy="304800"/>
              <a:chOff x="3264" y="3072"/>
              <a:chExt cx="96" cy="192"/>
            </a:xfrm>
          </p:grpSpPr>
          <p:sp>
            <p:nvSpPr>
              <p:cNvPr id="73" name="Line 17">
                <a:extLst>
                  <a:ext uri="{FF2B5EF4-FFF2-40B4-BE49-F238E27FC236}">
                    <a16:creationId xmlns:a16="http://schemas.microsoft.com/office/drawing/2014/main" id="{857D11D3-7337-BF4B-AB22-0CDA413AF08E}"/>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 name="Freeform 18">
                <a:extLst>
                  <a:ext uri="{FF2B5EF4-FFF2-40B4-BE49-F238E27FC236}">
                    <a16:creationId xmlns:a16="http://schemas.microsoft.com/office/drawing/2014/main" id="{DEC4922F-887B-3A4F-AC58-5600C7CA627A}"/>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4" name="Group 209">
              <a:extLst>
                <a:ext uri="{FF2B5EF4-FFF2-40B4-BE49-F238E27FC236}">
                  <a16:creationId xmlns:a16="http://schemas.microsoft.com/office/drawing/2014/main" id="{751965D4-5E50-AA40-9AE3-3F9AC34266D5}"/>
                </a:ext>
              </a:extLst>
            </p:cNvPr>
            <p:cNvGrpSpPr>
              <a:grpSpLocks/>
            </p:cNvGrpSpPr>
            <p:nvPr/>
          </p:nvGrpSpPr>
          <p:grpSpPr bwMode="auto">
            <a:xfrm rot="5400000">
              <a:off x="4496808" y="3696992"/>
              <a:ext cx="152400" cy="762000"/>
              <a:chOff x="3935" y="1728"/>
              <a:chExt cx="96" cy="480"/>
            </a:xfrm>
          </p:grpSpPr>
          <p:sp>
            <p:nvSpPr>
              <p:cNvPr id="59" name="Arc 59">
                <a:extLst>
                  <a:ext uri="{FF2B5EF4-FFF2-40B4-BE49-F238E27FC236}">
                    <a16:creationId xmlns:a16="http://schemas.microsoft.com/office/drawing/2014/main" id="{863DE6BB-8CBD-A849-A779-52D63D4D6354}"/>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0" name="Arc 60">
                <a:extLst>
                  <a:ext uri="{FF2B5EF4-FFF2-40B4-BE49-F238E27FC236}">
                    <a16:creationId xmlns:a16="http://schemas.microsoft.com/office/drawing/2014/main" id="{76C569D1-87D6-AF4E-9566-F45BC9E4CE4A}"/>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 name="Arc 61">
                <a:extLst>
                  <a:ext uri="{FF2B5EF4-FFF2-40B4-BE49-F238E27FC236}">
                    <a16:creationId xmlns:a16="http://schemas.microsoft.com/office/drawing/2014/main" id="{D5CE1CCB-CF1D-044B-8B9E-A35D72409723}"/>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3" name="Arc 62">
                <a:extLst>
                  <a:ext uri="{FF2B5EF4-FFF2-40B4-BE49-F238E27FC236}">
                    <a16:creationId xmlns:a16="http://schemas.microsoft.com/office/drawing/2014/main" id="{5079ABAC-6A57-214A-B718-7297B8800E15}"/>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4" name="Line 63">
                <a:extLst>
                  <a:ext uri="{FF2B5EF4-FFF2-40B4-BE49-F238E27FC236}">
                    <a16:creationId xmlns:a16="http://schemas.microsoft.com/office/drawing/2014/main" id="{A4B0C5C2-F0E0-F84E-8AED-02027A3970DE}"/>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 name="Line 64">
                <a:extLst>
                  <a:ext uri="{FF2B5EF4-FFF2-40B4-BE49-F238E27FC236}">
                    <a16:creationId xmlns:a16="http://schemas.microsoft.com/office/drawing/2014/main" id="{6808EECB-E9C4-964F-9232-C297348785F7}"/>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 name="Arc 65">
                <a:extLst>
                  <a:ext uri="{FF2B5EF4-FFF2-40B4-BE49-F238E27FC236}">
                    <a16:creationId xmlns:a16="http://schemas.microsoft.com/office/drawing/2014/main" id="{3E3E6E56-D530-0840-A8F8-D886AAD1C2AD}"/>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7" name="Arc 66">
                <a:extLst>
                  <a:ext uri="{FF2B5EF4-FFF2-40B4-BE49-F238E27FC236}">
                    <a16:creationId xmlns:a16="http://schemas.microsoft.com/office/drawing/2014/main" id="{519A980C-FB42-0C47-82B3-613796B61AFB}"/>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8" name="Arc 67">
                <a:extLst>
                  <a:ext uri="{FF2B5EF4-FFF2-40B4-BE49-F238E27FC236}">
                    <a16:creationId xmlns:a16="http://schemas.microsoft.com/office/drawing/2014/main" id="{144873E9-D45D-2042-A2BC-F21D6346F089}"/>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9" name="Arc 68">
                <a:extLst>
                  <a:ext uri="{FF2B5EF4-FFF2-40B4-BE49-F238E27FC236}">
                    <a16:creationId xmlns:a16="http://schemas.microsoft.com/office/drawing/2014/main" id="{8A10175D-B97B-FF40-B8E1-8BFA00DDF421}"/>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0" name="Arc 69">
                <a:extLst>
                  <a:ext uri="{FF2B5EF4-FFF2-40B4-BE49-F238E27FC236}">
                    <a16:creationId xmlns:a16="http://schemas.microsoft.com/office/drawing/2014/main" id="{FE64D9FF-880A-D640-995E-2F0B6F2B2C33}"/>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1" name="Arc 70">
                <a:extLst>
                  <a:ext uri="{FF2B5EF4-FFF2-40B4-BE49-F238E27FC236}">
                    <a16:creationId xmlns:a16="http://schemas.microsoft.com/office/drawing/2014/main" id="{7B57B3B0-C7B3-F141-879B-AE8AA248DC65}"/>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2" name="Arc 71">
                <a:extLst>
                  <a:ext uri="{FF2B5EF4-FFF2-40B4-BE49-F238E27FC236}">
                    <a16:creationId xmlns:a16="http://schemas.microsoft.com/office/drawing/2014/main" id="{7C4B409D-0DD1-5146-B23A-38871A6EF0A4}"/>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35" name="Group 207">
              <a:extLst>
                <a:ext uri="{FF2B5EF4-FFF2-40B4-BE49-F238E27FC236}">
                  <a16:creationId xmlns:a16="http://schemas.microsoft.com/office/drawing/2014/main" id="{9C27009E-74F2-F44F-920C-1AA911D776E9}"/>
                </a:ext>
              </a:extLst>
            </p:cNvPr>
            <p:cNvGrpSpPr>
              <a:grpSpLocks/>
            </p:cNvGrpSpPr>
            <p:nvPr/>
          </p:nvGrpSpPr>
          <p:grpSpPr bwMode="auto">
            <a:xfrm rot="5400000">
              <a:off x="3649179" y="4205287"/>
              <a:ext cx="304800" cy="762000"/>
              <a:chOff x="4560" y="2400"/>
              <a:chExt cx="192" cy="480"/>
            </a:xfrm>
          </p:grpSpPr>
          <p:sp>
            <p:nvSpPr>
              <p:cNvPr id="53" name="Oval 111">
                <a:extLst>
                  <a:ext uri="{FF2B5EF4-FFF2-40B4-BE49-F238E27FC236}">
                    <a16:creationId xmlns:a16="http://schemas.microsoft.com/office/drawing/2014/main" id="{5CE379A3-CBB2-F946-A94D-7FF302603AA9}"/>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54" name="Line 112">
                <a:extLst>
                  <a:ext uri="{FF2B5EF4-FFF2-40B4-BE49-F238E27FC236}">
                    <a16:creationId xmlns:a16="http://schemas.microsoft.com/office/drawing/2014/main" id="{D711007C-A72F-564A-8C66-1B5AA45CF57E}"/>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 name="Line 113">
                <a:extLst>
                  <a:ext uri="{FF2B5EF4-FFF2-40B4-BE49-F238E27FC236}">
                    <a16:creationId xmlns:a16="http://schemas.microsoft.com/office/drawing/2014/main" id="{D1E7FB6C-9380-FC45-B7BD-D02BDB188A5C}"/>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6" name="Group 117">
                <a:extLst>
                  <a:ext uri="{FF2B5EF4-FFF2-40B4-BE49-F238E27FC236}">
                    <a16:creationId xmlns:a16="http://schemas.microsoft.com/office/drawing/2014/main" id="{8148F304-6C52-5947-8F87-9CFB056192C6}"/>
                  </a:ext>
                </a:extLst>
              </p:cNvPr>
              <p:cNvGrpSpPr>
                <a:grpSpLocks noChangeAspect="1"/>
              </p:cNvGrpSpPr>
              <p:nvPr/>
            </p:nvGrpSpPr>
            <p:grpSpPr bwMode="auto">
              <a:xfrm>
                <a:off x="4608" y="2592"/>
                <a:ext cx="96" cy="96"/>
                <a:chOff x="2929" y="3217"/>
                <a:chExt cx="383" cy="191"/>
              </a:xfrm>
            </p:grpSpPr>
            <p:sp>
              <p:nvSpPr>
                <p:cNvPr id="57" name="Arc 118">
                  <a:extLst>
                    <a:ext uri="{FF2B5EF4-FFF2-40B4-BE49-F238E27FC236}">
                      <a16:creationId xmlns:a16="http://schemas.microsoft.com/office/drawing/2014/main" id="{E64B752A-A3BB-8A4F-A9E7-7810A04DDF12}"/>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8" name="Arc 119">
                  <a:extLst>
                    <a:ext uri="{FF2B5EF4-FFF2-40B4-BE49-F238E27FC236}">
                      <a16:creationId xmlns:a16="http://schemas.microsoft.com/office/drawing/2014/main" id="{E046C2F5-D78A-264D-BCA7-E7D373ADE046}"/>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grpSp>
          <p:nvGrpSpPr>
            <p:cNvPr id="36" name="Group 864">
              <a:extLst>
                <a:ext uri="{FF2B5EF4-FFF2-40B4-BE49-F238E27FC236}">
                  <a16:creationId xmlns:a16="http://schemas.microsoft.com/office/drawing/2014/main" id="{C04708B7-C18F-2B40-8931-00CA7631FD4C}"/>
                </a:ext>
              </a:extLst>
            </p:cNvPr>
            <p:cNvGrpSpPr>
              <a:grpSpLocks/>
            </p:cNvGrpSpPr>
            <p:nvPr/>
          </p:nvGrpSpPr>
          <p:grpSpPr bwMode="auto">
            <a:xfrm>
              <a:off x="3962711" y="4219575"/>
              <a:ext cx="914400" cy="733425"/>
              <a:chOff x="1843" y="1698"/>
              <a:chExt cx="576" cy="462"/>
            </a:xfrm>
          </p:grpSpPr>
          <p:grpSp>
            <p:nvGrpSpPr>
              <p:cNvPr id="48" name="Group 60">
                <a:extLst>
                  <a:ext uri="{FF2B5EF4-FFF2-40B4-BE49-F238E27FC236}">
                    <a16:creationId xmlns:a16="http://schemas.microsoft.com/office/drawing/2014/main" id="{D2288A27-97EB-F745-9E05-FF8097B4D61A}"/>
                  </a:ext>
                </a:extLst>
              </p:cNvPr>
              <p:cNvGrpSpPr>
                <a:grpSpLocks/>
              </p:cNvGrpSpPr>
              <p:nvPr/>
            </p:nvGrpSpPr>
            <p:grpSpPr bwMode="auto">
              <a:xfrm>
                <a:off x="1843" y="1698"/>
                <a:ext cx="576" cy="461"/>
                <a:chOff x="3456" y="3427"/>
                <a:chExt cx="576" cy="461"/>
              </a:xfrm>
            </p:grpSpPr>
            <p:sp>
              <p:nvSpPr>
                <p:cNvPr id="51" name="Line 55">
                  <a:extLst>
                    <a:ext uri="{FF2B5EF4-FFF2-40B4-BE49-F238E27FC236}">
                      <a16:creationId xmlns:a16="http://schemas.microsoft.com/office/drawing/2014/main" id="{23EE5FB4-EE5B-4C40-9C06-5373F362E92F}"/>
                    </a:ext>
                  </a:extLst>
                </p:cNvPr>
                <p:cNvSpPr>
                  <a:spLocks noChangeShapeType="1"/>
                </p:cNvSpPr>
                <p:nvPr/>
              </p:nvSpPr>
              <p:spPr bwMode="auto">
                <a:xfrm>
                  <a:off x="3456" y="3658"/>
                  <a:ext cx="57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 name="AutoShape 56">
                  <a:extLst>
                    <a:ext uri="{FF2B5EF4-FFF2-40B4-BE49-F238E27FC236}">
                      <a16:creationId xmlns:a16="http://schemas.microsoft.com/office/drawing/2014/main" id="{4D222091-0FBF-2247-997D-3DEF2407A7D8}"/>
                    </a:ext>
                  </a:extLst>
                </p:cNvPr>
                <p:cNvSpPr>
                  <a:spLocks noChangeArrowheads="1"/>
                </p:cNvSpPr>
                <p:nvPr/>
              </p:nvSpPr>
              <p:spPr bwMode="auto">
                <a:xfrm rot="5400000">
                  <a:off x="3525" y="3497"/>
                  <a:ext cx="461" cy="322"/>
                </a:xfrm>
                <a:prstGeom prst="triangle">
                  <a:avLst>
                    <a:gd name="adj" fmla="val 50000"/>
                  </a:avLst>
                </a:prstGeom>
                <a:solidFill>
                  <a:schemeClr val="bg1"/>
                </a:solidFill>
                <a:ln w="19050">
                  <a:solidFill>
                    <a:schemeClr val="tx1"/>
                  </a:solidFill>
                  <a:miter lim="800000"/>
                  <a:headEnd/>
                  <a:tailEnd/>
                </a:ln>
              </p:spPr>
              <p:txBody>
                <a:bodyPr rot="10800000" vert="eaVert"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49" name="Freeform 863">
                <a:extLst>
                  <a:ext uri="{FF2B5EF4-FFF2-40B4-BE49-F238E27FC236}">
                    <a16:creationId xmlns:a16="http://schemas.microsoft.com/office/drawing/2014/main" id="{0D694127-54ED-434C-8CA2-2FBFAFBC572D}"/>
                  </a:ext>
                </a:extLst>
              </p:cNvPr>
              <p:cNvSpPr>
                <a:spLocks/>
              </p:cNvSpPr>
              <p:nvPr/>
            </p:nvSpPr>
            <p:spPr bwMode="auto">
              <a:xfrm>
                <a:off x="1843" y="1699"/>
                <a:ext cx="576" cy="461"/>
              </a:xfrm>
              <a:custGeom>
                <a:avLst/>
                <a:gdLst>
                  <a:gd name="T0" fmla="*/ 0 w 576"/>
                  <a:gd name="T1" fmla="*/ 231 h 461"/>
                  <a:gd name="T2" fmla="*/ 115 w 576"/>
                  <a:gd name="T3" fmla="*/ 461 h 461"/>
                  <a:gd name="T4" fmla="*/ 576 w 576"/>
                  <a:gd name="T5" fmla="*/ 231 h 461"/>
                  <a:gd name="T6" fmla="*/ 115 w 576"/>
                  <a:gd name="T7" fmla="*/ 0 h 461"/>
                  <a:gd name="T8" fmla="*/ 0 w 576"/>
                  <a:gd name="T9" fmla="*/ 231 h 461"/>
                  <a:gd name="T10" fmla="*/ 0 60000 65536"/>
                  <a:gd name="T11" fmla="*/ 0 60000 65536"/>
                  <a:gd name="T12" fmla="*/ 0 60000 65536"/>
                  <a:gd name="T13" fmla="*/ 0 60000 65536"/>
                  <a:gd name="T14" fmla="*/ 0 60000 65536"/>
                  <a:gd name="T15" fmla="*/ 0 w 576"/>
                  <a:gd name="T16" fmla="*/ 0 h 461"/>
                  <a:gd name="T17" fmla="*/ 576 w 576"/>
                  <a:gd name="T18" fmla="*/ 461 h 461"/>
                </a:gdLst>
                <a:ahLst/>
                <a:cxnLst>
                  <a:cxn ang="T10">
                    <a:pos x="T0" y="T1"/>
                  </a:cxn>
                  <a:cxn ang="T11">
                    <a:pos x="T2" y="T3"/>
                  </a:cxn>
                  <a:cxn ang="T12">
                    <a:pos x="T4" y="T5"/>
                  </a:cxn>
                  <a:cxn ang="T13">
                    <a:pos x="T6" y="T7"/>
                  </a:cxn>
                  <a:cxn ang="T14">
                    <a:pos x="T8" y="T9"/>
                  </a:cxn>
                </a:cxnLst>
                <a:rect l="T15" t="T16" r="T17" b="T18"/>
                <a:pathLst>
                  <a:path w="576" h="461">
                    <a:moveTo>
                      <a:pt x="0" y="231"/>
                    </a:moveTo>
                    <a:lnTo>
                      <a:pt x="115" y="461"/>
                    </a:lnTo>
                    <a:lnTo>
                      <a:pt x="576" y="231"/>
                    </a:lnTo>
                    <a:lnTo>
                      <a:pt x="115" y="0"/>
                    </a:lnTo>
                    <a:lnTo>
                      <a:pt x="0" y="231"/>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sp>
          <p:nvSpPr>
            <p:cNvPr id="37" name="Freeform 12">
              <a:extLst>
                <a:ext uri="{FF2B5EF4-FFF2-40B4-BE49-F238E27FC236}">
                  <a16:creationId xmlns:a16="http://schemas.microsoft.com/office/drawing/2014/main" id="{D0E15ED0-C848-7248-B859-C0A10E90A271}"/>
                </a:ext>
              </a:extLst>
            </p:cNvPr>
            <p:cNvSpPr>
              <a:spLocks noChangeAspect="1"/>
            </p:cNvSpPr>
            <p:nvPr/>
          </p:nvSpPr>
          <p:spPr bwMode="auto">
            <a:xfrm rot="5400000">
              <a:off x="3734807" y="3696992"/>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38" name="Straight Connector 37">
              <a:extLst>
                <a:ext uri="{FF2B5EF4-FFF2-40B4-BE49-F238E27FC236}">
                  <a16:creationId xmlns:a16="http://schemas.microsoft.com/office/drawing/2014/main" id="{E66D6586-0914-244F-A063-7DCA2369882D}"/>
                </a:ext>
              </a:extLst>
            </p:cNvPr>
            <p:cNvCxnSpPr>
              <a:cxnSpLocks/>
            </p:cNvCxnSpPr>
            <p:nvPr/>
          </p:nvCxnSpPr>
          <p:spPr>
            <a:xfrm>
              <a:off x="3430006" y="4077992"/>
              <a:ext cx="0" cy="50809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EB230E0-C7FE-AF4B-8872-6FFA2E857E31}"/>
                </a:ext>
              </a:extLst>
            </p:cNvPr>
            <p:cNvCxnSpPr>
              <a:cxnSpLocks/>
            </p:cNvCxnSpPr>
            <p:nvPr/>
          </p:nvCxnSpPr>
          <p:spPr>
            <a:xfrm>
              <a:off x="5638637" y="4074023"/>
              <a:ext cx="0" cy="50809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264EB83-9B80-2647-9A43-726C25E2006B}"/>
                </a:ext>
              </a:extLst>
            </p:cNvPr>
            <p:cNvCxnSpPr>
              <a:cxnSpLocks/>
            </p:cNvCxnSpPr>
            <p:nvPr/>
          </p:nvCxnSpPr>
          <p:spPr>
            <a:xfrm flipH="1">
              <a:off x="4705563" y="4582119"/>
              <a:ext cx="12413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Oval 14">
              <a:extLst>
                <a:ext uri="{FF2B5EF4-FFF2-40B4-BE49-F238E27FC236}">
                  <a16:creationId xmlns:a16="http://schemas.microsoft.com/office/drawing/2014/main" id="{A73452EB-CFBB-BA47-A118-4473DBD98C2A}"/>
                </a:ext>
              </a:extLst>
            </p:cNvPr>
            <p:cNvSpPr>
              <a:spLocks noChangeAspect="1" noChangeArrowheads="1"/>
            </p:cNvSpPr>
            <p:nvPr/>
          </p:nvSpPr>
          <p:spPr bwMode="auto">
            <a:xfrm>
              <a:off x="5908555" y="4549485"/>
              <a:ext cx="76200" cy="7620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72A5552B-B27C-E248-8460-821D67D52678}"/>
                    </a:ext>
                  </a:extLst>
                </p:cNvPr>
                <p:cNvSpPr txBox="1"/>
                <p:nvPr/>
              </p:nvSpPr>
              <p:spPr>
                <a:xfrm>
                  <a:off x="3590088" y="4704637"/>
                  <a:ext cx="633999"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oMath>
                    </m:oMathPara>
                  </a14:m>
                  <a:endParaRPr lang="en-US" dirty="0"/>
                </a:p>
              </p:txBody>
            </p:sp>
          </mc:Choice>
          <mc:Fallback xmlns="">
            <p:sp>
              <p:nvSpPr>
                <p:cNvPr id="51" name="TextBox 50">
                  <a:extLst>
                    <a:ext uri="{FF2B5EF4-FFF2-40B4-BE49-F238E27FC236}">
                      <a16:creationId xmlns:a16="http://schemas.microsoft.com/office/drawing/2014/main" id="{AD9BF462-8E43-F041-8826-C61D8AD4DF96}"/>
                    </a:ext>
                  </a:extLst>
                </p:cNvPr>
                <p:cNvSpPr txBox="1">
                  <a:spLocks noRot="1" noChangeAspect="1" noMove="1" noResize="1" noEditPoints="1" noAdjustHandles="1" noChangeArrowheads="1" noChangeShapeType="1" noTextEdit="1"/>
                </p:cNvSpPr>
                <p:nvPr/>
              </p:nvSpPr>
              <p:spPr>
                <a:xfrm>
                  <a:off x="3590088" y="4704637"/>
                  <a:ext cx="633999"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635E5CC0-F82E-6A4C-AA91-EA7157FC81F2}"/>
                    </a:ext>
                  </a:extLst>
                </p:cNvPr>
                <p:cNvSpPr txBox="1"/>
                <p:nvPr/>
              </p:nvSpPr>
              <p:spPr>
                <a:xfrm>
                  <a:off x="5703265" y="4564806"/>
                  <a:ext cx="633999"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𝑜</m:t>
                            </m:r>
                          </m:sub>
                        </m:sSub>
                      </m:oMath>
                    </m:oMathPara>
                  </a14:m>
                  <a:endParaRPr lang="en-US" dirty="0"/>
                </a:p>
              </p:txBody>
            </p:sp>
          </mc:Choice>
          <mc:Fallback xmlns="">
            <p:sp>
              <p:nvSpPr>
                <p:cNvPr id="52" name="TextBox 51">
                  <a:extLst>
                    <a:ext uri="{FF2B5EF4-FFF2-40B4-BE49-F238E27FC236}">
                      <a16:creationId xmlns:a16="http://schemas.microsoft.com/office/drawing/2014/main" id="{6AEC85EC-7044-B74D-96C6-E01D434CEA28}"/>
                    </a:ext>
                  </a:extLst>
                </p:cNvPr>
                <p:cNvSpPr txBox="1">
                  <a:spLocks noRot="1" noChangeAspect="1" noMove="1" noResize="1" noEditPoints="1" noAdjustHandles="1" noChangeArrowheads="1" noChangeShapeType="1" noTextEdit="1"/>
                </p:cNvSpPr>
                <p:nvPr/>
              </p:nvSpPr>
              <p:spPr>
                <a:xfrm>
                  <a:off x="5703265" y="4564806"/>
                  <a:ext cx="633999"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48E84139-244F-7049-BBE0-A837B31554F3}"/>
                    </a:ext>
                  </a:extLst>
                </p:cNvPr>
                <p:cNvSpPr txBox="1"/>
                <p:nvPr/>
              </p:nvSpPr>
              <p:spPr>
                <a:xfrm>
                  <a:off x="2969491" y="4725060"/>
                  <a:ext cx="633999"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𝑖</m:t>
                            </m:r>
                          </m:sub>
                        </m:sSub>
                      </m:oMath>
                    </m:oMathPara>
                  </a14:m>
                  <a:endParaRPr lang="en-US" dirty="0"/>
                </a:p>
              </p:txBody>
            </p:sp>
          </mc:Choice>
          <mc:Fallback xmlns="">
            <p:sp>
              <p:nvSpPr>
                <p:cNvPr id="53" name="TextBox 52">
                  <a:extLst>
                    <a:ext uri="{FF2B5EF4-FFF2-40B4-BE49-F238E27FC236}">
                      <a16:creationId xmlns:a16="http://schemas.microsoft.com/office/drawing/2014/main" id="{44A6FAEE-F8BF-6B4A-A59F-14E6623CE210}"/>
                    </a:ext>
                  </a:extLst>
                </p:cNvPr>
                <p:cNvSpPr txBox="1">
                  <a:spLocks noRot="1" noChangeAspect="1" noMove="1" noResize="1" noEditPoints="1" noAdjustHandles="1" noChangeArrowheads="1" noChangeShapeType="1" noTextEdit="1"/>
                </p:cNvSpPr>
                <p:nvPr/>
              </p:nvSpPr>
              <p:spPr>
                <a:xfrm>
                  <a:off x="2969491" y="4725060"/>
                  <a:ext cx="633999"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53B0B4A-F78B-6B40-859C-341BECF163CE}"/>
                    </a:ext>
                  </a:extLst>
                </p:cNvPr>
                <p:cNvSpPr txBox="1"/>
                <p:nvPr/>
              </p:nvSpPr>
              <p:spPr>
                <a:xfrm>
                  <a:off x="3548581" y="3554171"/>
                  <a:ext cx="414130" cy="369332"/>
                </a:xfrm>
                <a:prstGeom prst="rect">
                  <a:avLst/>
                </a:prstGeom>
                <a:noFill/>
              </p:spPr>
              <p:txBody>
                <a:bodyPr wrap="square" rtlCol="0">
                  <a:spAutoFit/>
                </a:bodyPr>
                <a:lstStyle/>
                <a:p>
                  <a:pPr/>
                  <a14:m>
                    <m:oMathPara xmlns:m="http://schemas.openxmlformats.org/officeDocument/2006/math">
                      <m:oMathParaPr>
                        <m:jc m:val="left"/>
                      </m:oMathParaPr>
                      <m:oMath>
                        <m:r>
                          <a:rPr lang="en-US" i="1" smtClean="0">
                            <a:latin typeface="Cambria Math" panose="02040503050406030204" pitchFamily="18" charset="0"/>
                          </a:rPr>
                          <m:t>𝑅</m:t>
                        </m:r>
                      </m:oMath>
                    </m:oMathPara>
                  </a14:m>
                  <a:endParaRPr lang="en-US" dirty="0"/>
                </a:p>
              </p:txBody>
            </p:sp>
          </mc:Choice>
          <mc:Fallback xmlns="">
            <p:sp>
              <p:nvSpPr>
                <p:cNvPr id="54" name="TextBox 53">
                  <a:extLst>
                    <a:ext uri="{FF2B5EF4-FFF2-40B4-BE49-F238E27FC236}">
                      <a16:creationId xmlns:a16="http://schemas.microsoft.com/office/drawing/2014/main" id="{13262CB3-6422-974D-84C4-669908D18765}"/>
                    </a:ext>
                  </a:extLst>
                </p:cNvPr>
                <p:cNvSpPr txBox="1">
                  <a:spLocks noRot="1" noChangeAspect="1" noMove="1" noResize="1" noEditPoints="1" noAdjustHandles="1" noChangeArrowheads="1" noChangeShapeType="1" noTextEdit="1"/>
                </p:cNvSpPr>
                <p:nvPr/>
              </p:nvSpPr>
              <p:spPr>
                <a:xfrm>
                  <a:off x="3548581" y="3554171"/>
                  <a:ext cx="414130"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0E14DCB0-DCE2-684A-8C6A-7774420AF9DE}"/>
                    </a:ext>
                  </a:extLst>
                </p:cNvPr>
                <p:cNvSpPr txBox="1"/>
                <p:nvPr/>
              </p:nvSpPr>
              <p:spPr>
                <a:xfrm>
                  <a:off x="4389139" y="3565168"/>
                  <a:ext cx="414130" cy="369332"/>
                </a:xfrm>
                <a:prstGeom prst="rect">
                  <a:avLst/>
                </a:prstGeom>
                <a:noFill/>
              </p:spPr>
              <p:txBody>
                <a:bodyPr wrap="square" rtlCol="0">
                  <a:spAutoFit/>
                </a:bodyPr>
                <a:lstStyle/>
                <a:p>
                  <a:pPr/>
                  <a14:m>
                    <m:oMathPara xmlns:m="http://schemas.openxmlformats.org/officeDocument/2006/math">
                      <m:oMathParaPr>
                        <m:jc m:val="left"/>
                      </m:oMathParaPr>
                      <m:oMath>
                        <m:r>
                          <a:rPr lang="en-US" b="0" i="1" smtClean="0">
                            <a:latin typeface="Cambria Math" panose="02040503050406030204" pitchFamily="18" charset="0"/>
                          </a:rPr>
                          <m:t>𝐿</m:t>
                        </m:r>
                      </m:oMath>
                    </m:oMathPara>
                  </a14:m>
                  <a:endParaRPr lang="en-US" dirty="0"/>
                </a:p>
              </p:txBody>
            </p:sp>
          </mc:Choice>
          <mc:Fallback xmlns="">
            <p:sp>
              <p:nvSpPr>
                <p:cNvPr id="55" name="TextBox 54">
                  <a:extLst>
                    <a:ext uri="{FF2B5EF4-FFF2-40B4-BE49-F238E27FC236}">
                      <a16:creationId xmlns:a16="http://schemas.microsoft.com/office/drawing/2014/main" id="{481D41C9-8FB1-674D-8F61-E80DC62CDFA3}"/>
                    </a:ext>
                  </a:extLst>
                </p:cNvPr>
                <p:cNvSpPr txBox="1">
                  <a:spLocks noRot="1" noChangeAspect="1" noMove="1" noResize="1" noEditPoints="1" noAdjustHandles="1" noChangeArrowheads="1" noChangeShapeType="1" noTextEdit="1"/>
                </p:cNvSpPr>
                <p:nvPr/>
              </p:nvSpPr>
              <p:spPr>
                <a:xfrm>
                  <a:off x="4389139" y="3565168"/>
                  <a:ext cx="414130"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32004EE1-3709-1B4B-AC4D-4590DEFDF657}"/>
                    </a:ext>
                  </a:extLst>
                </p:cNvPr>
                <p:cNvSpPr txBox="1"/>
                <p:nvPr/>
              </p:nvSpPr>
              <p:spPr>
                <a:xfrm>
                  <a:off x="5097878" y="3545181"/>
                  <a:ext cx="414130" cy="369332"/>
                </a:xfrm>
                <a:prstGeom prst="rect">
                  <a:avLst/>
                </a:prstGeom>
                <a:noFill/>
              </p:spPr>
              <p:txBody>
                <a:bodyPr wrap="square" rtlCol="0">
                  <a:spAutoFit/>
                </a:bodyPr>
                <a:lstStyle/>
                <a:p>
                  <a:pPr/>
                  <a14:m>
                    <m:oMathPara xmlns:m="http://schemas.openxmlformats.org/officeDocument/2006/math">
                      <m:oMathParaPr>
                        <m:jc m:val="left"/>
                      </m:oMathParaPr>
                      <m:oMath>
                        <m:r>
                          <a:rPr lang="en-US" b="0" i="1" smtClean="0">
                            <a:latin typeface="Cambria Math" panose="02040503050406030204" pitchFamily="18" charset="0"/>
                          </a:rPr>
                          <m:t>𝐶</m:t>
                        </m:r>
                      </m:oMath>
                    </m:oMathPara>
                  </a14:m>
                  <a:endParaRPr lang="en-US" dirty="0"/>
                </a:p>
              </p:txBody>
            </p:sp>
          </mc:Choice>
          <mc:Fallback xmlns="">
            <p:sp>
              <p:nvSpPr>
                <p:cNvPr id="56" name="TextBox 55">
                  <a:extLst>
                    <a:ext uri="{FF2B5EF4-FFF2-40B4-BE49-F238E27FC236}">
                      <a16:creationId xmlns:a16="http://schemas.microsoft.com/office/drawing/2014/main" id="{579A81B1-A58B-5149-9214-343684D069AB}"/>
                    </a:ext>
                  </a:extLst>
                </p:cNvPr>
                <p:cNvSpPr txBox="1">
                  <a:spLocks noRot="1" noChangeAspect="1" noMove="1" noResize="1" noEditPoints="1" noAdjustHandles="1" noChangeArrowheads="1" noChangeShapeType="1" noTextEdit="1"/>
                </p:cNvSpPr>
                <p:nvPr/>
              </p:nvSpPr>
              <p:spPr>
                <a:xfrm>
                  <a:off x="5097878" y="3545181"/>
                  <a:ext cx="414130" cy="369332"/>
                </a:xfrm>
                <a:prstGeom prst="rect">
                  <a:avLst/>
                </a:prstGeom>
                <a:blipFill>
                  <a:blip r:embed="rId9"/>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18528810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155731"/>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Some oscillators</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9594863" y="6352680"/>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56</a:t>
            </a:fld>
            <a:endParaRPr lang="en-US" dirty="0">
              <a:solidFill>
                <a:schemeClr val="tx1"/>
              </a:solidFill>
            </a:endParaRPr>
          </a:p>
        </p:txBody>
      </p:sp>
      <p:grpSp>
        <p:nvGrpSpPr>
          <p:cNvPr id="98" name="Group 97">
            <a:extLst>
              <a:ext uri="{FF2B5EF4-FFF2-40B4-BE49-F238E27FC236}">
                <a16:creationId xmlns:a16="http://schemas.microsoft.com/office/drawing/2014/main" id="{C307A1F4-24DC-E543-A285-F7E5F280A48F}"/>
              </a:ext>
            </a:extLst>
          </p:cNvPr>
          <p:cNvGrpSpPr/>
          <p:nvPr/>
        </p:nvGrpSpPr>
        <p:grpSpPr>
          <a:xfrm>
            <a:off x="1648339" y="1455990"/>
            <a:ext cx="2730503" cy="4541807"/>
            <a:chOff x="407596" y="950554"/>
            <a:chExt cx="2700202" cy="4541807"/>
          </a:xfrm>
        </p:grpSpPr>
        <p:sp>
          <p:nvSpPr>
            <p:cNvPr id="6" name="Freeform 5">
              <a:extLst>
                <a:ext uri="{FF2B5EF4-FFF2-40B4-BE49-F238E27FC236}">
                  <a16:creationId xmlns:a16="http://schemas.microsoft.com/office/drawing/2014/main" id="{DEE09B4C-C487-3646-B5EA-6A57E9BE64F1}"/>
                </a:ext>
              </a:extLst>
            </p:cNvPr>
            <p:cNvSpPr>
              <a:spLocks noChangeAspect="1"/>
            </p:cNvSpPr>
            <p:nvPr/>
          </p:nvSpPr>
          <p:spPr bwMode="auto">
            <a:xfrm>
              <a:off x="1656676" y="1465040"/>
              <a:ext cx="147456" cy="743474"/>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7" name="Group 210">
              <a:extLst>
                <a:ext uri="{FF2B5EF4-FFF2-40B4-BE49-F238E27FC236}">
                  <a16:creationId xmlns:a16="http://schemas.microsoft.com/office/drawing/2014/main" id="{E651A5DE-F46F-FA42-8500-788CE8C7B792}"/>
                </a:ext>
              </a:extLst>
            </p:cNvPr>
            <p:cNvGrpSpPr>
              <a:grpSpLocks/>
            </p:cNvGrpSpPr>
            <p:nvPr/>
          </p:nvGrpSpPr>
          <p:grpSpPr bwMode="auto">
            <a:xfrm>
              <a:off x="2091445" y="1463823"/>
              <a:ext cx="304800" cy="762000"/>
              <a:chOff x="3216" y="1728"/>
              <a:chExt cx="192" cy="480"/>
            </a:xfrm>
          </p:grpSpPr>
          <p:sp>
            <p:nvSpPr>
              <p:cNvPr id="67" name="Line 8">
                <a:extLst>
                  <a:ext uri="{FF2B5EF4-FFF2-40B4-BE49-F238E27FC236}">
                    <a16:creationId xmlns:a16="http://schemas.microsoft.com/office/drawing/2014/main" id="{B4FB12D8-B0F7-9E49-B1E0-F614D2631612}"/>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 name="Line 9">
                <a:extLst>
                  <a:ext uri="{FF2B5EF4-FFF2-40B4-BE49-F238E27FC236}">
                    <a16:creationId xmlns:a16="http://schemas.microsoft.com/office/drawing/2014/main" id="{F9329161-F071-8845-9C37-3A132AC7625D}"/>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 name="Line 10">
                <a:extLst>
                  <a:ext uri="{FF2B5EF4-FFF2-40B4-BE49-F238E27FC236}">
                    <a16:creationId xmlns:a16="http://schemas.microsoft.com/office/drawing/2014/main" id="{B5AB1AFF-B160-CC42-844B-165274921B98}"/>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 name="Line 11">
                <a:extLst>
                  <a:ext uri="{FF2B5EF4-FFF2-40B4-BE49-F238E27FC236}">
                    <a16:creationId xmlns:a16="http://schemas.microsoft.com/office/drawing/2014/main" id="{6BD7EE84-DCAE-1B44-AA68-03B55E4487FE}"/>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8" name="TextBox 7">
              <a:extLst>
                <a:ext uri="{FF2B5EF4-FFF2-40B4-BE49-F238E27FC236}">
                  <a16:creationId xmlns:a16="http://schemas.microsoft.com/office/drawing/2014/main" id="{08B597B0-F06C-784A-93EE-F26F1B8EC7B0}"/>
                </a:ext>
              </a:extLst>
            </p:cNvPr>
            <p:cNvSpPr txBox="1"/>
            <p:nvPr/>
          </p:nvSpPr>
          <p:spPr>
            <a:xfrm>
              <a:off x="2338998" y="1678072"/>
              <a:ext cx="345258" cy="338554"/>
            </a:xfrm>
            <a:prstGeom prst="rect">
              <a:avLst/>
            </a:prstGeom>
            <a:noFill/>
          </p:spPr>
          <p:txBody>
            <a:bodyPr wrap="square" rtlCol="0">
              <a:spAutoFit/>
            </a:bodyPr>
            <a:lstStyle/>
            <a:p>
              <a:r>
                <a:rPr lang="en-US" sz="1600" dirty="0"/>
                <a:t>C</a:t>
              </a:r>
            </a:p>
          </p:txBody>
        </p:sp>
        <p:grpSp>
          <p:nvGrpSpPr>
            <p:cNvPr id="15" name="Group 220">
              <a:extLst>
                <a:ext uri="{FF2B5EF4-FFF2-40B4-BE49-F238E27FC236}">
                  <a16:creationId xmlns:a16="http://schemas.microsoft.com/office/drawing/2014/main" id="{EA6A166E-5FFD-FF44-8240-09416D15E8E7}"/>
                </a:ext>
              </a:extLst>
            </p:cNvPr>
            <p:cNvGrpSpPr>
              <a:grpSpLocks/>
            </p:cNvGrpSpPr>
            <p:nvPr/>
          </p:nvGrpSpPr>
          <p:grpSpPr bwMode="auto">
            <a:xfrm>
              <a:off x="2437129" y="3618897"/>
              <a:ext cx="152400" cy="304800"/>
              <a:chOff x="3264" y="3072"/>
              <a:chExt cx="96" cy="192"/>
            </a:xfrm>
          </p:grpSpPr>
          <p:sp>
            <p:nvSpPr>
              <p:cNvPr id="65" name="Line 17">
                <a:extLst>
                  <a:ext uri="{FF2B5EF4-FFF2-40B4-BE49-F238E27FC236}">
                    <a16:creationId xmlns:a16="http://schemas.microsoft.com/office/drawing/2014/main" id="{D3FEA89A-BD55-1043-BD3A-DBEA55EBADFB}"/>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 name="Freeform 18">
                <a:extLst>
                  <a:ext uri="{FF2B5EF4-FFF2-40B4-BE49-F238E27FC236}">
                    <a16:creationId xmlns:a16="http://schemas.microsoft.com/office/drawing/2014/main" id="{89E179BA-6360-0646-B5E7-EA1095A3F361}"/>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7" name="TextBox 16">
              <a:extLst>
                <a:ext uri="{FF2B5EF4-FFF2-40B4-BE49-F238E27FC236}">
                  <a16:creationId xmlns:a16="http://schemas.microsoft.com/office/drawing/2014/main" id="{E9BA5B3D-7DBB-3A40-9B10-C2355D93A55D}"/>
                </a:ext>
              </a:extLst>
            </p:cNvPr>
            <p:cNvSpPr txBox="1"/>
            <p:nvPr/>
          </p:nvSpPr>
          <p:spPr>
            <a:xfrm>
              <a:off x="1741136" y="1730426"/>
              <a:ext cx="400820" cy="338554"/>
            </a:xfrm>
            <a:prstGeom prst="rect">
              <a:avLst/>
            </a:prstGeom>
            <a:noFill/>
          </p:spPr>
          <p:txBody>
            <a:bodyPr wrap="square" rtlCol="0">
              <a:spAutoFit/>
            </a:bodyPr>
            <a:lstStyle/>
            <a:p>
              <a:r>
                <a:rPr lang="en-US" sz="1600" dirty="0"/>
                <a:t>R</a:t>
              </a:r>
              <a:r>
                <a:rPr lang="en-US" sz="1600" baseline="-25000" dirty="0"/>
                <a:t>2</a:t>
              </a:r>
            </a:p>
          </p:txBody>
        </p:sp>
        <p:cxnSp>
          <p:nvCxnSpPr>
            <p:cNvPr id="18" name="Straight Connector 17">
              <a:extLst>
                <a:ext uri="{FF2B5EF4-FFF2-40B4-BE49-F238E27FC236}">
                  <a16:creationId xmlns:a16="http://schemas.microsoft.com/office/drawing/2014/main" id="{EE2CB27F-6DC4-CA4E-BF1D-1D800494AA05}"/>
                </a:ext>
              </a:extLst>
            </p:cNvPr>
            <p:cNvCxnSpPr>
              <a:cxnSpLocks/>
            </p:cNvCxnSpPr>
            <p:nvPr/>
          </p:nvCxnSpPr>
          <p:spPr>
            <a:xfrm>
              <a:off x="561418" y="1469521"/>
              <a:ext cx="51290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 name="Group 300">
              <a:extLst>
                <a:ext uri="{FF2B5EF4-FFF2-40B4-BE49-F238E27FC236}">
                  <a16:creationId xmlns:a16="http://schemas.microsoft.com/office/drawing/2014/main" id="{DFFAD6B4-6A81-CA43-A1DE-A95C0B859C18}"/>
                </a:ext>
              </a:extLst>
            </p:cNvPr>
            <p:cNvGrpSpPr>
              <a:grpSpLocks/>
            </p:cNvGrpSpPr>
            <p:nvPr/>
          </p:nvGrpSpPr>
          <p:grpSpPr bwMode="auto">
            <a:xfrm>
              <a:off x="988981" y="1459902"/>
              <a:ext cx="533400" cy="762000"/>
              <a:chOff x="4896" y="1728"/>
              <a:chExt cx="336" cy="480"/>
            </a:xfrm>
          </p:grpSpPr>
          <p:grpSp>
            <p:nvGrpSpPr>
              <p:cNvPr id="31" name="Group 267">
                <a:extLst>
                  <a:ext uri="{FF2B5EF4-FFF2-40B4-BE49-F238E27FC236}">
                    <a16:creationId xmlns:a16="http://schemas.microsoft.com/office/drawing/2014/main" id="{3D62B4A5-6162-9944-A88F-94AFAE0A87C6}"/>
                  </a:ext>
                </a:extLst>
              </p:cNvPr>
              <p:cNvGrpSpPr>
                <a:grpSpLocks/>
              </p:cNvGrpSpPr>
              <p:nvPr/>
            </p:nvGrpSpPr>
            <p:grpSpPr bwMode="auto">
              <a:xfrm>
                <a:off x="4896" y="1728"/>
                <a:ext cx="96" cy="480"/>
                <a:chOff x="3935" y="1728"/>
                <a:chExt cx="96" cy="480"/>
              </a:xfrm>
            </p:grpSpPr>
            <p:sp>
              <p:nvSpPr>
                <p:cNvPr id="48" name="Arc 268">
                  <a:extLst>
                    <a:ext uri="{FF2B5EF4-FFF2-40B4-BE49-F238E27FC236}">
                      <a16:creationId xmlns:a16="http://schemas.microsoft.com/office/drawing/2014/main" id="{557F730B-E081-5E4F-A0B8-4F856628E1A3}"/>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 name="Arc 269">
                  <a:extLst>
                    <a:ext uri="{FF2B5EF4-FFF2-40B4-BE49-F238E27FC236}">
                      <a16:creationId xmlns:a16="http://schemas.microsoft.com/office/drawing/2014/main" id="{A3F7AC76-BF57-7541-8141-13DDDA525AC8}"/>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1" name="Arc 270">
                  <a:extLst>
                    <a:ext uri="{FF2B5EF4-FFF2-40B4-BE49-F238E27FC236}">
                      <a16:creationId xmlns:a16="http://schemas.microsoft.com/office/drawing/2014/main" id="{C3174D5F-2424-4A4F-9493-0DDB68AAFC5E}"/>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2" name="Arc 271">
                  <a:extLst>
                    <a:ext uri="{FF2B5EF4-FFF2-40B4-BE49-F238E27FC236}">
                      <a16:creationId xmlns:a16="http://schemas.microsoft.com/office/drawing/2014/main" id="{BB83EC63-F368-914F-93FB-DA6513EFA61B}"/>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3" name="Line 272">
                  <a:extLst>
                    <a:ext uri="{FF2B5EF4-FFF2-40B4-BE49-F238E27FC236}">
                      <a16:creationId xmlns:a16="http://schemas.microsoft.com/office/drawing/2014/main" id="{9BA41E0E-A656-4640-9BF6-8603D6F3B542}"/>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 name="Line 273">
                  <a:extLst>
                    <a:ext uri="{FF2B5EF4-FFF2-40B4-BE49-F238E27FC236}">
                      <a16:creationId xmlns:a16="http://schemas.microsoft.com/office/drawing/2014/main" id="{E8B0FDA8-C102-114D-9908-9E6E38677C4E}"/>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 name="Arc 274">
                  <a:extLst>
                    <a:ext uri="{FF2B5EF4-FFF2-40B4-BE49-F238E27FC236}">
                      <a16:creationId xmlns:a16="http://schemas.microsoft.com/office/drawing/2014/main" id="{29079221-5BAC-D542-8B21-50D436440E8C}"/>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6" name="Arc 275">
                  <a:extLst>
                    <a:ext uri="{FF2B5EF4-FFF2-40B4-BE49-F238E27FC236}">
                      <a16:creationId xmlns:a16="http://schemas.microsoft.com/office/drawing/2014/main" id="{04D0BBD8-A393-2D4B-8D9C-E932B6EB2E33}"/>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7" name="Arc 276">
                  <a:extLst>
                    <a:ext uri="{FF2B5EF4-FFF2-40B4-BE49-F238E27FC236}">
                      <a16:creationId xmlns:a16="http://schemas.microsoft.com/office/drawing/2014/main" id="{45BFCCB4-E725-5043-8F66-5834F0573C30}"/>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8" name="Arc 277">
                  <a:extLst>
                    <a:ext uri="{FF2B5EF4-FFF2-40B4-BE49-F238E27FC236}">
                      <a16:creationId xmlns:a16="http://schemas.microsoft.com/office/drawing/2014/main" id="{3B61557E-E0F2-0E43-81DD-44AF91FF1C6E}"/>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9" name="Arc 278">
                  <a:extLst>
                    <a:ext uri="{FF2B5EF4-FFF2-40B4-BE49-F238E27FC236}">
                      <a16:creationId xmlns:a16="http://schemas.microsoft.com/office/drawing/2014/main" id="{6C3CDC40-0ACF-EB42-9197-695AB3B3E52C}"/>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0" name="Arc 279">
                  <a:extLst>
                    <a:ext uri="{FF2B5EF4-FFF2-40B4-BE49-F238E27FC236}">
                      <a16:creationId xmlns:a16="http://schemas.microsoft.com/office/drawing/2014/main" id="{22825586-9F13-5A47-A9DA-B5D83224C213}"/>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 name="Arc 280">
                  <a:extLst>
                    <a:ext uri="{FF2B5EF4-FFF2-40B4-BE49-F238E27FC236}">
                      <a16:creationId xmlns:a16="http://schemas.microsoft.com/office/drawing/2014/main" id="{3CA0BF0A-F697-5D4B-A677-21A159B81BC1}"/>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32" name="Group 281">
                <a:extLst>
                  <a:ext uri="{FF2B5EF4-FFF2-40B4-BE49-F238E27FC236}">
                    <a16:creationId xmlns:a16="http://schemas.microsoft.com/office/drawing/2014/main" id="{26655ABD-BC28-964E-93B4-25E3842352AE}"/>
                  </a:ext>
                </a:extLst>
              </p:cNvPr>
              <p:cNvGrpSpPr>
                <a:grpSpLocks/>
              </p:cNvGrpSpPr>
              <p:nvPr/>
            </p:nvGrpSpPr>
            <p:grpSpPr bwMode="auto">
              <a:xfrm flipH="1">
                <a:off x="5136" y="1728"/>
                <a:ext cx="96" cy="480"/>
                <a:chOff x="3935" y="1728"/>
                <a:chExt cx="96" cy="480"/>
              </a:xfrm>
            </p:grpSpPr>
            <p:sp>
              <p:nvSpPr>
                <p:cNvPr id="35" name="Arc 282">
                  <a:extLst>
                    <a:ext uri="{FF2B5EF4-FFF2-40B4-BE49-F238E27FC236}">
                      <a16:creationId xmlns:a16="http://schemas.microsoft.com/office/drawing/2014/main" id="{4F4B98E7-9AD9-FB48-B561-AF9E33C22F90}"/>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6" name="Arc 283">
                  <a:extLst>
                    <a:ext uri="{FF2B5EF4-FFF2-40B4-BE49-F238E27FC236}">
                      <a16:creationId xmlns:a16="http://schemas.microsoft.com/office/drawing/2014/main" id="{4770E070-34A4-484A-BB11-F04E952A67A5}"/>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7" name="Arc 284">
                  <a:extLst>
                    <a:ext uri="{FF2B5EF4-FFF2-40B4-BE49-F238E27FC236}">
                      <a16:creationId xmlns:a16="http://schemas.microsoft.com/office/drawing/2014/main" id="{FF339495-8EB6-1540-99E2-DE5EE839EF33}"/>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8" name="Arc 285">
                  <a:extLst>
                    <a:ext uri="{FF2B5EF4-FFF2-40B4-BE49-F238E27FC236}">
                      <a16:creationId xmlns:a16="http://schemas.microsoft.com/office/drawing/2014/main" id="{EA37173D-1D69-1342-8541-E08BC25F8B67}"/>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 name="Line 286">
                  <a:extLst>
                    <a:ext uri="{FF2B5EF4-FFF2-40B4-BE49-F238E27FC236}">
                      <a16:creationId xmlns:a16="http://schemas.microsoft.com/office/drawing/2014/main" id="{62DC2B71-B030-8741-8684-B0315F9ABDF9}"/>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 name="Line 287">
                  <a:extLst>
                    <a:ext uri="{FF2B5EF4-FFF2-40B4-BE49-F238E27FC236}">
                      <a16:creationId xmlns:a16="http://schemas.microsoft.com/office/drawing/2014/main" id="{7E7143EA-41C1-6F49-BE97-74453F19A4ED}"/>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 name="Arc 288">
                  <a:extLst>
                    <a:ext uri="{FF2B5EF4-FFF2-40B4-BE49-F238E27FC236}">
                      <a16:creationId xmlns:a16="http://schemas.microsoft.com/office/drawing/2014/main" id="{87DF1541-028B-D947-BC26-1AB30B41292E}"/>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2" name="Arc 289">
                  <a:extLst>
                    <a:ext uri="{FF2B5EF4-FFF2-40B4-BE49-F238E27FC236}">
                      <a16:creationId xmlns:a16="http://schemas.microsoft.com/office/drawing/2014/main" id="{18C289B9-3E50-7B42-BAA7-D9ABF49848E2}"/>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3" name="Arc 290">
                  <a:extLst>
                    <a:ext uri="{FF2B5EF4-FFF2-40B4-BE49-F238E27FC236}">
                      <a16:creationId xmlns:a16="http://schemas.microsoft.com/office/drawing/2014/main" id="{C4A81CCF-F38D-1344-A9C3-7C4D624123C7}"/>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4" name="Arc 291">
                  <a:extLst>
                    <a:ext uri="{FF2B5EF4-FFF2-40B4-BE49-F238E27FC236}">
                      <a16:creationId xmlns:a16="http://schemas.microsoft.com/office/drawing/2014/main" id="{C39F376D-D131-8F47-84E6-B64CB439F0F5}"/>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5" name="Arc 292">
                  <a:extLst>
                    <a:ext uri="{FF2B5EF4-FFF2-40B4-BE49-F238E27FC236}">
                      <a16:creationId xmlns:a16="http://schemas.microsoft.com/office/drawing/2014/main" id="{7015A202-09C8-5541-839A-DD7EF112AB47}"/>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6" name="Arc 293">
                  <a:extLst>
                    <a:ext uri="{FF2B5EF4-FFF2-40B4-BE49-F238E27FC236}">
                      <a16:creationId xmlns:a16="http://schemas.microsoft.com/office/drawing/2014/main" id="{60F06506-42F0-0348-A406-AB99A26AE371}"/>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7" name="Arc 294">
                  <a:extLst>
                    <a:ext uri="{FF2B5EF4-FFF2-40B4-BE49-F238E27FC236}">
                      <a16:creationId xmlns:a16="http://schemas.microsoft.com/office/drawing/2014/main" id="{CB4EFAEC-9663-DC49-BFB1-D1EF608E0D0F}"/>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33" name="Line 295">
                <a:extLst>
                  <a:ext uri="{FF2B5EF4-FFF2-40B4-BE49-F238E27FC236}">
                    <a16:creationId xmlns:a16="http://schemas.microsoft.com/office/drawing/2014/main" id="{E39BE13A-F453-A04E-8BBE-332E7C20AB1C}"/>
                  </a:ext>
                </a:extLst>
              </p:cNvPr>
              <p:cNvSpPr>
                <a:spLocks noChangeShapeType="1"/>
              </p:cNvSpPr>
              <p:nvPr/>
            </p:nvSpPr>
            <p:spPr bwMode="auto">
              <a:xfrm>
                <a:off x="5040" y="1824"/>
                <a:ext cx="0" cy="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 name="Line 296">
                <a:extLst>
                  <a:ext uri="{FF2B5EF4-FFF2-40B4-BE49-F238E27FC236}">
                    <a16:creationId xmlns:a16="http://schemas.microsoft.com/office/drawing/2014/main" id="{55E3DA1D-3AB6-0548-B9F4-EA6EC2DC6E17}"/>
                  </a:ext>
                </a:extLst>
              </p:cNvPr>
              <p:cNvSpPr>
                <a:spLocks noChangeShapeType="1"/>
              </p:cNvSpPr>
              <p:nvPr/>
            </p:nvSpPr>
            <p:spPr bwMode="auto">
              <a:xfrm>
                <a:off x="5088" y="1824"/>
                <a:ext cx="0" cy="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0" name="Group 220">
              <a:extLst>
                <a:ext uri="{FF2B5EF4-FFF2-40B4-BE49-F238E27FC236}">
                  <a16:creationId xmlns:a16="http://schemas.microsoft.com/office/drawing/2014/main" id="{32DFABDD-A0AC-4B4E-BC89-863BA6A25BEA}"/>
                </a:ext>
              </a:extLst>
            </p:cNvPr>
            <p:cNvGrpSpPr>
              <a:grpSpLocks/>
            </p:cNvGrpSpPr>
            <p:nvPr/>
          </p:nvGrpSpPr>
          <p:grpSpPr bwMode="auto">
            <a:xfrm>
              <a:off x="495984" y="1466792"/>
              <a:ext cx="152400" cy="304800"/>
              <a:chOff x="3264" y="3072"/>
              <a:chExt cx="96" cy="192"/>
            </a:xfrm>
          </p:grpSpPr>
          <p:sp>
            <p:nvSpPr>
              <p:cNvPr id="29" name="Line 17">
                <a:extLst>
                  <a:ext uri="{FF2B5EF4-FFF2-40B4-BE49-F238E27FC236}">
                    <a16:creationId xmlns:a16="http://schemas.microsoft.com/office/drawing/2014/main" id="{60C408BB-F6FB-314D-9C1F-F6B9C76B442E}"/>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 name="Freeform 18">
                <a:extLst>
                  <a:ext uri="{FF2B5EF4-FFF2-40B4-BE49-F238E27FC236}">
                    <a16:creationId xmlns:a16="http://schemas.microsoft.com/office/drawing/2014/main" id="{142222D7-7493-A546-9D74-B2004A21BC11}"/>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cxnSp>
          <p:nvCxnSpPr>
            <p:cNvPr id="22" name="Straight Connector 21">
              <a:extLst>
                <a:ext uri="{FF2B5EF4-FFF2-40B4-BE49-F238E27FC236}">
                  <a16:creationId xmlns:a16="http://schemas.microsoft.com/office/drawing/2014/main" id="{47585B98-5A11-D245-927B-BC8E0B29E362}"/>
                </a:ext>
              </a:extLst>
            </p:cNvPr>
            <p:cNvCxnSpPr>
              <a:cxnSpLocks/>
            </p:cNvCxnSpPr>
            <p:nvPr/>
          </p:nvCxnSpPr>
          <p:spPr>
            <a:xfrm>
              <a:off x="1439241" y="1469521"/>
              <a:ext cx="10972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14BABC00-04F4-C24E-B562-DD75DF3BCA76}"/>
                </a:ext>
              </a:extLst>
            </p:cNvPr>
            <p:cNvSpPr>
              <a:spLocks noChangeAspect="1" noChangeArrowheads="1"/>
            </p:cNvSpPr>
            <p:nvPr/>
          </p:nvSpPr>
          <p:spPr bwMode="auto">
            <a:xfrm>
              <a:off x="2506179" y="1408181"/>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4" name="TextBox 23">
              <a:extLst>
                <a:ext uri="{FF2B5EF4-FFF2-40B4-BE49-F238E27FC236}">
                  <a16:creationId xmlns:a16="http://schemas.microsoft.com/office/drawing/2014/main" id="{36EDF0F2-2CAD-D546-B2A6-8587B79B9A12}"/>
                </a:ext>
              </a:extLst>
            </p:cNvPr>
            <p:cNvSpPr txBox="1"/>
            <p:nvPr/>
          </p:nvSpPr>
          <p:spPr>
            <a:xfrm>
              <a:off x="714210" y="1817946"/>
              <a:ext cx="345258" cy="338554"/>
            </a:xfrm>
            <a:prstGeom prst="rect">
              <a:avLst/>
            </a:prstGeom>
            <a:noFill/>
          </p:spPr>
          <p:txBody>
            <a:bodyPr wrap="square" rtlCol="0">
              <a:spAutoFit/>
            </a:bodyPr>
            <a:lstStyle/>
            <a:p>
              <a:r>
                <a:rPr lang="en-US" sz="1600" dirty="0"/>
                <a:t>L</a:t>
              </a:r>
            </a:p>
          </p:txBody>
        </p:sp>
        <p:sp>
          <p:nvSpPr>
            <p:cNvPr id="25" name="TextBox 24">
              <a:extLst>
                <a:ext uri="{FF2B5EF4-FFF2-40B4-BE49-F238E27FC236}">
                  <a16:creationId xmlns:a16="http://schemas.microsoft.com/office/drawing/2014/main" id="{1EBD5689-540A-F649-80F8-5CD96F058260}"/>
                </a:ext>
              </a:extLst>
            </p:cNvPr>
            <p:cNvSpPr txBox="1"/>
            <p:nvPr/>
          </p:nvSpPr>
          <p:spPr>
            <a:xfrm>
              <a:off x="1122642" y="1153482"/>
              <a:ext cx="345258" cy="338554"/>
            </a:xfrm>
            <a:prstGeom prst="rect">
              <a:avLst/>
            </a:prstGeom>
            <a:noFill/>
          </p:spPr>
          <p:txBody>
            <a:bodyPr wrap="square" rtlCol="0">
              <a:spAutoFit/>
            </a:bodyPr>
            <a:lstStyle/>
            <a:p>
              <a:r>
                <a:rPr lang="en-US" sz="1600" dirty="0"/>
                <a:t>M</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6A57248-2697-A744-8B6A-94566300E0FD}"/>
                    </a:ext>
                  </a:extLst>
                </p:cNvPr>
                <p:cNvSpPr txBox="1"/>
                <p:nvPr/>
              </p:nvSpPr>
              <p:spPr>
                <a:xfrm>
                  <a:off x="407596" y="4251739"/>
                  <a:ext cx="2700202" cy="1240622"/>
                </a:xfrm>
                <a:prstGeom prst="rect">
                  <a:avLst/>
                </a:prstGeom>
                <a:noFill/>
              </p:spPr>
              <p:txBody>
                <a:bodyPr wrap="square" rtlCol="0">
                  <a:noAutofit/>
                </a:bodyPr>
                <a:lstStyle/>
                <a:p>
                  <a:pPr marL="285750" indent="-285750">
                    <a:buFont typeface="Arial" panose="020B0604020202020204" pitchFamily="34" charset="0"/>
                    <a:buChar char="•"/>
                  </a:pPr>
                  <a14:m>
                    <m:oMath xmlns:m="http://schemas.openxmlformats.org/officeDocument/2006/math">
                      <m:r>
                        <a:rPr lang="en-US" sz="2000" b="0" i="1" smtClean="0">
                          <a:latin typeface="Cambria Math" panose="02040503050406030204" pitchFamily="18" charset="0"/>
                        </a:rPr>
                        <m:t>𝐵</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𝑀</m:t>
                          </m:r>
                        </m:num>
                        <m:den>
                          <m:r>
                            <a:rPr lang="en-US" sz="2000" b="0" i="1" smtClean="0">
                              <a:latin typeface="Cambria Math" panose="02040503050406030204" pitchFamily="18" charset="0"/>
                            </a:rPr>
                            <m:t>𝐿</m:t>
                          </m:r>
                        </m:den>
                      </m:f>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2</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2</m:t>
                              </m:r>
                            </m:sub>
                          </m:sSub>
                        </m:den>
                      </m:f>
                      <m:r>
                        <a:rPr lang="en-US" sz="2000" b="0" i="1" smtClean="0">
                          <a:latin typeface="Cambria Math" panose="02040503050406030204" pitchFamily="18" charset="0"/>
                        </a:rPr>
                        <m:t>)</m:t>
                      </m:r>
                    </m:oMath>
                  </a14:m>
                  <a:endParaRPr lang="en-US" sz="2000" dirty="0"/>
                </a:p>
                <a:p>
                  <a:pPr marL="285750" indent="-285750">
                    <a:buFont typeface="Arial" panose="020B0604020202020204" pitchFamily="34" charset="0"/>
                    <a:buChar char="•"/>
                  </a:pPr>
                  <a14:m>
                    <m:oMath xmlns:m="http://schemas.openxmlformats.org/officeDocument/2006/math">
                      <m:r>
                        <a:rPr lang="en-US" sz="200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m:t>
                          </m:r>
                        </m:num>
                        <m:den>
                          <m:rad>
                            <m:radPr>
                              <m:degHide m:val="on"/>
                              <m:ctrlPr>
                                <a:rPr lang="en-US" sz="2000" b="0" i="1" smtClean="0">
                                  <a:latin typeface="Cambria Math" panose="02040503050406030204" pitchFamily="18" charset="0"/>
                                  <a:ea typeface="Cambria Math" panose="02040503050406030204" pitchFamily="18" charset="0"/>
                                </a:rPr>
                              </m:ctrlPr>
                            </m:radPr>
                            <m:deg/>
                            <m:e>
                              <m:r>
                                <a:rPr lang="en-US" sz="2000" b="0" i="1" smtClean="0">
                                  <a:latin typeface="Cambria Math" panose="02040503050406030204" pitchFamily="18" charset="0"/>
                                  <a:ea typeface="Cambria Math" panose="02040503050406030204" pitchFamily="18" charset="0"/>
                                </a:rPr>
                                <m:t>𝐿𝐶</m:t>
                              </m:r>
                            </m:e>
                          </m:rad>
                        </m:den>
                      </m:f>
                    </m:oMath>
                  </a14:m>
                  <a:endParaRPr lang="en-US" sz="2000" dirty="0"/>
                </a:p>
              </p:txBody>
            </p:sp>
          </mc:Choice>
          <mc:Fallback xmlns="">
            <p:sp>
              <p:nvSpPr>
                <p:cNvPr id="26" name="TextBox 25">
                  <a:extLst>
                    <a:ext uri="{FF2B5EF4-FFF2-40B4-BE49-F238E27FC236}">
                      <a16:creationId xmlns:a16="http://schemas.microsoft.com/office/drawing/2014/main" id="{26A57248-2697-A744-8B6A-94566300E0FD}"/>
                    </a:ext>
                  </a:extLst>
                </p:cNvPr>
                <p:cNvSpPr txBox="1">
                  <a:spLocks noRot="1" noChangeAspect="1" noMove="1" noResize="1" noEditPoints="1" noAdjustHandles="1" noChangeArrowheads="1" noChangeShapeType="1" noTextEdit="1"/>
                </p:cNvSpPr>
                <p:nvPr/>
              </p:nvSpPr>
              <p:spPr>
                <a:xfrm>
                  <a:off x="407596" y="4251739"/>
                  <a:ext cx="2700202" cy="1240622"/>
                </a:xfrm>
                <a:prstGeom prst="rect">
                  <a:avLst/>
                </a:prstGeom>
                <a:blipFill>
                  <a:blip r:embed="rId3"/>
                  <a:stretch>
                    <a:fillRect l="-1852"/>
                  </a:stretch>
                </a:blipFill>
              </p:spPr>
              <p:txBody>
                <a:bodyPr/>
                <a:lstStyle/>
                <a:p>
                  <a:r>
                    <a:rPr lang="en-US">
                      <a:noFill/>
                    </a:rPr>
                    <a:t> </a:t>
                  </a:r>
                </a:p>
              </p:txBody>
            </p:sp>
          </mc:Fallback>
        </mc:AlternateContent>
        <p:sp>
          <p:nvSpPr>
            <p:cNvPr id="71" name="TextBox 70">
              <a:extLst>
                <a:ext uri="{FF2B5EF4-FFF2-40B4-BE49-F238E27FC236}">
                  <a16:creationId xmlns:a16="http://schemas.microsoft.com/office/drawing/2014/main" id="{04FE5A9B-EB24-6A45-89CE-1626647B1086}"/>
                </a:ext>
              </a:extLst>
            </p:cNvPr>
            <p:cNvSpPr txBox="1"/>
            <p:nvPr/>
          </p:nvSpPr>
          <p:spPr>
            <a:xfrm>
              <a:off x="2401493" y="950554"/>
              <a:ext cx="565525" cy="338554"/>
            </a:xfrm>
            <a:prstGeom prst="rect">
              <a:avLst/>
            </a:prstGeom>
            <a:noFill/>
          </p:spPr>
          <p:txBody>
            <a:bodyPr wrap="square" rtlCol="0">
              <a:spAutoFit/>
            </a:bodyPr>
            <a:lstStyle/>
            <a:p>
              <a:r>
                <a:rPr lang="en-US" sz="1600" dirty="0" err="1"/>
                <a:t>V</a:t>
              </a:r>
              <a:r>
                <a:rPr lang="en-US" sz="1600" baseline="-25000" dirty="0" err="1"/>
                <a:t>cc</a:t>
              </a:r>
              <a:endParaRPr lang="en-US" sz="1600" baseline="-25000" dirty="0"/>
            </a:p>
          </p:txBody>
        </p:sp>
        <p:grpSp>
          <p:nvGrpSpPr>
            <p:cNvPr id="72" name="Group 71">
              <a:extLst>
                <a:ext uri="{FF2B5EF4-FFF2-40B4-BE49-F238E27FC236}">
                  <a16:creationId xmlns:a16="http://schemas.microsoft.com/office/drawing/2014/main" id="{81422F77-011B-6E4F-BE53-4E0EACB84DEC}"/>
                </a:ext>
              </a:extLst>
            </p:cNvPr>
            <p:cNvGrpSpPr/>
            <p:nvPr/>
          </p:nvGrpSpPr>
          <p:grpSpPr>
            <a:xfrm>
              <a:off x="1065933" y="2217096"/>
              <a:ext cx="859202" cy="1144703"/>
              <a:chOff x="2362200" y="1905000"/>
              <a:chExt cx="762000" cy="1219200"/>
            </a:xfrm>
          </p:grpSpPr>
          <p:cxnSp>
            <p:nvCxnSpPr>
              <p:cNvPr id="73" name="Straight Connector 72">
                <a:extLst>
                  <a:ext uri="{FF2B5EF4-FFF2-40B4-BE49-F238E27FC236}">
                    <a16:creationId xmlns:a16="http://schemas.microsoft.com/office/drawing/2014/main" id="{87B008A1-DB2A-C445-9C50-19AFA8FB75F3}"/>
                  </a:ext>
                </a:extLst>
              </p:cNvPr>
              <p:cNvCxnSpPr/>
              <p:nvPr/>
            </p:nvCxnSpPr>
            <p:spPr bwMode="auto">
              <a:xfrm>
                <a:off x="2819400" y="2209800"/>
                <a:ext cx="0" cy="640080"/>
              </a:xfrm>
              <a:prstGeom prst="line">
                <a:avLst/>
              </a:prstGeom>
              <a:solidFill>
                <a:schemeClr val="accent1"/>
              </a:solidFill>
              <a:ln w="31750" cap="flat" cmpd="sng" algn="ctr">
                <a:solidFill>
                  <a:schemeClr val="tx1"/>
                </a:solidFill>
                <a:prstDash val="solid"/>
                <a:round/>
                <a:headEnd type="none" w="med" len="med"/>
                <a:tailEnd type="none" w="med" len="med"/>
              </a:ln>
              <a:effectLst/>
            </p:spPr>
          </p:cxnSp>
          <p:cxnSp>
            <p:nvCxnSpPr>
              <p:cNvPr id="74" name="Straight Connector 73">
                <a:extLst>
                  <a:ext uri="{FF2B5EF4-FFF2-40B4-BE49-F238E27FC236}">
                    <a16:creationId xmlns:a16="http://schemas.microsoft.com/office/drawing/2014/main" id="{8C3207B0-4B33-0F43-BCEF-D1899879A124}"/>
                  </a:ext>
                </a:extLst>
              </p:cNvPr>
              <p:cNvCxnSpPr/>
              <p:nvPr/>
            </p:nvCxnSpPr>
            <p:spPr bwMode="auto">
              <a:xfrm>
                <a:off x="3124200" y="1905000"/>
                <a:ext cx="0" cy="45720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75" name="Straight Connector 74">
                <a:extLst>
                  <a:ext uri="{FF2B5EF4-FFF2-40B4-BE49-F238E27FC236}">
                    <a16:creationId xmlns:a16="http://schemas.microsoft.com/office/drawing/2014/main" id="{ED9A016D-0D06-3249-A402-9F29AB452AC4}"/>
                  </a:ext>
                </a:extLst>
              </p:cNvPr>
              <p:cNvCxnSpPr>
                <a:cxnSpLocks/>
              </p:cNvCxnSpPr>
              <p:nvPr/>
            </p:nvCxnSpPr>
            <p:spPr bwMode="auto">
              <a:xfrm>
                <a:off x="2819400" y="2362200"/>
                <a:ext cx="304800"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76" name="Straight Connector 75">
                <a:extLst>
                  <a:ext uri="{FF2B5EF4-FFF2-40B4-BE49-F238E27FC236}">
                    <a16:creationId xmlns:a16="http://schemas.microsoft.com/office/drawing/2014/main" id="{20221B7B-1311-FA42-AA2E-7D1AEEB842CF}"/>
                  </a:ext>
                </a:extLst>
              </p:cNvPr>
              <p:cNvCxnSpPr>
                <a:cxnSpLocks/>
              </p:cNvCxnSpPr>
              <p:nvPr/>
            </p:nvCxnSpPr>
            <p:spPr bwMode="auto">
              <a:xfrm>
                <a:off x="2819400" y="2667000"/>
                <a:ext cx="304800"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77" name="Straight Connector 76">
                <a:extLst>
                  <a:ext uri="{FF2B5EF4-FFF2-40B4-BE49-F238E27FC236}">
                    <a16:creationId xmlns:a16="http://schemas.microsoft.com/office/drawing/2014/main" id="{092396C8-BEA0-154B-B39A-C7775BF422DE}"/>
                  </a:ext>
                </a:extLst>
              </p:cNvPr>
              <p:cNvCxnSpPr/>
              <p:nvPr/>
            </p:nvCxnSpPr>
            <p:spPr bwMode="auto">
              <a:xfrm>
                <a:off x="3124200" y="2667000"/>
                <a:ext cx="0" cy="45720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78" name="Straight Arrow Connector 77">
                <a:extLst>
                  <a:ext uri="{FF2B5EF4-FFF2-40B4-BE49-F238E27FC236}">
                    <a16:creationId xmlns:a16="http://schemas.microsoft.com/office/drawing/2014/main" id="{84EA9F62-BB97-EF40-BF1A-67FDE11A7A80}"/>
                  </a:ext>
                </a:extLst>
              </p:cNvPr>
              <p:cNvCxnSpPr>
                <a:cxnSpLocks/>
              </p:cNvCxnSpPr>
              <p:nvPr/>
            </p:nvCxnSpPr>
            <p:spPr bwMode="auto">
              <a:xfrm>
                <a:off x="2362200" y="2514600"/>
                <a:ext cx="457200" cy="0"/>
              </a:xfrm>
              <a:prstGeom prst="straightConnector1">
                <a:avLst/>
              </a:prstGeom>
              <a:solidFill>
                <a:schemeClr val="accent1"/>
              </a:solidFill>
              <a:ln w="25400" cap="flat" cmpd="sng" algn="ctr">
                <a:solidFill>
                  <a:schemeClr val="tx1"/>
                </a:solidFill>
                <a:prstDash val="solid"/>
                <a:round/>
                <a:headEnd type="none" w="med" len="med"/>
                <a:tailEnd type="triangle"/>
              </a:ln>
              <a:effectLst/>
            </p:spPr>
          </p:cxnSp>
          <p:sp>
            <p:nvSpPr>
              <p:cNvPr id="79" name="TextBox 78">
                <a:extLst>
                  <a:ext uri="{FF2B5EF4-FFF2-40B4-BE49-F238E27FC236}">
                    <a16:creationId xmlns:a16="http://schemas.microsoft.com/office/drawing/2014/main" id="{ECC8B92B-5284-F641-94B8-4084D5760EAA}"/>
                  </a:ext>
                </a:extLst>
              </p:cNvPr>
              <p:cNvSpPr txBox="1"/>
              <p:nvPr/>
            </p:nvSpPr>
            <p:spPr>
              <a:xfrm>
                <a:off x="2819400" y="1905000"/>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D</a:t>
                </a:r>
              </a:p>
            </p:txBody>
          </p:sp>
          <p:sp>
            <p:nvSpPr>
              <p:cNvPr id="80" name="TextBox 79">
                <a:extLst>
                  <a:ext uri="{FF2B5EF4-FFF2-40B4-BE49-F238E27FC236}">
                    <a16:creationId xmlns:a16="http://schemas.microsoft.com/office/drawing/2014/main" id="{D96E907E-38B6-FB4A-A4C1-03C5081144FE}"/>
                  </a:ext>
                </a:extLst>
              </p:cNvPr>
              <p:cNvSpPr txBox="1"/>
              <p:nvPr/>
            </p:nvSpPr>
            <p:spPr>
              <a:xfrm>
                <a:off x="2819400" y="2664023"/>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S</a:t>
                </a:r>
              </a:p>
            </p:txBody>
          </p:sp>
          <p:sp>
            <p:nvSpPr>
              <p:cNvPr id="81" name="TextBox 80">
                <a:extLst>
                  <a:ext uri="{FF2B5EF4-FFF2-40B4-BE49-F238E27FC236}">
                    <a16:creationId xmlns:a16="http://schemas.microsoft.com/office/drawing/2014/main" id="{456D710B-E4D4-BF47-AC97-D90610431526}"/>
                  </a:ext>
                </a:extLst>
              </p:cNvPr>
              <p:cNvSpPr txBox="1"/>
              <p:nvPr/>
            </p:nvSpPr>
            <p:spPr>
              <a:xfrm>
                <a:off x="2438400" y="2206823"/>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G</a:t>
                </a:r>
              </a:p>
            </p:txBody>
          </p:sp>
        </p:grpSp>
        <p:cxnSp>
          <p:nvCxnSpPr>
            <p:cNvPr id="82" name="Straight Connector 81">
              <a:extLst>
                <a:ext uri="{FF2B5EF4-FFF2-40B4-BE49-F238E27FC236}">
                  <a16:creationId xmlns:a16="http://schemas.microsoft.com/office/drawing/2014/main" id="{8236E4EA-4E74-C342-B33B-07017537A288}"/>
                </a:ext>
              </a:extLst>
            </p:cNvPr>
            <p:cNvCxnSpPr>
              <a:cxnSpLocks/>
            </p:cNvCxnSpPr>
            <p:nvPr/>
          </p:nvCxnSpPr>
          <p:spPr>
            <a:xfrm>
              <a:off x="1067743" y="2169094"/>
              <a:ext cx="7999" cy="63360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09E0A398-FD28-7A45-8B85-826BDBD82B2F}"/>
                </a:ext>
              </a:extLst>
            </p:cNvPr>
            <p:cNvCxnSpPr>
              <a:cxnSpLocks/>
            </p:cNvCxnSpPr>
            <p:nvPr/>
          </p:nvCxnSpPr>
          <p:spPr>
            <a:xfrm>
              <a:off x="1449425" y="2208514"/>
              <a:ext cx="10972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Oval 83">
              <a:extLst>
                <a:ext uri="{FF2B5EF4-FFF2-40B4-BE49-F238E27FC236}">
                  <a16:creationId xmlns:a16="http://schemas.microsoft.com/office/drawing/2014/main" id="{ABDD3D6E-D171-5A45-9B73-685394294AD8}"/>
                </a:ext>
              </a:extLst>
            </p:cNvPr>
            <p:cNvSpPr>
              <a:spLocks noChangeAspect="1" noChangeArrowheads="1"/>
            </p:cNvSpPr>
            <p:nvPr/>
          </p:nvSpPr>
          <p:spPr bwMode="auto">
            <a:xfrm>
              <a:off x="2486303" y="2130426"/>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85" name="TextBox 84">
              <a:extLst>
                <a:ext uri="{FF2B5EF4-FFF2-40B4-BE49-F238E27FC236}">
                  <a16:creationId xmlns:a16="http://schemas.microsoft.com/office/drawing/2014/main" id="{4581D90A-9B8F-EA4B-A0E7-621FE6A1B10F}"/>
                </a:ext>
              </a:extLst>
            </p:cNvPr>
            <p:cNvSpPr txBox="1"/>
            <p:nvPr/>
          </p:nvSpPr>
          <p:spPr>
            <a:xfrm>
              <a:off x="2396245" y="2267586"/>
              <a:ext cx="565525" cy="338554"/>
            </a:xfrm>
            <a:prstGeom prst="rect">
              <a:avLst/>
            </a:prstGeom>
            <a:noFill/>
          </p:spPr>
          <p:txBody>
            <a:bodyPr wrap="square" rtlCol="0">
              <a:spAutoFit/>
            </a:bodyPr>
            <a:lstStyle/>
            <a:p>
              <a:r>
                <a:rPr lang="en-US" sz="1600" dirty="0"/>
                <a:t>out</a:t>
              </a:r>
              <a:endParaRPr lang="en-US" sz="1600" baseline="-25000" dirty="0"/>
            </a:p>
          </p:txBody>
        </p:sp>
        <p:sp>
          <p:nvSpPr>
            <p:cNvPr id="86" name="Freeform 85">
              <a:extLst>
                <a:ext uri="{FF2B5EF4-FFF2-40B4-BE49-F238E27FC236}">
                  <a16:creationId xmlns:a16="http://schemas.microsoft.com/office/drawing/2014/main" id="{8ADC43CA-2511-0B41-926A-ADC577428FF3}"/>
                </a:ext>
              </a:extLst>
            </p:cNvPr>
            <p:cNvSpPr>
              <a:spLocks noChangeAspect="1"/>
            </p:cNvSpPr>
            <p:nvPr/>
          </p:nvSpPr>
          <p:spPr bwMode="auto">
            <a:xfrm>
              <a:off x="1849558" y="3273958"/>
              <a:ext cx="147456" cy="743474"/>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87" name="Group 210">
              <a:extLst>
                <a:ext uri="{FF2B5EF4-FFF2-40B4-BE49-F238E27FC236}">
                  <a16:creationId xmlns:a16="http://schemas.microsoft.com/office/drawing/2014/main" id="{5E2E371B-5F77-5345-ABD3-F7DAF8D5B027}"/>
                </a:ext>
              </a:extLst>
            </p:cNvPr>
            <p:cNvGrpSpPr>
              <a:grpSpLocks/>
            </p:cNvGrpSpPr>
            <p:nvPr/>
          </p:nvGrpSpPr>
          <p:grpSpPr bwMode="auto">
            <a:xfrm>
              <a:off x="2363113" y="2941437"/>
              <a:ext cx="304800" cy="762000"/>
              <a:chOff x="3216" y="1728"/>
              <a:chExt cx="192" cy="480"/>
            </a:xfrm>
          </p:grpSpPr>
          <p:sp>
            <p:nvSpPr>
              <p:cNvPr id="88" name="Line 8">
                <a:extLst>
                  <a:ext uri="{FF2B5EF4-FFF2-40B4-BE49-F238E27FC236}">
                    <a16:creationId xmlns:a16="http://schemas.microsoft.com/office/drawing/2014/main" id="{40C34176-27BF-9B47-A83F-8E8B3F9B93ED}"/>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 name="Line 9">
                <a:extLst>
                  <a:ext uri="{FF2B5EF4-FFF2-40B4-BE49-F238E27FC236}">
                    <a16:creationId xmlns:a16="http://schemas.microsoft.com/office/drawing/2014/main" id="{A114B15A-D8D9-0444-A658-CC7A97057645}"/>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 name="Line 10">
                <a:extLst>
                  <a:ext uri="{FF2B5EF4-FFF2-40B4-BE49-F238E27FC236}">
                    <a16:creationId xmlns:a16="http://schemas.microsoft.com/office/drawing/2014/main" id="{91E6F7D3-F29B-4044-AFF8-D50821CB81FF}"/>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 name="Line 11">
                <a:extLst>
                  <a:ext uri="{FF2B5EF4-FFF2-40B4-BE49-F238E27FC236}">
                    <a16:creationId xmlns:a16="http://schemas.microsoft.com/office/drawing/2014/main" id="{C193E7FC-67BE-0B4E-84D4-0CA3D69C8184}"/>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92" name="Straight Connector 91">
              <a:extLst>
                <a:ext uri="{FF2B5EF4-FFF2-40B4-BE49-F238E27FC236}">
                  <a16:creationId xmlns:a16="http://schemas.microsoft.com/office/drawing/2014/main" id="{FEF2CDD1-3ED6-8844-87F5-B9E1D235C150}"/>
                </a:ext>
              </a:extLst>
            </p:cNvPr>
            <p:cNvCxnSpPr>
              <a:cxnSpLocks/>
            </p:cNvCxnSpPr>
            <p:nvPr/>
          </p:nvCxnSpPr>
          <p:spPr>
            <a:xfrm>
              <a:off x="1656676" y="2929740"/>
              <a:ext cx="87984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4" name="Group 220">
              <a:extLst>
                <a:ext uri="{FF2B5EF4-FFF2-40B4-BE49-F238E27FC236}">
                  <a16:creationId xmlns:a16="http://schemas.microsoft.com/office/drawing/2014/main" id="{636776F8-F403-984C-A667-BDF6E687C3F9}"/>
                </a:ext>
              </a:extLst>
            </p:cNvPr>
            <p:cNvGrpSpPr>
              <a:grpSpLocks/>
            </p:cNvGrpSpPr>
            <p:nvPr/>
          </p:nvGrpSpPr>
          <p:grpSpPr bwMode="auto">
            <a:xfrm>
              <a:off x="1854840" y="3932937"/>
              <a:ext cx="152400" cy="304800"/>
              <a:chOff x="3264" y="3072"/>
              <a:chExt cx="96" cy="192"/>
            </a:xfrm>
          </p:grpSpPr>
          <p:sp>
            <p:nvSpPr>
              <p:cNvPr id="95" name="Line 17">
                <a:extLst>
                  <a:ext uri="{FF2B5EF4-FFF2-40B4-BE49-F238E27FC236}">
                    <a16:creationId xmlns:a16="http://schemas.microsoft.com/office/drawing/2014/main" id="{EF58EA5E-8F47-6E45-B896-78006D7C56FC}"/>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 name="Freeform 18">
                <a:extLst>
                  <a:ext uri="{FF2B5EF4-FFF2-40B4-BE49-F238E27FC236}">
                    <a16:creationId xmlns:a16="http://schemas.microsoft.com/office/drawing/2014/main" id="{9252F564-7677-FA4B-9E8D-6B0962A46CCB}"/>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97" name="TextBox 96">
              <a:extLst>
                <a:ext uri="{FF2B5EF4-FFF2-40B4-BE49-F238E27FC236}">
                  <a16:creationId xmlns:a16="http://schemas.microsoft.com/office/drawing/2014/main" id="{56EDB773-4F9F-0644-B9F0-AC5D59DF6168}"/>
                </a:ext>
              </a:extLst>
            </p:cNvPr>
            <p:cNvSpPr txBox="1"/>
            <p:nvPr/>
          </p:nvSpPr>
          <p:spPr>
            <a:xfrm>
              <a:off x="1480178" y="3473628"/>
              <a:ext cx="400820" cy="338554"/>
            </a:xfrm>
            <a:prstGeom prst="rect">
              <a:avLst/>
            </a:prstGeom>
            <a:noFill/>
          </p:spPr>
          <p:txBody>
            <a:bodyPr wrap="square" rtlCol="0">
              <a:spAutoFit/>
            </a:bodyPr>
            <a:lstStyle/>
            <a:p>
              <a:r>
                <a:rPr lang="en-US" sz="1600" dirty="0"/>
                <a:t>R</a:t>
              </a:r>
              <a:r>
                <a:rPr lang="en-US" sz="1600" baseline="-25000" dirty="0"/>
                <a:t>1</a:t>
              </a:r>
            </a:p>
          </p:txBody>
        </p:sp>
      </p:grpSp>
      <p:grpSp>
        <p:nvGrpSpPr>
          <p:cNvPr id="232" name="Group 231">
            <a:extLst>
              <a:ext uri="{FF2B5EF4-FFF2-40B4-BE49-F238E27FC236}">
                <a16:creationId xmlns:a16="http://schemas.microsoft.com/office/drawing/2014/main" id="{B0A49E31-4C59-C44A-82DA-C9148D4CBE33}"/>
              </a:ext>
            </a:extLst>
          </p:cNvPr>
          <p:cNvGrpSpPr/>
          <p:nvPr/>
        </p:nvGrpSpPr>
        <p:grpSpPr>
          <a:xfrm>
            <a:off x="6829939" y="1486135"/>
            <a:ext cx="3713722" cy="4759676"/>
            <a:chOff x="8202972" y="1172222"/>
            <a:chExt cx="3713722" cy="4759676"/>
          </a:xfrm>
        </p:grpSpPr>
        <p:grpSp>
          <p:nvGrpSpPr>
            <p:cNvPr id="100" name="Group 39">
              <a:extLst>
                <a:ext uri="{FF2B5EF4-FFF2-40B4-BE49-F238E27FC236}">
                  <a16:creationId xmlns:a16="http://schemas.microsoft.com/office/drawing/2014/main" id="{A8D13AA3-0B77-624A-A224-2BB15AFC9BBF}"/>
                </a:ext>
              </a:extLst>
            </p:cNvPr>
            <p:cNvGrpSpPr>
              <a:grpSpLocks/>
            </p:cNvGrpSpPr>
            <p:nvPr/>
          </p:nvGrpSpPr>
          <p:grpSpPr bwMode="auto">
            <a:xfrm>
              <a:off x="8925294" y="1978916"/>
              <a:ext cx="1676400" cy="1371600"/>
              <a:chOff x="2496" y="1968"/>
              <a:chExt cx="1056" cy="864"/>
            </a:xfrm>
          </p:grpSpPr>
          <p:sp>
            <p:nvSpPr>
              <p:cNvPr id="195" name="Line 40">
                <a:extLst>
                  <a:ext uri="{FF2B5EF4-FFF2-40B4-BE49-F238E27FC236}">
                    <a16:creationId xmlns:a16="http://schemas.microsoft.com/office/drawing/2014/main" id="{7638AEAE-BFA7-594B-BF37-DA3388E98B8E}"/>
                  </a:ext>
                </a:extLst>
              </p:cNvPr>
              <p:cNvSpPr>
                <a:spLocks noChangeShapeType="1"/>
              </p:cNvSpPr>
              <p:nvPr/>
            </p:nvSpPr>
            <p:spPr bwMode="auto">
              <a:xfrm>
                <a:off x="2496" y="216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 name="Line 41">
                <a:extLst>
                  <a:ext uri="{FF2B5EF4-FFF2-40B4-BE49-F238E27FC236}">
                    <a16:creationId xmlns:a16="http://schemas.microsoft.com/office/drawing/2014/main" id="{7D84375F-9C81-CC48-9012-0D1AF55ADC85}"/>
                  </a:ext>
                </a:extLst>
              </p:cNvPr>
              <p:cNvSpPr>
                <a:spLocks noChangeShapeType="1"/>
              </p:cNvSpPr>
              <p:nvPr/>
            </p:nvSpPr>
            <p:spPr bwMode="auto">
              <a:xfrm>
                <a:off x="2496" y="264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7" name="Line 42">
                <a:extLst>
                  <a:ext uri="{FF2B5EF4-FFF2-40B4-BE49-F238E27FC236}">
                    <a16:creationId xmlns:a16="http://schemas.microsoft.com/office/drawing/2014/main" id="{B8CEFAD3-4A20-4E47-B6A9-B5B72CAAF0F2}"/>
                  </a:ext>
                </a:extLst>
              </p:cNvPr>
              <p:cNvSpPr>
                <a:spLocks noChangeShapeType="1"/>
              </p:cNvSpPr>
              <p:nvPr/>
            </p:nvSpPr>
            <p:spPr bwMode="auto">
              <a:xfrm>
                <a:off x="3360" y="240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8" name="Freeform 43">
                <a:extLst>
                  <a:ext uri="{FF2B5EF4-FFF2-40B4-BE49-F238E27FC236}">
                    <a16:creationId xmlns:a16="http://schemas.microsoft.com/office/drawing/2014/main" id="{197AB69D-68B7-5E4A-9E24-F4DB3BC6E494}"/>
                  </a:ext>
                </a:extLst>
              </p:cNvPr>
              <p:cNvSpPr>
                <a:spLocks/>
              </p:cNvSpPr>
              <p:nvPr/>
            </p:nvSpPr>
            <p:spPr bwMode="auto">
              <a:xfrm>
                <a:off x="2688" y="1968"/>
                <a:ext cx="672" cy="864"/>
              </a:xfrm>
              <a:custGeom>
                <a:avLst/>
                <a:gdLst>
                  <a:gd name="T0" fmla="*/ 6120 w 432"/>
                  <a:gd name="T1" fmla="*/ 779 h 768"/>
                  <a:gd name="T2" fmla="*/ 0 w 432"/>
                  <a:gd name="T3" fmla="*/ 1558 h 768"/>
                  <a:gd name="T4" fmla="*/ 0 w 432"/>
                  <a:gd name="T5" fmla="*/ 0 h 768"/>
                  <a:gd name="T6" fmla="*/ 6120 w 432"/>
                  <a:gd name="T7" fmla="*/ 779 h 768"/>
                  <a:gd name="T8" fmla="*/ 0 60000 65536"/>
                  <a:gd name="T9" fmla="*/ 0 60000 65536"/>
                  <a:gd name="T10" fmla="*/ 0 60000 65536"/>
                  <a:gd name="T11" fmla="*/ 0 60000 65536"/>
                  <a:gd name="T12" fmla="*/ 0 w 432"/>
                  <a:gd name="T13" fmla="*/ 0 h 768"/>
                  <a:gd name="T14" fmla="*/ 432 w 432"/>
                  <a:gd name="T15" fmla="*/ 768 h 768"/>
                </a:gdLst>
                <a:ahLst/>
                <a:cxnLst>
                  <a:cxn ang="T8">
                    <a:pos x="T0" y="T1"/>
                  </a:cxn>
                  <a:cxn ang="T9">
                    <a:pos x="T2" y="T3"/>
                  </a:cxn>
                  <a:cxn ang="T10">
                    <a:pos x="T4" y="T5"/>
                  </a:cxn>
                  <a:cxn ang="T11">
                    <a:pos x="T6" y="T7"/>
                  </a:cxn>
                </a:cxnLst>
                <a:rect l="T12" t="T13" r="T14" b="T15"/>
                <a:pathLst>
                  <a:path w="432" h="768">
                    <a:moveTo>
                      <a:pt x="432" y="384"/>
                    </a:moveTo>
                    <a:lnTo>
                      <a:pt x="0" y="768"/>
                    </a:lnTo>
                    <a:lnTo>
                      <a:pt x="0" y="0"/>
                    </a:lnTo>
                    <a:lnTo>
                      <a:pt x="432" y="38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grpSp>
        <p:sp>
          <p:nvSpPr>
            <p:cNvPr id="101" name="Freeform 12">
              <a:extLst>
                <a:ext uri="{FF2B5EF4-FFF2-40B4-BE49-F238E27FC236}">
                  <a16:creationId xmlns:a16="http://schemas.microsoft.com/office/drawing/2014/main" id="{AFB6E3F5-55DD-0E42-B9CB-B1785A6A50E0}"/>
                </a:ext>
              </a:extLst>
            </p:cNvPr>
            <p:cNvSpPr>
              <a:spLocks noChangeAspect="1"/>
            </p:cNvSpPr>
            <p:nvPr/>
          </p:nvSpPr>
          <p:spPr bwMode="auto">
            <a:xfrm>
              <a:off x="9586515" y="3624952"/>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TextBox 101">
              <a:extLst>
                <a:ext uri="{FF2B5EF4-FFF2-40B4-BE49-F238E27FC236}">
                  <a16:creationId xmlns:a16="http://schemas.microsoft.com/office/drawing/2014/main" id="{733535C0-6C7D-544F-92DA-23FFDB5C492B}"/>
                </a:ext>
              </a:extLst>
            </p:cNvPr>
            <p:cNvSpPr txBox="1"/>
            <p:nvPr/>
          </p:nvSpPr>
          <p:spPr>
            <a:xfrm flipH="1">
              <a:off x="9227341" y="2830285"/>
              <a:ext cx="439757" cy="369332"/>
            </a:xfrm>
            <a:prstGeom prst="rect">
              <a:avLst/>
            </a:prstGeom>
            <a:noFill/>
          </p:spPr>
          <p:txBody>
            <a:bodyPr wrap="square" rtlCol="0">
              <a:spAutoFit/>
            </a:bodyPr>
            <a:lstStyle/>
            <a:p>
              <a:r>
                <a:rPr lang="en-US" dirty="0"/>
                <a:t>+</a:t>
              </a:r>
            </a:p>
          </p:txBody>
        </p:sp>
        <p:sp>
          <p:nvSpPr>
            <p:cNvPr id="103" name="TextBox 102">
              <a:extLst>
                <a:ext uri="{FF2B5EF4-FFF2-40B4-BE49-F238E27FC236}">
                  <a16:creationId xmlns:a16="http://schemas.microsoft.com/office/drawing/2014/main" id="{650048CD-2A90-F944-8959-475A81DAF5C6}"/>
                </a:ext>
              </a:extLst>
            </p:cNvPr>
            <p:cNvSpPr txBox="1"/>
            <p:nvPr/>
          </p:nvSpPr>
          <p:spPr>
            <a:xfrm flipH="1">
              <a:off x="9269571" y="2090318"/>
              <a:ext cx="439757" cy="369332"/>
            </a:xfrm>
            <a:prstGeom prst="rect">
              <a:avLst/>
            </a:prstGeom>
            <a:noFill/>
          </p:spPr>
          <p:txBody>
            <a:bodyPr wrap="square" rtlCol="0">
              <a:spAutoFit/>
            </a:bodyPr>
            <a:lstStyle/>
            <a:p>
              <a:r>
                <a:rPr lang="en-US" dirty="0"/>
                <a:t>-</a:t>
              </a:r>
            </a:p>
          </p:txBody>
        </p:sp>
        <p:sp>
          <p:nvSpPr>
            <p:cNvPr id="105" name="TextBox 104">
              <a:extLst>
                <a:ext uri="{FF2B5EF4-FFF2-40B4-BE49-F238E27FC236}">
                  <a16:creationId xmlns:a16="http://schemas.microsoft.com/office/drawing/2014/main" id="{443DA053-CC1B-5245-8309-1CDB0F8FFFFB}"/>
                </a:ext>
              </a:extLst>
            </p:cNvPr>
            <p:cNvSpPr txBox="1"/>
            <p:nvPr/>
          </p:nvSpPr>
          <p:spPr>
            <a:xfrm>
              <a:off x="9077694" y="1172222"/>
              <a:ext cx="1642465" cy="338554"/>
            </a:xfrm>
            <a:prstGeom prst="rect">
              <a:avLst/>
            </a:prstGeom>
            <a:noFill/>
          </p:spPr>
          <p:txBody>
            <a:bodyPr wrap="square" rtlCol="0">
              <a:spAutoFit/>
            </a:bodyPr>
            <a:lstStyle/>
            <a:p>
              <a:r>
                <a:rPr lang="en-US" sz="1600" dirty="0"/>
                <a:t>B</a:t>
              </a:r>
              <a:r>
                <a:rPr lang="en-US" sz="1600" baseline="-25000" dirty="0"/>
                <a:t>2 </a:t>
              </a:r>
              <a:r>
                <a:rPr lang="en-US" sz="1600" dirty="0"/>
                <a:t>feedback</a:t>
              </a:r>
              <a:endParaRPr lang="en-US" baseline="-25000" dirty="0"/>
            </a:p>
          </p:txBody>
        </p:sp>
        <p:sp>
          <p:nvSpPr>
            <p:cNvPr id="111" name="TextBox 110">
              <a:extLst>
                <a:ext uri="{FF2B5EF4-FFF2-40B4-BE49-F238E27FC236}">
                  <a16:creationId xmlns:a16="http://schemas.microsoft.com/office/drawing/2014/main" id="{1A8AB0B5-D293-4C48-8206-072908C0F9D4}"/>
                </a:ext>
              </a:extLst>
            </p:cNvPr>
            <p:cNvSpPr txBox="1"/>
            <p:nvPr/>
          </p:nvSpPr>
          <p:spPr>
            <a:xfrm>
              <a:off x="9378405" y="2459650"/>
              <a:ext cx="427432" cy="369332"/>
            </a:xfrm>
            <a:prstGeom prst="rect">
              <a:avLst/>
            </a:prstGeom>
            <a:noFill/>
          </p:spPr>
          <p:txBody>
            <a:bodyPr wrap="square" rtlCol="0">
              <a:spAutoFit/>
            </a:bodyPr>
            <a:lstStyle/>
            <a:p>
              <a:r>
                <a:rPr lang="en-US" dirty="0"/>
                <a:t>A</a:t>
              </a:r>
            </a:p>
          </p:txBody>
        </p:sp>
        <p:sp>
          <p:nvSpPr>
            <p:cNvPr id="112" name="Freeform 12">
              <a:extLst>
                <a:ext uri="{FF2B5EF4-FFF2-40B4-BE49-F238E27FC236}">
                  <a16:creationId xmlns:a16="http://schemas.microsoft.com/office/drawing/2014/main" id="{00A5FF19-FDA9-974E-82A9-9DBBDA36DE25}"/>
                </a:ext>
              </a:extLst>
            </p:cNvPr>
            <p:cNvSpPr>
              <a:spLocks noChangeAspect="1"/>
            </p:cNvSpPr>
            <p:nvPr/>
          </p:nvSpPr>
          <p:spPr bwMode="auto">
            <a:xfrm>
              <a:off x="8483232" y="1688536"/>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116" name="Straight Connector 115">
              <a:extLst>
                <a:ext uri="{FF2B5EF4-FFF2-40B4-BE49-F238E27FC236}">
                  <a16:creationId xmlns:a16="http://schemas.microsoft.com/office/drawing/2014/main" id="{E62AA87C-5F42-8E49-812F-E2471A4E221D}"/>
                </a:ext>
              </a:extLst>
            </p:cNvPr>
            <p:cNvCxnSpPr>
              <a:cxnSpLocks/>
            </p:cNvCxnSpPr>
            <p:nvPr/>
          </p:nvCxnSpPr>
          <p:spPr>
            <a:xfrm>
              <a:off x="8934015" y="3031462"/>
              <a:ext cx="0" cy="594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E9CFE071-BDF9-664B-AC1E-7E8A2DE62C40}"/>
                </a:ext>
              </a:extLst>
            </p:cNvPr>
            <p:cNvCxnSpPr>
              <a:cxnSpLocks/>
            </p:cNvCxnSpPr>
            <p:nvPr/>
          </p:nvCxnSpPr>
          <p:spPr>
            <a:xfrm>
              <a:off x="8934015" y="3605923"/>
              <a:ext cx="8229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57FE8E83-B979-A742-9A72-3714D39DCB63}"/>
                </a:ext>
              </a:extLst>
            </p:cNvPr>
            <p:cNvCxnSpPr>
              <a:cxnSpLocks/>
            </p:cNvCxnSpPr>
            <p:nvPr/>
          </p:nvCxnSpPr>
          <p:spPr>
            <a:xfrm>
              <a:off x="11092796" y="2663020"/>
              <a:ext cx="0" cy="9692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9" name="Group 13">
              <a:extLst>
                <a:ext uri="{FF2B5EF4-FFF2-40B4-BE49-F238E27FC236}">
                  <a16:creationId xmlns:a16="http://schemas.microsoft.com/office/drawing/2014/main" id="{CDEC87C2-5450-CD4B-A5DD-716A1E0DADD9}"/>
                </a:ext>
              </a:extLst>
            </p:cNvPr>
            <p:cNvGrpSpPr>
              <a:grpSpLocks noChangeAspect="1"/>
            </p:cNvGrpSpPr>
            <p:nvPr/>
          </p:nvGrpSpPr>
          <p:grpSpPr bwMode="auto">
            <a:xfrm>
              <a:off x="9570568" y="3530055"/>
              <a:ext cx="182880" cy="182880"/>
              <a:chOff x="1344" y="2064"/>
              <a:chExt cx="192" cy="192"/>
            </a:xfrm>
          </p:grpSpPr>
          <p:sp>
            <p:nvSpPr>
              <p:cNvPr id="176" name="Oval 14">
                <a:extLst>
                  <a:ext uri="{FF2B5EF4-FFF2-40B4-BE49-F238E27FC236}">
                    <a16:creationId xmlns:a16="http://schemas.microsoft.com/office/drawing/2014/main" id="{DD67EAC0-D39C-9C40-99C7-1AC122ABEEEB}"/>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77" name="Rectangle 15">
                <a:extLst>
                  <a:ext uri="{FF2B5EF4-FFF2-40B4-BE49-F238E27FC236}">
                    <a16:creationId xmlns:a16="http://schemas.microsoft.com/office/drawing/2014/main" id="{07477E34-9EF0-264B-AAB1-04C1B3A8DA26}"/>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24" name="Group 220">
              <a:extLst>
                <a:ext uri="{FF2B5EF4-FFF2-40B4-BE49-F238E27FC236}">
                  <a16:creationId xmlns:a16="http://schemas.microsoft.com/office/drawing/2014/main" id="{2386C8C9-2D4D-6541-AE76-85FDF576C713}"/>
                </a:ext>
              </a:extLst>
            </p:cNvPr>
            <p:cNvGrpSpPr>
              <a:grpSpLocks/>
            </p:cNvGrpSpPr>
            <p:nvPr/>
          </p:nvGrpSpPr>
          <p:grpSpPr bwMode="auto">
            <a:xfrm>
              <a:off x="9581046" y="4316818"/>
              <a:ext cx="152400" cy="304800"/>
              <a:chOff x="3264" y="3072"/>
              <a:chExt cx="96" cy="192"/>
            </a:xfrm>
          </p:grpSpPr>
          <p:sp>
            <p:nvSpPr>
              <p:cNvPr id="166" name="Line 17">
                <a:extLst>
                  <a:ext uri="{FF2B5EF4-FFF2-40B4-BE49-F238E27FC236}">
                    <a16:creationId xmlns:a16="http://schemas.microsoft.com/office/drawing/2014/main" id="{4E2605A7-17B2-334E-8587-12E3418F66DA}"/>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7" name="Freeform 18">
                <a:extLst>
                  <a:ext uri="{FF2B5EF4-FFF2-40B4-BE49-F238E27FC236}">
                    <a16:creationId xmlns:a16="http://schemas.microsoft.com/office/drawing/2014/main" id="{1074417A-2669-DD4E-B96D-0D8CD387F264}"/>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27" name="Group 210">
              <a:extLst>
                <a:ext uri="{FF2B5EF4-FFF2-40B4-BE49-F238E27FC236}">
                  <a16:creationId xmlns:a16="http://schemas.microsoft.com/office/drawing/2014/main" id="{32E717E4-A6C9-9745-8BEF-0BAAEC0435F3}"/>
                </a:ext>
              </a:extLst>
            </p:cNvPr>
            <p:cNvGrpSpPr>
              <a:grpSpLocks/>
            </p:cNvGrpSpPr>
            <p:nvPr/>
          </p:nvGrpSpPr>
          <p:grpSpPr bwMode="auto">
            <a:xfrm rot="5400000">
              <a:off x="10559396" y="3232296"/>
              <a:ext cx="304800" cy="762000"/>
              <a:chOff x="3216" y="1728"/>
              <a:chExt cx="192" cy="480"/>
            </a:xfrm>
          </p:grpSpPr>
          <p:sp>
            <p:nvSpPr>
              <p:cNvPr id="160" name="Line 8">
                <a:extLst>
                  <a:ext uri="{FF2B5EF4-FFF2-40B4-BE49-F238E27FC236}">
                    <a16:creationId xmlns:a16="http://schemas.microsoft.com/office/drawing/2014/main" id="{C60DCE57-2AE1-D24A-82F4-B954D4D2B4C3}"/>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1" name="Line 9">
                <a:extLst>
                  <a:ext uri="{FF2B5EF4-FFF2-40B4-BE49-F238E27FC236}">
                    <a16:creationId xmlns:a16="http://schemas.microsoft.com/office/drawing/2014/main" id="{4B07E53B-0682-D94F-8BFB-C6690A308535}"/>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2" name="Line 10">
                <a:extLst>
                  <a:ext uri="{FF2B5EF4-FFF2-40B4-BE49-F238E27FC236}">
                    <a16:creationId xmlns:a16="http://schemas.microsoft.com/office/drawing/2014/main" id="{1691D767-0B6B-F146-BEA0-DC43F2165633}"/>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 name="Line 11">
                <a:extLst>
                  <a:ext uri="{FF2B5EF4-FFF2-40B4-BE49-F238E27FC236}">
                    <a16:creationId xmlns:a16="http://schemas.microsoft.com/office/drawing/2014/main" id="{5B8F794D-BC50-254D-BA93-F468E8F16625}"/>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9" name="Freeform 12">
              <a:extLst>
                <a:ext uri="{FF2B5EF4-FFF2-40B4-BE49-F238E27FC236}">
                  <a16:creationId xmlns:a16="http://schemas.microsoft.com/office/drawing/2014/main" id="{ED34A97B-57FA-FB4F-B873-DD0CD3D07CCB}"/>
                </a:ext>
              </a:extLst>
            </p:cNvPr>
            <p:cNvSpPr>
              <a:spLocks noChangeAspect="1"/>
            </p:cNvSpPr>
            <p:nvPr/>
          </p:nvSpPr>
          <p:spPr bwMode="auto">
            <a:xfrm rot="5400000">
              <a:off x="10651270" y="1314343"/>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30" name="Group 13">
              <a:extLst>
                <a:ext uri="{FF2B5EF4-FFF2-40B4-BE49-F238E27FC236}">
                  <a16:creationId xmlns:a16="http://schemas.microsoft.com/office/drawing/2014/main" id="{2999B92B-4648-0240-8491-AA4817FF7A30}"/>
                </a:ext>
              </a:extLst>
            </p:cNvPr>
            <p:cNvGrpSpPr>
              <a:grpSpLocks noChangeAspect="1"/>
            </p:cNvGrpSpPr>
            <p:nvPr/>
          </p:nvGrpSpPr>
          <p:grpSpPr bwMode="auto">
            <a:xfrm>
              <a:off x="11420456" y="2566818"/>
              <a:ext cx="182880" cy="182880"/>
              <a:chOff x="1344" y="2064"/>
              <a:chExt cx="192" cy="192"/>
            </a:xfrm>
          </p:grpSpPr>
          <p:sp>
            <p:nvSpPr>
              <p:cNvPr id="158" name="Oval 14">
                <a:extLst>
                  <a:ext uri="{FF2B5EF4-FFF2-40B4-BE49-F238E27FC236}">
                    <a16:creationId xmlns:a16="http://schemas.microsoft.com/office/drawing/2014/main" id="{D179760F-CE63-A64D-832A-17617D3E3211}"/>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59" name="Rectangle 15">
                <a:extLst>
                  <a:ext uri="{FF2B5EF4-FFF2-40B4-BE49-F238E27FC236}">
                    <a16:creationId xmlns:a16="http://schemas.microsoft.com/office/drawing/2014/main" id="{B0099EC7-B3E3-F947-BDA8-75ED742B2084}"/>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99" name="Group 220">
              <a:extLst>
                <a:ext uri="{FF2B5EF4-FFF2-40B4-BE49-F238E27FC236}">
                  <a16:creationId xmlns:a16="http://schemas.microsoft.com/office/drawing/2014/main" id="{6317F5BA-EA6A-C243-B925-6550A8387B50}"/>
                </a:ext>
              </a:extLst>
            </p:cNvPr>
            <p:cNvGrpSpPr>
              <a:grpSpLocks/>
            </p:cNvGrpSpPr>
            <p:nvPr/>
          </p:nvGrpSpPr>
          <p:grpSpPr bwMode="auto">
            <a:xfrm>
              <a:off x="8479750" y="2402428"/>
              <a:ext cx="152400" cy="304800"/>
              <a:chOff x="3264" y="3072"/>
              <a:chExt cx="96" cy="192"/>
            </a:xfrm>
          </p:grpSpPr>
          <p:sp>
            <p:nvSpPr>
              <p:cNvPr id="200" name="Line 17">
                <a:extLst>
                  <a:ext uri="{FF2B5EF4-FFF2-40B4-BE49-F238E27FC236}">
                    <a16:creationId xmlns:a16="http://schemas.microsoft.com/office/drawing/2014/main" id="{E414DFDB-0F8A-894B-9EF3-1933DE35807A}"/>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1" name="Freeform 18">
                <a:extLst>
                  <a:ext uri="{FF2B5EF4-FFF2-40B4-BE49-F238E27FC236}">
                    <a16:creationId xmlns:a16="http://schemas.microsoft.com/office/drawing/2014/main" id="{7569E140-274F-C848-B2A8-7B67D832B586}"/>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02" name="Group 210">
              <a:extLst>
                <a:ext uri="{FF2B5EF4-FFF2-40B4-BE49-F238E27FC236}">
                  <a16:creationId xmlns:a16="http://schemas.microsoft.com/office/drawing/2014/main" id="{F549094A-C7E9-484F-8191-31531D678BD3}"/>
                </a:ext>
              </a:extLst>
            </p:cNvPr>
            <p:cNvGrpSpPr>
              <a:grpSpLocks/>
            </p:cNvGrpSpPr>
            <p:nvPr/>
          </p:nvGrpSpPr>
          <p:grpSpPr bwMode="auto">
            <a:xfrm>
              <a:off x="9142419" y="3600770"/>
              <a:ext cx="304800" cy="762000"/>
              <a:chOff x="3216" y="1728"/>
              <a:chExt cx="192" cy="480"/>
            </a:xfrm>
          </p:grpSpPr>
          <p:sp>
            <p:nvSpPr>
              <p:cNvPr id="203" name="Line 8">
                <a:extLst>
                  <a:ext uri="{FF2B5EF4-FFF2-40B4-BE49-F238E27FC236}">
                    <a16:creationId xmlns:a16="http://schemas.microsoft.com/office/drawing/2014/main" id="{281CF0FA-90F4-6743-BEF5-029D6D75399F}"/>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 name="Line 9">
                <a:extLst>
                  <a:ext uri="{FF2B5EF4-FFF2-40B4-BE49-F238E27FC236}">
                    <a16:creationId xmlns:a16="http://schemas.microsoft.com/office/drawing/2014/main" id="{749A3DDE-C67F-264C-82E3-63AF3BBFD0FD}"/>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 name="Line 10">
                <a:extLst>
                  <a:ext uri="{FF2B5EF4-FFF2-40B4-BE49-F238E27FC236}">
                    <a16:creationId xmlns:a16="http://schemas.microsoft.com/office/drawing/2014/main" id="{C7DFC6C5-6012-A142-95AD-4BAA74CACF03}"/>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6" name="Line 11">
                <a:extLst>
                  <a:ext uri="{FF2B5EF4-FFF2-40B4-BE49-F238E27FC236}">
                    <a16:creationId xmlns:a16="http://schemas.microsoft.com/office/drawing/2014/main" id="{4E38127A-CC99-F249-B5F0-35982C88C48B}"/>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07" name="Group 220">
              <a:extLst>
                <a:ext uri="{FF2B5EF4-FFF2-40B4-BE49-F238E27FC236}">
                  <a16:creationId xmlns:a16="http://schemas.microsoft.com/office/drawing/2014/main" id="{C1248E84-C614-E742-8580-B4E5E4C74233}"/>
                </a:ext>
              </a:extLst>
            </p:cNvPr>
            <p:cNvGrpSpPr>
              <a:grpSpLocks/>
            </p:cNvGrpSpPr>
            <p:nvPr/>
          </p:nvGrpSpPr>
          <p:grpSpPr bwMode="auto">
            <a:xfrm>
              <a:off x="9218784" y="4318906"/>
              <a:ext cx="152400" cy="304800"/>
              <a:chOff x="3264" y="3072"/>
              <a:chExt cx="96" cy="192"/>
            </a:xfrm>
          </p:grpSpPr>
          <p:sp>
            <p:nvSpPr>
              <p:cNvPr id="208" name="Line 17">
                <a:extLst>
                  <a:ext uri="{FF2B5EF4-FFF2-40B4-BE49-F238E27FC236}">
                    <a16:creationId xmlns:a16="http://schemas.microsoft.com/office/drawing/2014/main" id="{9ACED345-8C39-D949-852C-F8CD2BC06E60}"/>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9" name="Freeform 18">
                <a:extLst>
                  <a:ext uri="{FF2B5EF4-FFF2-40B4-BE49-F238E27FC236}">
                    <a16:creationId xmlns:a16="http://schemas.microsoft.com/office/drawing/2014/main" id="{731987E6-0463-5F4A-B305-ABEBE827A762}"/>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10" name="Freeform 12">
              <a:extLst>
                <a:ext uri="{FF2B5EF4-FFF2-40B4-BE49-F238E27FC236}">
                  <a16:creationId xmlns:a16="http://schemas.microsoft.com/office/drawing/2014/main" id="{CD436057-69D6-C547-B938-FC20BCA85B53}"/>
                </a:ext>
              </a:extLst>
            </p:cNvPr>
            <p:cNvSpPr>
              <a:spLocks noChangeAspect="1"/>
            </p:cNvSpPr>
            <p:nvPr/>
          </p:nvSpPr>
          <p:spPr bwMode="auto">
            <a:xfrm rot="5400000">
              <a:off x="9994549" y="3233923"/>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211" name="Straight Connector 210">
              <a:extLst>
                <a:ext uri="{FF2B5EF4-FFF2-40B4-BE49-F238E27FC236}">
                  <a16:creationId xmlns:a16="http://schemas.microsoft.com/office/drawing/2014/main" id="{21E11B09-FF44-6C46-B7B1-28B168A5E112}"/>
                </a:ext>
              </a:extLst>
            </p:cNvPr>
            <p:cNvCxnSpPr>
              <a:cxnSpLocks/>
            </p:cNvCxnSpPr>
            <p:nvPr/>
          </p:nvCxnSpPr>
          <p:spPr>
            <a:xfrm>
              <a:off x="10411544" y="2664716"/>
              <a:ext cx="111270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13" name="TextBox 212">
              <a:extLst>
                <a:ext uri="{FF2B5EF4-FFF2-40B4-BE49-F238E27FC236}">
                  <a16:creationId xmlns:a16="http://schemas.microsoft.com/office/drawing/2014/main" id="{A06F15B0-399D-6949-A5B1-09636CF111AC}"/>
                </a:ext>
              </a:extLst>
            </p:cNvPr>
            <p:cNvSpPr txBox="1"/>
            <p:nvPr/>
          </p:nvSpPr>
          <p:spPr>
            <a:xfrm>
              <a:off x="11377062" y="2273302"/>
              <a:ext cx="396988" cy="338554"/>
            </a:xfrm>
            <a:prstGeom prst="rect">
              <a:avLst/>
            </a:prstGeom>
            <a:noFill/>
          </p:spPr>
          <p:txBody>
            <a:bodyPr wrap="square" rtlCol="0">
              <a:spAutoFit/>
            </a:bodyPr>
            <a:lstStyle/>
            <a:p>
              <a:r>
                <a:rPr lang="en-US" sz="1600" dirty="0"/>
                <a:t>v</a:t>
              </a:r>
              <a:r>
                <a:rPr lang="en-US" sz="1600" baseline="-25000" dirty="0"/>
                <a:t>3</a:t>
              </a:r>
              <a:endParaRPr lang="en-US" baseline="-25000" dirty="0"/>
            </a:p>
          </p:txBody>
        </p:sp>
        <p:cxnSp>
          <p:nvCxnSpPr>
            <p:cNvPr id="214" name="Straight Connector 213">
              <a:extLst>
                <a:ext uri="{FF2B5EF4-FFF2-40B4-BE49-F238E27FC236}">
                  <a16:creationId xmlns:a16="http://schemas.microsoft.com/office/drawing/2014/main" id="{F754A8D3-C179-8B46-B46A-A16EF465EEBD}"/>
                </a:ext>
              </a:extLst>
            </p:cNvPr>
            <p:cNvCxnSpPr>
              <a:cxnSpLocks/>
            </p:cNvCxnSpPr>
            <p:nvPr/>
          </p:nvCxnSpPr>
          <p:spPr>
            <a:xfrm>
              <a:off x="11092796" y="1705278"/>
              <a:ext cx="0" cy="9692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EE889E65-56DE-A54A-B0FE-618FE6367F4F}"/>
                </a:ext>
              </a:extLst>
            </p:cNvPr>
            <p:cNvCxnSpPr>
              <a:cxnSpLocks/>
            </p:cNvCxnSpPr>
            <p:nvPr/>
          </p:nvCxnSpPr>
          <p:spPr>
            <a:xfrm flipV="1">
              <a:off x="8550613" y="1693216"/>
              <a:ext cx="1828800" cy="98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694347A4-5AFA-9944-A702-763BA6888CC2}"/>
                </a:ext>
              </a:extLst>
            </p:cNvPr>
            <p:cNvCxnSpPr>
              <a:cxnSpLocks/>
            </p:cNvCxnSpPr>
            <p:nvPr/>
          </p:nvCxnSpPr>
          <p:spPr>
            <a:xfrm>
              <a:off x="8934015" y="1695343"/>
              <a:ext cx="0" cy="594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9" name="Group 13">
              <a:extLst>
                <a:ext uri="{FF2B5EF4-FFF2-40B4-BE49-F238E27FC236}">
                  <a16:creationId xmlns:a16="http://schemas.microsoft.com/office/drawing/2014/main" id="{80654D42-AE77-4A41-A9B2-9544F5C3C879}"/>
                </a:ext>
              </a:extLst>
            </p:cNvPr>
            <p:cNvGrpSpPr>
              <a:grpSpLocks noChangeAspect="1"/>
            </p:cNvGrpSpPr>
            <p:nvPr/>
          </p:nvGrpSpPr>
          <p:grpSpPr bwMode="auto">
            <a:xfrm>
              <a:off x="10999977" y="2575997"/>
              <a:ext cx="182880" cy="182880"/>
              <a:chOff x="1344" y="2064"/>
              <a:chExt cx="192" cy="192"/>
            </a:xfrm>
          </p:grpSpPr>
          <p:sp>
            <p:nvSpPr>
              <p:cNvPr id="220" name="Oval 14">
                <a:extLst>
                  <a:ext uri="{FF2B5EF4-FFF2-40B4-BE49-F238E27FC236}">
                    <a16:creationId xmlns:a16="http://schemas.microsoft.com/office/drawing/2014/main" id="{F70A59C6-10B5-CD40-901F-AF4B1CE5B832}"/>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21" name="Rectangle 15">
                <a:extLst>
                  <a:ext uri="{FF2B5EF4-FFF2-40B4-BE49-F238E27FC236}">
                    <a16:creationId xmlns:a16="http://schemas.microsoft.com/office/drawing/2014/main" id="{4EF14932-3075-DE45-AAE2-B6876D0A6A5F}"/>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222" name="TextBox 221">
              <a:extLst>
                <a:ext uri="{FF2B5EF4-FFF2-40B4-BE49-F238E27FC236}">
                  <a16:creationId xmlns:a16="http://schemas.microsoft.com/office/drawing/2014/main" id="{1F5F422B-CFF0-F74C-8F04-C7F75DC4C9C2}"/>
                </a:ext>
              </a:extLst>
            </p:cNvPr>
            <p:cNvSpPr txBox="1"/>
            <p:nvPr/>
          </p:nvSpPr>
          <p:spPr>
            <a:xfrm>
              <a:off x="10551402" y="1224978"/>
              <a:ext cx="396988" cy="338554"/>
            </a:xfrm>
            <a:prstGeom prst="rect">
              <a:avLst/>
            </a:prstGeom>
            <a:noFill/>
          </p:spPr>
          <p:txBody>
            <a:bodyPr wrap="square" rtlCol="0">
              <a:spAutoFit/>
            </a:bodyPr>
            <a:lstStyle/>
            <a:p>
              <a:r>
                <a:rPr lang="en-US" sz="1600" dirty="0"/>
                <a:t>Z</a:t>
              </a:r>
              <a:r>
                <a:rPr lang="en-US" sz="1600" baseline="-25000" dirty="0"/>
                <a:t>2</a:t>
              </a:r>
              <a:endParaRPr lang="en-US" baseline="-25000" dirty="0"/>
            </a:p>
          </p:txBody>
        </p:sp>
        <p:sp>
          <p:nvSpPr>
            <p:cNvPr id="223" name="TextBox 222">
              <a:extLst>
                <a:ext uri="{FF2B5EF4-FFF2-40B4-BE49-F238E27FC236}">
                  <a16:creationId xmlns:a16="http://schemas.microsoft.com/office/drawing/2014/main" id="{6948FBFA-D70E-4341-BB4D-1386B0BBBABA}"/>
                </a:ext>
              </a:extLst>
            </p:cNvPr>
            <p:cNvSpPr txBox="1"/>
            <p:nvPr/>
          </p:nvSpPr>
          <p:spPr>
            <a:xfrm>
              <a:off x="8202972" y="1928221"/>
              <a:ext cx="396988" cy="338554"/>
            </a:xfrm>
            <a:prstGeom prst="rect">
              <a:avLst/>
            </a:prstGeom>
            <a:noFill/>
          </p:spPr>
          <p:txBody>
            <a:bodyPr wrap="square" rtlCol="0">
              <a:spAutoFit/>
            </a:bodyPr>
            <a:lstStyle/>
            <a:p>
              <a:r>
                <a:rPr lang="en-US" sz="1600" dirty="0"/>
                <a:t>Z</a:t>
              </a:r>
              <a:r>
                <a:rPr lang="en-US" sz="1600" baseline="-25000" dirty="0"/>
                <a:t>1</a:t>
              </a:r>
              <a:endParaRPr lang="en-US" baseline="-25000" dirty="0"/>
            </a:p>
          </p:txBody>
        </p:sp>
        <p:sp>
          <p:nvSpPr>
            <p:cNvPr id="224" name="TextBox 223">
              <a:extLst>
                <a:ext uri="{FF2B5EF4-FFF2-40B4-BE49-F238E27FC236}">
                  <a16:creationId xmlns:a16="http://schemas.microsoft.com/office/drawing/2014/main" id="{B3501090-F34F-2145-8BDC-03D4E0CE35A9}"/>
                </a:ext>
              </a:extLst>
            </p:cNvPr>
            <p:cNvSpPr txBox="1"/>
            <p:nvPr/>
          </p:nvSpPr>
          <p:spPr>
            <a:xfrm>
              <a:off x="9944253" y="3214426"/>
              <a:ext cx="396988" cy="338554"/>
            </a:xfrm>
            <a:prstGeom prst="rect">
              <a:avLst/>
            </a:prstGeom>
            <a:noFill/>
          </p:spPr>
          <p:txBody>
            <a:bodyPr wrap="square" rtlCol="0">
              <a:spAutoFit/>
            </a:bodyPr>
            <a:lstStyle/>
            <a:p>
              <a:r>
                <a:rPr lang="en-US" sz="1600" dirty="0"/>
                <a:t>R</a:t>
              </a:r>
              <a:endParaRPr lang="en-US" baseline="-25000" dirty="0"/>
            </a:p>
          </p:txBody>
        </p:sp>
        <p:sp>
          <p:nvSpPr>
            <p:cNvPr id="225" name="TextBox 224">
              <a:extLst>
                <a:ext uri="{FF2B5EF4-FFF2-40B4-BE49-F238E27FC236}">
                  <a16:creationId xmlns:a16="http://schemas.microsoft.com/office/drawing/2014/main" id="{223816CD-3D37-A84C-B694-43BF329B3588}"/>
                </a:ext>
              </a:extLst>
            </p:cNvPr>
            <p:cNvSpPr txBox="1"/>
            <p:nvPr/>
          </p:nvSpPr>
          <p:spPr>
            <a:xfrm>
              <a:off x="9799196" y="3972755"/>
              <a:ext cx="396988" cy="338554"/>
            </a:xfrm>
            <a:prstGeom prst="rect">
              <a:avLst/>
            </a:prstGeom>
            <a:noFill/>
          </p:spPr>
          <p:txBody>
            <a:bodyPr wrap="square" rtlCol="0">
              <a:spAutoFit/>
            </a:bodyPr>
            <a:lstStyle/>
            <a:p>
              <a:r>
                <a:rPr lang="en-US" sz="1600" dirty="0"/>
                <a:t>R</a:t>
              </a:r>
              <a:endParaRPr lang="en-US" baseline="-25000" dirty="0"/>
            </a:p>
          </p:txBody>
        </p:sp>
        <p:sp>
          <p:nvSpPr>
            <p:cNvPr id="226" name="TextBox 225">
              <a:extLst>
                <a:ext uri="{FF2B5EF4-FFF2-40B4-BE49-F238E27FC236}">
                  <a16:creationId xmlns:a16="http://schemas.microsoft.com/office/drawing/2014/main" id="{48FD85A6-BA70-D64E-BA46-80F4CC096209}"/>
                </a:ext>
              </a:extLst>
            </p:cNvPr>
            <p:cNvSpPr txBox="1"/>
            <p:nvPr/>
          </p:nvSpPr>
          <p:spPr>
            <a:xfrm>
              <a:off x="10574677" y="3850593"/>
              <a:ext cx="396988" cy="338554"/>
            </a:xfrm>
            <a:prstGeom prst="rect">
              <a:avLst/>
            </a:prstGeom>
            <a:noFill/>
          </p:spPr>
          <p:txBody>
            <a:bodyPr wrap="square" rtlCol="0">
              <a:spAutoFit/>
            </a:bodyPr>
            <a:lstStyle/>
            <a:p>
              <a:r>
                <a:rPr lang="en-US" sz="1600" dirty="0"/>
                <a:t>C</a:t>
              </a:r>
              <a:endParaRPr lang="en-US" baseline="-25000" dirty="0"/>
            </a:p>
          </p:txBody>
        </p:sp>
        <p:sp>
          <p:nvSpPr>
            <p:cNvPr id="227" name="TextBox 226">
              <a:extLst>
                <a:ext uri="{FF2B5EF4-FFF2-40B4-BE49-F238E27FC236}">
                  <a16:creationId xmlns:a16="http://schemas.microsoft.com/office/drawing/2014/main" id="{0B2FD3A1-778B-E84E-81ED-AE1CB396EAD4}"/>
                </a:ext>
              </a:extLst>
            </p:cNvPr>
            <p:cNvSpPr txBox="1"/>
            <p:nvPr/>
          </p:nvSpPr>
          <p:spPr>
            <a:xfrm>
              <a:off x="8765198" y="3822287"/>
              <a:ext cx="396988" cy="338554"/>
            </a:xfrm>
            <a:prstGeom prst="rect">
              <a:avLst/>
            </a:prstGeom>
            <a:noFill/>
          </p:spPr>
          <p:txBody>
            <a:bodyPr wrap="square" rtlCol="0">
              <a:spAutoFit/>
            </a:bodyPr>
            <a:lstStyle/>
            <a:p>
              <a:r>
                <a:rPr lang="en-US" sz="1600" dirty="0"/>
                <a:t>C</a:t>
              </a:r>
              <a:endParaRPr lang="en-US" baseline="-25000" dirty="0"/>
            </a:p>
          </p:txBody>
        </p:sp>
        <p:sp>
          <p:nvSpPr>
            <p:cNvPr id="228" name="TextBox 227">
              <a:extLst>
                <a:ext uri="{FF2B5EF4-FFF2-40B4-BE49-F238E27FC236}">
                  <a16:creationId xmlns:a16="http://schemas.microsoft.com/office/drawing/2014/main" id="{5966DBCD-3AA6-4C4C-8639-98D49C6740E7}"/>
                </a:ext>
              </a:extLst>
            </p:cNvPr>
            <p:cNvSpPr txBox="1"/>
            <p:nvPr/>
          </p:nvSpPr>
          <p:spPr>
            <a:xfrm>
              <a:off x="8721136" y="1346179"/>
              <a:ext cx="396988" cy="338554"/>
            </a:xfrm>
            <a:prstGeom prst="rect">
              <a:avLst/>
            </a:prstGeom>
            <a:noFill/>
          </p:spPr>
          <p:txBody>
            <a:bodyPr wrap="square" rtlCol="0">
              <a:spAutoFit/>
            </a:bodyPr>
            <a:lstStyle/>
            <a:p>
              <a:r>
                <a:rPr lang="en-US" sz="1600" dirty="0"/>
                <a:t>v</a:t>
              </a:r>
              <a:r>
                <a:rPr lang="en-US" sz="1600" baseline="-25000" dirty="0"/>
                <a:t>2</a:t>
              </a:r>
              <a:endParaRPr lang="en-US" baseline="-25000" dirty="0"/>
            </a:p>
          </p:txBody>
        </p:sp>
        <p:sp>
          <p:nvSpPr>
            <p:cNvPr id="229" name="TextBox 228">
              <a:extLst>
                <a:ext uri="{FF2B5EF4-FFF2-40B4-BE49-F238E27FC236}">
                  <a16:creationId xmlns:a16="http://schemas.microsoft.com/office/drawing/2014/main" id="{2472BEE6-4D04-5141-B135-9CE493967DE9}"/>
                </a:ext>
              </a:extLst>
            </p:cNvPr>
            <p:cNvSpPr txBox="1"/>
            <p:nvPr/>
          </p:nvSpPr>
          <p:spPr>
            <a:xfrm>
              <a:off x="8596467" y="2864104"/>
              <a:ext cx="396988" cy="338554"/>
            </a:xfrm>
            <a:prstGeom prst="rect">
              <a:avLst/>
            </a:prstGeom>
            <a:noFill/>
          </p:spPr>
          <p:txBody>
            <a:bodyPr wrap="square" rtlCol="0">
              <a:spAutoFit/>
            </a:bodyPr>
            <a:lstStyle/>
            <a:p>
              <a:r>
                <a:rPr lang="en-US" sz="1600" dirty="0"/>
                <a:t>v</a:t>
              </a:r>
              <a:r>
                <a:rPr lang="en-US" sz="1600" baseline="-25000" dirty="0"/>
                <a:t>1</a:t>
              </a:r>
              <a:endParaRPr lang="en-US" baseline="-25000" dirty="0"/>
            </a:p>
          </p:txBody>
        </p:sp>
        <p:sp>
          <p:nvSpPr>
            <p:cNvPr id="230" name="TextBox 229">
              <a:extLst>
                <a:ext uri="{FF2B5EF4-FFF2-40B4-BE49-F238E27FC236}">
                  <a16:creationId xmlns:a16="http://schemas.microsoft.com/office/drawing/2014/main" id="{4D02494C-8797-6746-839F-59A47E5A2F4F}"/>
                </a:ext>
              </a:extLst>
            </p:cNvPr>
            <p:cNvSpPr txBox="1"/>
            <p:nvPr/>
          </p:nvSpPr>
          <p:spPr>
            <a:xfrm>
              <a:off x="9997690" y="4170852"/>
              <a:ext cx="1642465" cy="338554"/>
            </a:xfrm>
            <a:prstGeom prst="rect">
              <a:avLst/>
            </a:prstGeom>
            <a:noFill/>
          </p:spPr>
          <p:txBody>
            <a:bodyPr wrap="square" rtlCol="0">
              <a:spAutoFit/>
            </a:bodyPr>
            <a:lstStyle/>
            <a:p>
              <a:r>
                <a:rPr lang="en-US" sz="1600" dirty="0"/>
                <a:t>B</a:t>
              </a:r>
              <a:r>
                <a:rPr lang="en-US" sz="1600" baseline="-25000" dirty="0"/>
                <a:t>1 </a:t>
              </a:r>
              <a:r>
                <a:rPr lang="en-US" sz="1600" dirty="0"/>
                <a:t>feedback</a:t>
              </a:r>
              <a:endParaRPr lang="en-US" baseline="-25000" dirty="0"/>
            </a:p>
          </p:txBody>
        </p:sp>
        <mc:AlternateContent xmlns:mc="http://schemas.openxmlformats.org/markup-compatibility/2006" xmlns:a14="http://schemas.microsoft.com/office/drawing/2010/main">
          <mc:Choice Requires="a14">
            <p:sp>
              <p:nvSpPr>
                <p:cNvPr id="231" name="TextBox 230">
                  <a:extLst>
                    <a:ext uri="{FF2B5EF4-FFF2-40B4-BE49-F238E27FC236}">
                      <a16:creationId xmlns:a16="http://schemas.microsoft.com/office/drawing/2014/main" id="{822D381A-D742-AB4D-85B3-6259474A4FC9}"/>
                    </a:ext>
                  </a:extLst>
                </p:cNvPr>
                <p:cNvSpPr txBox="1"/>
                <p:nvPr/>
              </p:nvSpPr>
              <p:spPr>
                <a:xfrm>
                  <a:off x="8224804" y="4811758"/>
                  <a:ext cx="3691890" cy="1120140"/>
                </a:xfrm>
                <a:prstGeom prst="rect">
                  <a:avLst/>
                </a:prstGeom>
                <a:noFill/>
              </p:spPr>
              <p:txBody>
                <a:bodyPr wrap="square" rtlCol="0">
                  <a:noAutofit/>
                </a:bodyPr>
                <a:lstStyle/>
                <a:p>
                  <a:pPr marL="285750" indent="-28575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3</m:t>
                          </m:r>
                        </m:sub>
                      </m:sSub>
                      <m:r>
                        <a:rPr lang="en-US" sz="2000" b="0" i="1" smtClean="0">
                          <a:latin typeface="Cambria Math" panose="02040503050406030204" pitchFamily="18" charset="0"/>
                        </a:rPr>
                        <m:t>=</m:t>
                      </m:r>
                      <m:r>
                        <a:rPr lang="en-US" sz="2000" b="0" i="1" smtClean="0">
                          <a:latin typeface="Cambria Math" panose="02040503050406030204" pitchFamily="18" charset="0"/>
                        </a:rPr>
                        <m:t>𝐴</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oMath>
                  </a14:m>
                  <a:endParaRPr lang="en-US" sz="2000" dirty="0"/>
                </a:p>
                <a:p>
                  <a:pPr marL="285750" indent="-285750">
                    <a:buFont typeface="Arial" panose="020B0604020202020204" pitchFamily="34" charset="0"/>
                    <a:buChar char="•"/>
                  </a:pPr>
                  <a14:m>
                    <m:oMath xmlns:m="http://schemas.openxmlformats.org/officeDocument/2006/math">
                      <m:r>
                        <a:rPr lang="en-US" sz="2000" b="0" i="1" smtClean="0">
                          <a:latin typeface="Cambria Math" panose="02040503050406030204" pitchFamily="18" charset="0"/>
                        </a:rPr>
                        <m:t>𝐾</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𝐵</m:t>
                              </m:r>
                            </m:e>
                            <m:sub>
                              <m:r>
                                <a:rPr lang="en-US" sz="2000" b="0" i="1" smtClean="0">
                                  <a:latin typeface="Cambria Math" panose="02040503050406030204" pitchFamily="18" charset="0"/>
                                </a:rPr>
                                <m:t>1</m:t>
                              </m:r>
                            </m:sub>
                          </m:sSub>
                        </m:den>
                      </m:f>
                    </m:oMath>
                  </a14:m>
                  <a:endParaRPr lang="en-US" sz="2000" dirty="0"/>
                </a:p>
              </p:txBody>
            </p:sp>
          </mc:Choice>
          <mc:Fallback xmlns="">
            <p:sp>
              <p:nvSpPr>
                <p:cNvPr id="231" name="TextBox 230">
                  <a:extLst>
                    <a:ext uri="{FF2B5EF4-FFF2-40B4-BE49-F238E27FC236}">
                      <a16:creationId xmlns:a16="http://schemas.microsoft.com/office/drawing/2014/main" id="{822D381A-D742-AB4D-85B3-6259474A4FC9}"/>
                    </a:ext>
                  </a:extLst>
                </p:cNvPr>
                <p:cNvSpPr txBox="1">
                  <a:spLocks noRot="1" noChangeAspect="1" noMove="1" noResize="1" noEditPoints="1" noAdjustHandles="1" noChangeArrowheads="1" noChangeShapeType="1" noTextEdit="1"/>
                </p:cNvSpPr>
                <p:nvPr/>
              </p:nvSpPr>
              <p:spPr>
                <a:xfrm>
                  <a:off x="8224804" y="4811758"/>
                  <a:ext cx="3691890" cy="1120140"/>
                </a:xfrm>
                <a:prstGeom prst="rect">
                  <a:avLst/>
                </a:prstGeom>
                <a:blipFill>
                  <a:blip r:embed="rId4"/>
                  <a:stretch>
                    <a:fillRect l="-1370" t="-1124"/>
                  </a:stretch>
                </a:blipFill>
              </p:spPr>
              <p:txBody>
                <a:bodyPr/>
                <a:lstStyle/>
                <a:p>
                  <a:r>
                    <a:rPr lang="en-US">
                      <a:noFill/>
                    </a:rPr>
                    <a:t> </a:t>
                  </a:r>
                </a:p>
              </p:txBody>
            </p:sp>
          </mc:Fallback>
        </mc:AlternateContent>
      </p:grpSp>
    </p:spTree>
    <p:extLst>
      <p:ext uri="{BB962C8B-B14F-4D97-AF65-F5344CB8AC3E}">
        <p14:creationId xmlns:p14="http://schemas.microsoft.com/office/powerpoint/2010/main" val="9078293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0" y="155796"/>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Op Amp models</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6553200" y="6404292"/>
            <a:ext cx="2133600" cy="269241"/>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pPr lvl="0"/>
              <a:t>57</a:t>
            </a:fld>
            <a:endParaRPr lang="en-US"/>
          </a:p>
        </p:txBody>
      </p:sp>
      <p:grpSp>
        <p:nvGrpSpPr>
          <p:cNvPr id="21" name="Group 20">
            <a:extLst>
              <a:ext uri="{FF2B5EF4-FFF2-40B4-BE49-F238E27FC236}">
                <a16:creationId xmlns:a16="http://schemas.microsoft.com/office/drawing/2014/main" id="{2CF9D3C7-B61A-2E42-87F6-843D2DACB937}"/>
              </a:ext>
            </a:extLst>
          </p:cNvPr>
          <p:cNvGrpSpPr/>
          <p:nvPr/>
        </p:nvGrpSpPr>
        <p:grpSpPr>
          <a:xfrm>
            <a:off x="523454" y="1743200"/>
            <a:ext cx="3542820" cy="1747604"/>
            <a:chOff x="1744749" y="3076575"/>
            <a:chExt cx="3542820" cy="1747604"/>
          </a:xfrm>
        </p:grpSpPr>
        <mc:AlternateContent xmlns:mc="http://schemas.openxmlformats.org/markup-compatibility/2006" xmlns:a14="http://schemas.microsoft.com/office/drawing/2010/main">
          <mc:Choice Requires="a14">
            <p:sp>
              <p:nvSpPr>
                <p:cNvPr id="142" name="TextBox 141">
                  <a:extLst>
                    <a:ext uri="{FF2B5EF4-FFF2-40B4-BE49-F238E27FC236}">
                      <a16:creationId xmlns:a16="http://schemas.microsoft.com/office/drawing/2014/main" id="{264010DF-925A-5C4D-9033-EC7B483C45BD}"/>
                    </a:ext>
                  </a:extLst>
                </p:cNvPr>
                <p:cNvSpPr txBox="1"/>
                <p:nvPr/>
              </p:nvSpPr>
              <p:spPr>
                <a:xfrm>
                  <a:off x="2344395" y="3168798"/>
                  <a:ext cx="881071" cy="523220"/>
                </a:xfrm>
                <a:prstGeom prst="rect">
                  <a:avLst/>
                </a:prstGeom>
                <a:noFill/>
              </p:spPr>
              <p:txBody>
                <a:bodyPr wrap="square" rtlCol="0">
                  <a:spAutoFit/>
                </a:bodyPr>
                <a:lstStyle/>
                <a:p>
                  <a:pPr/>
                  <a14:m>
                    <m:oMathPara xmlns:m="http://schemas.openxmlformats.org/officeDocument/2006/math">
                      <m:oMath>
                        <m:r>
                          <a:rPr lang="en-US" sz="2800" i="1" smtClean="0">
                            <a:latin typeface="Cambria Math" panose="02040503050406030204" pitchFamily="18" charset="0"/>
                            <a:ea typeface="Cambria Math" panose="02040503050406030204" pitchFamily="18" charset="0"/>
                          </a:rPr>
                          <m:t>⊕</m:t>
                        </m:r>
                      </m:oMath>
                    </m:oMathPara>
                  </a14:m>
                  <a:endParaRPr lang="en-US" sz="2800" dirty="0"/>
                </a:p>
              </p:txBody>
            </p:sp>
          </mc:Choice>
          <mc:Fallback xmlns="">
            <p:sp>
              <p:nvSpPr>
                <p:cNvPr id="142" name="TextBox 141">
                  <a:extLst>
                    <a:ext uri="{FF2B5EF4-FFF2-40B4-BE49-F238E27FC236}">
                      <a16:creationId xmlns:a16="http://schemas.microsoft.com/office/drawing/2014/main" id="{264010DF-925A-5C4D-9033-EC7B483C45BD}"/>
                    </a:ext>
                  </a:extLst>
                </p:cNvPr>
                <p:cNvSpPr txBox="1">
                  <a:spLocks noRot="1" noChangeAspect="1" noMove="1" noResize="1" noEditPoints="1" noAdjustHandles="1" noChangeArrowheads="1" noChangeShapeType="1" noTextEdit="1"/>
                </p:cNvSpPr>
                <p:nvPr/>
              </p:nvSpPr>
              <p:spPr>
                <a:xfrm>
                  <a:off x="2344395" y="3168798"/>
                  <a:ext cx="881071" cy="523220"/>
                </a:xfrm>
                <a:prstGeom prst="rect">
                  <a:avLst/>
                </a:prstGeom>
                <a:blipFill>
                  <a:blip r:embed="rId3"/>
                  <a:stretch>
                    <a:fillRect b="-11905"/>
                  </a:stretch>
                </a:blipFill>
              </p:spPr>
              <p:txBody>
                <a:bodyPr/>
                <a:lstStyle/>
                <a:p>
                  <a:r>
                    <a:rPr lang="en-US">
                      <a:noFill/>
                    </a:rPr>
                    <a:t> </a:t>
                  </a:r>
                </a:p>
              </p:txBody>
            </p:sp>
          </mc:Fallback>
        </mc:AlternateContent>
        <p:sp>
          <p:nvSpPr>
            <p:cNvPr id="143" name="TextBox 142">
              <a:extLst>
                <a:ext uri="{FF2B5EF4-FFF2-40B4-BE49-F238E27FC236}">
                  <a16:creationId xmlns:a16="http://schemas.microsoft.com/office/drawing/2014/main" id="{61245651-2F68-C146-A3E8-17BC922A1197}"/>
                </a:ext>
              </a:extLst>
            </p:cNvPr>
            <p:cNvSpPr txBox="1"/>
            <p:nvPr/>
          </p:nvSpPr>
          <p:spPr>
            <a:xfrm>
              <a:off x="2699448" y="4485625"/>
              <a:ext cx="1066800" cy="338554"/>
            </a:xfrm>
            <a:prstGeom prst="rect">
              <a:avLst/>
            </a:prstGeom>
            <a:noFill/>
          </p:spPr>
          <p:txBody>
            <a:bodyPr wrap="square" rtlCol="0">
              <a:spAutoFit/>
            </a:bodyPr>
            <a:lstStyle/>
            <a:p>
              <a:r>
                <a:rPr lang="en-US" sz="1600" dirty="0"/>
                <a:t>Feedback</a:t>
              </a:r>
              <a:endParaRPr lang="en-US" sz="1600" baseline="-25000" dirty="0"/>
            </a:p>
          </p:txBody>
        </p:sp>
        <p:grpSp>
          <p:nvGrpSpPr>
            <p:cNvPr id="167" name="Group 864">
              <a:extLst>
                <a:ext uri="{FF2B5EF4-FFF2-40B4-BE49-F238E27FC236}">
                  <a16:creationId xmlns:a16="http://schemas.microsoft.com/office/drawing/2014/main" id="{9F165B2D-1F11-D746-8245-155CE8FEDA90}"/>
                </a:ext>
              </a:extLst>
            </p:cNvPr>
            <p:cNvGrpSpPr>
              <a:grpSpLocks/>
            </p:cNvGrpSpPr>
            <p:nvPr/>
          </p:nvGrpSpPr>
          <p:grpSpPr bwMode="auto">
            <a:xfrm>
              <a:off x="2925763" y="3076575"/>
              <a:ext cx="914400" cy="733425"/>
              <a:chOff x="1843" y="1698"/>
              <a:chExt cx="576" cy="462"/>
            </a:xfrm>
          </p:grpSpPr>
          <p:grpSp>
            <p:nvGrpSpPr>
              <p:cNvPr id="168" name="Group 60">
                <a:extLst>
                  <a:ext uri="{FF2B5EF4-FFF2-40B4-BE49-F238E27FC236}">
                    <a16:creationId xmlns:a16="http://schemas.microsoft.com/office/drawing/2014/main" id="{A39E16ED-5D9F-DB46-A2C1-ECBB5C2B6C9D}"/>
                  </a:ext>
                </a:extLst>
              </p:cNvPr>
              <p:cNvGrpSpPr>
                <a:grpSpLocks/>
              </p:cNvGrpSpPr>
              <p:nvPr/>
            </p:nvGrpSpPr>
            <p:grpSpPr bwMode="auto">
              <a:xfrm>
                <a:off x="1843" y="1698"/>
                <a:ext cx="576" cy="461"/>
                <a:chOff x="3456" y="3427"/>
                <a:chExt cx="576" cy="461"/>
              </a:xfrm>
            </p:grpSpPr>
            <p:sp>
              <p:nvSpPr>
                <p:cNvPr id="170" name="Line 55">
                  <a:extLst>
                    <a:ext uri="{FF2B5EF4-FFF2-40B4-BE49-F238E27FC236}">
                      <a16:creationId xmlns:a16="http://schemas.microsoft.com/office/drawing/2014/main" id="{CBA120D2-2DF4-7648-9B9A-90D991D04034}"/>
                    </a:ext>
                  </a:extLst>
                </p:cNvPr>
                <p:cNvSpPr>
                  <a:spLocks noChangeShapeType="1"/>
                </p:cNvSpPr>
                <p:nvPr/>
              </p:nvSpPr>
              <p:spPr bwMode="auto">
                <a:xfrm>
                  <a:off x="3456" y="3658"/>
                  <a:ext cx="57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1" name="AutoShape 56">
                  <a:extLst>
                    <a:ext uri="{FF2B5EF4-FFF2-40B4-BE49-F238E27FC236}">
                      <a16:creationId xmlns:a16="http://schemas.microsoft.com/office/drawing/2014/main" id="{C6277338-2CDB-8342-9F46-3F8DB294DB95}"/>
                    </a:ext>
                  </a:extLst>
                </p:cNvPr>
                <p:cNvSpPr>
                  <a:spLocks noChangeArrowheads="1"/>
                </p:cNvSpPr>
                <p:nvPr/>
              </p:nvSpPr>
              <p:spPr bwMode="auto">
                <a:xfrm rot="5400000">
                  <a:off x="3525" y="3497"/>
                  <a:ext cx="461" cy="322"/>
                </a:xfrm>
                <a:prstGeom prst="triangle">
                  <a:avLst>
                    <a:gd name="adj" fmla="val 50000"/>
                  </a:avLst>
                </a:prstGeom>
                <a:solidFill>
                  <a:schemeClr val="bg1"/>
                </a:solidFill>
                <a:ln w="19050">
                  <a:solidFill>
                    <a:schemeClr val="tx1"/>
                  </a:solidFill>
                  <a:miter lim="800000"/>
                  <a:headEnd/>
                  <a:tailEnd/>
                </a:ln>
              </p:spPr>
              <p:txBody>
                <a:bodyPr rot="10800000" vert="eaVert"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69" name="Freeform 863">
                <a:extLst>
                  <a:ext uri="{FF2B5EF4-FFF2-40B4-BE49-F238E27FC236}">
                    <a16:creationId xmlns:a16="http://schemas.microsoft.com/office/drawing/2014/main" id="{4B7E79BA-BFC5-4E40-BBD2-827AB7A387CB}"/>
                  </a:ext>
                </a:extLst>
              </p:cNvPr>
              <p:cNvSpPr>
                <a:spLocks/>
              </p:cNvSpPr>
              <p:nvPr/>
            </p:nvSpPr>
            <p:spPr bwMode="auto">
              <a:xfrm>
                <a:off x="1843" y="1699"/>
                <a:ext cx="576" cy="461"/>
              </a:xfrm>
              <a:custGeom>
                <a:avLst/>
                <a:gdLst>
                  <a:gd name="T0" fmla="*/ 0 w 576"/>
                  <a:gd name="T1" fmla="*/ 231 h 461"/>
                  <a:gd name="T2" fmla="*/ 115 w 576"/>
                  <a:gd name="T3" fmla="*/ 461 h 461"/>
                  <a:gd name="T4" fmla="*/ 576 w 576"/>
                  <a:gd name="T5" fmla="*/ 231 h 461"/>
                  <a:gd name="T6" fmla="*/ 115 w 576"/>
                  <a:gd name="T7" fmla="*/ 0 h 461"/>
                  <a:gd name="T8" fmla="*/ 0 w 576"/>
                  <a:gd name="T9" fmla="*/ 231 h 461"/>
                  <a:gd name="T10" fmla="*/ 0 60000 65536"/>
                  <a:gd name="T11" fmla="*/ 0 60000 65536"/>
                  <a:gd name="T12" fmla="*/ 0 60000 65536"/>
                  <a:gd name="T13" fmla="*/ 0 60000 65536"/>
                  <a:gd name="T14" fmla="*/ 0 60000 65536"/>
                  <a:gd name="T15" fmla="*/ 0 w 576"/>
                  <a:gd name="T16" fmla="*/ 0 h 461"/>
                  <a:gd name="T17" fmla="*/ 576 w 576"/>
                  <a:gd name="T18" fmla="*/ 461 h 461"/>
                </a:gdLst>
                <a:ahLst/>
                <a:cxnLst>
                  <a:cxn ang="T10">
                    <a:pos x="T0" y="T1"/>
                  </a:cxn>
                  <a:cxn ang="T11">
                    <a:pos x="T2" y="T3"/>
                  </a:cxn>
                  <a:cxn ang="T12">
                    <a:pos x="T4" y="T5"/>
                  </a:cxn>
                  <a:cxn ang="T13">
                    <a:pos x="T6" y="T7"/>
                  </a:cxn>
                  <a:cxn ang="T14">
                    <a:pos x="T8" y="T9"/>
                  </a:cxn>
                </a:cxnLst>
                <a:rect l="T15" t="T16" r="T17" b="T18"/>
                <a:pathLst>
                  <a:path w="576" h="461">
                    <a:moveTo>
                      <a:pt x="0" y="231"/>
                    </a:moveTo>
                    <a:lnTo>
                      <a:pt x="115" y="461"/>
                    </a:lnTo>
                    <a:lnTo>
                      <a:pt x="576" y="231"/>
                    </a:lnTo>
                    <a:lnTo>
                      <a:pt x="115" y="0"/>
                    </a:lnTo>
                    <a:lnTo>
                      <a:pt x="0" y="231"/>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sp>
          <p:nvSpPr>
            <p:cNvPr id="2" name="Rectangle 1">
              <a:extLst>
                <a:ext uri="{FF2B5EF4-FFF2-40B4-BE49-F238E27FC236}">
                  <a16:creationId xmlns:a16="http://schemas.microsoft.com/office/drawing/2014/main" id="{5DAAD511-F12E-0D49-AD42-A1FBA396BA03}"/>
                </a:ext>
              </a:extLst>
            </p:cNvPr>
            <p:cNvSpPr/>
            <p:nvPr/>
          </p:nvSpPr>
          <p:spPr>
            <a:xfrm>
              <a:off x="3235930" y="3945667"/>
              <a:ext cx="989527" cy="502276"/>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228209D-4C88-9346-A557-6534BEA37EC7}"/>
                </a:ext>
              </a:extLst>
            </p:cNvPr>
            <p:cNvSpPr/>
            <p:nvPr/>
          </p:nvSpPr>
          <p:spPr>
            <a:xfrm>
              <a:off x="3176902" y="3917453"/>
              <a:ext cx="1066801" cy="502276"/>
            </a:xfrm>
            <a:prstGeom prst="rect">
              <a:avLst/>
            </a:prstGeom>
            <a:no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TextBox 171">
              <a:extLst>
                <a:ext uri="{FF2B5EF4-FFF2-40B4-BE49-F238E27FC236}">
                  <a16:creationId xmlns:a16="http://schemas.microsoft.com/office/drawing/2014/main" id="{60775802-BF0F-1143-9C5F-A907B143171B}"/>
                </a:ext>
              </a:extLst>
            </p:cNvPr>
            <p:cNvSpPr txBox="1"/>
            <p:nvPr/>
          </p:nvSpPr>
          <p:spPr>
            <a:xfrm>
              <a:off x="3165077" y="3237913"/>
              <a:ext cx="511176" cy="338554"/>
            </a:xfrm>
            <a:prstGeom prst="rect">
              <a:avLst/>
            </a:prstGeom>
            <a:noFill/>
          </p:spPr>
          <p:txBody>
            <a:bodyPr wrap="square" rtlCol="0">
              <a:spAutoFit/>
            </a:bodyPr>
            <a:lstStyle/>
            <a:p>
              <a:r>
                <a:rPr lang="en-US" sz="1600" dirty="0"/>
                <a:t>A</a:t>
              </a:r>
              <a:endParaRPr lang="en-US" sz="1600" baseline="-25000" dirty="0"/>
            </a:p>
          </p:txBody>
        </p:sp>
        <p:sp>
          <p:nvSpPr>
            <p:cNvPr id="173" name="TextBox 172">
              <a:extLst>
                <a:ext uri="{FF2B5EF4-FFF2-40B4-BE49-F238E27FC236}">
                  <a16:creationId xmlns:a16="http://schemas.microsoft.com/office/drawing/2014/main" id="{4E1B7FB9-746D-BE4B-BFA0-56153A135CAB}"/>
                </a:ext>
              </a:extLst>
            </p:cNvPr>
            <p:cNvSpPr txBox="1"/>
            <p:nvPr/>
          </p:nvSpPr>
          <p:spPr>
            <a:xfrm>
              <a:off x="3510660" y="3969864"/>
              <a:ext cx="511176" cy="338554"/>
            </a:xfrm>
            <a:prstGeom prst="rect">
              <a:avLst/>
            </a:prstGeom>
            <a:noFill/>
          </p:spPr>
          <p:txBody>
            <a:bodyPr wrap="square" rtlCol="0">
              <a:spAutoFit/>
            </a:bodyPr>
            <a:lstStyle/>
            <a:p>
              <a:r>
                <a:rPr lang="en-US" sz="1600" dirty="0"/>
                <a:t>B</a:t>
              </a:r>
              <a:endParaRPr lang="en-US" sz="1600" baseline="-25000" dirty="0"/>
            </a:p>
          </p:txBody>
        </p:sp>
        <p:cxnSp>
          <p:nvCxnSpPr>
            <p:cNvPr id="6" name="Straight Arrow Connector 5">
              <a:extLst>
                <a:ext uri="{FF2B5EF4-FFF2-40B4-BE49-F238E27FC236}">
                  <a16:creationId xmlns:a16="http://schemas.microsoft.com/office/drawing/2014/main" id="{D6A2EB96-0DC9-9544-AE0A-8CAE7DA14B73}"/>
                </a:ext>
              </a:extLst>
            </p:cNvPr>
            <p:cNvCxnSpPr/>
            <p:nvPr/>
          </p:nvCxnSpPr>
          <p:spPr>
            <a:xfrm>
              <a:off x="3790015" y="3450455"/>
              <a:ext cx="109728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Straight Arrow Connector 173">
              <a:extLst>
                <a:ext uri="{FF2B5EF4-FFF2-40B4-BE49-F238E27FC236}">
                  <a16:creationId xmlns:a16="http://schemas.microsoft.com/office/drawing/2014/main" id="{E990DCDE-5B69-B640-BC66-5A6C0B871F0F}"/>
                </a:ext>
              </a:extLst>
            </p:cNvPr>
            <p:cNvCxnSpPr>
              <a:cxnSpLocks/>
            </p:cNvCxnSpPr>
            <p:nvPr/>
          </p:nvCxnSpPr>
          <p:spPr>
            <a:xfrm flipH="1">
              <a:off x="2781819" y="4124412"/>
              <a:ext cx="39728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5" name="Straight Arrow Connector 174">
              <a:extLst>
                <a:ext uri="{FF2B5EF4-FFF2-40B4-BE49-F238E27FC236}">
                  <a16:creationId xmlns:a16="http://schemas.microsoft.com/office/drawing/2014/main" id="{143F2439-8160-ED46-B5AC-3DC005E543F9}"/>
                </a:ext>
              </a:extLst>
            </p:cNvPr>
            <p:cNvCxnSpPr>
              <a:cxnSpLocks/>
            </p:cNvCxnSpPr>
            <p:nvPr/>
          </p:nvCxnSpPr>
          <p:spPr>
            <a:xfrm>
              <a:off x="2138333" y="3450455"/>
              <a:ext cx="52587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6" name="Straight Arrow Connector 175">
              <a:extLst>
                <a:ext uri="{FF2B5EF4-FFF2-40B4-BE49-F238E27FC236}">
                  <a16:creationId xmlns:a16="http://schemas.microsoft.com/office/drawing/2014/main" id="{4DBD9618-653E-0145-A678-8A04DF219D93}"/>
                </a:ext>
              </a:extLst>
            </p:cNvPr>
            <p:cNvCxnSpPr>
              <a:cxnSpLocks/>
            </p:cNvCxnSpPr>
            <p:nvPr/>
          </p:nvCxnSpPr>
          <p:spPr>
            <a:xfrm>
              <a:off x="4608438" y="3457120"/>
              <a:ext cx="0" cy="71147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7" name="Straight Arrow Connector 176">
              <a:extLst>
                <a:ext uri="{FF2B5EF4-FFF2-40B4-BE49-F238E27FC236}">
                  <a16:creationId xmlns:a16="http://schemas.microsoft.com/office/drawing/2014/main" id="{33ABF153-D5A9-1C4B-8338-DE5E9A3B1991}"/>
                </a:ext>
              </a:extLst>
            </p:cNvPr>
            <p:cNvCxnSpPr>
              <a:cxnSpLocks/>
            </p:cNvCxnSpPr>
            <p:nvPr/>
          </p:nvCxnSpPr>
          <p:spPr>
            <a:xfrm flipV="1">
              <a:off x="2790388" y="3556700"/>
              <a:ext cx="0" cy="58244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8" name="Straight Arrow Connector 177">
              <a:extLst>
                <a:ext uri="{FF2B5EF4-FFF2-40B4-BE49-F238E27FC236}">
                  <a16:creationId xmlns:a16="http://schemas.microsoft.com/office/drawing/2014/main" id="{C0500353-00DD-1946-903A-E159D8D54D53}"/>
                </a:ext>
              </a:extLst>
            </p:cNvPr>
            <p:cNvCxnSpPr>
              <a:cxnSpLocks/>
            </p:cNvCxnSpPr>
            <p:nvPr/>
          </p:nvCxnSpPr>
          <p:spPr>
            <a:xfrm flipH="1" flipV="1">
              <a:off x="4232968" y="4155712"/>
              <a:ext cx="39724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9" name="TextBox 178">
              <a:extLst>
                <a:ext uri="{FF2B5EF4-FFF2-40B4-BE49-F238E27FC236}">
                  <a16:creationId xmlns:a16="http://schemas.microsoft.com/office/drawing/2014/main" id="{8B99C611-D482-0247-AA59-2968A623EC32}"/>
                </a:ext>
              </a:extLst>
            </p:cNvPr>
            <p:cNvSpPr txBox="1"/>
            <p:nvPr/>
          </p:nvSpPr>
          <p:spPr>
            <a:xfrm>
              <a:off x="1744749" y="3218146"/>
              <a:ext cx="389640" cy="338554"/>
            </a:xfrm>
            <a:prstGeom prst="rect">
              <a:avLst/>
            </a:prstGeom>
            <a:noFill/>
          </p:spPr>
          <p:txBody>
            <a:bodyPr wrap="square" rtlCol="0">
              <a:spAutoFit/>
            </a:bodyPr>
            <a:lstStyle/>
            <a:p>
              <a:r>
                <a:rPr lang="en-US" sz="1600" dirty="0"/>
                <a:t>X</a:t>
              </a:r>
              <a:r>
                <a:rPr lang="en-US" sz="1600" baseline="-25000" dirty="0"/>
                <a:t>1</a:t>
              </a:r>
            </a:p>
          </p:txBody>
        </p:sp>
        <p:sp>
          <p:nvSpPr>
            <p:cNvPr id="180" name="TextBox 179">
              <a:extLst>
                <a:ext uri="{FF2B5EF4-FFF2-40B4-BE49-F238E27FC236}">
                  <a16:creationId xmlns:a16="http://schemas.microsoft.com/office/drawing/2014/main" id="{569A5950-6D70-6443-80FC-CC0B06CB7136}"/>
                </a:ext>
              </a:extLst>
            </p:cNvPr>
            <p:cNvSpPr txBox="1"/>
            <p:nvPr/>
          </p:nvSpPr>
          <p:spPr>
            <a:xfrm>
              <a:off x="4897929" y="3267514"/>
              <a:ext cx="389640" cy="338554"/>
            </a:xfrm>
            <a:prstGeom prst="rect">
              <a:avLst/>
            </a:prstGeom>
            <a:noFill/>
          </p:spPr>
          <p:txBody>
            <a:bodyPr wrap="square" rtlCol="0">
              <a:spAutoFit/>
            </a:bodyPr>
            <a:lstStyle/>
            <a:p>
              <a:r>
                <a:rPr lang="en-US" sz="1600" dirty="0"/>
                <a:t>X</a:t>
              </a:r>
              <a:r>
                <a:rPr lang="en-US" sz="1600" baseline="-25000" dirty="0"/>
                <a:t>2</a:t>
              </a:r>
            </a:p>
          </p:txBody>
        </p:sp>
      </p:gr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4E71CB0-7B01-4543-B5BB-533B51CC212C}"/>
                  </a:ext>
                </a:extLst>
              </p:cNvPr>
              <p:cNvSpPr txBox="1"/>
              <p:nvPr/>
            </p:nvSpPr>
            <p:spPr>
              <a:xfrm>
                <a:off x="4920476" y="1879863"/>
                <a:ext cx="6778602" cy="2576507"/>
              </a:xfrm>
              <a:prstGeom prst="rect">
                <a:avLst/>
              </a:prstGeom>
              <a:noFill/>
            </p:spPr>
            <p:txBody>
              <a:bodyPr wrap="square" rtlCol="0">
                <a:noAutofit/>
              </a:bodyPr>
              <a:lstStyle/>
              <a:p>
                <a:pPr marL="285750" indent="-285750">
                  <a:buFont typeface="Arial" panose="020B0604020202020204" pitchFamily="34" charset="0"/>
                  <a:buChar char="•"/>
                </a:pPr>
                <a14:m>
                  <m:oMath xmlns:m="http://schemas.openxmlformats.org/officeDocument/2006/math">
                    <m:r>
                      <a:rPr lang="en-US" sz="2000" b="0" i="1" smtClean="0">
                        <a:latin typeface="Cambria Math" panose="02040503050406030204" pitchFamily="18" charset="0"/>
                      </a:rPr>
                      <m:t>𝐴</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𝑓</m:t>
                        </m:r>
                      </m:e>
                    </m:d>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0</m:t>
                            </m:r>
                          </m:sub>
                        </m:sSub>
                      </m:num>
                      <m:den>
                        <m:r>
                          <a:rPr lang="en-US" sz="2000" b="0" i="1" smtClean="0">
                            <a:latin typeface="Cambria Math" panose="02040503050406030204" pitchFamily="18" charset="0"/>
                          </a:rPr>
                          <m:t>1+</m:t>
                        </m:r>
                        <m:r>
                          <a:rPr lang="en-US" sz="2000" b="0" i="1" smtClean="0">
                            <a:latin typeface="Cambria Math" panose="02040503050406030204" pitchFamily="18" charset="0"/>
                          </a:rPr>
                          <m:t>𝑗</m:t>
                        </m:r>
                        <m:r>
                          <a:rPr lang="en-US" sz="2000" b="0" i="1" smtClean="0">
                            <a:latin typeface="Cambria Math" panose="02040503050406030204" pitchFamily="18" charset="0"/>
                          </a:rPr>
                          <m:t>(</m:t>
                        </m:r>
                        <m:f>
                          <m:fPr>
                            <m:type m:val="skw"/>
                            <m:ctrlPr>
                              <a:rPr lang="en-US" sz="2000" b="0" i="1" smtClean="0">
                                <a:latin typeface="Cambria Math" panose="02040503050406030204" pitchFamily="18" charset="0"/>
                              </a:rPr>
                            </m:ctrlPr>
                          </m:fPr>
                          <m:num>
                            <m:r>
                              <a:rPr lang="en-US" sz="2000" b="0" i="1" smtClean="0">
                                <a:latin typeface="Cambria Math" panose="02040503050406030204" pitchFamily="18" charset="0"/>
                              </a:rPr>
                              <m:t>𝑓</m:t>
                            </m:r>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0</m:t>
                                </m:r>
                              </m:sub>
                            </m:sSub>
                          </m:den>
                        </m:f>
                        <m:r>
                          <a:rPr lang="en-US" sz="2000" b="0" i="1" smtClean="0">
                            <a:latin typeface="Cambria Math" panose="02040503050406030204" pitchFamily="18" charset="0"/>
                          </a:rPr>
                          <m:t>)</m:t>
                        </m:r>
                      </m:den>
                    </m:f>
                  </m:oMath>
                </a14:m>
                <a:endParaRPr lang="en-US" sz="2000" dirty="0"/>
              </a:p>
              <a:p>
                <a:pPr marL="285750" indent="-285750">
                  <a:buFont typeface="Arial" panose="020B0604020202020204" pitchFamily="34" charset="0"/>
                  <a:buChar char="•"/>
                </a:pPr>
                <a14:m>
                  <m:oMath xmlns:m="http://schemas.openxmlformats.org/officeDocument/2006/math">
                    <m:r>
                      <a:rPr lang="en-US" sz="2000" b="0" i="1" smtClean="0">
                        <a:latin typeface="Cambria Math" panose="02040503050406030204" pitchFamily="18" charset="0"/>
                      </a:rPr>
                      <m:t>𝐴</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r>
                          <a:rPr lang="en-US" sz="2000" b="0" i="1" smtClean="0">
                            <a:latin typeface="Cambria Math" panose="02040503050406030204" pitchFamily="18" charset="0"/>
                          </a:rPr>
                          <m:t>𝐵</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2</m:t>
                            </m:r>
                          </m:sub>
                        </m:sSub>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2</m:t>
                        </m:r>
                      </m:sub>
                    </m:sSub>
                  </m:oMath>
                </a14:m>
                <a:r>
                  <a:rPr lang="en-US" sz="2000" i="1" dirty="0">
                    <a:latin typeface="Cambria Math" panose="02040503050406030204" pitchFamily="18" charset="0"/>
                  </a:rPr>
                  <a:t> </a:t>
                </a:r>
                <a:r>
                  <a:rPr lang="en-US" sz="2000" dirty="0">
                    <a:latin typeface="Calibri" panose="020F0502020204030204" pitchFamily="34" charset="0"/>
                    <a:cs typeface="Calibri" panose="020F0502020204030204" pitchFamily="34" charset="0"/>
                  </a:rPr>
                  <a:t>so  </a:t>
                </a:r>
                <a14:m>
                  <m:oMath xmlns:m="http://schemas.openxmlformats.org/officeDocument/2006/math">
                    <m:f>
                      <m:fPr>
                        <m:ctrlPr>
                          <a:rPr lang="en-US" sz="200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2</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1</m:t>
                            </m:r>
                          </m:sub>
                        </m:sSub>
                      </m:den>
                    </m:f>
                    <m:r>
                      <a:rPr lang="en-US" sz="2000" b="0" i="1" smtClean="0">
                        <a:latin typeface="Cambria Math" panose="02040503050406030204" pitchFamily="18" charset="0"/>
                      </a:rPr>
                      <m:t>=</m:t>
                    </m:r>
                    <m:r>
                      <a:rPr lang="en-US" sz="2000" b="0" i="1" smtClean="0">
                        <a:latin typeface="Cambria Math" panose="02040503050406030204" pitchFamily="18" charset="0"/>
                      </a:rPr>
                      <m:t>𝐾</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𝐴</m:t>
                        </m:r>
                      </m:num>
                      <m:den>
                        <m:r>
                          <a:rPr lang="en-US" sz="2000" b="0" i="1" smtClean="0">
                            <a:latin typeface="Cambria Math" panose="02040503050406030204" pitchFamily="18" charset="0"/>
                          </a:rPr>
                          <m:t>1+</m:t>
                        </m:r>
                        <m:r>
                          <a:rPr lang="en-US" sz="2000" b="0" i="1" smtClean="0">
                            <a:latin typeface="Cambria Math" panose="02040503050406030204" pitchFamily="18" charset="0"/>
                          </a:rPr>
                          <m:t>𝐴𝐵</m:t>
                        </m:r>
                      </m:den>
                    </m:f>
                  </m:oMath>
                </a14:m>
                <a:endParaRPr lang="en-US" sz="2000" dirty="0"/>
              </a:p>
              <a:p>
                <a:pPr marL="285750" indent="-285750">
                  <a:buFont typeface="Arial" panose="020B0604020202020204" pitchFamily="34" charset="0"/>
                  <a:buChar char="•"/>
                </a:pPr>
                <a14:m>
                  <m:oMath xmlns:m="http://schemas.openxmlformats.org/officeDocument/2006/math">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𝑑𝐾</m:t>
                        </m:r>
                      </m:num>
                      <m:den>
                        <m:r>
                          <a:rPr lang="en-US" sz="2000" b="0" i="1" smtClean="0">
                            <a:latin typeface="Cambria Math" panose="02040503050406030204" pitchFamily="18" charset="0"/>
                          </a:rPr>
                          <m:t>𝑑𝐴</m:t>
                        </m:r>
                      </m:den>
                    </m:f>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(1+</m:t>
                            </m:r>
                            <m:r>
                              <a:rPr lang="en-US" sz="2000" b="0" i="1" smtClean="0">
                                <a:latin typeface="Cambria Math" panose="02040503050406030204" pitchFamily="18" charset="0"/>
                              </a:rPr>
                              <m:t>𝐴𝐵</m:t>
                            </m:r>
                            <m:r>
                              <a:rPr lang="en-US" sz="2000" b="0" i="1" smtClean="0">
                                <a:latin typeface="Cambria Math" panose="02040503050406030204" pitchFamily="18" charset="0"/>
                              </a:rPr>
                              <m:t>)</m:t>
                            </m:r>
                          </m:e>
                          <m:sup>
                            <m:r>
                              <a:rPr lang="en-US" sz="2000" b="0" i="1" smtClean="0">
                                <a:latin typeface="Cambria Math" panose="02040503050406030204" pitchFamily="18" charset="0"/>
                              </a:rPr>
                              <m:t>2</m:t>
                            </m:r>
                          </m:sup>
                        </m:sSup>
                      </m:den>
                    </m:f>
                  </m:oMath>
                </a14:m>
                <a:endParaRPr lang="en-US" sz="2000" dirty="0"/>
              </a:p>
              <a:p>
                <a:pPr marL="285750" indent="-285750">
                  <a:buFont typeface="Arial" panose="020B0604020202020204" pitchFamily="34" charset="0"/>
                  <a:buChar char="•"/>
                </a:pPr>
                <a14:m>
                  <m:oMath xmlns:m="http://schemas.openxmlformats.org/officeDocument/2006/math">
                    <m:r>
                      <a:rPr lang="en-US" sz="2000" b="0" i="1" smtClean="0">
                        <a:latin typeface="Cambria Math" panose="02040503050406030204" pitchFamily="18" charset="0"/>
                      </a:rPr>
                      <m:t>𝐴𝐵</m:t>
                    </m:r>
                    <m:r>
                      <a:rPr lang="en-US" sz="2000" b="0" i="1" smtClean="0">
                        <a:latin typeface="Cambria Math" panose="02040503050406030204" pitchFamily="18" charset="0"/>
                      </a:rPr>
                      <m:t>&lt;0</m:t>
                    </m:r>
                  </m:oMath>
                </a14:m>
                <a:r>
                  <a:rPr lang="en-US" sz="2000" dirty="0"/>
                  <a:t>, positive feedback</a:t>
                </a:r>
              </a:p>
              <a:p>
                <a:pPr marL="285750" indent="-285750">
                  <a:buFont typeface="Arial" panose="020B0604020202020204" pitchFamily="34" charset="0"/>
                  <a:buChar char="•"/>
                </a:pPr>
                <a14:m>
                  <m:oMath xmlns:m="http://schemas.openxmlformats.org/officeDocument/2006/math">
                    <m:r>
                      <a:rPr lang="en-US" sz="2000" i="1">
                        <a:latin typeface="Cambria Math" panose="02040503050406030204" pitchFamily="18" charset="0"/>
                      </a:rPr>
                      <m:t>𝐴𝐵</m:t>
                    </m:r>
                    <m:r>
                      <a:rPr lang="en-US" sz="2000" b="0" i="1" smtClean="0">
                        <a:latin typeface="Cambria Math" panose="02040503050406030204" pitchFamily="18" charset="0"/>
                      </a:rPr>
                      <m:t>&gt;</m:t>
                    </m:r>
                    <m:r>
                      <a:rPr lang="en-US" sz="2000" i="1">
                        <a:latin typeface="Cambria Math" panose="02040503050406030204" pitchFamily="18" charset="0"/>
                      </a:rPr>
                      <m:t>0</m:t>
                    </m:r>
                  </m:oMath>
                </a14:m>
                <a:r>
                  <a:rPr lang="en-US" sz="2000" dirty="0"/>
                  <a:t>, negative feedback</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endParaRPr lang="en-US" sz="2000" dirty="0"/>
              </a:p>
              <a:p>
                <a:pPr marL="285750" indent="-285750">
                  <a:buFont typeface="Arial" panose="020B0604020202020204" pitchFamily="34" charset="0"/>
                  <a:buChar char="•"/>
                </a:pPr>
                <a:r>
                  <a:rPr lang="en-US" sz="2000" dirty="0"/>
                  <a:t>For 741,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𝑖</m:t>
                        </m:r>
                      </m:sub>
                    </m:sSub>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2×</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10</m:t>
                        </m:r>
                      </m:e>
                      <m:sup>
                        <m:r>
                          <a:rPr lang="en-US" sz="2000" b="0" i="1" smtClean="0">
                            <a:latin typeface="Cambria Math" panose="02040503050406030204" pitchFamily="18" charset="0"/>
                            <a:ea typeface="Cambria Math" panose="02040503050406030204" pitchFamily="18" charset="0"/>
                          </a:rPr>
                          <m:t>6</m:t>
                        </m:r>
                      </m:sup>
                    </m:sSup>
                    <m:r>
                      <m:rPr>
                        <m:sty m:val="p"/>
                      </m:rPr>
                      <a:rPr lang="el-GR" sz="2000" b="0" i="1" smtClean="0">
                        <a:latin typeface="Cambria Math" panose="02040503050406030204" pitchFamily="18" charset="0"/>
                        <a:ea typeface="Cambria Math" panose="02040503050406030204" pitchFamily="18" charset="0"/>
                      </a:rPr>
                      <m:t>Ω</m:t>
                    </m:r>
                  </m:oMath>
                </a14:m>
                <a:r>
                  <a:rPr lang="en-US" sz="2000" dirty="0"/>
                  <a: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𝑜</m:t>
                        </m:r>
                      </m:sub>
                    </m:sSub>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150</m:t>
                    </m:r>
                    <m:r>
                      <m:rPr>
                        <m:sty m:val="p"/>
                      </m:rPr>
                      <a:rPr lang="el-GR" sz="2000" b="0" i="1" smtClean="0">
                        <a:latin typeface="Cambria Math" panose="02040503050406030204" pitchFamily="18" charset="0"/>
                        <a:ea typeface="Cambria Math" panose="02040503050406030204" pitchFamily="18" charset="0"/>
                      </a:rPr>
                      <m:t>Ω</m:t>
                    </m:r>
                  </m:oMath>
                </a14:m>
                <a:endParaRPr lang="en-US" sz="2000" dirty="0"/>
              </a:p>
              <a:p>
                <a:endParaRPr lang="en-US" dirty="0"/>
              </a:p>
              <a:p>
                <a:endParaRPr lang="en-US" dirty="0"/>
              </a:p>
              <a:p>
                <a:pPr marL="285750" indent="-285750">
                  <a:buFont typeface="Arial" panose="020B0604020202020204" pitchFamily="34" charset="0"/>
                  <a:buChar char="•"/>
                </a:pPr>
                <a:endParaRPr lang="en-US" dirty="0"/>
              </a:p>
            </p:txBody>
          </p:sp>
        </mc:Choice>
        <mc:Fallback xmlns="">
          <p:sp>
            <p:nvSpPr>
              <p:cNvPr id="22" name="TextBox 21">
                <a:extLst>
                  <a:ext uri="{FF2B5EF4-FFF2-40B4-BE49-F238E27FC236}">
                    <a16:creationId xmlns:a16="http://schemas.microsoft.com/office/drawing/2014/main" id="{B4E71CB0-7B01-4543-B5BB-533B51CC212C}"/>
                  </a:ext>
                </a:extLst>
              </p:cNvPr>
              <p:cNvSpPr txBox="1">
                <a:spLocks noRot="1" noChangeAspect="1" noMove="1" noResize="1" noEditPoints="1" noAdjustHandles="1" noChangeArrowheads="1" noChangeShapeType="1" noTextEdit="1"/>
              </p:cNvSpPr>
              <p:nvPr/>
            </p:nvSpPr>
            <p:spPr>
              <a:xfrm>
                <a:off x="4920476" y="1879863"/>
                <a:ext cx="6778602" cy="2576507"/>
              </a:xfrm>
              <a:prstGeom prst="rect">
                <a:avLst/>
              </a:prstGeom>
              <a:blipFill>
                <a:blip r:embed="rId4"/>
                <a:stretch>
                  <a:fillRect l="-748" t="-7353" b="-48529"/>
                </a:stretch>
              </a:blipFill>
            </p:spPr>
            <p:txBody>
              <a:bodyPr/>
              <a:lstStyle/>
              <a:p>
                <a:r>
                  <a:rPr lang="en-US">
                    <a:noFill/>
                  </a:rPr>
                  <a:t> </a:t>
                </a:r>
              </a:p>
            </p:txBody>
          </p:sp>
        </mc:Fallback>
      </mc:AlternateContent>
      <p:grpSp>
        <p:nvGrpSpPr>
          <p:cNvPr id="11" name="Group 10">
            <a:extLst>
              <a:ext uri="{FF2B5EF4-FFF2-40B4-BE49-F238E27FC236}">
                <a16:creationId xmlns:a16="http://schemas.microsoft.com/office/drawing/2014/main" id="{ADD1FBB7-C2D6-A94E-9CA1-2012D9FF22E9}"/>
              </a:ext>
            </a:extLst>
          </p:cNvPr>
          <p:cNvGrpSpPr/>
          <p:nvPr/>
        </p:nvGrpSpPr>
        <p:grpSpPr>
          <a:xfrm>
            <a:off x="877108" y="3928614"/>
            <a:ext cx="3378833" cy="2138910"/>
            <a:chOff x="1113627" y="3495249"/>
            <a:chExt cx="3378833" cy="2138910"/>
          </a:xfrm>
        </p:grpSpPr>
        <p:grpSp>
          <p:nvGrpSpPr>
            <p:cNvPr id="68" name="Group 38">
              <a:extLst>
                <a:ext uri="{FF2B5EF4-FFF2-40B4-BE49-F238E27FC236}">
                  <a16:creationId xmlns:a16="http://schemas.microsoft.com/office/drawing/2014/main" id="{C8A429A4-9FFE-9F45-94C0-7008BDADE734}"/>
                </a:ext>
              </a:extLst>
            </p:cNvPr>
            <p:cNvGrpSpPr>
              <a:grpSpLocks/>
            </p:cNvGrpSpPr>
            <p:nvPr/>
          </p:nvGrpSpPr>
          <p:grpSpPr bwMode="auto">
            <a:xfrm>
              <a:off x="1113627" y="3495249"/>
              <a:ext cx="3378833" cy="2138910"/>
              <a:chOff x="768" y="240"/>
              <a:chExt cx="1056" cy="864"/>
            </a:xfrm>
          </p:grpSpPr>
          <p:grpSp>
            <p:nvGrpSpPr>
              <p:cNvPr id="69" name="Group 39">
                <a:extLst>
                  <a:ext uri="{FF2B5EF4-FFF2-40B4-BE49-F238E27FC236}">
                    <a16:creationId xmlns:a16="http://schemas.microsoft.com/office/drawing/2014/main" id="{E5B3B53A-2AB0-C441-A50C-4EA83AED1F3D}"/>
                  </a:ext>
                </a:extLst>
              </p:cNvPr>
              <p:cNvGrpSpPr>
                <a:grpSpLocks/>
              </p:cNvGrpSpPr>
              <p:nvPr/>
            </p:nvGrpSpPr>
            <p:grpSpPr bwMode="auto">
              <a:xfrm>
                <a:off x="768" y="240"/>
                <a:ext cx="1056" cy="864"/>
                <a:chOff x="2496" y="1968"/>
                <a:chExt cx="1056" cy="864"/>
              </a:xfrm>
            </p:grpSpPr>
            <p:sp>
              <p:nvSpPr>
                <p:cNvPr id="73" name="Line 40">
                  <a:extLst>
                    <a:ext uri="{FF2B5EF4-FFF2-40B4-BE49-F238E27FC236}">
                      <a16:creationId xmlns:a16="http://schemas.microsoft.com/office/drawing/2014/main" id="{5263EFFC-344C-8B47-A478-9C5E749C404F}"/>
                    </a:ext>
                  </a:extLst>
                </p:cNvPr>
                <p:cNvSpPr>
                  <a:spLocks noChangeShapeType="1"/>
                </p:cNvSpPr>
                <p:nvPr/>
              </p:nvSpPr>
              <p:spPr bwMode="auto">
                <a:xfrm>
                  <a:off x="2496" y="216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 name="Line 41">
                  <a:extLst>
                    <a:ext uri="{FF2B5EF4-FFF2-40B4-BE49-F238E27FC236}">
                      <a16:creationId xmlns:a16="http://schemas.microsoft.com/office/drawing/2014/main" id="{79AD4894-9DC3-594B-BBEE-A4363252227F}"/>
                    </a:ext>
                  </a:extLst>
                </p:cNvPr>
                <p:cNvSpPr>
                  <a:spLocks noChangeShapeType="1"/>
                </p:cNvSpPr>
                <p:nvPr/>
              </p:nvSpPr>
              <p:spPr bwMode="auto">
                <a:xfrm>
                  <a:off x="2496" y="264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 name="Line 42">
                  <a:extLst>
                    <a:ext uri="{FF2B5EF4-FFF2-40B4-BE49-F238E27FC236}">
                      <a16:creationId xmlns:a16="http://schemas.microsoft.com/office/drawing/2014/main" id="{74DE4530-343C-2E4C-B879-0E1D0E4A41C1}"/>
                    </a:ext>
                  </a:extLst>
                </p:cNvPr>
                <p:cNvSpPr>
                  <a:spLocks noChangeShapeType="1"/>
                </p:cNvSpPr>
                <p:nvPr/>
              </p:nvSpPr>
              <p:spPr bwMode="auto">
                <a:xfrm>
                  <a:off x="3360" y="240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 name="Freeform 43">
                  <a:extLst>
                    <a:ext uri="{FF2B5EF4-FFF2-40B4-BE49-F238E27FC236}">
                      <a16:creationId xmlns:a16="http://schemas.microsoft.com/office/drawing/2014/main" id="{1DAB2061-3804-FB4C-8E7F-B69D53DDCAE8}"/>
                    </a:ext>
                  </a:extLst>
                </p:cNvPr>
                <p:cNvSpPr>
                  <a:spLocks/>
                </p:cNvSpPr>
                <p:nvPr/>
              </p:nvSpPr>
              <p:spPr bwMode="auto">
                <a:xfrm>
                  <a:off x="2688" y="1968"/>
                  <a:ext cx="672" cy="864"/>
                </a:xfrm>
                <a:custGeom>
                  <a:avLst/>
                  <a:gdLst>
                    <a:gd name="T0" fmla="*/ 6120 w 432"/>
                    <a:gd name="T1" fmla="*/ 779 h 768"/>
                    <a:gd name="T2" fmla="*/ 0 w 432"/>
                    <a:gd name="T3" fmla="*/ 1558 h 768"/>
                    <a:gd name="T4" fmla="*/ 0 w 432"/>
                    <a:gd name="T5" fmla="*/ 0 h 768"/>
                    <a:gd name="T6" fmla="*/ 6120 w 432"/>
                    <a:gd name="T7" fmla="*/ 779 h 768"/>
                    <a:gd name="T8" fmla="*/ 0 60000 65536"/>
                    <a:gd name="T9" fmla="*/ 0 60000 65536"/>
                    <a:gd name="T10" fmla="*/ 0 60000 65536"/>
                    <a:gd name="T11" fmla="*/ 0 60000 65536"/>
                    <a:gd name="T12" fmla="*/ 0 w 432"/>
                    <a:gd name="T13" fmla="*/ 0 h 768"/>
                    <a:gd name="T14" fmla="*/ 432 w 432"/>
                    <a:gd name="T15" fmla="*/ 768 h 768"/>
                  </a:gdLst>
                  <a:ahLst/>
                  <a:cxnLst>
                    <a:cxn ang="T8">
                      <a:pos x="T0" y="T1"/>
                    </a:cxn>
                    <a:cxn ang="T9">
                      <a:pos x="T2" y="T3"/>
                    </a:cxn>
                    <a:cxn ang="T10">
                      <a:pos x="T4" y="T5"/>
                    </a:cxn>
                    <a:cxn ang="T11">
                      <a:pos x="T6" y="T7"/>
                    </a:cxn>
                  </a:cxnLst>
                  <a:rect l="T12" t="T13" r="T14" b="T15"/>
                  <a:pathLst>
                    <a:path w="432" h="768">
                      <a:moveTo>
                        <a:pt x="432" y="384"/>
                      </a:moveTo>
                      <a:lnTo>
                        <a:pt x="0" y="768"/>
                      </a:lnTo>
                      <a:lnTo>
                        <a:pt x="0" y="0"/>
                      </a:lnTo>
                      <a:lnTo>
                        <a:pt x="432" y="38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70" name="Line 44">
                <a:extLst>
                  <a:ext uri="{FF2B5EF4-FFF2-40B4-BE49-F238E27FC236}">
                    <a16:creationId xmlns:a16="http://schemas.microsoft.com/office/drawing/2014/main" id="{745C7DBA-937B-6E4C-897F-0BA0DA98F7C3}"/>
                  </a:ext>
                </a:extLst>
              </p:cNvPr>
              <p:cNvSpPr>
                <a:spLocks noChangeShapeType="1"/>
              </p:cNvSpPr>
              <p:nvPr/>
            </p:nvSpPr>
            <p:spPr bwMode="auto">
              <a:xfrm>
                <a:off x="992" y="387"/>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77" name="Freeform 12">
              <a:extLst>
                <a:ext uri="{FF2B5EF4-FFF2-40B4-BE49-F238E27FC236}">
                  <a16:creationId xmlns:a16="http://schemas.microsoft.com/office/drawing/2014/main" id="{7C4475ED-DA5C-394B-8E38-0E0C569F557E}"/>
                </a:ext>
              </a:extLst>
            </p:cNvPr>
            <p:cNvSpPr>
              <a:spLocks noChangeAspect="1"/>
            </p:cNvSpPr>
            <p:nvPr/>
          </p:nvSpPr>
          <p:spPr bwMode="auto">
            <a:xfrm>
              <a:off x="2074831" y="4412305"/>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TextBox 4">
              <a:extLst>
                <a:ext uri="{FF2B5EF4-FFF2-40B4-BE49-F238E27FC236}">
                  <a16:creationId xmlns:a16="http://schemas.microsoft.com/office/drawing/2014/main" id="{89A1557F-1131-CB4A-A137-7518F632169B}"/>
                </a:ext>
              </a:extLst>
            </p:cNvPr>
            <p:cNvSpPr txBox="1"/>
            <p:nvPr/>
          </p:nvSpPr>
          <p:spPr>
            <a:xfrm>
              <a:off x="1795736" y="5098939"/>
              <a:ext cx="319489" cy="369332"/>
            </a:xfrm>
            <a:prstGeom prst="rect">
              <a:avLst/>
            </a:prstGeom>
            <a:noFill/>
          </p:spPr>
          <p:txBody>
            <a:bodyPr wrap="square" rtlCol="0">
              <a:spAutoFit/>
            </a:bodyPr>
            <a:lstStyle/>
            <a:p>
              <a:r>
                <a:rPr lang="en-US" dirty="0"/>
                <a:t>+</a:t>
              </a:r>
            </a:p>
          </p:txBody>
        </p:sp>
        <p:sp>
          <p:nvSpPr>
            <p:cNvPr id="78" name="Freeform 12">
              <a:extLst>
                <a:ext uri="{FF2B5EF4-FFF2-40B4-BE49-F238E27FC236}">
                  <a16:creationId xmlns:a16="http://schemas.microsoft.com/office/drawing/2014/main" id="{AA1B8D31-AB47-6947-AFC0-7322062DCE8F}"/>
                </a:ext>
              </a:extLst>
            </p:cNvPr>
            <p:cNvSpPr>
              <a:spLocks noChangeAspect="1"/>
            </p:cNvSpPr>
            <p:nvPr/>
          </p:nvSpPr>
          <p:spPr bwMode="auto">
            <a:xfrm rot="5400000">
              <a:off x="2988584" y="4181652"/>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79" name="Group 205">
              <a:extLst>
                <a:ext uri="{FF2B5EF4-FFF2-40B4-BE49-F238E27FC236}">
                  <a16:creationId xmlns:a16="http://schemas.microsoft.com/office/drawing/2014/main" id="{2135EC98-B4C2-6846-A329-9827AE7DC864}"/>
                </a:ext>
              </a:extLst>
            </p:cNvPr>
            <p:cNvGrpSpPr>
              <a:grpSpLocks/>
            </p:cNvGrpSpPr>
            <p:nvPr/>
          </p:nvGrpSpPr>
          <p:grpSpPr bwMode="auto">
            <a:xfrm rot="10800000">
              <a:off x="2531384" y="4557780"/>
              <a:ext cx="304800" cy="762000"/>
              <a:chOff x="3888" y="2400"/>
              <a:chExt cx="192" cy="480"/>
            </a:xfrm>
          </p:grpSpPr>
          <p:sp>
            <p:nvSpPr>
              <p:cNvPr id="80" name="Oval 40">
                <a:extLst>
                  <a:ext uri="{FF2B5EF4-FFF2-40B4-BE49-F238E27FC236}">
                    <a16:creationId xmlns:a16="http://schemas.microsoft.com/office/drawing/2014/main" id="{02E34515-B8B7-8248-A5AD-2C2544C43767}"/>
                  </a:ext>
                </a:extLst>
              </p:cNvPr>
              <p:cNvSpPr>
                <a:spLocks noChangeAspect="1" noChangeArrowheads="1"/>
              </p:cNvSpPr>
              <p:nvPr/>
            </p:nvSpPr>
            <p:spPr bwMode="auto">
              <a:xfrm>
                <a:off x="3888"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81" name="Line 41">
                <a:extLst>
                  <a:ext uri="{FF2B5EF4-FFF2-40B4-BE49-F238E27FC236}">
                    <a16:creationId xmlns:a16="http://schemas.microsoft.com/office/drawing/2014/main" id="{CBCDA8CB-BBE4-A44A-ADC4-01AD555FE026}"/>
                  </a:ext>
                </a:extLst>
              </p:cNvPr>
              <p:cNvSpPr>
                <a:spLocks noChangeAspect="1" noChangeShapeType="1"/>
              </p:cNvSpPr>
              <p:nvPr/>
            </p:nvSpPr>
            <p:spPr bwMode="auto">
              <a:xfrm flipV="1">
                <a:off x="3984"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 name="Line 42">
                <a:extLst>
                  <a:ext uri="{FF2B5EF4-FFF2-40B4-BE49-F238E27FC236}">
                    <a16:creationId xmlns:a16="http://schemas.microsoft.com/office/drawing/2014/main" id="{BDB227E8-C2BD-F040-A412-497E94AE84C5}"/>
                  </a:ext>
                </a:extLst>
              </p:cNvPr>
              <p:cNvSpPr>
                <a:spLocks noChangeAspect="1" noChangeShapeType="1"/>
              </p:cNvSpPr>
              <p:nvPr/>
            </p:nvSpPr>
            <p:spPr bwMode="auto">
              <a:xfrm flipV="1">
                <a:off x="3984"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3" name="Line 43">
                <a:extLst>
                  <a:ext uri="{FF2B5EF4-FFF2-40B4-BE49-F238E27FC236}">
                    <a16:creationId xmlns:a16="http://schemas.microsoft.com/office/drawing/2014/main" id="{3E596616-2E0E-0D49-B8B3-BAB5133011F4}"/>
                  </a:ext>
                </a:extLst>
              </p:cNvPr>
              <p:cNvSpPr>
                <a:spLocks noChangeAspect="1" noChangeShapeType="1"/>
              </p:cNvSpPr>
              <p:nvPr/>
            </p:nvSpPr>
            <p:spPr bwMode="auto">
              <a:xfrm>
                <a:off x="3984" y="2568"/>
                <a:ext cx="0" cy="120"/>
              </a:xfrm>
              <a:prstGeom prst="line">
                <a:avLst/>
              </a:prstGeom>
              <a:noFill/>
              <a:ln w="25400">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en-US"/>
              </a:p>
            </p:txBody>
          </p:sp>
          <p:sp>
            <p:nvSpPr>
              <p:cNvPr id="84" name="Freeform 44">
                <a:extLst>
                  <a:ext uri="{FF2B5EF4-FFF2-40B4-BE49-F238E27FC236}">
                    <a16:creationId xmlns:a16="http://schemas.microsoft.com/office/drawing/2014/main" id="{C8399475-B6E2-794F-B42D-0EB41AED38E1}"/>
                  </a:ext>
                </a:extLst>
              </p:cNvPr>
              <p:cNvSpPr>
                <a:spLocks noChangeAspect="1"/>
              </p:cNvSpPr>
              <p:nvPr/>
            </p:nvSpPr>
            <p:spPr bwMode="auto">
              <a:xfrm rot="5400000" flipH="1">
                <a:off x="3960" y="2664"/>
                <a:ext cx="48" cy="48"/>
              </a:xfrm>
              <a:custGeom>
                <a:avLst/>
                <a:gdLst>
                  <a:gd name="T0" fmla="*/ 0 w 96"/>
                  <a:gd name="T1" fmla="*/ 1 h 96"/>
                  <a:gd name="T2" fmla="*/ 2 w 96"/>
                  <a:gd name="T3" fmla="*/ 0 h 96"/>
                  <a:gd name="T4" fmla="*/ 2 w 96"/>
                  <a:gd name="T5" fmla="*/ 2 h 96"/>
                  <a:gd name="T6" fmla="*/ 0 w 96"/>
                  <a:gd name="T7" fmla="*/ 1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48"/>
                    </a:moveTo>
                    <a:lnTo>
                      <a:pt x="96" y="0"/>
                    </a:lnTo>
                    <a:lnTo>
                      <a:pt x="96" y="96"/>
                    </a:lnTo>
                    <a:lnTo>
                      <a:pt x="0" y="48"/>
                    </a:lnTo>
                    <a:close/>
                  </a:path>
                </a:pathLst>
              </a:custGeom>
              <a:solidFill>
                <a:schemeClr val="tx1"/>
              </a:solidFill>
              <a:ln w="25400">
                <a:solidFill>
                  <a:schemeClr val="tx1"/>
                </a:solidFill>
                <a:round/>
                <a:headEnd/>
                <a:tailEnd/>
              </a:ln>
            </p:spPr>
            <p:txBody>
              <a:bodyPr/>
              <a:lstStyle/>
              <a:p>
                <a:endParaRPr lang="en-US"/>
              </a:p>
            </p:txBody>
          </p:sp>
        </p:grpSp>
        <p:grpSp>
          <p:nvGrpSpPr>
            <p:cNvPr id="85" name="Group 220">
              <a:extLst>
                <a:ext uri="{FF2B5EF4-FFF2-40B4-BE49-F238E27FC236}">
                  <a16:creationId xmlns:a16="http://schemas.microsoft.com/office/drawing/2014/main" id="{D464A2DE-2321-9B4A-B4CF-A77B08C2F620}"/>
                </a:ext>
              </a:extLst>
            </p:cNvPr>
            <p:cNvGrpSpPr>
              <a:grpSpLocks/>
            </p:cNvGrpSpPr>
            <p:nvPr/>
          </p:nvGrpSpPr>
          <p:grpSpPr bwMode="auto">
            <a:xfrm>
              <a:off x="2605668" y="5283569"/>
              <a:ext cx="152400" cy="304800"/>
              <a:chOff x="3264" y="3072"/>
              <a:chExt cx="96" cy="192"/>
            </a:xfrm>
          </p:grpSpPr>
          <p:sp>
            <p:nvSpPr>
              <p:cNvPr id="86" name="Line 17">
                <a:extLst>
                  <a:ext uri="{FF2B5EF4-FFF2-40B4-BE49-F238E27FC236}">
                    <a16:creationId xmlns:a16="http://schemas.microsoft.com/office/drawing/2014/main" id="{F7794276-3ADF-814D-AE1B-2B314A29D365}"/>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 name="Freeform 18">
                <a:extLst>
                  <a:ext uri="{FF2B5EF4-FFF2-40B4-BE49-F238E27FC236}">
                    <a16:creationId xmlns:a16="http://schemas.microsoft.com/office/drawing/2014/main" id="{D641479F-C69B-5F49-BBA9-3AF97A29FBA2}"/>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cxnSp>
          <p:nvCxnSpPr>
            <p:cNvPr id="8" name="Straight Connector 7">
              <a:extLst>
                <a:ext uri="{FF2B5EF4-FFF2-40B4-BE49-F238E27FC236}">
                  <a16:creationId xmlns:a16="http://schemas.microsoft.com/office/drawing/2014/main" id="{6C4459D6-C42C-B746-952A-B1548CE3EA76}"/>
                </a:ext>
              </a:extLst>
            </p:cNvPr>
            <p:cNvCxnSpPr/>
            <p:nvPr/>
          </p:nvCxnSpPr>
          <p:spPr>
            <a:xfrm>
              <a:off x="3397944" y="4562652"/>
              <a:ext cx="4572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010928B7-B804-EE4B-8481-252E0C98B0C3}"/>
                </a:ext>
              </a:extLst>
            </p:cNvPr>
            <p:cNvCxnSpPr>
              <a:cxnSpLocks/>
            </p:cNvCxnSpPr>
            <p:nvPr/>
          </p:nvCxnSpPr>
          <p:spPr>
            <a:xfrm>
              <a:off x="2146577" y="3966905"/>
              <a:ext cx="0" cy="4526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C6A6B99D-8892-FD4B-BAD5-CE59CD8D20F2}"/>
                </a:ext>
              </a:extLst>
            </p:cNvPr>
            <p:cNvCxnSpPr/>
            <p:nvPr/>
          </p:nvCxnSpPr>
          <p:spPr>
            <a:xfrm>
              <a:off x="1707686" y="3966905"/>
              <a:ext cx="4572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0AB36BE8-A0E3-1043-A2CE-DA32EEF4E757}"/>
                </a:ext>
              </a:extLst>
            </p:cNvPr>
            <p:cNvCxnSpPr/>
            <p:nvPr/>
          </p:nvCxnSpPr>
          <p:spPr>
            <a:xfrm>
              <a:off x="1707683" y="5158402"/>
              <a:ext cx="4572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8441634-E78C-2944-AF7D-55C7E5C0F728}"/>
                </a:ext>
              </a:extLst>
            </p:cNvPr>
            <p:cNvSpPr txBox="1"/>
            <p:nvPr/>
          </p:nvSpPr>
          <p:spPr>
            <a:xfrm>
              <a:off x="2879218" y="4146881"/>
              <a:ext cx="459728" cy="369332"/>
            </a:xfrm>
            <a:prstGeom prst="rect">
              <a:avLst/>
            </a:prstGeom>
            <a:noFill/>
          </p:spPr>
          <p:txBody>
            <a:bodyPr wrap="square" rtlCol="0">
              <a:spAutoFit/>
            </a:bodyPr>
            <a:lstStyle/>
            <a:p>
              <a:r>
                <a:rPr lang="en-US" dirty="0"/>
                <a:t>Z</a:t>
              </a:r>
              <a:r>
                <a:rPr lang="en-US" baseline="-25000" dirty="0"/>
                <a:t>o</a:t>
              </a:r>
            </a:p>
          </p:txBody>
        </p:sp>
        <p:sp>
          <p:nvSpPr>
            <p:cNvPr id="96" name="TextBox 95">
              <a:extLst>
                <a:ext uri="{FF2B5EF4-FFF2-40B4-BE49-F238E27FC236}">
                  <a16:creationId xmlns:a16="http://schemas.microsoft.com/office/drawing/2014/main" id="{9011C17D-0A45-A143-8292-9447C01A9040}"/>
                </a:ext>
              </a:extLst>
            </p:cNvPr>
            <p:cNvSpPr txBox="1"/>
            <p:nvPr/>
          </p:nvSpPr>
          <p:spPr>
            <a:xfrm>
              <a:off x="1715439" y="4617936"/>
              <a:ext cx="459728" cy="369332"/>
            </a:xfrm>
            <a:prstGeom prst="rect">
              <a:avLst/>
            </a:prstGeom>
            <a:noFill/>
          </p:spPr>
          <p:txBody>
            <a:bodyPr wrap="square" rtlCol="0">
              <a:spAutoFit/>
            </a:bodyPr>
            <a:lstStyle/>
            <a:p>
              <a:r>
                <a:rPr lang="en-US" dirty="0"/>
                <a:t>Z</a:t>
              </a:r>
              <a:r>
                <a:rPr lang="en-US" baseline="-25000" dirty="0"/>
                <a:t>i</a:t>
              </a:r>
            </a:p>
          </p:txBody>
        </p:sp>
        <p:sp>
          <p:nvSpPr>
            <p:cNvPr id="97" name="TextBox 96">
              <a:extLst>
                <a:ext uri="{FF2B5EF4-FFF2-40B4-BE49-F238E27FC236}">
                  <a16:creationId xmlns:a16="http://schemas.microsoft.com/office/drawing/2014/main" id="{8D40C969-A7D5-AF44-8F8B-285576B5AAAF}"/>
                </a:ext>
              </a:extLst>
            </p:cNvPr>
            <p:cNvSpPr txBox="1"/>
            <p:nvPr/>
          </p:nvSpPr>
          <p:spPr>
            <a:xfrm>
              <a:off x="2740456" y="4560875"/>
              <a:ext cx="614333" cy="369332"/>
            </a:xfrm>
            <a:prstGeom prst="rect">
              <a:avLst/>
            </a:prstGeom>
            <a:noFill/>
          </p:spPr>
          <p:txBody>
            <a:bodyPr wrap="square" rtlCol="0">
              <a:spAutoFit/>
            </a:bodyPr>
            <a:lstStyle/>
            <a:p>
              <a:r>
                <a:rPr lang="en-US" dirty="0"/>
                <a:t>-</a:t>
              </a:r>
              <a:r>
                <a:rPr lang="en-US" dirty="0" err="1"/>
                <a:t>Av</a:t>
              </a:r>
              <a:r>
                <a:rPr lang="en-US" baseline="-25000" dirty="0" err="1"/>
                <a:t>i</a:t>
              </a:r>
              <a:endParaRPr lang="en-US" baseline="-25000" dirty="0"/>
            </a:p>
          </p:txBody>
        </p:sp>
      </p:grpSp>
    </p:spTree>
    <p:extLst>
      <p:ext uri="{BB962C8B-B14F-4D97-AF65-F5344CB8AC3E}">
        <p14:creationId xmlns:p14="http://schemas.microsoft.com/office/powerpoint/2010/main" val="39756644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76154" y="77306"/>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Op Amps</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4EE796B-9DCB-DE41-AEA4-31CBF97794EF}"/>
                  </a:ext>
                </a:extLst>
              </p:cNvPr>
              <p:cNvSpPr txBox="1"/>
              <p:nvPr/>
            </p:nvSpPr>
            <p:spPr>
              <a:xfrm>
                <a:off x="353959" y="1116077"/>
                <a:ext cx="8183249" cy="55613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285750" indent="-285750" defTabSz="457200" latinLnBrk="1" hangingPunct="0">
                  <a:buFont typeface="Arial" panose="020B0604020202020204" pitchFamily="34" charset="0"/>
                  <a:buChar char="•"/>
                </a:pPr>
                <a:r>
                  <a:rPr lang="en-US" sz="2000" dirty="0">
                    <a:solidFill>
                      <a:srgbClr val="000000"/>
                    </a:solidFill>
                    <a:latin typeface="Calibri"/>
                    <a:ea typeface="Calibri"/>
                    <a:cs typeface="Calibri"/>
                    <a:sym typeface="Calibri"/>
                  </a:rPr>
                  <a:t>Ideal op amp</a:t>
                </a:r>
              </a:p>
              <a:p>
                <a:pPr marL="742950" lvl="1" indent="-285750" defTabSz="457200" latinLnBrk="1"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𝑍</m:t>
                        </m:r>
                      </m:e>
                      <m:sub>
                        <m:r>
                          <a:rPr lang="en-US" sz="2000" b="0" i="1" smtClean="0">
                            <a:solidFill>
                              <a:srgbClr val="000000"/>
                            </a:solidFill>
                            <a:latin typeface="Cambria Math" panose="02040503050406030204" pitchFamily="18" charset="0"/>
                            <a:cs typeface="Calibri"/>
                            <a:sym typeface="Calibri"/>
                          </a:rPr>
                          <m:t>𝑖𝑛</m:t>
                        </m:r>
                      </m:sub>
                    </m:sSub>
                    <m:r>
                      <a:rPr lang="en-US" sz="2000" b="0" i="1" smtClean="0">
                        <a:solidFill>
                          <a:srgbClr val="000000"/>
                        </a:solidFill>
                        <a:latin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m:t>
                    </m:r>
                  </m:oMath>
                </a14:m>
                <a:endParaRPr lang="en-US" sz="2000" dirty="0">
                  <a:solidFill>
                    <a:srgbClr val="000000"/>
                  </a:solidFill>
                  <a:latin typeface="Calibri"/>
                  <a:ea typeface="Calibri"/>
                  <a:cs typeface="Calibri"/>
                  <a:sym typeface="Calibri"/>
                </a:endParaRPr>
              </a:p>
              <a:p>
                <a:pPr marL="742950" lvl="1" indent="-285750" defTabSz="457200" latinLnBrk="1"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𝐴</m:t>
                        </m:r>
                      </m:e>
                      <m:sub>
                        <m:r>
                          <a:rPr lang="en-US" sz="2000" b="0" i="1" smtClean="0">
                            <a:solidFill>
                              <a:srgbClr val="000000"/>
                            </a:solidFill>
                            <a:latin typeface="Cambria Math" panose="02040503050406030204" pitchFamily="18" charset="0"/>
                            <a:cs typeface="Calibri"/>
                            <a:sym typeface="Calibri"/>
                          </a:rPr>
                          <m:t>𝑉</m:t>
                        </m:r>
                      </m:sub>
                    </m:sSub>
                    <m:r>
                      <a:rPr lang="en-US" sz="2000" b="0" i="1" smtClean="0">
                        <a:solidFill>
                          <a:srgbClr val="000000"/>
                        </a:solidFill>
                        <a:latin typeface="Cambria Math" panose="02040503050406030204" pitchFamily="18" charset="0"/>
                        <a:cs typeface="Calibri"/>
                        <a:sym typeface="Calibri"/>
                      </a:rPr>
                      <m:t>=</m:t>
                    </m:r>
                    <m:f>
                      <m:fPr>
                        <m:ctrlPr>
                          <a:rPr lang="en-US" sz="2000" b="0" i="1" smtClean="0">
                            <a:solidFill>
                              <a:srgbClr val="000000"/>
                            </a:solidFill>
                            <a:latin typeface="Cambria Math" panose="02040503050406030204" pitchFamily="18" charset="0"/>
                            <a:cs typeface="Calibri"/>
                            <a:sym typeface="Calibri"/>
                          </a:rPr>
                        </m:ctrlPr>
                      </m:fPr>
                      <m:num>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𝑜</m:t>
                            </m:r>
                          </m:sub>
                        </m:sSub>
                      </m:num>
                      <m:den>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𝑖</m:t>
                            </m:r>
                            <m:r>
                              <a:rPr lang="en-US" sz="2000" b="0" i="1" smtClean="0">
                                <a:solidFill>
                                  <a:srgbClr val="000000"/>
                                </a:solidFill>
                                <a:latin typeface="Cambria Math" panose="02040503050406030204" pitchFamily="18" charset="0"/>
                                <a:cs typeface="Calibri"/>
                                <a:sym typeface="Calibri"/>
                              </a:rPr>
                              <m:t>,+</m:t>
                            </m:r>
                          </m:sub>
                        </m:sSub>
                        <m:r>
                          <a:rPr lang="en-US" sz="2000" b="0" i="1" smtClean="0">
                            <a:solidFill>
                              <a:srgbClr val="000000"/>
                            </a:solidFill>
                            <a:latin typeface="Cambria Math" panose="02040503050406030204" pitchFamily="18" charset="0"/>
                            <a:cs typeface="Calibri"/>
                            <a:sym typeface="Calibri"/>
                          </a:rPr>
                          <m:t>−</m:t>
                        </m:r>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𝑉</m:t>
                            </m:r>
                          </m:e>
                          <m:sub>
                            <m:r>
                              <a:rPr lang="en-US" sz="2000" i="1">
                                <a:solidFill>
                                  <a:srgbClr val="000000"/>
                                </a:solidFill>
                                <a:latin typeface="Cambria Math" panose="02040503050406030204" pitchFamily="18" charset="0"/>
                                <a:cs typeface="Calibri"/>
                                <a:sym typeface="Calibri"/>
                              </a:rPr>
                              <m:t>𝑖</m:t>
                            </m:r>
                            <m:r>
                              <a:rPr lang="en-US" sz="2000" i="1">
                                <a:solidFill>
                                  <a:srgbClr val="000000"/>
                                </a:solidFill>
                                <a:latin typeface="Cambria Math" panose="02040503050406030204" pitchFamily="18" charset="0"/>
                                <a:cs typeface="Calibri"/>
                                <a:sym typeface="Calibri"/>
                              </a:rPr>
                              <m:t>,−</m:t>
                            </m:r>
                          </m:sub>
                        </m:sSub>
                      </m:den>
                    </m:f>
                  </m:oMath>
                </a14:m>
                <a:r>
                  <a:rPr lang="en-US" sz="2000" dirty="0">
                    <a:solidFill>
                      <a:srgbClr val="000000"/>
                    </a:solidFill>
                    <a:latin typeface="Calibri"/>
                    <a:ea typeface="Calibri"/>
                    <a:cs typeface="Calibri"/>
                    <a:sym typeface="Calibri"/>
                  </a:rPr>
                  <a:t>, </a:t>
                </a:r>
                <a14:m>
                  <m:oMath xmlns:m="http://schemas.openxmlformats.org/officeDocument/2006/math">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𝐴</m:t>
                        </m:r>
                      </m:e>
                      <m:sub>
                        <m:r>
                          <a:rPr lang="en-US" sz="2000" i="1">
                            <a:solidFill>
                              <a:srgbClr val="000000"/>
                            </a:solidFill>
                            <a:latin typeface="Cambria Math" panose="02040503050406030204" pitchFamily="18" charset="0"/>
                            <a:cs typeface="Calibri"/>
                            <a:sym typeface="Calibri"/>
                          </a:rPr>
                          <m:t>𝑉</m:t>
                        </m:r>
                      </m:sub>
                    </m:sSub>
                  </m:oMath>
                </a14:m>
                <a:r>
                  <a:rPr lang="en-US" sz="2000" dirty="0">
                    <a:solidFill>
                      <a:srgbClr val="000000"/>
                    </a:solidFill>
                    <a:latin typeface="Calibri"/>
                    <a:ea typeface="Calibri"/>
                    <a:cs typeface="Calibri"/>
                    <a:sym typeface="Calibri"/>
                  </a:rPr>
                  <a:t> is an op amp parameter between </a:t>
                </a:r>
                <a14:m>
                  <m:oMath xmlns:m="http://schemas.openxmlformats.org/officeDocument/2006/math">
                    <m:sSup>
                      <m:sSupPr>
                        <m:ctrlPr>
                          <a:rPr lang="en-US" sz="2000" b="0" i="1" smtClean="0">
                            <a:solidFill>
                              <a:srgbClr val="000000"/>
                            </a:solidFill>
                            <a:latin typeface="Cambria Math" panose="02040503050406030204" pitchFamily="18" charset="0"/>
                            <a:cs typeface="Calibri"/>
                            <a:sym typeface="Calibri"/>
                          </a:rPr>
                        </m:ctrlPr>
                      </m:sSupPr>
                      <m:e>
                        <m:r>
                          <a:rPr lang="en-US" sz="2000" b="0" i="1" smtClean="0">
                            <a:solidFill>
                              <a:srgbClr val="000000"/>
                            </a:solidFill>
                            <a:latin typeface="Cambria Math" panose="02040503050406030204" pitchFamily="18" charset="0"/>
                            <a:cs typeface="Calibri"/>
                            <a:sym typeface="Calibri"/>
                          </a:rPr>
                          <m:t>10</m:t>
                        </m:r>
                      </m:e>
                      <m:sup>
                        <m:r>
                          <a:rPr lang="en-US" sz="2000" b="0" i="1" smtClean="0">
                            <a:solidFill>
                              <a:srgbClr val="000000"/>
                            </a:solidFill>
                            <a:latin typeface="Cambria Math" panose="02040503050406030204" pitchFamily="18" charset="0"/>
                            <a:cs typeface="Calibri"/>
                            <a:sym typeface="Calibri"/>
                          </a:rPr>
                          <m:t>4</m:t>
                        </m:r>
                      </m:sup>
                    </m:sSup>
                  </m:oMath>
                </a14:m>
                <a:r>
                  <a:rPr lang="en-US" sz="2000" dirty="0">
                    <a:solidFill>
                      <a:srgbClr val="000000"/>
                    </a:solidFill>
                    <a:latin typeface="Calibri"/>
                    <a:ea typeface="Calibri"/>
                    <a:cs typeface="Calibri"/>
                    <a:sym typeface="Calibri"/>
                  </a:rPr>
                  <a:t> and </a:t>
                </a:r>
                <a14:m>
                  <m:oMath xmlns:m="http://schemas.openxmlformats.org/officeDocument/2006/math">
                    <m:sSup>
                      <m:sSupPr>
                        <m:ctrlPr>
                          <a:rPr lang="en-US" sz="2000" i="1">
                            <a:solidFill>
                              <a:srgbClr val="000000"/>
                            </a:solidFill>
                            <a:latin typeface="Cambria Math" panose="02040503050406030204" pitchFamily="18" charset="0"/>
                            <a:cs typeface="Calibri"/>
                            <a:sym typeface="Calibri"/>
                          </a:rPr>
                        </m:ctrlPr>
                      </m:sSupPr>
                      <m:e>
                        <m:r>
                          <a:rPr lang="en-US" sz="2000" i="1">
                            <a:solidFill>
                              <a:srgbClr val="000000"/>
                            </a:solidFill>
                            <a:latin typeface="Cambria Math" panose="02040503050406030204" pitchFamily="18" charset="0"/>
                            <a:cs typeface="Calibri"/>
                            <a:sym typeface="Calibri"/>
                          </a:rPr>
                          <m:t>10</m:t>
                        </m:r>
                      </m:e>
                      <m:sup>
                        <m:r>
                          <a:rPr lang="en-US" sz="2000" b="0" i="1" smtClean="0">
                            <a:solidFill>
                              <a:srgbClr val="000000"/>
                            </a:solidFill>
                            <a:latin typeface="Cambria Math" panose="02040503050406030204" pitchFamily="18" charset="0"/>
                            <a:cs typeface="Calibri"/>
                            <a:sym typeface="Calibri"/>
                          </a:rPr>
                          <m:t>6</m:t>
                        </m:r>
                      </m:sup>
                    </m:sSup>
                  </m:oMath>
                </a14:m>
                <a:r>
                  <a:rPr lang="en-US" sz="2000" dirty="0">
                    <a:solidFill>
                      <a:srgbClr val="000000"/>
                    </a:solidFill>
                    <a:ea typeface="Calibri"/>
                    <a:cs typeface="Calibri"/>
                    <a:sym typeface="Calibri"/>
                  </a:rPr>
                  <a:t>.</a:t>
                </a:r>
              </a:p>
              <a:p>
                <a:pPr marL="742950" lvl="1" indent="-285750" defTabSz="457200" latinLnBrk="1"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𝑉</m:t>
                        </m:r>
                      </m:e>
                      <m:sub>
                        <m:r>
                          <a:rPr lang="en-US" sz="2000" i="1">
                            <a:solidFill>
                              <a:srgbClr val="000000"/>
                            </a:solidFill>
                            <a:latin typeface="Cambria Math" panose="02040503050406030204" pitchFamily="18" charset="0"/>
                            <a:cs typeface="Calibri"/>
                            <a:sym typeface="Calibri"/>
                          </a:rPr>
                          <m:t>−</m:t>
                        </m:r>
                      </m:sub>
                    </m:sSub>
                    <m:r>
                      <a:rPr lang="en-US" sz="2000" i="1">
                        <a:solidFill>
                          <a:srgbClr val="000000"/>
                        </a:solidFill>
                        <a:latin typeface="Cambria Math" panose="02040503050406030204" pitchFamily="18" charset="0"/>
                        <a:cs typeface="Calibri"/>
                        <a:sym typeface="Calibri"/>
                      </a:rPr>
                      <m:t>=</m:t>
                    </m:r>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𝑉</m:t>
                        </m:r>
                      </m:e>
                      <m:sub>
                        <m:r>
                          <a:rPr lang="en-US" sz="2000" i="1">
                            <a:solidFill>
                              <a:srgbClr val="000000"/>
                            </a:solidFill>
                            <a:latin typeface="Cambria Math" panose="02040503050406030204" pitchFamily="18" charset="0"/>
                            <a:cs typeface="Calibri"/>
                            <a:sym typeface="Calibri"/>
                          </a:rPr>
                          <m:t>+</m:t>
                        </m:r>
                      </m:sub>
                    </m:sSub>
                  </m:oMath>
                </a14:m>
                <a:r>
                  <a:rPr lang="en-US" sz="2000" dirty="0">
                    <a:solidFill>
                      <a:srgbClr val="000000"/>
                    </a:solidFill>
                    <a:ea typeface="Calibri"/>
                    <a:cs typeface="Calibri"/>
                    <a:sym typeface="Calibri"/>
                  </a:rPr>
                  <a:t> for negative feedback</a:t>
                </a:r>
              </a:p>
              <a:p>
                <a:pPr marL="742950" lvl="1" indent="-285750" defTabSz="457200" latinLnBrk="1" hangingPunct="0">
                  <a:buFont typeface="Arial" panose="020B0604020202020204" pitchFamily="34" charset="0"/>
                  <a:buChar char="•"/>
                </a:pPr>
                <a:r>
                  <a:rPr lang="en-US" sz="2000" dirty="0">
                    <a:solidFill>
                      <a:srgbClr val="000000"/>
                    </a:solidFill>
                    <a:ea typeface="Calibri"/>
                    <a:cs typeface="Calibri"/>
                    <a:sym typeface="Calibri"/>
                  </a:rPr>
                  <a:t>Output voltage increases when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𝑣</m:t>
                        </m:r>
                      </m:e>
                      <m:sub>
                        <m:r>
                          <a:rPr lang="en-US" sz="2000" b="0" i="1" smtClean="0">
                            <a:solidFill>
                              <a:srgbClr val="000000"/>
                            </a:solidFill>
                            <a:latin typeface="Cambria Math" panose="02040503050406030204" pitchFamily="18" charset="0"/>
                            <a:cs typeface="Calibri"/>
                            <a:sym typeface="Calibri"/>
                          </a:rPr>
                          <m:t>+</m:t>
                        </m:r>
                      </m:sub>
                    </m:sSub>
                    <m:r>
                      <a:rPr lang="en-US" sz="2000" b="0" i="1" smtClean="0">
                        <a:solidFill>
                          <a:srgbClr val="000000"/>
                        </a:solidFill>
                        <a:latin typeface="Cambria Math" panose="02040503050406030204" pitchFamily="18" charset="0"/>
                        <a:cs typeface="Calibri"/>
                        <a:sym typeface="Calibri"/>
                      </a:rPr>
                      <m:t>&gt;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𝑣</m:t>
                        </m:r>
                      </m:e>
                      <m:sub>
                        <m:r>
                          <a:rPr lang="en-US" sz="2000" b="0" i="1" smtClean="0">
                            <a:solidFill>
                              <a:srgbClr val="000000"/>
                            </a:solidFill>
                            <a:latin typeface="Cambria Math" panose="02040503050406030204" pitchFamily="18" charset="0"/>
                            <a:cs typeface="Calibri"/>
                            <a:sym typeface="Calibri"/>
                          </a:rPr>
                          <m:t>−</m:t>
                        </m:r>
                      </m:sub>
                    </m:sSub>
                  </m:oMath>
                </a14:m>
                <a:r>
                  <a:rPr lang="en-US" sz="2000" dirty="0">
                    <a:solidFill>
                      <a:srgbClr val="000000"/>
                    </a:solidFill>
                    <a:ea typeface="Calibri"/>
                    <a:cs typeface="Calibri"/>
                    <a:sym typeface="Calibri"/>
                  </a:rPr>
                  <a:t>, decreases when </a:t>
                </a:r>
                <a14:m>
                  <m:oMath xmlns:m="http://schemas.openxmlformats.org/officeDocument/2006/math">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𝑣</m:t>
                        </m:r>
                      </m:e>
                      <m:sub>
                        <m:r>
                          <a:rPr lang="en-US" sz="2000" i="1">
                            <a:solidFill>
                              <a:srgbClr val="000000"/>
                            </a:solidFill>
                            <a:latin typeface="Cambria Math" panose="02040503050406030204" pitchFamily="18" charset="0"/>
                            <a:cs typeface="Calibri"/>
                            <a:sym typeface="Calibri"/>
                          </a:rPr>
                          <m:t>+</m:t>
                        </m:r>
                      </m:sub>
                    </m:sSub>
                    <m:r>
                      <a:rPr lang="en-US" sz="2000" b="0" i="1" smtClean="0">
                        <a:solidFill>
                          <a:srgbClr val="000000"/>
                        </a:solidFill>
                        <a:latin typeface="Cambria Math" panose="02040503050406030204" pitchFamily="18" charset="0"/>
                        <a:cs typeface="Calibri"/>
                        <a:sym typeface="Calibri"/>
                      </a:rPr>
                      <m:t>&lt;</m:t>
                    </m:r>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𝑣</m:t>
                        </m:r>
                      </m:e>
                      <m:sub>
                        <m:r>
                          <a:rPr lang="en-US" sz="2000" i="1">
                            <a:solidFill>
                              <a:srgbClr val="000000"/>
                            </a:solidFill>
                            <a:latin typeface="Cambria Math" panose="02040503050406030204" pitchFamily="18" charset="0"/>
                            <a:cs typeface="Calibri"/>
                            <a:sym typeface="Calibri"/>
                          </a:rPr>
                          <m:t>−</m:t>
                        </m:r>
                      </m:sub>
                    </m:sSub>
                    <m:r>
                      <a:rPr lang="en-US" sz="2000" b="0" i="1" smtClean="0">
                        <a:solidFill>
                          <a:srgbClr val="000000"/>
                        </a:solidFill>
                        <a:latin typeface="Cambria Math" panose="02040503050406030204" pitchFamily="18" charset="0"/>
                        <a:cs typeface="Calibri"/>
                        <a:sym typeface="Calibri"/>
                      </a:rPr>
                      <m:t>.</m:t>
                    </m:r>
                  </m:oMath>
                </a14:m>
                <a:endParaRPr lang="en-US" sz="2000" dirty="0">
                  <a:solidFill>
                    <a:srgbClr val="000000"/>
                  </a:solidFill>
                  <a:ea typeface="Calibri"/>
                  <a:cs typeface="Calibri"/>
                  <a:sym typeface="Calibri"/>
                </a:endParaRPr>
              </a:p>
              <a:p>
                <a:pPr marL="285750" indent="-285750" defTabSz="457200" latinLnBrk="1" hangingPunct="0">
                  <a:buFont typeface="Arial" panose="020B0604020202020204" pitchFamily="34" charset="0"/>
                  <a:buChar char="•"/>
                </a:pPr>
                <a:r>
                  <a:rPr lang="en-US" sz="2000" dirty="0">
                    <a:solidFill>
                      <a:srgbClr val="000000"/>
                    </a:solidFill>
                    <a:ea typeface="Calibri"/>
                    <a:cs typeface="Calibri"/>
                    <a:sym typeface="Calibri"/>
                  </a:rPr>
                  <a:t>Example 1:  Inverting amp, we’ll show the gain is </a:t>
                </a:r>
                <a14:m>
                  <m:oMath xmlns:m="http://schemas.openxmlformats.org/officeDocument/2006/math">
                    <m:f>
                      <m:fPr>
                        <m:ctrlPr>
                          <a:rPr lang="en-US" sz="2000" i="1" smtClean="0">
                            <a:solidFill>
                              <a:srgbClr val="000000"/>
                            </a:solidFill>
                            <a:latin typeface="Cambria Math" panose="02040503050406030204" pitchFamily="18" charset="0"/>
                            <a:cs typeface="Calibri"/>
                            <a:sym typeface="Calibri"/>
                          </a:rPr>
                        </m:ctrlPr>
                      </m:fPr>
                      <m:num>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2</m:t>
                            </m:r>
                          </m:sub>
                        </m:sSub>
                      </m:num>
                      <m:den>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1</m:t>
                            </m:r>
                          </m:sub>
                        </m:sSub>
                      </m:den>
                    </m:f>
                  </m:oMath>
                </a14:m>
                <a:endParaRPr lang="en-US" sz="2000" dirty="0">
                  <a:solidFill>
                    <a:srgbClr val="000000"/>
                  </a:solidFill>
                  <a:ea typeface="Calibri"/>
                  <a:cs typeface="Calibri"/>
                  <a:sym typeface="Calibri"/>
                </a:endParaRPr>
              </a:p>
              <a:p>
                <a:pPr marL="742950" lvl="1" indent="-285750" defTabSz="457200" latinLnBrk="1"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𝑖</m:t>
                        </m:r>
                      </m:e>
                      <m:sub>
                        <m:r>
                          <a:rPr lang="en-US" b="0" i="1" smtClean="0">
                            <a:solidFill>
                              <a:srgbClr val="000000"/>
                            </a:solidFill>
                            <a:latin typeface="Cambria Math" panose="02040503050406030204" pitchFamily="18" charset="0"/>
                            <a:cs typeface="Calibri"/>
                            <a:sym typeface="Calibri"/>
                          </a:rPr>
                          <m:t>1</m:t>
                        </m:r>
                      </m:sub>
                    </m:sSub>
                    <m:r>
                      <a:rPr lang="en-US" b="0" i="1" smtClean="0">
                        <a:solidFill>
                          <a:srgbClr val="000000"/>
                        </a:solidFill>
                        <a:latin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𝑖𝑛</m:t>
                            </m:r>
                          </m:sub>
                        </m:sSub>
                      </m:num>
                      <m:den>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𝑅</m:t>
                            </m:r>
                          </m:e>
                          <m:sub>
                            <m:r>
                              <a:rPr lang="en-US" b="0" i="1" smtClean="0">
                                <a:solidFill>
                                  <a:srgbClr val="000000"/>
                                </a:solidFill>
                                <a:latin typeface="Cambria Math" panose="02040503050406030204" pitchFamily="18" charset="0"/>
                                <a:cs typeface="Calibri"/>
                                <a:sym typeface="Calibri"/>
                              </a:rPr>
                              <m:t>1</m:t>
                            </m:r>
                          </m:sub>
                        </m:sSub>
                      </m:den>
                    </m:f>
                  </m:oMath>
                </a14:m>
                <a:r>
                  <a:rPr lang="en-US" dirty="0">
                    <a:solidFill>
                      <a:srgbClr val="000000"/>
                    </a:solidFill>
                    <a:ea typeface="Calibri"/>
                    <a:cs typeface="Calibri"/>
                    <a:sym typeface="Calibri"/>
                  </a:rPr>
                  <a:t>, </a:t>
                </a: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𝑖</m:t>
                        </m:r>
                      </m:e>
                      <m:sub>
                        <m:r>
                          <a:rPr lang="en-US" b="0" i="1" smtClean="0">
                            <a:solidFill>
                              <a:srgbClr val="000000"/>
                            </a:solidFill>
                            <a:latin typeface="Cambria Math" panose="02040503050406030204" pitchFamily="18" charset="0"/>
                            <a:cs typeface="Calibri"/>
                            <a:sym typeface="Calibri"/>
                          </a:rPr>
                          <m:t>2</m:t>
                        </m:r>
                      </m:sub>
                    </m:sSub>
                    <m:r>
                      <a:rPr lang="en-US" i="1">
                        <a:solidFill>
                          <a:srgbClr val="000000"/>
                        </a:solidFill>
                        <a:latin typeface="Cambria Math" panose="02040503050406030204" pitchFamily="18" charset="0"/>
                        <a:cs typeface="Calibri"/>
                        <a:sym typeface="Calibri"/>
                      </a:rPr>
                      <m:t>=</m:t>
                    </m:r>
                    <m:f>
                      <m:fPr>
                        <m:ctrlPr>
                          <a:rPr lang="en-US" i="1">
                            <a:solidFill>
                              <a:srgbClr val="000000"/>
                            </a:solidFill>
                            <a:latin typeface="Cambria Math" panose="02040503050406030204" pitchFamily="18" charset="0"/>
                            <a:cs typeface="Calibri"/>
                            <a:sym typeface="Calibri"/>
                          </a:rPr>
                        </m:ctrlPr>
                      </m:fPr>
                      <m:num>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𝑜𝑢𝑡</m:t>
                            </m:r>
                          </m:sub>
                        </m:sSub>
                      </m:num>
                      <m:den>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𝑅</m:t>
                            </m:r>
                          </m:e>
                          <m:sub>
                            <m:r>
                              <a:rPr lang="en-US" b="0" i="1" smtClean="0">
                                <a:solidFill>
                                  <a:srgbClr val="000000"/>
                                </a:solidFill>
                                <a:latin typeface="Cambria Math" panose="02040503050406030204" pitchFamily="18" charset="0"/>
                                <a:cs typeface="Calibri"/>
                                <a:sym typeface="Calibri"/>
                              </a:rPr>
                              <m:t>2</m:t>
                            </m:r>
                          </m:sub>
                        </m:sSub>
                      </m:den>
                    </m:f>
                  </m:oMath>
                </a14:m>
                <a:r>
                  <a:rPr lang="en-US" dirty="0">
                    <a:solidFill>
                      <a:srgbClr val="000000"/>
                    </a:solidFill>
                    <a:ea typeface="Calibri"/>
                    <a:cs typeface="Calibri"/>
                    <a:sym typeface="Calibri"/>
                  </a:rPr>
                  <a:t> since the op amp has infinite input impedance</a:t>
                </a:r>
              </a:p>
              <a:p>
                <a:pPr marL="742950" lvl="1" indent="-285750" defTabSz="457200" latinLnBrk="1" hangingPunct="0">
                  <a:buFont typeface="Arial" panose="020B0604020202020204" pitchFamily="34" charset="0"/>
                  <a:buChar char="•"/>
                </a:pPr>
                <a:r>
                  <a:rPr lang="en-US" dirty="0">
                    <a:solidFill>
                      <a:srgbClr val="000000"/>
                    </a:solidFill>
                    <a:ea typeface="Calibri"/>
                    <a:cs typeface="Calibri"/>
                    <a:sym typeface="Calibri"/>
                  </a:rPr>
                  <a:t>By Kirchhoff, </a:t>
                </a: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𝑖</m:t>
                        </m:r>
                      </m:e>
                      <m:sub>
                        <m:r>
                          <a:rPr lang="en-US" i="1">
                            <a:solidFill>
                              <a:srgbClr val="000000"/>
                            </a:solidFill>
                            <a:latin typeface="Cambria Math" panose="02040503050406030204" pitchFamily="18" charset="0"/>
                            <a:cs typeface="Calibri"/>
                            <a:sym typeface="Calibri"/>
                          </a:rPr>
                          <m:t>1</m:t>
                        </m:r>
                      </m:sub>
                    </m:sSub>
                    <m:r>
                      <a:rPr lang="en-US" i="1">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m:t>
                    </m:r>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𝑖</m:t>
                        </m:r>
                      </m:e>
                      <m:sub>
                        <m:r>
                          <a:rPr lang="en-US" b="0" i="1" smtClean="0">
                            <a:solidFill>
                              <a:srgbClr val="000000"/>
                            </a:solidFill>
                            <a:latin typeface="Cambria Math" panose="02040503050406030204" pitchFamily="18" charset="0"/>
                            <a:cs typeface="Calibri"/>
                            <a:sym typeface="Calibri"/>
                          </a:rPr>
                          <m:t>2</m:t>
                        </m:r>
                      </m:sub>
                    </m:sSub>
                  </m:oMath>
                </a14:m>
                <a:r>
                  <a:rPr lang="en-US" dirty="0">
                    <a:solidFill>
                      <a:srgbClr val="000000"/>
                    </a:solidFill>
                    <a:ea typeface="Calibri"/>
                    <a:cs typeface="Calibri"/>
                    <a:sym typeface="Calibri"/>
                  </a:rPr>
                  <a:t>, so </a:t>
                </a: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i="1">
                            <a:solidFill>
                              <a:srgbClr val="000000"/>
                            </a:solidFill>
                            <a:latin typeface="Cambria Math" panose="02040503050406030204" pitchFamily="18" charset="0"/>
                            <a:cs typeface="Calibri"/>
                            <a:sym typeface="Calibri"/>
                          </a:rPr>
                          <m:t>𝑜𝑢𝑡</m:t>
                        </m:r>
                      </m:sub>
                    </m:sSub>
                    <m:r>
                      <a:rPr lang="en-US" b="0" i="1" smtClean="0">
                        <a:solidFill>
                          <a:srgbClr val="000000"/>
                        </a:solidFill>
                        <a:latin typeface="Cambria Math" panose="02040503050406030204" pitchFamily="18" charset="0"/>
                        <a:cs typeface="Calibri"/>
                        <a:sym typeface="Calibri"/>
                      </a:rPr>
                      <m:t>=</m:t>
                    </m:r>
                    <m:f>
                      <m:fPr>
                        <m:ctrlPr>
                          <a:rPr lang="en-US" i="1">
                            <a:solidFill>
                              <a:srgbClr val="000000"/>
                            </a:solidFill>
                            <a:latin typeface="Cambria Math" panose="02040503050406030204" pitchFamily="18" charset="0"/>
                            <a:cs typeface="Calibri"/>
                            <a:sym typeface="Calibri"/>
                          </a:rPr>
                        </m:ctrlPr>
                      </m:fPr>
                      <m:num>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𝑅</m:t>
                            </m:r>
                          </m:e>
                          <m:sub>
                            <m:r>
                              <a:rPr lang="en-US" i="1">
                                <a:solidFill>
                                  <a:srgbClr val="000000"/>
                                </a:solidFill>
                                <a:latin typeface="Cambria Math" panose="02040503050406030204" pitchFamily="18" charset="0"/>
                                <a:cs typeface="Calibri"/>
                                <a:sym typeface="Calibri"/>
                              </a:rPr>
                              <m:t>2</m:t>
                            </m:r>
                          </m:sub>
                        </m:sSub>
                      </m:num>
                      <m:den>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𝑅</m:t>
                            </m:r>
                          </m:e>
                          <m:sub>
                            <m:r>
                              <a:rPr lang="en-US" i="1">
                                <a:solidFill>
                                  <a:srgbClr val="000000"/>
                                </a:solidFill>
                                <a:latin typeface="Cambria Math" panose="02040503050406030204" pitchFamily="18" charset="0"/>
                                <a:cs typeface="Calibri"/>
                                <a:sym typeface="Calibri"/>
                              </a:rPr>
                              <m:t>1</m:t>
                            </m:r>
                          </m:sub>
                        </m:sSub>
                      </m:den>
                    </m:f>
                    <m:r>
                      <a:rPr lang="en-US" b="0" i="1" smtClean="0">
                        <a:solidFill>
                          <a:srgbClr val="000000"/>
                        </a:solidFill>
                        <a:latin typeface="Cambria Math" panose="02040503050406030204" pitchFamily="18" charset="0"/>
                        <a:cs typeface="Calibri"/>
                        <a:sym typeface="Calibri"/>
                      </a:rPr>
                      <m:t> </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𝑖𝑛</m:t>
                        </m:r>
                      </m:sub>
                    </m:sSub>
                  </m:oMath>
                </a14:m>
                <a:r>
                  <a:rPr lang="en-US" dirty="0">
                    <a:solidFill>
                      <a:srgbClr val="000000"/>
                    </a:solidFill>
                    <a:ea typeface="Calibri"/>
                    <a:cs typeface="Calibri"/>
                    <a:sym typeface="Calibri"/>
                  </a:rPr>
                  <a:t> </a:t>
                </a:r>
              </a:p>
              <a:p>
                <a:pPr marL="742950" lvl="1" indent="-285750" defTabSz="457200" latinLnBrk="1" hangingPunct="0">
                  <a:buFont typeface="Arial" panose="020B0604020202020204" pitchFamily="34" charset="0"/>
                  <a:buChar char="•"/>
                </a:pP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𝑍</m:t>
                        </m:r>
                      </m:e>
                      <m:sub>
                        <m:r>
                          <a:rPr lang="en-US" i="1">
                            <a:solidFill>
                              <a:srgbClr val="000000"/>
                            </a:solidFill>
                            <a:latin typeface="Cambria Math" panose="02040503050406030204" pitchFamily="18" charset="0"/>
                            <a:cs typeface="Calibri"/>
                            <a:sym typeface="Calibri"/>
                          </a:rPr>
                          <m:t>𝑖𝑛</m:t>
                        </m:r>
                      </m:sub>
                    </m:sSub>
                    <m:r>
                      <a:rPr lang="en-US" i="1">
                        <a:solidFill>
                          <a:srgbClr val="000000"/>
                        </a:solidFill>
                        <a:latin typeface="Cambria Math" panose="02040503050406030204" pitchFamily="18" charset="0"/>
                        <a:cs typeface="Calibri"/>
                        <a:sym typeface="Calibri"/>
                      </a:rPr>
                      <m:t>=</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𝑅</m:t>
                        </m:r>
                      </m:e>
                      <m:sub>
                        <m:r>
                          <a:rPr lang="en-US" b="0" i="1" smtClean="0">
                            <a:solidFill>
                              <a:srgbClr val="000000"/>
                            </a:solidFill>
                            <a:latin typeface="Cambria Math" panose="02040503050406030204" pitchFamily="18" charset="0"/>
                            <a:cs typeface="Calibri"/>
                            <a:sym typeface="Calibri"/>
                          </a:rPr>
                          <m:t>1</m:t>
                        </m:r>
                      </m:sub>
                    </m:sSub>
                  </m:oMath>
                </a14:m>
                <a:endParaRPr lang="en-US" dirty="0">
                  <a:solidFill>
                    <a:srgbClr val="000000"/>
                  </a:solidFill>
                  <a:ea typeface="Calibri"/>
                  <a:cs typeface="Calibri"/>
                  <a:sym typeface="Calibri"/>
                </a:endParaRPr>
              </a:p>
              <a:p>
                <a:pPr marL="742950" lvl="1" indent="-285750" defTabSz="457200" latinLnBrk="1" hangingPunct="0">
                  <a:buFont typeface="Arial" panose="020B0604020202020204" pitchFamily="34" charset="0"/>
                  <a:buChar char="•"/>
                </a:pP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𝑍</m:t>
                        </m:r>
                      </m:e>
                      <m:sub>
                        <m:r>
                          <a:rPr lang="en-US" b="0" i="1" smtClean="0">
                            <a:solidFill>
                              <a:srgbClr val="000000"/>
                            </a:solidFill>
                            <a:latin typeface="Cambria Math" panose="02040503050406030204" pitchFamily="18" charset="0"/>
                            <a:cs typeface="Calibri"/>
                            <a:sym typeface="Calibri"/>
                          </a:rPr>
                          <m:t>𝑜𝑢𝑡</m:t>
                        </m:r>
                      </m:sub>
                    </m:sSub>
                  </m:oMath>
                </a14:m>
                <a:r>
                  <a:rPr lang="en-US" dirty="0">
                    <a:solidFill>
                      <a:srgbClr val="000000"/>
                    </a:solidFill>
                    <a:ea typeface="Calibri"/>
                    <a:cs typeface="Calibri"/>
                    <a:sym typeface="Calibri"/>
                  </a:rPr>
                  <a:t> is same as non-inverting.</a:t>
                </a:r>
              </a:p>
              <a:p>
                <a:pPr marL="285750" indent="-285750" defTabSz="457200" latinLnBrk="1" hangingPunct="0">
                  <a:buFont typeface="Arial" panose="020B0604020202020204" pitchFamily="34" charset="0"/>
                  <a:buChar char="•"/>
                </a:pPr>
                <a:r>
                  <a:rPr lang="en-US" sz="2000" dirty="0">
                    <a:solidFill>
                      <a:srgbClr val="000000"/>
                    </a:solidFill>
                    <a:ea typeface="Calibri"/>
                    <a:cs typeface="Calibri"/>
                    <a:sym typeface="Calibri"/>
                  </a:rPr>
                  <a:t>Example 2:  Non-inverting amp</a:t>
                </a:r>
              </a:p>
              <a:p>
                <a:pPr marL="742950" lvl="1" indent="-285750" defTabSz="457200" latinLnBrk="1"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m:t>
                        </m:r>
                      </m:sub>
                    </m:sSub>
                    <m:r>
                      <a:rPr lang="en-US" b="0" i="1" smtClean="0">
                        <a:solidFill>
                          <a:srgbClr val="000000"/>
                        </a:solidFill>
                        <a:latin typeface="Cambria Math" panose="02040503050406030204" pitchFamily="18" charset="0"/>
                        <a:cs typeface="Calibri"/>
                        <a:sym typeface="Calibri"/>
                      </a:rPr>
                      <m:t>=</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m:t>
                        </m:r>
                      </m:sub>
                    </m:sSub>
                  </m:oMath>
                </a14:m>
                <a:r>
                  <a:rPr lang="en-US" dirty="0">
                    <a:solidFill>
                      <a:srgbClr val="000000"/>
                    </a:solidFill>
                    <a:ea typeface="Calibri"/>
                    <a:cs typeface="Calibri"/>
                    <a:sym typeface="Calibri"/>
                  </a:rPr>
                  <a:t>, so </a:t>
                </a: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i="1">
                            <a:solidFill>
                              <a:srgbClr val="000000"/>
                            </a:solidFill>
                            <a:latin typeface="Cambria Math" panose="02040503050406030204" pitchFamily="18" charset="0"/>
                            <a:cs typeface="Calibri"/>
                            <a:sym typeface="Calibri"/>
                          </a:rPr>
                          <m:t>𝑜𝑢𝑡</m:t>
                        </m:r>
                      </m:sub>
                    </m:sSub>
                    <m:r>
                      <a:rPr lang="en-US" i="1">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(1+</m:t>
                    </m:r>
                    <m:f>
                      <m:fPr>
                        <m:ctrlPr>
                          <a:rPr lang="en-US" i="1">
                            <a:solidFill>
                              <a:srgbClr val="000000"/>
                            </a:solidFill>
                            <a:latin typeface="Cambria Math" panose="02040503050406030204" pitchFamily="18" charset="0"/>
                            <a:cs typeface="Calibri"/>
                            <a:sym typeface="Calibri"/>
                          </a:rPr>
                        </m:ctrlPr>
                      </m:fPr>
                      <m:num>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𝑅</m:t>
                            </m:r>
                          </m:e>
                          <m:sub>
                            <m:r>
                              <a:rPr lang="en-US" i="1">
                                <a:solidFill>
                                  <a:srgbClr val="000000"/>
                                </a:solidFill>
                                <a:latin typeface="Cambria Math" panose="02040503050406030204" pitchFamily="18" charset="0"/>
                                <a:cs typeface="Calibri"/>
                                <a:sym typeface="Calibri"/>
                              </a:rPr>
                              <m:t>2</m:t>
                            </m:r>
                          </m:sub>
                        </m:sSub>
                      </m:num>
                      <m:den>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𝑅</m:t>
                            </m:r>
                          </m:e>
                          <m:sub>
                            <m:r>
                              <a:rPr lang="en-US" i="1">
                                <a:solidFill>
                                  <a:srgbClr val="000000"/>
                                </a:solidFill>
                                <a:latin typeface="Cambria Math" panose="02040503050406030204" pitchFamily="18" charset="0"/>
                                <a:cs typeface="Calibri"/>
                                <a:sym typeface="Calibri"/>
                              </a:rPr>
                              <m:t>1</m:t>
                            </m:r>
                          </m:sub>
                        </m:sSub>
                      </m:den>
                    </m:f>
                    <m:r>
                      <a:rPr lang="en-US" b="0" i="1" smtClean="0">
                        <a:solidFill>
                          <a:srgbClr val="000000"/>
                        </a:solidFill>
                        <a:latin typeface="Cambria Math" panose="02040503050406030204" pitchFamily="18" charset="0"/>
                        <a:cs typeface="Calibri"/>
                        <a:sym typeface="Calibri"/>
                      </a:rPr>
                      <m:t>)</m:t>
                    </m:r>
                    <m:r>
                      <a:rPr lang="en-US" i="1">
                        <a:solidFill>
                          <a:srgbClr val="000000"/>
                        </a:solidFill>
                        <a:latin typeface="Cambria Math" panose="02040503050406030204" pitchFamily="18" charset="0"/>
                        <a:cs typeface="Calibri"/>
                        <a:sym typeface="Calibri"/>
                      </a:rPr>
                      <m:t> </m:t>
                    </m:r>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i="1">
                            <a:solidFill>
                              <a:srgbClr val="000000"/>
                            </a:solidFill>
                            <a:latin typeface="Cambria Math" panose="02040503050406030204" pitchFamily="18" charset="0"/>
                            <a:cs typeface="Calibri"/>
                            <a:sym typeface="Calibri"/>
                          </a:rPr>
                          <m:t>𝑖𝑛</m:t>
                        </m:r>
                      </m:sub>
                    </m:sSub>
                  </m:oMath>
                </a14:m>
                <a:r>
                  <a:rPr lang="en-US" dirty="0">
                    <a:solidFill>
                      <a:srgbClr val="000000"/>
                    </a:solidFill>
                    <a:ea typeface="Calibri"/>
                    <a:cs typeface="Calibri"/>
                    <a:sym typeface="Calibri"/>
                  </a:rPr>
                  <a:t> </a:t>
                </a:r>
              </a:p>
              <a:p>
                <a:pPr marL="742950" lvl="1" indent="-285750" defTabSz="457200" latinLnBrk="1" hangingPunct="0">
                  <a:buFont typeface="Arial" panose="020B0604020202020204" pitchFamily="34" charset="0"/>
                  <a:buChar char="•"/>
                </a:pP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𝑍</m:t>
                        </m:r>
                      </m:e>
                      <m:sub>
                        <m:r>
                          <a:rPr lang="en-US" i="1">
                            <a:solidFill>
                              <a:srgbClr val="000000"/>
                            </a:solidFill>
                            <a:latin typeface="Cambria Math" panose="02040503050406030204" pitchFamily="18" charset="0"/>
                            <a:cs typeface="Calibri"/>
                            <a:sym typeface="Calibri"/>
                          </a:rPr>
                          <m:t>𝑖𝑛</m:t>
                        </m:r>
                      </m:sub>
                    </m:sSub>
                    <m:r>
                      <a:rPr lang="en-US" b="0" i="1" smtClean="0">
                        <a:solidFill>
                          <a:srgbClr val="000000"/>
                        </a:solidFill>
                        <a:latin typeface="Cambria Math" panose="02040503050406030204" pitchFamily="18" charset="0"/>
                        <a:cs typeface="Calibri"/>
                        <a:sym typeface="Calibri"/>
                      </a:rPr>
                      <m:t>&gt;</m:t>
                    </m:r>
                    <m:sSup>
                      <m:sSupPr>
                        <m:ctrlPr>
                          <a:rPr lang="en-US" b="0" i="1" smtClean="0">
                            <a:solidFill>
                              <a:srgbClr val="000000"/>
                            </a:solidFill>
                            <a:latin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cs typeface="Calibri"/>
                            <a:sym typeface="Calibri"/>
                          </a:rPr>
                          <m:t>10</m:t>
                        </m:r>
                      </m:e>
                      <m:sup>
                        <m:r>
                          <a:rPr lang="en-US" b="0" i="1" smtClean="0">
                            <a:solidFill>
                              <a:srgbClr val="000000"/>
                            </a:solidFill>
                            <a:latin typeface="Cambria Math" panose="02040503050406030204" pitchFamily="18" charset="0"/>
                            <a:cs typeface="Calibri"/>
                            <a:sym typeface="Calibri"/>
                          </a:rPr>
                          <m:t>6</m:t>
                        </m:r>
                      </m:sup>
                    </m:sSup>
                    <m:r>
                      <m:rPr>
                        <m:sty m:val="p"/>
                      </m:rPr>
                      <a:rPr lang="el-GR" b="0" i="1" smtClean="0">
                        <a:solidFill>
                          <a:srgbClr val="000000"/>
                        </a:solidFill>
                        <a:latin typeface="Cambria Math" panose="02040503050406030204" pitchFamily="18" charset="0"/>
                        <a:ea typeface="Cambria Math" panose="02040503050406030204" pitchFamily="18" charset="0"/>
                        <a:cs typeface="Calibri"/>
                        <a:sym typeface="Calibri"/>
                      </a:rPr>
                      <m:t>Ω</m:t>
                    </m:r>
                  </m:oMath>
                </a14:m>
                <a:endParaRPr lang="en-US" dirty="0">
                  <a:solidFill>
                    <a:srgbClr val="000000"/>
                  </a:solidFill>
                  <a:ea typeface="Calibri"/>
                  <a:cs typeface="Calibri"/>
                  <a:sym typeface="Calibri"/>
                </a:endParaRPr>
              </a:p>
              <a:p>
                <a:pPr marL="742950" lvl="1" indent="-285750" defTabSz="457200" latinLnBrk="1" hangingPunct="0">
                  <a:buFont typeface="Arial" panose="020B0604020202020204" pitchFamily="34" charset="0"/>
                  <a:buChar char="•"/>
                </a:pP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𝑍</m:t>
                        </m:r>
                      </m:e>
                      <m:sub>
                        <m:r>
                          <a:rPr lang="en-US" i="1">
                            <a:solidFill>
                              <a:srgbClr val="000000"/>
                            </a:solidFill>
                            <a:latin typeface="Cambria Math" panose="02040503050406030204" pitchFamily="18" charset="0"/>
                            <a:cs typeface="Calibri"/>
                            <a:sym typeface="Calibri"/>
                          </a:rPr>
                          <m:t>𝑜𝑢𝑡</m:t>
                        </m:r>
                      </m:sub>
                    </m:sSub>
                    <m:r>
                      <a:rPr lang="en-US" i="1">
                        <a:solidFill>
                          <a:srgbClr val="000000"/>
                        </a:solidFill>
                        <a:latin typeface="Cambria Math" panose="02040503050406030204" pitchFamily="18" charset="0"/>
                        <a:cs typeface="Calibri"/>
                        <a:sym typeface="Calibri"/>
                      </a:rPr>
                      <m:t>=</m:t>
                    </m:r>
                    <m:f>
                      <m:fPr>
                        <m:ctrlPr>
                          <a:rPr lang="en-US" i="1" smtClean="0">
                            <a:solidFill>
                              <a:srgbClr val="000000"/>
                            </a:solidFill>
                            <a:latin typeface="Cambria Math" panose="02040503050406030204" pitchFamily="18" charset="0"/>
                            <a:cs typeface="Calibri"/>
                            <a:sym typeface="Calibri"/>
                          </a:rPr>
                        </m:ctrlPr>
                      </m:fPr>
                      <m:num>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𝑅</m:t>
                            </m:r>
                          </m:e>
                          <m:sub>
                            <m:r>
                              <a:rPr lang="en-US" b="0" i="1" smtClean="0">
                                <a:solidFill>
                                  <a:srgbClr val="000000"/>
                                </a:solidFill>
                                <a:latin typeface="Cambria Math" panose="02040503050406030204" pitchFamily="18" charset="0"/>
                                <a:cs typeface="Calibri"/>
                                <a:sym typeface="Calibri"/>
                              </a:rPr>
                              <m:t>𝑜</m:t>
                            </m:r>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𝑇ℎ</m:t>
                            </m:r>
                          </m:sub>
                        </m:sSub>
                      </m:num>
                      <m:den>
                        <m:r>
                          <a:rPr lang="en-US" b="0" i="1" smtClean="0">
                            <a:solidFill>
                              <a:srgbClr val="000000"/>
                            </a:solidFill>
                            <a:latin typeface="Cambria Math" panose="02040503050406030204" pitchFamily="18" charset="0"/>
                            <a:cs typeface="Calibri"/>
                            <a:sym typeface="Calibri"/>
                          </a:rPr>
                          <m:t>1+</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𝐴</m:t>
                            </m:r>
                          </m:e>
                          <m:sub>
                            <m:r>
                              <a:rPr lang="en-US" b="0" i="1" smtClean="0">
                                <a:solidFill>
                                  <a:srgbClr val="000000"/>
                                </a:solidFill>
                                <a:latin typeface="Cambria Math" panose="02040503050406030204" pitchFamily="18" charset="0"/>
                                <a:cs typeface="Calibri"/>
                                <a:sym typeface="Calibri"/>
                              </a:rPr>
                              <m:t>𝑉</m:t>
                            </m:r>
                          </m:sub>
                        </m:sSub>
                        <m:r>
                          <a:rPr lang="en-US" b="0" i="1" smtClean="0">
                            <a:solidFill>
                              <a:srgbClr val="000000"/>
                            </a:solidFill>
                            <a:latin typeface="Cambria Math" panose="02040503050406030204" pitchFamily="18" charset="0"/>
                            <a:ea typeface="Cambria Math" panose="02040503050406030204" pitchFamily="18" charset="0"/>
                            <a:cs typeface="Calibri"/>
                            <a:sym typeface="Calibri"/>
                          </a:rPr>
                          <m:t>𝛽</m:t>
                        </m:r>
                      </m:den>
                    </m:f>
                  </m:oMath>
                </a14:m>
                <a:r>
                  <a:rPr lang="en-US" dirty="0">
                    <a:solidFill>
                      <a:srgbClr val="000000"/>
                    </a:solidFill>
                    <a:ea typeface="Calibri"/>
                    <a:cs typeface="Calibri"/>
                    <a:sym typeface="Calibri"/>
                  </a:rPr>
                  <a:t>, </a:t>
                </a:r>
                <a14:m>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cs typeface="Calibri"/>
                        <a:sym typeface="Calibri"/>
                      </a:rPr>
                      <m:t>𝛽</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 </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𝑅</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2</m:t>
                            </m:r>
                          </m:sub>
                        </m:sSub>
                      </m:num>
                      <m:den>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𝑅</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1</m:t>
                            </m:r>
                          </m:sub>
                        </m:sSub>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𝑅</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2</m:t>
                            </m:r>
                          </m:sub>
                        </m:sSub>
                      </m:den>
                    </m:f>
                  </m:oMath>
                </a14:m>
                <a:r>
                  <a:rPr lang="en-US" dirty="0">
                    <a:solidFill>
                      <a:srgbClr val="000000"/>
                    </a:solidFill>
                    <a:ea typeface="Calibri"/>
                    <a:cs typeface="Calibri"/>
                    <a:sym typeface="Calibri"/>
                  </a:rPr>
                  <a:t>, </a:t>
                </a: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𝑅</m:t>
                        </m:r>
                      </m:e>
                      <m:sub>
                        <m:r>
                          <a:rPr lang="en-US" i="1">
                            <a:solidFill>
                              <a:srgbClr val="000000"/>
                            </a:solidFill>
                            <a:latin typeface="Cambria Math" panose="02040503050406030204" pitchFamily="18" charset="0"/>
                            <a:cs typeface="Calibri"/>
                            <a:sym typeface="Calibri"/>
                          </a:rPr>
                          <m:t>𝑜</m:t>
                        </m:r>
                        <m:r>
                          <a:rPr lang="en-US" i="1">
                            <a:solidFill>
                              <a:srgbClr val="000000"/>
                            </a:solidFill>
                            <a:latin typeface="Cambria Math" panose="02040503050406030204" pitchFamily="18" charset="0"/>
                            <a:cs typeface="Calibri"/>
                            <a:sym typeface="Calibri"/>
                          </a:rPr>
                          <m:t>,</m:t>
                        </m:r>
                        <m:r>
                          <a:rPr lang="en-US" i="1">
                            <a:solidFill>
                              <a:srgbClr val="000000"/>
                            </a:solidFill>
                            <a:latin typeface="Cambria Math" panose="02040503050406030204" pitchFamily="18" charset="0"/>
                            <a:cs typeface="Calibri"/>
                            <a:sym typeface="Calibri"/>
                          </a:rPr>
                          <m:t>𝑇ℎ</m:t>
                        </m:r>
                      </m:sub>
                    </m:sSub>
                  </m:oMath>
                </a14:m>
                <a:r>
                  <a:rPr lang="en-US" dirty="0">
                    <a:solidFill>
                      <a:srgbClr val="000000"/>
                    </a:solidFill>
                    <a:ea typeface="Calibri"/>
                    <a:cs typeface="Calibri"/>
                    <a:sym typeface="Calibri"/>
                  </a:rPr>
                  <a:t> is the Thevenin resistance of the op amp</a:t>
                </a:r>
              </a:p>
              <a:p>
                <a:pPr marL="742950" lvl="1" indent="-285750" defTabSz="457200" latinLnBrk="1" hangingPunct="0">
                  <a:buFont typeface="Arial" panose="020B0604020202020204" pitchFamily="34" charset="0"/>
                  <a:buChar char="•"/>
                </a:pPr>
                <a:endParaRPr lang="en-US" dirty="0">
                  <a:solidFill>
                    <a:srgbClr val="000000"/>
                  </a:solidFill>
                  <a:ea typeface="Calibri"/>
                  <a:cs typeface="Calibri"/>
                  <a:sym typeface="Calibri"/>
                </a:endParaRPr>
              </a:p>
              <a:p>
                <a:pPr marL="285750" indent="-285750" defTabSz="457200" latinLnBrk="1" hangingPunct="0">
                  <a:buFont typeface="Arial" panose="020B0604020202020204" pitchFamily="34" charset="0"/>
                  <a:buChar char="•"/>
                </a:pPr>
                <a:endParaRPr lang="en-US" dirty="0">
                  <a:solidFill>
                    <a:srgbClr val="000000"/>
                  </a:solidFill>
                  <a:ea typeface="Calibri"/>
                  <a:cs typeface="Calibri"/>
                  <a:sym typeface="Calibri"/>
                </a:endParaRPr>
              </a:p>
              <a:p>
                <a:pPr marL="742950" lvl="1" indent="-285750" defTabSz="457200" latinLnBrk="1" hangingPunct="0">
                  <a:buFont typeface="Arial" panose="020B0604020202020204" pitchFamily="34" charset="0"/>
                  <a:buChar char="•"/>
                </a:pPr>
                <a:endParaRPr lang="en-US" dirty="0">
                  <a:solidFill>
                    <a:srgbClr val="000000"/>
                  </a:solidFill>
                  <a:ea typeface="Calibri"/>
                  <a:cs typeface="Calibri"/>
                  <a:sym typeface="Calibri"/>
                </a:endParaRPr>
              </a:p>
            </p:txBody>
          </p:sp>
        </mc:Choice>
        <mc:Fallback xmlns="">
          <p:sp>
            <p:nvSpPr>
              <p:cNvPr id="15" name="TextBox 14">
                <a:extLst>
                  <a:ext uri="{FF2B5EF4-FFF2-40B4-BE49-F238E27FC236}">
                    <a16:creationId xmlns:a16="http://schemas.microsoft.com/office/drawing/2014/main" id="{34EE796B-9DCB-DE41-AEA4-31CBF97794EF}"/>
                  </a:ext>
                </a:extLst>
              </p:cNvPr>
              <p:cNvSpPr txBox="1">
                <a:spLocks noRot="1" noChangeAspect="1" noMove="1" noResize="1" noEditPoints="1" noAdjustHandles="1" noChangeArrowheads="1" noChangeShapeType="1" noTextEdit="1"/>
              </p:cNvSpPr>
              <p:nvPr/>
            </p:nvSpPr>
            <p:spPr>
              <a:xfrm>
                <a:off x="353959" y="1116077"/>
                <a:ext cx="8183249" cy="5561335"/>
              </a:xfrm>
              <a:prstGeom prst="rect">
                <a:avLst/>
              </a:prstGeom>
              <a:blipFill>
                <a:blip r:embed="rId3"/>
                <a:stretch>
                  <a:fillRect l="-1085" t="-456"/>
                </a:stretch>
              </a:blipFill>
              <a:ln w="12700" cap="flat">
                <a:noFill/>
                <a:miter lim="400000"/>
              </a:ln>
              <a:effectLst/>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58</a:t>
            </a:fld>
            <a:endParaRPr lang="en-US" dirty="0">
              <a:solidFill>
                <a:schemeClr val="tx1"/>
              </a:solidFill>
            </a:endParaRPr>
          </a:p>
        </p:txBody>
      </p:sp>
      <p:sp>
        <p:nvSpPr>
          <p:cNvPr id="65" name="TextBox 64">
            <a:extLst>
              <a:ext uri="{FF2B5EF4-FFF2-40B4-BE49-F238E27FC236}">
                <a16:creationId xmlns:a16="http://schemas.microsoft.com/office/drawing/2014/main" id="{D3CF00B5-8068-594D-A95B-512AAC32192C}"/>
              </a:ext>
            </a:extLst>
          </p:cNvPr>
          <p:cNvSpPr txBox="1"/>
          <p:nvPr/>
        </p:nvSpPr>
        <p:spPr>
          <a:xfrm>
            <a:off x="9976133" y="3723716"/>
            <a:ext cx="881071" cy="369332"/>
          </a:xfrm>
          <a:prstGeom prst="rect">
            <a:avLst/>
          </a:prstGeom>
          <a:noFill/>
        </p:spPr>
        <p:txBody>
          <a:bodyPr wrap="square" rtlCol="0">
            <a:spAutoFit/>
          </a:bodyPr>
          <a:lstStyle/>
          <a:p>
            <a:r>
              <a:rPr lang="en-US" dirty="0"/>
              <a:t>R</a:t>
            </a:r>
            <a:r>
              <a:rPr lang="en-US" baseline="-25000" dirty="0"/>
              <a:t>2</a:t>
            </a:r>
          </a:p>
        </p:txBody>
      </p:sp>
      <p:sp>
        <p:nvSpPr>
          <p:cNvPr id="74" name="TextBox 73">
            <a:extLst>
              <a:ext uri="{FF2B5EF4-FFF2-40B4-BE49-F238E27FC236}">
                <a16:creationId xmlns:a16="http://schemas.microsoft.com/office/drawing/2014/main" id="{5627EFA6-9283-5B47-A8D9-0F38C799C5E9}"/>
              </a:ext>
            </a:extLst>
          </p:cNvPr>
          <p:cNvSpPr txBox="1"/>
          <p:nvPr/>
        </p:nvSpPr>
        <p:spPr>
          <a:xfrm>
            <a:off x="9217417" y="3727046"/>
            <a:ext cx="881071" cy="369332"/>
          </a:xfrm>
          <a:prstGeom prst="rect">
            <a:avLst/>
          </a:prstGeom>
          <a:noFill/>
        </p:spPr>
        <p:txBody>
          <a:bodyPr wrap="square" rtlCol="0">
            <a:spAutoFit/>
          </a:bodyPr>
          <a:lstStyle/>
          <a:p>
            <a:r>
              <a:rPr lang="en-US" dirty="0"/>
              <a:t>R</a:t>
            </a:r>
            <a:r>
              <a:rPr lang="en-US" baseline="-25000" dirty="0"/>
              <a:t>1</a:t>
            </a:r>
          </a:p>
        </p:txBody>
      </p:sp>
      <p:grpSp>
        <p:nvGrpSpPr>
          <p:cNvPr id="21" name="Group 20">
            <a:extLst>
              <a:ext uri="{FF2B5EF4-FFF2-40B4-BE49-F238E27FC236}">
                <a16:creationId xmlns:a16="http://schemas.microsoft.com/office/drawing/2014/main" id="{877DAC35-BFE8-B1CF-F6D3-AD172A3E081B}"/>
              </a:ext>
            </a:extLst>
          </p:cNvPr>
          <p:cNvGrpSpPr/>
          <p:nvPr/>
        </p:nvGrpSpPr>
        <p:grpSpPr>
          <a:xfrm>
            <a:off x="8457222" y="1111376"/>
            <a:ext cx="3534541" cy="2085664"/>
            <a:chOff x="8457222" y="1111376"/>
            <a:chExt cx="3534541" cy="2085664"/>
          </a:xfrm>
        </p:grpSpPr>
        <p:grpSp>
          <p:nvGrpSpPr>
            <p:cNvPr id="7" name="Group 39">
              <a:extLst>
                <a:ext uri="{FF2B5EF4-FFF2-40B4-BE49-F238E27FC236}">
                  <a16:creationId xmlns:a16="http://schemas.microsoft.com/office/drawing/2014/main" id="{5815EF5E-EE8A-3442-91F9-18DD18810775}"/>
                </a:ext>
              </a:extLst>
            </p:cNvPr>
            <p:cNvGrpSpPr>
              <a:grpSpLocks/>
            </p:cNvGrpSpPr>
            <p:nvPr/>
          </p:nvGrpSpPr>
          <p:grpSpPr bwMode="auto">
            <a:xfrm>
              <a:off x="9787154" y="1825440"/>
              <a:ext cx="1676400" cy="1371600"/>
              <a:chOff x="2496" y="1968"/>
              <a:chExt cx="1056" cy="864"/>
            </a:xfrm>
          </p:grpSpPr>
          <p:sp>
            <p:nvSpPr>
              <p:cNvPr id="37" name="Line 40">
                <a:extLst>
                  <a:ext uri="{FF2B5EF4-FFF2-40B4-BE49-F238E27FC236}">
                    <a16:creationId xmlns:a16="http://schemas.microsoft.com/office/drawing/2014/main" id="{DE8918EC-C879-6249-9071-1BF7A4068A14}"/>
                  </a:ext>
                </a:extLst>
              </p:cNvPr>
              <p:cNvSpPr>
                <a:spLocks noChangeShapeType="1"/>
              </p:cNvSpPr>
              <p:nvPr/>
            </p:nvSpPr>
            <p:spPr bwMode="auto">
              <a:xfrm>
                <a:off x="2496" y="216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 name="Line 41">
                <a:extLst>
                  <a:ext uri="{FF2B5EF4-FFF2-40B4-BE49-F238E27FC236}">
                    <a16:creationId xmlns:a16="http://schemas.microsoft.com/office/drawing/2014/main" id="{718FF582-38E1-6C48-8D04-B9400E628F21}"/>
                  </a:ext>
                </a:extLst>
              </p:cNvPr>
              <p:cNvSpPr>
                <a:spLocks noChangeShapeType="1"/>
              </p:cNvSpPr>
              <p:nvPr/>
            </p:nvSpPr>
            <p:spPr bwMode="auto">
              <a:xfrm>
                <a:off x="2496" y="264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 name="Line 42">
                <a:extLst>
                  <a:ext uri="{FF2B5EF4-FFF2-40B4-BE49-F238E27FC236}">
                    <a16:creationId xmlns:a16="http://schemas.microsoft.com/office/drawing/2014/main" id="{D3389383-5334-4F41-86B9-CED10874C3A1}"/>
                  </a:ext>
                </a:extLst>
              </p:cNvPr>
              <p:cNvSpPr>
                <a:spLocks noChangeShapeType="1"/>
              </p:cNvSpPr>
              <p:nvPr/>
            </p:nvSpPr>
            <p:spPr bwMode="auto">
              <a:xfrm>
                <a:off x="3360" y="240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 name="Freeform 43">
                <a:extLst>
                  <a:ext uri="{FF2B5EF4-FFF2-40B4-BE49-F238E27FC236}">
                    <a16:creationId xmlns:a16="http://schemas.microsoft.com/office/drawing/2014/main" id="{8AAD39A2-D228-444E-A7A0-F206EF641F7F}"/>
                  </a:ext>
                </a:extLst>
              </p:cNvPr>
              <p:cNvSpPr>
                <a:spLocks/>
              </p:cNvSpPr>
              <p:nvPr/>
            </p:nvSpPr>
            <p:spPr bwMode="auto">
              <a:xfrm>
                <a:off x="2688" y="1968"/>
                <a:ext cx="672" cy="864"/>
              </a:xfrm>
              <a:custGeom>
                <a:avLst/>
                <a:gdLst>
                  <a:gd name="T0" fmla="*/ 6120 w 432"/>
                  <a:gd name="T1" fmla="*/ 779 h 768"/>
                  <a:gd name="T2" fmla="*/ 0 w 432"/>
                  <a:gd name="T3" fmla="*/ 1558 h 768"/>
                  <a:gd name="T4" fmla="*/ 0 w 432"/>
                  <a:gd name="T5" fmla="*/ 0 h 768"/>
                  <a:gd name="T6" fmla="*/ 6120 w 432"/>
                  <a:gd name="T7" fmla="*/ 779 h 768"/>
                  <a:gd name="T8" fmla="*/ 0 60000 65536"/>
                  <a:gd name="T9" fmla="*/ 0 60000 65536"/>
                  <a:gd name="T10" fmla="*/ 0 60000 65536"/>
                  <a:gd name="T11" fmla="*/ 0 60000 65536"/>
                  <a:gd name="T12" fmla="*/ 0 w 432"/>
                  <a:gd name="T13" fmla="*/ 0 h 768"/>
                  <a:gd name="T14" fmla="*/ 432 w 432"/>
                  <a:gd name="T15" fmla="*/ 768 h 768"/>
                </a:gdLst>
                <a:ahLst/>
                <a:cxnLst>
                  <a:cxn ang="T8">
                    <a:pos x="T0" y="T1"/>
                  </a:cxn>
                  <a:cxn ang="T9">
                    <a:pos x="T2" y="T3"/>
                  </a:cxn>
                  <a:cxn ang="T10">
                    <a:pos x="T4" y="T5"/>
                  </a:cxn>
                  <a:cxn ang="T11">
                    <a:pos x="T6" y="T7"/>
                  </a:cxn>
                </a:cxnLst>
                <a:rect l="T12" t="T13" r="T14" b="T15"/>
                <a:pathLst>
                  <a:path w="432" h="768">
                    <a:moveTo>
                      <a:pt x="432" y="384"/>
                    </a:moveTo>
                    <a:lnTo>
                      <a:pt x="0" y="768"/>
                    </a:lnTo>
                    <a:lnTo>
                      <a:pt x="0" y="0"/>
                    </a:lnTo>
                    <a:lnTo>
                      <a:pt x="432" y="38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grpSp>
        <p:sp>
          <p:nvSpPr>
            <p:cNvPr id="8" name="TextBox 7">
              <a:extLst>
                <a:ext uri="{FF2B5EF4-FFF2-40B4-BE49-F238E27FC236}">
                  <a16:creationId xmlns:a16="http://schemas.microsoft.com/office/drawing/2014/main" id="{71DC5C8A-2ED0-974E-B22E-F19092B5515F}"/>
                </a:ext>
              </a:extLst>
            </p:cNvPr>
            <p:cNvSpPr txBox="1"/>
            <p:nvPr/>
          </p:nvSpPr>
          <p:spPr>
            <a:xfrm flipH="1">
              <a:off x="10089201" y="2676809"/>
              <a:ext cx="439757" cy="369332"/>
            </a:xfrm>
            <a:prstGeom prst="rect">
              <a:avLst/>
            </a:prstGeom>
            <a:noFill/>
          </p:spPr>
          <p:txBody>
            <a:bodyPr wrap="square" rtlCol="0">
              <a:spAutoFit/>
            </a:bodyPr>
            <a:lstStyle/>
            <a:p>
              <a:r>
                <a:rPr lang="en-US" dirty="0"/>
                <a:t>+</a:t>
              </a:r>
            </a:p>
          </p:txBody>
        </p:sp>
        <p:sp>
          <p:nvSpPr>
            <p:cNvPr id="9" name="TextBox 8">
              <a:extLst>
                <a:ext uri="{FF2B5EF4-FFF2-40B4-BE49-F238E27FC236}">
                  <a16:creationId xmlns:a16="http://schemas.microsoft.com/office/drawing/2014/main" id="{1B2BF5D5-EA46-8040-8D52-200E7C5AD20C}"/>
                </a:ext>
              </a:extLst>
            </p:cNvPr>
            <p:cNvSpPr txBox="1"/>
            <p:nvPr/>
          </p:nvSpPr>
          <p:spPr>
            <a:xfrm flipH="1">
              <a:off x="10131431" y="1936842"/>
              <a:ext cx="439757" cy="369332"/>
            </a:xfrm>
            <a:prstGeom prst="rect">
              <a:avLst/>
            </a:prstGeom>
            <a:noFill/>
          </p:spPr>
          <p:txBody>
            <a:bodyPr wrap="square" rtlCol="0">
              <a:spAutoFit/>
            </a:bodyPr>
            <a:lstStyle/>
            <a:p>
              <a:r>
                <a:rPr lang="en-US" dirty="0"/>
                <a:t>-</a:t>
              </a:r>
            </a:p>
          </p:txBody>
        </p:sp>
        <p:grpSp>
          <p:nvGrpSpPr>
            <p:cNvPr id="10" name="Group 220">
              <a:extLst>
                <a:ext uri="{FF2B5EF4-FFF2-40B4-BE49-F238E27FC236}">
                  <a16:creationId xmlns:a16="http://schemas.microsoft.com/office/drawing/2014/main" id="{B29B02B1-EBC8-7646-BC91-CCFEE55526CC}"/>
                </a:ext>
              </a:extLst>
            </p:cNvPr>
            <p:cNvGrpSpPr>
              <a:grpSpLocks/>
            </p:cNvGrpSpPr>
            <p:nvPr/>
          </p:nvGrpSpPr>
          <p:grpSpPr bwMode="auto">
            <a:xfrm>
              <a:off x="9725326" y="2885945"/>
              <a:ext cx="152400" cy="304800"/>
              <a:chOff x="3264" y="3072"/>
              <a:chExt cx="96" cy="192"/>
            </a:xfrm>
          </p:grpSpPr>
          <p:sp>
            <p:nvSpPr>
              <p:cNvPr id="35" name="Line 17">
                <a:extLst>
                  <a:ext uri="{FF2B5EF4-FFF2-40B4-BE49-F238E27FC236}">
                    <a16:creationId xmlns:a16="http://schemas.microsoft.com/office/drawing/2014/main" id="{3B19E4A2-819F-4045-840C-7B6D04C08547}"/>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 name="Freeform 18">
                <a:extLst>
                  <a:ext uri="{FF2B5EF4-FFF2-40B4-BE49-F238E27FC236}">
                    <a16:creationId xmlns:a16="http://schemas.microsoft.com/office/drawing/2014/main" id="{5F13EE02-8074-2143-8C83-059F91625038}"/>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1" name="TextBox 10">
              <a:extLst>
                <a:ext uri="{FF2B5EF4-FFF2-40B4-BE49-F238E27FC236}">
                  <a16:creationId xmlns:a16="http://schemas.microsoft.com/office/drawing/2014/main" id="{21DB4288-96C9-664D-A738-64CDDC5862C1}"/>
                </a:ext>
              </a:extLst>
            </p:cNvPr>
            <p:cNvSpPr txBox="1"/>
            <p:nvPr/>
          </p:nvSpPr>
          <p:spPr>
            <a:xfrm>
              <a:off x="10046115" y="1111376"/>
              <a:ext cx="881071" cy="369332"/>
            </a:xfrm>
            <a:prstGeom prst="rect">
              <a:avLst/>
            </a:prstGeom>
            <a:noFill/>
          </p:spPr>
          <p:txBody>
            <a:bodyPr wrap="square" rtlCol="0">
              <a:spAutoFit/>
            </a:bodyPr>
            <a:lstStyle/>
            <a:p>
              <a:r>
                <a:rPr lang="en-US" dirty="0"/>
                <a:t>R</a:t>
              </a:r>
              <a:r>
                <a:rPr lang="en-US" baseline="-25000" dirty="0"/>
                <a:t>2</a:t>
              </a:r>
            </a:p>
          </p:txBody>
        </p:sp>
        <p:sp>
          <p:nvSpPr>
            <p:cNvPr id="12" name="Freeform 12">
              <a:extLst>
                <a:ext uri="{FF2B5EF4-FFF2-40B4-BE49-F238E27FC236}">
                  <a16:creationId xmlns:a16="http://schemas.microsoft.com/office/drawing/2014/main" id="{4673943E-38F4-7C43-98A8-A4C3B4C9BFB7}"/>
                </a:ext>
              </a:extLst>
            </p:cNvPr>
            <p:cNvSpPr>
              <a:spLocks noChangeAspect="1"/>
            </p:cNvSpPr>
            <p:nvPr/>
          </p:nvSpPr>
          <p:spPr bwMode="auto">
            <a:xfrm rot="5400000">
              <a:off x="10139256" y="1180063"/>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13" name="Straight Connector 12">
              <a:extLst>
                <a:ext uri="{FF2B5EF4-FFF2-40B4-BE49-F238E27FC236}">
                  <a16:creationId xmlns:a16="http://schemas.microsoft.com/office/drawing/2014/main" id="{F0EB8459-7F8A-874A-934C-D913E58DA032}"/>
                </a:ext>
              </a:extLst>
            </p:cNvPr>
            <p:cNvCxnSpPr>
              <a:cxnSpLocks/>
            </p:cNvCxnSpPr>
            <p:nvPr/>
          </p:nvCxnSpPr>
          <p:spPr>
            <a:xfrm>
              <a:off x="9812925" y="1545289"/>
              <a:ext cx="0" cy="594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1E00DF6-79E2-0347-83F7-6B7F21BCEF46}"/>
                </a:ext>
              </a:extLst>
            </p:cNvPr>
            <p:cNvCxnSpPr>
              <a:cxnSpLocks/>
            </p:cNvCxnSpPr>
            <p:nvPr/>
          </p:nvCxnSpPr>
          <p:spPr>
            <a:xfrm>
              <a:off x="10515706" y="1565347"/>
              <a:ext cx="8229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C2520C4-DDED-7E4F-A0EA-2CB4E35EFDBC}"/>
                </a:ext>
              </a:extLst>
            </p:cNvPr>
            <p:cNvCxnSpPr>
              <a:cxnSpLocks/>
            </p:cNvCxnSpPr>
            <p:nvPr/>
          </p:nvCxnSpPr>
          <p:spPr>
            <a:xfrm>
              <a:off x="11326239" y="1550674"/>
              <a:ext cx="0" cy="10058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 name="Group 13">
              <a:extLst>
                <a:ext uri="{FF2B5EF4-FFF2-40B4-BE49-F238E27FC236}">
                  <a16:creationId xmlns:a16="http://schemas.microsoft.com/office/drawing/2014/main" id="{2CCA2AD2-E730-6947-8248-5750349B4AB7}"/>
                </a:ext>
              </a:extLst>
            </p:cNvPr>
            <p:cNvGrpSpPr>
              <a:grpSpLocks noChangeAspect="1"/>
            </p:cNvGrpSpPr>
            <p:nvPr/>
          </p:nvGrpSpPr>
          <p:grpSpPr bwMode="auto">
            <a:xfrm>
              <a:off x="11234092" y="2424603"/>
              <a:ext cx="182880" cy="182880"/>
              <a:chOff x="1344" y="2064"/>
              <a:chExt cx="192" cy="192"/>
            </a:xfrm>
          </p:grpSpPr>
          <p:sp>
            <p:nvSpPr>
              <p:cNvPr id="33" name="Oval 14">
                <a:extLst>
                  <a:ext uri="{FF2B5EF4-FFF2-40B4-BE49-F238E27FC236}">
                    <a16:creationId xmlns:a16="http://schemas.microsoft.com/office/drawing/2014/main" id="{9963534F-F0CB-5142-BFA2-EFC56FE1D63E}"/>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34" name="Rectangle 15">
                <a:extLst>
                  <a:ext uri="{FF2B5EF4-FFF2-40B4-BE49-F238E27FC236}">
                    <a16:creationId xmlns:a16="http://schemas.microsoft.com/office/drawing/2014/main" id="{B6B8C596-BB77-F24D-AEB4-46ECC9E67673}"/>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8" name="Freeform 12">
              <a:extLst>
                <a:ext uri="{FF2B5EF4-FFF2-40B4-BE49-F238E27FC236}">
                  <a16:creationId xmlns:a16="http://schemas.microsoft.com/office/drawing/2014/main" id="{352BC7FC-64A8-2A48-A831-9B57B8D2AC83}"/>
                </a:ext>
              </a:extLst>
            </p:cNvPr>
            <p:cNvSpPr>
              <a:spLocks noChangeAspect="1"/>
            </p:cNvSpPr>
            <p:nvPr/>
          </p:nvSpPr>
          <p:spPr bwMode="auto">
            <a:xfrm rot="5400000">
              <a:off x="9375505" y="1179481"/>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0" name="Group 13">
              <a:extLst>
                <a:ext uri="{FF2B5EF4-FFF2-40B4-BE49-F238E27FC236}">
                  <a16:creationId xmlns:a16="http://schemas.microsoft.com/office/drawing/2014/main" id="{C38A577A-85CA-1749-83D0-6C574E4668D4}"/>
                </a:ext>
              </a:extLst>
            </p:cNvPr>
            <p:cNvGrpSpPr>
              <a:grpSpLocks noChangeAspect="1"/>
            </p:cNvGrpSpPr>
            <p:nvPr/>
          </p:nvGrpSpPr>
          <p:grpSpPr bwMode="auto">
            <a:xfrm>
              <a:off x="9742105" y="2020940"/>
              <a:ext cx="228600" cy="228600"/>
              <a:chOff x="1344" y="2064"/>
              <a:chExt cx="192" cy="192"/>
            </a:xfrm>
          </p:grpSpPr>
          <p:sp>
            <p:nvSpPr>
              <p:cNvPr id="27" name="Oval 14">
                <a:extLst>
                  <a:ext uri="{FF2B5EF4-FFF2-40B4-BE49-F238E27FC236}">
                    <a16:creationId xmlns:a16="http://schemas.microsoft.com/office/drawing/2014/main" id="{4A76988E-AD28-7E40-84C9-41CC0BF2BC2F}"/>
                  </a:ext>
                </a:extLst>
              </p:cNvPr>
              <p:cNvSpPr>
                <a:spLocks noChangeAspect="1" noChangeArrowheads="1"/>
              </p:cNvSpPr>
              <p:nvPr/>
            </p:nvSpPr>
            <p:spPr bwMode="auto">
              <a:xfrm>
                <a:off x="1360"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8" name="Rectangle 15">
                <a:extLst>
                  <a:ext uri="{FF2B5EF4-FFF2-40B4-BE49-F238E27FC236}">
                    <a16:creationId xmlns:a16="http://schemas.microsoft.com/office/drawing/2014/main" id="{7A339D81-BA88-E34C-B3F7-FD0C5E2A5A67}"/>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22" name="Group 13">
              <a:extLst>
                <a:ext uri="{FF2B5EF4-FFF2-40B4-BE49-F238E27FC236}">
                  <a16:creationId xmlns:a16="http://schemas.microsoft.com/office/drawing/2014/main" id="{CB12C1AD-281D-104E-A1B2-0FE8AB887091}"/>
                </a:ext>
              </a:extLst>
            </p:cNvPr>
            <p:cNvGrpSpPr>
              <a:grpSpLocks noChangeAspect="1"/>
            </p:cNvGrpSpPr>
            <p:nvPr/>
          </p:nvGrpSpPr>
          <p:grpSpPr bwMode="auto">
            <a:xfrm>
              <a:off x="11398828" y="2402835"/>
              <a:ext cx="228600" cy="228600"/>
              <a:chOff x="1344" y="2064"/>
              <a:chExt cx="192" cy="192"/>
            </a:xfrm>
          </p:grpSpPr>
          <p:sp>
            <p:nvSpPr>
              <p:cNvPr id="23" name="Oval 14">
                <a:extLst>
                  <a:ext uri="{FF2B5EF4-FFF2-40B4-BE49-F238E27FC236}">
                    <a16:creationId xmlns:a16="http://schemas.microsoft.com/office/drawing/2014/main" id="{17B3613B-8508-6948-863D-0D1BBE18D182}"/>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4" name="Rectangle 15">
                <a:extLst>
                  <a:ext uri="{FF2B5EF4-FFF2-40B4-BE49-F238E27FC236}">
                    <a16:creationId xmlns:a16="http://schemas.microsoft.com/office/drawing/2014/main" id="{C27D6391-216A-734E-AED7-B5B6403D24E4}"/>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41" name="TextBox 40">
              <a:extLst>
                <a:ext uri="{FF2B5EF4-FFF2-40B4-BE49-F238E27FC236}">
                  <a16:creationId xmlns:a16="http://schemas.microsoft.com/office/drawing/2014/main" id="{CEB1A379-9418-7C4B-9117-7D70DDF642A5}"/>
                </a:ext>
              </a:extLst>
            </p:cNvPr>
            <p:cNvSpPr txBox="1"/>
            <p:nvPr/>
          </p:nvSpPr>
          <p:spPr>
            <a:xfrm>
              <a:off x="9287399" y="1114706"/>
              <a:ext cx="881071" cy="369332"/>
            </a:xfrm>
            <a:prstGeom prst="rect">
              <a:avLst/>
            </a:prstGeom>
            <a:noFill/>
          </p:spPr>
          <p:txBody>
            <a:bodyPr wrap="square" rtlCol="0">
              <a:spAutoFit/>
            </a:bodyPr>
            <a:lstStyle/>
            <a:p>
              <a:r>
                <a:rPr lang="en-US" dirty="0"/>
                <a:t>R</a:t>
              </a:r>
              <a:r>
                <a:rPr lang="en-US" baseline="-25000" dirty="0"/>
                <a:t>1</a:t>
              </a:r>
            </a:p>
          </p:txBody>
        </p:sp>
        <p:sp>
          <p:nvSpPr>
            <p:cNvPr id="42" name="TextBox 41">
              <a:extLst>
                <a:ext uri="{FF2B5EF4-FFF2-40B4-BE49-F238E27FC236}">
                  <a16:creationId xmlns:a16="http://schemas.microsoft.com/office/drawing/2014/main" id="{1D498124-7A21-E74F-B52A-468528E7210E}"/>
                </a:ext>
              </a:extLst>
            </p:cNvPr>
            <p:cNvSpPr txBox="1"/>
            <p:nvPr/>
          </p:nvSpPr>
          <p:spPr>
            <a:xfrm>
              <a:off x="11110692" y="2618735"/>
              <a:ext cx="881071" cy="369332"/>
            </a:xfrm>
            <a:prstGeom prst="rect">
              <a:avLst/>
            </a:prstGeom>
            <a:noFill/>
          </p:spPr>
          <p:txBody>
            <a:bodyPr wrap="square" rtlCol="0">
              <a:spAutoFit/>
            </a:bodyPr>
            <a:lstStyle/>
            <a:p>
              <a:r>
                <a:rPr lang="en-US" dirty="0" err="1"/>
                <a:t>v</a:t>
              </a:r>
              <a:r>
                <a:rPr lang="en-US" baseline="-25000" dirty="0" err="1"/>
                <a:t>out</a:t>
              </a:r>
              <a:endParaRPr lang="en-US" baseline="-25000" dirty="0"/>
            </a:p>
          </p:txBody>
        </p:sp>
        <p:grpSp>
          <p:nvGrpSpPr>
            <p:cNvPr id="43" name="Group 207">
              <a:extLst>
                <a:ext uri="{FF2B5EF4-FFF2-40B4-BE49-F238E27FC236}">
                  <a16:creationId xmlns:a16="http://schemas.microsoft.com/office/drawing/2014/main" id="{025B60AC-6207-C14C-81B8-41B21CF9ACDF}"/>
                </a:ext>
              </a:extLst>
            </p:cNvPr>
            <p:cNvGrpSpPr>
              <a:grpSpLocks/>
            </p:cNvGrpSpPr>
            <p:nvPr/>
          </p:nvGrpSpPr>
          <p:grpSpPr bwMode="auto">
            <a:xfrm>
              <a:off x="8929724" y="1555842"/>
              <a:ext cx="304800" cy="762000"/>
              <a:chOff x="4560" y="2400"/>
              <a:chExt cx="192" cy="480"/>
            </a:xfrm>
          </p:grpSpPr>
          <p:sp>
            <p:nvSpPr>
              <p:cNvPr id="44" name="Oval 111">
                <a:extLst>
                  <a:ext uri="{FF2B5EF4-FFF2-40B4-BE49-F238E27FC236}">
                    <a16:creationId xmlns:a16="http://schemas.microsoft.com/office/drawing/2014/main" id="{2FA35FDF-835C-8B4D-9DF2-2A8A5A12840B}"/>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45" name="Line 112">
                <a:extLst>
                  <a:ext uri="{FF2B5EF4-FFF2-40B4-BE49-F238E27FC236}">
                    <a16:creationId xmlns:a16="http://schemas.microsoft.com/office/drawing/2014/main" id="{2DF20789-65F8-4C48-8CD2-933B9361E7CB}"/>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 name="Line 113">
                <a:extLst>
                  <a:ext uri="{FF2B5EF4-FFF2-40B4-BE49-F238E27FC236}">
                    <a16:creationId xmlns:a16="http://schemas.microsoft.com/office/drawing/2014/main" id="{E311C0FA-8131-F644-8745-9103ABC69C78}"/>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 name="Line 114">
                <a:extLst>
                  <a:ext uri="{FF2B5EF4-FFF2-40B4-BE49-F238E27FC236}">
                    <a16:creationId xmlns:a16="http://schemas.microsoft.com/office/drawing/2014/main" id="{75D8CC11-F3C1-8949-A76A-7DE93A459C53}"/>
                  </a:ext>
                </a:extLst>
              </p:cNvPr>
              <p:cNvSpPr>
                <a:spLocks noChangeAspect="1" noChangeShapeType="1"/>
              </p:cNvSpPr>
              <p:nvPr/>
            </p:nvSpPr>
            <p:spPr bwMode="auto">
              <a:xfrm>
                <a:off x="4584" y="2496"/>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 name="Line 115">
                <a:extLst>
                  <a:ext uri="{FF2B5EF4-FFF2-40B4-BE49-F238E27FC236}">
                    <a16:creationId xmlns:a16="http://schemas.microsoft.com/office/drawing/2014/main" id="{574D00A5-46B2-134F-A1EE-84BECEC09E2A}"/>
                  </a:ext>
                </a:extLst>
              </p:cNvPr>
              <p:cNvSpPr>
                <a:spLocks noChangeAspect="1" noChangeShapeType="1"/>
              </p:cNvSpPr>
              <p:nvPr/>
            </p:nvSpPr>
            <p:spPr bwMode="auto">
              <a:xfrm>
                <a:off x="4608" y="2472"/>
                <a:ext cx="0" cy="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 name="Line 116">
                <a:extLst>
                  <a:ext uri="{FF2B5EF4-FFF2-40B4-BE49-F238E27FC236}">
                    <a16:creationId xmlns:a16="http://schemas.microsoft.com/office/drawing/2014/main" id="{C0CA4423-246D-1B46-85C7-08059A53D61F}"/>
                  </a:ext>
                </a:extLst>
              </p:cNvPr>
              <p:cNvSpPr>
                <a:spLocks noChangeAspect="1" noChangeShapeType="1"/>
              </p:cNvSpPr>
              <p:nvPr/>
            </p:nvSpPr>
            <p:spPr bwMode="auto">
              <a:xfrm>
                <a:off x="4584" y="2784"/>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1" name="Group 117">
                <a:extLst>
                  <a:ext uri="{FF2B5EF4-FFF2-40B4-BE49-F238E27FC236}">
                    <a16:creationId xmlns:a16="http://schemas.microsoft.com/office/drawing/2014/main" id="{50D31880-07CE-E54A-BE21-2A3E06378B9C}"/>
                  </a:ext>
                </a:extLst>
              </p:cNvPr>
              <p:cNvGrpSpPr>
                <a:grpSpLocks noChangeAspect="1"/>
              </p:cNvGrpSpPr>
              <p:nvPr/>
            </p:nvGrpSpPr>
            <p:grpSpPr bwMode="auto">
              <a:xfrm>
                <a:off x="4608" y="2592"/>
                <a:ext cx="96" cy="96"/>
                <a:chOff x="2929" y="3217"/>
                <a:chExt cx="383" cy="191"/>
              </a:xfrm>
            </p:grpSpPr>
            <p:sp>
              <p:nvSpPr>
                <p:cNvPr id="52" name="Arc 118">
                  <a:extLst>
                    <a:ext uri="{FF2B5EF4-FFF2-40B4-BE49-F238E27FC236}">
                      <a16:creationId xmlns:a16="http://schemas.microsoft.com/office/drawing/2014/main" id="{7DF77FCD-1AE8-5D4F-9E15-3F8DD2BEDE3E}"/>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3" name="Arc 119">
                  <a:extLst>
                    <a:ext uri="{FF2B5EF4-FFF2-40B4-BE49-F238E27FC236}">
                      <a16:creationId xmlns:a16="http://schemas.microsoft.com/office/drawing/2014/main" id="{4E36315A-1885-DC47-9FB8-207E85671BDD}"/>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grpSp>
          <p:nvGrpSpPr>
            <p:cNvPr id="54" name="Group 220">
              <a:extLst>
                <a:ext uri="{FF2B5EF4-FFF2-40B4-BE49-F238E27FC236}">
                  <a16:creationId xmlns:a16="http://schemas.microsoft.com/office/drawing/2014/main" id="{E54DDB83-DD84-9B4E-BFF8-A4907898E709}"/>
                </a:ext>
              </a:extLst>
            </p:cNvPr>
            <p:cNvGrpSpPr>
              <a:grpSpLocks/>
            </p:cNvGrpSpPr>
            <p:nvPr/>
          </p:nvGrpSpPr>
          <p:grpSpPr bwMode="auto">
            <a:xfrm>
              <a:off x="9003083" y="2282972"/>
              <a:ext cx="152400" cy="304800"/>
              <a:chOff x="3264" y="3072"/>
              <a:chExt cx="96" cy="192"/>
            </a:xfrm>
          </p:grpSpPr>
          <p:sp>
            <p:nvSpPr>
              <p:cNvPr id="55" name="Line 17">
                <a:extLst>
                  <a:ext uri="{FF2B5EF4-FFF2-40B4-BE49-F238E27FC236}">
                    <a16:creationId xmlns:a16="http://schemas.microsoft.com/office/drawing/2014/main" id="{6474C13A-5CFC-EF49-A618-4B1B8346D0CD}"/>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 name="Freeform 18">
                <a:extLst>
                  <a:ext uri="{FF2B5EF4-FFF2-40B4-BE49-F238E27FC236}">
                    <a16:creationId xmlns:a16="http://schemas.microsoft.com/office/drawing/2014/main" id="{AA59DC2A-88C4-274E-A151-DA843A208CFB}"/>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57" name="TextBox 56">
              <a:extLst>
                <a:ext uri="{FF2B5EF4-FFF2-40B4-BE49-F238E27FC236}">
                  <a16:creationId xmlns:a16="http://schemas.microsoft.com/office/drawing/2014/main" id="{EDF51B1A-63F8-DA4C-B44A-D5BCA7551CB9}"/>
                </a:ext>
              </a:extLst>
            </p:cNvPr>
            <p:cNvSpPr txBox="1"/>
            <p:nvPr/>
          </p:nvSpPr>
          <p:spPr>
            <a:xfrm>
              <a:off x="8457222" y="1770317"/>
              <a:ext cx="881071" cy="369332"/>
            </a:xfrm>
            <a:prstGeom prst="rect">
              <a:avLst/>
            </a:prstGeom>
            <a:noFill/>
          </p:spPr>
          <p:txBody>
            <a:bodyPr wrap="square" rtlCol="0">
              <a:spAutoFit/>
            </a:bodyPr>
            <a:lstStyle/>
            <a:p>
              <a:r>
                <a:rPr lang="en-US" dirty="0"/>
                <a:t>v</a:t>
              </a:r>
              <a:r>
                <a:rPr lang="en-US" baseline="-25000" dirty="0"/>
                <a:t>in</a:t>
              </a:r>
            </a:p>
          </p:txBody>
        </p:sp>
        <p:sp>
          <p:nvSpPr>
            <p:cNvPr id="58" name="TextBox 57">
              <a:extLst>
                <a:ext uri="{FF2B5EF4-FFF2-40B4-BE49-F238E27FC236}">
                  <a16:creationId xmlns:a16="http://schemas.microsoft.com/office/drawing/2014/main" id="{833F88EA-A878-E941-9853-0D7BD6D3183B}"/>
                </a:ext>
              </a:extLst>
            </p:cNvPr>
            <p:cNvSpPr txBox="1"/>
            <p:nvPr/>
          </p:nvSpPr>
          <p:spPr>
            <a:xfrm>
              <a:off x="8700706" y="2662187"/>
              <a:ext cx="1066800" cy="338554"/>
            </a:xfrm>
            <a:prstGeom prst="rect">
              <a:avLst/>
            </a:prstGeom>
            <a:noFill/>
          </p:spPr>
          <p:txBody>
            <a:bodyPr wrap="square" rtlCol="0">
              <a:spAutoFit/>
            </a:bodyPr>
            <a:lstStyle/>
            <a:p>
              <a:r>
                <a:rPr lang="en-US" sz="1600" dirty="0"/>
                <a:t>Inverting</a:t>
              </a:r>
              <a:endParaRPr lang="en-US" sz="1600" baseline="-25000" dirty="0"/>
            </a:p>
          </p:txBody>
        </p:sp>
        <p:grpSp>
          <p:nvGrpSpPr>
            <p:cNvPr id="4" name="Group 13">
              <a:extLst>
                <a:ext uri="{FF2B5EF4-FFF2-40B4-BE49-F238E27FC236}">
                  <a16:creationId xmlns:a16="http://schemas.microsoft.com/office/drawing/2014/main" id="{812B3B93-515A-7BD3-13CC-762C79A7410F}"/>
                </a:ext>
              </a:extLst>
            </p:cNvPr>
            <p:cNvGrpSpPr>
              <a:grpSpLocks noChangeAspect="1"/>
            </p:cNvGrpSpPr>
            <p:nvPr/>
          </p:nvGrpSpPr>
          <p:grpSpPr bwMode="auto">
            <a:xfrm>
              <a:off x="9742105" y="1449440"/>
              <a:ext cx="228600" cy="228600"/>
              <a:chOff x="1344" y="2064"/>
              <a:chExt cx="192" cy="192"/>
            </a:xfrm>
          </p:grpSpPr>
          <p:sp>
            <p:nvSpPr>
              <p:cNvPr id="6" name="Oval 14">
                <a:extLst>
                  <a:ext uri="{FF2B5EF4-FFF2-40B4-BE49-F238E27FC236}">
                    <a16:creationId xmlns:a16="http://schemas.microsoft.com/office/drawing/2014/main" id="{96E394EF-52FD-9CF5-BF2F-92EA654AD9CB}"/>
                  </a:ext>
                </a:extLst>
              </p:cNvPr>
              <p:cNvSpPr>
                <a:spLocks noChangeAspect="1" noChangeArrowheads="1"/>
              </p:cNvSpPr>
              <p:nvPr/>
            </p:nvSpPr>
            <p:spPr bwMode="auto">
              <a:xfrm>
                <a:off x="1360"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9" name="Rectangle 15">
                <a:extLst>
                  <a:ext uri="{FF2B5EF4-FFF2-40B4-BE49-F238E27FC236}">
                    <a16:creationId xmlns:a16="http://schemas.microsoft.com/office/drawing/2014/main" id="{46995B97-6D3B-65FA-B19A-6C1CFD3763E2}"/>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grpSp>
        <p:nvGrpSpPr>
          <p:cNvPr id="30" name="Group 29">
            <a:extLst>
              <a:ext uri="{FF2B5EF4-FFF2-40B4-BE49-F238E27FC236}">
                <a16:creationId xmlns:a16="http://schemas.microsoft.com/office/drawing/2014/main" id="{B289CB5C-583C-C077-759C-6FA6C5C3E7A6}"/>
              </a:ext>
            </a:extLst>
          </p:cNvPr>
          <p:cNvGrpSpPr/>
          <p:nvPr/>
        </p:nvGrpSpPr>
        <p:grpSpPr>
          <a:xfrm>
            <a:off x="8596021" y="4061780"/>
            <a:ext cx="3144898" cy="2311147"/>
            <a:chOff x="8596021" y="4061780"/>
            <a:chExt cx="3144898" cy="2311147"/>
          </a:xfrm>
        </p:grpSpPr>
        <p:grpSp>
          <p:nvGrpSpPr>
            <p:cNvPr id="60" name="Group 39">
              <a:extLst>
                <a:ext uri="{FF2B5EF4-FFF2-40B4-BE49-F238E27FC236}">
                  <a16:creationId xmlns:a16="http://schemas.microsoft.com/office/drawing/2014/main" id="{3279C3B3-9C39-E44C-A333-341DD2A6838B}"/>
                </a:ext>
              </a:extLst>
            </p:cNvPr>
            <p:cNvGrpSpPr>
              <a:grpSpLocks/>
            </p:cNvGrpSpPr>
            <p:nvPr/>
          </p:nvGrpSpPr>
          <p:grpSpPr bwMode="auto">
            <a:xfrm>
              <a:off x="9717172" y="4437780"/>
              <a:ext cx="1676400" cy="1371600"/>
              <a:chOff x="2496" y="1968"/>
              <a:chExt cx="1056" cy="864"/>
            </a:xfrm>
          </p:grpSpPr>
          <p:sp>
            <p:nvSpPr>
              <p:cNvPr id="99" name="Line 40">
                <a:extLst>
                  <a:ext uri="{FF2B5EF4-FFF2-40B4-BE49-F238E27FC236}">
                    <a16:creationId xmlns:a16="http://schemas.microsoft.com/office/drawing/2014/main" id="{41E7852A-D615-FE45-B528-302D28143489}"/>
                  </a:ext>
                </a:extLst>
              </p:cNvPr>
              <p:cNvSpPr>
                <a:spLocks noChangeShapeType="1"/>
              </p:cNvSpPr>
              <p:nvPr/>
            </p:nvSpPr>
            <p:spPr bwMode="auto">
              <a:xfrm>
                <a:off x="2496" y="216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 name="Line 41">
                <a:extLst>
                  <a:ext uri="{FF2B5EF4-FFF2-40B4-BE49-F238E27FC236}">
                    <a16:creationId xmlns:a16="http://schemas.microsoft.com/office/drawing/2014/main" id="{22011EC6-5622-5542-BBDB-8A4D5ECFDFE9}"/>
                  </a:ext>
                </a:extLst>
              </p:cNvPr>
              <p:cNvSpPr>
                <a:spLocks noChangeShapeType="1"/>
              </p:cNvSpPr>
              <p:nvPr/>
            </p:nvSpPr>
            <p:spPr bwMode="auto">
              <a:xfrm>
                <a:off x="2496" y="264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 name="Line 42">
                <a:extLst>
                  <a:ext uri="{FF2B5EF4-FFF2-40B4-BE49-F238E27FC236}">
                    <a16:creationId xmlns:a16="http://schemas.microsoft.com/office/drawing/2014/main" id="{19B95980-E321-7647-8A85-AE725F15083C}"/>
                  </a:ext>
                </a:extLst>
              </p:cNvPr>
              <p:cNvSpPr>
                <a:spLocks noChangeShapeType="1"/>
              </p:cNvSpPr>
              <p:nvPr/>
            </p:nvSpPr>
            <p:spPr bwMode="auto">
              <a:xfrm>
                <a:off x="3360" y="240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 name="Freeform 43">
                <a:extLst>
                  <a:ext uri="{FF2B5EF4-FFF2-40B4-BE49-F238E27FC236}">
                    <a16:creationId xmlns:a16="http://schemas.microsoft.com/office/drawing/2014/main" id="{3FFEDEBB-2680-D94B-BAA8-ADE526BD756D}"/>
                  </a:ext>
                </a:extLst>
              </p:cNvPr>
              <p:cNvSpPr>
                <a:spLocks/>
              </p:cNvSpPr>
              <p:nvPr/>
            </p:nvSpPr>
            <p:spPr bwMode="auto">
              <a:xfrm>
                <a:off x="2688" y="1968"/>
                <a:ext cx="672" cy="864"/>
              </a:xfrm>
              <a:custGeom>
                <a:avLst/>
                <a:gdLst>
                  <a:gd name="T0" fmla="*/ 6120 w 432"/>
                  <a:gd name="T1" fmla="*/ 779 h 768"/>
                  <a:gd name="T2" fmla="*/ 0 w 432"/>
                  <a:gd name="T3" fmla="*/ 1558 h 768"/>
                  <a:gd name="T4" fmla="*/ 0 w 432"/>
                  <a:gd name="T5" fmla="*/ 0 h 768"/>
                  <a:gd name="T6" fmla="*/ 6120 w 432"/>
                  <a:gd name="T7" fmla="*/ 779 h 768"/>
                  <a:gd name="T8" fmla="*/ 0 60000 65536"/>
                  <a:gd name="T9" fmla="*/ 0 60000 65536"/>
                  <a:gd name="T10" fmla="*/ 0 60000 65536"/>
                  <a:gd name="T11" fmla="*/ 0 60000 65536"/>
                  <a:gd name="T12" fmla="*/ 0 w 432"/>
                  <a:gd name="T13" fmla="*/ 0 h 768"/>
                  <a:gd name="T14" fmla="*/ 432 w 432"/>
                  <a:gd name="T15" fmla="*/ 768 h 768"/>
                </a:gdLst>
                <a:ahLst/>
                <a:cxnLst>
                  <a:cxn ang="T8">
                    <a:pos x="T0" y="T1"/>
                  </a:cxn>
                  <a:cxn ang="T9">
                    <a:pos x="T2" y="T3"/>
                  </a:cxn>
                  <a:cxn ang="T10">
                    <a:pos x="T4" y="T5"/>
                  </a:cxn>
                  <a:cxn ang="T11">
                    <a:pos x="T6" y="T7"/>
                  </a:cxn>
                </a:cxnLst>
                <a:rect l="T12" t="T13" r="T14" b="T15"/>
                <a:pathLst>
                  <a:path w="432" h="768">
                    <a:moveTo>
                      <a:pt x="432" y="384"/>
                    </a:moveTo>
                    <a:lnTo>
                      <a:pt x="0" y="768"/>
                    </a:lnTo>
                    <a:lnTo>
                      <a:pt x="0" y="0"/>
                    </a:lnTo>
                    <a:lnTo>
                      <a:pt x="432" y="38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grpSp>
        <p:sp>
          <p:nvSpPr>
            <p:cNvPr id="61" name="TextBox 60">
              <a:extLst>
                <a:ext uri="{FF2B5EF4-FFF2-40B4-BE49-F238E27FC236}">
                  <a16:creationId xmlns:a16="http://schemas.microsoft.com/office/drawing/2014/main" id="{A558BF23-D5CA-4641-8367-B53AA0D91DA0}"/>
                </a:ext>
              </a:extLst>
            </p:cNvPr>
            <p:cNvSpPr txBox="1"/>
            <p:nvPr/>
          </p:nvSpPr>
          <p:spPr>
            <a:xfrm flipH="1">
              <a:off x="10019219" y="5289149"/>
              <a:ext cx="439757" cy="369332"/>
            </a:xfrm>
            <a:prstGeom prst="rect">
              <a:avLst/>
            </a:prstGeom>
            <a:noFill/>
          </p:spPr>
          <p:txBody>
            <a:bodyPr wrap="square" rtlCol="0">
              <a:spAutoFit/>
            </a:bodyPr>
            <a:lstStyle/>
            <a:p>
              <a:r>
                <a:rPr lang="en-US" dirty="0"/>
                <a:t>+</a:t>
              </a:r>
            </a:p>
          </p:txBody>
        </p:sp>
        <p:sp>
          <p:nvSpPr>
            <p:cNvPr id="63" name="TextBox 62">
              <a:extLst>
                <a:ext uri="{FF2B5EF4-FFF2-40B4-BE49-F238E27FC236}">
                  <a16:creationId xmlns:a16="http://schemas.microsoft.com/office/drawing/2014/main" id="{6ADFDA53-15CD-D74A-BA93-B45A048DD4E3}"/>
                </a:ext>
              </a:extLst>
            </p:cNvPr>
            <p:cNvSpPr txBox="1"/>
            <p:nvPr/>
          </p:nvSpPr>
          <p:spPr>
            <a:xfrm flipH="1">
              <a:off x="10061449" y="4549182"/>
              <a:ext cx="439757" cy="369332"/>
            </a:xfrm>
            <a:prstGeom prst="rect">
              <a:avLst/>
            </a:prstGeom>
            <a:noFill/>
          </p:spPr>
          <p:txBody>
            <a:bodyPr wrap="square" rtlCol="0">
              <a:spAutoFit/>
            </a:bodyPr>
            <a:lstStyle/>
            <a:p>
              <a:r>
                <a:rPr lang="en-US" dirty="0"/>
                <a:t>-</a:t>
              </a:r>
            </a:p>
          </p:txBody>
        </p:sp>
        <p:grpSp>
          <p:nvGrpSpPr>
            <p:cNvPr id="64" name="Group 220">
              <a:extLst>
                <a:ext uri="{FF2B5EF4-FFF2-40B4-BE49-F238E27FC236}">
                  <a16:creationId xmlns:a16="http://schemas.microsoft.com/office/drawing/2014/main" id="{E712805E-8AF3-8F42-9856-15EBEBB228FE}"/>
                </a:ext>
              </a:extLst>
            </p:cNvPr>
            <p:cNvGrpSpPr>
              <a:grpSpLocks/>
            </p:cNvGrpSpPr>
            <p:nvPr/>
          </p:nvGrpSpPr>
          <p:grpSpPr bwMode="auto">
            <a:xfrm>
              <a:off x="9655344" y="6068127"/>
              <a:ext cx="152400" cy="304800"/>
              <a:chOff x="3264" y="3072"/>
              <a:chExt cx="96" cy="192"/>
            </a:xfrm>
          </p:grpSpPr>
          <p:sp>
            <p:nvSpPr>
              <p:cNvPr id="97" name="Line 17">
                <a:extLst>
                  <a:ext uri="{FF2B5EF4-FFF2-40B4-BE49-F238E27FC236}">
                    <a16:creationId xmlns:a16="http://schemas.microsoft.com/office/drawing/2014/main" id="{015E75A4-7A5C-AA42-8CF0-CC0267C430CD}"/>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 name="Freeform 18">
                <a:extLst>
                  <a:ext uri="{FF2B5EF4-FFF2-40B4-BE49-F238E27FC236}">
                    <a16:creationId xmlns:a16="http://schemas.microsoft.com/office/drawing/2014/main" id="{6B3628D4-13C7-2242-8347-B26A71F76929}"/>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66" name="Freeform 12">
              <a:extLst>
                <a:ext uri="{FF2B5EF4-FFF2-40B4-BE49-F238E27FC236}">
                  <a16:creationId xmlns:a16="http://schemas.microsoft.com/office/drawing/2014/main" id="{5D35075F-8EC5-4444-9EA2-E46AD239371F}"/>
                </a:ext>
              </a:extLst>
            </p:cNvPr>
            <p:cNvSpPr>
              <a:spLocks noChangeAspect="1"/>
            </p:cNvSpPr>
            <p:nvPr/>
          </p:nvSpPr>
          <p:spPr bwMode="auto">
            <a:xfrm rot="5400000">
              <a:off x="10069274" y="3792403"/>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67" name="Straight Connector 66">
              <a:extLst>
                <a:ext uri="{FF2B5EF4-FFF2-40B4-BE49-F238E27FC236}">
                  <a16:creationId xmlns:a16="http://schemas.microsoft.com/office/drawing/2014/main" id="{F24CA464-0286-D340-8598-7CFFC379AD4B}"/>
                </a:ext>
              </a:extLst>
            </p:cNvPr>
            <p:cNvCxnSpPr>
              <a:cxnSpLocks/>
            </p:cNvCxnSpPr>
            <p:nvPr/>
          </p:nvCxnSpPr>
          <p:spPr>
            <a:xfrm>
              <a:off x="9742943" y="4157629"/>
              <a:ext cx="0" cy="594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A8FCD5B5-A586-B04B-A00C-BBB0CC1AA743}"/>
                </a:ext>
              </a:extLst>
            </p:cNvPr>
            <p:cNvCxnSpPr>
              <a:cxnSpLocks/>
            </p:cNvCxnSpPr>
            <p:nvPr/>
          </p:nvCxnSpPr>
          <p:spPr>
            <a:xfrm>
              <a:off x="10445724" y="4177687"/>
              <a:ext cx="8229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DCF6542-FCA6-5C46-BEDF-FEA7A722977D}"/>
                </a:ext>
              </a:extLst>
            </p:cNvPr>
            <p:cNvCxnSpPr>
              <a:cxnSpLocks/>
            </p:cNvCxnSpPr>
            <p:nvPr/>
          </p:nvCxnSpPr>
          <p:spPr>
            <a:xfrm>
              <a:off x="11256257" y="4163014"/>
              <a:ext cx="0" cy="10058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0" name="Group 13">
              <a:extLst>
                <a:ext uri="{FF2B5EF4-FFF2-40B4-BE49-F238E27FC236}">
                  <a16:creationId xmlns:a16="http://schemas.microsoft.com/office/drawing/2014/main" id="{6E422A8A-3B70-3C4D-8985-5446CE7B7236}"/>
                </a:ext>
              </a:extLst>
            </p:cNvPr>
            <p:cNvGrpSpPr>
              <a:grpSpLocks noChangeAspect="1"/>
            </p:cNvGrpSpPr>
            <p:nvPr/>
          </p:nvGrpSpPr>
          <p:grpSpPr bwMode="auto">
            <a:xfrm>
              <a:off x="11164110" y="5036943"/>
              <a:ext cx="182880" cy="182880"/>
              <a:chOff x="1344" y="2064"/>
              <a:chExt cx="192" cy="192"/>
            </a:xfrm>
          </p:grpSpPr>
          <p:sp>
            <p:nvSpPr>
              <p:cNvPr id="95" name="Oval 14">
                <a:extLst>
                  <a:ext uri="{FF2B5EF4-FFF2-40B4-BE49-F238E27FC236}">
                    <a16:creationId xmlns:a16="http://schemas.microsoft.com/office/drawing/2014/main" id="{C9A2A434-E25D-3C4D-A936-EAF8BF5BA377}"/>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96" name="Rectangle 15">
                <a:extLst>
                  <a:ext uri="{FF2B5EF4-FFF2-40B4-BE49-F238E27FC236}">
                    <a16:creationId xmlns:a16="http://schemas.microsoft.com/office/drawing/2014/main" id="{D2D59C25-5985-E648-8E28-F56E63BC0B0C}"/>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71" name="Freeform 12">
              <a:extLst>
                <a:ext uri="{FF2B5EF4-FFF2-40B4-BE49-F238E27FC236}">
                  <a16:creationId xmlns:a16="http://schemas.microsoft.com/office/drawing/2014/main" id="{2548ED9F-F8B5-A34B-8C0A-60784445F418}"/>
                </a:ext>
              </a:extLst>
            </p:cNvPr>
            <p:cNvSpPr>
              <a:spLocks noChangeAspect="1"/>
            </p:cNvSpPr>
            <p:nvPr/>
          </p:nvSpPr>
          <p:spPr bwMode="auto">
            <a:xfrm rot="5400000">
              <a:off x="9305523" y="3791821"/>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72" name="Group 13">
              <a:extLst>
                <a:ext uri="{FF2B5EF4-FFF2-40B4-BE49-F238E27FC236}">
                  <a16:creationId xmlns:a16="http://schemas.microsoft.com/office/drawing/2014/main" id="{958840AF-EEF7-2B45-8FF1-8AE1752F17F9}"/>
                </a:ext>
              </a:extLst>
            </p:cNvPr>
            <p:cNvGrpSpPr>
              <a:grpSpLocks noChangeAspect="1"/>
            </p:cNvGrpSpPr>
            <p:nvPr/>
          </p:nvGrpSpPr>
          <p:grpSpPr bwMode="auto">
            <a:xfrm>
              <a:off x="9672123" y="4633280"/>
              <a:ext cx="228600" cy="228600"/>
              <a:chOff x="1344" y="2064"/>
              <a:chExt cx="192" cy="192"/>
            </a:xfrm>
          </p:grpSpPr>
          <p:sp>
            <p:nvSpPr>
              <p:cNvPr id="93" name="Oval 14">
                <a:extLst>
                  <a:ext uri="{FF2B5EF4-FFF2-40B4-BE49-F238E27FC236}">
                    <a16:creationId xmlns:a16="http://schemas.microsoft.com/office/drawing/2014/main" id="{70911955-E8E8-CE4D-9F12-115E57BEB5D3}"/>
                  </a:ext>
                </a:extLst>
              </p:cNvPr>
              <p:cNvSpPr>
                <a:spLocks noChangeAspect="1" noChangeArrowheads="1"/>
              </p:cNvSpPr>
              <p:nvPr/>
            </p:nvSpPr>
            <p:spPr bwMode="auto">
              <a:xfrm>
                <a:off x="1360"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94" name="Rectangle 15">
                <a:extLst>
                  <a:ext uri="{FF2B5EF4-FFF2-40B4-BE49-F238E27FC236}">
                    <a16:creationId xmlns:a16="http://schemas.microsoft.com/office/drawing/2014/main" id="{6161FB9B-C27B-3F42-BA01-2193BE394E8F}"/>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73" name="Group 13">
              <a:extLst>
                <a:ext uri="{FF2B5EF4-FFF2-40B4-BE49-F238E27FC236}">
                  <a16:creationId xmlns:a16="http://schemas.microsoft.com/office/drawing/2014/main" id="{BB37A5A3-8EB3-7A47-9EA2-565CEA0B2E64}"/>
                </a:ext>
              </a:extLst>
            </p:cNvPr>
            <p:cNvGrpSpPr>
              <a:grpSpLocks noChangeAspect="1"/>
            </p:cNvGrpSpPr>
            <p:nvPr/>
          </p:nvGrpSpPr>
          <p:grpSpPr bwMode="auto">
            <a:xfrm>
              <a:off x="11328846" y="5015175"/>
              <a:ext cx="228600" cy="228600"/>
              <a:chOff x="1344" y="2064"/>
              <a:chExt cx="192" cy="192"/>
            </a:xfrm>
          </p:grpSpPr>
          <p:sp>
            <p:nvSpPr>
              <p:cNvPr id="91" name="Oval 14">
                <a:extLst>
                  <a:ext uri="{FF2B5EF4-FFF2-40B4-BE49-F238E27FC236}">
                    <a16:creationId xmlns:a16="http://schemas.microsoft.com/office/drawing/2014/main" id="{F2042C96-FF51-DA40-83A5-C538D3C0714A}"/>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92" name="Rectangle 15">
                <a:extLst>
                  <a:ext uri="{FF2B5EF4-FFF2-40B4-BE49-F238E27FC236}">
                    <a16:creationId xmlns:a16="http://schemas.microsoft.com/office/drawing/2014/main" id="{F11F2FB5-5100-3547-958C-F41B2AEAF476}"/>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75" name="TextBox 74">
              <a:extLst>
                <a:ext uri="{FF2B5EF4-FFF2-40B4-BE49-F238E27FC236}">
                  <a16:creationId xmlns:a16="http://schemas.microsoft.com/office/drawing/2014/main" id="{1BD5404D-AF18-4A4B-96C3-1A478A3B749E}"/>
                </a:ext>
              </a:extLst>
            </p:cNvPr>
            <p:cNvSpPr txBox="1"/>
            <p:nvPr/>
          </p:nvSpPr>
          <p:spPr>
            <a:xfrm>
              <a:off x="11176983" y="5258069"/>
              <a:ext cx="563936" cy="369332"/>
            </a:xfrm>
            <a:prstGeom prst="rect">
              <a:avLst/>
            </a:prstGeom>
            <a:noFill/>
          </p:spPr>
          <p:txBody>
            <a:bodyPr wrap="square" rtlCol="0">
              <a:spAutoFit/>
            </a:bodyPr>
            <a:lstStyle/>
            <a:p>
              <a:r>
                <a:rPr lang="en-US" dirty="0" err="1"/>
                <a:t>v</a:t>
              </a:r>
              <a:r>
                <a:rPr lang="en-US" baseline="-25000" dirty="0" err="1"/>
                <a:t>out</a:t>
              </a:r>
              <a:endParaRPr lang="en-US" baseline="-25000" dirty="0"/>
            </a:p>
          </p:txBody>
        </p:sp>
        <p:grpSp>
          <p:nvGrpSpPr>
            <p:cNvPr id="76" name="Group 207">
              <a:extLst>
                <a:ext uri="{FF2B5EF4-FFF2-40B4-BE49-F238E27FC236}">
                  <a16:creationId xmlns:a16="http://schemas.microsoft.com/office/drawing/2014/main" id="{D758C770-5023-4148-81E1-526A424789C5}"/>
                </a:ext>
              </a:extLst>
            </p:cNvPr>
            <p:cNvGrpSpPr>
              <a:grpSpLocks/>
            </p:cNvGrpSpPr>
            <p:nvPr/>
          </p:nvGrpSpPr>
          <p:grpSpPr bwMode="auto">
            <a:xfrm>
              <a:off x="9576648" y="5491328"/>
              <a:ext cx="304800" cy="762000"/>
              <a:chOff x="4560" y="2400"/>
              <a:chExt cx="192" cy="480"/>
            </a:xfrm>
          </p:grpSpPr>
          <p:sp>
            <p:nvSpPr>
              <p:cNvPr id="82" name="Oval 111">
                <a:extLst>
                  <a:ext uri="{FF2B5EF4-FFF2-40B4-BE49-F238E27FC236}">
                    <a16:creationId xmlns:a16="http://schemas.microsoft.com/office/drawing/2014/main" id="{2CBBE667-AF45-C649-BF37-A1EBC3F546DC}"/>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83" name="Line 112">
                <a:extLst>
                  <a:ext uri="{FF2B5EF4-FFF2-40B4-BE49-F238E27FC236}">
                    <a16:creationId xmlns:a16="http://schemas.microsoft.com/office/drawing/2014/main" id="{072B69D2-A63D-FC46-A374-DC54A8152C66}"/>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4" name="Line 113">
                <a:extLst>
                  <a:ext uri="{FF2B5EF4-FFF2-40B4-BE49-F238E27FC236}">
                    <a16:creationId xmlns:a16="http://schemas.microsoft.com/office/drawing/2014/main" id="{BA181A32-B4E9-9347-AACB-AA720FFF8EE7}"/>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 name="Line 114">
                <a:extLst>
                  <a:ext uri="{FF2B5EF4-FFF2-40B4-BE49-F238E27FC236}">
                    <a16:creationId xmlns:a16="http://schemas.microsoft.com/office/drawing/2014/main" id="{49F09F8F-BA0D-9443-BAEE-99D3B7479E85}"/>
                  </a:ext>
                </a:extLst>
              </p:cNvPr>
              <p:cNvSpPr>
                <a:spLocks noChangeAspect="1" noChangeShapeType="1"/>
              </p:cNvSpPr>
              <p:nvPr/>
            </p:nvSpPr>
            <p:spPr bwMode="auto">
              <a:xfrm>
                <a:off x="4584" y="2496"/>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 name="Line 115">
                <a:extLst>
                  <a:ext uri="{FF2B5EF4-FFF2-40B4-BE49-F238E27FC236}">
                    <a16:creationId xmlns:a16="http://schemas.microsoft.com/office/drawing/2014/main" id="{3AEB8FF7-0C73-4E47-9053-3960C63639B5}"/>
                  </a:ext>
                </a:extLst>
              </p:cNvPr>
              <p:cNvSpPr>
                <a:spLocks noChangeAspect="1" noChangeShapeType="1"/>
              </p:cNvSpPr>
              <p:nvPr/>
            </p:nvSpPr>
            <p:spPr bwMode="auto">
              <a:xfrm>
                <a:off x="4608" y="2472"/>
                <a:ext cx="0" cy="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 name="Line 116">
                <a:extLst>
                  <a:ext uri="{FF2B5EF4-FFF2-40B4-BE49-F238E27FC236}">
                    <a16:creationId xmlns:a16="http://schemas.microsoft.com/office/drawing/2014/main" id="{0DE4A7BD-1E03-2748-A1E2-C53CA01D4B13}"/>
                  </a:ext>
                </a:extLst>
              </p:cNvPr>
              <p:cNvSpPr>
                <a:spLocks noChangeAspect="1" noChangeShapeType="1"/>
              </p:cNvSpPr>
              <p:nvPr/>
            </p:nvSpPr>
            <p:spPr bwMode="auto">
              <a:xfrm>
                <a:off x="4584" y="2784"/>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88" name="Group 117">
                <a:extLst>
                  <a:ext uri="{FF2B5EF4-FFF2-40B4-BE49-F238E27FC236}">
                    <a16:creationId xmlns:a16="http://schemas.microsoft.com/office/drawing/2014/main" id="{E2288F6A-ADFB-C348-A8B2-9C1AE67310CA}"/>
                  </a:ext>
                </a:extLst>
              </p:cNvPr>
              <p:cNvGrpSpPr>
                <a:grpSpLocks noChangeAspect="1"/>
              </p:cNvGrpSpPr>
              <p:nvPr/>
            </p:nvGrpSpPr>
            <p:grpSpPr bwMode="auto">
              <a:xfrm>
                <a:off x="4608" y="2592"/>
                <a:ext cx="96" cy="96"/>
                <a:chOff x="2929" y="3217"/>
                <a:chExt cx="383" cy="191"/>
              </a:xfrm>
            </p:grpSpPr>
            <p:sp>
              <p:nvSpPr>
                <p:cNvPr id="89" name="Arc 118">
                  <a:extLst>
                    <a:ext uri="{FF2B5EF4-FFF2-40B4-BE49-F238E27FC236}">
                      <a16:creationId xmlns:a16="http://schemas.microsoft.com/office/drawing/2014/main" id="{25369A9A-22F8-824F-922C-2081BACDDAB6}"/>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0" name="Arc 119">
                  <a:extLst>
                    <a:ext uri="{FF2B5EF4-FFF2-40B4-BE49-F238E27FC236}">
                      <a16:creationId xmlns:a16="http://schemas.microsoft.com/office/drawing/2014/main" id="{02F148B8-F4E2-964C-89E0-7862854AC968}"/>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grpSp>
          <p:nvGrpSpPr>
            <p:cNvPr id="77" name="Group 220">
              <a:extLst>
                <a:ext uri="{FF2B5EF4-FFF2-40B4-BE49-F238E27FC236}">
                  <a16:creationId xmlns:a16="http://schemas.microsoft.com/office/drawing/2014/main" id="{BE918E84-DA10-DD47-96E9-92B0E4D3F395}"/>
                </a:ext>
              </a:extLst>
            </p:cNvPr>
            <p:cNvGrpSpPr>
              <a:grpSpLocks/>
            </p:cNvGrpSpPr>
            <p:nvPr/>
          </p:nvGrpSpPr>
          <p:grpSpPr bwMode="auto">
            <a:xfrm>
              <a:off x="8933101" y="4179696"/>
              <a:ext cx="152400" cy="304800"/>
              <a:chOff x="3264" y="3072"/>
              <a:chExt cx="96" cy="192"/>
            </a:xfrm>
          </p:grpSpPr>
          <p:sp>
            <p:nvSpPr>
              <p:cNvPr id="80" name="Line 17">
                <a:extLst>
                  <a:ext uri="{FF2B5EF4-FFF2-40B4-BE49-F238E27FC236}">
                    <a16:creationId xmlns:a16="http://schemas.microsoft.com/office/drawing/2014/main" id="{56D75881-4792-1B40-816D-74028CAEFCB8}"/>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 name="Freeform 18">
                <a:extLst>
                  <a:ext uri="{FF2B5EF4-FFF2-40B4-BE49-F238E27FC236}">
                    <a16:creationId xmlns:a16="http://schemas.microsoft.com/office/drawing/2014/main" id="{5B327F1A-AE8A-784F-A577-37B3C3DB9CEA}"/>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78" name="TextBox 77">
              <a:extLst>
                <a:ext uri="{FF2B5EF4-FFF2-40B4-BE49-F238E27FC236}">
                  <a16:creationId xmlns:a16="http://schemas.microsoft.com/office/drawing/2014/main" id="{FD33F041-E0E1-7E4F-BADD-6D629C913849}"/>
                </a:ext>
              </a:extLst>
            </p:cNvPr>
            <p:cNvSpPr txBox="1"/>
            <p:nvPr/>
          </p:nvSpPr>
          <p:spPr>
            <a:xfrm>
              <a:off x="9111509" y="5735074"/>
              <a:ext cx="497321" cy="369332"/>
            </a:xfrm>
            <a:prstGeom prst="rect">
              <a:avLst/>
            </a:prstGeom>
            <a:noFill/>
          </p:spPr>
          <p:txBody>
            <a:bodyPr wrap="square" rtlCol="0">
              <a:spAutoFit/>
            </a:bodyPr>
            <a:lstStyle/>
            <a:p>
              <a:r>
                <a:rPr lang="en-US" dirty="0"/>
                <a:t>v</a:t>
              </a:r>
              <a:r>
                <a:rPr lang="en-US" baseline="-25000" dirty="0"/>
                <a:t>in</a:t>
              </a:r>
            </a:p>
          </p:txBody>
        </p:sp>
        <p:sp>
          <p:nvSpPr>
            <p:cNvPr id="79" name="TextBox 78">
              <a:extLst>
                <a:ext uri="{FF2B5EF4-FFF2-40B4-BE49-F238E27FC236}">
                  <a16:creationId xmlns:a16="http://schemas.microsoft.com/office/drawing/2014/main" id="{1973BCD4-2E38-1A45-9725-651CE2A59982}"/>
                </a:ext>
              </a:extLst>
            </p:cNvPr>
            <p:cNvSpPr txBox="1"/>
            <p:nvPr/>
          </p:nvSpPr>
          <p:spPr>
            <a:xfrm>
              <a:off x="8596021" y="4969489"/>
              <a:ext cx="1403242" cy="338554"/>
            </a:xfrm>
            <a:prstGeom prst="rect">
              <a:avLst/>
            </a:prstGeom>
            <a:noFill/>
          </p:spPr>
          <p:txBody>
            <a:bodyPr wrap="square" rtlCol="0">
              <a:spAutoFit/>
            </a:bodyPr>
            <a:lstStyle/>
            <a:p>
              <a:r>
                <a:rPr lang="en-US" sz="1600" dirty="0"/>
                <a:t>Non-inverting</a:t>
              </a:r>
              <a:endParaRPr lang="en-US" sz="1600" baseline="-25000" dirty="0"/>
            </a:p>
          </p:txBody>
        </p:sp>
        <p:grpSp>
          <p:nvGrpSpPr>
            <p:cNvPr id="25" name="Group 13">
              <a:extLst>
                <a:ext uri="{FF2B5EF4-FFF2-40B4-BE49-F238E27FC236}">
                  <a16:creationId xmlns:a16="http://schemas.microsoft.com/office/drawing/2014/main" id="{6FCFA678-EE89-3EE4-F32B-BF8CA6852878}"/>
                </a:ext>
              </a:extLst>
            </p:cNvPr>
            <p:cNvGrpSpPr>
              <a:grpSpLocks noChangeAspect="1"/>
            </p:cNvGrpSpPr>
            <p:nvPr/>
          </p:nvGrpSpPr>
          <p:grpSpPr bwMode="auto">
            <a:xfrm>
              <a:off x="9672123" y="4061780"/>
              <a:ext cx="228600" cy="228600"/>
              <a:chOff x="1344" y="2064"/>
              <a:chExt cx="192" cy="192"/>
            </a:xfrm>
          </p:grpSpPr>
          <p:sp>
            <p:nvSpPr>
              <p:cNvPr id="26" name="Oval 14">
                <a:extLst>
                  <a:ext uri="{FF2B5EF4-FFF2-40B4-BE49-F238E27FC236}">
                    <a16:creationId xmlns:a16="http://schemas.microsoft.com/office/drawing/2014/main" id="{9E46DFB9-CD7D-344F-76D8-7016A82F3DC2}"/>
                  </a:ext>
                </a:extLst>
              </p:cNvPr>
              <p:cNvSpPr>
                <a:spLocks noChangeAspect="1" noChangeArrowheads="1"/>
              </p:cNvSpPr>
              <p:nvPr/>
            </p:nvSpPr>
            <p:spPr bwMode="auto">
              <a:xfrm>
                <a:off x="1360"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9" name="Rectangle 15">
                <a:extLst>
                  <a:ext uri="{FF2B5EF4-FFF2-40B4-BE49-F238E27FC236}">
                    <a16:creationId xmlns:a16="http://schemas.microsoft.com/office/drawing/2014/main" id="{2FFA4878-BBB7-0556-6999-71AA478A5423}"/>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spTree>
    <p:extLst>
      <p:ext uri="{BB962C8B-B14F-4D97-AF65-F5344CB8AC3E}">
        <p14:creationId xmlns:p14="http://schemas.microsoft.com/office/powerpoint/2010/main" val="1928236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877810" y="115646"/>
            <a:ext cx="10515600" cy="869909"/>
          </a:xfrm>
        </p:spPr>
        <p:txBody>
          <a:bodyPr/>
          <a:lstStyle/>
          <a:p>
            <a:pPr algn="ctr"/>
            <a:r>
              <a:rPr lang="en-US" dirty="0">
                <a:latin typeface="Calibri" panose="020F0502020204030204" pitchFamily="34" charset="0"/>
                <a:cs typeface="Calibri" panose="020F0502020204030204" pitchFamily="34" charset="0"/>
              </a:rPr>
              <a:t>Miscellaneous op amps</a:t>
            </a:r>
          </a:p>
        </p:txBody>
      </p:sp>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a:xfrm>
            <a:off x="9301381" y="6199524"/>
            <a:ext cx="2743200" cy="365125"/>
          </a:xfrm>
        </p:spPr>
        <p:txBody>
          <a:bodyPr/>
          <a:lstStyle/>
          <a:p>
            <a:fld id="{6B76BA51-8322-1A4D-B259-B74706370693}" type="slidenum">
              <a:rPr lang="en-US" smtClean="0"/>
              <a:t>59</a:t>
            </a:fld>
            <a:endParaRPr lang="en-US"/>
          </a:p>
        </p:txBody>
      </p:sp>
      <p:grpSp>
        <p:nvGrpSpPr>
          <p:cNvPr id="17" name="Group 16">
            <a:extLst>
              <a:ext uri="{FF2B5EF4-FFF2-40B4-BE49-F238E27FC236}">
                <a16:creationId xmlns:a16="http://schemas.microsoft.com/office/drawing/2014/main" id="{45FAAD32-4348-1B4C-A915-35A74AB9D719}"/>
              </a:ext>
            </a:extLst>
          </p:cNvPr>
          <p:cNvGrpSpPr/>
          <p:nvPr/>
        </p:nvGrpSpPr>
        <p:grpSpPr>
          <a:xfrm>
            <a:off x="265056" y="1312532"/>
            <a:ext cx="5068945" cy="3690533"/>
            <a:chOff x="332358" y="1199372"/>
            <a:chExt cx="5068945" cy="3690533"/>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7C48B11-3844-7749-8979-1E8121E27682}"/>
                    </a:ext>
                  </a:extLst>
                </p:cNvPr>
                <p:cNvSpPr txBox="1"/>
                <p:nvPr/>
              </p:nvSpPr>
              <p:spPr>
                <a:xfrm>
                  <a:off x="332358" y="4016140"/>
                  <a:ext cx="5068945" cy="873765"/>
                </a:xfrm>
                <a:prstGeom prst="rect">
                  <a:avLst/>
                </a:prstGeom>
                <a:noFill/>
              </p:spPr>
              <p:txBody>
                <a:bodyPr wrap="square" rtlCol="0">
                  <a:spAutoFit/>
                </a:bodyPr>
                <a:lstStyle/>
                <a:p>
                  <a:pPr marL="285750" indent="-285750" hangingPunct="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&gt;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2</m:t>
                          </m:r>
                        </m:sub>
                      </m:sSub>
                    </m:oMath>
                  </a14:m>
                  <a:endParaRPr lang="en-US" sz="2000" b="0" dirty="0"/>
                </a:p>
                <a:p>
                  <a:pPr marL="285750" indent="-285750" hangingPunct="0">
                    <a:buFont typeface="Arial" panose="020B0604020202020204" pitchFamily="34" charset="0"/>
                    <a:buChar char="•"/>
                  </a:pPr>
                  <a14:m>
                    <m:oMath xmlns:m="http://schemas.openxmlformats.org/officeDocument/2006/math">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𝑇ℎ</m:t>
                              </m:r>
                              <m:r>
                                <a:rPr lang="en-US" sz="2000" b="0" i="1" smtClean="0">
                                  <a:latin typeface="Cambria Math" panose="02040503050406030204" pitchFamily="18" charset="0"/>
                                </a:rPr>
                                <m:t>,+</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𝑇ℎ</m:t>
                              </m:r>
                              <m:r>
                                <a:rPr lang="en-US" sz="2000" b="0" i="1" smtClean="0">
                                  <a:latin typeface="Cambria Math" panose="02040503050406030204" pitchFamily="18" charset="0"/>
                                </a:rPr>
                                <m:t>,−</m:t>
                              </m:r>
                            </m:sub>
                          </m:sSub>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2</m:t>
                              </m:r>
                            </m:sub>
                          </m:sSub>
                        </m:num>
                        <m:den>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2</m:t>
                              </m:r>
                            </m:sub>
                          </m:sSub>
                        </m:den>
                      </m:f>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𝑠𝑎𝑡</m:t>
                          </m:r>
                          <m:r>
                            <a:rPr lang="en-US" sz="2000" b="0" i="1" smtClean="0">
                              <a:latin typeface="Cambria Math" panose="02040503050406030204" pitchFamily="18" charset="0"/>
                            </a:rPr>
                            <m:t>,+</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𝑠𝑎𝑡</m:t>
                          </m:r>
                          <m:r>
                            <a:rPr lang="en-US" sz="2000" b="0" i="1" smtClean="0">
                              <a:latin typeface="Cambria Math" panose="02040503050406030204" pitchFamily="18" charset="0"/>
                            </a:rPr>
                            <m:t>,−</m:t>
                          </m:r>
                        </m:sub>
                      </m:sSub>
                      <m:r>
                        <a:rPr lang="en-US" sz="2000" b="0" i="1" smtClean="0">
                          <a:latin typeface="Cambria Math" panose="02040503050406030204" pitchFamily="18" charset="0"/>
                        </a:rPr>
                        <m:t>)</m:t>
                      </m:r>
                    </m:oMath>
                  </a14:m>
                  <a:endParaRPr lang="en-US" sz="2000" dirty="0"/>
                </a:p>
              </p:txBody>
            </p:sp>
          </mc:Choice>
          <mc:Fallback xmlns="">
            <p:sp>
              <p:nvSpPr>
                <p:cNvPr id="3" name="TextBox 2">
                  <a:extLst>
                    <a:ext uri="{FF2B5EF4-FFF2-40B4-BE49-F238E27FC236}">
                      <a16:creationId xmlns:a16="http://schemas.microsoft.com/office/drawing/2014/main" id="{87C48B11-3844-7749-8979-1E8121E27682}"/>
                    </a:ext>
                  </a:extLst>
                </p:cNvPr>
                <p:cNvSpPr txBox="1">
                  <a:spLocks noRot="1" noChangeAspect="1" noMove="1" noResize="1" noEditPoints="1" noAdjustHandles="1" noChangeArrowheads="1" noChangeShapeType="1" noTextEdit="1"/>
                </p:cNvSpPr>
                <p:nvPr/>
              </p:nvSpPr>
              <p:spPr>
                <a:xfrm>
                  <a:off x="332358" y="4016140"/>
                  <a:ext cx="5068945" cy="873765"/>
                </a:xfrm>
                <a:prstGeom prst="rect">
                  <a:avLst/>
                </a:prstGeom>
                <a:blipFill>
                  <a:blip r:embed="rId2"/>
                  <a:stretch>
                    <a:fillRect l="-998"/>
                  </a:stretch>
                </a:blipFill>
              </p:spPr>
              <p:txBody>
                <a:bodyPr/>
                <a:lstStyle/>
                <a:p>
                  <a:r>
                    <a:rPr lang="en-US">
                      <a:noFill/>
                    </a:rPr>
                    <a:t> </a:t>
                  </a:r>
                </a:p>
              </p:txBody>
            </p:sp>
          </mc:Fallback>
        </mc:AlternateContent>
        <p:grpSp>
          <p:nvGrpSpPr>
            <p:cNvPr id="119" name="Group 39">
              <a:extLst>
                <a:ext uri="{FF2B5EF4-FFF2-40B4-BE49-F238E27FC236}">
                  <a16:creationId xmlns:a16="http://schemas.microsoft.com/office/drawing/2014/main" id="{910CA315-A32B-A549-9700-5C01DD078B15}"/>
                </a:ext>
              </a:extLst>
            </p:cNvPr>
            <p:cNvGrpSpPr>
              <a:grpSpLocks/>
            </p:cNvGrpSpPr>
            <p:nvPr/>
          </p:nvGrpSpPr>
          <p:grpSpPr bwMode="auto">
            <a:xfrm>
              <a:off x="1295400" y="1447800"/>
              <a:ext cx="1676400" cy="1371600"/>
              <a:chOff x="2496" y="1968"/>
              <a:chExt cx="1056" cy="864"/>
            </a:xfrm>
          </p:grpSpPr>
          <p:sp>
            <p:nvSpPr>
              <p:cNvPr id="123" name="Line 40">
                <a:extLst>
                  <a:ext uri="{FF2B5EF4-FFF2-40B4-BE49-F238E27FC236}">
                    <a16:creationId xmlns:a16="http://schemas.microsoft.com/office/drawing/2014/main" id="{6806CE39-12E8-8A4E-A028-B2FFC985EE6E}"/>
                  </a:ext>
                </a:extLst>
              </p:cNvPr>
              <p:cNvSpPr>
                <a:spLocks noChangeShapeType="1"/>
              </p:cNvSpPr>
              <p:nvPr/>
            </p:nvSpPr>
            <p:spPr bwMode="auto">
              <a:xfrm>
                <a:off x="2496" y="216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000"/>
              </a:p>
            </p:txBody>
          </p:sp>
          <p:sp>
            <p:nvSpPr>
              <p:cNvPr id="124" name="Line 41">
                <a:extLst>
                  <a:ext uri="{FF2B5EF4-FFF2-40B4-BE49-F238E27FC236}">
                    <a16:creationId xmlns:a16="http://schemas.microsoft.com/office/drawing/2014/main" id="{4DFB0A70-4AF3-C847-8B1A-5014587A969F}"/>
                  </a:ext>
                </a:extLst>
              </p:cNvPr>
              <p:cNvSpPr>
                <a:spLocks noChangeShapeType="1"/>
              </p:cNvSpPr>
              <p:nvPr/>
            </p:nvSpPr>
            <p:spPr bwMode="auto">
              <a:xfrm>
                <a:off x="2496" y="264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000"/>
              </a:p>
            </p:txBody>
          </p:sp>
          <p:sp>
            <p:nvSpPr>
              <p:cNvPr id="125" name="Line 42">
                <a:extLst>
                  <a:ext uri="{FF2B5EF4-FFF2-40B4-BE49-F238E27FC236}">
                    <a16:creationId xmlns:a16="http://schemas.microsoft.com/office/drawing/2014/main" id="{C3EF8FD0-55CC-6C4B-B1CA-C83A782EC40C}"/>
                  </a:ext>
                </a:extLst>
              </p:cNvPr>
              <p:cNvSpPr>
                <a:spLocks noChangeShapeType="1"/>
              </p:cNvSpPr>
              <p:nvPr/>
            </p:nvSpPr>
            <p:spPr bwMode="auto">
              <a:xfrm>
                <a:off x="3360" y="240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000"/>
              </a:p>
            </p:txBody>
          </p:sp>
          <p:sp>
            <p:nvSpPr>
              <p:cNvPr id="126" name="Freeform 43">
                <a:extLst>
                  <a:ext uri="{FF2B5EF4-FFF2-40B4-BE49-F238E27FC236}">
                    <a16:creationId xmlns:a16="http://schemas.microsoft.com/office/drawing/2014/main" id="{9ABBB442-AE8F-EA45-A73B-394D3098B98F}"/>
                  </a:ext>
                </a:extLst>
              </p:cNvPr>
              <p:cNvSpPr>
                <a:spLocks/>
              </p:cNvSpPr>
              <p:nvPr/>
            </p:nvSpPr>
            <p:spPr bwMode="auto">
              <a:xfrm>
                <a:off x="2688" y="1968"/>
                <a:ext cx="672" cy="864"/>
              </a:xfrm>
              <a:custGeom>
                <a:avLst/>
                <a:gdLst>
                  <a:gd name="T0" fmla="*/ 6120 w 432"/>
                  <a:gd name="T1" fmla="*/ 779 h 768"/>
                  <a:gd name="T2" fmla="*/ 0 w 432"/>
                  <a:gd name="T3" fmla="*/ 1558 h 768"/>
                  <a:gd name="T4" fmla="*/ 0 w 432"/>
                  <a:gd name="T5" fmla="*/ 0 h 768"/>
                  <a:gd name="T6" fmla="*/ 6120 w 432"/>
                  <a:gd name="T7" fmla="*/ 779 h 768"/>
                  <a:gd name="T8" fmla="*/ 0 60000 65536"/>
                  <a:gd name="T9" fmla="*/ 0 60000 65536"/>
                  <a:gd name="T10" fmla="*/ 0 60000 65536"/>
                  <a:gd name="T11" fmla="*/ 0 60000 65536"/>
                  <a:gd name="T12" fmla="*/ 0 w 432"/>
                  <a:gd name="T13" fmla="*/ 0 h 768"/>
                  <a:gd name="T14" fmla="*/ 432 w 432"/>
                  <a:gd name="T15" fmla="*/ 768 h 768"/>
                </a:gdLst>
                <a:ahLst/>
                <a:cxnLst>
                  <a:cxn ang="T8">
                    <a:pos x="T0" y="T1"/>
                  </a:cxn>
                  <a:cxn ang="T9">
                    <a:pos x="T2" y="T3"/>
                  </a:cxn>
                  <a:cxn ang="T10">
                    <a:pos x="T4" y="T5"/>
                  </a:cxn>
                  <a:cxn ang="T11">
                    <a:pos x="T6" y="T7"/>
                  </a:cxn>
                </a:cxnLst>
                <a:rect l="T12" t="T13" r="T14" b="T15"/>
                <a:pathLst>
                  <a:path w="432" h="768">
                    <a:moveTo>
                      <a:pt x="432" y="384"/>
                    </a:moveTo>
                    <a:lnTo>
                      <a:pt x="0" y="768"/>
                    </a:lnTo>
                    <a:lnTo>
                      <a:pt x="0" y="0"/>
                    </a:lnTo>
                    <a:lnTo>
                      <a:pt x="432" y="38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2000" dirty="0"/>
              </a:p>
            </p:txBody>
          </p:sp>
        </p:grpSp>
        <p:sp>
          <p:nvSpPr>
            <p:cNvPr id="151" name="Freeform 12">
              <a:extLst>
                <a:ext uri="{FF2B5EF4-FFF2-40B4-BE49-F238E27FC236}">
                  <a16:creationId xmlns:a16="http://schemas.microsoft.com/office/drawing/2014/main" id="{9F3CDE0F-68EF-7046-ADF9-E55354A7F820}"/>
                </a:ext>
              </a:extLst>
            </p:cNvPr>
            <p:cNvSpPr>
              <a:spLocks noChangeAspect="1"/>
            </p:cNvSpPr>
            <p:nvPr/>
          </p:nvSpPr>
          <p:spPr bwMode="auto">
            <a:xfrm>
              <a:off x="2758285" y="2141860"/>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2000"/>
            </a:p>
          </p:txBody>
        </p:sp>
        <p:sp>
          <p:nvSpPr>
            <p:cNvPr id="4" name="TextBox 3">
              <a:extLst>
                <a:ext uri="{FF2B5EF4-FFF2-40B4-BE49-F238E27FC236}">
                  <a16:creationId xmlns:a16="http://schemas.microsoft.com/office/drawing/2014/main" id="{4033ED9C-56D7-0848-A031-F855E9F57FAB}"/>
                </a:ext>
              </a:extLst>
            </p:cNvPr>
            <p:cNvSpPr txBox="1"/>
            <p:nvPr/>
          </p:nvSpPr>
          <p:spPr>
            <a:xfrm flipH="1">
              <a:off x="1597447" y="2299169"/>
              <a:ext cx="439757" cy="400110"/>
            </a:xfrm>
            <a:prstGeom prst="rect">
              <a:avLst/>
            </a:prstGeom>
            <a:noFill/>
          </p:spPr>
          <p:txBody>
            <a:bodyPr wrap="square" rtlCol="0">
              <a:spAutoFit/>
            </a:bodyPr>
            <a:lstStyle/>
            <a:p>
              <a:r>
                <a:rPr lang="en-US" sz="2000" dirty="0"/>
                <a:t>+</a:t>
              </a:r>
            </a:p>
          </p:txBody>
        </p:sp>
        <p:sp>
          <p:nvSpPr>
            <p:cNvPr id="152" name="TextBox 151">
              <a:extLst>
                <a:ext uri="{FF2B5EF4-FFF2-40B4-BE49-F238E27FC236}">
                  <a16:creationId xmlns:a16="http://schemas.microsoft.com/office/drawing/2014/main" id="{6BBE6D44-80B8-3747-8922-0495DB25CA49}"/>
                </a:ext>
              </a:extLst>
            </p:cNvPr>
            <p:cNvSpPr txBox="1"/>
            <p:nvPr/>
          </p:nvSpPr>
          <p:spPr>
            <a:xfrm flipH="1">
              <a:off x="1639677" y="1559202"/>
              <a:ext cx="439757" cy="400110"/>
            </a:xfrm>
            <a:prstGeom prst="rect">
              <a:avLst/>
            </a:prstGeom>
            <a:noFill/>
          </p:spPr>
          <p:txBody>
            <a:bodyPr wrap="square" rtlCol="0">
              <a:spAutoFit/>
            </a:bodyPr>
            <a:lstStyle/>
            <a:p>
              <a:r>
                <a:rPr lang="en-US" sz="2000" dirty="0"/>
                <a:t>-</a:t>
              </a:r>
            </a:p>
          </p:txBody>
        </p:sp>
        <p:sp>
          <p:nvSpPr>
            <p:cNvPr id="153" name="Freeform 12">
              <a:extLst>
                <a:ext uri="{FF2B5EF4-FFF2-40B4-BE49-F238E27FC236}">
                  <a16:creationId xmlns:a16="http://schemas.microsoft.com/office/drawing/2014/main" id="{F5D394A2-DB17-A04C-B32E-98062C637C60}"/>
                </a:ext>
              </a:extLst>
            </p:cNvPr>
            <p:cNvSpPr>
              <a:spLocks noChangeAspect="1"/>
            </p:cNvSpPr>
            <p:nvPr/>
          </p:nvSpPr>
          <p:spPr bwMode="auto">
            <a:xfrm>
              <a:off x="2756447" y="3187427"/>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2000"/>
            </a:p>
          </p:txBody>
        </p:sp>
        <p:grpSp>
          <p:nvGrpSpPr>
            <p:cNvPr id="154" name="Group 220">
              <a:extLst>
                <a:ext uri="{FF2B5EF4-FFF2-40B4-BE49-F238E27FC236}">
                  <a16:creationId xmlns:a16="http://schemas.microsoft.com/office/drawing/2014/main" id="{E1659353-3F2A-F94F-9A4E-96CDAE1F9BCD}"/>
                </a:ext>
              </a:extLst>
            </p:cNvPr>
            <p:cNvGrpSpPr>
              <a:grpSpLocks/>
            </p:cNvGrpSpPr>
            <p:nvPr/>
          </p:nvGrpSpPr>
          <p:grpSpPr bwMode="auto">
            <a:xfrm>
              <a:off x="2752531" y="3818460"/>
              <a:ext cx="152400" cy="304800"/>
              <a:chOff x="3264" y="3072"/>
              <a:chExt cx="96" cy="192"/>
            </a:xfrm>
          </p:grpSpPr>
          <p:sp>
            <p:nvSpPr>
              <p:cNvPr id="155" name="Line 17">
                <a:extLst>
                  <a:ext uri="{FF2B5EF4-FFF2-40B4-BE49-F238E27FC236}">
                    <a16:creationId xmlns:a16="http://schemas.microsoft.com/office/drawing/2014/main" id="{82A0D72E-C1B4-2F48-BEE6-AA2640F3DCEF}"/>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000"/>
              </a:p>
            </p:txBody>
          </p:sp>
          <p:sp>
            <p:nvSpPr>
              <p:cNvPr id="156" name="Freeform 18">
                <a:extLst>
                  <a:ext uri="{FF2B5EF4-FFF2-40B4-BE49-F238E27FC236}">
                    <a16:creationId xmlns:a16="http://schemas.microsoft.com/office/drawing/2014/main" id="{5DD5672D-C66A-E44C-B088-BEA7F5499951}"/>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2000"/>
              </a:p>
            </p:txBody>
          </p:sp>
        </p:grpSp>
        <p:sp>
          <p:nvSpPr>
            <p:cNvPr id="7" name="TextBox 6">
              <a:extLst>
                <a:ext uri="{FF2B5EF4-FFF2-40B4-BE49-F238E27FC236}">
                  <a16:creationId xmlns:a16="http://schemas.microsoft.com/office/drawing/2014/main" id="{76C015CA-237F-A849-9EE0-314B90B2D45F}"/>
                </a:ext>
              </a:extLst>
            </p:cNvPr>
            <p:cNvSpPr txBox="1"/>
            <p:nvPr/>
          </p:nvSpPr>
          <p:spPr>
            <a:xfrm>
              <a:off x="2324715" y="2329149"/>
              <a:ext cx="465208" cy="400110"/>
            </a:xfrm>
            <a:prstGeom prst="rect">
              <a:avLst/>
            </a:prstGeom>
            <a:noFill/>
          </p:spPr>
          <p:txBody>
            <a:bodyPr wrap="square" rtlCol="0">
              <a:spAutoFit/>
            </a:bodyPr>
            <a:lstStyle/>
            <a:p>
              <a:r>
                <a:rPr lang="en-US" sz="2000" dirty="0"/>
                <a:t>R</a:t>
              </a:r>
              <a:r>
                <a:rPr lang="en-US" sz="2000" baseline="-25000" dirty="0"/>
                <a:t>1</a:t>
              </a:r>
            </a:p>
          </p:txBody>
        </p:sp>
        <p:sp>
          <p:nvSpPr>
            <p:cNvPr id="157" name="TextBox 156">
              <a:extLst>
                <a:ext uri="{FF2B5EF4-FFF2-40B4-BE49-F238E27FC236}">
                  <a16:creationId xmlns:a16="http://schemas.microsoft.com/office/drawing/2014/main" id="{52E0FE9D-0380-1D4B-BD89-25D87A67E134}"/>
                </a:ext>
              </a:extLst>
            </p:cNvPr>
            <p:cNvSpPr txBox="1"/>
            <p:nvPr/>
          </p:nvSpPr>
          <p:spPr>
            <a:xfrm>
              <a:off x="2875642" y="3345973"/>
              <a:ext cx="518416" cy="400110"/>
            </a:xfrm>
            <a:prstGeom prst="rect">
              <a:avLst/>
            </a:prstGeom>
            <a:noFill/>
          </p:spPr>
          <p:txBody>
            <a:bodyPr wrap="square" rtlCol="0">
              <a:spAutoFit/>
            </a:bodyPr>
            <a:lstStyle/>
            <a:p>
              <a:r>
                <a:rPr lang="en-US" sz="2000" dirty="0"/>
                <a:t>R</a:t>
              </a:r>
              <a:r>
                <a:rPr lang="en-US" sz="2000" baseline="-25000" dirty="0"/>
                <a:t>2</a:t>
              </a:r>
            </a:p>
          </p:txBody>
        </p:sp>
        <p:cxnSp>
          <p:nvCxnSpPr>
            <p:cNvPr id="10" name="Straight Connector 9">
              <a:extLst>
                <a:ext uri="{FF2B5EF4-FFF2-40B4-BE49-F238E27FC236}">
                  <a16:creationId xmlns:a16="http://schemas.microsoft.com/office/drawing/2014/main" id="{0103FC3C-886A-0C4B-BB28-A7295BB97192}"/>
                </a:ext>
              </a:extLst>
            </p:cNvPr>
            <p:cNvCxnSpPr>
              <a:cxnSpLocks/>
            </p:cNvCxnSpPr>
            <p:nvPr/>
          </p:nvCxnSpPr>
          <p:spPr>
            <a:xfrm>
              <a:off x="1306693" y="3054426"/>
              <a:ext cx="152298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27A90A03-1271-CA47-8997-6C85FED96F19}"/>
                </a:ext>
              </a:extLst>
            </p:cNvPr>
            <p:cNvCxnSpPr>
              <a:cxnSpLocks/>
            </p:cNvCxnSpPr>
            <p:nvPr/>
          </p:nvCxnSpPr>
          <p:spPr>
            <a:xfrm flipV="1">
              <a:off x="2828731" y="2819400"/>
              <a:ext cx="0" cy="5497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323AE2BA-FD29-074E-A9B2-EBD8EFEAD468}"/>
                </a:ext>
              </a:extLst>
            </p:cNvPr>
            <p:cNvCxnSpPr>
              <a:cxnSpLocks/>
            </p:cNvCxnSpPr>
            <p:nvPr/>
          </p:nvCxnSpPr>
          <p:spPr>
            <a:xfrm>
              <a:off x="1295915" y="2509159"/>
              <a:ext cx="0" cy="5486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2" name="Group 13">
              <a:extLst>
                <a:ext uri="{FF2B5EF4-FFF2-40B4-BE49-F238E27FC236}">
                  <a16:creationId xmlns:a16="http://schemas.microsoft.com/office/drawing/2014/main" id="{552B6F2E-0231-B540-9741-08657CCD5614}"/>
                </a:ext>
              </a:extLst>
            </p:cNvPr>
            <p:cNvGrpSpPr>
              <a:grpSpLocks noChangeAspect="1"/>
            </p:cNvGrpSpPr>
            <p:nvPr/>
          </p:nvGrpSpPr>
          <p:grpSpPr bwMode="auto">
            <a:xfrm>
              <a:off x="2752531" y="2984806"/>
              <a:ext cx="152400" cy="152400"/>
              <a:chOff x="1344" y="2064"/>
              <a:chExt cx="192" cy="192"/>
            </a:xfrm>
          </p:grpSpPr>
          <p:sp>
            <p:nvSpPr>
              <p:cNvPr id="163" name="Oval 14">
                <a:extLst>
                  <a:ext uri="{FF2B5EF4-FFF2-40B4-BE49-F238E27FC236}">
                    <a16:creationId xmlns:a16="http://schemas.microsoft.com/office/drawing/2014/main" id="{21AEE6BA-8A78-8246-98F6-9B15ABB210C1}"/>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sz="2000"/>
              </a:p>
            </p:txBody>
          </p:sp>
          <p:sp>
            <p:nvSpPr>
              <p:cNvPr id="164" name="Rectangle 15">
                <a:extLst>
                  <a:ext uri="{FF2B5EF4-FFF2-40B4-BE49-F238E27FC236}">
                    <a16:creationId xmlns:a16="http://schemas.microsoft.com/office/drawing/2014/main" id="{2E63C5B7-83B2-6D44-B0A7-2463465EF981}"/>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sz="2000"/>
              </a:p>
            </p:txBody>
          </p:sp>
        </p:grpSp>
        <p:grpSp>
          <p:nvGrpSpPr>
            <p:cNvPr id="165" name="Group 13">
              <a:extLst>
                <a:ext uri="{FF2B5EF4-FFF2-40B4-BE49-F238E27FC236}">
                  <a16:creationId xmlns:a16="http://schemas.microsoft.com/office/drawing/2014/main" id="{B5475CC6-954F-844D-9C9A-2F06C4BECFC7}"/>
                </a:ext>
              </a:extLst>
            </p:cNvPr>
            <p:cNvGrpSpPr>
              <a:grpSpLocks noChangeAspect="1"/>
            </p:cNvGrpSpPr>
            <p:nvPr/>
          </p:nvGrpSpPr>
          <p:grpSpPr bwMode="auto">
            <a:xfrm>
              <a:off x="2904931" y="2063781"/>
              <a:ext cx="152400" cy="152400"/>
              <a:chOff x="1344" y="2064"/>
              <a:chExt cx="192" cy="192"/>
            </a:xfrm>
          </p:grpSpPr>
          <p:sp>
            <p:nvSpPr>
              <p:cNvPr id="166" name="Oval 14">
                <a:extLst>
                  <a:ext uri="{FF2B5EF4-FFF2-40B4-BE49-F238E27FC236}">
                    <a16:creationId xmlns:a16="http://schemas.microsoft.com/office/drawing/2014/main" id="{397C7A1C-CF34-924F-A4D1-ACEBE73735CA}"/>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sz="2000"/>
              </a:p>
            </p:txBody>
          </p:sp>
          <p:sp>
            <p:nvSpPr>
              <p:cNvPr id="167" name="Rectangle 15">
                <a:extLst>
                  <a:ext uri="{FF2B5EF4-FFF2-40B4-BE49-F238E27FC236}">
                    <a16:creationId xmlns:a16="http://schemas.microsoft.com/office/drawing/2014/main" id="{78492618-0AF8-F640-9AC6-2FC58E17B06D}"/>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sz="2000"/>
              </a:p>
            </p:txBody>
          </p:sp>
        </p:grpSp>
        <p:grpSp>
          <p:nvGrpSpPr>
            <p:cNvPr id="174" name="Group 13">
              <a:extLst>
                <a:ext uri="{FF2B5EF4-FFF2-40B4-BE49-F238E27FC236}">
                  <a16:creationId xmlns:a16="http://schemas.microsoft.com/office/drawing/2014/main" id="{7B886215-07D3-AC4A-A9CC-0AE2F7683249}"/>
                </a:ext>
              </a:extLst>
            </p:cNvPr>
            <p:cNvGrpSpPr>
              <a:grpSpLocks noChangeAspect="1"/>
            </p:cNvGrpSpPr>
            <p:nvPr/>
          </p:nvGrpSpPr>
          <p:grpSpPr bwMode="auto">
            <a:xfrm>
              <a:off x="1188772" y="1686094"/>
              <a:ext cx="152400" cy="152400"/>
              <a:chOff x="1344" y="2064"/>
              <a:chExt cx="192" cy="192"/>
            </a:xfrm>
          </p:grpSpPr>
          <p:sp>
            <p:nvSpPr>
              <p:cNvPr id="175" name="Oval 14">
                <a:extLst>
                  <a:ext uri="{FF2B5EF4-FFF2-40B4-BE49-F238E27FC236}">
                    <a16:creationId xmlns:a16="http://schemas.microsoft.com/office/drawing/2014/main" id="{C6F9D0E9-831A-0442-A432-049AA1D698D4}"/>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sz="2000"/>
              </a:p>
            </p:txBody>
          </p:sp>
          <p:sp>
            <p:nvSpPr>
              <p:cNvPr id="176" name="Rectangle 15">
                <a:extLst>
                  <a:ext uri="{FF2B5EF4-FFF2-40B4-BE49-F238E27FC236}">
                    <a16:creationId xmlns:a16="http://schemas.microsoft.com/office/drawing/2014/main" id="{ECA039D2-CCFD-8C43-872D-511219C21572}"/>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sz="2000"/>
              </a:p>
            </p:txBody>
          </p:sp>
        </p:grpSp>
        <p:sp>
          <p:nvSpPr>
            <p:cNvPr id="16" name="TextBox 15">
              <a:extLst>
                <a:ext uri="{FF2B5EF4-FFF2-40B4-BE49-F238E27FC236}">
                  <a16:creationId xmlns:a16="http://schemas.microsoft.com/office/drawing/2014/main" id="{0917638E-87FD-3D49-BD74-9B8179643D9D}"/>
                </a:ext>
              </a:extLst>
            </p:cNvPr>
            <p:cNvSpPr txBox="1"/>
            <p:nvPr/>
          </p:nvSpPr>
          <p:spPr>
            <a:xfrm>
              <a:off x="775097" y="1581779"/>
              <a:ext cx="458780" cy="400110"/>
            </a:xfrm>
            <a:prstGeom prst="rect">
              <a:avLst/>
            </a:prstGeom>
            <a:noFill/>
          </p:spPr>
          <p:txBody>
            <a:bodyPr wrap="none" rtlCol="0">
              <a:spAutoFit/>
            </a:bodyPr>
            <a:lstStyle/>
            <a:p>
              <a:r>
                <a:rPr lang="en-US" sz="2000" dirty="0"/>
                <a:t>V</a:t>
              </a:r>
              <a:r>
                <a:rPr lang="en-US" sz="2000" baseline="-25000" dirty="0"/>
                <a:t>in</a:t>
              </a:r>
            </a:p>
          </p:txBody>
        </p:sp>
        <p:sp>
          <p:nvSpPr>
            <p:cNvPr id="177" name="TextBox 176">
              <a:extLst>
                <a:ext uri="{FF2B5EF4-FFF2-40B4-BE49-F238E27FC236}">
                  <a16:creationId xmlns:a16="http://schemas.microsoft.com/office/drawing/2014/main" id="{680D7F7E-85FB-3F47-A7D6-08095452DBE7}"/>
                </a:ext>
              </a:extLst>
            </p:cNvPr>
            <p:cNvSpPr txBox="1"/>
            <p:nvPr/>
          </p:nvSpPr>
          <p:spPr>
            <a:xfrm>
              <a:off x="2663535" y="1694423"/>
              <a:ext cx="557012" cy="400110"/>
            </a:xfrm>
            <a:prstGeom prst="rect">
              <a:avLst/>
            </a:prstGeom>
            <a:noFill/>
          </p:spPr>
          <p:txBody>
            <a:bodyPr wrap="none" rtlCol="0">
              <a:spAutoFit/>
            </a:bodyPr>
            <a:lstStyle/>
            <a:p>
              <a:r>
                <a:rPr lang="en-US" sz="2000" dirty="0" err="1"/>
                <a:t>V</a:t>
              </a:r>
              <a:r>
                <a:rPr lang="en-US" sz="2000" baseline="-25000" dirty="0" err="1"/>
                <a:t>out</a:t>
              </a:r>
              <a:endParaRPr lang="en-US" sz="2000" baseline="-25000" dirty="0"/>
            </a:p>
          </p:txBody>
        </p:sp>
        <p:sp>
          <p:nvSpPr>
            <p:cNvPr id="179" name="TextBox 178">
              <a:extLst>
                <a:ext uri="{FF2B5EF4-FFF2-40B4-BE49-F238E27FC236}">
                  <a16:creationId xmlns:a16="http://schemas.microsoft.com/office/drawing/2014/main" id="{4AAED862-24AE-674F-BF88-3048631E0A9B}"/>
                </a:ext>
              </a:extLst>
            </p:cNvPr>
            <p:cNvSpPr txBox="1"/>
            <p:nvPr/>
          </p:nvSpPr>
          <p:spPr>
            <a:xfrm>
              <a:off x="1811495" y="1199372"/>
              <a:ext cx="1802296" cy="400110"/>
            </a:xfrm>
            <a:prstGeom prst="rect">
              <a:avLst/>
            </a:prstGeom>
            <a:noFill/>
          </p:spPr>
          <p:txBody>
            <a:bodyPr wrap="square" rtlCol="0">
              <a:spAutoFit/>
            </a:bodyPr>
            <a:lstStyle/>
            <a:p>
              <a:r>
                <a:rPr lang="en-US" sz="2000" dirty="0"/>
                <a:t>Schmidt trigger</a:t>
              </a:r>
            </a:p>
          </p:txBody>
        </p:sp>
      </p:grpSp>
      <p:grpSp>
        <p:nvGrpSpPr>
          <p:cNvPr id="6" name="Group 5">
            <a:extLst>
              <a:ext uri="{FF2B5EF4-FFF2-40B4-BE49-F238E27FC236}">
                <a16:creationId xmlns:a16="http://schemas.microsoft.com/office/drawing/2014/main" id="{FCC5FB5B-81D0-3845-8B25-96F7FA3293E6}"/>
              </a:ext>
            </a:extLst>
          </p:cNvPr>
          <p:cNvGrpSpPr/>
          <p:nvPr/>
        </p:nvGrpSpPr>
        <p:grpSpPr>
          <a:xfrm>
            <a:off x="8210877" y="1312532"/>
            <a:ext cx="3260267" cy="2364922"/>
            <a:chOff x="7507596" y="1855142"/>
            <a:chExt cx="3260267" cy="2364922"/>
          </a:xfrm>
        </p:grpSpPr>
        <p:sp>
          <p:nvSpPr>
            <p:cNvPr id="117" name="TextBox 116">
              <a:extLst>
                <a:ext uri="{FF2B5EF4-FFF2-40B4-BE49-F238E27FC236}">
                  <a16:creationId xmlns:a16="http://schemas.microsoft.com/office/drawing/2014/main" id="{66FEDDF5-685E-624D-A591-67261B1C5809}"/>
                </a:ext>
              </a:extLst>
            </p:cNvPr>
            <p:cNvSpPr txBox="1"/>
            <p:nvPr/>
          </p:nvSpPr>
          <p:spPr>
            <a:xfrm>
              <a:off x="8965567" y="1855142"/>
              <a:ext cx="1802296" cy="369332"/>
            </a:xfrm>
            <a:prstGeom prst="rect">
              <a:avLst/>
            </a:prstGeom>
            <a:noFill/>
          </p:spPr>
          <p:txBody>
            <a:bodyPr wrap="square" rtlCol="0">
              <a:spAutoFit/>
            </a:bodyPr>
            <a:lstStyle/>
            <a:p>
              <a:r>
                <a:rPr lang="en-US" dirty="0"/>
                <a:t>Smoothing</a:t>
              </a:r>
            </a:p>
          </p:txBody>
        </p:sp>
        <p:grpSp>
          <p:nvGrpSpPr>
            <p:cNvPr id="128" name="Group 218">
              <a:extLst>
                <a:ext uri="{FF2B5EF4-FFF2-40B4-BE49-F238E27FC236}">
                  <a16:creationId xmlns:a16="http://schemas.microsoft.com/office/drawing/2014/main" id="{499A62B1-2CCD-8941-BDB1-9BB3566C1BF2}"/>
                </a:ext>
              </a:extLst>
            </p:cNvPr>
            <p:cNvGrpSpPr>
              <a:grpSpLocks/>
            </p:cNvGrpSpPr>
            <p:nvPr/>
          </p:nvGrpSpPr>
          <p:grpSpPr bwMode="auto">
            <a:xfrm rot="2700000">
              <a:off x="8382000" y="2057400"/>
              <a:ext cx="152400" cy="762000"/>
              <a:chOff x="5280" y="1200"/>
              <a:chExt cx="96" cy="480"/>
            </a:xfrm>
          </p:grpSpPr>
          <p:sp>
            <p:nvSpPr>
              <p:cNvPr id="129" name="Line 106">
                <a:extLst>
                  <a:ext uri="{FF2B5EF4-FFF2-40B4-BE49-F238E27FC236}">
                    <a16:creationId xmlns:a16="http://schemas.microsoft.com/office/drawing/2014/main" id="{F0A0C22C-0F99-B94D-AEB6-A43CD56636B5}"/>
                  </a:ext>
                </a:extLst>
              </p:cNvPr>
              <p:cNvSpPr>
                <a:spLocks noChangeAspect="1" noChangeShapeType="1"/>
              </p:cNvSpPr>
              <p:nvPr/>
            </p:nvSpPr>
            <p:spPr bwMode="auto">
              <a:xfrm>
                <a:off x="5328" y="1200"/>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 name="Line 107">
                <a:extLst>
                  <a:ext uri="{FF2B5EF4-FFF2-40B4-BE49-F238E27FC236}">
                    <a16:creationId xmlns:a16="http://schemas.microsoft.com/office/drawing/2014/main" id="{2B871C27-2977-DE41-8626-F44F7992EAF8}"/>
                  </a:ext>
                </a:extLst>
              </p:cNvPr>
              <p:cNvSpPr>
                <a:spLocks noChangeAspect="1" noChangeShapeType="1"/>
              </p:cNvSpPr>
              <p:nvPr/>
            </p:nvSpPr>
            <p:spPr bwMode="auto">
              <a:xfrm>
                <a:off x="5280" y="1392"/>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1" name="Freeform 108">
                <a:extLst>
                  <a:ext uri="{FF2B5EF4-FFF2-40B4-BE49-F238E27FC236}">
                    <a16:creationId xmlns:a16="http://schemas.microsoft.com/office/drawing/2014/main" id="{98414D0C-86D5-0F4C-8A53-F71A11397B35}"/>
                  </a:ext>
                </a:extLst>
              </p:cNvPr>
              <p:cNvSpPr>
                <a:spLocks noChangeAspect="1"/>
              </p:cNvSpPr>
              <p:nvPr/>
            </p:nvSpPr>
            <p:spPr bwMode="auto">
              <a:xfrm>
                <a:off x="5280" y="1392"/>
                <a:ext cx="96" cy="96"/>
              </a:xfrm>
              <a:custGeom>
                <a:avLst/>
                <a:gdLst>
                  <a:gd name="T0" fmla="*/ 0 w 288"/>
                  <a:gd name="T1" fmla="*/ 0 h 240"/>
                  <a:gd name="T2" fmla="*/ 0 w 288"/>
                  <a:gd name="T3" fmla="*/ 1 h 240"/>
                  <a:gd name="T4" fmla="*/ 0 w 288"/>
                  <a:gd name="T5" fmla="*/ 1 h 240"/>
                  <a:gd name="T6" fmla="*/ 0 w 288"/>
                  <a:gd name="T7" fmla="*/ 0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144" y="0"/>
                    </a:moveTo>
                    <a:lnTo>
                      <a:pt x="0" y="240"/>
                    </a:lnTo>
                    <a:lnTo>
                      <a:pt x="288" y="240"/>
                    </a:lnTo>
                    <a:lnTo>
                      <a:pt x="144" y="0"/>
                    </a:lnTo>
                    <a:close/>
                  </a:path>
                </a:pathLst>
              </a:custGeom>
              <a:solidFill>
                <a:schemeClr val="tx1"/>
              </a:solidFill>
              <a:ln w="25400">
                <a:solidFill>
                  <a:schemeClr val="tx1"/>
                </a:solidFill>
                <a:round/>
                <a:headEnd/>
                <a:tailEnd/>
              </a:ln>
            </p:spPr>
            <p:txBody>
              <a:bodyPr/>
              <a:lstStyle/>
              <a:p>
                <a:endParaRPr lang="en-US"/>
              </a:p>
            </p:txBody>
          </p:sp>
          <p:sp>
            <p:nvSpPr>
              <p:cNvPr id="132" name="Line 109">
                <a:extLst>
                  <a:ext uri="{FF2B5EF4-FFF2-40B4-BE49-F238E27FC236}">
                    <a16:creationId xmlns:a16="http://schemas.microsoft.com/office/drawing/2014/main" id="{3CCB61BB-2831-0549-BB8B-A43C274DB3A8}"/>
                  </a:ext>
                </a:extLst>
              </p:cNvPr>
              <p:cNvSpPr>
                <a:spLocks noChangeAspect="1" noChangeShapeType="1"/>
              </p:cNvSpPr>
              <p:nvPr/>
            </p:nvSpPr>
            <p:spPr bwMode="auto">
              <a:xfrm>
                <a:off x="5328" y="1488"/>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36" name="Group 13">
              <a:extLst>
                <a:ext uri="{FF2B5EF4-FFF2-40B4-BE49-F238E27FC236}">
                  <a16:creationId xmlns:a16="http://schemas.microsoft.com/office/drawing/2014/main" id="{C237DEB9-447D-2C48-897E-34D428C7EB2D}"/>
                </a:ext>
              </a:extLst>
            </p:cNvPr>
            <p:cNvGrpSpPr>
              <a:grpSpLocks noChangeAspect="1"/>
            </p:cNvGrpSpPr>
            <p:nvPr/>
          </p:nvGrpSpPr>
          <p:grpSpPr bwMode="auto">
            <a:xfrm>
              <a:off x="8122096" y="2608340"/>
              <a:ext cx="152400" cy="152400"/>
              <a:chOff x="1344" y="2064"/>
              <a:chExt cx="192" cy="192"/>
            </a:xfrm>
          </p:grpSpPr>
          <p:sp>
            <p:nvSpPr>
              <p:cNvPr id="139" name="Oval 14">
                <a:extLst>
                  <a:ext uri="{FF2B5EF4-FFF2-40B4-BE49-F238E27FC236}">
                    <a16:creationId xmlns:a16="http://schemas.microsoft.com/office/drawing/2014/main" id="{07B14FF2-D8A1-4348-B3CA-84DD13E9466C}"/>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40" name="Rectangle 15">
                <a:extLst>
                  <a:ext uri="{FF2B5EF4-FFF2-40B4-BE49-F238E27FC236}">
                    <a16:creationId xmlns:a16="http://schemas.microsoft.com/office/drawing/2014/main" id="{277C24AD-ECD0-AF40-A0FA-E649B47DFD38}"/>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41" name="Group 210">
              <a:extLst>
                <a:ext uri="{FF2B5EF4-FFF2-40B4-BE49-F238E27FC236}">
                  <a16:creationId xmlns:a16="http://schemas.microsoft.com/office/drawing/2014/main" id="{7745CB22-A452-894F-A0DA-B12EF7A36030}"/>
                </a:ext>
              </a:extLst>
            </p:cNvPr>
            <p:cNvGrpSpPr>
              <a:grpSpLocks/>
            </p:cNvGrpSpPr>
            <p:nvPr/>
          </p:nvGrpSpPr>
          <p:grpSpPr bwMode="auto">
            <a:xfrm>
              <a:off x="9445721" y="2684540"/>
              <a:ext cx="304800" cy="762000"/>
              <a:chOff x="3216" y="1728"/>
              <a:chExt cx="192" cy="480"/>
            </a:xfrm>
          </p:grpSpPr>
          <p:sp>
            <p:nvSpPr>
              <p:cNvPr id="142" name="Line 8">
                <a:extLst>
                  <a:ext uri="{FF2B5EF4-FFF2-40B4-BE49-F238E27FC236}">
                    <a16:creationId xmlns:a16="http://schemas.microsoft.com/office/drawing/2014/main" id="{39FBEFD6-B2C1-5442-AD16-018584C25F4D}"/>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 name="Line 9">
                <a:extLst>
                  <a:ext uri="{FF2B5EF4-FFF2-40B4-BE49-F238E27FC236}">
                    <a16:creationId xmlns:a16="http://schemas.microsoft.com/office/drawing/2014/main" id="{32A5C8D9-5DD6-7040-8D0B-D8B0C4E150C5}"/>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5" name="Line 10">
                <a:extLst>
                  <a:ext uri="{FF2B5EF4-FFF2-40B4-BE49-F238E27FC236}">
                    <a16:creationId xmlns:a16="http://schemas.microsoft.com/office/drawing/2014/main" id="{3053DA63-1B6B-834C-BE82-674E4502C591}"/>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6" name="Line 11">
                <a:extLst>
                  <a:ext uri="{FF2B5EF4-FFF2-40B4-BE49-F238E27FC236}">
                    <a16:creationId xmlns:a16="http://schemas.microsoft.com/office/drawing/2014/main" id="{18D03239-6FB1-F54F-A910-F8255E5738D1}"/>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50" name="Freeform 12">
              <a:extLst>
                <a:ext uri="{FF2B5EF4-FFF2-40B4-BE49-F238E27FC236}">
                  <a16:creationId xmlns:a16="http://schemas.microsoft.com/office/drawing/2014/main" id="{AB55BD32-9336-0547-B707-E1E55C00425E}"/>
                </a:ext>
              </a:extLst>
            </p:cNvPr>
            <p:cNvSpPr>
              <a:spLocks noChangeAspect="1"/>
            </p:cNvSpPr>
            <p:nvPr/>
          </p:nvSpPr>
          <p:spPr bwMode="auto">
            <a:xfrm>
              <a:off x="9978890" y="2686878"/>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158" name="Straight Connector 157">
              <a:extLst>
                <a:ext uri="{FF2B5EF4-FFF2-40B4-BE49-F238E27FC236}">
                  <a16:creationId xmlns:a16="http://schemas.microsoft.com/office/drawing/2014/main" id="{742B799F-54D0-E845-81A0-325904C7AC7C}"/>
                </a:ext>
              </a:extLst>
            </p:cNvPr>
            <p:cNvCxnSpPr/>
            <p:nvPr/>
          </p:nvCxnSpPr>
          <p:spPr>
            <a:xfrm>
              <a:off x="7587222" y="2171354"/>
              <a:ext cx="113473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0" name="TextBox 179">
                  <a:extLst>
                    <a:ext uri="{FF2B5EF4-FFF2-40B4-BE49-F238E27FC236}">
                      <a16:creationId xmlns:a16="http://schemas.microsoft.com/office/drawing/2014/main" id="{79AB1E9C-67C5-6946-9CBD-8DEB55904A7C}"/>
                    </a:ext>
                  </a:extLst>
                </p:cNvPr>
                <p:cNvSpPr txBox="1"/>
                <p:nvPr/>
              </p:nvSpPr>
              <p:spPr>
                <a:xfrm>
                  <a:off x="7507596" y="3703256"/>
                  <a:ext cx="2915242" cy="516808"/>
                </a:xfrm>
                <a:prstGeom prst="rect">
                  <a:avLst/>
                </a:prstGeom>
                <a:noFill/>
              </p:spPr>
              <p:txBody>
                <a:bodyPr wrap="square" rtlCol="0">
                  <a:spAutoFit/>
                </a:bodyPr>
                <a:lstStyle/>
                <a:p>
                  <a:pPr marL="285750" indent="-285750" hangingPunct="0">
                    <a:buFont typeface="Arial" panose="020B0604020202020204" pitchFamily="34" charset="0"/>
                    <a:buChar char="•"/>
                  </a:pPr>
                  <a14:m>
                    <m:oMath xmlns:m="http://schemas.openxmlformats.org/officeDocument/2006/math">
                      <m:r>
                        <a:rPr lang="en-US" i="1" smtClean="0">
                          <a:latin typeface="Cambria Math" panose="02040503050406030204" pitchFamily="18" charset="0"/>
                        </a:rPr>
                        <m:t>𝑅</m:t>
                      </m:r>
                      <m:r>
                        <a:rPr lang="en-US" b="0" i="1" smtClean="0">
                          <a:latin typeface="Cambria Math" panose="02040503050406030204" pitchFamily="18" charset="0"/>
                        </a:rPr>
                        <m:t>𝐶</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10</m:t>
                          </m:r>
                        </m:num>
                        <m:den>
                          <m:r>
                            <a:rPr lang="en-US" b="0" i="1" smtClean="0">
                              <a:latin typeface="Cambria Math" panose="02040503050406030204" pitchFamily="18" charset="0"/>
                            </a:rPr>
                            <m:t>𝑓</m:t>
                          </m:r>
                        </m:den>
                      </m:f>
                    </m:oMath>
                  </a14:m>
                  <a:endParaRPr lang="en-US" dirty="0"/>
                </a:p>
              </p:txBody>
            </p:sp>
          </mc:Choice>
          <mc:Fallback xmlns="">
            <p:sp>
              <p:nvSpPr>
                <p:cNvPr id="180" name="TextBox 179">
                  <a:extLst>
                    <a:ext uri="{FF2B5EF4-FFF2-40B4-BE49-F238E27FC236}">
                      <a16:creationId xmlns:a16="http://schemas.microsoft.com/office/drawing/2014/main" id="{79AB1E9C-67C5-6946-9CBD-8DEB55904A7C}"/>
                    </a:ext>
                  </a:extLst>
                </p:cNvPr>
                <p:cNvSpPr txBox="1">
                  <a:spLocks noRot="1" noChangeAspect="1" noMove="1" noResize="1" noEditPoints="1" noAdjustHandles="1" noChangeArrowheads="1" noChangeShapeType="1" noTextEdit="1"/>
                </p:cNvSpPr>
                <p:nvPr/>
              </p:nvSpPr>
              <p:spPr>
                <a:xfrm>
                  <a:off x="7507596" y="3703256"/>
                  <a:ext cx="2915242" cy="516808"/>
                </a:xfrm>
                <a:prstGeom prst="rect">
                  <a:avLst/>
                </a:prstGeom>
                <a:blipFill>
                  <a:blip r:embed="rId3"/>
                  <a:stretch>
                    <a:fillRect l="-1304" b="-2381"/>
                  </a:stretch>
                </a:blipFill>
              </p:spPr>
              <p:txBody>
                <a:bodyPr/>
                <a:lstStyle/>
                <a:p>
                  <a:r>
                    <a:rPr lang="en-US">
                      <a:noFill/>
                    </a:rPr>
                    <a:t> </a:t>
                  </a:r>
                </a:p>
              </p:txBody>
            </p:sp>
          </mc:Fallback>
        </mc:AlternateContent>
        <p:grpSp>
          <p:nvGrpSpPr>
            <p:cNvPr id="194" name="Group 218">
              <a:extLst>
                <a:ext uri="{FF2B5EF4-FFF2-40B4-BE49-F238E27FC236}">
                  <a16:creationId xmlns:a16="http://schemas.microsoft.com/office/drawing/2014/main" id="{3C71CF0A-6004-7F4F-9423-615DA1C46B7E}"/>
                </a:ext>
              </a:extLst>
            </p:cNvPr>
            <p:cNvGrpSpPr>
              <a:grpSpLocks/>
            </p:cNvGrpSpPr>
            <p:nvPr/>
          </p:nvGrpSpPr>
          <p:grpSpPr bwMode="auto">
            <a:xfrm rot="8100000">
              <a:off x="8388742" y="2584183"/>
              <a:ext cx="152400" cy="762000"/>
              <a:chOff x="5280" y="1200"/>
              <a:chExt cx="96" cy="480"/>
            </a:xfrm>
          </p:grpSpPr>
          <p:sp>
            <p:nvSpPr>
              <p:cNvPr id="195" name="Line 106">
                <a:extLst>
                  <a:ext uri="{FF2B5EF4-FFF2-40B4-BE49-F238E27FC236}">
                    <a16:creationId xmlns:a16="http://schemas.microsoft.com/office/drawing/2014/main" id="{D073A082-C8EC-164A-A347-C608EA46C552}"/>
                  </a:ext>
                </a:extLst>
              </p:cNvPr>
              <p:cNvSpPr>
                <a:spLocks noChangeAspect="1" noChangeShapeType="1"/>
              </p:cNvSpPr>
              <p:nvPr/>
            </p:nvSpPr>
            <p:spPr bwMode="auto">
              <a:xfrm>
                <a:off x="5328" y="1200"/>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 name="Line 107">
                <a:extLst>
                  <a:ext uri="{FF2B5EF4-FFF2-40B4-BE49-F238E27FC236}">
                    <a16:creationId xmlns:a16="http://schemas.microsoft.com/office/drawing/2014/main" id="{A15DBA08-EE36-D445-A681-36ACB20BB348}"/>
                  </a:ext>
                </a:extLst>
              </p:cNvPr>
              <p:cNvSpPr>
                <a:spLocks noChangeAspect="1" noChangeShapeType="1"/>
              </p:cNvSpPr>
              <p:nvPr/>
            </p:nvSpPr>
            <p:spPr bwMode="auto">
              <a:xfrm>
                <a:off x="5280" y="1392"/>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7" name="Freeform 108">
                <a:extLst>
                  <a:ext uri="{FF2B5EF4-FFF2-40B4-BE49-F238E27FC236}">
                    <a16:creationId xmlns:a16="http://schemas.microsoft.com/office/drawing/2014/main" id="{8C7E68A8-30F9-414B-9DFE-83F991ABE956}"/>
                  </a:ext>
                </a:extLst>
              </p:cNvPr>
              <p:cNvSpPr>
                <a:spLocks noChangeAspect="1"/>
              </p:cNvSpPr>
              <p:nvPr/>
            </p:nvSpPr>
            <p:spPr bwMode="auto">
              <a:xfrm>
                <a:off x="5280" y="1392"/>
                <a:ext cx="96" cy="96"/>
              </a:xfrm>
              <a:custGeom>
                <a:avLst/>
                <a:gdLst>
                  <a:gd name="T0" fmla="*/ 0 w 288"/>
                  <a:gd name="T1" fmla="*/ 0 h 240"/>
                  <a:gd name="T2" fmla="*/ 0 w 288"/>
                  <a:gd name="T3" fmla="*/ 1 h 240"/>
                  <a:gd name="T4" fmla="*/ 0 w 288"/>
                  <a:gd name="T5" fmla="*/ 1 h 240"/>
                  <a:gd name="T6" fmla="*/ 0 w 288"/>
                  <a:gd name="T7" fmla="*/ 0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144" y="0"/>
                    </a:moveTo>
                    <a:lnTo>
                      <a:pt x="0" y="240"/>
                    </a:lnTo>
                    <a:lnTo>
                      <a:pt x="288" y="240"/>
                    </a:lnTo>
                    <a:lnTo>
                      <a:pt x="144" y="0"/>
                    </a:lnTo>
                    <a:close/>
                  </a:path>
                </a:pathLst>
              </a:custGeom>
              <a:solidFill>
                <a:schemeClr val="tx1"/>
              </a:solidFill>
              <a:ln w="25400">
                <a:solidFill>
                  <a:schemeClr val="tx1"/>
                </a:solidFill>
                <a:round/>
                <a:headEnd/>
                <a:tailEnd/>
              </a:ln>
            </p:spPr>
            <p:txBody>
              <a:bodyPr/>
              <a:lstStyle/>
              <a:p>
                <a:endParaRPr lang="en-US"/>
              </a:p>
            </p:txBody>
          </p:sp>
          <p:sp>
            <p:nvSpPr>
              <p:cNvPr id="198" name="Line 109">
                <a:extLst>
                  <a:ext uri="{FF2B5EF4-FFF2-40B4-BE49-F238E27FC236}">
                    <a16:creationId xmlns:a16="http://schemas.microsoft.com/office/drawing/2014/main" id="{39AB36ED-4D2C-AE4E-A79B-856B7E116254}"/>
                  </a:ext>
                </a:extLst>
              </p:cNvPr>
              <p:cNvSpPr>
                <a:spLocks noChangeAspect="1" noChangeShapeType="1"/>
              </p:cNvSpPr>
              <p:nvPr/>
            </p:nvSpPr>
            <p:spPr bwMode="auto">
              <a:xfrm>
                <a:off x="5328" y="1488"/>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99" name="Group 13">
              <a:extLst>
                <a:ext uri="{FF2B5EF4-FFF2-40B4-BE49-F238E27FC236}">
                  <a16:creationId xmlns:a16="http://schemas.microsoft.com/office/drawing/2014/main" id="{27D8CDB0-D766-3346-98DC-4A6BAA50AEEC}"/>
                </a:ext>
              </a:extLst>
            </p:cNvPr>
            <p:cNvGrpSpPr>
              <a:grpSpLocks noChangeAspect="1"/>
            </p:cNvGrpSpPr>
            <p:nvPr/>
          </p:nvGrpSpPr>
          <p:grpSpPr bwMode="auto">
            <a:xfrm>
              <a:off x="9151742" y="2629261"/>
              <a:ext cx="152400" cy="152400"/>
              <a:chOff x="1344" y="2064"/>
              <a:chExt cx="192" cy="192"/>
            </a:xfrm>
          </p:grpSpPr>
          <p:sp>
            <p:nvSpPr>
              <p:cNvPr id="201" name="Oval 14">
                <a:extLst>
                  <a:ext uri="{FF2B5EF4-FFF2-40B4-BE49-F238E27FC236}">
                    <a16:creationId xmlns:a16="http://schemas.microsoft.com/office/drawing/2014/main" id="{A81755F1-29AB-0E45-8678-4A78C9227069}"/>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02" name="Rectangle 15">
                <a:extLst>
                  <a:ext uri="{FF2B5EF4-FFF2-40B4-BE49-F238E27FC236}">
                    <a16:creationId xmlns:a16="http://schemas.microsoft.com/office/drawing/2014/main" id="{0C14B067-BEF4-4F4A-BFA2-CF95772492EA}"/>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204" name="Group 13">
              <a:extLst>
                <a:ext uri="{FF2B5EF4-FFF2-40B4-BE49-F238E27FC236}">
                  <a16:creationId xmlns:a16="http://schemas.microsoft.com/office/drawing/2014/main" id="{6808132B-7BBB-6449-A4E1-2ADCEC56D0FA}"/>
                </a:ext>
              </a:extLst>
            </p:cNvPr>
            <p:cNvGrpSpPr>
              <a:grpSpLocks noChangeAspect="1"/>
            </p:cNvGrpSpPr>
            <p:nvPr/>
          </p:nvGrpSpPr>
          <p:grpSpPr bwMode="auto">
            <a:xfrm>
              <a:off x="8645760" y="3148189"/>
              <a:ext cx="152400" cy="152400"/>
              <a:chOff x="1344" y="2064"/>
              <a:chExt cx="192" cy="192"/>
            </a:xfrm>
          </p:grpSpPr>
          <p:sp>
            <p:nvSpPr>
              <p:cNvPr id="205" name="Oval 14">
                <a:extLst>
                  <a:ext uri="{FF2B5EF4-FFF2-40B4-BE49-F238E27FC236}">
                    <a16:creationId xmlns:a16="http://schemas.microsoft.com/office/drawing/2014/main" id="{AB00BBEF-BD7F-4F4C-9538-920085CD5418}"/>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06" name="Rectangle 15">
                <a:extLst>
                  <a:ext uri="{FF2B5EF4-FFF2-40B4-BE49-F238E27FC236}">
                    <a16:creationId xmlns:a16="http://schemas.microsoft.com/office/drawing/2014/main" id="{4EF2B9FE-5552-C74B-8836-60CADA3C66ED}"/>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221" name="Group 13">
              <a:extLst>
                <a:ext uri="{FF2B5EF4-FFF2-40B4-BE49-F238E27FC236}">
                  <a16:creationId xmlns:a16="http://schemas.microsoft.com/office/drawing/2014/main" id="{35F414E2-B1D5-1A4B-A90F-DE5379AE72E8}"/>
                </a:ext>
              </a:extLst>
            </p:cNvPr>
            <p:cNvGrpSpPr>
              <a:grpSpLocks noChangeAspect="1"/>
            </p:cNvGrpSpPr>
            <p:nvPr/>
          </p:nvGrpSpPr>
          <p:grpSpPr bwMode="auto">
            <a:xfrm>
              <a:off x="8634060" y="2108605"/>
              <a:ext cx="152400" cy="152400"/>
              <a:chOff x="1344" y="2064"/>
              <a:chExt cx="192" cy="192"/>
            </a:xfrm>
          </p:grpSpPr>
          <p:sp>
            <p:nvSpPr>
              <p:cNvPr id="222" name="Oval 14">
                <a:extLst>
                  <a:ext uri="{FF2B5EF4-FFF2-40B4-BE49-F238E27FC236}">
                    <a16:creationId xmlns:a16="http://schemas.microsoft.com/office/drawing/2014/main" id="{E9959C32-3E52-C547-94E0-A88428560AA8}"/>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23" name="Rectangle 15">
                <a:extLst>
                  <a:ext uri="{FF2B5EF4-FFF2-40B4-BE49-F238E27FC236}">
                    <a16:creationId xmlns:a16="http://schemas.microsoft.com/office/drawing/2014/main" id="{AE648622-BA0D-9345-B525-448DCEF3E8B9}"/>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cxnSp>
          <p:nvCxnSpPr>
            <p:cNvPr id="224" name="Straight Connector 223">
              <a:extLst>
                <a:ext uri="{FF2B5EF4-FFF2-40B4-BE49-F238E27FC236}">
                  <a16:creationId xmlns:a16="http://schemas.microsoft.com/office/drawing/2014/main" id="{9C38ECAC-4D20-0641-A117-D0FBF61340EF}"/>
                </a:ext>
              </a:extLst>
            </p:cNvPr>
            <p:cNvCxnSpPr/>
            <p:nvPr/>
          </p:nvCxnSpPr>
          <p:spPr>
            <a:xfrm>
              <a:off x="7593850" y="3224903"/>
              <a:ext cx="113473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5" name="Group 13">
              <a:extLst>
                <a:ext uri="{FF2B5EF4-FFF2-40B4-BE49-F238E27FC236}">
                  <a16:creationId xmlns:a16="http://schemas.microsoft.com/office/drawing/2014/main" id="{A47B5B94-7BEA-254E-B535-9BC924560DED}"/>
                </a:ext>
              </a:extLst>
            </p:cNvPr>
            <p:cNvGrpSpPr>
              <a:grpSpLocks noChangeAspect="1"/>
            </p:cNvGrpSpPr>
            <p:nvPr/>
          </p:nvGrpSpPr>
          <p:grpSpPr bwMode="auto">
            <a:xfrm>
              <a:off x="7532374" y="3145052"/>
              <a:ext cx="152400" cy="152400"/>
              <a:chOff x="1344" y="2064"/>
              <a:chExt cx="192" cy="192"/>
            </a:xfrm>
          </p:grpSpPr>
          <p:sp>
            <p:nvSpPr>
              <p:cNvPr id="226" name="Oval 14">
                <a:extLst>
                  <a:ext uri="{FF2B5EF4-FFF2-40B4-BE49-F238E27FC236}">
                    <a16:creationId xmlns:a16="http://schemas.microsoft.com/office/drawing/2014/main" id="{27E9CD5F-6CA5-E445-831F-109318E7C8DB}"/>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27" name="Rectangle 15">
                <a:extLst>
                  <a:ext uri="{FF2B5EF4-FFF2-40B4-BE49-F238E27FC236}">
                    <a16:creationId xmlns:a16="http://schemas.microsoft.com/office/drawing/2014/main" id="{BCB8634E-9809-E34D-86E1-EA0334D6F87B}"/>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228" name="Group 13">
              <a:extLst>
                <a:ext uri="{FF2B5EF4-FFF2-40B4-BE49-F238E27FC236}">
                  <a16:creationId xmlns:a16="http://schemas.microsoft.com/office/drawing/2014/main" id="{A90C40AE-38C9-3A41-8130-C037DCFA23A4}"/>
                </a:ext>
              </a:extLst>
            </p:cNvPr>
            <p:cNvGrpSpPr>
              <a:grpSpLocks noChangeAspect="1"/>
            </p:cNvGrpSpPr>
            <p:nvPr/>
          </p:nvGrpSpPr>
          <p:grpSpPr bwMode="auto">
            <a:xfrm>
              <a:off x="7512497" y="2091505"/>
              <a:ext cx="152400" cy="152400"/>
              <a:chOff x="1344" y="2064"/>
              <a:chExt cx="192" cy="192"/>
            </a:xfrm>
          </p:grpSpPr>
          <p:sp>
            <p:nvSpPr>
              <p:cNvPr id="229" name="Oval 14">
                <a:extLst>
                  <a:ext uri="{FF2B5EF4-FFF2-40B4-BE49-F238E27FC236}">
                    <a16:creationId xmlns:a16="http://schemas.microsoft.com/office/drawing/2014/main" id="{34DA7627-4F9D-5749-8B13-18E9479272DC}"/>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30" name="Rectangle 15">
                <a:extLst>
                  <a:ext uri="{FF2B5EF4-FFF2-40B4-BE49-F238E27FC236}">
                    <a16:creationId xmlns:a16="http://schemas.microsoft.com/office/drawing/2014/main" id="{F8D65EDF-4F70-8E43-8DD0-4E53C19CBDF3}"/>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cxnSp>
          <p:nvCxnSpPr>
            <p:cNvPr id="231" name="Straight Connector 230">
              <a:extLst>
                <a:ext uri="{FF2B5EF4-FFF2-40B4-BE49-F238E27FC236}">
                  <a16:creationId xmlns:a16="http://schemas.microsoft.com/office/drawing/2014/main" id="{E05B93A6-35AE-174D-8E1B-CD92C2E64F22}"/>
                </a:ext>
              </a:extLst>
            </p:cNvPr>
            <p:cNvCxnSpPr/>
            <p:nvPr/>
          </p:nvCxnSpPr>
          <p:spPr>
            <a:xfrm>
              <a:off x="9260777" y="2702852"/>
              <a:ext cx="113473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3712889B-8052-C849-ADC4-0D15930FF940}"/>
                </a:ext>
              </a:extLst>
            </p:cNvPr>
            <p:cNvCxnSpPr>
              <a:cxnSpLocks/>
            </p:cNvCxnSpPr>
            <p:nvPr/>
          </p:nvCxnSpPr>
          <p:spPr>
            <a:xfrm>
              <a:off x="8188791" y="2645958"/>
              <a:ext cx="0" cy="8229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FDFD10C2-BF1C-7E41-83BA-9CC651162C28}"/>
                </a:ext>
              </a:extLst>
            </p:cNvPr>
            <p:cNvCxnSpPr>
              <a:cxnSpLocks/>
            </p:cNvCxnSpPr>
            <p:nvPr/>
          </p:nvCxnSpPr>
          <p:spPr>
            <a:xfrm>
              <a:off x="8187348" y="3453819"/>
              <a:ext cx="22818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44" name="Group 13">
              <a:extLst>
                <a:ext uri="{FF2B5EF4-FFF2-40B4-BE49-F238E27FC236}">
                  <a16:creationId xmlns:a16="http://schemas.microsoft.com/office/drawing/2014/main" id="{C4267907-CE27-BA4E-8DC4-F0150557F7CA}"/>
                </a:ext>
              </a:extLst>
            </p:cNvPr>
            <p:cNvGrpSpPr>
              <a:grpSpLocks noChangeAspect="1"/>
            </p:cNvGrpSpPr>
            <p:nvPr/>
          </p:nvGrpSpPr>
          <p:grpSpPr bwMode="auto">
            <a:xfrm>
              <a:off x="10427976" y="3376966"/>
              <a:ext cx="152400" cy="152400"/>
              <a:chOff x="1344" y="2064"/>
              <a:chExt cx="192" cy="192"/>
            </a:xfrm>
          </p:grpSpPr>
          <p:sp>
            <p:nvSpPr>
              <p:cNvPr id="245" name="Oval 14">
                <a:extLst>
                  <a:ext uri="{FF2B5EF4-FFF2-40B4-BE49-F238E27FC236}">
                    <a16:creationId xmlns:a16="http://schemas.microsoft.com/office/drawing/2014/main" id="{D6674BFC-4649-8C46-9244-196C8299D427}"/>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46" name="Rectangle 15">
                <a:extLst>
                  <a:ext uri="{FF2B5EF4-FFF2-40B4-BE49-F238E27FC236}">
                    <a16:creationId xmlns:a16="http://schemas.microsoft.com/office/drawing/2014/main" id="{B36471E3-5D83-FE4F-8652-6B636320C077}"/>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247" name="Group 13">
              <a:extLst>
                <a:ext uri="{FF2B5EF4-FFF2-40B4-BE49-F238E27FC236}">
                  <a16:creationId xmlns:a16="http://schemas.microsoft.com/office/drawing/2014/main" id="{92DD8896-F20D-5842-80E2-5160AD1F97DE}"/>
                </a:ext>
              </a:extLst>
            </p:cNvPr>
            <p:cNvGrpSpPr>
              <a:grpSpLocks noChangeAspect="1"/>
            </p:cNvGrpSpPr>
            <p:nvPr/>
          </p:nvGrpSpPr>
          <p:grpSpPr bwMode="auto">
            <a:xfrm>
              <a:off x="10328585" y="2628218"/>
              <a:ext cx="152400" cy="152400"/>
              <a:chOff x="1344" y="2064"/>
              <a:chExt cx="192" cy="192"/>
            </a:xfrm>
          </p:grpSpPr>
          <p:sp>
            <p:nvSpPr>
              <p:cNvPr id="248" name="Oval 14">
                <a:extLst>
                  <a:ext uri="{FF2B5EF4-FFF2-40B4-BE49-F238E27FC236}">
                    <a16:creationId xmlns:a16="http://schemas.microsoft.com/office/drawing/2014/main" id="{F74A336D-7343-7D40-AD07-533C88AA9554}"/>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49" name="Rectangle 15">
                <a:extLst>
                  <a:ext uri="{FF2B5EF4-FFF2-40B4-BE49-F238E27FC236}">
                    <a16:creationId xmlns:a16="http://schemas.microsoft.com/office/drawing/2014/main" id="{672F6F19-7B8D-BA48-9283-8EF7D1C71997}"/>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20" name="TextBox 19">
              <a:extLst>
                <a:ext uri="{FF2B5EF4-FFF2-40B4-BE49-F238E27FC236}">
                  <a16:creationId xmlns:a16="http://schemas.microsoft.com/office/drawing/2014/main" id="{F084A009-8DE4-BE4E-8DF9-A4E386099E3F}"/>
                </a:ext>
              </a:extLst>
            </p:cNvPr>
            <p:cNvSpPr txBox="1"/>
            <p:nvPr/>
          </p:nvSpPr>
          <p:spPr>
            <a:xfrm>
              <a:off x="10098161" y="2905353"/>
              <a:ext cx="195638" cy="369332"/>
            </a:xfrm>
            <a:prstGeom prst="rect">
              <a:avLst/>
            </a:prstGeom>
            <a:noFill/>
          </p:spPr>
          <p:txBody>
            <a:bodyPr wrap="square" rtlCol="0">
              <a:spAutoFit/>
            </a:bodyPr>
            <a:lstStyle/>
            <a:p>
              <a:r>
                <a:rPr lang="en-US" dirty="0"/>
                <a:t>R</a:t>
              </a:r>
            </a:p>
          </p:txBody>
        </p:sp>
        <p:sp>
          <p:nvSpPr>
            <p:cNvPr id="250" name="TextBox 249">
              <a:extLst>
                <a:ext uri="{FF2B5EF4-FFF2-40B4-BE49-F238E27FC236}">
                  <a16:creationId xmlns:a16="http://schemas.microsoft.com/office/drawing/2014/main" id="{9E98E04F-1D07-894B-A69F-23BEB47571E5}"/>
                </a:ext>
              </a:extLst>
            </p:cNvPr>
            <p:cNvSpPr txBox="1"/>
            <p:nvPr/>
          </p:nvSpPr>
          <p:spPr>
            <a:xfrm>
              <a:off x="9150630" y="2938483"/>
              <a:ext cx="195638" cy="369332"/>
            </a:xfrm>
            <a:prstGeom prst="rect">
              <a:avLst/>
            </a:prstGeom>
            <a:noFill/>
          </p:spPr>
          <p:txBody>
            <a:bodyPr wrap="square" rtlCol="0">
              <a:spAutoFit/>
            </a:bodyPr>
            <a:lstStyle/>
            <a:p>
              <a:r>
                <a:rPr lang="en-US" dirty="0"/>
                <a:t>C</a:t>
              </a:r>
            </a:p>
          </p:txBody>
        </p:sp>
        <p:grpSp>
          <p:nvGrpSpPr>
            <p:cNvPr id="95" name="Group 218">
              <a:extLst>
                <a:ext uri="{FF2B5EF4-FFF2-40B4-BE49-F238E27FC236}">
                  <a16:creationId xmlns:a16="http://schemas.microsoft.com/office/drawing/2014/main" id="{8F2F30AD-7E80-7247-AB1A-ECA0ED812B66}"/>
                </a:ext>
              </a:extLst>
            </p:cNvPr>
            <p:cNvGrpSpPr>
              <a:grpSpLocks/>
            </p:cNvGrpSpPr>
            <p:nvPr/>
          </p:nvGrpSpPr>
          <p:grpSpPr bwMode="auto">
            <a:xfrm rot="8100000">
              <a:off x="8899029" y="2074525"/>
              <a:ext cx="152400" cy="762000"/>
              <a:chOff x="5280" y="1200"/>
              <a:chExt cx="96" cy="480"/>
            </a:xfrm>
          </p:grpSpPr>
          <p:sp>
            <p:nvSpPr>
              <p:cNvPr id="96" name="Line 106">
                <a:extLst>
                  <a:ext uri="{FF2B5EF4-FFF2-40B4-BE49-F238E27FC236}">
                    <a16:creationId xmlns:a16="http://schemas.microsoft.com/office/drawing/2014/main" id="{6A9D03A0-40EB-6144-B490-9AE7ACD1806B}"/>
                  </a:ext>
                </a:extLst>
              </p:cNvPr>
              <p:cNvSpPr>
                <a:spLocks noChangeAspect="1" noChangeShapeType="1"/>
              </p:cNvSpPr>
              <p:nvPr/>
            </p:nvSpPr>
            <p:spPr bwMode="auto">
              <a:xfrm>
                <a:off x="5328" y="1200"/>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 name="Line 107">
                <a:extLst>
                  <a:ext uri="{FF2B5EF4-FFF2-40B4-BE49-F238E27FC236}">
                    <a16:creationId xmlns:a16="http://schemas.microsoft.com/office/drawing/2014/main" id="{560276B3-0835-D743-9B8A-B7FBCE8FA3C6}"/>
                  </a:ext>
                </a:extLst>
              </p:cNvPr>
              <p:cNvSpPr>
                <a:spLocks noChangeAspect="1" noChangeShapeType="1"/>
              </p:cNvSpPr>
              <p:nvPr/>
            </p:nvSpPr>
            <p:spPr bwMode="auto">
              <a:xfrm>
                <a:off x="5280" y="1392"/>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 name="Freeform 108">
                <a:extLst>
                  <a:ext uri="{FF2B5EF4-FFF2-40B4-BE49-F238E27FC236}">
                    <a16:creationId xmlns:a16="http://schemas.microsoft.com/office/drawing/2014/main" id="{A21B96CA-B260-4349-BD37-9FE79AB94CE2}"/>
                  </a:ext>
                </a:extLst>
              </p:cNvPr>
              <p:cNvSpPr>
                <a:spLocks noChangeAspect="1"/>
              </p:cNvSpPr>
              <p:nvPr/>
            </p:nvSpPr>
            <p:spPr bwMode="auto">
              <a:xfrm>
                <a:off x="5280" y="1392"/>
                <a:ext cx="96" cy="96"/>
              </a:xfrm>
              <a:custGeom>
                <a:avLst/>
                <a:gdLst>
                  <a:gd name="T0" fmla="*/ 0 w 288"/>
                  <a:gd name="T1" fmla="*/ 0 h 240"/>
                  <a:gd name="T2" fmla="*/ 0 w 288"/>
                  <a:gd name="T3" fmla="*/ 1 h 240"/>
                  <a:gd name="T4" fmla="*/ 0 w 288"/>
                  <a:gd name="T5" fmla="*/ 1 h 240"/>
                  <a:gd name="T6" fmla="*/ 0 w 288"/>
                  <a:gd name="T7" fmla="*/ 0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144" y="0"/>
                    </a:moveTo>
                    <a:lnTo>
                      <a:pt x="0" y="240"/>
                    </a:lnTo>
                    <a:lnTo>
                      <a:pt x="288" y="240"/>
                    </a:lnTo>
                    <a:lnTo>
                      <a:pt x="144" y="0"/>
                    </a:lnTo>
                    <a:close/>
                  </a:path>
                </a:pathLst>
              </a:custGeom>
              <a:solidFill>
                <a:schemeClr val="tx1"/>
              </a:solidFill>
              <a:ln w="25400">
                <a:solidFill>
                  <a:schemeClr val="tx1"/>
                </a:solidFill>
                <a:round/>
                <a:headEnd/>
                <a:tailEnd/>
              </a:ln>
            </p:spPr>
            <p:txBody>
              <a:bodyPr/>
              <a:lstStyle/>
              <a:p>
                <a:endParaRPr lang="en-US"/>
              </a:p>
            </p:txBody>
          </p:sp>
          <p:sp>
            <p:nvSpPr>
              <p:cNvPr id="99" name="Line 109">
                <a:extLst>
                  <a:ext uri="{FF2B5EF4-FFF2-40B4-BE49-F238E27FC236}">
                    <a16:creationId xmlns:a16="http://schemas.microsoft.com/office/drawing/2014/main" id="{D46D2A6E-EDAF-A445-8B07-11A1F1B31061}"/>
                  </a:ext>
                </a:extLst>
              </p:cNvPr>
              <p:cNvSpPr>
                <a:spLocks noChangeAspect="1" noChangeShapeType="1"/>
              </p:cNvSpPr>
              <p:nvPr/>
            </p:nvSpPr>
            <p:spPr bwMode="auto">
              <a:xfrm>
                <a:off x="5328" y="1488"/>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0" name="Group 218">
              <a:extLst>
                <a:ext uri="{FF2B5EF4-FFF2-40B4-BE49-F238E27FC236}">
                  <a16:creationId xmlns:a16="http://schemas.microsoft.com/office/drawing/2014/main" id="{F3BC4A3B-5C6C-AF4D-B394-505A76A88296}"/>
                </a:ext>
              </a:extLst>
            </p:cNvPr>
            <p:cNvGrpSpPr>
              <a:grpSpLocks/>
            </p:cNvGrpSpPr>
            <p:nvPr/>
          </p:nvGrpSpPr>
          <p:grpSpPr bwMode="auto">
            <a:xfrm rot="2700000">
              <a:off x="8889726" y="2608081"/>
              <a:ext cx="152400" cy="762000"/>
              <a:chOff x="5280" y="1200"/>
              <a:chExt cx="96" cy="480"/>
            </a:xfrm>
          </p:grpSpPr>
          <p:sp>
            <p:nvSpPr>
              <p:cNvPr id="101" name="Line 106">
                <a:extLst>
                  <a:ext uri="{FF2B5EF4-FFF2-40B4-BE49-F238E27FC236}">
                    <a16:creationId xmlns:a16="http://schemas.microsoft.com/office/drawing/2014/main" id="{F6ACB028-3EBD-E74A-AA18-2A4C3236A71B}"/>
                  </a:ext>
                </a:extLst>
              </p:cNvPr>
              <p:cNvSpPr>
                <a:spLocks noChangeAspect="1" noChangeShapeType="1"/>
              </p:cNvSpPr>
              <p:nvPr/>
            </p:nvSpPr>
            <p:spPr bwMode="auto">
              <a:xfrm>
                <a:off x="5328" y="1200"/>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 name="Line 107">
                <a:extLst>
                  <a:ext uri="{FF2B5EF4-FFF2-40B4-BE49-F238E27FC236}">
                    <a16:creationId xmlns:a16="http://schemas.microsoft.com/office/drawing/2014/main" id="{AD774C04-8A92-1140-9772-CDC363C8836E}"/>
                  </a:ext>
                </a:extLst>
              </p:cNvPr>
              <p:cNvSpPr>
                <a:spLocks noChangeAspect="1" noChangeShapeType="1"/>
              </p:cNvSpPr>
              <p:nvPr/>
            </p:nvSpPr>
            <p:spPr bwMode="auto">
              <a:xfrm>
                <a:off x="5280" y="1392"/>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 name="Freeform 108">
                <a:extLst>
                  <a:ext uri="{FF2B5EF4-FFF2-40B4-BE49-F238E27FC236}">
                    <a16:creationId xmlns:a16="http://schemas.microsoft.com/office/drawing/2014/main" id="{EA2D45D3-289B-354E-B2A8-F67E3E7C63B8}"/>
                  </a:ext>
                </a:extLst>
              </p:cNvPr>
              <p:cNvSpPr>
                <a:spLocks noChangeAspect="1"/>
              </p:cNvSpPr>
              <p:nvPr/>
            </p:nvSpPr>
            <p:spPr bwMode="auto">
              <a:xfrm>
                <a:off x="5280" y="1392"/>
                <a:ext cx="96" cy="96"/>
              </a:xfrm>
              <a:custGeom>
                <a:avLst/>
                <a:gdLst>
                  <a:gd name="T0" fmla="*/ 0 w 288"/>
                  <a:gd name="T1" fmla="*/ 0 h 240"/>
                  <a:gd name="T2" fmla="*/ 0 w 288"/>
                  <a:gd name="T3" fmla="*/ 1 h 240"/>
                  <a:gd name="T4" fmla="*/ 0 w 288"/>
                  <a:gd name="T5" fmla="*/ 1 h 240"/>
                  <a:gd name="T6" fmla="*/ 0 w 288"/>
                  <a:gd name="T7" fmla="*/ 0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144" y="0"/>
                    </a:moveTo>
                    <a:lnTo>
                      <a:pt x="0" y="240"/>
                    </a:lnTo>
                    <a:lnTo>
                      <a:pt x="288" y="240"/>
                    </a:lnTo>
                    <a:lnTo>
                      <a:pt x="144" y="0"/>
                    </a:lnTo>
                    <a:close/>
                  </a:path>
                </a:pathLst>
              </a:custGeom>
              <a:solidFill>
                <a:schemeClr val="tx1"/>
              </a:solidFill>
              <a:ln w="25400">
                <a:solidFill>
                  <a:schemeClr val="tx1"/>
                </a:solidFill>
                <a:round/>
                <a:headEnd/>
                <a:tailEnd/>
              </a:ln>
            </p:spPr>
            <p:txBody>
              <a:bodyPr/>
              <a:lstStyle/>
              <a:p>
                <a:endParaRPr lang="en-US"/>
              </a:p>
            </p:txBody>
          </p:sp>
          <p:sp>
            <p:nvSpPr>
              <p:cNvPr id="104" name="Line 109">
                <a:extLst>
                  <a:ext uri="{FF2B5EF4-FFF2-40B4-BE49-F238E27FC236}">
                    <a16:creationId xmlns:a16="http://schemas.microsoft.com/office/drawing/2014/main" id="{C4DECA88-FA7B-3846-926A-0BD74D201250}"/>
                  </a:ext>
                </a:extLst>
              </p:cNvPr>
              <p:cNvSpPr>
                <a:spLocks noChangeAspect="1" noChangeShapeType="1"/>
              </p:cNvSpPr>
              <p:nvPr/>
            </p:nvSpPr>
            <p:spPr bwMode="auto">
              <a:xfrm>
                <a:off x="5328" y="1488"/>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pic>
        <p:nvPicPr>
          <p:cNvPr id="105" name="Picture 2" descr="LM358 IC Pinout, Description, Equivalents - Envirementalb.com">
            <a:extLst>
              <a:ext uri="{FF2B5EF4-FFF2-40B4-BE49-F238E27FC236}">
                <a16:creationId xmlns:a16="http://schemas.microsoft.com/office/drawing/2014/main" id="{E19263FD-AB2F-F844-97B8-052A3D6C6F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1702" y="1319594"/>
            <a:ext cx="3517900" cy="2311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M324 OP-AMP Pinout, datahseet, applications, Examples and Features">
            <a:extLst>
              <a:ext uri="{FF2B5EF4-FFF2-40B4-BE49-F238E27FC236}">
                <a16:creationId xmlns:a16="http://schemas.microsoft.com/office/drawing/2014/main" id="{F5B20239-5736-2A4F-837B-A8CEDBDF77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27879" y="3799931"/>
            <a:ext cx="3238500" cy="25146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LM741 Op Amp Pinout Connections">
            <a:extLst>
              <a:ext uri="{FF2B5EF4-FFF2-40B4-BE49-F238E27FC236}">
                <a16:creationId xmlns:a16="http://schemas.microsoft.com/office/drawing/2014/main" id="{CF8A3DE4-ABDE-F04C-B4F8-9908ECD6DC7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40610" y="3946004"/>
            <a:ext cx="3352800" cy="24257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E95DD15-8E7B-4549-BB2E-3480269D3EDE}"/>
              </a:ext>
            </a:extLst>
          </p:cNvPr>
          <p:cNvSpPr txBox="1"/>
          <p:nvPr/>
        </p:nvSpPr>
        <p:spPr>
          <a:xfrm>
            <a:off x="5618922" y="6364119"/>
            <a:ext cx="848140" cy="369332"/>
          </a:xfrm>
          <a:prstGeom prst="rect">
            <a:avLst/>
          </a:prstGeom>
          <a:noFill/>
        </p:spPr>
        <p:txBody>
          <a:bodyPr wrap="square" rtlCol="0">
            <a:spAutoFit/>
          </a:bodyPr>
          <a:lstStyle/>
          <a:p>
            <a:r>
              <a:rPr lang="en-US" dirty="0"/>
              <a:t>LM324</a:t>
            </a:r>
          </a:p>
        </p:txBody>
      </p:sp>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ECB9C6F8-70F7-A349-92BB-199DB228B565}"/>
                  </a:ext>
                </a:extLst>
              </p:cNvPr>
              <p:cNvSpPr txBox="1"/>
              <p:nvPr/>
            </p:nvSpPr>
            <p:spPr>
              <a:xfrm>
                <a:off x="265056" y="5201894"/>
                <a:ext cx="3950722" cy="1283434"/>
              </a:xfrm>
              <a:prstGeom prst="rect">
                <a:avLst/>
              </a:prstGeom>
              <a:noFill/>
            </p:spPr>
            <p:txBody>
              <a:bodyPr wrap="square" rtlCol="0">
                <a:noAutofit/>
              </a:bodyPr>
              <a:lstStyle/>
              <a:p>
                <a:pPr marL="285750" indent="-285750">
                  <a:buFont typeface="Arial" panose="020B0604020202020204" pitchFamily="34" charset="0"/>
                  <a:buChar char="•"/>
                </a:pPr>
                <a:r>
                  <a:rPr lang="en-US" sz="2000" dirty="0"/>
                  <a:t>Simple op amp model</a:t>
                </a:r>
              </a:p>
              <a:p>
                <a:pPr marL="285750" indent="-285750">
                  <a:buFont typeface="Arial" panose="020B0604020202020204" pitchFamily="34" charset="0"/>
                  <a:buChar char="•"/>
                </a:pPr>
                <a14:m>
                  <m:oMath xmlns:m="http://schemas.openxmlformats.org/officeDocument/2006/math">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𝑔</m:t>
                        </m:r>
                        <m:r>
                          <a:rPr lang="en-US" sz="2000" b="0" i="1" smtClean="0">
                            <a:latin typeface="Cambria Math" panose="02040503050406030204" pitchFamily="18" charset="0"/>
                          </a:rPr>
                          <m:t>(</m:t>
                        </m:r>
                        <m:r>
                          <a:rPr lang="en-US" sz="2000" b="0" i="1" smtClean="0">
                            <a:latin typeface="Cambria Math" panose="02040503050406030204" pitchFamily="18" charset="0"/>
                          </a:rPr>
                          <m:t>𝑓</m:t>
                        </m:r>
                        <m:r>
                          <a:rPr lang="en-US" sz="2000" b="0" i="1" smtClean="0">
                            <a:latin typeface="Cambria Math" panose="02040503050406030204" pitchFamily="18" charset="0"/>
                          </a:rPr>
                          <m:t>)</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𝑔</m:t>
                            </m:r>
                          </m:e>
                          <m:sub>
                            <m:r>
                              <a:rPr lang="en-US" sz="2000" b="0" i="1" smtClean="0">
                                <a:latin typeface="Cambria Math" panose="02040503050406030204" pitchFamily="18" charset="0"/>
                              </a:rPr>
                              <m:t>𝐷𝐶</m:t>
                            </m:r>
                          </m:sub>
                        </m:sSub>
                      </m:den>
                    </m:f>
                    <m:r>
                      <a:rPr lang="en-US" sz="2000" b="0" i="1" smtClean="0">
                        <a:latin typeface="Cambria Math" panose="02040503050406030204" pitchFamily="18" charset="0"/>
                      </a:rPr>
                      <m:t>+</m:t>
                    </m:r>
                    <m:r>
                      <a:rPr lang="en-US" sz="2000" b="0" i="1" smtClean="0">
                        <a:latin typeface="Cambria Math" panose="02040503050406030204" pitchFamily="18" charset="0"/>
                      </a:rPr>
                      <m:t>𝑗</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𝑓</m:t>
                        </m:r>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𝐵𝑊</m:t>
                            </m:r>
                          </m:sub>
                        </m:sSub>
                      </m:den>
                    </m:f>
                  </m:oMath>
                </a14:m>
                <a:endParaRPr lang="en-US" sz="2000" dirty="0"/>
              </a:p>
            </p:txBody>
          </p:sp>
        </mc:Choice>
        <mc:Fallback xmlns="">
          <p:sp>
            <p:nvSpPr>
              <p:cNvPr id="106" name="TextBox 105">
                <a:extLst>
                  <a:ext uri="{FF2B5EF4-FFF2-40B4-BE49-F238E27FC236}">
                    <a16:creationId xmlns:a16="http://schemas.microsoft.com/office/drawing/2014/main" id="{ECB9C6F8-70F7-A349-92BB-199DB228B565}"/>
                  </a:ext>
                </a:extLst>
              </p:cNvPr>
              <p:cNvSpPr txBox="1">
                <a:spLocks noRot="1" noChangeAspect="1" noMove="1" noResize="1" noEditPoints="1" noAdjustHandles="1" noChangeArrowheads="1" noChangeShapeType="1" noTextEdit="1"/>
              </p:cNvSpPr>
              <p:nvPr/>
            </p:nvSpPr>
            <p:spPr>
              <a:xfrm>
                <a:off x="265056" y="5201894"/>
                <a:ext cx="3950722" cy="1283434"/>
              </a:xfrm>
              <a:prstGeom prst="rect">
                <a:avLst/>
              </a:prstGeom>
              <a:blipFill>
                <a:blip r:embed="rId7"/>
                <a:stretch>
                  <a:fillRect l="-1278" t="-1961"/>
                </a:stretch>
              </a:blipFill>
            </p:spPr>
            <p:txBody>
              <a:bodyPr/>
              <a:lstStyle/>
              <a:p>
                <a:r>
                  <a:rPr lang="en-US">
                    <a:noFill/>
                  </a:rPr>
                  <a:t> </a:t>
                </a:r>
              </a:p>
            </p:txBody>
          </p:sp>
        </mc:Fallback>
      </mc:AlternateContent>
    </p:spTree>
    <p:extLst>
      <p:ext uri="{BB962C8B-B14F-4D97-AF65-F5344CB8AC3E}">
        <p14:creationId xmlns:p14="http://schemas.microsoft.com/office/powerpoint/2010/main" val="20597396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251799" y="355692"/>
            <a:ext cx="10515600" cy="869909"/>
          </a:xfrm>
        </p:spPr>
        <p:txBody>
          <a:bodyPr/>
          <a:lstStyle/>
          <a:p>
            <a:pPr algn="ctr"/>
            <a:r>
              <a:rPr lang="en-US" dirty="0">
                <a:latin typeface="Calibri" panose="020F0502020204030204" pitchFamily="34" charset="0"/>
                <a:cs typeface="Calibri" panose="020F0502020204030204" pitchFamily="34" charset="0"/>
              </a:rPr>
              <a:t>358 op amp</a:t>
            </a:r>
          </a:p>
        </p:txBody>
      </p:sp>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a:xfrm>
            <a:off x="9301381" y="6199524"/>
            <a:ext cx="2743200" cy="365125"/>
          </a:xfrm>
        </p:spPr>
        <p:txBody>
          <a:bodyPr/>
          <a:lstStyle/>
          <a:p>
            <a:fld id="{6B76BA51-8322-1A4D-B259-B74706370693}" type="slidenum">
              <a:rPr lang="en-US" smtClean="0"/>
              <a:t>60</a:t>
            </a:fld>
            <a:endParaRPr lang="en-US"/>
          </a:p>
        </p:txBody>
      </p:sp>
      <p:grpSp>
        <p:nvGrpSpPr>
          <p:cNvPr id="12" name="Group 11">
            <a:extLst>
              <a:ext uri="{FF2B5EF4-FFF2-40B4-BE49-F238E27FC236}">
                <a16:creationId xmlns:a16="http://schemas.microsoft.com/office/drawing/2014/main" id="{1AAC1346-4ACF-AFEA-14F4-19E305C840BF}"/>
              </a:ext>
            </a:extLst>
          </p:cNvPr>
          <p:cNvGrpSpPr/>
          <p:nvPr/>
        </p:nvGrpSpPr>
        <p:grpSpPr>
          <a:xfrm>
            <a:off x="513289" y="2166539"/>
            <a:ext cx="3233596" cy="3447277"/>
            <a:chOff x="342823" y="1372240"/>
            <a:chExt cx="3233596" cy="3447277"/>
          </a:xfrm>
        </p:grpSpPr>
        <p:grpSp>
          <p:nvGrpSpPr>
            <p:cNvPr id="119" name="Group 39">
              <a:extLst>
                <a:ext uri="{FF2B5EF4-FFF2-40B4-BE49-F238E27FC236}">
                  <a16:creationId xmlns:a16="http://schemas.microsoft.com/office/drawing/2014/main" id="{910CA315-A32B-A549-9700-5C01DD078B15}"/>
                </a:ext>
              </a:extLst>
            </p:cNvPr>
            <p:cNvGrpSpPr>
              <a:grpSpLocks/>
            </p:cNvGrpSpPr>
            <p:nvPr/>
          </p:nvGrpSpPr>
          <p:grpSpPr bwMode="auto">
            <a:xfrm>
              <a:off x="1228098" y="2144057"/>
              <a:ext cx="1676400" cy="1371600"/>
              <a:chOff x="2496" y="1968"/>
              <a:chExt cx="1056" cy="864"/>
            </a:xfrm>
          </p:grpSpPr>
          <p:sp>
            <p:nvSpPr>
              <p:cNvPr id="123" name="Line 40">
                <a:extLst>
                  <a:ext uri="{FF2B5EF4-FFF2-40B4-BE49-F238E27FC236}">
                    <a16:creationId xmlns:a16="http://schemas.microsoft.com/office/drawing/2014/main" id="{6806CE39-12E8-8A4E-A028-B2FFC985EE6E}"/>
                  </a:ext>
                </a:extLst>
              </p:cNvPr>
              <p:cNvSpPr>
                <a:spLocks noChangeShapeType="1"/>
              </p:cNvSpPr>
              <p:nvPr/>
            </p:nvSpPr>
            <p:spPr bwMode="auto">
              <a:xfrm>
                <a:off x="2496" y="216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 name="Line 41">
                <a:extLst>
                  <a:ext uri="{FF2B5EF4-FFF2-40B4-BE49-F238E27FC236}">
                    <a16:creationId xmlns:a16="http://schemas.microsoft.com/office/drawing/2014/main" id="{4DFB0A70-4AF3-C847-8B1A-5014587A969F}"/>
                  </a:ext>
                </a:extLst>
              </p:cNvPr>
              <p:cNvSpPr>
                <a:spLocks noChangeShapeType="1"/>
              </p:cNvSpPr>
              <p:nvPr/>
            </p:nvSpPr>
            <p:spPr bwMode="auto">
              <a:xfrm>
                <a:off x="2496" y="264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 name="Line 42">
                <a:extLst>
                  <a:ext uri="{FF2B5EF4-FFF2-40B4-BE49-F238E27FC236}">
                    <a16:creationId xmlns:a16="http://schemas.microsoft.com/office/drawing/2014/main" id="{C3EF8FD0-55CC-6C4B-B1CA-C83A782EC40C}"/>
                  </a:ext>
                </a:extLst>
              </p:cNvPr>
              <p:cNvSpPr>
                <a:spLocks noChangeShapeType="1"/>
              </p:cNvSpPr>
              <p:nvPr/>
            </p:nvSpPr>
            <p:spPr bwMode="auto">
              <a:xfrm>
                <a:off x="3360" y="240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 name="Freeform 43">
                <a:extLst>
                  <a:ext uri="{FF2B5EF4-FFF2-40B4-BE49-F238E27FC236}">
                    <a16:creationId xmlns:a16="http://schemas.microsoft.com/office/drawing/2014/main" id="{9ABBB442-AE8F-EA45-A73B-394D3098B98F}"/>
                  </a:ext>
                </a:extLst>
              </p:cNvPr>
              <p:cNvSpPr>
                <a:spLocks/>
              </p:cNvSpPr>
              <p:nvPr/>
            </p:nvSpPr>
            <p:spPr bwMode="auto">
              <a:xfrm>
                <a:off x="2688" y="1968"/>
                <a:ext cx="672" cy="864"/>
              </a:xfrm>
              <a:custGeom>
                <a:avLst/>
                <a:gdLst>
                  <a:gd name="T0" fmla="*/ 6120 w 432"/>
                  <a:gd name="T1" fmla="*/ 779 h 768"/>
                  <a:gd name="T2" fmla="*/ 0 w 432"/>
                  <a:gd name="T3" fmla="*/ 1558 h 768"/>
                  <a:gd name="T4" fmla="*/ 0 w 432"/>
                  <a:gd name="T5" fmla="*/ 0 h 768"/>
                  <a:gd name="T6" fmla="*/ 6120 w 432"/>
                  <a:gd name="T7" fmla="*/ 779 h 768"/>
                  <a:gd name="T8" fmla="*/ 0 60000 65536"/>
                  <a:gd name="T9" fmla="*/ 0 60000 65536"/>
                  <a:gd name="T10" fmla="*/ 0 60000 65536"/>
                  <a:gd name="T11" fmla="*/ 0 60000 65536"/>
                  <a:gd name="T12" fmla="*/ 0 w 432"/>
                  <a:gd name="T13" fmla="*/ 0 h 768"/>
                  <a:gd name="T14" fmla="*/ 432 w 432"/>
                  <a:gd name="T15" fmla="*/ 768 h 768"/>
                </a:gdLst>
                <a:ahLst/>
                <a:cxnLst>
                  <a:cxn ang="T8">
                    <a:pos x="T0" y="T1"/>
                  </a:cxn>
                  <a:cxn ang="T9">
                    <a:pos x="T2" y="T3"/>
                  </a:cxn>
                  <a:cxn ang="T10">
                    <a:pos x="T4" y="T5"/>
                  </a:cxn>
                  <a:cxn ang="T11">
                    <a:pos x="T6" y="T7"/>
                  </a:cxn>
                </a:cxnLst>
                <a:rect l="T12" t="T13" r="T14" b="T15"/>
                <a:pathLst>
                  <a:path w="432" h="768">
                    <a:moveTo>
                      <a:pt x="432" y="384"/>
                    </a:moveTo>
                    <a:lnTo>
                      <a:pt x="0" y="768"/>
                    </a:lnTo>
                    <a:lnTo>
                      <a:pt x="0" y="0"/>
                    </a:lnTo>
                    <a:lnTo>
                      <a:pt x="432" y="38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grpSp>
        <p:sp>
          <p:nvSpPr>
            <p:cNvPr id="151" name="Freeform 12">
              <a:extLst>
                <a:ext uri="{FF2B5EF4-FFF2-40B4-BE49-F238E27FC236}">
                  <a16:creationId xmlns:a16="http://schemas.microsoft.com/office/drawing/2014/main" id="{9F3CDE0F-68EF-7046-ADF9-E55354A7F820}"/>
                </a:ext>
              </a:extLst>
            </p:cNvPr>
            <p:cNvSpPr>
              <a:spLocks noChangeAspect="1"/>
            </p:cNvSpPr>
            <p:nvPr/>
          </p:nvSpPr>
          <p:spPr bwMode="auto">
            <a:xfrm>
              <a:off x="2679553" y="2838117"/>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 name="TextBox 3">
              <a:extLst>
                <a:ext uri="{FF2B5EF4-FFF2-40B4-BE49-F238E27FC236}">
                  <a16:creationId xmlns:a16="http://schemas.microsoft.com/office/drawing/2014/main" id="{4033ED9C-56D7-0848-A031-F855E9F57FAB}"/>
                </a:ext>
              </a:extLst>
            </p:cNvPr>
            <p:cNvSpPr txBox="1"/>
            <p:nvPr/>
          </p:nvSpPr>
          <p:spPr>
            <a:xfrm flipH="1">
              <a:off x="1530145" y="2995426"/>
              <a:ext cx="439757" cy="369332"/>
            </a:xfrm>
            <a:prstGeom prst="rect">
              <a:avLst/>
            </a:prstGeom>
            <a:noFill/>
          </p:spPr>
          <p:txBody>
            <a:bodyPr wrap="square" rtlCol="0">
              <a:spAutoFit/>
            </a:bodyPr>
            <a:lstStyle/>
            <a:p>
              <a:r>
                <a:rPr lang="en-US" dirty="0"/>
                <a:t>+</a:t>
              </a:r>
            </a:p>
          </p:txBody>
        </p:sp>
        <p:sp>
          <p:nvSpPr>
            <p:cNvPr id="152" name="TextBox 151">
              <a:extLst>
                <a:ext uri="{FF2B5EF4-FFF2-40B4-BE49-F238E27FC236}">
                  <a16:creationId xmlns:a16="http://schemas.microsoft.com/office/drawing/2014/main" id="{6BBE6D44-80B8-3747-8922-0495DB25CA49}"/>
                </a:ext>
              </a:extLst>
            </p:cNvPr>
            <p:cNvSpPr txBox="1"/>
            <p:nvPr/>
          </p:nvSpPr>
          <p:spPr>
            <a:xfrm flipH="1">
              <a:off x="1572375" y="2255459"/>
              <a:ext cx="439757" cy="369332"/>
            </a:xfrm>
            <a:prstGeom prst="rect">
              <a:avLst/>
            </a:prstGeom>
            <a:noFill/>
          </p:spPr>
          <p:txBody>
            <a:bodyPr wrap="square" rtlCol="0">
              <a:spAutoFit/>
            </a:bodyPr>
            <a:lstStyle/>
            <a:p>
              <a:r>
                <a:rPr lang="en-US" dirty="0"/>
                <a:t>-</a:t>
              </a:r>
            </a:p>
          </p:txBody>
        </p:sp>
        <p:sp>
          <p:nvSpPr>
            <p:cNvPr id="153" name="Freeform 12">
              <a:extLst>
                <a:ext uri="{FF2B5EF4-FFF2-40B4-BE49-F238E27FC236}">
                  <a16:creationId xmlns:a16="http://schemas.microsoft.com/office/drawing/2014/main" id="{F5D394A2-DB17-A04C-B32E-98062C637C60}"/>
                </a:ext>
              </a:extLst>
            </p:cNvPr>
            <p:cNvSpPr>
              <a:spLocks noChangeAspect="1"/>
            </p:cNvSpPr>
            <p:nvPr/>
          </p:nvSpPr>
          <p:spPr bwMode="auto">
            <a:xfrm>
              <a:off x="2689145" y="3883684"/>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54" name="Group 220">
              <a:extLst>
                <a:ext uri="{FF2B5EF4-FFF2-40B4-BE49-F238E27FC236}">
                  <a16:creationId xmlns:a16="http://schemas.microsoft.com/office/drawing/2014/main" id="{E1659353-3F2A-F94F-9A4E-96CDAE1F9BCD}"/>
                </a:ext>
              </a:extLst>
            </p:cNvPr>
            <p:cNvGrpSpPr>
              <a:grpSpLocks/>
            </p:cNvGrpSpPr>
            <p:nvPr/>
          </p:nvGrpSpPr>
          <p:grpSpPr bwMode="auto">
            <a:xfrm>
              <a:off x="2685229" y="4514717"/>
              <a:ext cx="152400" cy="304800"/>
              <a:chOff x="3264" y="3072"/>
              <a:chExt cx="96" cy="192"/>
            </a:xfrm>
          </p:grpSpPr>
          <p:sp>
            <p:nvSpPr>
              <p:cNvPr id="155" name="Line 17">
                <a:extLst>
                  <a:ext uri="{FF2B5EF4-FFF2-40B4-BE49-F238E27FC236}">
                    <a16:creationId xmlns:a16="http://schemas.microsoft.com/office/drawing/2014/main" id="{82A0D72E-C1B4-2F48-BEE6-AA2640F3DCEF}"/>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 name="Freeform 18">
                <a:extLst>
                  <a:ext uri="{FF2B5EF4-FFF2-40B4-BE49-F238E27FC236}">
                    <a16:creationId xmlns:a16="http://schemas.microsoft.com/office/drawing/2014/main" id="{5DD5672D-C66A-E44C-B088-BEA7F5499951}"/>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7" name="TextBox 6">
              <a:extLst>
                <a:ext uri="{FF2B5EF4-FFF2-40B4-BE49-F238E27FC236}">
                  <a16:creationId xmlns:a16="http://schemas.microsoft.com/office/drawing/2014/main" id="{76C015CA-237F-A849-9EE0-314B90B2D45F}"/>
                </a:ext>
              </a:extLst>
            </p:cNvPr>
            <p:cNvSpPr txBox="1"/>
            <p:nvPr/>
          </p:nvSpPr>
          <p:spPr>
            <a:xfrm>
              <a:off x="2040348" y="3196193"/>
              <a:ext cx="720372" cy="338554"/>
            </a:xfrm>
            <a:prstGeom prst="rect">
              <a:avLst/>
            </a:prstGeom>
            <a:noFill/>
          </p:spPr>
          <p:txBody>
            <a:bodyPr wrap="square" rtlCol="0">
              <a:spAutoFit/>
            </a:bodyPr>
            <a:lstStyle/>
            <a:p>
              <a:r>
                <a:rPr lang="en-US" sz="1600" dirty="0"/>
                <a:t>100K</a:t>
              </a:r>
              <a:endParaRPr lang="en-US" baseline="-25000" dirty="0"/>
            </a:p>
          </p:txBody>
        </p:sp>
        <p:cxnSp>
          <p:nvCxnSpPr>
            <p:cNvPr id="10" name="Straight Connector 9">
              <a:extLst>
                <a:ext uri="{FF2B5EF4-FFF2-40B4-BE49-F238E27FC236}">
                  <a16:creationId xmlns:a16="http://schemas.microsoft.com/office/drawing/2014/main" id="{0103FC3C-886A-0C4B-BB28-A7295BB97192}"/>
                </a:ext>
              </a:extLst>
            </p:cNvPr>
            <p:cNvCxnSpPr>
              <a:cxnSpLocks/>
            </p:cNvCxnSpPr>
            <p:nvPr/>
          </p:nvCxnSpPr>
          <p:spPr>
            <a:xfrm>
              <a:off x="1239391" y="3750683"/>
              <a:ext cx="152298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27A90A03-1271-CA47-8997-6C85FED96F19}"/>
                </a:ext>
              </a:extLst>
            </p:cNvPr>
            <p:cNvCxnSpPr>
              <a:cxnSpLocks/>
            </p:cNvCxnSpPr>
            <p:nvPr/>
          </p:nvCxnSpPr>
          <p:spPr>
            <a:xfrm flipV="1">
              <a:off x="2761429" y="3515657"/>
              <a:ext cx="0" cy="5497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323AE2BA-FD29-074E-A9B2-EBD8EFEAD468}"/>
                </a:ext>
              </a:extLst>
            </p:cNvPr>
            <p:cNvCxnSpPr>
              <a:cxnSpLocks/>
            </p:cNvCxnSpPr>
            <p:nvPr/>
          </p:nvCxnSpPr>
          <p:spPr>
            <a:xfrm>
              <a:off x="1228613" y="3205416"/>
              <a:ext cx="0" cy="5486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2" name="Group 13">
              <a:extLst>
                <a:ext uri="{FF2B5EF4-FFF2-40B4-BE49-F238E27FC236}">
                  <a16:creationId xmlns:a16="http://schemas.microsoft.com/office/drawing/2014/main" id="{552B6F2E-0231-B540-9741-08657CCD5614}"/>
                </a:ext>
              </a:extLst>
            </p:cNvPr>
            <p:cNvGrpSpPr>
              <a:grpSpLocks noChangeAspect="1"/>
            </p:cNvGrpSpPr>
            <p:nvPr/>
          </p:nvGrpSpPr>
          <p:grpSpPr bwMode="auto">
            <a:xfrm>
              <a:off x="2647129" y="3642963"/>
              <a:ext cx="228600" cy="228600"/>
              <a:chOff x="1344" y="2064"/>
              <a:chExt cx="192" cy="192"/>
            </a:xfrm>
          </p:grpSpPr>
          <p:sp>
            <p:nvSpPr>
              <p:cNvPr id="163" name="Oval 14">
                <a:extLst>
                  <a:ext uri="{FF2B5EF4-FFF2-40B4-BE49-F238E27FC236}">
                    <a16:creationId xmlns:a16="http://schemas.microsoft.com/office/drawing/2014/main" id="{21AEE6BA-8A78-8246-98F6-9B15ABB210C1}"/>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64" name="Rectangle 15">
                <a:extLst>
                  <a:ext uri="{FF2B5EF4-FFF2-40B4-BE49-F238E27FC236}">
                    <a16:creationId xmlns:a16="http://schemas.microsoft.com/office/drawing/2014/main" id="{2E63C5B7-83B2-6D44-B0A7-2463465EF981}"/>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65" name="Group 13">
              <a:extLst>
                <a:ext uri="{FF2B5EF4-FFF2-40B4-BE49-F238E27FC236}">
                  <a16:creationId xmlns:a16="http://schemas.microsoft.com/office/drawing/2014/main" id="{B5475CC6-954F-844D-9C9A-2F06C4BECFC7}"/>
                </a:ext>
              </a:extLst>
            </p:cNvPr>
            <p:cNvGrpSpPr>
              <a:grpSpLocks noChangeAspect="1"/>
            </p:cNvGrpSpPr>
            <p:nvPr/>
          </p:nvGrpSpPr>
          <p:grpSpPr bwMode="auto">
            <a:xfrm>
              <a:off x="2837629" y="2709238"/>
              <a:ext cx="228600" cy="228600"/>
              <a:chOff x="1344" y="2064"/>
              <a:chExt cx="192" cy="192"/>
            </a:xfrm>
          </p:grpSpPr>
          <p:sp>
            <p:nvSpPr>
              <p:cNvPr id="166" name="Oval 14">
                <a:extLst>
                  <a:ext uri="{FF2B5EF4-FFF2-40B4-BE49-F238E27FC236}">
                    <a16:creationId xmlns:a16="http://schemas.microsoft.com/office/drawing/2014/main" id="{397C7A1C-CF34-924F-A4D1-ACEBE73735CA}"/>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67" name="Rectangle 15">
                <a:extLst>
                  <a:ext uri="{FF2B5EF4-FFF2-40B4-BE49-F238E27FC236}">
                    <a16:creationId xmlns:a16="http://schemas.microsoft.com/office/drawing/2014/main" id="{78492618-0AF8-F640-9AC6-2FC58E17B06D}"/>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74" name="Group 13">
              <a:extLst>
                <a:ext uri="{FF2B5EF4-FFF2-40B4-BE49-F238E27FC236}">
                  <a16:creationId xmlns:a16="http://schemas.microsoft.com/office/drawing/2014/main" id="{7B886215-07D3-AC4A-A9CC-0AE2F7683249}"/>
                </a:ext>
              </a:extLst>
            </p:cNvPr>
            <p:cNvGrpSpPr>
              <a:grpSpLocks noChangeAspect="1"/>
            </p:cNvGrpSpPr>
            <p:nvPr/>
          </p:nvGrpSpPr>
          <p:grpSpPr bwMode="auto">
            <a:xfrm>
              <a:off x="459291" y="3102020"/>
              <a:ext cx="228600" cy="228600"/>
              <a:chOff x="1344" y="2064"/>
              <a:chExt cx="192" cy="192"/>
            </a:xfrm>
          </p:grpSpPr>
          <p:sp>
            <p:nvSpPr>
              <p:cNvPr id="175" name="Oval 14">
                <a:extLst>
                  <a:ext uri="{FF2B5EF4-FFF2-40B4-BE49-F238E27FC236}">
                    <a16:creationId xmlns:a16="http://schemas.microsoft.com/office/drawing/2014/main" id="{C6F9D0E9-831A-0442-A432-049AA1D698D4}"/>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76" name="Rectangle 15">
                <a:extLst>
                  <a:ext uri="{FF2B5EF4-FFF2-40B4-BE49-F238E27FC236}">
                    <a16:creationId xmlns:a16="http://schemas.microsoft.com/office/drawing/2014/main" id="{ECA039D2-CCFD-8C43-872D-511219C21572}"/>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6" name="TextBox 15">
              <a:extLst>
                <a:ext uri="{FF2B5EF4-FFF2-40B4-BE49-F238E27FC236}">
                  <a16:creationId xmlns:a16="http://schemas.microsoft.com/office/drawing/2014/main" id="{0917638E-87FD-3D49-BD74-9B8179643D9D}"/>
                </a:ext>
              </a:extLst>
            </p:cNvPr>
            <p:cNvSpPr txBox="1"/>
            <p:nvPr/>
          </p:nvSpPr>
          <p:spPr>
            <a:xfrm>
              <a:off x="376492" y="3285201"/>
              <a:ext cx="431528" cy="369332"/>
            </a:xfrm>
            <a:prstGeom prst="rect">
              <a:avLst/>
            </a:prstGeom>
            <a:noFill/>
          </p:spPr>
          <p:txBody>
            <a:bodyPr wrap="none" rtlCol="0">
              <a:spAutoFit/>
            </a:bodyPr>
            <a:lstStyle/>
            <a:p>
              <a:r>
                <a:rPr lang="en-US" dirty="0"/>
                <a:t>V</a:t>
              </a:r>
              <a:r>
                <a:rPr lang="en-US" baseline="-25000" dirty="0"/>
                <a:t>in</a:t>
              </a:r>
            </a:p>
          </p:txBody>
        </p:sp>
        <p:sp>
          <p:nvSpPr>
            <p:cNvPr id="177" name="TextBox 176">
              <a:extLst>
                <a:ext uri="{FF2B5EF4-FFF2-40B4-BE49-F238E27FC236}">
                  <a16:creationId xmlns:a16="http://schemas.microsoft.com/office/drawing/2014/main" id="{680D7F7E-85FB-3F47-A7D6-08095452DBE7}"/>
                </a:ext>
              </a:extLst>
            </p:cNvPr>
            <p:cNvSpPr txBox="1"/>
            <p:nvPr/>
          </p:nvSpPr>
          <p:spPr>
            <a:xfrm>
              <a:off x="2806661" y="2390706"/>
              <a:ext cx="519629" cy="369332"/>
            </a:xfrm>
            <a:prstGeom prst="rect">
              <a:avLst/>
            </a:prstGeom>
            <a:noFill/>
          </p:spPr>
          <p:txBody>
            <a:bodyPr wrap="none" rtlCol="0">
              <a:spAutoFit/>
            </a:bodyPr>
            <a:lstStyle/>
            <a:p>
              <a:r>
                <a:rPr lang="en-US" dirty="0" err="1"/>
                <a:t>V</a:t>
              </a:r>
              <a:r>
                <a:rPr lang="en-US" baseline="-25000" dirty="0" err="1"/>
                <a:t>out</a:t>
              </a:r>
              <a:endParaRPr lang="en-US" baseline="-25000" dirty="0"/>
            </a:p>
          </p:txBody>
        </p:sp>
        <p:sp>
          <p:nvSpPr>
            <p:cNvPr id="179" name="TextBox 178">
              <a:extLst>
                <a:ext uri="{FF2B5EF4-FFF2-40B4-BE49-F238E27FC236}">
                  <a16:creationId xmlns:a16="http://schemas.microsoft.com/office/drawing/2014/main" id="{4AAED862-24AE-674F-BF88-3048631E0A9B}"/>
                </a:ext>
              </a:extLst>
            </p:cNvPr>
            <p:cNvSpPr txBox="1"/>
            <p:nvPr/>
          </p:nvSpPr>
          <p:spPr>
            <a:xfrm>
              <a:off x="372722" y="1372240"/>
              <a:ext cx="1802296" cy="369332"/>
            </a:xfrm>
            <a:prstGeom prst="rect">
              <a:avLst/>
            </a:prstGeom>
            <a:noFill/>
          </p:spPr>
          <p:txBody>
            <a:bodyPr wrap="square" rtlCol="0">
              <a:spAutoFit/>
            </a:bodyPr>
            <a:lstStyle/>
            <a:p>
              <a:r>
                <a:rPr lang="en-US" dirty="0"/>
                <a:t>Square wave</a:t>
              </a:r>
            </a:p>
          </p:txBody>
        </p:sp>
        <p:sp>
          <p:nvSpPr>
            <p:cNvPr id="11" name="TextBox 10">
              <a:extLst>
                <a:ext uri="{FF2B5EF4-FFF2-40B4-BE49-F238E27FC236}">
                  <a16:creationId xmlns:a16="http://schemas.microsoft.com/office/drawing/2014/main" id="{023D0AF1-CF55-9242-9F17-274AAD50020C}"/>
                </a:ext>
              </a:extLst>
            </p:cNvPr>
            <p:cNvSpPr txBox="1"/>
            <p:nvPr/>
          </p:nvSpPr>
          <p:spPr>
            <a:xfrm>
              <a:off x="1532618" y="2624791"/>
              <a:ext cx="1066799" cy="369332"/>
            </a:xfrm>
            <a:prstGeom prst="rect">
              <a:avLst/>
            </a:prstGeom>
            <a:noFill/>
          </p:spPr>
          <p:txBody>
            <a:bodyPr wrap="square" rtlCol="0">
              <a:spAutoFit/>
            </a:bodyPr>
            <a:lstStyle/>
            <a:p>
              <a:r>
                <a:rPr lang="en-US" dirty="0"/>
                <a:t>LM358</a:t>
              </a:r>
            </a:p>
          </p:txBody>
        </p:sp>
        <p:sp>
          <p:nvSpPr>
            <p:cNvPr id="172" name="Freeform 12">
              <a:extLst>
                <a:ext uri="{FF2B5EF4-FFF2-40B4-BE49-F238E27FC236}">
                  <a16:creationId xmlns:a16="http://schemas.microsoft.com/office/drawing/2014/main" id="{9D3D6E25-4AB4-F944-8EE6-6A34CC8C8562}"/>
                </a:ext>
              </a:extLst>
            </p:cNvPr>
            <p:cNvSpPr>
              <a:spLocks noChangeAspect="1"/>
            </p:cNvSpPr>
            <p:nvPr/>
          </p:nvSpPr>
          <p:spPr bwMode="auto">
            <a:xfrm rot="5400000">
              <a:off x="1518167" y="1493023"/>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3" name="Freeform 12">
              <a:extLst>
                <a:ext uri="{FF2B5EF4-FFF2-40B4-BE49-F238E27FC236}">
                  <a16:creationId xmlns:a16="http://schemas.microsoft.com/office/drawing/2014/main" id="{D878C165-ECCB-1649-A218-1B7A95EC0667}"/>
                </a:ext>
              </a:extLst>
            </p:cNvPr>
            <p:cNvSpPr>
              <a:spLocks noChangeAspect="1"/>
            </p:cNvSpPr>
            <p:nvPr/>
          </p:nvSpPr>
          <p:spPr bwMode="auto">
            <a:xfrm rot="5400000">
              <a:off x="848932" y="2838116"/>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8" name="TextBox 177">
              <a:extLst>
                <a:ext uri="{FF2B5EF4-FFF2-40B4-BE49-F238E27FC236}">
                  <a16:creationId xmlns:a16="http://schemas.microsoft.com/office/drawing/2014/main" id="{CC50877E-7004-F341-BFDE-452BB4C261C1}"/>
                </a:ext>
              </a:extLst>
            </p:cNvPr>
            <p:cNvSpPr txBox="1"/>
            <p:nvPr/>
          </p:nvSpPr>
          <p:spPr>
            <a:xfrm>
              <a:off x="2856047" y="4078530"/>
              <a:ext cx="720372" cy="338554"/>
            </a:xfrm>
            <a:prstGeom prst="rect">
              <a:avLst/>
            </a:prstGeom>
            <a:noFill/>
          </p:spPr>
          <p:txBody>
            <a:bodyPr wrap="square" rtlCol="0">
              <a:spAutoFit/>
            </a:bodyPr>
            <a:lstStyle/>
            <a:p>
              <a:r>
                <a:rPr lang="en-US" sz="1600" dirty="0"/>
                <a:t>100K</a:t>
              </a:r>
              <a:endParaRPr lang="en-US" baseline="-25000" dirty="0"/>
            </a:p>
          </p:txBody>
        </p:sp>
        <p:sp>
          <p:nvSpPr>
            <p:cNvPr id="181" name="TextBox 180">
              <a:extLst>
                <a:ext uri="{FF2B5EF4-FFF2-40B4-BE49-F238E27FC236}">
                  <a16:creationId xmlns:a16="http://schemas.microsoft.com/office/drawing/2014/main" id="{D6B1E2B1-FD74-4945-8BB7-C5EB0F63AE28}"/>
                </a:ext>
              </a:extLst>
            </p:cNvPr>
            <p:cNvSpPr txBox="1"/>
            <p:nvPr/>
          </p:nvSpPr>
          <p:spPr>
            <a:xfrm>
              <a:off x="1327611" y="1898730"/>
              <a:ext cx="720372" cy="338554"/>
            </a:xfrm>
            <a:prstGeom prst="rect">
              <a:avLst/>
            </a:prstGeom>
            <a:noFill/>
          </p:spPr>
          <p:txBody>
            <a:bodyPr wrap="square" rtlCol="0">
              <a:spAutoFit/>
            </a:bodyPr>
            <a:lstStyle/>
            <a:p>
              <a:r>
                <a:rPr lang="en-US" sz="1600" dirty="0"/>
                <a:t>100K</a:t>
              </a:r>
              <a:endParaRPr lang="en-US" baseline="-25000" dirty="0"/>
            </a:p>
          </p:txBody>
        </p:sp>
        <p:cxnSp>
          <p:nvCxnSpPr>
            <p:cNvPr id="210" name="Straight Connector 209">
              <a:extLst>
                <a:ext uri="{FF2B5EF4-FFF2-40B4-BE49-F238E27FC236}">
                  <a16:creationId xmlns:a16="http://schemas.microsoft.com/office/drawing/2014/main" id="{69A60E94-44F0-A147-8CBA-49EC44D478F7}"/>
                </a:ext>
              </a:extLst>
            </p:cNvPr>
            <p:cNvCxnSpPr>
              <a:cxnSpLocks/>
            </p:cNvCxnSpPr>
            <p:nvPr/>
          </p:nvCxnSpPr>
          <p:spPr>
            <a:xfrm>
              <a:off x="1213367" y="1863906"/>
              <a:ext cx="0" cy="594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B6706834-0AB1-E14B-9486-B8ABF504AFE7}"/>
                </a:ext>
              </a:extLst>
            </p:cNvPr>
            <p:cNvCxnSpPr>
              <a:cxnSpLocks/>
            </p:cNvCxnSpPr>
            <p:nvPr/>
          </p:nvCxnSpPr>
          <p:spPr>
            <a:xfrm>
              <a:off x="1956650" y="1870712"/>
              <a:ext cx="8229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D83F05C1-F211-9546-8992-9872DE154133}"/>
                </a:ext>
              </a:extLst>
            </p:cNvPr>
            <p:cNvCxnSpPr>
              <a:cxnSpLocks/>
            </p:cNvCxnSpPr>
            <p:nvPr/>
          </p:nvCxnSpPr>
          <p:spPr>
            <a:xfrm>
              <a:off x="2755753" y="1857568"/>
              <a:ext cx="0" cy="109728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3" name="Group 13">
              <a:extLst>
                <a:ext uri="{FF2B5EF4-FFF2-40B4-BE49-F238E27FC236}">
                  <a16:creationId xmlns:a16="http://schemas.microsoft.com/office/drawing/2014/main" id="{B9D55E25-6203-E347-9814-8E8388DE46A6}"/>
                </a:ext>
              </a:extLst>
            </p:cNvPr>
            <p:cNvGrpSpPr>
              <a:grpSpLocks noChangeAspect="1"/>
            </p:cNvGrpSpPr>
            <p:nvPr/>
          </p:nvGrpSpPr>
          <p:grpSpPr bwMode="auto">
            <a:xfrm>
              <a:off x="2660382" y="2715866"/>
              <a:ext cx="228600" cy="228600"/>
              <a:chOff x="1344" y="2064"/>
              <a:chExt cx="192" cy="192"/>
            </a:xfrm>
          </p:grpSpPr>
          <p:sp>
            <p:nvSpPr>
              <p:cNvPr id="214" name="Oval 14">
                <a:extLst>
                  <a:ext uri="{FF2B5EF4-FFF2-40B4-BE49-F238E27FC236}">
                    <a16:creationId xmlns:a16="http://schemas.microsoft.com/office/drawing/2014/main" id="{3C772D92-5598-804A-926A-E7C55B38C03E}"/>
                  </a:ext>
                </a:extLst>
              </p:cNvPr>
              <p:cNvSpPr>
                <a:spLocks noChangeAspect="1" noChangeArrowheads="1"/>
              </p:cNvSpPr>
              <p:nvPr/>
            </p:nvSpPr>
            <p:spPr bwMode="auto">
              <a:xfrm>
                <a:off x="1378"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15" name="Rectangle 15">
                <a:extLst>
                  <a:ext uri="{FF2B5EF4-FFF2-40B4-BE49-F238E27FC236}">
                    <a16:creationId xmlns:a16="http://schemas.microsoft.com/office/drawing/2014/main" id="{89FC42F5-5BD8-8B41-844A-CB7A147487F6}"/>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216" name="Group 210">
              <a:extLst>
                <a:ext uri="{FF2B5EF4-FFF2-40B4-BE49-F238E27FC236}">
                  <a16:creationId xmlns:a16="http://schemas.microsoft.com/office/drawing/2014/main" id="{781D7168-2BB8-1A4B-8861-F7E32479C863}"/>
                </a:ext>
              </a:extLst>
            </p:cNvPr>
            <p:cNvGrpSpPr>
              <a:grpSpLocks/>
            </p:cNvGrpSpPr>
            <p:nvPr/>
          </p:nvGrpSpPr>
          <p:grpSpPr bwMode="auto">
            <a:xfrm rot="5400000">
              <a:off x="806239" y="2069823"/>
              <a:ext cx="304800" cy="762000"/>
              <a:chOff x="3216" y="1728"/>
              <a:chExt cx="192" cy="480"/>
            </a:xfrm>
          </p:grpSpPr>
          <p:sp>
            <p:nvSpPr>
              <p:cNvPr id="217" name="Line 8">
                <a:extLst>
                  <a:ext uri="{FF2B5EF4-FFF2-40B4-BE49-F238E27FC236}">
                    <a16:creationId xmlns:a16="http://schemas.microsoft.com/office/drawing/2014/main" id="{A22C8E63-CE42-7A4F-A40D-239C40FA9BE9}"/>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8" name="Line 9">
                <a:extLst>
                  <a:ext uri="{FF2B5EF4-FFF2-40B4-BE49-F238E27FC236}">
                    <a16:creationId xmlns:a16="http://schemas.microsoft.com/office/drawing/2014/main" id="{094A48CB-BCB1-2646-A9E3-1DD0C17D56A2}"/>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9" name="Line 10">
                <a:extLst>
                  <a:ext uri="{FF2B5EF4-FFF2-40B4-BE49-F238E27FC236}">
                    <a16:creationId xmlns:a16="http://schemas.microsoft.com/office/drawing/2014/main" id="{7B628763-DAF7-3D45-A60D-83A8A4602DC5}"/>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0" name="Line 11">
                <a:extLst>
                  <a:ext uri="{FF2B5EF4-FFF2-40B4-BE49-F238E27FC236}">
                    <a16:creationId xmlns:a16="http://schemas.microsoft.com/office/drawing/2014/main" id="{CC585950-DCE1-EE44-BF6F-854DFC73A285}"/>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33" name="Group 220">
              <a:extLst>
                <a:ext uri="{FF2B5EF4-FFF2-40B4-BE49-F238E27FC236}">
                  <a16:creationId xmlns:a16="http://schemas.microsoft.com/office/drawing/2014/main" id="{54A39DA3-D8DE-0B47-93EF-85DB0A4E2BD7}"/>
                </a:ext>
              </a:extLst>
            </p:cNvPr>
            <p:cNvGrpSpPr>
              <a:grpSpLocks/>
            </p:cNvGrpSpPr>
            <p:nvPr/>
          </p:nvGrpSpPr>
          <p:grpSpPr bwMode="auto">
            <a:xfrm>
              <a:off x="516056" y="2440922"/>
              <a:ext cx="152400" cy="304800"/>
              <a:chOff x="3264" y="3072"/>
              <a:chExt cx="96" cy="192"/>
            </a:xfrm>
          </p:grpSpPr>
          <p:sp>
            <p:nvSpPr>
              <p:cNvPr id="234" name="Line 17">
                <a:extLst>
                  <a:ext uri="{FF2B5EF4-FFF2-40B4-BE49-F238E27FC236}">
                    <a16:creationId xmlns:a16="http://schemas.microsoft.com/office/drawing/2014/main" id="{4DCB3F48-5691-BE43-818B-0A4D7F5CED92}"/>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 name="Freeform 18">
                <a:extLst>
                  <a:ext uri="{FF2B5EF4-FFF2-40B4-BE49-F238E27FC236}">
                    <a16:creationId xmlns:a16="http://schemas.microsoft.com/office/drawing/2014/main" id="{0E94F73D-5808-A84C-ACA9-74886A5AC48C}"/>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36" name="TextBox 235">
              <a:extLst>
                <a:ext uri="{FF2B5EF4-FFF2-40B4-BE49-F238E27FC236}">
                  <a16:creationId xmlns:a16="http://schemas.microsoft.com/office/drawing/2014/main" id="{483F4B45-15C0-9F48-A9ED-A674C47F87ED}"/>
                </a:ext>
              </a:extLst>
            </p:cNvPr>
            <p:cNvSpPr txBox="1"/>
            <p:nvPr/>
          </p:nvSpPr>
          <p:spPr>
            <a:xfrm>
              <a:off x="731482" y="2827849"/>
              <a:ext cx="720372" cy="338554"/>
            </a:xfrm>
            <a:prstGeom prst="rect">
              <a:avLst/>
            </a:prstGeom>
            <a:noFill/>
          </p:spPr>
          <p:txBody>
            <a:bodyPr wrap="square" rtlCol="0">
              <a:spAutoFit/>
            </a:bodyPr>
            <a:lstStyle/>
            <a:p>
              <a:r>
                <a:rPr lang="en-US" sz="1600" dirty="0"/>
                <a:t>100K</a:t>
              </a:r>
              <a:endParaRPr lang="en-US" baseline="-25000" dirty="0"/>
            </a:p>
          </p:txBody>
        </p:sp>
        <p:sp>
          <p:nvSpPr>
            <p:cNvPr id="237" name="TextBox 236">
              <a:extLst>
                <a:ext uri="{FF2B5EF4-FFF2-40B4-BE49-F238E27FC236}">
                  <a16:creationId xmlns:a16="http://schemas.microsoft.com/office/drawing/2014/main" id="{9FD69A0B-B0F2-F74A-91F2-972A96D925C7}"/>
                </a:ext>
              </a:extLst>
            </p:cNvPr>
            <p:cNvSpPr txBox="1"/>
            <p:nvPr/>
          </p:nvSpPr>
          <p:spPr>
            <a:xfrm>
              <a:off x="342823" y="1914762"/>
              <a:ext cx="865027" cy="338554"/>
            </a:xfrm>
            <a:prstGeom prst="rect">
              <a:avLst/>
            </a:prstGeom>
            <a:noFill/>
          </p:spPr>
          <p:txBody>
            <a:bodyPr wrap="square" rtlCol="0">
              <a:spAutoFit/>
            </a:bodyPr>
            <a:lstStyle/>
            <a:p>
              <a:r>
                <a:rPr lang="en-US" sz="1600" dirty="0"/>
                <a:t>.001uF</a:t>
              </a:r>
              <a:endParaRPr lang="en-US" baseline="-25000" dirty="0"/>
            </a:p>
          </p:txBody>
        </p:sp>
      </p:grpSp>
      <p:grpSp>
        <p:nvGrpSpPr>
          <p:cNvPr id="8" name="Group 7">
            <a:extLst>
              <a:ext uri="{FF2B5EF4-FFF2-40B4-BE49-F238E27FC236}">
                <a16:creationId xmlns:a16="http://schemas.microsoft.com/office/drawing/2014/main" id="{00B78E6A-1A4C-6E89-D513-2956660E5F99}"/>
              </a:ext>
            </a:extLst>
          </p:cNvPr>
          <p:cNvGrpSpPr/>
          <p:nvPr/>
        </p:nvGrpSpPr>
        <p:grpSpPr>
          <a:xfrm>
            <a:off x="3652343" y="2017380"/>
            <a:ext cx="2626728" cy="2357625"/>
            <a:chOff x="3729783" y="1381196"/>
            <a:chExt cx="2626728" cy="2357625"/>
          </a:xfrm>
        </p:grpSpPr>
        <p:grpSp>
          <p:nvGrpSpPr>
            <p:cNvPr id="106" name="Group 39">
              <a:extLst>
                <a:ext uri="{FF2B5EF4-FFF2-40B4-BE49-F238E27FC236}">
                  <a16:creationId xmlns:a16="http://schemas.microsoft.com/office/drawing/2014/main" id="{9A1A28D6-335B-EF41-96C9-4C82005A89A0}"/>
                </a:ext>
              </a:extLst>
            </p:cNvPr>
            <p:cNvGrpSpPr>
              <a:grpSpLocks/>
            </p:cNvGrpSpPr>
            <p:nvPr/>
          </p:nvGrpSpPr>
          <p:grpSpPr bwMode="auto">
            <a:xfrm>
              <a:off x="4468747" y="1898448"/>
              <a:ext cx="1676400" cy="1371600"/>
              <a:chOff x="2496" y="1968"/>
              <a:chExt cx="1056" cy="864"/>
            </a:xfrm>
          </p:grpSpPr>
          <p:sp>
            <p:nvSpPr>
              <p:cNvPr id="107" name="Line 40">
                <a:extLst>
                  <a:ext uri="{FF2B5EF4-FFF2-40B4-BE49-F238E27FC236}">
                    <a16:creationId xmlns:a16="http://schemas.microsoft.com/office/drawing/2014/main" id="{8EFC9298-88B1-564B-B4C2-D85F3D68257F}"/>
                  </a:ext>
                </a:extLst>
              </p:cNvPr>
              <p:cNvSpPr>
                <a:spLocks noChangeShapeType="1"/>
              </p:cNvSpPr>
              <p:nvPr/>
            </p:nvSpPr>
            <p:spPr bwMode="auto">
              <a:xfrm>
                <a:off x="2496" y="216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 name="Line 41">
                <a:extLst>
                  <a:ext uri="{FF2B5EF4-FFF2-40B4-BE49-F238E27FC236}">
                    <a16:creationId xmlns:a16="http://schemas.microsoft.com/office/drawing/2014/main" id="{02F9F9B7-51BA-7243-93DA-489B121FD452}"/>
                  </a:ext>
                </a:extLst>
              </p:cNvPr>
              <p:cNvSpPr>
                <a:spLocks noChangeShapeType="1"/>
              </p:cNvSpPr>
              <p:nvPr/>
            </p:nvSpPr>
            <p:spPr bwMode="auto">
              <a:xfrm>
                <a:off x="2496" y="264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 name="Line 42">
                <a:extLst>
                  <a:ext uri="{FF2B5EF4-FFF2-40B4-BE49-F238E27FC236}">
                    <a16:creationId xmlns:a16="http://schemas.microsoft.com/office/drawing/2014/main" id="{3226E2E2-6D16-2245-9038-7BCA98B28995}"/>
                  </a:ext>
                </a:extLst>
              </p:cNvPr>
              <p:cNvSpPr>
                <a:spLocks noChangeShapeType="1"/>
              </p:cNvSpPr>
              <p:nvPr/>
            </p:nvSpPr>
            <p:spPr bwMode="auto">
              <a:xfrm>
                <a:off x="3360" y="240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 name="Freeform 43">
                <a:extLst>
                  <a:ext uri="{FF2B5EF4-FFF2-40B4-BE49-F238E27FC236}">
                    <a16:creationId xmlns:a16="http://schemas.microsoft.com/office/drawing/2014/main" id="{02C55914-6058-364F-BC72-DD0C1A18EB8C}"/>
                  </a:ext>
                </a:extLst>
              </p:cNvPr>
              <p:cNvSpPr>
                <a:spLocks/>
              </p:cNvSpPr>
              <p:nvPr/>
            </p:nvSpPr>
            <p:spPr bwMode="auto">
              <a:xfrm>
                <a:off x="2688" y="1968"/>
                <a:ext cx="672" cy="864"/>
              </a:xfrm>
              <a:custGeom>
                <a:avLst/>
                <a:gdLst>
                  <a:gd name="T0" fmla="*/ 6120 w 432"/>
                  <a:gd name="T1" fmla="*/ 779 h 768"/>
                  <a:gd name="T2" fmla="*/ 0 w 432"/>
                  <a:gd name="T3" fmla="*/ 1558 h 768"/>
                  <a:gd name="T4" fmla="*/ 0 w 432"/>
                  <a:gd name="T5" fmla="*/ 0 h 768"/>
                  <a:gd name="T6" fmla="*/ 6120 w 432"/>
                  <a:gd name="T7" fmla="*/ 779 h 768"/>
                  <a:gd name="T8" fmla="*/ 0 60000 65536"/>
                  <a:gd name="T9" fmla="*/ 0 60000 65536"/>
                  <a:gd name="T10" fmla="*/ 0 60000 65536"/>
                  <a:gd name="T11" fmla="*/ 0 60000 65536"/>
                  <a:gd name="T12" fmla="*/ 0 w 432"/>
                  <a:gd name="T13" fmla="*/ 0 h 768"/>
                  <a:gd name="T14" fmla="*/ 432 w 432"/>
                  <a:gd name="T15" fmla="*/ 768 h 768"/>
                </a:gdLst>
                <a:ahLst/>
                <a:cxnLst>
                  <a:cxn ang="T8">
                    <a:pos x="T0" y="T1"/>
                  </a:cxn>
                  <a:cxn ang="T9">
                    <a:pos x="T2" y="T3"/>
                  </a:cxn>
                  <a:cxn ang="T10">
                    <a:pos x="T4" y="T5"/>
                  </a:cxn>
                  <a:cxn ang="T11">
                    <a:pos x="T6" y="T7"/>
                  </a:cxn>
                </a:cxnLst>
                <a:rect l="T12" t="T13" r="T14" b="T15"/>
                <a:pathLst>
                  <a:path w="432" h="768">
                    <a:moveTo>
                      <a:pt x="432" y="384"/>
                    </a:moveTo>
                    <a:lnTo>
                      <a:pt x="0" y="768"/>
                    </a:lnTo>
                    <a:lnTo>
                      <a:pt x="0" y="0"/>
                    </a:lnTo>
                    <a:lnTo>
                      <a:pt x="432" y="38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grpSp>
        <p:sp>
          <p:nvSpPr>
            <p:cNvPr id="112" name="TextBox 111">
              <a:extLst>
                <a:ext uri="{FF2B5EF4-FFF2-40B4-BE49-F238E27FC236}">
                  <a16:creationId xmlns:a16="http://schemas.microsoft.com/office/drawing/2014/main" id="{F4BA0F27-9F5F-904F-AE79-D04E04426D04}"/>
                </a:ext>
              </a:extLst>
            </p:cNvPr>
            <p:cNvSpPr txBox="1"/>
            <p:nvPr/>
          </p:nvSpPr>
          <p:spPr>
            <a:xfrm flipH="1">
              <a:off x="4770794" y="2749817"/>
              <a:ext cx="439757" cy="369332"/>
            </a:xfrm>
            <a:prstGeom prst="rect">
              <a:avLst/>
            </a:prstGeom>
            <a:noFill/>
          </p:spPr>
          <p:txBody>
            <a:bodyPr wrap="square" rtlCol="0">
              <a:spAutoFit/>
            </a:bodyPr>
            <a:lstStyle/>
            <a:p>
              <a:r>
                <a:rPr lang="en-US" dirty="0"/>
                <a:t>+</a:t>
              </a:r>
            </a:p>
          </p:txBody>
        </p:sp>
        <p:sp>
          <p:nvSpPr>
            <p:cNvPr id="113" name="TextBox 112">
              <a:extLst>
                <a:ext uri="{FF2B5EF4-FFF2-40B4-BE49-F238E27FC236}">
                  <a16:creationId xmlns:a16="http://schemas.microsoft.com/office/drawing/2014/main" id="{150DBF96-4AF4-7E4A-9B9D-88857EA4E7FD}"/>
                </a:ext>
              </a:extLst>
            </p:cNvPr>
            <p:cNvSpPr txBox="1"/>
            <p:nvPr/>
          </p:nvSpPr>
          <p:spPr>
            <a:xfrm flipH="1">
              <a:off x="4813024" y="2009850"/>
              <a:ext cx="439757" cy="369332"/>
            </a:xfrm>
            <a:prstGeom prst="rect">
              <a:avLst/>
            </a:prstGeom>
            <a:noFill/>
          </p:spPr>
          <p:txBody>
            <a:bodyPr wrap="square" rtlCol="0">
              <a:spAutoFit/>
            </a:bodyPr>
            <a:lstStyle/>
            <a:p>
              <a:r>
                <a:rPr lang="en-US" dirty="0"/>
                <a:t>-</a:t>
              </a:r>
            </a:p>
          </p:txBody>
        </p:sp>
        <p:cxnSp>
          <p:nvCxnSpPr>
            <p:cNvPr id="133" name="Straight Connector 132">
              <a:extLst>
                <a:ext uri="{FF2B5EF4-FFF2-40B4-BE49-F238E27FC236}">
                  <a16:creationId xmlns:a16="http://schemas.microsoft.com/office/drawing/2014/main" id="{3DFE31FB-30FF-0C40-849D-41B5AD607411}"/>
                </a:ext>
              </a:extLst>
            </p:cNvPr>
            <p:cNvCxnSpPr>
              <a:cxnSpLocks/>
            </p:cNvCxnSpPr>
            <p:nvPr/>
          </p:nvCxnSpPr>
          <p:spPr>
            <a:xfrm>
              <a:off x="4563688" y="2963768"/>
              <a:ext cx="0" cy="70364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8" name="Group 13">
              <a:extLst>
                <a:ext uri="{FF2B5EF4-FFF2-40B4-BE49-F238E27FC236}">
                  <a16:creationId xmlns:a16="http://schemas.microsoft.com/office/drawing/2014/main" id="{EDBB6C71-B63A-1E46-96A8-E281CCBF3583}"/>
                </a:ext>
              </a:extLst>
            </p:cNvPr>
            <p:cNvGrpSpPr>
              <a:grpSpLocks noChangeAspect="1"/>
            </p:cNvGrpSpPr>
            <p:nvPr/>
          </p:nvGrpSpPr>
          <p:grpSpPr bwMode="auto">
            <a:xfrm>
              <a:off x="6078278" y="2476329"/>
              <a:ext cx="228600" cy="228600"/>
              <a:chOff x="1344" y="2064"/>
              <a:chExt cx="192" cy="192"/>
            </a:xfrm>
          </p:grpSpPr>
          <p:sp>
            <p:nvSpPr>
              <p:cNvPr id="144" name="Oval 14">
                <a:extLst>
                  <a:ext uri="{FF2B5EF4-FFF2-40B4-BE49-F238E27FC236}">
                    <a16:creationId xmlns:a16="http://schemas.microsoft.com/office/drawing/2014/main" id="{5A3EAE44-CFB6-714D-B4BC-79873BECA7E9}"/>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47" name="Rectangle 15">
                <a:extLst>
                  <a:ext uri="{FF2B5EF4-FFF2-40B4-BE49-F238E27FC236}">
                    <a16:creationId xmlns:a16="http://schemas.microsoft.com/office/drawing/2014/main" id="{7CEC83B5-39CA-4C41-93BD-1D66CB133615}"/>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48" name="Group 13">
              <a:extLst>
                <a:ext uri="{FF2B5EF4-FFF2-40B4-BE49-F238E27FC236}">
                  <a16:creationId xmlns:a16="http://schemas.microsoft.com/office/drawing/2014/main" id="{4FB99AD5-C829-4649-A94E-CC5B67EB671B}"/>
                </a:ext>
              </a:extLst>
            </p:cNvPr>
            <p:cNvGrpSpPr>
              <a:grpSpLocks noChangeAspect="1"/>
            </p:cNvGrpSpPr>
            <p:nvPr/>
          </p:nvGrpSpPr>
          <p:grpSpPr bwMode="auto">
            <a:xfrm>
              <a:off x="4362119" y="2098642"/>
              <a:ext cx="228600" cy="228600"/>
              <a:chOff x="1344" y="2064"/>
              <a:chExt cx="192" cy="192"/>
            </a:xfrm>
          </p:grpSpPr>
          <p:sp>
            <p:nvSpPr>
              <p:cNvPr id="149" name="Oval 14">
                <a:extLst>
                  <a:ext uri="{FF2B5EF4-FFF2-40B4-BE49-F238E27FC236}">
                    <a16:creationId xmlns:a16="http://schemas.microsoft.com/office/drawing/2014/main" id="{AF3A3442-6D7B-B941-97CD-27F6E8B5BC78}"/>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61" name="Rectangle 15">
                <a:extLst>
                  <a:ext uri="{FF2B5EF4-FFF2-40B4-BE49-F238E27FC236}">
                    <a16:creationId xmlns:a16="http://schemas.microsoft.com/office/drawing/2014/main" id="{F0443851-04BA-334E-B857-12F93AC69EF6}"/>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68" name="TextBox 167">
              <a:extLst>
                <a:ext uri="{FF2B5EF4-FFF2-40B4-BE49-F238E27FC236}">
                  <a16:creationId xmlns:a16="http://schemas.microsoft.com/office/drawing/2014/main" id="{CEB44A18-5C44-B240-8AF7-3DB44B127EB1}"/>
                </a:ext>
              </a:extLst>
            </p:cNvPr>
            <p:cNvSpPr txBox="1"/>
            <p:nvPr/>
          </p:nvSpPr>
          <p:spPr>
            <a:xfrm>
              <a:off x="3948444" y="2032427"/>
              <a:ext cx="431528" cy="369332"/>
            </a:xfrm>
            <a:prstGeom prst="rect">
              <a:avLst/>
            </a:prstGeom>
            <a:noFill/>
          </p:spPr>
          <p:txBody>
            <a:bodyPr wrap="none" rtlCol="0">
              <a:spAutoFit/>
            </a:bodyPr>
            <a:lstStyle/>
            <a:p>
              <a:r>
                <a:rPr lang="en-US" dirty="0"/>
                <a:t>V</a:t>
              </a:r>
              <a:r>
                <a:rPr lang="en-US" baseline="-25000" dirty="0"/>
                <a:t>in</a:t>
              </a:r>
            </a:p>
          </p:txBody>
        </p:sp>
        <p:sp>
          <p:nvSpPr>
            <p:cNvPr id="169" name="TextBox 168">
              <a:extLst>
                <a:ext uri="{FF2B5EF4-FFF2-40B4-BE49-F238E27FC236}">
                  <a16:creationId xmlns:a16="http://schemas.microsoft.com/office/drawing/2014/main" id="{E5D84A3F-1FF7-1544-8E5B-BA534A5A7DA3}"/>
                </a:ext>
              </a:extLst>
            </p:cNvPr>
            <p:cNvSpPr txBox="1"/>
            <p:nvPr/>
          </p:nvSpPr>
          <p:spPr>
            <a:xfrm>
              <a:off x="5836882" y="2145071"/>
              <a:ext cx="519629" cy="369332"/>
            </a:xfrm>
            <a:prstGeom prst="rect">
              <a:avLst/>
            </a:prstGeom>
            <a:noFill/>
          </p:spPr>
          <p:txBody>
            <a:bodyPr wrap="none" rtlCol="0">
              <a:spAutoFit/>
            </a:bodyPr>
            <a:lstStyle/>
            <a:p>
              <a:r>
                <a:rPr lang="en-US" dirty="0" err="1"/>
                <a:t>V</a:t>
              </a:r>
              <a:r>
                <a:rPr lang="en-US" baseline="-25000" dirty="0" err="1"/>
                <a:t>out</a:t>
              </a:r>
              <a:endParaRPr lang="en-US" baseline="-25000" dirty="0"/>
            </a:p>
          </p:txBody>
        </p:sp>
        <p:sp>
          <p:nvSpPr>
            <p:cNvPr id="170" name="TextBox 169">
              <a:extLst>
                <a:ext uri="{FF2B5EF4-FFF2-40B4-BE49-F238E27FC236}">
                  <a16:creationId xmlns:a16="http://schemas.microsoft.com/office/drawing/2014/main" id="{E5C501FF-C2A2-DC45-83FF-98E17EFE203B}"/>
                </a:ext>
              </a:extLst>
            </p:cNvPr>
            <p:cNvSpPr txBox="1"/>
            <p:nvPr/>
          </p:nvSpPr>
          <p:spPr>
            <a:xfrm>
              <a:off x="4773267" y="2379182"/>
              <a:ext cx="1066799" cy="369332"/>
            </a:xfrm>
            <a:prstGeom prst="rect">
              <a:avLst/>
            </a:prstGeom>
            <a:noFill/>
          </p:spPr>
          <p:txBody>
            <a:bodyPr wrap="square" rtlCol="0">
              <a:spAutoFit/>
            </a:bodyPr>
            <a:lstStyle/>
            <a:p>
              <a:r>
                <a:rPr lang="en-US" dirty="0"/>
                <a:t>LM358</a:t>
              </a:r>
            </a:p>
          </p:txBody>
        </p:sp>
        <p:sp>
          <p:nvSpPr>
            <p:cNvPr id="171" name="TextBox 170">
              <a:extLst>
                <a:ext uri="{FF2B5EF4-FFF2-40B4-BE49-F238E27FC236}">
                  <a16:creationId xmlns:a16="http://schemas.microsoft.com/office/drawing/2014/main" id="{5119CA7A-786B-4D42-9711-FE547D5E29B8}"/>
                </a:ext>
              </a:extLst>
            </p:cNvPr>
            <p:cNvSpPr txBox="1"/>
            <p:nvPr/>
          </p:nvSpPr>
          <p:spPr>
            <a:xfrm>
              <a:off x="4291690" y="1381196"/>
              <a:ext cx="1802296" cy="369332"/>
            </a:xfrm>
            <a:prstGeom prst="rect">
              <a:avLst/>
            </a:prstGeom>
            <a:noFill/>
          </p:spPr>
          <p:txBody>
            <a:bodyPr wrap="square" rtlCol="0">
              <a:spAutoFit/>
            </a:bodyPr>
            <a:lstStyle/>
            <a:p>
              <a:r>
                <a:rPr lang="en-US" dirty="0"/>
                <a:t>Peak</a:t>
              </a:r>
            </a:p>
          </p:txBody>
        </p:sp>
        <p:cxnSp>
          <p:nvCxnSpPr>
            <p:cNvPr id="209" name="Straight Connector 208">
              <a:extLst>
                <a:ext uri="{FF2B5EF4-FFF2-40B4-BE49-F238E27FC236}">
                  <a16:creationId xmlns:a16="http://schemas.microsoft.com/office/drawing/2014/main" id="{AAC1DA82-5903-814C-B5D5-04D09280C5F3}"/>
                </a:ext>
              </a:extLst>
            </p:cNvPr>
            <p:cNvCxnSpPr>
              <a:cxnSpLocks/>
            </p:cNvCxnSpPr>
            <p:nvPr/>
          </p:nvCxnSpPr>
          <p:spPr>
            <a:xfrm>
              <a:off x="5184047" y="3662621"/>
              <a:ext cx="8229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38" name="Freeform 12">
              <a:extLst>
                <a:ext uri="{FF2B5EF4-FFF2-40B4-BE49-F238E27FC236}">
                  <a16:creationId xmlns:a16="http://schemas.microsoft.com/office/drawing/2014/main" id="{64F3CBF9-4FCA-664B-B469-88A437F8B9B9}"/>
                </a:ext>
              </a:extLst>
            </p:cNvPr>
            <p:cNvSpPr>
              <a:spLocks noChangeAspect="1"/>
            </p:cNvSpPr>
            <p:nvPr/>
          </p:nvSpPr>
          <p:spPr bwMode="auto">
            <a:xfrm rot="5400000">
              <a:off x="4858212" y="3281621"/>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9" name="Freeform 12">
              <a:extLst>
                <a:ext uri="{FF2B5EF4-FFF2-40B4-BE49-F238E27FC236}">
                  <a16:creationId xmlns:a16="http://schemas.microsoft.com/office/drawing/2014/main" id="{FBD2216E-A812-E546-B2F6-DBBDE0F78FF8}"/>
                </a:ext>
              </a:extLst>
            </p:cNvPr>
            <p:cNvSpPr>
              <a:spLocks noChangeAspect="1"/>
            </p:cNvSpPr>
            <p:nvPr/>
          </p:nvSpPr>
          <p:spPr bwMode="auto">
            <a:xfrm rot="5400000">
              <a:off x="4149219" y="2585879"/>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240" name="Straight Connector 239">
              <a:extLst>
                <a:ext uri="{FF2B5EF4-FFF2-40B4-BE49-F238E27FC236}">
                  <a16:creationId xmlns:a16="http://schemas.microsoft.com/office/drawing/2014/main" id="{C36EFDDD-7F2F-8647-AB27-4A6550494F53}"/>
                </a:ext>
              </a:extLst>
            </p:cNvPr>
            <p:cNvCxnSpPr>
              <a:cxnSpLocks/>
            </p:cNvCxnSpPr>
            <p:nvPr/>
          </p:nvCxnSpPr>
          <p:spPr>
            <a:xfrm>
              <a:off x="5992747" y="2565781"/>
              <a:ext cx="0" cy="109728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41" name="TextBox 240">
              <a:extLst>
                <a:ext uri="{FF2B5EF4-FFF2-40B4-BE49-F238E27FC236}">
                  <a16:creationId xmlns:a16="http://schemas.microsoft.com/office/drawing/2014/main" id="{1BA6217E-42DC-904C-93A2-71A8AEC46F51}"/>
                </a:ext>
              </a:extLst>
            </p:cNvPr>
            <p:cNvSpPr txBox="1"/>
            <p:nvPr/>
          </p:nvSpPr>
          <p:spPr>
            <a:xfrm>
              <a:off x="3729783" y="3125732"/>
              <a:ext cx="483402" cy="369332"/>
            </a:xfrm>
            <a:prstGeom prst="rect">
              <a:avLst/>
            </a:prstGeom>
            <a:noFill/>
          </p:spPr>
          <p:txBody>
            <a:bodyPr wrap="none" rtlCol="0">
              <a:spAutoFit/>
            </a:bodyPr>
            <a:lstStyle/>
            <a:p>
              <a:r>
                <a:rPr lang="en-US" dirty="0" err="1"/>
                <a:t>V</a:t>
              </a:r>
              <a:r>
                <a:rPr lang="en-US" baseline="-25000" dirty="0" err="1"/>
                <a:t>ref</a:t>
              </a:r>
              <a:endParaRPr lang="en-US" baseline="-25000" dirty="0"/>
            </a:p>
          </p:txBody>
        </p:sp>
        <p:grpSp>
          <p:nvGrpSpPr>
            <p:cNvPr id="242" name="Group 13">
              <a:extLst>
                <a:ext uri="{FF2B5EF4-FFF2-40B4-BE49-F238E27FC236}">
                  <a16:creationId xmlns:a16="http://schemas.microsoft.com/office/drawing/2014/main" id="{21C86FBC-7590-3C42-8B73-49A5DBF54D6E}"/>
                </a:ext>
              </a:extLst>
            </p:cNvPr>
            <p:cNvGrpSpPr>
              <a:grpSpLocks noChangeAspect="1"/>
            </p:cNvGrpSpPr>
            <p:nvPr/>
          </p:nvGrpSpPr>
          <p:grpSpPr bwMode="auto">
            <a:xfrm>
              <a:off x="3759144" y="2821991"/>
              <a:ext cx="228600" cy="228600"/>
              <a:chOff x="1344" y="2064"/>
              <a:chExt cx="192" cy="192"/>
            </a:xfrm>
          </p:grpSpPr>
          <p:sp>
            <p:nvSpPr>
              <p:cNvPr id="251" name="Oval 14">
                <a:extLst>
                  <a:ext uri="{FF2B5EF4-FFF2-40B4-BE49-F238E27FC236}">
                    <a16:creationId xmlns:a16="http://schemas.microsoft.com/office/drawing/2014/main" id="{D00D6945-A1D8-F347-BAA4-89D46136049C}"/>
                  </a:ext>
                </a:extLst>
              </p:cNvPr>
              <p:cNvSpPr>
                <a:spLocks noChangeAspect="1" noChangeArrowheads="1"/>
              </p:cNvSpPr>
              <p:nvPr/>
            </p:nvSpPr>
            <p:spPr bwMode="auto">
              <a:xfrm>
                <a:off x="1392" y="2136"/>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52" name="Rectangle 15">
                <a:extLst>
                  <a:ext uri="{FF2B5EF4-FFF2-40B4-BE49-F238E27FC236}">
                    <a16:creationId xmlns:a16="http://schemas.microsoft.com/office/drawing/2014/main" id="{E396CF06-BDDD-A543-860E-ADC6A7CBCCC3}"/>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sp>
        <p:nvSpPr>
          <p:cNvPr id="259" name="TextBox 258">
            <a:extLst>
              <a:ext uri="{FF2B5EF4-FFF2-40B4-BE49-F238E27FC236}">
                <a16:creationId xmlns:a16="http://schemas.microsoft.com/office/drawing/2014/main" id="{40A45416-B4D3-B84E-B1BE-583EC6F47E8B}"/>
              </a:ext>
            </a:extLst>
          </p:cNvPr>
          <p:cNvSpPr txBox="1"/>
          <p:nvPr/>
        </p:nvSpPr>
        <p:spPr>
          <a:xfrm>
            <a:off x="6343174" y="3681847"/>
            <a:ext cx="475622" cy="338554"/>
          </a:xfrm>
          <a:prstGeom prst="rect">
            <a:avLst/>
          </a:prstGeom>
          <a:noFill/>
        </p:spPr>
        <p:txBody>
          <a:bodyPr wrap="square" rtlCol="0">
            <a:spAutoFit/>
          </a:bodyPr>
          <a:lstStyle/>
          <a:p>
            <a:r>
              <a:rPr lang="en-US" sz="1600" dirty="0" err="1"/>
              <a:t>V</a:t>
            </a:r>
            <a:r>
              <a:rPr lang="en-US" sz="1600" baseline="-25000" dirty="0" err="1"/>
              <a:t>c</a:t>
            </a:r>
            <a:endParaRPr lang="en-US" baseline="-25000" dirty="0"/>
          </a:p>
        </p:txBody>
      </p:sp>
      <p:grpSp>
        <p:nvGrpSpPr>
          <p:cNvPr id="25" name="Group 24">
            <a:extLst>
              <a:ext uri="{FF2B5EF4-FFF2-40B4-BE49-F238E27FC236}">
                <a16:creationId xmlns:a16="http://schemas.microsoft.com/office/drawing/2014/main" id="{C341572F-405C-3E49-9377-A4849303E5F8}"/>
              </a:ext>
            </a:extLst>
          </p:cNvPr>
          <p:cNvGrpSpPr/>
          <p:nvPr/>
        </p:nvGrpSpPr>
        <p:grpSpPr>
          <a:xfrm>
            <a:off x="6435253" y="2072949"/>
            <a:ext cx="5575017" cy="3794979"/>
            <a:chOff x="6505591" y="2260517"/>
            <a:chExt cx="5575017" cy="3794979"/>
          </a:xfrm>
        </p:grpSpPr>
        <p:sp>
          <p:nvSpPr>
            <p:cNvPr id="114" name="Freeform 12">
              <a:extLst>
                <a:ext uri="{FF2B5EF4-FFF2-40B4-BE49-F238E27FC236}">
                  <a16:creationId xmlns:a16="http://schemas.microsoft.com/office/drawing/2014/main" id="{0E06C264-51F8-224F-B2A0-E40590700F16}"/>
                </a:ext>
              </a:extLst>
            </p:cNvPr>
            <p:cNvSpPr>
              <a:spLocks noChangeAspect="1"/>
            </p:cNvSpPr>
            <p:nvPr/>
          </p:nvSpPr>
          <p:spPr bwMode="auto">
            <a:xfrm>
              <a:off x="7608635" y="4645781"/>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15" name="Group 220">
              <a:extLst>
                <a:ext uri="{FF2B5EF4-FFF2-40B4-BE49-F238E27FC236}">
                  <a16:creationId xmlns:a16="http://schemas.microsoft.com/office/drawing/2014/main" id="{B58F62F3-4CCE-C94C-8FA5-621B6FBE4904}"/>
                </a:ext>
              </a:extLst>
            </p:cNvPr>
            <p:cNvGrpSpPr>
              <a:grpSpLocks/>
            </p:cNvGrpSpPr>
            <p:nvPr/>
          </p:nvGrpSpPr>
          <p:grpSpPr bwMode="auto">
            <a:xfrm>
              <a:off x="7608635" y="5750696"/>
              <a:ext cx="152400" cy="304800"/>
              <a:chOff x="3264" y="3072"/>
              <a:chExt cx="96" cy="192"/>
            </a:xfrm>
          </p:grpSpPr>
          <p:sp>
            <p:nvSpPr>
              <p:cNvPr id="116" name="Line 17">
                <a:extLst>
                  <a:ext uri="{FF2B5EF4-FFF2-40B4-BE49-F238E27FC236}">
                    <a16:creationId xmlns:a16="http://schemas.microsoft.com/office/drawing/2014/main" id="{B2870FE2-8DA4-3C4F-9AD0-F679EAA69D26}"/>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8" name="Freeform 18">
                <a:extLst>
                  <a:ext uri="{FF2B5EF4-FFF2-40B4-BE49-F238E27FC236}">
                    <a16:creationId xmlns:a16="http://schemas.microsoft.com/office/drawing/2014/main" id="{EF617A9E-8519-CC40-842C-924D6F0EF02A}"/>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cxnSp>
          <p:nvCxnSpPr>
            <p:cNvPr id="122" name="Straight Connector 121">
              <a:extLst>
                <a:ext uri="{FF2B5EF4-FFF2-40B4-BE49-F238E27FC236}">
                  <a16:creationId xmlns:a16="http://schemas.microsoft.com/office/drawing/2014/main" id="{00154501-0E86-6942-85BC-1BD91CB2A81E}"/>
                </a:ext>
              </a:extLst>
            </p:cNvPr>
            <p:cNvCxnSpPr>
              <a:cxnSpLocks/>
            </p:cNvCxnSpPr>
            <p:nvPr/>
          </p:nvCxnSpPr>
          <p:spPr>
            <a:xfrm>
              <a:off x="8677797" y="5564612"/>
              <a:ext cx="263523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C2C14819-3F9A-8144-AB7B-5C60A76CAAFE}"/>
                </a:ext>
              </a:extLst>
            </p:cNvPr>
            <p:cNvCxnSpPr>
              <a:cxnSpLocks/>
            </p:cNvCxnSpPr>
            <p:nvPr/>
          </p:nvCxnSpPr>
          <p:spPr>
            <a:xfrm flipH="1" flipV="1">
              <a:off x="7646386" y="2840453"/>
              <a:ext cx="39475" cy="18288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3" name="Group 210">
              <a:extLst>
                <a:ext uri="{FF2B5EF4-FFF2-40B4-BE49-F238E27FC236}">
                  <a16:creationId xmlns:a16="http://schemas.microsoft.com/office/drawing/2014/main" id="{E8D5E4CA-BE05-4E48-A129-708FC958BB98}"/>
                </a:ext>
              </a:extLst>
            </p:cNvPr>
            <p:cNvGrpSpPr>
              <a:grpSpLocks/>
            </p:cNvGrpSpPr>
            <p:nvPr/>
          </p:nvGrpSpPr>
          <p:grpSpPr bwMode="auto">
            <a:xfrm rot="5400000">
              <a:off x="7871553" y="2466044"/>
              <a:ext cx="304800" cy="762000"/>
              <a:chOff x="3216" y="1728"/>
              <a:chExt cx="192" cy="480"/>
            </a:xfrm>
          </p:grpSpPr>
          <p:sp>
            <p:nvSpPr>
              <p:cNvPr id="184" name="Line 8">
                <a:extLst>
                  <a:ext uri="{FF2B5EF4-FFF2-40B4-BE49-F238E27FC236}">
                    <a16:creationId xmlns:a16="http://schemas.microsoft.com/office/drawing/2014/main" id="{966613A6-031E-FB48-9507-4B65E58561B1}"/>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 name="Line 9">
                <a:extLst>
                  <a:ext uri="{FF2B5EF4-FFF2-40B4-BE49-F238E27FC236}">
                    <a16:creationId xmlns:a16="http://schemas.microsoft.com/office/drawing/2014/main" id="{395DC865-AFE1-E943-9DCE-111BBA441286}"/>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6" name="Line 10">
                <a:extLst>
                  <a:ext uri="{FF2B5EF4-FFF2-40B4-BE49-F238E27FC236}">
                    <a16:creationId xmlns:a16="http://schemas.microsoft.com/office/drawing/2014/main" id="{6FFDFCE6-C043-B34C-B57B-33D2AC3F9C8F}"/>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7" name="Line 11">
                <a:extLst>
                  <a:ext uri="{FF2B5EF4-FFF2-40B4-BE49-F238E27FC236}">
                    <a16:creationId xmlns:a16="http://schemas.microsoft.com/office/drawing/2014/main" id="{6993560E-A466-3844-9442-569FF060A7BD}"/>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 name="Group 5">
              <a:extLst>
                <a:ext uri="{FF2B5EF4-FFF2-40B4-BE49-F238E27FC236}">
                  <a16:creationId xmlns:a16="http://schemas.microsoft.com/office/drawing/2014/main" id="{DB482A3F-2801-9A48-BBB6-24AA81F223B6}"/>
                </a:ext>
              </a:extLst>
            </p:cNvPr>
            <p:cNvGrpSpPr/>
            <p:nvPr/>
          </p:nvGrpSpPr>
          <p:grpSpPr>
            <a:xfrm>
              <a:off x="7662961" y="3084534"/>
              <a:ext cx="1676400" cy="1371600"/>
              <a:chOff x="7595776" y="2322961"/>
              <a:chExt cx="1676400" cy="1371600"/>
            </a:xfrm>
          </p:grpSpPr>
          <p:grpSp>
            <p:nvGrpSpPr>
              <p:cNvPr id="104" name="Group 39">
                <a:extLst>
                  <a:ext uri="{FF2B5EF4-FFF2-40B4-BE49-F238E27FC236}">
                    <a16:creationId xmlns:a16="http://schemas.microsoft.com/office/drawing/2014/main" id="{A54E97A3-25CF-B745-A724-E551B8D334D8}"/>
                  </a:ext>
                </a:extLst>
              </p:cNvPr>
              <p:cNvGrpSpPr>
                <a:grpSpLocks/>
              </p:cNvGrpSpPr>
              <p:nvPr/>
            </p:nvGrpSpPr>
            <p:grpSpPr bwMode="auto">
              <a:xfrm>
                <a:off x="7595776" y="2322961"/>
                <a:ext cx="1676400" cy="1371600"/>
                <a:chOff x="2496" y="1968"/>
                <a:chExt cx="1056" cy="864"/>
              </a:xfrm>
            </p:grpSpPr>
            <p:sp>
              <p:nvSpPr>
                <p:cNvPr id="105" name="Line 40">
                  <a:extLst>
                    <a:ext uri="{FF2B5EF4-FFF2-40B4-BE49-F238E27FC236}">
                      <a16:creationId xmlns:a16="http://schemas.microsoft.com/office/drawing/2014/main" id="{72748EDA-7394-304C-B202-A2DF9DB4EC0F}"/>
                    </a:ext>
                  </a:extLst>
                </p:cNvPr>
                <p:cNvSpPr>
                  <a:spLocks noChangeShapeType="1"/>
                </p:cNvSpPr>
                <p:nvPr/>
              </p:nvSpPr>
              <p:spPr bwMode="auto">
                <a:xfrm>
                  <a:off x="2496" y="216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 name="Line 41">
                  <a:extLst>
                    <a:ext uri="{FF2B5EF4-FFF2-40B4-BE49-F238E27FC236}">
                      <a16:creationId xmlns:a16="http://schemas.microsoft.com/office/drawing/2014/main" id="{3B04D50E-6ACD-DE4B-B8A9-84AF3332BA09}"/>
                    </a:ext>
                  </a:extLst>
                </p:cNvPr>
                <p:cNvSpPr>
                  <a:spLocks noChangeShapeType="1"/>
                </p:cNvSpPr>
                <p:nvPr/>
              </p:nvSpPr>
              <p:spPr bwMode="auto">
                <a:xfrm>
                  <a:off x="2496" y="264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 name="Line 42">
                  <a:extLst>
                    <a:ext uri="{FF2B5EF4-FFF2-40B4-BE49-F238E27FC236}">
                      <a16:creationId xmlns:a16="http://schemas.microsoft.com/office/drawing/2014/main" id="{4C21C429-0249-8B44-87EB-FFDCC497ED53}"/>
                    </a:ext>
                  </a:extLst>
                </p:cNvPr>
                <p:cNvSpPr>
                  <a:spLocks noChangeShapeType="1"/>
                </p:cNvSpPr>
                <p:nvPr/>
              </p:nvSpPr>
              <p:spPr bwMode="auto">
                <a:xfrm>
                  <a:off x="3360" y="240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 name="Freeform 43">
                  <a:extLst>
                    <a:ext uri="{FF2B5EF4-FFF2-40B4-BE49-F238E27FC236}">
                      <a16:creationId xmlns:a16="http://schemas.microsoft.com/office/drawing/2014/main" id="{9C39BAD6-190B-6B48-BFAB-3A00F5E8B5A5}"/>
                    </a:ext>
                  </a:extLst>
                </p:cNvPr>
                <p:cNvSpPr>
                  <a:spLocks/>
                </p:cNvSpPr>
                <p:nvPr/>
              </p:nvSpPr>
              <p:spPr bwMode="auto">
                <a:xfrm>
                  <a:off x="2688" y="1968"/>
                  <a:ext cx="672" cy="864"/>
                </a:xfrm>
                <a:custGeom>
                  <a:avLst/>
                  <a:gdLst>
                    <a:gd name="T0" fmla="*/ 6120 w 432"/>
                    <a:gd name="T1" fmla="*/ 779 h 768"/>
                    <a:gd name="T2" fmla="*/ 0 w 432"/>
                    <a:gd name="T3" fmla="*/ 1558 h 768"/>
                    <a:gd name="T4" fmla="*/ 0 w 432"/>
                    <a:gd name="T5" fmla="*/ 0 h 768"/>
                    <a:gd name="T6" fmla="*/ 6120 w 432"/>
                    <a:gd name="T7" fmla="*/ 779 h 768"/>
                    <a:gd name="T8" fmla="*/ 0 60000 65536"/>
                    <a:gd name="T9" fmla="*/ 0 60000 65536"/>
                    <a:gd name="T10" fmla="*/ 0 60000 65536"/>
                    <a:gd name="T11" fmla="*/ 0 60000 65536"/>
                    <a:gd name="T12" fmla="*/ 0 w 432"/>
                    <a:gd name="T13" fmla="*/ 0 h 768"/>
                    <a:gd name="T14" fmla="*/ 432 w 432"/>
                    <a:gd name="T15" fmla="*/ 768 h 768"/>
                  </a:gdLst>
                  <a:ahLst/>
                  <a:cxnLst>
                    <a:cxn ang="T8">
                      <a:pos x="T0" y="T1"/>
                    </a:cxn>
                    <a:cxn ang="T9">
                      <a:pos x="T2" y="T3"/>
                    </a:cxn>
                    <a:cxn ang="T10">
                      <a:pos x="T4" y="T5"/>
                    </a:cxn>
                    <a:cxn ang="T11">
                      <a:pos x="T6" y="T7"/>
                    </a:cxn>
                  </a:cxnLst>
                  <a:rect l="T12" t="T13" r="T14" b="T15"/>
                  <a:pathLst>
                    <a:path w="432" h="768">
                      <a:moveTo>
                        <a:pt x="432" y="384"/>
                      </a:moveTo>
                      <a:lnTo>
                        <a:pt x="0" y="768"/>
                      </a:lnTo>
                      <a:lnTo>
                        <a:pt x="0" y="0"/>
                      </a:lnTo>
                      <a:lnTo>
                        <a:pt x="432" y="38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grpSp>
          <p:sp>
            <p:nvSpPr>
              <p:cNvPr id="129" name="TextBox 128">
                <a:extLst>
                  <a:ext uri="{FF2B5EF4-FFF2-40B4-BE49-F238E27FC236}">
                    <a16:creationId xmlns:a16="http://schemas.microsoft.com/office/drawing/2014/main" id="{F4E8B984-2C61-E146-BBCE-9B9A4A3755B8}"/>
                  </a:ext>
                </a:extLst>
              </p:cNvPr>
              <p:cNvSpPr txBox="1"/>
              <p:nvPr/>
            </p:nvSpPr>
            <p:spPr>
              <a:xfrm flipH="1">
                <a:off x="7940053" y="2434363"/>
                <a:ext cx="439757" cy="369332"/>
              </a:xfrm>
              <a:prstGeom prst="rect">
                <a:avLst/>
              </a:prstGeom>
              <a:noFill/>
            </p:spPr>
            <p:txBody>
              <a:bodyPr wrap="square" rtlCol="0">
                <a:spAutoFit/>
              </a:bodyPr>
              <a:lstStyle/>
              <a:p>
                <a:r>
                  <a:rPr lang="en-US" dirty="0"/>
                  <a:t>-</a:t>
                </a:r>
              </a:p>
            </p:txBody>
          </p:sp>
          <p:sp>
            <p:nvSpPr>
              <p:cNvPr id="130" name="TextBox 129">
                <a:extLst>
                  <a:ext uri="{FF2B5EF4-FFF2-40B4-BE49-F238E27FC236}">
                    <a16:creationId xmlns:a16="http://schemas.microsoft.com/office/drawing/2014/main" id="{ABFAF748-4AE9-5D4B-B414-D983C217B974}"/>
                  </a:ext>
                </a:extLst>
              </p:cNvPr>
              <p:cNvSpPr txBox="1"/>
              <p:nvPr/>
            </p:nvSpPr>
            <p:spPr>
              <a:xfrm>
                <a:off x="7900296" y="2803695"/>
                <a:ext cx="1066799" cy="369332"/>
              </a:xfrm>
              <a:prstGeom prst="rect">
                <a:avLst/>
              </a:prstGeom>
              <a:noFill/>
            </p:spPr>
            <p:txBody>
              <a:bodyPr wrap="square" rtlCol="0">
                <a:spAutoFit/>
              </a:bodyPr>
              <a:lstStyle/>
              <a:p>
                <a:r>
                  <a:rPr lang="en-US" dirty="0"/>
                  <a:t>LM358</a:t>
                </a:r>
              </a:p>
            </p:txBody>
          </p:sp>
          <p:sp>
            <p:nvSpPr>
              <p:cNvPr id="131" name="TextBox 130">
                <a:extLst>
                  <a:ext uri="{FF2B5EF4-FFF2-40B4-BE49-F238E27FC236}">
                    <a16:creationId xmlns:a16="http://schemas.microsoft.com/office/drawing/2014/main" id="{5D71B391-5652-674A-AB85-EFE6BCE7EF77}"/>
                  </a:ext>
                </a:extLst>
              </p:cNvPr>
              <p:cNvSpPr txBox="1"/>
              <p:nvPr/>
            </p:nvSpPr>
            <p:spPr>
              <a:xfrm flipH="1">
                <a:off x="7871319" y="3174330"/>
                <a:ext cx="439757" cy="369332"/>
              </a:xfrm>
              <a:prstGeom prst="rect">
                <a:avLst/>
              </a:prstGeom>
              <a:noFill/>
            </p:spPr>
            <p:txBody>
              <a:bodyPr wrap="square" rtlCol="0">
                <a:spAutoFit/>
              </a:bodyPr>
              <a:lstStyle/>
              <a:p>
                <a:r>
                  <a:rPr lang="en-US" dirty="0"/>
                  <a:t>+</a:t>
                </a:r>
              </a:p>
            </p:txBody>
          </p:sp>
        </p:grpSp>
        <p:grpSp>
          <p:nvGrpSpPr>
            <p:cNvPr id="132" name="Group 131">
              <a:extLst>
                <a:ext uri="{FF2B5EF4-FFF2-40B4-BE49-F238E27FC236}">
                  <a16:creationId xmlns:a16="http://schemas.microsoft.com/office/drawing/2014/main" id="{D065F739-37AF-C44E-8834-2CB5ED443420}"/>
                </a:ext>
              </a:extLst>
            </p:cNvPr>
            <p:cNvGrpSpPr/>
            <p:nvPr/>
          </p:nvGrpSpPr>
          <p:grpSpPr>
            <a:xfrm>
              <a:off x="9659487" y="3465534"/>
              <a:ext cx="1676400" cy="1371600"/>
              <a:chOff x="7595776" y="2322961"/>
              <a:chExt cx="1676400" cy="1371600"/>
            </a:xfrm>
          </p:grpSpPr>
          <p:grpSp>
            <p:nvGrpSpPr>
              <p:cNvPr id="134" name="Group 39">
                <a:extLst>
                  <a:ext uri="{FF2B5EF4-FFF2-40B4-BE49-F238E27FC236}">
                    <a16:creationId xmlns:a16="http://schemas.microsoft.com/office/drawing/2014/main" id="{25485579-D801-044B-9C58-BA21A588EDC6}"/>
                  </a:ext>
                </a:extLst>
              </p:cNvPr>
              <p:cNvGrpSpPr>
                <a:grpSpLocks/>
              </p:cNvGrpSpPr>
              <p:nvPr/>
            </p:nvGrpSpPr>
            <p:grpSpPr bwMode="auto">
              <a:xfrm>
                <a:off x="7595776" y="2322961"/>
                <a:ext cx="1676400" cy="1371600"/>
                <a:chOff x="2496" y="1968"/>
                <a:chExt cx="1056" cy="864"/>
              </a:xfrm>
            </p:grpSpPr>
            <p:sp>
              <p:nvSpPr>
                <p:cNvPr id="139" name="Line 40">
                  <a:extLst>
                    <a:ext uri="{FF2B5EF4-FFF2-40B4-BE49-F238E27FC236}">
                      <a16:creationId xmlns:a16="http://schemas.microsoft.com/office/drawing/2014/main" id="{3455BD3A-1661-314C-8196-09116CF84A54}"/>
                    </a:ext>
                  </a:extLst>
                </p:cNvPr>
                <p:cNvSpPr>
                  <a:spLocks noChangeShapeType="1"/>
                </p:cNvSpPr>
                <p:nvPr/>
              </p:nvSpPr>
              <p:spPr bwMode="auto">
                <a:xfrm>
                  <a:off x="2496" y="216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0" name="Line 41">
                  <a:extLst>
                    <a:ext uri="{FF2B5EF4-FFF2-40B4-BE49-F238E27FC236}">
                      <a16:creationId xmlns:a16="http://schemas.microsoft.com/office/drawing/2014/main" id="{26E642B8-BD9C-D749-8824-8D793DA08605}"/>
                    </a:ext>
                  </a:extLst>
                </p:cNvPr>
                <p:cNvSpPr>
                  <a:spLocks noChangeShapeType="1"/>
                </p:cNvSpPr>
                <p:nvPr/>
              </p:nvSpPr>
              <p:spPr bwMode="auto">
                <a:xfrm>
                  <a:off x="2496" y="264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1" name="Line 42">
                  <a:extLst>
                    <a:ext uri="{FF2B5EF4-FFF2-40B4-BE49-F238E27FC236}">
                      <a16:creationId xmlns:a16="http://schemas.microsoft.com/office/drawing/2014/main" id="{339F4F2D-9294-9545-9AFC-0924ECE7A5F8}"/>
                    </a:ext>
                  </a:extLst>
                </p:cNvPr>
                <p:cNvSpPr>
                  <a:spLocks noChangeShapeType="1"/>
                </p:cNvSpPr>
                <p:nvPr/>
              </p:nvSpPr>
              <p:spPr bwMode="auto">
                <a:xfrm>
                  <a:off x="3360" y="240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2" name="Freeform 43">
                  <a:extLst>
                    <a:ext uri="{FF2B5EF4-FFF2-40B4-BE49-F238E27FC236}">
                      <a16:creationId xmlns:a16="http://schemas.microsoft.com/office/drawing/2014/main" id="{409C1E58-B788-9941-B074-FE3BE0A07AC5}"/>
                    </a:ext>
                  </a:extLst>
                </p:cNvPr>
                <p:cNvSpPr>
                  <a:spLocks/>
                </p:cNvSpPr>
                <p:nvPr/>
              </p:nvSpPr>
              <p:spPr bwMode="auto">
                <a:xfrm>
                  <a:off x="2688" y="1968"/>
                  <a:ext cx="672" cy="864"/>
                </a:xfrm>
                <a:custGeom>
                  <a:avLst/>
                  <a:gdLst>
                    <a:gd name="T0" fmla="*/ 6120 w 432"/>
                    <a:gd name="T1" fmla="*/ 779 h 768"/>
                    <a:gd name="T2" fmla="*/ 0 w 432"/>
                    <a:gd name="T3" fmla="*/ 1558 h 768"/>
                    <a:gd name="T4" fmla="*/ 0 w 432"/>
                    <a:gd name="T5" fmla="*/ 0 h 768"/>
                    <a:gd name="T6" fmla="*/ 6120 w 432"/>
                    <a:gd name="T7" fmla="*/ 779 h 768"/>
                    <a:gd name="T8" fmla="*/ 0 60000 65536"/>
                    <a:gd name="T9" fmla="*/ 0 60000 65536"/>
                    <a:gd name="T10" fmla="*/ 0 60000 65536"/>
                    <a:gd name="T11" fmla="*/ 0 60000 65536"/>
                    <a:gd name="T12" fmla="*/ 0 w 432"/>
                    <a:gd name="T13" fmla="*/ 0 h 768"/>
                    <a:gd name="T14" fmla="*/ 432 w 432"/>
                    <a:gd name="T15" fmla="*/ 768 h 768"/>
                  </a:gdLst>
                  <a:ahLst/>
                  <a:cxnLst>
                    <a:cxn ang="T8">
                      <a:pos x="T0" y="T1"/>
                    </a:cxn>
                    <a:cxn ang="T9">
                      <a:pos x="T2" y="T3"/>
                    </a:cxn>
                    <a:cxn ang="T10">
                      <a:pos x="T4" y="T5"/>
                    </a:cxn>
                    <a:cxn ang="T11">
                      <a:pos x="T6" y="T7"/>
                    </a:cxn>
                  </a:cxnLst>
                  <a:rect l="T12" t="T13" r="T14" b="T15"/>
                  <a:pathLst>
                    <a:path w="432" h="768">
                      <a:moveTo>
                        <a:pt x="432" y="384"/>
                      </a:moveTo>
                      <a:lnTo>
                        <a:pt x="0" y="768"/>
                      </a:lnTo>
                      <a:lnTo>
                        <a:pt x="0" y="0"/>
                      </a:lnTo>
                      <a:lnTo>
                        <a:pt x="432" y="38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grpSp>
          <p:sp>
            <p:nvSpPr>
              <p:cNvPr id="135" name="TextBox 134">
                <a:extLst>
                  <a:ext uri="{FF2B5EF4-FFF2-40B4-BE49-F238E27FC236}">
                    <a16:creationId xmlns:a16="http://schemas.microsoft.com/office/drawing/2014/main" id="{3CF1D149-3E81-2043-AE60-C3D9E5ACEF1C}"/>
                  </a:ext>
                </a:extLst>
              </p:cNvPr>
              <p:cNvSpPr txBox="1"/>
              <p:nvPr/>
            </p:nvSpPr>
            <p:spPr>
              <a:xfrm flipH="1">
                <a:off x="7940053" y="2434363"/>
                <a:ext cx="439757" cy="369332"/>
              </a:xfrm>
              <a:prstGeom prst="rect">
                <a:avLst/>
              </a:prstGeom>
              <a:noFill/>
            </p:spPr>
            <p:txBody>
              <a:bodyPr wrap="square" rtlCol="0">
                <a:spAutoFit/>
              </a:bodyPr>
              <a:lstStyle/>
              <a:p>
                <a:r>
                  <a:rPr lang="en-US" dirty="0"/>
                  <a:t>-</a:t>
                </a:r>
              </a:p>
            </p:txBody>
          </p:sp>
          <p:sp>
            <p:nvSpPr>
              <p:cNvPr id="136" name="TextBox 135">
                <a:extLst>
                  <a:ext uri="{FF2B5EF4-FFF2-40B4-BE49-F238E27FC236}">
                    <a16:creationId xmlns:a16="http://schemas.microsoft.com/office/drawing/2014/main" id="{9622D4FF-56F2-7744-8A01-50A2E0969135}"/>
                  </a:ext>
                </a:extLst>
              </p:cNvPr>
              <p:cNvSpPr txBox="1"/>
              <p:nvPr/>
            </p:nvSpPr>
            <p:spPr>
              <a:xfrm>
                <a:off x="7900296" y="2803695"/>
                <a:ext cx="1066799" cy="369332"/>
              </a:xfrm>
              <a:prstGeom prst="rect">
                <a:avLst/>
              </a:prstGeom>
              <a:noFill/>
            </p:spPr>
            <p:txBody>
              <a:bodyPr wrap="square" rtlCol="0">
                <a:spAutoFit/>
              </a:bodyPr>
              <a:lstStyle/>
              <a:p>
                <a:r>
                  <a:rPr lang="en-US" dirty="0"/>
                  <a:t>LM358</a:t>
                </a:r>
              </a:p>
            </p:txBody>
          </p:sp>
          <p:sp>
            <p:nvSpPr>
              <p:cNvPr id="137" name="TextBox 136">
                <a:extLst>
                  <a:ext uri="{FF2B5EF4-FFF2-40B4-BE49-F238E27FC236}">
                    <a16:creationId xmlns:a16="http://schemas.microsoft.com/office/drawing/2014/main" id="{20739987-5148-0242-AAB5-4E9A367CCD4B}"/>
                  </a:ext>
                </a:extLst>
              </p:cNvPr>
              <p:cNvSpPr txBox="1"/>
              <p:nvPr/>
            </p:nvSpPr>
            <p:spPr>
              <a:xfrm flipH="1">
                <a:off x="7871319" y="3174330"/>
                <a:ext cx="439757" cy="369332"/>
              </a:xfrm>
              <a:prstGeom prst="rect">
                <a:avLst/>
              </a:prstGeom>
              <a:noFill/>
            </p:spPr>
            <p:txBody>
              <a:bodyPr wrap="square" rtlCol="0">
                <a:spAutoFit/>
              </a:bodyPr>
              <a:lstStyle/>
              <a:p>
                <a:r>
                  <a:rPr lang="en-US" dirty="0"/>
                  <a:t>+</a:t>
                </a:r>
              </a:p>
            </p:txBody>
          </p:sp>
        </p:grpSp>
        <p:sp>
          <p:nvSpPr>
            <p:cNvPr id="145" name="Freeform 12">
              <a:extLst>
                <a:ext uri="{FF2B5EF4-FFF2-40B4-BE49-F238E27FC236}">
                  <a16:creationId xmlns:a16="http://schemas.microsoft.com/office/drawing/2014/main" id="{3143B6B0-F839-2040-BA6D-88A15A13DC49}"/>
                </a:ext>
              </a:extLst>
            </p:cNvPr>
            <p:cNvSpPr>
              <a:spLocks noChangeAspect="1"/>
            </p:cNvSpPr>
            <p:nvPr/>
          </p:nvSpPr>
          <p:spPr bwMode="auto">
            <a:xfrm rot="5400000">
              <a:off x="7257764" y="3006646"/>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6" name="Freeform 12">
              <a:extLst>
                <a:ext uri="{FF2B5EF4-FFF2-40B4-BE49-F238E27FC236}">
                  <a16:creationId xmlns:a16="http://schemas.microsoft.com/office/drawing/2014/main" id="{0E72DE76-2239-E144-BDF3-0DECEEED8700}"/>
                </a:ext>
              </a:extLst>
            </p:cNvPr>
            <p:cNvSpPr>
              <a:spLocks noChangeAspect="1"/>
            </p:cNvSpPr>
            <p:nvPr/>
          </p:nvSpPr>
          <p:spPr bwMode="auto">
            <a:xfrm rot="5400000">
              <a:off x="7269858" y="3765333"/>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157" name="Straight Connector 156">
              <a:extLst>
                <a:ext uri="{FF2B5EF4-FFF2-40B4-BE49-F238E27FC236}">
                  <a16:creationId xmlns:a16="http://schemas.microsoft.com/office/drawing/2014/main" id="{A610B15E-97C4-1D4D-A2E5-C79C506F2544}"/>
                </a:ext>
              </a:extLst>
            </p:cNvPr>
            <p:cNvCxnSpPr>
              <a:cxnSpLocks/>
            </p:cNvCxnSpPr>
            <p:nvPr/>
          </p:nvCxnSpPr>
          <p:spPr>
            <a:xfrm>
              <a:off x="11070931" y="4147550"/>
              <a:ext cx="75116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58" name="Freeform 12">
              <a:extLst>
                <a:ext uri="{FF2B5EF4-FFF2-40B4-BE49-F238E27FC236}">
                  <a16:creationId xmlns:a16="http://schemas.microsoft.com/office/drawing/2014/main" id="{AF81A919-B250-A24E-95B9-10C81D19E50E}"/>
                </a:ext>
              </a:extLst>
            </p:cNvPr>
            <p:cNvSpPr>
              <a:spLocks noChangeAspect="1"/>
            </p:cNvSpPr>
            <p:nvPr/>
          </p:nvSpPr>
          <p:spPr bwMode="auto">
            <a:xfrm rot="5400000">
              <a:off x="9310073" y="4153099"/>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0" name="Freeform 12">
              <a:extLst>
                <a:ext uri="{FF2B5EF4-FFF2-40B4-BE49-F238E27FC236}">
                  <a16:creationId xmlns:a16="http://schemas.microsoft.com/office/drawing/2014/main" id="{720DAA03-2982-EF40-9D8F-B2906EFB4B8A}"/>
                </a:ext>
              </a:extLst>
            </p:cNvPr>
            <p:cNvSpPr>
              <a:spLocks noChangeAspect="1"/>
            </p:cNvSpPr>
            <p:nvPr/>
          </p:nvSpPr>
          <p:spPr bwMode="auto">
            <a:xfrm rot="5400000">
              <a:off x="10099986" y="4790687"/>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2" name="Freeform 12">
              <a:extLst>
                <a:ext uri="{FF2B5EF4-FFF2-40B4-BE49-F238E27FC236}">
                  <a16:creationId xmlns:a16="http://schemas.microsoft.com/office/drawing/2014/main" id="{7B8D8D81-824A-E54A-B9C5-BD36EF60D55A}"/>
                </a:ext>
              </a:extLst>
            </p:cNvPr>
            <p:cNvSpPr>
              <a:spLocks noChangeAspect="1"/>
            </p:cNvSpPr>
            <p:nvPr/>
          </p:nvSpPr>
          <p:spPr bwMode="auto">
            <a:xfrm rot="5400000">
              <a:off x="8270335" y="5189181"/>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94" name="Group 478">
              <a:extLst>
                <a:ext uri="{FF2B5EF4-FFF2-40B4-BE49-F238E27FC236}">
                  <a16:creationId xmlns:a16="http://schemas.microsoft.com/office/drawing/2014/main" id="{D3CD535A-C764-0B47-AF81-4F420417C89F}"/>
                </a:ext>
              </a:extLst>
            </p:cNvPr>
            <p:cNvGrpSpPr>
              <a:grpSpLocks/>
            </p:cNvGrpSpPr>
            <p:nvPr/>
          </p:nvGrpSpPr>
          <p:grpSpPr bwMode="auto">
            <a:xfrm>
              <a:off x="7692768" y="5260012"/>
              <a:ext cx="304800" cy="609600"/>
              <a:chOff x="4656" y="1344"/>
              <a:chExt cx="192" cy="384"/>
            </a:xfrm>
          </p:grpSpPr>
          <p:sp>
            <p:nvSpPr>
              <p:cNvPr id="195" name="Freeform 35">
                <a:extLst>
                  <a:ext uri="{FF2B5EF4-FFF2-40B4-BE49-F238E27FC236}">
                    <a16:creationId xmlns:a16="http://schemas.microsoft.com/office/drawing/2014/main" id="{240ED835-88DF-8445-9DC5-66FF428166AD}"/>
                  </a:ext>
                </a:extLst>
              </p:cNvPr>
              <p:cNvSpPr>
                <a:spLocks noChangeAspect="1"/>
              </p:cNvSpPr>
              <p:nvPr/>
            </p:nvSpPr>
            <p:spPr bwMode="auto">
              <a:xfrm>
                <a:off x="4656" y="1344"/>
                <a:ext cx="99" cy="384"/>
              </a:xfrm>
              <a:custGeom>
                <a:avLst/>
                <a:gdLst>
                  <a:gd name="T0" fmla="*/ 0 w 192"/>
                  <a:gd name="T1" fmla="*/ 0 h 768"/>
                  <a:gd name="T2" fmla="*/ 0 w 192"/>
                  <a:gd name="T3" fmla="*/ 3 h 768"/>
                  <a:gd name="T4" fmla="*/ 4 w 192"/>
                  <a:gd name="T5" fmla="*/ 5 h 768"/>
                  <a:gd name="T6" fmla="*/ 4 w 192"/>
                  <a:gd name="T7" fmla="*/ 8 h 768"/>
                  <a:gd name="T8" fmla="*/ 0 w 192"/>
                  <a:gd name="T9" fmla="*/ 9 h 768"/>
                  <a:gd name="T10" fmla="*/ 0 w 192"/>
                  <a:gd name="T11" fmla="*/ 12 h 768"/>
                  <a:gd name="T12" fmla="*/ 0 60000 65536"/>
                  <a:gd name="T13" fmla="*/ 0 60000 65536"/>
                  <a:gd name="T14" fmla="*/ 0 60000 65536"/>
                  <a:gd name="T15" fmla="*/ 0 60000 65536"/>
                  <a:gd name="T16" fmla="*/ 0 60000 65536"/>
                  <a:gd name="T17" fmla="*/ 0 60000 65536"/>
                  <a:gd name="T18" fmla="*/ 0 w 192"/>
                  <a:gd name="T19" fmla="*/ 0 h 768"/>
                  <a:gd name="T20" fmla="*/ 192 w 192"/>
                  <a:gd name="T21" fmla="*/ 768 h 768"/>
                </a:gdLst>
                <a:ahLst/>
                <a:cxnLst>
                  <a:cxn ang="T12">
                    <a:pos x="T0" y="T1"/>
                  </a:cxn>
                  <a:cxn ang="T13">
                    <a:pos x="T2" y="T3"/>
                  </a:cxn>
                  <a:cxn ang="T14">
                    <a:pos x="T4" y="T5"/>
                  </a:cxn>
                  <a:cxn ang="T15">
                    <a:pos x="T6" y="T7"/>
                  </a:cxn>
                  <a:cxn ang="T16">
                    <a:pos x="T8" y="T9"/>
                  </a:cxn>
                  <a:cxn ang="T17">
                    <a:pos x="T10" y="T11"/>
                  </a:cxn>
                </a:cxnLst>
                <a:rect l="T18" t="T19" r="T20" b="T21"/>
                <a:pathLst>
                  <a:path w="192" h="768">
                    <a:moveTo>
                      <a:pt x="0" y="0"/>
                    </a:moveTo>
                    <a:lnTo>
                      <a:pt x="0" y="192"/>
                    </a:lnTo>
                    <a:lnTo>
                      <a:pt x="192" y="288"/>
                    </a:lnTo>
                    <a:lnTo>
                      <a:pt x="192" y="480"/>
                    </a:lnTo>
                    <a:lnTo>
                      <a:pt x="0" y="576"/>
                    </a:lnTo>
                    <a:lnTo>
                      <a:pt x="0" y="768"/>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6" name="Line 36">
                <a:extLst>
                  <a:ext uri="{FF2B5EF4-FFF2-40B4-BE49-F238E27FC236}">
                    <a16:creationId xmlns:a16="http://schemas.microsoft.com/office/drawing/2014/main" id="{0DD695CA-36D6-8645-96CA-7EE54F5CCB5A}"/>
                  </a:ext>
                </a:extLst>
              </p:cNvPr>
              <p:cNvSpPr>
                <a:spLocks noChangeAspect="1" noChangeShapeType="1"/>
              </p:cNvSpPr>
              <p:nvPr/>
            </p:nvSpPr>
            <p:spPr bwMode="auto">
              <a:xfrm>
                <a:off x="4755" y="1440"/>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7" name="Line 37">
                <a:extLst>
                  <a:ext uri="{FF2B5EF4-FFF2-40B4-BE49-F238E27FC236}">
                    <a16:creationId xmlns:a16="http://schemas.microsoft.com/office/drawing/2014/main" id="{2A8167F3-75CA-B845-9AC2-955A31FCBB84}"/>
                  </a:ext>
                </a:extLst>
              </p:cNvPr>
              <p:cNvSpPr>
                <a:spLocks noChangeAspect="1" noChangeShapeType="1"/>
              </p:cNvSpPr>
              <p:nvPr/>
            </p:nvSpPr>
            <p:spPr bwMode="auto">
              <a:xfrm>
                <a:off x="4755" y="1536"/>
                <a:ext cx="9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8" name="Freeform 38">
                <a:extLst>
                  <a:ext uri="{FF2B5EF4-FFF2-40B4-BE49-F238E27FC236}">
                    <a16:creationId xmlns:a16="http://schemas.microsoft.com/office/drawing/2014/main" id="{C2DF115A-64F1-4445-8E59-C0E0F9ED9371}"/>
                  </a:ext>
                </a:extLst>
              </p:cNvPr>
              <p:cNvSpPr>
                <a:spLocks noChangeAspect="1"/>
              </p:cNvSpPr>
              <p:nvPr/>
            </p:nvSpPr>
            <p:spPr bwMode="auto">
              <a:xfrm rot="-1560000">
                <a:off x="4656" y="1597"/>
                <a:ext cx="48" cy="48"/>
              </a:xfrm>
              <a:custGeom>
                <a:avLst/>
                <a:gdLst>
                  <a:gd name="T0" fmla="*/ 0 w 96"/>
                  <a:gd name="T1" fmla="*/ 1 h 96"/>
                  <a:gd name="T2" fmla="*/ 2 w 96"/>
                  <a:gd name="T3" fmla="*/ 0 h 96"/>
                  <a:gd name="T4" fmla="*/ 2 w 96"/>
                  <a:gd name="T5" fmla="*/ 2 h 96"/>
                  <a:gd name="T6" fmla="*/ 0 w 96"/>
                  <a:gd name="T7" fmla="*/ 1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48"/>
                    </a:moveTo>
                    <a:lnTo>
                      <a:pt x="96" y="0"/>
                    </a:lnTo>
                    <a:lnTo>
                      <a:pt x="96" y="96"/>
                    </a:lnTo>
                    <a:lnTo>
                      <a:pt x="0" y="48"/>
                    </a:lnTo>
                    <a:close/>
                  </a:path>
                </a:pathLst>
              </a:custGeom>
              <a:solidFill>
                <a:schemeClr val="tx1"/>
              </a:solidFill>
              <a:ln w="25400">
                <a:solidFill>
                  <a:schemeClr val="tx1"/>
                </a:solidFill>
                <a:round/>
                <a:headEnd/>
                <a:tailEnd/>
              </a:ln>
            </p:spPr>
            <p:txBody>
              <a:bodyPr/>
              <a:lstStyle/>
              <a:p>
                <a:endParaRPr lang="en-US"/>
              </a:p>
            </p:txBody>
          </p:sp>
        </p:grpSp>
        <p:sp>
          <p:nvSpPr>
            <p:cNvPr id="199" name="TextBox 198">
              <a:extLst>
                <a:ext uri="{FF2B5EF4-FFF2-40B4-BE49-F238E27FC236}">
                  <a16:creationId xmlns:a16="http://schemas.microsoft.com/office/drawing/2014/main" id="{A6B05439-27BD-DE4A-9B1B-F82AE497F876}"/>
                </a:ext>
              </a:extLst>
            </p:cNvPr>
            <p:cNvSpPr txBox="1"/>
            <p:nvPr/>
          </p:nvSpPr>
          <p:spPr>
            <a:xfrm>
              <a:off x="8754890" y="2260517"/>
              <a:ext cx="1802296" cy="369332"/>
            </a:xfrm>
            <a:prstGeom prst="rect">
              <a:avLst/>
            </a:prstGeom>
            <a:noFill/>
          </p:spPr>
          <p:txBody>
            <a:bodyPr wrap="square" rtlCol="0">
              <a:spAutoFit/>
            </a:bodyPr>
            <a:lstStyle/>
            <a:p>
              <a:r>
                <a:rPr lang="en-US" dirty="0"/>
                <a:t>VCO</a:t>
              </a:r>
            </a:p>
          </p:txBody>
        </p:sp>
        <p:sp>
          <p:nvSpPr>
            <p:cNvPr id="201" name="Oval 14">
              <a:extLst>
                <a:ext uri="{FF2B5EF4-FFF2-40B4-BE49-F238E27FC236}">
                  <a16:creationId xmlns:a16="http://schemas.microsoft.com/office/drawing/2014/main" id="{C8E74249-BBF8-4049-9DA6-534BD20E5D04}"/>
                </a:ext>
              </a:extLst>
            </p:cNvPr>
            <p:cNvSpPr>
              <a:spLocks noChangeAspect="1" noChangeArrowheads="1"/>
            </p:cNvSpPr>
            <p:nvPr/>
          </p:nvSpPr>
          <p:spPr bwMode="auto">
            <a:xfrm>
              <a:off x="6505591" y="3689126"/>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02" name="Oval 14">
              <a:extLst>
                <a:ext uri="{FF2B5EF4-FFF2-40B4-BE49-F238E27FC236}">
                  <a16:creationId xmlns:a16="http://schemas.microsoft.com/office/drawing/2014/main" id="{71657276-3C06-4046-BAFC-77ECC314FF8D}"/>
                </a:ext>
              </a:extLst>
            </p:cNvPr>
            <p:cNvSpPr>
              <a:spLocks noChangeAspect="1" noChangeArrowheads="1"/>
            </p:cNvSpPr>
            <p:nvPr/>
          </p:nvSpPr>
          <p:spPr bwMode="auto">
            <a:xfrm>
              <a:off x="7588014" y="3326478"/>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cxnSp>
          <p:nvCxnSpPr>
            <p:cNvPr id="204" name="Straight Connector 203">
              <a:extLst>
                <a:ext uri="{FF2B5EF4-FFF2-40B4-BE49-F238E27FC236}">
                  <a16:creationId xmlns:a16="http://schemas.microsoft.com/office/drawing/2014/main" id="{29740134-169F-2C40-9D17-496595D0E5DB}"/>
                </a:ext>
              </a:extLst>
            </p:cNvPr>
            <p:cNvCxnSpPr>
              <a:cxnSpLocks/>
            </p:cNvCxnSpPr>
            <p:nvPr/>
          </p:nvCxnSpPr>
          <p:spPr>
            <a:xfrm>
              <a:off x="9060723" y="3770334"/>
              <a:ext cx="75116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5D364F31-E38A-1640-9A1D-B15B90932FCD}"/>
                </a:ext>
              </a:extLst>
            </p:cNvPr>
            <p:cNvCxnSpPr>
              <a:cxnSpLocks/>
            </p:cNvCxnSpPr>
            <p:nvPr/>
          </p:nvCxnSpPr>
          <p:spPr>
            <a:xfrm flipH="1" flipV="1">
              <a:off x="9105849" y="2838978"/>
              <a:ext cx="0" cy="9326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F7F2E601-AFBF-E442-9C05-833AC6D61D97}"/>
                </a:ext>
              </a:extLst>
            </p:cNvPr>
            <p:cNvCxnSpPr>
              <a:cxnSpLocks/>
            </p:cNvCxnSpPr>
            <p:nvPr/>
          </p:nvCxnSpPr>
          <p:spPr>
            <a:xfrm>
              <a:off x="8309559" y="2847044"/>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DF097424-A7F0-E742-AE11-1669F1A050E8}"/>
                </a:ext>
              </a:extLst>
            </p:cNvPr>
            <p:cNvCxnSpPr>
              <a:cxnSpLocks/>
            </p:cNvCxnSpPr>
            <p:nvPr/>
          </p:nvCxnSpPr>
          <p:spPr>
            <a:xfrm flipV="1">
              <a:off x="9796530" y="4521752"/>
              <a:ext cx="0" cy="66136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DFE68BBD-A925-F645-8987-EA597DA231FA}"/>
                </a:ext>
              </a:extLst>
            </p:cNvPr>
            <p:cNvCxnSpPr>
              <a:cxnSpLocks/>
            </p:cNvCxnSpPr>
            <p:nvPr/>
          </p:nvCxnSpPr>
          <p:spPr>
            <a:xfrm flipH="1" flipV="1">
              <a:off x="11290346" y="4113013"/>
              <a:ext cx="0" cy="145159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6DA48B39-85E5-3645-89B3-D4FA4297AD79}"/>
                </a:ext>
              </a:extLst>
            </p:cNvPr>
            <p:cNvCxnSpPr>
              <a:cxnSpLocks/>
            </p:cNvCxnSpPr>
            <p:nvPr/>
          </p:nvCxnSpPr>
          <p:spPr>
            <a:xfrm>
              <a:off x="10447902" y="5170816"/>
              <a:ext cx="84124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24" name="Oval 14">
              <a:extLst>
                <a:ext uri="{FF2B5EF4-FFF2-40B4-BE49-F238E27FC236}">
                  <a16:creationId xmlns:a16="http://schemas.microsoft.com/office/drawing/2014/main" id="{06A0839B-DA15-7E41-801B-377BCA000AA3}"/>
                </a:ext>
              </a:extLst>
            </p:cNvPr>
            <p:cNvSpPr>
              <a:spLocks noChangeAspect="1" noChangeArrowheads="1"/>
            </p:cNvSpPr>
            <p:nvPr/>
          </p:nvSpPr>
          <p:spPr bwMode="auto">
            <a:xfrm>
              <a:off x="9035431" y="3715796"/>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25" name="Oval 14">
              <a:extLst>
                <a:ext uri="{FF2B5EF4-FFF2-40B4-BE49-F238E27FC236}">
                  <a16:creationId xmlns:a16="http://schemas.microsoft.com/office/drawing/2014/main" id="{EE44372A-C795-D345-A397-906E925C7F9F}"/>
                </a:ext>
              </a:extLst>
            </p:cNvPr>
            <p:cNvSpPr>
              <a:spLocks noChangeAspect="1" noChangeArrowheads="1"/>
            </p:cNvSpPr>
            <p:nvPr/>
          </p:nvSpPr>
          <p:spPr bwMode="auto">
            <a:xfrm>
              <a:off x="8970661" y="4474279"/>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26" name="Oval 14">
              <a:extLst>
                <a:ext uri="{FF2B5EF4-FFF2-40B4-BE49-F238E27FC236}">
                  <a16:creationId xmlns:a16="http://schemas.microsoft.com/office/drawing/2014/main" id="{C7E2591B-995B-8444-B1B6-37949C240EA0}"/>
                </a:ext>
              </a:extLst>
            </p:cNvPr>
            <p:cNvSpPr>
              <a:spLocks noChangeAspect="1" noChangeArrowheads="1"/>
            </p:cNvSpPr>
            <p:nvPr/>
          </p:nvSpPr>
          <p:spPr bwMode="auto">
            <a:xfrm>
              <a:off x="9740281" y="4466366"/>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27" name="Oval 14">
              <a:extLst>
                <a:ext uri="{FF2B5EF4-FFF2-40B4-BE49-F238E27FC236}">
                  <a16:creationId xmlns:a16="http://schemas.microsoft.com/office/drawing/2014/main" id="{695E234C-E23D-FE43-BA44-5EAFA8EA1191}"/>
                </a:ext>
              </a:extLst>
            </p:cNvPr>
            <p:cNvSpPr>
              <a:spLocks noChangeAspect="1" noChangeArrowheads="1"/>
            </p:cNvSpPr>
            <p:nvPr/>
          </p:nvSpPr>
          <p:spPr bwMode="auto">
            <a:xfrm>
              <a:off x="11229991" y="4081556"/>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28" name="Oval 14">
              <a:extLst>
                <a:ext uri="{FF2B5EF4-FFF2-40B4-BE49-F238E27FC236}">
                  <a16:creationId xmlns:a16="http://schemas.microsoft.com/office/drawing/2014/main" id="{AC524E35-059B-0947-885F-31772F832AAA}"/>
                </a:ext>
              </a:extLst>
            </p:cNvPr>
            <p:cNvSpPr>
              <a:spLocks noChangeAspect="1" noChangeArrowheads="1"/>
            </p:cNvSpPr>
            <p:nvPr/>
          </p:nvSpPr>
          <p:spPr bwMode="auto">
            <a:xfrm>
              <a:off x="11233801" y="5102636"/>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29" name="Oval 14">
              <a:extLst>
                <a:ext uri="{FF2B5EF4-FFF2-40B4-BE49-F238E27FC236}">
                  <a16:creationId xmlns:a16="http://schemas.microsoft.com/office/drawing/2014/main" id="{84DE8FAC-22C5-CD4D-A7AE-D8F6926365AF}"/>
                </a:ext>
              </a:extLst>
            </p:cNvPr>
            <p:cNvSpPr>
              <a:spLocks noChangeAspect="1" noChangeArrowheads="1"/>
            </p:cNvSpPr>
            <p:nvPr/>
          </p:nvSpPr>
          <p:spPr bwMode="auto">
            <a:xfrm>
              <a:off x="11740531" y="4077746"/>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cxnSp>
          <p:nvCxnSpPr>
            <p:cNvPr id="230" name="Straight Connector 229">
              <a:extLst>
                <a:ext uri="{FF2B5EF4-FFF2-40B4-BE49-F238E27FC236}">
                  <a16:creationId xmlns:a16="http://schemas.microsoft.com/office/drawing/2014/main" id="{AA3776F3-F4EE-1047-AA1C-07473B6D372F}"/>
                </a:ext>
              </a:extLst>
            </p:cNvPr>
            <p:cNvCxnSpPr>
              <a:cxnSpLocks/>
            </p:cNvCxnSpPr>
            <p:nvPr/>
          </p:nvCxnSpPr>
          <p:spPr>
            <a:xfrm flipV="1">
              <a:off x="6574171" y="3749934"/>
              <a:ext cx="390887" cy="26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0562A9BF-6323-D147-AFE2-E09086E9E76D}"/>
                </a:ext>
              </a:extLst>
            </p:cNvPr>
            <p:cNvCxnSpPr>
              <a:cxnSpLocks/>
            </p:cNvCxnSpPr>
            <p:nvPr/>
          </p:nvCxnSpPr>
          <p:spPr>
            <a:xfrm flipV="1">
              <a:off x="6965700" y="3393991"/>
              <a:ext cx="0" cy="74980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32" name="TextBox 231">
              <a:extLst>
                <a:ext uri="{FF2B5EF4-FFF2-40B4-BE49-F238E27FC236}">
                  <a16:creationId xmlns:a16="http://schemas.microsoft.com/office/drawing/2014/main" id="{628E2AEB-471E-2F4B-9440-85778BF3A598}"/>
                </a:ext>
              </a:extLst>
            </p:cNvPr>
            <p:cNvSpPr txBox="1"/>
            <p:nvPr/>
          </p:nvSpPr>
          <p:spPr>
            <a:xfrm>
              <a:off x="6904594" y="2909901"/>
              <a:ext cx="1066799" cy="338554"/>
            </a:xfrm>
            <a:prstGeom prst="rect">
              <a:avLst/>
            </a:prstGeom>
            <a:noFill/>
          </p:spPr>
          <p:txBody>
            <a:bodyPr wrap="square" rtlCol="0">
              <a:spAutoFit/>
            </a:bodyPr>
            <a:lstStyle/>
            <a:p>
              <a:r>
                <a:rPr lang="en-US" sz="1600" dirty="0"/>
                <a:t>100K</a:t>
              </a:r>
              <a:endParaRPr lang="en-US" dirty="0"/>
            </a:p>
          </p:txBody>
        </p:sp>
        <p:sp>
          <p:nvSpPr>
            <p:cNvPr id="243" name="TextBox 242">
              <a:extLst>
                <a:ext uri="{FF2B5EF4-FFF2-40B4-BE49-F238E27FC236}">
                  <a16:creationId xmlns:a16="http://schemas.microsoft.com/office/drawing/2014/main" id="{8D015A58-236E-CD48-BD0C-5CC67BDFA00D}"/>
                </a:ext>
              </a:extLst>
            </p:cNvPr>
            <p:cNvSpPr txBox="1"/>
            <p:nvPr/>
          </p:nvSpPr>
          <p:spPr>
            <a:xfrm>
              <a:off x="7058341" y="3766556"/>
              <a:ext cx="1066799" cy="338554"/>
            </a:xfrm>
            <a:prstGeom prst="rect">
              <a:avLst/>
            </a:prstGeom>
            <a:noFill/>
          </p:spPr>
          <p:txBody>
            <a:bodyPr wrap="square" rtlCol="0">
              <a:spAutoFit/>
            </a:bodyPr>
            <a:lstStyle/>
            <a:p>
              <a:r>
                <a:rPr lang="en-US" sz="1600" dirty="0"/>
                <a:t>51K</a:t>
              </a:r>
              <a:endParaRPr lang="en-US" dirty="0"/>
            </a:p>
          </p:txBody>
        </p:sp>
        <p:sp>
          <p:nvSpPr>
            <p:cNvPr id="244" name="TextBox 243">
              <a:extLst>
                <a:ext uri="{FF2B5EF4-FFF2-40B4-BE49-F238E27FC236}">
                  <a16:creationId xmlns:a16="http://schemas.microsoft.com/office/drawing/2014/main" id="{35D082CC-E62C-FA46-BE47-B9C841FEFED1}"/>
                </a:ext>
              </a:extLst>
            </p:cNvPr>
            <p:cNvSpPr txBox="1"/>
            <p:nvPr/>
          </p:nvSpPr>
          <p:spPr>
            <a:xfrm>
              <a:off x="7760834" y="2309657"/>
              <a:ext cx="1066799" cy="338554"/>
            </a:xfrm>
            <a:prstGeom prst="rect">
              <a:avLst/>
            </a:prstGeom>
            <a:noFill/>
          </p:spPr>
          <p:txBody>
            <a:bodyPr wrap="square" rtlCol="0">
              <a:spAutoFit/>
            </a:bodyPr>
            <a:lstStyle/>
            <a:p>
              <a:r>
                <a:rPr lang="en-US" sz="1600" dirty="0"/>
                <a:t>.05uF</a:t>
              </a:r>
              <a:endParaRPr lang="en-US" dirty="0"/>
            </a:p>
          </p:txBody>
        </p:sp>
        <p:sp>
          <p:nvSpPr>
            <p:cNvPr id="245" name="TextBox 244">
              <a:extLst>
                <a:ext uri="{FF2B5EF4-FFF2-40B4-BE49-F238E27FC236}">
                  <a16:creationId xmlns:a16="http://schemas.microsoft.com/office/drawing/2014/main" id="{ECB9DDA6-77A6-3E47-8293-25CA3AED10EE}"/>
                </a:ext>
              </a:extLst>
            </p:cNvPr>
            <p:cNvSpPr txBox="1"/>
            <p:nvPr/>
          </p:nvSpPr>
          <p:spPr>
            <a:xfrm>
              <a:off x="7104246" y="4880469"/>
              <a:ext cx="564312" cy="338554"/>
            </a:xfrm>
            <a:prstGeom prst="rect">
              <a:avLst/>
            </a:prstGeom>
            <a:noFill/>
          </p:spPr>
          <p:txBody>
            <a:bodyPr wrap="square" rtlCol="0">
              <a:spAutoFit/>
            </a:bodyPr>
            <a:lstStyle/>
            <a:p>
              <a:r>
                <a:rPr lang="en-US" sz="1600" dirty="0"/>
                <a:t>50K</a:t>
              </a:r>
              <a:endParaRPr lang="en-US" dirty="0"/>
            </a:p>
          </p:txBody>
        </p:sp>
        <p:sp>
          <p:nvSpPr>
            <p:cNvPr id="246" name="Freeform 12">
              <a:extLst>
                <a:ext uri="{FF2B5EF4-FFF2-40B4-BE49-F238E27FC236}">
                  <a16:creationId xmlns:a16="http://schemas.microsoft.com/office/drawing/2014/main" id="{FFFC21EC-746B-0846-A758-3FA9C8809970}"/>
                </a:ext>
              </a:extLst>
            </p:cNvPr>
            <p:cNvSpPr>
              <a:spLocks noChangeAspect="1"/>
            </p:cNvSpPr>
            <p:nvPr/>
          </p:nvSpPr>
          <p:spPr bwMode="auto">
            <a:xfrm>
              <a:off x="7784481" y="4153416"/>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47" name="Group 220">
              <a:extLst>
                <a:ext uri="{FF2B5EF4-FFF2-40B4-BE49-F238E27FC236}">
                  <a16:creationId xmlns:a16="http://schemas.microsoft.com/office/drawing/2014/main" id="{8C6A75FA-6FE8-C24E-8736-41A7B10B6148}"/>
                </a:ext>
              </a:extLst>
            </p:cNvPr>
            <p:cNvGrpSpPr>
              <a:grpSpLocks/>
            </p:cNvGrpSpPr>
            <p:nvPr/>
          </p:nvGrpSpPr>
          <p:grpSpPr bwMode="auto">
            <a:xfrm>
              <a:off x="7784481" y="4871470"/>
              <a:ext cx="152400" cy="304800"/>
              <a:chOff x="3264" y="3072"/>
              <a:chExt cx="96" cy="192"/>
            </a:xfrm>
          </p:grpSpPr>
          <p:sp>
            <p:nvSpPr>
              <p:cNvPr id="248" name="Line 17">
                <a:extLst>
                  <a:ext uri="{FF2B5EF4-FFF2-40B4-BE49-F238E27FC236}">
                    <a16:creationId xmlns:a16="http://schemas.microsoft.com/office/drawing/2014/main" id="{AF21670E-FA7F-CE44-A9B3-0CC578CDD592}"/>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9" name="Freeform 18">
                <a:extLst>
                  <a:ext uri="{FF2B5EF4-FFF2-40B4-BE49-F238E27FC236}">
                    <a16:creationId xmlns:a16="http://schemas.microsoft.com/office/drawing/2014/main" id="{B2AB1692-0B06-A24D-A543-8C956141595B}"/>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50" name="TextBox 249">
              <a:extLst>
                <a:ext uri="{FF2B5EF4-FFF2-40B4-BE49-F238E27FC236}">
                  <a16:creationId xmlns:a16="http://schemas.microsoft.com/office/drawing/2014/main" id="{C3A749D1-4F3E-0343-BAC5-D4095F0529DA}"/>
                </a:ext>
              </a:extLst>
            </p:cNvPr>
            <p:cNvSpPr txBox="1"/>
            <p:nvPr/>
          </p:nvSpPr>
          <p:spPr>
            <a:xfrm>
              <a:off x="7912827" y="4468939"/>
              <a:ext cx="1066799" cy="338554"/>
            </a:xfrm>
            <a:prstGeom prst="rect">
              <a:avLst/>
            </a:prstGeom>
            <a:noFill/>
          </p:spPr>
          <p:txBody>
            <a:bodyPr wrap="square" rtlCol="0">
              <a:spAutoFit/>
            </a:bodyPr>
            <a:lstStyle/>
            <a:p>
              <a:r>
                <a:rPr lang="en-US" sz="1600" dirty="0"/>
                <a:t>51K</a:t>
              </a:r>
              <a:endParaRPr lang="en-US" dirty="0"/>
            </a:p>
          </p:txBody>
        </p:sp>
        <p:sp>
          <p:nvSpPr>
            <p:cNvPr id="253" name="TextBox 252">
              <a:extLst>
                <a:ext uri="{FF2B5EF4-FFF2-40B4-BE49-F238E27FC236}">
                  <a16:creationId xmlns:a16="http://schemas.microsoft.com/office/drawing/2014/main" id="{09C147D2-2315-5848-B255-F767293C9834}"/>
                </a:ext>
              </a:extLst>
            </p:cNvPr>
            <p:cNvSpPr txBox="1"/>
            <p:nvPr/>
          </p:nvSpPr>
          <p:spPr>
            <a:xfrm>
              <a:off x="8053504" y="5629520"/>
              <a:ext cx="1066799" cy="338554"/>
            </a:xfrm>
            <a:prstGeom prst="rect">
              <a:avLst/>
            </a:prstGeom>
            <a:noFill/>
          </p:spPr>
          <p:txBody>
            <a:bodyPr wrap="square" rtlCol="0">
              <a:spAutoFit/>
            </a:bodyPr>
            <a:lstStyle/>
            <a:p>
              <a:r>
                <a:rPr lang="en-US" sz="1600" dirty="0"/>
                <a:t>10K</a:t>
              </a:r>
              <a:endParaRPr lang="en-US" dirty="0"/>
            </a:p>
          </p:txBody>
        </p:sp>
        <p:sp>
          <p:nvSpPr>
            <p:cNvPr id="254" name="TextBox 253">
              <a:extLst>
                <a:ext uri="{FF2B5EF4-FFF2-40B4-BE49-F238E27FC236}">
                  <a16:creationId xmlns:a16="http://schemas.microsoft.com/office/drawing/2014/main" id="{9D0D04B8-19A7-294D-8877-2163D28157B2}"/>
                </a:ext>
              </a:extLst>
            </p:cNvPr>
            <p:cNvSpPr txBox="1"/>
            <p:nvPr/>
          </p:nvSpPr>
          <p:spPr>
            <a:xfrm>
              <a:off x="9120299" y="4609616"/>
              <a:ext cx="1066799" cy="338554"/>
            </a:xfrm>
            <a:prstGeom prst="rect">
              <a:avLst/>
            </a:prstGeom>
            <a:noFill/>
          </p:spPr>
          <p:txBody>
            <a:bodyPr wrap="square" rtlCol="0">
              <a:spAutoFit/>
            </a:bodyPr>
            <a:lstStyle/>
            <a:p>
              <a:r>
                <a:rPr lang="en-US" sz="1600" dirty="0"/>
                <a:t>51K</a:t>
              </a:r>
              <a:endParaRPr lang="en-US" dirty="0"/>
            </a:p>
          </p:txBody>
        </p:sp>
        <p:sp>
          <p:nvSpPr>
            <p:cNvPr id="255" name="TextBox 254">
              <a:extLst>
                <a:ext uri="{FF2B5EF4-FFF2-40B4-BE49-F238E27FC236}">
                  <a16:creationId xmlns:a16="http://schemas.microsoft.com/office/drawing/2014/main" id="{C1C4346E-A9BF-FE4A-A336-3F4B75F6348F}"/>
                </a:ext>
              </a:extLst>
            </p:cNvPr>
            <p:cNvSpPr txBox="1"/>
            <p:nvPr/>
          </p:nvSpPr>
          <p:spPr>
            <a:xfrm>
              <a:off x="9964007" y="5195734"/>
              <a:ext cx="1066799" cy="338554"/>
            </a:xfrm>
            <a:prstGeom prst="rect">
              <a:avLst/>
            </a:prstGeom>
            <a:noFill/>
          </p:spPr>
          <p:txBody>
            <a:bodyPr wrap="square" rtlCol="0">
              <a:spAutoFit/>
            </a:bodyPr>
            <a:lstStyle/>
            <a:p>
              <a:r>
                <a:rPr lang="en-US" sz="1600" dirty="0"/>
                <a:t>100K</a:t>
              </a:r>
              <a:endParaRPr lang="en-US" dirty="0"/>
            </a:p>
          </p:txBody>
        </p:sp>
        <p:sp>
          <p:nvSpPr>
            <p:cNvPr id="256" name="Oval 14">
              <a:extLst>
                <a:ext uri="{FF2B5EF4-FFF2-40B4-BE49-F238E27FC236}">
                  <a16:creationId xmlns:a16="http://schemas.microsoft.com/office/drawing/2014/main" id="{9115F096-9592-B840-AFAD-8CA8DB59D2FF}"/>
                </a:ext>
              </a:extLst>
            </p:cNvPr>
            <p:cNvSpPr>
              <a:spLocks noChangeAspect="1" noChangeArrowheads="1"/>
            </p:cNvSpPr>
            <p:nvPr/>
          </p:nvSpPr>
          <p:spPr bwMode="auto">
            <a:xfrm>
              <a:off x="9621582" y="2777954"/>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57" name="TextBox 256">
              <a:extLst>
                <a:ext uri="{FF2B5EF4-FFF2-40B4-BE49-F238E27FC236}">
                  <a16:creationId xmlns:a16="http://schemas.microsoft.com/office/drawing/2014/main" id="{63DC498B-780C-AC44-BD23-DF8A7CDFD6B8}"/>
                </a:ext>
              </a:extLst>
            </p:cNvPr>
            <p:cNvSpPr txBox="1"/>
            <p:nvPr/>
          </p:nvSpPr>
          <p:spPr>
            <a:xfrm>
              <a:off x="9401630" y="2930503"/>
              <a:ext cx="1066799" cy="338554"/>
            </a:xfrm>
            <a:prstGeom prst="rect">
              <a:avLst/>
            </a:prstGeom>
            <a:noFill/>
          </p:spPr>
          <p:txBody>
            <a:bodyPr wrap="square" rtlCol="0">
              <a:spAutoFit/>
            </a:bodyPr>
            <a:lstStyle/>
            <a:p>
              <a:r>
                <a:rPr lang="en-US" sz="1600" dirty="0"/>
                <a:t>sawtooth</a:t>
              </a:r>
              <a:endParaRPr lang="en-US" dirty="0"/>
            </a:p>
          </p:txBody>
        </p:sp>
        <p:sp>
          <p:nvSpPr>
            <p:cNvPr id="258" name="TextBox 257">
              <a:extLst>
                <a:ext uri="{FF2B5EF4-FFF2-40B4-BE49-F238E27FC236}">
                  <a16:creationId xmlns:a16="http://schemas.microsoft.com/office/drawing/2014/main" id="{C4AE30F9-8B79-A24F-B572-89B756BF7980}"/>
                </a:ext>
              </a:extLst>
            </p:cNvPr>
            <p:cNvSpPr txBox="1"/>
            <p:nvPr/>
          </p:nvSpPr>
          <p:spPr>
            <a:xfrm>
              <a:off x="11329443" y="3574814"/>
              <a:ext cx="751165" cy="338554"/>
            </a:xfrm>
            <a:prstGeom prst="rect">
              <a:avLst/>
            </a:prstGeom>
            <a:noFill/>
          </p:spPr>
          <p:txBody>
            <a:bodyPr wrap="square" rtlCol="0">
              <a:spAutoFit/>
            </a:bodyPr>
            <a:lstStyle/>
            <a:p>
              <a:r>
                <a:rPr lang="en-US" sz="1600" dirty="0"/>
                <a:t>square</a:t>
              </a:r>
              <a:endParaRPr lang="en-US" dirty="0"/>
            </a:p>
          </p:txBody>
        </p:sp>
        <p:sp>
          <p:nvSpPr>
            <p:cNvPr id="260" name="TextBox 259">
              <a:extLst>
                <a:ext uri="{FF2B5EF4-FFF2-40B4-BE49-F238E27FC236}">
                  <a16:creationId xmlns:a16="http://schemas.microsoft.com/office/drawing/2014/main" id="{922C926C-FD92-724D-B63F-09A2F4F610CE}"/>
                </a:ext>
              </a:extLst>
            </p:cNvPr>
            <p:cNvSpPr txBox="1"/>
            <p:nvPr/>
          </p:nvSpPr>
          <p:spPr>
            <a:xfrm>
              <a:off x="8805825" y="4083443"/>
              <a:ext cx="600016" cy="338554"/>
            </a:xfrm>
            <a:prstGeom prst="rect">
              <a:avLst/>
            </a:prstGeom>
            <a:noFill/>
          </p:spPr>
          <p:txBody>
            <a:bodyPr wrap="square" rtlCol="0">
              <a:spAutoFit/>
            </a:bodyPr>
            <a:lstStyle/>
            <a:p>
              <a:r>
                <a:rPr lang="en-US" sz="1600" dirty="0" err="1"/>
                <a:t>V</a:t>
              </a:r>
              <a:r>
                <a:rPr lang="en-US" sz="1600" baseline="-25000" dirty="0" err="1"/>
                <a:t>c</a:t>
              </a:r>
              <a:r>
                <a:rPr lang="en-US" sz="1600" dirty="0"/>
                <a:t>/2</a:t>
              </a:r>
              <a:endParaRPr lang="en-US" baseline="-25000" dirty="0"/>
            </a:p>
          </p:txBody>
        </p:sp>
      </p:grpSp>
    </p:spTree>
    <p:extLst>
      <p:ext uri="{BB962C8B-B14F-4D97-AF65-F5344CB8AC3E}">
        <p14:creationId xmlns:p14="http://schemas.microsoft.com/office/powerpoint/2010/main" val="377280944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205756" y="338017"/>
            <a:ext cx="11681444" cy="869909"/>
          </a:xfrm>
        </p:spPr>
        <p:txBody>
          <a:bodyPr>
            <a:normAutofit fontScale="90000"/>
          </a:bodyPr>
          <a:lstStyle/>
          <a:p>
            <a:pPr algn="ctr"/>
            <a:r>
              <a:rPr lang="en-US" dirty="0">
                <a:latin typeface="Calibri" panose="020F0502020204030204" pitchFamily="34" charset="0"/>
                <a:cs typeface="Calibri" panose="020F0502020204030204" pitchFamily="34" charset="0"/>
              </a:rPr>
              <a:t>Op integrators and differentiators and differential amp</a:t>
            </a:r>
          </a:p>
        </p:txBody>
      </p:sp>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a:xfrm>
            <a:off x="9301381" y="6199524"/>
            <a:ext cx="2743200" cy="365125"/>
          </a:xfrm>
        </p:spPr>
        <p:txBody>
          <a:bodyPr/>
          <a:lstStyle/>
          <a:p>
            <a:fld id="{6B76BA51-8322-1A4D-B259-B74706370693}" type="slidenum">
              <a:rPr lang="en-US" smtClean="0"/>
              <a:t>61</a:t>
            </a:fld>
            <a:endParaRPr lang="en-US"/>
          </a:p>
        </p:txBody>
      </p:sp>
      <p:grpSp>
        <p:nvGrpSpPr>
          <p:cNvPr id="19" name="Group 18">
            <a:extLst>
              <a:ext uri="{FF2B5EF4-FFF2-40B4-BE49-F238E27FC236}">
                <a16:creationId xmlns:a16="http://schemas.microsoft.com/office/drawing/2014/main" id="{78AD0A61-924D-BBE2-D265-4B7ADF47D776}"/>
              </a:ext>
            </a:extLst>
          </p:cNvPr>
          <p:cNvGrpSpPr/>
          <p:nvPr/>
        </p:nvGrpSpPr>
        <p:grpSpPr>
          <a:xfrm>
            <a:off x="4871026" y="2752010"/>
            <a:ext cx="2848931" cy="2572812"/>
            <a:chOff x="5178787" y="3799687"/>
            <a:chExt cx="2848931" cy="2572812"/>
          </a:xfrm>
        </p:grpSpPr>
        <p:grpSp>
          <p:nvGrpSpPr>
            <p:cNvPr id="384" name="Group 39">
              <a:extLst>
                <a:ext uri="{FF2B5EF4-FFF2-40B4-BE49-F238E27FC236}">
                  <a16:creationId xmlns:a16="http://schemas.microsoft.com/office/drawing/2014/main" id="{81834229-7227-A44C-9A59-E56D4A592FA1}"/>
                </a:ext>
              </a:extLst>
            </p:cNvPr>
            <p:cNvGrpSpPr>
              <a:grpSpLocks/>
            </p:cNvGrpSpPr>
            <p:nvPr/>
          </p:nvGrpSpPr>
          <p:grpSpPr bwMode="auto">
            <a:xfrm>
              <a:off x="6015143" y="4137152"/>
              <a:ext cx="1302026" cy="1060499"/>
              <a:chOff x="2496" y="1968"/>
              <a:chExt cx="1056" cy="864"/>
            </a:xfrm>
          </p:grpSpPr>
          <p:sp>
            <p:nvSpPr>
              <p:cNvPr id="424" name="Line 40">
                <a:extLst>
                  <a:ext uri="{FF2B5EF4-FFF2-40B4-BE49-F238E27FC236}">
                    <a16:creationId xmlns:a16="http://schemas.microsoft.com/office/drawing/2014/main" id="{228B336E-4ACF-A84F-B901-4941AD8B7995}"/>
                  </a:ext>
                </a:extLst>
              </p:cNvPr>
              <p:cNvSpPr>
                <a:spLocks noChangeShapeType="1"/>
              </p:cNvSpPr>
              <p:nvPr/>
            </p:nvSpPr>
            <p:spPr bwMode="auto">
              <a:xfrm>
                <a:off x="2496" y="216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5" name="Line 41">
                <a:extLst>
                  <a:ext uri="{FF2B5EF4-FFF2-40B4-BE49-F238E27FC236}">
                    <a16:creationId xmlns:a16="http://schemas.microsoft.com/office/drawing/2014/main" id="{A15D61AC-77A5-7F47-9CD5-65F596538309}"/>
                  </a:ext>
                </a:extLst>
              </p:cNvPr>
              <p:cNvSpPr>
                <a:spLocks noChangeShapeType="1"/>
              </p:cNvSpPr>
              <p:nvPr/>
            </p:nvSpPr>
            <p:spPr bwMode="auto">
              <a:xfrm>
                <a:off x="2496" y="264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6" name="Line 42">
                <a:extLst>
                  <a:ext uri="{FF2B5EF4-FFF2-40B4-BE49-F238E27FC236}">
                    <a16:creationId xmlns:a16="http://schemas.microsoft.com/office/drawing/2014/main" id="{4C7547B8-CB47-274F-A0B3-A477AAFCB98E}"/>
                  </a:ext>
                </a:extLst>
              </p:cNvPr>
              <p:cNvSpPr>
                <a:spLocks noChangeShapeType="1"/>
              </p:cNvSpPr>
              <p:nvPr/>
            </p:nvSpPr>
            <p:spPr bwMode="auto">
              <a:xfrm>
                <a:off x="3360" y="240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7" name="Freeform 43">
                <a:extLst>
                  <a:ext uri="{FF2B5EF4-FFF2-40B4-BE49-F238E27FC236}">
                    <a16:creationId xmlns:a16="http://schemas.microsoft.com/office/drawing/2014/main" id="{B0C18ED4-D988-1C4D-91AE-88C2771F0052}"/>
                  </a:ext>
                </a:extLst>
              </p:cNvPr>
              <p:cNvSpPr>
                <a:spLocks/>
              </p:cNvSpPr>
              <p:nvPr/>
            </p:nvSpPr>
            <p:spPr bwMode="auto">
              <a:xfrm>
                <a:off x="2688" y="1968"/>
                <a:ext cx="672" cy="864"/>
              </a:xfrm>
              <a:custGeom>
                <a:avLst/>
                <a:gdLst>
                  <a:gd name="T0" fmla="*/ 6120 w 432"/>
                  <a:gd name="T1" fmla="*/ 779 h 768"/>
                  <a:gd name="T2" fmla="*/ 0 w 432"/>
                  <a:gd name="T3" fmla="*/ 1558 h 768"/>
                  <a:gd name="T4" fmla="*/ 0 w 432"/>
                  <a:gd name="T5" fmla="*/ 0 h 768"/>
                  <a:gd name="T6" fmla="*/ 6120 w 432"/>
                  <a:gd name="T7" fmla="*/ 779 h 768"/>
                  <a:gd name="T8" fmla="*/ 0 60000 65536"/>
                  <a:gd name="T9" fmla="*/ 0 60000 65536"/>
                  <a:gd name="T10" fmla="*/ 0 60000 65536"/>
                  <a:gd name="T11" fmla="*/ 0 60000 65536"/>
                  <a:gd name="T12" fmla="*/ 0 w 432"/>
                  <a:gd name="T13" fmla="*/ 0 h 768"/>
                  <a:gd name="T14" fmla="*/ 432 w 432"/>
                  <a:gd name="T15" fmla="*/ 768 h 768"/>
                </a:gdLst>
                <a:ahLst/>
                <a:cxnLst>
                  <a:cxn ang="T8">
                    <a:pos x="T0" y="T1"/>
                  </a:cxn>
                  <a:cxn ang="T9">
                    <a:pos x="T2" y="T3"/>
                  </a:cxn>
                  <a:cxn ang="T10">
                    <a:pos x="T4" y="T5"/>
                  </a:cxn>
                  <a:cxn ang="T11">
                    <a:pos x="T6" y="T7"/>
                  </a:cxn>
                </a:cxnLst>
                <a:rect l="T12" t="T13" r="T14" b="T15"/>
                <a:pathLst>
                  <a:path w="432" h="768">
                    <a:moveTo>
                      <a:pt x="432" y="384"/>
                    </a:moveTo>
                    <a:lnTo>
                      <a:pt x="0" y="768"/>
                    </a:lnTo>
                    <a:lnTo>
                      <a:pt x="0" y="0"/>
                    </a:lnTo>
                    <a:lnTo>
                      <a:pt x="432" y="38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385" name="TextBox 384">
              <a:extLst>
                <a:ext uri="{FF2B5EF4-FFF2-40B4-BE49-F238E27FC236}">
                  <a16:creationId xmlns:a16="http://schemas.microsoft.com/office/drawing/2014/main" id="{200A6942-CB1D-5048-B1A6-E440DD677CF2}"/>
                </a:ext>
              </a:extLst>
            </p:cNvPr>
            <p:cNvSpPr txBox="1"/>
            <p:nvPr/>
          </p:nvSpPr>
          <p:spPr>
            <a:xfrm>
              <a:off x="5571431" y="6003167"/>
              <a:ext cx="1703993" cy="369332"/>
            </a:xfrm>
            <a:prstGeom prst="rect">
              <a:avLst/>
            </a:prstGeom>
            <a:noFill/>
          </p:spPr>
          <p:txBody>
            <a:bodyPr wrap="none" rtlCol="0">
              <a:spAutoFit/>
            </a:bodyPr>
            <a:lstStyle/>
            <a:p>
              <a:r>
                <a:rPr lang="en-US" dirty="0"/>
                <a:t>Differential amp</a:t>
              </a:r>
            </a:p>
          </p:txBody>
        </p:sp>
        <p:sp>
          <p:nvSpPr>
            <p:cNvPr id="386" name="Freeform 12">
              <a:extLst>
                <a:ext uri="{FF2B5EF4-FFF2-40B4-BE49-F238E27FC236}">
                  <a16:creationId xmlns:a16="http://schemas.microsoft.com/office/drawing/2014/main" id="{77B2A6C0-3F86-F64F-88C6-0FDEF0FAD4C8}"/>
                </a:ext>
              </a:extLst>
            </p:cNvPr>
            <p:cNvSpPr>
              <a:spLocks noChangeAspect="1"/>
            </p:cNvSpPr>
            <p:nvPr/>
          </p:nvSpPr>
          <p:spPr bwMode="auto">
            <a:xfrm rot="5400000">
              <a:off x="6423998" y="3512135"/>
              <a:ext cx="16764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387" name="Group 13">
              <a:extLst>
                <a:ext uri="{FF2B5EF4-FFF2-40B4-BE49-F238E27FC236}">
                  <a16:creationId xmlns:a16="http://schemas.microsoft.com/office/drawing/2014/main" id="{A3273273-96EE-1C49-A213-5A59B1258661}"/>
                </a:ext>
              </a:extLst>
            </p:cNvPr>
            <p:cNvGrpSpPr>
              <a:grpSpLocks noChangeAspect="1"/>
            </p:cNvGrpSpPr>
            <p:nvPr/>
          </p:nvGrpSpPr>
          <p:grpSpPr bwMode="auto">
            <a:xfrm>
              <a:off x="6030824" y="4251662"/>
              <a:ext cx="207818" cy="228600"/>
              <a:chOff x="1344" y="2064"/>
              <a:chExt cx="192" cy="192"/>
            </a:xfrm>
          </p:grpSpPr>
          <p:sp>
            <p:nvSpPr>
              <p:cNvPr id="422" name="Oval 14">
                <a:extLst>
                  <a:ext uri="{FF2B5EF4-FFF2-40B4-BE49-F238E27FC236}">
                    <a16:creationId xmlns:a16="http://schemas.microsoft.com/office/drawing/2014/main" id="{4B397AA3-C639-974D-86F5-68F8D5BA5D8D}"/>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423" name="Rectangle 15">
                <a:extLst>
                  <a:ext uri="{FF2B5EF4-FFF2-40B4-BE49-F238E27FC236}">
                    <a16:creationId xmlns:a16="http://schemas.microsoft.com/office/drawing/2014/main" id="{02A92E75-D394-0E4C-A764-BB88D8D89CE7}"/>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cxnSp>
          <p:nvCxnSpPr>
            <p:cNvPr id="388" name="Straight Connector 387">
              <a:extLst>
                <a:ext uri="{FF2B5EF4-FFF2-40B4-BE49-F238E27FC236}">
                  <a16:creationId xmlns:a16="http://schemas.microsoft.com/office/drawing/2014/main" id="{93602E9A-692F-BF41-81BA-6BBB933D7BAE}"/>
                </a:ext>
              </a:extLst>
            </p:cNvPr>
            <p:cNvCxnSpPr/>
            <p:nvPr/>
          </p:nvCxnSpPr>
          <p:spPr>
            <a:xfrm>
              <a:off x="7080437" y="4667401"/>
              <a:ext cx="55083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89" name="Freeform 12">
              <a:extLst>
                <a:ext uri="{FF2B5EF4-FFF2-40B4-BE49-F238E27FC236}">
                  <a16:creationId xmlns:a16="http://schemas.microsoft.com/office/drawing/2014/main" id="{116AD54C-7A11-2B4A-89F6-B5468B784A80}"/>
                </a:ext>
              </a:extLst>
            </p:cNvPr>
            <p:cNvSpPr>
              <a:spLocks noChangeAspect="1"/>
            </p:cNvSpPr>
            <p:nvPr/>
          </p:nvSpPr>
          <p:spPr bwMode="auto">
            <a:xfrm rot="5400000">
              <a:off x="5689530" y="3982905"/>
              <a:ext cx="16764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390" name="Group 13">
              <a:extLst>
                <a:ext uri="{FF2B5EF4-FFF2-40B4-BE49-F238E27FC236}">
                  <a16:creationId xmlns:a16="http://schemas.microsoft.com/office/drawing/2014/main" id="{88503F11-6B58-CB44-9FBA-267924B125CA}"/>
                </a:ext>
              </a:extLst>
            </p:cNvPr>
            <p:cNvGrpSpPr>
              <a:grpSpLocks noChangeAspect="1"/>
            </p:cNvGrpSpPr>
            <p:nvPr/>
          </p:nvGrpSpPr>
          <p:grpSpPr bwMode="auto">
            <a:xfrm>
              <a:off x="5301353" y="4229285"/>
              <a:ext cx="228600" cy="251460"/>
              <a:chOff x="1344" y="2064"/>
              <a:chExt cx="192" cy="192"/>
            </a:xfrm>
          </p:grpSpPr>
          <p:sp>
            <p:nvSpPr>
              <p:cNvPr id="420" name="Oval 14">
                <a:extLst>
                  <a:ext uri="{FF2B5EF4-FFF2-40B4-BE49-F238E27FC236}">
                    <a16:creationId xmlns:a16="http://schemas.microsoft.com/office/drawing/2014/main" id="{52F91378-D727-984C-B8D3-DF8CB969EC56}"/>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421" name="Rectangle 15">
                <a:extLst>
                  <a:ext uri="{FF2B5EF4-FFF2-40B4-BE49-F238E27FC236}">
                    <a16:creationId xmlns:a16="http://schemas.microsoft.com/office/drawing/2014/main" id="{0B3A4AE2-A59E-EA47-AB58-B5705CB3EF4D}"/>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391" name="Group 13">
              <a:extLst>
                <a:ext uri="{FF2B5EF4-FFF2-40B4-BE49-F238E27FC236}">
                  <a16:creationId xmlns:a16="http://schemas.microsoft.com/office/drawing/2014/main" id="{6B8194E7-5D9C-6842-AAF7-26436B8AD286}"/>
                </a:ext>
              </a:extLst>
            </p:cNvPr>
            <p:cNvGrpSpPr>
              <a:grpSpLocks noChangeAspect="1"/>
            </p:cNvGrpSpPr>
            <p:nvPr/>
          </p:nvGrpSpPr>
          <p:grpSpPr bwMode="auto">
            <a:xfrm>
              <a:off x="7555075" y="4545481"/>
              <a:ext cx="228600" cy="251460"/>
              <a:chOff x="1344" y="2064"/>
              <a:chExt cx="192" cy="192"/>
            </a:xfrm>
          </p:grpSpPr>
          <p:sp>
            <p:nvSpPr>
              <p:cNvPr id="418" name="Oval 14">
                <a:extLst>
                  <a:ext uri="{FF2B5EF4-FFF2-40B4-BE49-F238E27FC236}">
                    <a16:creationId xmlns:a16="http://schemas.microsoft.com/office/drawing/2014/main" id="{C92FFBA6-A5CD-F240-AC1F-BA57ECFB2A7E}"/>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419" name="Rectangle 15">
                <a:extLst>
                  <a:ext uri="{FF2B5EF4-FFF2-40B4-BE49-F238E27FC236}">
                    <a16:creationId xmlns:a16="http://schemas.microsoft.com/office/drawing/2014/main" id="{DB58BC04-2EE3-FE45-8F94-6C5C7B655F67}"/>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cxnSp>
          <p:nvCxnSpPr>
            <p:cNvPr id="392" name="Straight Connector 391">
              <a:extLst>
                <a:ext uri="{FF2B5EF4-FFF2-40B4-BE49-F238E27FC236}">
                  <a16:creationId xmlns:a16="http://schemas.microsoft.com/office/drawing/2014/main" id="{F0E6227B-E22C-9D4D-A703-103F5CADC62D}"/>
                </a:ext>
              </a:extLst>
            </p:cNvPr>
            <p:cNvCxnSpPr>
              <a:cxnSpLocks/>
            </p:cNvCxnSpPr>
            <p:nvPr/>
          </p:nvCxnSpPr>
          <p:spPr>
            <a:xfrm flipH="1" flipV="1">
              <a:off x="6133509" y="3899198"/>
              <a:ext cx="0" cy="4736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3" name="Straight Connector 392">
              <a:extLst>
                <a:ext uri="{FF2B5EF4-FFF2-40B4-BE49-F238E27FC236}">
                  <a16:creationId xmlns:a16="http://schemas.microsoft.com/office/drawing/2014/main" id="{24BDBAA1-3A4E-3543-9057-832D954AD3A2}"/>
                </a:ext>
              </a:extLst>
            </p:cNvPr>
            <p:cNvCxnSpPr>
              <a:cxnSpLocks/>
            </p:cNvCxnSpPr>
            <p:nvPr/>
          </p:nvCxnSpPr>
          <p:spPr>
            <a:xfrm flipV="1">
              <a:off x="7200309" y="3899198"/>
              <a:ext cx="0" cy="77449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4" name="Straight Connector 393">
              <a:extLst>
                <a:ext uri="{FF2B5EF4-FFF2-40B4-BE49-F238E27FC236}">
                  <a16:creationId xmlns:a16="http://schemas.microsoft.com/office/drawing/2014/main" id="{80B90FF0-D084-404E-BC7F-0224EE5926D6}"/>
                </a:ext>
              </a:extLst>
            </p:cNvPr>
            <p:cNvCxnSpPr>
              <a:cxnSpLocks/>
            </p:cNvCxnSpPr>
            <p:nvPr/>
          </p:nvCxnSpPr>
          <p:spPr>
            <a:xfrm>
              <a:off x="6805018" y="3893135"/>
              <a:ext cx="39378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95" name="Group 13">
              <a:extLst>
                <a:ext uri="{FF2B5EF4-FFF2-40B4-BE49-F238E27FC236}">
                  <a16:creationId xmlns:a16="http://schemas.microsoft.com/office/drawing/2014/main" id="{4E58E949-5334-6545-B848-1D8A29B26F37}"/>
                </a:ext>
              </a:extLst>
            </p:cNvPr>
            <p:cNvGrpSpPr>
              <a:grpSpLocks noChangeAspect="1"/>
            </p:cNvGrpSpPr>
            <p:nvPr/>
          </p:nvGrpSpPr>
          <p:grpSpPr bwMode="auto">
            <a:xfrm>
              <a:off x="7123024" y="4583132"/>
              <a:ext cx="152400" cy="167640"/>
              <a:chOff x="1344" y="2064"/>
              <a:chExt cx="192" cy="192"/>
            </a:xfrm>
          </p:grpSpPr>
          <p:sp>
            <p:nvSpPr>
              <p:cNvPr id="416" name="Oval 14">
                <a:extLst>
                  <a:ext uri="{FF2B5EF4-FFF2-40B4-BE49-F238E27FC236}">
                    <a16:creationId xmlns:a16="http://schemas.microsoft.com/office/drawing/2014/main" id="{E84AE630-B5C9-ED42-9266-69B42BB6F0B5}"/>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417" name="Rectangle 15">
                <a:extLst>
                  <a:ext uri="{FF2B5EF4-FFF2-40B4-BE49-F238E27FC236}">
                    <a16:creationId xmlns:a16="http://schemas.microsoft.com/office/drawing/2014/main" id="{15C3D87F-F95C-5447-8F9D-8A0748FB5E10}"/>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396" name="TextBox 395">
              <a:extLst>
                <a:ext uri="{FF2B5EF4-FFF2-40B4-BE49-F238E27FC236}">
                  <a16:creationId xmlns:a16="http://schemas.microsoft.com/office/drawing/2014/main" id="{9F5CF01C-2BD1-D948-85A2-6824424E3686}"/>
                </a:ext>
              </a:extLst>
            </p:cNvPr>
            <p:cNvSpPr txBox="1"/>
            <p:nvPr/>
          </p:nvSpPr>
          <p:spPr>
            <a:xfrm>
              <a:off x="6403266" y="3905431"/>
              <a:ext cx="567712" cy="369332"/>
            </a:xfrm>
            <a:prstGeom prst="rect">
              <a:avLst/>
            </a:prstGeom>
            <a:noFill/>
          </p:spPr>
          <p:txBody>
            <a:bodyPr wrap="square" rtlCol="0">
              <a:spAutoFit/>
            </a:bodyPr>
            <a:lstStyle/>
            <a:p>
              <a:r>
                <a:rPr lang="en-US" dirty="0"/>
                <a:t>R</a:t>
              </a:r>
              <a:r>
                <a:rPr lang="en-US" baseline="-25000" dirty="0"/>
                <a:t>f</a:t>
              </a:r>
            </a:p>
          </p:txBody>
        </p:sp>
        <p:sp>
          <p:nvSpPr>
            <p:cNvPr id="397" name="TextBox 396">
              <a:extLst>
                <a:ext uri="{FF2B5EF4-FFF2-40B4-BE49-F238E27FC236}">
                  <a16:creationId xmlns:a16="http://schemas.microsoft.com/office/drawing/2014/main" id="{38C3B396-BB98-0B4C-857D-C4733DE602A8}"/>
                </a:ext>
              </a:extLst>
            </p:cNvPr>
            <p:cNvSpPr txBox="1"/>
            <p:nvPr/>
          </p:nvSpPr>
          <p:spPr>
            <a:xfrm>
              <a:off x="5574472" y="3799687"/>
              <a:ext cx="567712" cy="369332"/>
            </a:xfrm>
            <a:prstGeom prst="rect">
              <a:avLst/>
            </a:prstGeom>
            <a:noFill/>
          </p:spPr>
          <p:txBody>
            <a:bodyPr wrap="square" rtlCol="0">
              <a:spAutoFit/>
            </a:bodyPr>
            <a:lstStyle/>
            <a:p>
              <a:r>
                <a:rPr lang="en-US" dirty="0"/>
                <a:t>R</a:t>
              </a:r>
              <a:r>
                <a:rPr lang="en-US" baseline="-25000" dirty="0"/>
                <a:t>i</a:t>
              </a:r>
            </a:p>
          </p:txBody>
        </p:sp>
        <p:sp>
          <p:nvSpPr>
            <p:cNvPr id="398" name="TextBox 397">
              <a:extLst>
                <a:ext uri="{FF2B5EF4-FFF2-40B4-BE49-F238E27FC236}">
                  <a16:creationId xmlns:a16="http://schemas.microsoft.com/office/drawing/2014/main" id="{3870E0FC-EF3A-5641-A15D-F2F1F8635EF1}"/>
                </a:ext>
              </a:extLst>
            </p:cNvPr>
            <p:cNvSpPr txBox="1"/>
            <p:nvPr/>
          </p:nvSpPr>
          <p:spPr>
            <a:xfrm>
              <a:off x="7460006" y="4181494"/>
              <a:ext cx="567712" cy="406265"/>
            </a:xfrm>
            <a:prstGeom prst="rect">
              <a:avLst/>
            </a:prstGeom>
            <a:noFill/>
          </p:spPr>
          <p:txBody>
            <a:bodyPr wrap="square" rtlCol="0">
              <a:spAutoFit/>
            </a:bodyPr>
            <a:lstStyle/>
            <a:p>
              <a:r>
                <a:rPr lang="en-US" dirty="0" err="1"/>
                <a:t>V</a:t>
              </a:r>
              <a:r>
                <a:rPr lang="en-US" baseline="-25000" dirty="0" err="1"/>
                <a:t>out</a:t>
              </a:r>
              <a:endParaRPr lang="en-US" baseline="-25000" dirty="0"/>
            </a:p>
          </p:txBody>
        </p:sp>
        <p:sp>
          <p:nvSpPr>
            <p:cNvPr id="399" name="TextBox 398">
              <a:extLst>
                <a:ext uri="{FF2B5EF4-FFF2-40B4-BE49-F238E27FC236}">
                  <a16:creationId xmlns:a16="http://schemas.microsoft.com/office/drawing/2014/main" id="{6F18F98A-A8F4-E94E-91D2-A1330EFE4CBB}"/>
                </a:ext>
              </a:extLst>
            </p:cNvPr>
            <p:cNvSpPr txBox="1"/>
            <p:nvPr/>
          </p:nvSpPr>
          <p:spPr>
            <a:xfrm>
              <a:off x="5178787" y="3905431"/>
              <a:ext cx="527387" cy="406265"/>
            </a:xfrm>
            <a:prstGeom prst="rect">
              <a:avLst/>
            </a:prstGeom>
            <a:noFill/>
          </p:spPr>
          <p:txBody>
            <a:bodyPr wrap="square" rtlCol="0">
              <a:spAutoFit/>
            </a:bodyPr>
            <a:lstStyle/>
            <a:p>
              <a:r>
                <a:rPr lang="en-US" dirty="0"/>
                <a:t>V</a:t>
              </a:r>
              <a:r>
                <a:rPr lang="en-US" baseline="-25000" dirty="0"/>
                <a:t>in</a:t>
              </a:r>
            </a:p>
          </p:txBody>
        </p:sp>
        <p:sp>
          <p:nvSpPr>
            <p:cNvPr id="400" name="TextBox 399">
              <a:extLst>
                <a:ext uri="{FF2B5EF4-FFF2-40B4-BE49-F238E27FC236}">
                  <a16:creationId xmlns:a16="http://schemas.microsoft.com/office/drawing/2014/main" id="{4D808B07-70D1-D048-9E43-B3EF908F6EC2}"/>
                </a:ext>
              </a:extLst>
            </p:cNvPr>
            <p:cNvSpPr txBox="1"/>
            <p:nvPr/>
          </p:nvSpPr>
          <p:spPr>
            <a:xfrm>
              <a:off x="6220543" y="4751128"/>
              <a:ext cx="302631" cy="406265"/>
            </a:xfrm>
            <a:prstGeom prst="rect">
              <a:avLst/>
            </a:prstGeom>
            <a:noFill/>
          </p:spPr>
          <p:txBody>
            <a:bodyPr wrap="square" rtlCol="0">
              <a:spAutoFit/>
            </a:bodyPr>
            <a:lstStyle/>
            <a:p>
              <a:r>
                <a:rPr lang="en-US" dirty="0"/>
                <a:t>+</a:t>
              </a:r>
              <a:endParaRPr lang="en-US" baseline="-25000" dirty="0"/>
            </a:p>
          </p:txBody>
        </p:sp>
        <p:sp>
          <p:nvSpPr>
            <p:cNvPr id="401" name="TextBox 400">
              <a:extLst>
                <a:ext uri="{FF2B5EF4-FFF2-40B4-BE49-F238E27FC236}">
                  <a16:creationId xmlns:a16="http://schemas.microsoft.com/office/drawing/2014/main" id="{765D7356-68F7-954D-9A12-0D5700C7045D}"/>
                </a:ext>
              </a:extLst>
            </p:cNvPr>
            <p:cNvSpPr txBox="1"/>
            <p:nvPr/>
          </p:nvSpPr>
          <p:spPr>
            <a:xfrm>
              <a:off x="6242315" y="4200315"/>
              <a:ext cx="302631" cy="406265"/>
            </a:xfrm>
            <a:prstGeom prst="rect">
              <a:avLst/>
            </a:prstGeom>
            <a:noFill/>
          </p:spPr>
          <p:txBody>
            <a:bodyPr wrap="square" rtlCol="0">
              <a:spAutoFit/>
            </a:bodyPr>
            <a:lstStyle/>
            <a:p>
              <a:r>
                <a:rPr lang="en-US" dirty="0"/>
                <a:t>-</a:t>
              </a:r>
              <a:endParaRPr lang="en-US" baseline="-25000" dirty="0"/>
            </a:p>
          </p:txBody>
        </p:sp>
        <p:sp>
          <p:nvSpPr>
            <p:cNvPr id="402" name="TextBox 401">
              <a:extLst>
                <a:ext uri="{FF2B5EF4-FFF2-40B4-BE49-F238E27FC236}">
                  <a16:creationId xmlns:a16="http://schemas.microsoft.com/office/drawing/2014/main" id="{90F0F3E0-01E8-5D4E-9970-E939B21DE99C}"/>
                </a:ext>
              </a:extLst>
            </p:cNvPr>
            <p:cNvSpPr txBox="1"/>
            <p:nvPr/>
          </p:nvSpPr>
          <p:spPr>
            <a:xfrm>
              <a:off x="5583451" y="4491750"/>
              <a:ext cx="567712" cy="369332"/>
            </a:xfrm>
            <a:prstGeom prst="rect">
              <a:avLst/>
            </a:prstGeom>
            <a:noFill/>
          </p:spPr>
          <p:txBody>
            <a:bodyPr wrap="square" rtlCol="0">
              <a:spAutoFit/>
            </a:bodyPr>
            <a:lstStyle/>
            <a:p>
              <a:r>
                <a:rPr lang="en-US" dirty="0"/>
                <a:t>R</a:t>
              </a:r>
              <a:r>
                <a:rPr lang="en-US" baseline="-25000" dirty="0"/>
                <a:t>i</a:t>
              </a:r>
            </a:p>
          </p:txBody>
        </p:sp>
        <p:sp>
          <p:nvSpPr>
            <p:cNvPr id="403" name="TextBox 402">
              <a:extLst>
                <a:ext uri="{FF2B5EF4-FFF2-40B4-BE49-F238E27FC236}">
                  <a16:creationId xmlns:a16="http://schemas.microsoft.com/office/drawing/2014/main" id="{0157E81B-823D-BC43-892D-3D60235B0B18}"/>
                </a:ext>
              </a:extLst>
            </p:cNvPr>
            <p:cNvSpPr txBox="1"/>
            <p:nvPr/>
          </p:nvSpPr>
          <p:spPr>
            <a:xfrm>
              <a:off x="5190060" y="4972308"/>
              <a:ext cx="527387" cy="406265"/>
            </a:xfrm>
            <a:prstGeom prst="rect">
              <a:avLst/>
            </a:prstGeom>
            <a:noFill/>
          </p:spPr>
          <p:txBody>
            <a:bodyPr wrap="square" rtlCol="0">
              <a:spAutoFit/>
            </a:bodyPr>
            <a:lstStyle/>
            <a:p>
              <a:r>
                <a:rPr lang="en-US" dirty="0"/>
                <a:t>V</a:t>
              </a:r>
              <a:r>
                <a:rPr lang="en-US" baseline="-25000" dirty="0"/>
                <a:t>in</a:t>
              </a:r>
            </a:p>
          </p:txBody>
        </p:sp>
        <p:sp>
          <p:nvSpPr>
            <p:cNvPr id="404" name="Freeform 12">
              <a:extLst>
                <a:ext uri="{FF2B5EF4-FFF2-40B4-BE49-F238E27FC236}">
                  <a16:creationId xmlns:a16="http://schemas.microsoft.com/office/drawing/2014/main" id="{F272CD0B-A343-FD4A-9534-CE1E05124544}"/>
                </a:ext>
              </a:extLst>
            </p:cNvPr>
            <p:cNvSpPr>
              <a:spLocks noChangeAspect="1"/>
            </p:cNvSpPr>
            <p:nvPr/>
          </p:nvSpPr>
          <p:spPr bwMode="auto">
            <a:xfrm rot="5400000">
              <a:off x="5656402" y="4572627"/>
              <a:ext cx="16764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405" name="Group 13">
              <a:extLst>
                <a:ext uri="{FF2B5EF4-FFF2-40B4-BE49-F238E27FC236}">
                  <a16:creationId xmlns:a16="http://schemas.microsoft.com/office/drawing/2014/main" id="{6AA2FC3E-7178-1B4A-B15B-601772CBF67C}"/>
                </a:ext>
              </a:extLst>
            </p:cNvPr>
            <p:cNvGrpSpPr>
              <a:grpSpLocks noChangeAspect="1"/>
            </p:cNvGrpSpPr>
            <p:nvPr/>
          </p:nvGrpSpPr>
          <p:grpSpPr bwMode="auto">
            <a:xfrm>
              <a:off x="5294730" y="4831434"/>
              <a:ext cx="228600" cy="251460"/>
              <a:chOff x="1344" y="2064"/>
              <a:chExt cx="192" cy="192"/>
            </a:xfrm>
          </p:grpSpPr>
          <p:sp>
            <p:nvSpPr>
              <p:cNvPr id="414" name="Oval 14">
                <a:extLst>
                  <a:ext uri="{FF2B5EF4-FFF2-40B4-BE49-F238E27FC236}">
                    <a16:creationId xmlns:a16="http://schemas.microsoft.com/office/drawing/2014/main" id="{1118F354-E3A3-964E-AD67-2C7B54025F1D}"/>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415" name="Rectangle 15">
                <a:extLst>
                  <a:ext uri="{FF2B5EF4-FFF2-40B4-BE49-F238E27FC236}">
                    <a16:creationId xmlns:a16="http://schemas.microsoft.com/office/drawing/2014/main" id="{D960ACC5-A9A6-C04F-8698-0A849EE80851}"/>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406" name="Freeform 12">
              <a:extLst>
                <a:ext uri="{FF2B5EF4-FFF2-40B4-BE49-F238E27FC236}">
                  <a16:creationId xmlns:a16="http://schemas.microsoft.com/office/drawing/2014/main" id="{E736C43D-8725-E042-83A2-E20810B477E1}"/>
                </a:ext>
              </a:extLst>
            </p:cNvPr>
            <p:cNvSpPr>
              <a:spLocks noChangeAspect="1"/>
            </p:cNvSpPr>
            <p:nvPr/>
          </p:nvSpPr>
          <p:spPr bwMode="auto">
            <a:xfrm>
              <a:off x="6019807" y="4963247"/>
              <a:ext cx="16764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407" name="Group 13">
              <a:extLst>
                <a:ext uri="{FF2B5EF4-FFF2-40B4-BE49-F238E27FC236}">
                  <a16:creationId xmlns:a16="http://schemas.microsoft.com/office/drawing/2014/main" id="{6D496F51-7991-F246-84B5-A1DBE1C06CF5}"/>
                </a:ext>
              </a:extLst>
            </p:cNvPr>
            <p:cNvGrpSpPr>
              <a:grpSpLocks noChangeAspect="1"/>
            </p:cNvGrpSpPr>
            <p:nvPr/>
          </p:nvGrpSpPr>
          <p:grpSpPr bwMode="auto">
            <a:xfrm>
              <a:off x="5985495" y="4819007"/>
              <a:ext cx="228600" cy="251460"/>
              <a:chOff x="1344" y="2064"/>
              <a:chExt cx="192" cy="192"/>
            </a:xfrm>
          </p:grpSpPr>
          <p:sp>
            <p:nvSpPr>
              <p:cNvPr id="412" name="Oval 14">
                <a:extLst>
                  <a:ext uri="{FF2B5EF4-FFF2-40B4-BE49-F238E27FC236}">
                    <a16:creationId xmlns:a16="http://schemas.microsoft.com/office/drawing/2014/main" id="{E1E1D42A-1CB3-7945-BD64-2E427DA7A6B9}"/>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413" name="Rectangle 15">
                <a:extLst>
                  <a:ext uri="{FF2B5EF4-FFF2-40B4-BE49-F238E27FC236}">
                    <a16:creationId xmlns:a16="http://schemas.microsoft.com/office/drawing/2014/main" id="{D1E482BB-5FB7-B044-B859-60C170DE050F}"/>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408" name="Group 220">
              <a:extLst>
                <a:ext uri="{FF2B5EF4-FFF2-40B4-BE49-F238E27FC236}">
                  <a16:creationId xmlns:a16="http://schemas.microsoft.com/office/drawing/2014/main" id="{09BA1659-62D1-804C-BE89-6D71F66BB4F6}"/>
                </a:ext>
              </a:extLst>
            </p:cNvPr>
            <p:cNvGrpSpPr>
              <a:grpSpLocks/>
            </p:cNvGrpSpPr>
            <p:nvPr/>
          </p:nvGrpSpPr>
          <p:grpSpPr bwMode="auto">
            <a:xfrm>
              <a:off x="6025074" y="5595392"/>
              <a:ext cx="152400" cy="304800"/>
              <a:chOff x="3264" y="3072"/>
              <a:chExt cx="96" cy="192"/>
            </a:xfrm>
          </p:grpSpPr>
          <p:sp>
            <p:nvSpPr>
              <p:cNvPr id="410" name="Line 17">
                <a:extLst>
                  <a:ext uri="{FF2B5EF4-FFF2-40B4-BE49-F238E27FC236}">
                    <a16:creationId xmlns:a16="http://schemas.microsoft.com/office/drawing/2014/main" id="{1322A339-1D8F-2348-8186-591A0EF73A09}"/>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1" name="Freeform 18">
                <a:extLst>
                  <a:ext uri="{FF2B5EF4-FFF2-40B4-BE49-F238E27FC236}">
                    <a16:creationId xmlns:a16="http://schemas.microsoft.com/office/drawing/2014/main" id="{8F5C1A92-CF52-A948-8F29-696C6CF143F1}"/>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09" name="TextBox 408">
              <a:extLst>
                <a:ext uri="{FF2B5EF4-FFF2-40B4-BE49-F238E27FC236}">
                  <a16:creationId xmlns:a16="http://schemas.microsoft.com/office/drawing/2014/main" id="{15FE08D4-3BD7-AB4D-916D-F7232075B66F}"/>
                </a:ext>
              </a:extLst>
            </p:cNvPr>
            <p:cNvSpPr txBox="1"/>
            <p:nvPr/>
          </p:nvSpPr>
          <p:spPr>
            <a:xfrm>
              <a:off x="6239433" y="5174237"/>
              <a:ext cx="567712" cy="369332"/>
            </a:xfrm>
            <a:prstGeom prst="rect">
              <a:avLst/>
            </a:prstGeom>
            <a:noFill/>
          </p:spPr>
          <p:txBody>
            <a:bodyPr wrap="square" rtlCol="0">
              <a:spAutoFit/>
            </a:bodyPr>
            <a:lstStyle/>
            <a:p>
              <a:r>
                <a:rPr lang="en-US" dirty="0"/>
                <a:t>R</a:t>
              </a:r>
              <a:r>
                <a:rPr lang="en-US" baseline="-25000" dirty="0"/>
                <a:t>f</a:t>
              </a:r>
            </a:p>
          </p:txBody>
        </p:sp>
      </p:grpSp>
      <p:grpSp>
        <p:nvGrpSpPr>
          <p:cNvPr id="13" name="Group 12">
            <a:extLst>
              <a:ext uri="{FF2B5EF4-FFF2-40B4-BE49-F238E27FC236}">
                <a16:creationId xmlns:a16="http://schemas.microsoft.com/office/drawing/2014/main" id="{808CCE19-A75A-F4A2-947F-E7C00A2915FA}"/>
              </a:ext>
            </a:extLst>
          </p:cNvPr>
          <p:cNvGrpSpPr/>
          <p:nvPr/>
        </p:nvGrpSpPr>
        <p:grpSpPr>
          <a:xfrm>
            <a:off x="798645" y="2408831"/>
            <a:ext cx="3329907" cy="2341941"/>
            <a:chOff x="735398" y="1564262"/>
            <a:chExt cx="3329907" cy="2341941"/>
          </a:xfrm>
        </p:grpSpPr>
        <p:grpSp>
          <p:nvGrpSpPr>
            <p:cNvPr id="119" name="Group 39">
              <a:extLst>
                <a:ext uri="{FF2B5EF4-FFF2-40B4-BE49-F238E27FC236}">
                  <a16:creationId xmlns:a16="http://schemas.microsoft.com/office/drawing/2014/main" id="{910CA315-A32B-A549-9700-5C01DD078B15}"/>
                </a:ext>
              </a:extLst>
            </p:cNvPr>
            <p:cNvGrpSpPr>
              <a:grpSpLocks/>
            </p:cNvGrpSpPr>
            <p:nvPr/>
          </p:nvGrpSpPr>
          <p:grpSpPr bwMode="auto">
            <a:xfrm>
              <a:off x="2237367" y="2508047"/>
              <a:ext cx="1676400" cy="1371600"/>
              <a:chOff x="2496" y="1968"/>
              <a:chExt cx="1056" cy="864"/>
            </a:xfrm>
          </p:grpSpPr>
          <p:sp>
            <p:nvSpPr>
              <p:cNvPr id="123" name="Line 40">
                <a:extLst>
                  <a:ext uri="{FF2B5EF4-FFF2-40B4-BE49-F238E27FC236}">
                    <a16:creationId xmlns:a16="http://schemas.microsoft.com/office/drawing/2014/main" id="{6806CE39-12E8-8A4E-A028-B2FFC985EE6E}"/>
                  </a:ext>
                </a:extLst>
              </p:cNvPr>
              <p:cNvSpPr>
                <a:spLocks noChangeShapeType="1"/>
              </p:cNvSpPr>
              <p:nvPr/>
            </p:nvSpPr>
            <p:spPr bwMode="auto">
              <a:xfrm>
                <a:off x="2496" y="216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 name="Line 41">
                <a:extLst>
                  <a:ext uri="{FF2B5EF4-FFF2-40B4-BE49-F238E27FC236}">
                    <a16:creationId xmlns:a16="http://schemas.microsoft.com/office/drawing/2014/main" id="{4DFB0A70-4AF3-C847-8B1A-5014587A969F}"/>
                  </a:ext>
                </a:extLst>
              </p:cNvPr>
              <p:cNvSpPr>
                <a:spLocks noChangeShapeType="1"/>
              </p:cNvSpPr>
              <p:nvPr/>
            </p:nvSpPr>
            <p:spPr bwMode="auto">
              <a:xfrm>
                <a:off x="2496" y="264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 name="Line 42">
                <a:extLst>
                  <a:ext uri="{FF2B5EF4-FFF2-40B4-BE49-F238E27FC236}">
                    <a16:creationId xmlns:a16="http://schemas.microsoft.com/office/drawing/2014/main" id="{C3EF8FD0-55CC-6C4B-B1CA-C83A782EC40C}"/>
                  </a:ext>
                </a:extLst>
              </p:cNvPr>
              <p:cNvSpPr>
                <a:spLocks noChangeShapeType="1"/>
              </p:cNvSpPr>
              <p:nvPr/>
            </p:nvSpPr>
            <p:spPr bwMode="auto">
              <a:xfrm>
                <a:off x="3360" y="240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 name="Freeform 43">
                <a:extLst>
                  <a:ext uri="{FF2B5EF4-FFF2-40B4-BE49-F238E27FC236}">
                    <a16:creationId xmlns:a16="http://schemas.microsoft.com/office/drawing/2014/main" id="{9ABBB442-AE8F-EA45-A73B-394D3098B98F}"/>
                  </a:ext>
                </a:extLst>
              </p:cNvPr>
              <p:cNvSpPr>
                <a:spLocks/>
              </p:cNvSpPr>
              <p:nvPr/>
            </p:nvSpPr>
            <p:spPr bwMode="auto">
              <a:xfrm>
                <a:off x="2688" y="1968"/>
                <a:ext cx="672" cy="864"/>
              </a:xfrm>
              <a:custGeom>
                <a:avLst/>
                <a:gdLst>
                  <a:gd name="T0" fmla="*/ 6120 w 432"/>
                  <a:gd name="T1" fmla="*/ 779 h 768"/>
                  <a:gd name="T2" fmla="*/ 0 w 432"/>
                  <a:gd name="T3" fmla="*/ 1558 h 768"/>
                  <a:gd name="T4" fmla="*/ 0 w 432"/>
                  <a:gd name="T5" fmla="*/ 0 h 768"/>
                  <a:gd name="T6" fmla="*/ 6120 w 432"/>
                  <a:gd name="T7" fmla="*/ 779 h 768"/>
                  <a:gd name="T8" fmla="*/ 0 60000 65536"/>
                  <a:gd name="T9" fmla="*/ 0 60000 65536"/>
                  <a:gd name="T10" fmla="*/ 0 60000 65536"/>
                  <a:gd name="T11" fmla="*/ 0 60000 65536"/>
                  <a:gd name="T12" fmla="*/ 0 w 432"/>
                  <a:gd name="T13" fmla="*/ 0 h 768"/>
                  <a:gd name="T14" fmla="*/ 432 w 432"/>
                  <a:gd name="T15" fmla="*/ 768 h 768"/>
                </a:gdLst>
                <a:ahLst/>
                <a:cxnLst>
                  <a:cxn ang="T8">
                    <a:pos x="T0" y="T1"/>
                  </a:cxn>
                  <a:cxn ang="T9">
                    <a:pos x="T2" y="T3"/>
                  </a:cxn>
                  <a:cxn ang="T10">
                    <a:pos x="T4" y="T5"/>
                  </a:cxn>
                  <a:cxn ang="T11">
                    <a:pos x="T6" y="T7"/>
                  </a:cxn>
                </a:cxnLst>
                <a:rect l="T12" t="T13" r="T14" b="T15"/>
                <a:pathLst>
                  <a:path w="432" h="768">
                    <a:moveTo>
                      <a:pt x="432" y="384"/>
                    </a:moveTo>
                    <a:lnTo>
                      <a:pt x="0" y="768"/>
                    </a:lnTo>
                    <a:lnTo>
                      <a:pt x="0" y="0"/>
                    </a:lnTo>
                    <a:lnTo>
                      <a:pt x="432" y="38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grpSp>
        <p:sp>
          <p:nvSpPr>
            <p:cNvPr id="4" name="TextBox 3">
              <a:extLst>
                <a:ext uri="{FF2B5EF4-FFF2-40B4-BE49-F238E27FC236}">
                  <a16:creationId xmlns:a16="http://schemas.microsoft.com/office/drawing/2014/main" id="{4033ED9C-56D7-0848-A031-F855E9F57FAB}"/>
                </a:ext>
              </a:extLst>
            </p:cNvPr>
            <p:cNvSpPr txBox="1"/>
            <p:nvPr/>
          </p:nvSpPr>
          <p:spPr>
            <a:xfrm flipH="1">
              <a:off x="2539414" y="3359416"/>
              <a:ext cx="439757" cy="369332"/>
            </a:xfrm>
            <a:prstGeom prst="rect">
              <a:avLst/>
            </a:prstGeom>
            <a:noFill/>
          </p:spPr>
          <p:txBody>
            <a:bodyPr wrap="square" rtlCol="0">
              <a:spAutoFit/>
            </a:bodyPr>
            <a:lstStyle/>
            <a:p>
              <a:r>
                <a:rPr lang="en-US" dirty="0"/>
                <a:t>+</a:t>
              </a:r>
            </a:p>
          </p:txBody>
        </p:sp>
        <p:sp>
          <p:nvSpPr>
            <p:cNvPr id="152" name="TextBox 151">
              <a:extLst>
                <a:ext uri="{FF2B5EF4-FFF2-40B4-BE49-F238E27FC236}">
                  <a16:creationId xmlns:a16="http://schemas.microsoft.com/office/drawing/2014/main" id="{6BBE6D44-80B8-3747-8922-0495DB25CA49}"/>
                </a:ext>
              </a:extLst>
            </p:cNvPr>
            <p:cNvSpPr txBox="1"/>
            <p:nvPr/>
          </p:nvSpPr>
          <p:spPr>
            <a:xfrm flipH="1">
              <a:off x="2581644" y="2619449"/>
              <a:ext cx="439757" cy="369332"/>
            </a:xfrm>
            <a:prstGeom prst="rect">
              <a:avLst/>
            </a:prstGeom>
            <a:noFill/>
          </p:spPr>
          <p:txBody>
            <a:bodyPr wrap="square" rtlCol="0">
              <a:spAutoFit/>
            </a:bodyPr>
            <a:lstStyle/>
            <a:p>
              <a:r>
                <a:rPr lang="en-US" dirty="0"/>
                <a:t>-</a:t>
              </a:r>
            </a:p>
          </p:txBody>
        </p:sp>
        <p:grpSp>
          <p:nvGrpSpPr>
            <p:cNvPr id="154" name="Group 220">
              <a:extLst>
                <a:ext uri="{FF2B5EF4-FFF2-40B4-BE49-F238E27FC236}">
                  <a16:creationId xmlns:a16="http://schemas.microsoft.com/office/drawing/2014/main" id="{E1659353-3F2A-F94F-9A4E-96CDAE1F9BCD}"/>
                </a:ext>
              </a:extLst>
            </p:cNvPr>
            <p:cNvGrpSpPr>
              <a:grpSpLocks/>
            </p:cNvGrpSpPr>
            <p:nvPr/>
          </p:nvGrpSpPr>
          <p:grpSpPr bwMode="auto">
            <a:xfrm>
              <a:off x="2170498" y="3601403"/>
              <a:ext cx="152400" cy="304800"/>
              <a:chOff x="3264" y="3072"/>
              <a:chExt cx="96" cy="192"/>
            </a:xfrm>
          </p:grpSpPr>
          <p:sp>
            <p:nvSpPr>
              <p:cNvPr id="155" name="Line 17">
                <a:extLst>
                  <a:ext uri="{FF2B5EF4-FFF2-40B4-BE49-F238E27FC236}">
                    <a16:creationId xmlns:a16="http://schemas.microsoft.com/office/drawing/2014/main" id="{82A0D72E-C1B4-2F48-BEE6-AA2640F3DCEF}"/>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 name="Freeform 18">
                <a:extLst>
                  <a:ext uri="{FF2B5EF4-FFF2-40B4-BE49-F238E27FC236}">
                    <a16:creationId xmlns:a16="http://schemas.microsoft.com/office/drawing/2014/main" id="{5DD5672D-C66A-E44C-B088-BEA7F5499951}"/>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62" name="Group 13">
              <a:extLst>
                <a:ext uri="{FF2B5EF4-FFF2-40B4-BE49-F238E27FC236}">
                  <a16:creationId xmlns:a16="http://schemas.microsoft.com/office/drawing/2014/main" id="{552B6F2E-0231-B540-9741-08657CCD5614}"/>
                </a:ext>
              </a:extLst>
            </p:cNvPr>
            <p:cNvGrpSpPr>
              <a:grpSpLocks noChangeAspect="1"/>
            </p:cNvGrpSpPr>
            <p:nvPr/>
          </p:nvGrpSpPr>
          <p:grpSpPr bwMode="auto">
            <a:xfrm>
              <a:off x="2132398" y="3467695"/>
              <a:ext cx="228600" cy="228600"/>
              <a:chOff x="1344" y="2064"/>
              <a:chExt cx="192" cy="192"/>
            </a:xfrm>
          </p:grpSpPr>
          <p:sp>
            <p:nvSpPr>
              <p:cNvPr id="163" name="Oval 14">
                <a:extLst>
                  <a:ext uri="{FF2B5EF4-FFF2-40B4-BE49-F238E27FC236}">
                    <a16:creationId xmlns:a16="http://schemas.microsoft.com/office/drawing/2014/main" id="{21AEE6BA-8A78-8246-98F6-9B15ABB210C1}"/>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64" name="Rectangle 15">
                <a:extLst>
                  <a:ext uri="{FF2B5EF4-FFF2-40B4-BE49-F238E27FC236}">
                    <a16:creationId xmlns:a16="http://schemas.microsoft.com/office/drawing/2014/main" id="{2E63C5B7-83B2-6D44-B0A7-2463465EF981}"/>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79" name="TextBox 178">
              <a:extLst>
                <a:ext uri="{FF2B5EF4-FFF2-40B4-BE49-F238E27FC236}">
                  <a16:creationId xmlns:a16="http://schemas.microsoft.com/office/drawing/2014/main" id="{4AAED862-24AE-674F-BF88-3048631E0A9B}"/>
                </a:ext>
              </a:extLst>
            </p:cNvPr>
            <p:cNvSpPr txBox="1"/>
            <p:nvPr/>
          </p:nvSpPr>
          <p:spPr>
            <a:xfrm>
              <a:off x="804450" y="1564262"/>
              <a:ext cx="1802296" cy="369332"/>
            </a:xfrm>
            <a:prstGeom prst="rect">
              <a:avLst/>
            </a:prstGeom>
            <a:noFill/>
          </p:spPr>
          <p:txBody>
            <a:bodyPr wrap="square" rtlCol="0">
              <a:spAutoFit/>
            </a:bodyPr>
            <a:lstStyle/>
            <a:p>
              <a:r>
                <a:rPr lang="en-US" dirty="0"/>
                <a:t>Integrator</a:t>
              </a:r>
            </a:p>
          </p:txBody>
        </p:sp>
        <p:sp>
          <p:nvSpPr>
            <p:cNvPr id="172" name="Freeform 12">
              <a:extLst>
                <a:ext uri="{FF2B5EF4-FFF2-40B4-BE49-F238E27FC236}">
                  <a16:creationId xmlns:a16="http://schemas.microsoft.com/office/drawing/2014/main" id="{9D3D6E25-4AB4-F944-8EE6-6A34CC8C8562}"/>
                </a:ext>
              </a:extLst>
            </p:cNvPr>
            <p:cNvSpPr>
              <a:spLocks noChangeAspect="1"/>
            </p:cNvSpPr>
            <p:nvPr/>
          </p:nvSpPr>
          <p:spPr bwMode="auto">
            <a:xfrm rot="5400000">
              <a:off x="3309291" y="2114615"/>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210" name="Straight Connector 209">
              <a:extLst>
                <a:ext uri="{FF2B5EF4-FFF2-40B4-BE49-F238E27FC236}">
                  <a16:creationId xmlns:a16="http://schemas.microsoft.com/office/drawing/2014/main" id="{69A60E94-44F0-A147-8CBA-49EC44D478F7}"/>
                </a:ext>
              </a:extLst>
            </p:cNvPr>
            <p:cNvCxnSpPr>
              <a:cxnSpLocks/>
            </p:cNvCxnSpPr>
            <p:nvPr/>
          </p:nvCxnSpPr>
          <p:spPr>
            <a:xfrm>
              <a:off x="2288896" y="2227896"/>
              <a:ext cx="0" cy="594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B6706834-0AB1-E14B-9486-B8ABF504AFE7}"/>
                </a:ext>
              </a:extLst>
            </p:cNvPr>
            <p:cNvCxnSpPr>
              <a:cxnSpLocks/>
            </p:cNvCxnSpPr>
            <p:nvPr/>
          </p:nvCxnSpPr>
          <p:spPr>
            <a:xfrm>
              <a:off x="2965919" y="2234702"/>
              <a:ext cx="8229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D83F05C1-F211-9546-8992-9872DE154133}"/>
                </a:ext>
              </a:extLst>
            </p:cNvPr>
            <p:cNvCxnSpPr>
              <a:cxnSpLocks/>
            </p:cNvCxnSpPr>
            <p:nvPr/>
          </p:nvCxnSpPr>
          <p:spPr>
            <a:xfrm>
              <a:off x="3776452" y="2233281"/>
              <a:ext cx="0" cy="10058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3" name="Group 13">
              <a:extLst>
                <a:ext uri="{FF2B5EF4-FFF2-40B4-BE49-F238E27FC236}">
                  <a16:creationId xmlns:a16="http://schemas.microsoft.com/office/drawing/2014/main" id="{B9D55E25-6203-E347-9814-8E8388DE46A6}"/>
                </a:ext>
              </a:extLst>
            </p:cNvPr>
            <p:cNvGrpSpPr>
              <a:grpSpLocks noChangeAspect="1"/>
            </p:cNvGrpSpPr>
            <p:nvPr/>
          </p:nvGrpSpPr>
          <p:grpSpPr bwMode="auto">
            <a:xfrm>
              <a:off x="3684305" y="3107210"/>
              <a:ext cx="182880" cy="182880"/>
              <a:chOff x="1344" y="2064"/>
              <a:chExt cx="192" cy="192"/>
            </a:xfrm>
          </p:grpSpPr>
          <p:sp>
            <p:nvSpPr>
              <p:cNvPr id="214" name="Oval 14">
                <a:extLst>
                  <a:ext uri="{FF2B5EF4-FFF2-40B4-BE49-F238E27FC236}">
                    <a16:creationId xmlns:a16="http://schemas.microsoft.com/office/drawing/2014/main" id="{3C772D92-5598-804A-926A-E7C55B38C03E}"/>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15" name="Rectangle 15">
                <a:extLst>
                  <a:ext uri="{FF2B5EF4-FFF2-40B4-BE49-F238E27FC236}">
                    <a16:creationId xmlns:a16="http://schemas.microsoft.com/office/drawing/2014/main" id="{89FC42F5-5BD8-8B41-844A-CB7A147487F6}"/>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216" name="Group 210">
              <a:extLst>
                <a:ext uri="{FF2B5EF4-FFF2-40B4-BE49-F238E27FC236}">
                  <a16:creationId xmlns:a16="http://schemas.microsoft.com/office/drawing/2014/main" id="{781D7168-2BB8-1A4B-8861-F7E32479C863}"/>
                </a:ext>
              </a:extLst>
            </p:cNvPr>
            <p:cNvGrpSpPr>
              <a:grpSpLocks/>
            </p:cNvGrpSpPr>
            <p:nvPr/>
          </p:nvGrpSpPr>
          <p:grpSpPr bwMode="auto">
            <a:xfrm rot="5400000">
              <a:off x="1076959" y="2433813"/>
              <a:ext cx="304800" cy="762000"/>
              <a:chOff x="3216" y="1728"/>
              <a:chExt cx="192" cy="480"/>
            </a:xfrm>
          </p:grpSpPr>
          <p:sp>
            <p:nvSpPr>
              <p:cNvPr id="217" name="Line 8">
                <a:extLst>
                  <a:ext uri="{FF2B5EF4-FFF2-40B4-BE49-F238E27FC236}">
                    <a16:creationId xmlns:a16="http://schemas.microsoft.com/office/drawing/2014/main" id="{A22C8E63-CE42-7A4F-A40D-239C40FA9BE9}"/>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8" name="Line 9">
                <a:extLst>
                  <a:ext uri="{FF2B5EF4-FFF2-40B4-BE49-F238E27FC236}">
                    <a16:creationId xmlns:a16="http://schemas.microsoft.com/office/drawing/2014/main" id="{094A48CB-BCB1-2646-A9E3-1DD0C17D56A2}"/>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9" name="Line 10">
                <a:extLst>
                  <a:ext uri="{FF2B5EF4-FFF2-40B4-BE49-F238E27FC236}">
                    <a16:creationId xmlns:a16="http://schemas.microsoft.com/office/drawing/2014/main" id="{7B628763-DAF7-3D45-A60D-83A8A4602DC5}"/>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0" name="Line 11">
                <a:extLst>
                  <a:ext uri="{FF2B5EF4-FFF2-40B4-BE49-F238E27FC236}">
                    <a16:creationId xmlns:a16="http://schemas.microsoft.com/office/drawing/2014/main" id="{CC585950-DCE1-EE44-BF6F-854DFC73A285}"/>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53" name="Freeform 12">
              <a:extLst>
                <a:ext uri="{FF2B5EF4-FFF2-40B4-BE49-F238E27FC236}">
                  <a16:creationId xmlns:a16="http://schemas.microsoft.com/office/drawing/2014/main" id="{CDF4AADF-CDEA-EA48-AFB4-986B47627A85}"/>
                </a:ext>
              </a:extLst>
            </p:cNvPr>
            <p:cNvSpPr>
              <a:spLocks noChangeAspect="1"/>
            </p:cNvSpPr>
            <p:nvPr/>
          </p:nvSpPr>
          <p:spPr bwMode="auto">
            <a:xfrm rot="5400000">
              <a:off x="1893371" y="2430621"/>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5" name="TextBox 254">
              <a:extLst>
                <a:ext uri="{FF2B5EF4-FFF2-40B4-BE49-F238E27FC236}">
                  <a16:creationId xmlns:a16="http://schemas.microsoft.com/office/drawing/2014/main" id="{32E6B35D-BCAE-384E-8E9F-735CDDE101B2}"/>
                </a:ext>
              </a:extLst>
            </p:cNvPr>
            <p:cNvSpPr txBox="1"/>
            <p:nvPr/>
          </p:nvSpPr>
          <p:spPr>
            <a:xfrm>
              <a:off x="1385761" y="2415120"/>
              <a:ext cx="1015003" cy="338554"/>
            </a:xfrm>
            <a:prstGeom prst="rect">
              <a:avLst/>
            </a:prstGeom>
            <a:noFill/>
          </p:spPr>
          <p:txBody>
            <a:bodyPr wrap="square" rtlCol="0">
              <a:spAutoFit/>
            </a:bodyPr>
            <a:lstStyle/>
            <a:p>
              <a:r>
                <a:rPr lang="en-US" sz="1600" dirty="0"/>
                <a:t>R</a:t>
              </a:r>
              <a:r>
                <a:rPr lang="en-US" sz="1600" baseline="-25000" dirty="0"/>
                <a:t>1</a:t>
              </a:r>
              <a:r>
                <a:rPr lang="en-US" sz="1600" dirty="0"/>
                <a:t>=10K</a:t>
              </a:r>
              <a:endParaRPr lang="en-US" baseline="-25000" dirty="0"/>
            </a:p>
          </p:txBody>
        </p:sp>
        <p:grpSp>
          <p:nvGrpSpPr>
            <p:cNvPr id="267" name="Group 210">
              <a:extLst>
                <a:ext uri="{FF2B5EF4-FFF2-40B4-BE49-F238E27FC236}">
                  <a16:creationId xmlns:a16="http://schemas.microsoft.com/office/drawing/2014/main" id="{4F6B93F3-B0B1-4248-8D87-C5298E5796E5}"/>
                </a:ext>
              </a:extLst>
            </p:cNvPr>
            <p:cNvGrpSpPr>
              <a:grpSpLocks/>
            </p:cNvGrpSpPr>
            <p:nvPr/>
          </p:nvGrpSpPr>
          <p:grpSpPr bwMode="auto">
            <a:xfrm rot="5400000">
              <a:off x="2513269" y="1855216"/>
              <a:ext cx="304800" cy="762000"/>
              <a:chOff x="3216" y="1728"/>
              <a:chExt cx="192" cy="480"/>
            </a:xfrm>
          </p:grpSpPr>
          <p:sp>
            <p:nvSpPr>
              <p:cNvPr id="268" name="Line 8">
                <a:extLst>
                  <a:ext uri="{FF2B5EF4-FFF2-40B4-BE49-F238E27FC236}">
                    <a16:creationId xmlns:a16="http://schemas.microsoft.com/office/drawing/2014/main" id="{A96485D6-9FAD-9748-9199-380C8DDF6D6C}"/>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9" name="Line 9">
                <a:extLst>
                  <a:ext uri="{FF2B5EF4-FFF2-40B4-BE49-F238E27FC236}">
                    <a16:creationId xmlns:a16="http://schemas.microsoft.com/office/drawing/2014/main" id="{4C2F7284-D6F0-0045-8FDB-80813C477E0B}"/>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0" name="Line 10">
                <a:extLst>
                  <a:ext uri="{FF2B5EF4-FFF2-40B4-BE49-F238E27FC236}">
                    <a16:creationId xmlns:a16="http://schemas.microsoft.com/office/drawing/2014/main" id="{3E85FD29-9415-5241-A4FA-7CE382379A69}"/>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1" name="Line 11">
                <a:extLst>
                  <a:ext uri="{FF2B5EF4-FFF2-40B4-BE49-F238E27FC236}">
                    <a16:creationId xmlns:a16="http://schemas.microsoft.com/office/drawing/2014/main" id="{0409013C-8E17-C641-82C8-C7F01152BE3C}"/>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194" name="Straight Connector 193">
              <a:extLst>
                <a:ext uri="{FF2B5EF4-FFF2-40B4-BE49-F238E27FC236}">
                  <a16:creationId xmlns:a16="http://schemas.microsoft.com/office/drawing/2014/main" id="{54B6FDDF-C6C2-AD4F-AA5E-6C03136D5B43}"/>
                </a:ext>
              </a:extLst>
            </p:cNvPr>
            <p:cNvCxnSpPr>
              <a:cxnSpLocks/>
            </p:cNvCxnSpPr>
            <p:nvPr/>
          </p:nvCxnSpPr>
          <p:spPr>
            <a:xfrm>
              <a:off x="2284669" y="2494795"/>
              <a:ext cx="8229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02" name="Group 13">
              <a:extLst>
                <a:ext uri="{FF2B5EF4-FFF2-40B4-BE49-F238E27FC236}">
                  <a16:creationId xmlns:a16="http://schemas.microsoft.com/office/drawing/2014/main" id="{1ABC5C71-5FE5-4941-B5A0-B3A4ACB8D3EC}"/>
                </a:ext>
              </a:extLst>
            </p:cNvPr>
            <p:cNvGrpSpPr>
              <a:grpSpLocks noChangeAspect="1"/>
            </p:cNvGrpSpPr>
            <p:nvPr/>
          </p:nvGrpSpPr>
          <p:grpSpPr bwMode="auto">
            <a:xfrm>
              <a:off x="3836705" y="3079662"/>
              <a:ext cx="228600" cy="228600"/>
              <a:chOff x="1344" y="2064"/>
              <a:chExt cx="192" cy="192"/>
            </a:xfrm>
          </p:grpSpPr>
          <p:sp>
            <p:nvSpPr>
              <p:cNvPr id="333" name="Oval 14">
                <a:extLst>
                  <a:ext uri="{FF2B5EF4-FFF2-40B4-BE49-F238E27FC236}">
                    <a16:creationId xmlns:a16="http://schemas.microsoft.com/office/drawing/2014/main" id="{F0EECF4A-DA2A-7148-B148-72B26E897861}"/>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334" name="Rectangle 15">
                <a:extLst>
                  <a:ext uri="{FF2B5EF4-FFF2-40B4-BE49-F238E27FC236}">
                    <a16:creationId xmlns:a16="http://schemas.microsoft.com/office/drawing/2014/main" id="{30BBA243-B0F8-3D4F-B07A-659CB8370C25}"/>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3" name="Group 13">
              <a:extLst>
                <a:ext uri="{FF2B5EF4-FFF2-40B4-BE49-F238E27FC236}">
                  <a16:creationId xmlns:a16="http://schemas.microsoft.com/office/drawing/2014/main" id="{2DD175A9-27D8-F59F-4262-6964F7D12FCA}"/>
                </a:ext>
              </a:extLst>
            </p:cNvPr>
            <p:cNvGrpSpPr>
              <a:grpSpLocks noChangeAspect="1"/>
            </p:cNvGrpSpPr>
            <p:nvPr/>
          </p:nvGrpSpPr>
          <p:grpSpPr bwMode="auto">
            <a:xfrm>
              <a:off x="2183198" y="2705695"/>
              <a:ext cx="228600" cy="228600"/>
              <a:chOff x="1344" y="2064"/>
              <a:chExt cx="192" cy="192"/>
            </a:xfrm>
          </p:grpSpPr>
          <p:sp>
            <p:nvSpPr>
              <p:cNvPr id="7" name="Oval 14">
                <a:extLst>
                  <a:ext uri="{FF2B5EF4-FFF2-40B4-BE49-F238E27FC236}">
                    <a16:creationId xmlns:a16="http://schemas.microsoft.com/office/drawing/2014/main" id="{7ADAC082-C431-2E9E-8F4B-6839F9EDD045}"/>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9" name="Rectangle 15">
                <a:extLst>
                  <a:ext uri="{FF2B5EF4-FFF2-40B4-BE49-F238E27FC236}">
                    <a16:creationId xmlns:a16="http://schemas.microsoft.com/office/drawing/2014/main" id="{D95744DE-DFDE-9CB1-05BA-39468E0F1A2E}"/>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0" name="Group 13">
              <a:extLst>
                <a:ext uri="{FF2B5EF4-FFF2-40B4-BE49-F238E27FC236}">
                  <a16:creationId xmlns:a16="http://schemas.microsoft.com/office/drawing/2014/main" id="{55E2C972-A388-FA0B-6471-7521542E64F2}"/>
                </a:ext>
              </a:extLst>
            </p:cNvPr>
            <p:cNvGrpSpPr>
              <a:grpSpLocks noChangeAspect="1"/>
            </p:cNvGrpSpPr>
            <p:nvPr/>
          </p:nvGrpSpPr>
          <p:grpSpPr bwMode="auto">
            <a:xfrm>
              <a:off x="735398" y="2705695"/>
              <a:ext cx="228600" cy="228600"/>
              <a:chOff x="1344" y="2064"/>
              <a:chExt cx="192" cy="192"/>
            </a:xfrm>
          </p:grpSpPr>
          <p:sp>
            <p:nvSpPr>
              <p:cNvPr id="11" name="Oval 14">
                <a:extLst>
                  <a:ext uri="{FF2B5EF4-FFF2-40B4-BE49-F238E27FC236}">
                    <a16:creationId xmlns:a16="http://schemas.microsoft.com/office/drawing/2014/main" id="{D5BB7D1A-0D21-4592-402C-0C27B9471624}"/>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2" name="Rectangle 15">
                <a:extLst>
                  <a:ext uri="{FF2B5EF4-FFF2-40B4-BE49-F238E27FC236}">
                    <a16:creationId xmlns:a16="http://schemas.microsoft.com/office/drawing/2014/main" id="{AE056F30-4FBB-979F-DE33-8234334A81CA}"/>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grpSp>
        <p:nvGrpSpPr>
          <p:cNvPr id="17" name="Group 16">
            <a:extLst>
              <a:ext uri="{FF2B5EF4-FFF2-40B4-BE49-F238E27FC236}">
                <a16:creationId xmlns:a16="http://schemas.microsoft.com/office/drawing/2014/main" id="{5116791F-213E-3CF6-BA88-28E023F27E2B}"/>
              </a:ext>
            </a:extLst>
          </p:cNvPr>
          <p:cNvGrpSpPr/>
          <p:nvPr/>
        </p:nvGrpSpPr>
        <p:grpSpPr>
          <a:xfrm>
            <a:off x="7904539" y="2877524"/>
            <a:ext cx="3343021" cy="2315385"/>
            <a:chOff x="8168822" y="1709775"/>
            <a:chExt cx="3343021" cy="2315385"/>
          </a:xfrm>
        </p:grpSpPr>
        <p:grpSp>
          <p:nvGrpSpPr>
            <p:cNvPr id="195" name="Group 39">
              <a:extLst>
                <a:ext uri="{FF2B5EF4-FFF2-40B4-BE49-F238E27FC236}">
                  <a16:creationId xmlns:a16="http://schemas.microsoft.com/office/drawing/2014/main" id="{1A172EF2-E533-4745-A537-C4AA6D09A5E2}"/>
                </a:ext>
              </a:extLst>
            </p:cNvPr>
            <p:cNvGrpSpPr>
              <a:grpSpLocks/>
            </p:cNvGrpSpPr>
            <p:nvPr/>
          </p:nvGrpSpPr>
          <p:grpSpPr bwMode="auto">
            <a:xfrm>
              <a:off x="9671569" y="2653560"/>
              <a:ext cx="1676400" cy="1371600"/>
              <a:chOff x="2496" y="1968"/>
              <a:chExt cx="1056" cy="864"/>
            </a:xfrm>
          </p:grpSpPr>
          <p:sp>
            <p:nvSpPr>
              <p:cNvPr id="196" name="Line 40">
                <a:extLst>
                  <a:ext uri="{FF2B5EF4-FFF2-40B4-BE49-F238E27FC236}">
                    <a16:creationId xmlns:a16="http://schemas.microsoft.com/office/drawing/2014/main" id="{449C3F91-6BCE-D044-868D-B1CF08806BF7}"/>
                  </a:ext>
                </a:extLst>
              </p:cNvPr>
              <p:cNvSpPr>
                <a:spLocks noChangeShapeType="1"/>
              </p:cNvSpPr>
              <p:nvPr/>
            </p:nvSpPr>
            <p:spPr bwMode="auto">
              <a:xfrm>
                <a:off x="2496" y="216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7" name="Line 41">
                <a:extLst>
                  <a:ext uri="{FF2B5EF4-FFF2-40B4-BE49-F238E27FC236}">
                    <a16:creationId xmlns:a16="http://schemas.microsoft.com/office/drawing/2014/main" id="{E3C4B3B7-B9BD-D349-8DA7-8DCA97AC3E15}"/>
                  </a:ext>
                </a:extLst>
              </p:cNvPr>
              <p:cNvSpPr>
                <a:spLocks noChangeShapeType="1"/>
              </p:cNvSpPr>
              <p:nvPr/>
            </p:nvSpPr>
            <p:spPr bwMode="auto">
              <a:xfrm>
                <a:off x="2496" y="264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8" name="Line 42">
                <a:extLst>
                  <a:ext uri="{FF2B5EF4-FFF2-40B4-BE49-F238E27FC236}">
                    <a16:creationId xmlns:a16="http://schemas.microsoft.com/office/drawing/2014/main" id="{836A6422-C4FB-0C48-9A10-C0574AAB71D3}"/>
                  </a:ext>
                </a:extLst>
              </p:cNvPr>
              <p:cNvSpPr>
                <a:spLocks noChangeShapeType="1"/>
              </p:cNvSpPr>
              <p:nvPr/>
            </p:nvSpPr>
            <p:spPr bwMode="auto">
              <a:xfrm>
                <a:off x="3360" y="240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9" name="Freeform 43">
                <a:extLst>
                  <a:ext uri="{FF2B5EF4-FFF2-40B4-BE49-F238E27FC236}">
                    <a16:creationId xmlns:a16="http://schemas.microsoft.com/office/drawing/2014/main" id="{FED0FD6E-778E-9F40-93A1-9AAC63C9B328}"/>
                  </a:ext>
                </a:extLst>
              </p:cNvPr>
              <p:cNvSpPr>
                <a:spLocks/>
              </p:cNvSpPr>
              <p:nvPr/>
            </p:nvSpPr>
            <p:spPr bwMode="auto">
              <a:xfrm>
                <a:off x="2688" y="1968"/>
                <a:ext cx="672" cy="864"/>
              </a:xfrm>
              <a:custGeom>
                <a:avLst/>
                <a:gdLst>
                  <a:gd name="T0" fmla="*/ 6120 w 432"/>
                  <a:gd name="T1" fmla="*/ 779 h 768"/>
                  <a:gd name="T2" fmla="*/ 0 w 432"/>
                  <a:gd name="T3" fmla="*/ 1558 h 768"/>
                  <a:gd name="T4" fmla="*/ 0 w 432"/>
                  <a:gd name="T5" fmla="*/ 0 h 768"/>
                  <a:gd name="T6" fmla="*/ 6120 w 432"/>
                  <a:gd name="T7" fmla="*/ 779 h 768"/>
                  <a:gd name="T8" fmla="*/ 0 60000 65536"/>
                  <a:gd name="T9" fmla="*/ 0 60000 65536"/>
                  <a:gd name="T10" fmla="*/ 0 60000 65536"/>
                  <a:gd name="T11" fmla="*/ 0 60000 65536"/>
                  <a:gd name="T12" fmla="*/ 0 w 432"/>
                  <a:gd name="T13" fmla="*/ 0 h 768"/>
                  <a:gd name="T14" fmla="*/ 432 w 432"/>
                  <a:gd name="T15" fmla="*/ 768 h 768"/>
                </a:gdLst>
                <a:ahLst/>
                <a:cxnLst>
                  <a:cxn ang="T8">
                    <a:pos x="T0" y="T1"/>
                  </a:cxn>
                  <a:cxn ang="T9">
                    <a:pos x="T2" y="T3"/>
                  </a:cxn>
                  <a:cxn ang="T10">
                    <a:pos x="T4" y="T5"/>
                  </a:cxn>
                  <a:cxn ang="T11">
                    <a:pos x="T6" y="T7"/>
                  </a:cxn>
                </a:cxnLst>
                <a:rect l="T12" t="T13" r="T14" b="T15"/>
                <a:pathLst>
                  <a:path w="432" h="768">
                    <a:moveTo>
                      <a:pt x="432" y="384"/>
                    </a:moveTo>
                    <a:lnTo>
                      <a:pt x="0" y="768"/>
                    </a:lnTo>
                    <a:lnTo>
                      <a:pt x="0" y="0"/>
                    </a:lnTo>
                    <a:lnTo>
                      <a:pt x="432" y="38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grpSp>
        <p:sp>
          <p:nvSpPr>
            <p:cNvPr id="201" name="TextBox 200">
              <a:extLst>
                <a:ext uri="{FF2B5EF4-FFF2-40B4-BE49-F238E27FC236}">
                  <a16:creationId xmlns:a16="http://schemas.microsoft.com/office/drawing/2014/main" id="{5029CF0A-1C72-2844-AA04-1FD51E6F6A5C}"/>
                </a:ext>
              </a:extLst>
            </p:cNvPr>
            <p:cNvSpPr txBox="1"/>
            <p:nvPr/>
          </p:nvSpPr>
          <p:spPr>
            <a:xfrm flipH="1">
              <a:off x="9973616" y="3504929"/>
              <a:ext cx="439757" cy="369332"/>
            </a:xfrm>
            <a:prstGeom prst="rect">
              <a:avLst/>
            </a:prstGeom>
            <a:noFill/>
          </p:spPr>
          <p:txBody>
            <a:bodyPr wrap="square" rtlCol="0">
              <a:spAutoFit/>
            </a:bodyPr>
            <a:lstStyle/>
            <a:p>
              <a:r>
                <a:rPr lang="en-US" dirty="0"/>
                <a:t>+</a:t>
              </a:r>
            </a:p>
          </p:txBody>
        </p:sp>
        <p:sp>
          <p:nvSpPr>
            <p:cNvPr id="202" name="TextBox 201">
              <a:extLst>
                <a:ext uri="{FF2B5EF4-FFF2-40B4-BE49-F238E27FC236}">
                  <a16:creationId xmlns:a16="http://schemas.microsoft.com/office/drawing/2014/main" id="{77CA8CE5-C0DA-3445-A8CF-D2AD8553E6E6}"/>
                </a:ext>
              </a:extLst>
            </p:cNvPr>
            <p:cNvSpPr txBox="1"/>
            <p:nvPr/>
          </p:nvSpPr>
          <p:spPr>
            <a:xfrm flipH="1">
              <a:off x="10015846" y="2764962"/>
              <a:ext cx="439757" cy="369332"/>
            </a:xfrm>
            <a:prstGeom prst="rect">
              <a:avLst/>
            </a:prstGeom>
            <a:noFill/>
          </p:spPr>
          <p:txBody>
            <a:bodyPr wrap="square" rtlCol="0">
              <a:spAutoFit/>
            </a:bodyPr>
            <a:lstStyle/>
            <a:p>
              <a:r>
                <a:rPr lang="en-US" dirty="0"/>
                <a:t>-</a:t>
              </a:r>
            </a:p>
          </p:txBody>
        </p:sp>
        <p:grpSp>
          <p:nvGrpSpPr>
            <p:cNvPr id="204" name="Group 220">
              <a:extLst>
                <a:ext uri="{FF2B5EF4-FFF2-40B4-BE49-F238E27FC236}">
                  <a16:creationId xmlns:a16="http://schemas.microsoft.com/office/drawing/2014/main" id="{C7976774-3B8A-1C44-975E-1F651EA3B079}"/>
                </a:ext>
              </a:extLst>
            </p:cNvPr>
            <p:cNvGrpSpPr>
              <a:grpSpLocks/>
            </p:cNvGrpSpPr>
            <p:nvPr/>
          </p:nvGrpSpPr>
          <p:grpSpPr bwMode="auto">
            <a:xfrm>
              <a:off x="9609741" y="3714065"/>
              <a:ext cx="152400" cy="304800"/>
              <a:chOff x="3264" y="3072"/>
              <a:chExt cx="96" cy="192"/>
            </a:xfrm>
          </p:grpSpPr>
          <p:sp>
            <p:nvSpPr>
              <p:cNvPr id="205" name="Line 17">
                <a:extLst>
                  <a:ext uri="{FF2B5EF4-FFF2-40B4-BE49-F238E27FC236}">
                    <a16:creationId xmlns:a16="http://schemas.microsoft.com/office/drawing/2014/main" id="{EDA02E03-CB12-4A42-B3A3-BE2AC655C6AE}"/>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6" name="Freeform 18">
                <a:extLst>
                  <a:ext uri="{FF2B5EF4-FFF2-40B4-BE49-F238E27FC236}">
                    <a16:creationId xmlns:a16="http://schemas.microsoft.com/office/drawing/2014/main" id="{5A7B17D3-379C-FF47-B05D-962FCACDE8BA}"/>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23" name="TextBox 222">
              <a:extLst>
                <a:ext uri="{FF2B5EF4-FFF2-40B4-BE49-F238E27FC236}">
                  <a16:creationId xmlns:a16="http://schemas.microsoft.com/office/drawing/2014/main" id="{BFAC07F1-C615-1940-94B6-5FE6BE4D4CF4}"/>
                </a:ext>
              </a:extLst>
            </p:cNvPr>
            <p:cNvSpPr txBox="1"/>
            <p:nvPr/>
          </p:nvSpPr>
          <p:spPr>
            <a:xfrm>
              <a:off x="8238652" y="1709775"/>
              <a:ext cx="1802296" cy="369332"/>
            </a:xfrm>
            <a:prstGeom prst="rect">
              <a:avLst/>
            </a:prstGeom>
            <a:noFill/>
          </p:spPr>
          <p:txBody>
            <a:bodyPr wrap="square" rtlCol="0">
              <a:spAutoFit/>
            </a:bodyPr>
            <a:lstStyle/>
            <a:p>
              <a:r>
                <a:rPr lang="en-US" dirty="0"/>
                <a:t>Differentiator</a:t>
              </a:r>
            </a:p>
          </p:txBody>
        </p:sp>
        <p:sp>
          <p:nvSpPr>
            <p:cNvPr id="224" name="Freeform 12">
              <a:extLst>
                <a:ext uri="{FF2B5EF4-FFF2-40B4-BE49-F238E27FC236}">
                  <a16:creationId xmlns:a16="http://schemas.microsoft.com/office/drawing/2014/main" id="{99725110-4E02-654B-8404-EFEDB0B6A5BB}"/>
                </a:ext>
              </a:extLst>
            </p:cNvPr>
            <p:cNvSpPr>
              <a:spLocks noChangeAspect="1"/>
            </p:cNvSpPr>
            <p:nvPr/>
          </p:nvSpPr>
          <p:spPr bwMode="auto">
            <a:xfrm rot="5400000">
              <a:off x="10023671" y="2008183"/>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225" name="Straight Connector 224">
              <a:extLst>
                <a:ext uri="{FF2B5EF4-FFF2-40B4-BE49-F238E27FC236}">
                  <a16:creationId xmlns:a16="http://schemas.microsoft.com/office/drawing/2014/main" id="{5344EA2E-1E2B-7749-982E-94EFCE970C2D}"/>
                </a:ext>
              </a:extLst>
            </p:cNvPr>
            <p:cNvCxnSpPr>
              <a:cxnSpLocks/>
            </p:cNvCxnSpPr>
            <p:nvPr/>
          </p:nvCxnSpPr>
          <p:spPr>
            <a:xfrm>
              <a:off x="9697340" y="2373409"/>
              <a:ext cx="0" cy="594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58D5C296-D69D-BF4E-AC24-AA449C59195D}"/>
                </a:ext>
              </a:extLst>
            </p:cNvPr>
            <p:cNvCxnSpPr>
              <a:cxnSpLocks/>
            </p:cNvCxnSpPr>
            <p:nvPr/>
          </p:nvCxnSpPr>
          <p:spPr>
            <a:xfrm>
              <a:off x="10400121" y="2380215"/>
              <a:ext cx="8229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773CE279-967C-894F-9F4D-A02937C578C3}"/>
                </a:ext>
              </a:extLst>
            </p:cNvPr>
            <p:cNvCxnSpPr>
              <a:cxnSpLocks/>
            </p:cNvCxnSpPr>
            <p:nvPr/>
          </p:nvCxnSpPr>
          <p:spPr>
            <a:xfrm>
              <a:off x="11210654" y="2378794"/>
              <a:ext cx="0" cy="10058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8" name="Group 13">
              <a:extLst>
                <a:ext uri="{FF2B5EF4-FFF2-40B4-BE49-F238E27FC236}">
                  <a16:creationId xmlns:a16="http://schemas.microsoft.com/office/drawing/2014/main" id="{0C1E11CA-8E84-2B44-BF67-F02A511CE10C}"/>
                </a:ext>
              </a:extLst>
            </p:cNvPr>
            <p:cNvGrpSpPr>
              <a:grpSpLocks noChangeAspect="1"/>
            </p:cNvGrpSpPr>
            <p:nvPr/>
          </p:nvGrpSpPr>
          <p:grpSpPr bwMode="auto">
            <a:xfrm>
              <a:off x="11118507" y="3252723"/>
              <a:ext cx="182880" cy="182880"/>
              <a:chOff x="1344" y="2064"/>
              <a:chExt cx="192" cy="192"/>
            </a:xfrm>
          </p:grpSpPr>
          <p:sp>
            <p:nvSpPr>
              <p:cNvPr id="229" name="Oval 14">
                <a:extLst>
                  <a:ext uri="{FF2B5EF4-FFF2-40B4-BE49-F238E27FC236}">
                    <a16:creationId xmlns:a16="http://schemas.microsoft.com/office/drawing/2014/main" id="{9DC41920-C97F-4442-A904-BF14B3FC9D89}"/>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30" name="Rectangle 15">
                <a:extLst>
                  <a:ext uri="{FF2B5EF4-FFF2-40B4-BE49-F238E27FC236}">
                    <a16:creationId xmlns:a16="http://schemas.microsoft.com/office/drawing/2014/main" id="{A35DE75E-FD92-2E40-A6B5-D1EA58DEC3DD}"/>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240" name="Freeform 12">
              <a:extLst>
                <a:ext uri="{FF2B5EF4-FFF2-40B4-BE49-F238E27FC236}">
                  <a16:creationId xmlns:a16="http://schemas.microsoft.com/office/drawing/2014/main" id="{AAACD4F3-12AF-1F44-88DD-3DFFED08E267}"/>
                </a:ext>
              </a:extLst>
            </p:cNvPr>
            <p:cNvSpPr>
              <a:spLocks noChangeAspect="1"/>
            </p:cNvSpPr>
            <p:nvPr/>
          </p:nvSpPr>
          <p:spPr bwMode="auto">
            <a:xfrm rot="5400000">
              <a:off x="8567543" y="2007601"/>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42" name="Group 210">
              <a:extLst>
                <a:ext uri="{FF2B5EF4-FFF2-40B4-BE49-F238E27FC236}">
                  <a16:creationId xmlns:a16="http://schemas.microsoft.com/office/drawing/2014/main" id="{6988BF7E-ECAD-8A41-BAE2-4EBF6D82721E}"/>
                </a:ext>
              </a:extLst>
            </p:cNvPr>
            <p:cNvGrpSpPr>
              <a:grpSpLocks/>
            </p:cNvGrpSpPr>
            <p:nvPr/>
          </p:nvGrpSpPr>
          <p:grpSpPr bwMode="auto">
            <a:xfrm rot="5400000">
              <a:off x="9195687" y="2011980"/>
              <a:ext cx="304800" cy="762000"/>
              <a:chOff x="3216" y="1728"/>
              <a:chExt cx="192" cy="480"/>
            </a:xfrm>
          </p:grpSpPr>
          <p:sp>
            <p:nvSpPr>
              <p:cNvPr id="243" name="Line 8">
                <a:extLst>
                  <a:ext uri="{FF2B5EF4-FFF2-40B4-BE49-F238E27FC236}">
                    <a16:creationId xmlns:a16="http://schemas.microsoft.com/office/drawing/2014/main" id="{7A175D5C-43F4-E448-BD1F-A2CA6B10A232}"/>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4" name="Line 9">
                <a:extLst>
                  <a:ext uri="{FF2B5EF4-FFF2-40B4-BE49-F238E27FC236}">
                    <a16:creationId xmlns:a16="http://schemas.microsoft.com/office/drawing/2014/main" id="{37170DCC-4F53-DA4D-AA4A-198622487006}"/>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 name="Line 10">
                <a:extLst>
                  <a:ext uri="{FF2B5EF4-FFF2-40B4-BE49-F238E27FC236}">
                    <a16:creationId xmlns:a16="http://schemas.microsoft.com/office/drawing/2014/main" id="{9F2169FC-018E-0E4F-8C91-598328584ED6}"/>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 name="Line 11">
                <a:extLst>
                  <a:ext uri="{FF2B5EF4-FFF2-40B4-BE49-F238E27FC236}">
                    <a16:creationId xmlns:a16="http://schemas.microsoft.com/office/drawing/2014/main" id="{82403D26-C08B-A64F-A372-BEA945E37D85}"/>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54" name="Group 13">
              <a:extLst>
                <a:ext uri="{FF2B5EF4-FFF2-40B4-BE49-F238E27FC236}">
                  <a16:creationId xmlns:a16="http://schemas.microsoft.com/office/drawing/2014/main" id="{4546B344-E5DE-0B48-BC47-3A8C2825EAF0}"/>
                </a:ext>
              </a:extLst>
            </p:cNvPr>
            <p:cNvGrpSpPr>
              <a:grpSpLocks noChangeAspect="1"/>
            </p:cNvGrpSpPr>
            <p:nvPr/>
          </p:nvGrpSpPr>
          <p:grpSpPr bwMode="auto">
            <a:xfrm>
              <a:off x="9651920" y="2887160"/>
              <a:ext cx="152400" cy="152400"/>
              <a:chOff x="1344" y="2064"/>
              <a:chExt cx="192" cy="192"/>
            </a:xfrm>
          </p:grpSpPr>
          <p:sp>
            <p:nvSpPr>
              <p:cNvPr id="282" name="Oval 14">
                <a:extLst>
                  <a:ext uri="{FF2B5EF4-FFF2-40B4-BE49-F238E27FC236}">
                    <a16:creationId xmlns:a16="http://schemas.microsoft.com/office/drawing/2014/main" id="{45753140-1FAE-884B-BEEE-F576393B4432}"/>
                  </a:ext>
                </a:extLst>
              </p:cNvPr>
              <p:cNvSpPr>
                <a:spLocks noChangeAspect="1" noChangeArrowheads="1"/>
              </p:cNvSpPr>
              <p:nvPr/>
            </p:nvSpPr>
            <p:spPr bwMode="auto">
              <a:xfrm>
                <a:off x="1360"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83" name="Rectangle 15">
                <a:extLst>
                  <a:ext uri="{FF2B5EF4-FFF2-40B4-BE49-F238E27FC236}">
                    <a16:creationId xmlns:a16="http://schemas.microsoft.com/office/drawing/2014/main" id="{48813710-6A46-BC4C-A894-54FCF60C1501}"/>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284" name="Group 13">
              <a:extLst>
                <a:ext uri="{FF2B5EF4-FFF2-40B4-BE49-F238E27FC236}">
                  <a16:creationId xmlns:a16="http://schemas.microsoft.com/office/drawing/2014/main" id="{C075FE9B-DA14-4F4F-9CFE-E689018B2567}"/>
                </a:ext>
              </a:extLst>
            </p:cNvPr>
            <p:cNvGrpSpPr>
              <a:grpSpLocks noChangeAspect="1"/>
            </p:cNvGrpSpPr>
            <p:nvPr/>
          </p:nvGrpSpPr>
          <p:grpSpPr bwMode="auto">
            <a:xfrm>
              <a:off x="8168822" y="2278615"/>
              <a:ext cx="228600" cy="228600"/>
              <a:chOff x="1344" y="2064"/>
              <a:chExt cx="192" cy="192"/>
            </a:xfrm>
          </p:grpSpPr>
          <p:sp>
            <p:nvSpPr>
              <p:cNvPr id="286" name="Oval 14">
                <a:extLst>
                  <a:ext uri="{FF2B5EF4-FFF2-40B4-BE49-F238E27FC236}">
                    <a16:creationId xmlns:a16="http://schemas.microsoft.com/office/drawing/2014/main" id="{24BFA365-3C4F-D945-B088-E6F53B7169F6}"/>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94" name="Rectangle 15">
                <a:extLst>
                  <a:ext uri="{FF2B5EF4-FFF2-40B4-BE49-F238E27FC236}">
                    <a16:creationId xmlns:a16="http://schemas.microsoft.com/office/drawing/2014/main" id="{BF5247CB-3168-3846-8749-F5674CEFAF45}"/>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295" name="Group 13">
              <a:extLst>
                <a:ext uri="{FF2B5EF4-FFF2-40B4-BE49-F238E27FC236}">
                  <a16:creationId xmlns:a16="http://schemas.microsoft.com/office/drawing/2014/main" id="{081CD158-E523-6B47-88A4-F0E69523A0C9}"/>
                </a:ext>
              </a:extLst>
            </p:cNvPr>
            <p:cNvGrpSpPr>
              <a:grpSpLocks noChangeAspect="1"/>
            </p:cNvGrpSpPr>
            <p:nvPr/>
          </p:nvGrpSpPr>
          <p:grpSpPr bwMode="auto">
            <a:xfrm>
              <a:off x="11283243" y="3218255"/>
              <a:ext cx="228600" cy="228600"/>
              <a:chOff x="1344" y="2064"/>
              <a:chExt cx="192" cy="192"/>
            </a:xfrm>
          </p:grpSpPr>
          <p:sp>
            <p:nvSpPr>
              <p:cNvPr id="296" name="Oval 14">
                <a:extLst>
                  <a:ext uri="{FF2B5EF4-FFF2-40B4-BE49-F238E27FC236}">
                    <a16:creationId xmlns:a16="http://schemas.microsoft.com/office/drawing/2014/main" id="{5F13DFAC-B675-4642-8DCA-B6519226FE66}"/>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301" name="Rectangle 15">
                <a:extLst>
                  <a:ext uri="{FF2B5EF4-FFF2-40B4-BE49-F238E27FC236}">
                    <a16:creationId xmlns:a16="http://schemas.microsoft.com/office/drawing/2014/main" id="{B74DA379-7336-B143-BBD7-6F8B53B57FD7}"/>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4" name="Group 13">
              <a:extLst>
                <a:ext uri="{FF2B5EF4-FFF2-40B4-BE49-F238E27FC236}">
                  <a16:creationId xmlns:a16="http://schemas.microsoft.com/office/drawing/2014/main" id="{1159FA4E-D459-980F-C856-55CF9DABA4B5}"/>
                </a:ext>
              </a:extLst>
            </p:cNvPr>
            <p:cNvGrpSpPr>
              <a:grpSpLocks noChangeAspect="1"/>
            </p:cNvGrpSpPr>
            <p:nvPr/>
          </p:nvGrpSpPr>
          <p:grpSpPr bwMode="auto">
            <a:xfrm>
              <a:off x="9581358" y="2288709"/>
              <a:ext cx="228600" cy="228600"/>
              <a:chOff x="1344" y="2064"/>
              <a:chExt cx="192" cy="192"/>
            </a:xfrm>
          </p:grpSpPr>
          <p:sp>
            <p:nvSpPr>
              <p:cNvPr id="15" name="Oval 14">
                <a:extLst>
                  <a:ext uri="{FF2B5EF4-FFF2-40B4-BE49-F238E27FC236}">
                    <a16:creationId xmlns:a16="http://schemas.microsoft.com/office/drawing/2014/main" id="{24909C29-0B70-0C8A-9172-76EE813E7146}"/>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6" name="Rectangle 15">
                <a:extLst>
                  <a:ext uri="{FF2B5EF4-FFF2-40B4-BE49-F238E27FC236}">
                    <a16:creationId xmlns:a16="http://schemas.microsoft.com/office/drawing/2014/main" id="{C572CB72-4DDB-B3D6-32E2-53785D804418}"/>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spTree>
    <p:extLst>
      <p:ext uri="{BB962C8B-B14F-4D97-AF65-F5344CB8AC3E}">
        <p14:creationId xmlns:p14="http://schemas.microsoft.com/office/powerpoint/2010/main" val="144268592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251799" y="355692"/>
            <a:ext cx="10515600" cy="869909"/>
          </a:xfrm>
        </p:spPr>
        <p:txBody>
          <a:bodyPr/>
          <a:lstStyle/>
          <a:p>
            <a:pPr algn="ctr"/>
            <a:r>
              <a:rPr lang="en-US" dirty="0">
                <a:latin typeface="Calibri" panose="020F0502020204030204" pitchFamily="34" charset="0"/>
                <a:cs typeface="Calibri" panose="020F0502020204030204" pitchFamily="34" charset="0"/>
              </a:rPr>
              <a:t>Real 358 based ops</a:t>
            </a:r>
          </a:p>
        </p:txBody>
      </p:sp>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a:xfrm>
            <a:off x="9301381" y="6199524"/>
            <a:ext cx="2743200" cy="365125"/>
          </a:xfrm>
        </p:spPr>
        <p:txBody>
          <a:bodyPr/>
          <a:lstStyle/>
          <a:p>
            <a:fld id="{6B76BA51-8322-1A4D-B259-B74706370693}" type="slidenum">
              <a:rPr lang="en-US" smtClean="0"/>
              <a:t>62</a:t>
            </a:fld>
            <a:endParaRPr lang="en-US"/>
          </a:p>
        </p:txBody>
      </p:sp>
      <p:grpSp>
        <p:nvGrpSpPr>
          <p:cNvPr id="28" name="Group 27">
            <a:extLst>
              <a:ext uri="{FF2B5EF4-FFF2-40B4-BE49-F238E27FC236}">
                <a16:creationId xmlns:a16="http://schemas.microsoft.com/office/drawing/2014/main" id="{E0D847D2-D18D-334B-8A32-A1F41D6D2489}"/>
              </a:ext>
            </a:extLst>
          </p:cNvPr>
          <p:cNvGrpSpPr/>
          <p:nvPr/>
        </p:nvGrpSpPr>
        <p:grpSpPr>
          <a:xfrm>
            <a:off x="6724659" y="1858324"/>
            <a:ext cx="4480209" cy="4042645"/>
            <a:chOff x="6219863" y="1608009"/>
            <a:chExt cx="4480209" cy="4042645"/>
          </a:xfrm>
        </p:grpSpPr>
        <p:grpSp>
          <p:nvGrpSpPr>
            <p:cNvPr id="273" name="Group 39">
              <a:extLst>
                <a:ext uri="{FF2B5EF4-FFF2-40B4-BE49-F238E27FC236}">
                  <a16:creationId xmlns:a16="http://schemas.microsoft.com/office/drawing/2014/main" id="{FB794995-09C5-7B49-9567-477819AC4A8C}"/>
                </a:ext>
              </a:extLst>
            </p:cNvPr>
            <p:cNvGrpSpPr>
              <a:grpSpLocks/>
            </p:cNvGrpSpPr>
            <p:nvPr/>
          </p:nvGrpSpPr>
          <p:grpSpPr bwMode="auto">
            <a:xfrm>
              <a:off x="8203328" y="2322961"/>
              <a:ext cx="1676400" cy="1371600"/>
              <a:chOff x="2496" y="1968"/>
              <a:chExt cx="1056" cy="864"/>
            </a:xfrm>
          </p:grpSpPr>
          <p:sp>
            <p:nvSpPr>
              <p:cNvPr id="274" name="Line 40">
                <a:extLst>
                  <a:ext uri="{FF2B5EF4-FFF2-40B4-BE49-F238E27FC236}">
                    <a16:creationId xmlns:a16="http://schemas.microsoft.com/office/drawing/2014/main" id="{992CD529-2FD7-0D41-B887-8FF00611B0EA}"/>
                  </a:ext>
                </a:extLst>
              </p:cNvPr>
              <p:cNvSpPr>
                <a:spLocks noChangeShapeType="1"/>
              </p:cNvSpPr>
              <p:nvPr/>
            </p:nvSpPr>
            <p:spPr bwMode="auto">
              <a:xfrm>
                <a:off x="2496" y="216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5" name="Line 41">
                <a:extLst>
                  <a:ext uri="{FF2B5EF4-FFF2-40B4-BE49-F238E27FC236}">
                    <a16:creationId xmlns:a16="http://schemas.microsoft.com/office/drawing/2014/main" id="{C9756DFC-B91F-DD40-AA9F-CC6E94F4D8A1}"/>
                  </a:ext>
                </a:extLst>
              </p:cNvPr>
              <p:cNvSpPr>
                <a:spLocks noChangeShapeType="1"/>
              </p:cNvSpPr>
              <p:nvPr/>
            </p:nvSpPr>
            <p:spPr bwMode="auto">
              <a:xfrm>
                <a:off x="2496" y="264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 name="Line 42">
                <a:extLst>
                  <a:ext uri="{FF2B5EF4-FFF2-40B4-BE49-F238E27FC236}">
                    <a16:creationId xmlns:a16="http://schemas.microsoft.com/office/drawing/2014/main" id="{7BD51ACF-94A4-5942-BA8E-602F9C0C4BBD}"/>
                  </a:ext>
                </a:extLst>
              </p:cNvPr>
              <p:cNvSpPr>
                <a:spLocks noChangeShapeType="1"/>
              </p:cNvSpPr>
              <p:nvPr/>
            </p:nvSpPr>
            <p:spPr bwMode="auto">
              <a:xfrm>
                <a:off x="3360" y="240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 name="Freeform 43">
                <a:extLst>
                  <a:ext uri="{FF2B5EF4-FFF2-40B4-BE49-F238E27FC236}">
                    <a16:creationId xmlns:a16="http://schemas.microsoft.com/office/drawing/2014/main" id="{9B4ECDB4-53D5-D949-B2D2-9BDBE81EB16C}"/>
                  </a:ext>
                </a:extLst>
              </p:cNvPr>
              <p:cNvSpPr>
                <a:spLocks/>
              </p:cNvSpPr>
              <p:nvPr/>
            </p:nvSpPr>
            <p:spPr bwMode="auto">
              <a:xfrm>
                <a:off x="2688" y="1968"/>
                <a:ext cx="672" cy="864"/>
              </a:xfrm>
              <a:custGeom>
                <a:avLst/>
                <a:gdLst>
                  <a:gd name="T0" fmla="*/ 6120 w 432"/>
                  <a:gd name="T1" fmla="*/ 779 h 768"/>
                  <a:gd name="T2" fmla="*/ 0 w 432"/>
                  <a:gd name="T3" fmla="*/ 1558 h 768"/>
                  <a:gd name="T4" fmla="*/ 0 w 432"/>
                  <a:gd name="T5" fmla="*/ 0 h 768"/>
                  <a:gd name="T6" fmla="*/ 6120 w 432"/>
                  <a:gd name="T7" fmla="*/ 779 h 768"/>
                  <a:gd name="T8" fmla="*/ 0 60000 65536"/>
                  <a:gd name="T9" fmla="*/ 0 60000 65536"/>
                  <a:gd name="T10" fmla="*/ 0 60000 65536"/>
                  <a:gd name="T11" fmla="*/ 0 60000 65536"/>
                  <a:gd name="T12" fmla="*/ 0 w 432"/>
                  <a:gd name="T13" fmla="*/ 0 h 768"/>
                  <a:gd name="T14" fmla="*/ 432 w 432"/>
                  <a:gd name="T15" fmla="*/ 768 h 768"/>
                </a:gdLst>
                <a:ahLst/>
                <a:cxnLst>
                  <a:cxn ang="T8">
                    <a:pos x="T0" y="T1"/>
                  </a:cxn>
                  <a:cxn ang="T9">
                    <a:pos x="T2" y="T3"/>
                  </a:cxn>
                  <a:cxn ang="T10">
                    <a:pos x="T4" y="T5"/>
                  </a:cxn>
                  <a:cxn ang="T11">
                    <a:pos x="T6" y="T7"/>
                  </a:cxn>
                </a:cxnLst>
                <a:rect l="T12" t="T13" r="T14" b="T15"/>
                <a:pathLst>
                  <a:path w="432" h="768">
                    <a:moveTo>
                      <a:pt x="432" y="384"/>
                    </a:moveTo>
                    <a:lnTo>
                      <a:pt x="0" y="768"/>
                    </a:lnTo>
                    <a:lnTo>
                      <a:pt x="0" y="0"/>
                    </a:lnTo>
                    <a:lnTo>
                      <a:pt x="432" y="38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grpSp>
        <p:sp>
          <p:nvSpPr>
            <p:cNvPr id="278" name="Freeform 12">
              <a:extLst>
                <a:ext uri="{FF2B5EF4-FFF2-40B4-BE49-F238E27FC236}">
                  <a16:creationId xmlns:a16="http://schemas.microsoft.com/office/drawing/2014/main" id="{410F136B-ED5F-B740-8173-326A4080696B}"/>
                </a:ext>
              </a:extLst>
            </p:cNvPr>
            <p:cNvSpPr>
              <a:spLocks noChangeAspect="1"/>
            </p:cNvSpPr>
            <p:nvPr/>
          </p:nvSpPr>
          <p:spPr bwMode="auto">
            <a:xfrm>
              <a:off x="9666213" y="3017021"/>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9" name="TextBox 278">
              <a:extLst>
                <a:ext uri="{FF2B5EF4-FFF2-40B4-BE49-F238E27FC236}">
                  <a16:creationId xmlns:a16="http://schemas.microsoft.com/office/drawing/2014/main" id="{A4037425-F5B1-BA43-A719-CEE9C30A052A}"/>
                </a:ext>
              </a:extLst>
            </p:cNvPr>
            <p:cNvSpPr txBox="1"/>
            <p:nvPr/>
          </p:nvSpPr>
          <p:spPr>
            <a:xfrm flipH="1">
              <a:off x="8505375" y="3174330"/>
              <a:ext cx="439757" cy="369332"/>
            </a:xfrm>
            <a:prstGeom prst="rect">
              <a:avLst/>
            </a:prstGeom>
            <a:noFill/>
          </p:spPr>
          <p:txBody>
            <a:bodyPr wrap="square" rtlCol="0">
              <a:spAutoFit/>
            </a:bodyPr>
            <a:lstStyle/>
            <a:p>
              <a:r>
                <a:rPr lang="en-US" dirty="0"/>
                <a:t>+</a:t>
              </a:r>
            </a:p>
          </p:txBody>
        </p:sp>
        <p:sp>
          <p:nvSpPr>
            <p:cNvPr id="280" name="TextBox 279">
              <a:extLst>
                <a:ext uri="{FF2B5EF4-FFF2-40B4-BE49-F238E27FC236}">
                  <a16:creationId xmlns:a16="http://schemas.microsoft.com/office/drawing/2014/main" id="{E8A12473-E6E7-9843-BD56-CB4FAC0377F7}"/>
                </a:ext>
              </a:extLst>
            </p:cNvPr>
            <p:cNvSpPr txBox="1"/>
            <p:nvPr/>
          </p:nvSpPr>
          <p:spPr>
            <a:xfrm flipH="1">
              <a:off x="8547605" y="2434363"/>
              <a:ext cx="439757" cy="369332"/>
            </a:xfrm>
            <a:prstGeom prst="rect">
              <a:avLst/>
            </a:prstGeom>
            <a:noFill/>
          </p:spPr>
          <p:txBody>
            <a:bodyPr wrap="square" rtlCol="0">
              <a:spAutoFit/>
            </a:bodyPr>
            <a:lstStyle/>
            <a:p>
              <a:r>
                <a:rPr lang="en-US" dirty="0"/>
                <a:t>-</a:t>
              </a:r>
            </a:p>
          </p:txBody>
        </p:sp>
        <p:sp>
          <p:nvSpPr>
            <p:cNvPr id="281" name="Freeform 12">
              <a:extLst>
                <a:ext uri="{FF2B5EF4-FFF2-40B4-BE49-F238E27FC236}">
                  <a16:creationId xmlns:a16="http://schemas.microsoft.com/office/drawing/2014/main" id="{C8642C97-1DD9-3241-900B-3C7CD0CF6BD1}"/>
                </a:ext>
              </a:extLst>
            </p:cNvPr>
            <p:cNvSpPr>
              <a:spLocks noChangeAspect="1"/>
            </p:cNvSpPr>
            <p:nvPr/>
          </p:nvSpPr>
          <p:spPr bwMode="auto">
            <a:xfrm>
              <a:off x="8140375" y="3898466"/>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5" name="TextBox 284">
              <a:extLst>
                <a:ext uri="{FF2B5EF4-FFF2-40B4-BE49-F238E27FC236}">
                  <a16:creationId xmlns:a16="http://schemas.microsoft.com/office/drawing/2014/main" id="{B60620D6-9F89-9544-8577-6E1D5E389AA1}"/>
                </a:ext>
              </a:extLst>
            </p:cNvPr>
            <p:cNvSpPr txBox="1"/>
            <p:nvPr/>
          </p:nvSpPr>
          <p:spPr>
            <a:xfrm>
              <a:off x="9098241" y="3317222"/>
              <a:ext cx="720372" cy="338554"/>
            </a:xfrm>
            <a:prstGeom prst="rect">
              <a:avLst/>
            </a:prstGeom>
            <a:noFill/>
          </p:spPr>
          <p:txBody>
            <a:bodyPr wrap="square" rtlCol="0">
              <a:spAutoFit/>
            </a:bodyPr>
            <a:lstStyle/>
            <a:p>
              <a:r>
                <a:rPr lang="en-US" sz="1600" dirty="0"/>
                <a:t>6.2K</a:t>
              </a:r>
              <a:endParaRPr lang="en-US" baseline="-25000" dirty="0"/>
            </a:p>
          </p:txBody>
        </p:sp>
        <p:cxnSp>
          <p:nvCxnSpPr>
            <p:cNvPr id="287" name="Straight Connector 286">
              <a:extLst>
                <a:ext uri="{FF2B5EF4-FFF2-40B4-BE49-F238E27FC236}">
                  <a16:creationId xmlns:a16="http://schemas.microsoft.com/office/drawing/2014/main" id="{89669951-FDCA-AA47-BAC9-7A8DBCEBF461}"/>
                </a:ext>
              </a:extLst>
            </p:cNvPr>
            <p:cNvCxnSpPr>
              <a:cxnSpLocks/>
            </p:cNvCxnSpPr>
            <p:nvPr/>
          </p:nvCxnSpPr>
          <p:spPr>
            <a:xfrm flipV="1">
              <a:off x="8212659" y="3389763"/>
              <a:ext cx="0" cy="5497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88" name="Group 13">
              <a:extLst>
                <a:ext uri="{FF2B5EF4-FFF2-40B4-BE49-F238E27FC236}">
                  <a16:creationId xmlns:a16="http://schemas.microsoft.com/office/drawing/2014/main" id="{7BE12132-F92B-DE42-A0D0-A5F270BDEF72}"/>
                </a:ext>
              </a:extLst>
            </p:cNvPr>
            <p:cNvGrpSpPr>
              <a:grpSpLocks noChangeAspect="1"/>
            </p:cNvGrpSpPr>
            <p:nvPr/>
          </p:nvGrpSpPr>
          <p:grpSpPr bwMode="auto">
            <a:xfrm>
              <a:off x="8136459" y="3320709"/>
              <a:ext cx="152400" cy="152400"/>
              <a:chOff x="1344" y="2064"/>
              <a:chExt cx="192" cy="192"/>
            </a:xfrm>
          </p:grpSpPr>
          <p:sp>
            <p:nvSpPr>
              <p:cNvPr id="289" name="Oval 14">
                <a:extLst>
                  <a:ext uri="{FF2B5EF4-FFF2-40B4-BE49-F238E27FC236}">
                    <a16:creationId xmlns:a16="http://schemas.microsoft.com/office/drawing/2014/main" id="{94EAC8DF-B890-CB4C-8359-A23834A8E7D3}"/>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90" name="Rectangle 15">
                <a:extLst>
                  <a:ext uri="{FF2B5EF4-FFF2-40B4-BE49-F238E27FC236}">
                    <a16:creationId xmlns:a16="http://schemas.microsoft.com/office/drawing/2014/main" id="{722955DA-955E-374E-92DD-6314D79CA48B}"/>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291" name="Group 13">
              <a:extLst>
                <a:ext uri="{FF2B5EF4-FFF2-40B4-BE49-F238E27FC236}">
                  <a16:creationId xmlns:a16="http://schemas.microsoft.com/office/drawing/2014/main" id="{C9BE3182-8151-0F4E-A0F0-AE7ADE510AB6}"/>
                </a:ext>
              </a:extLst>
            </p:cNvPr>
            <p:cNvGrpSpPr>
              <a:grpSpLocks noChangeAspect="1"/>
            </p:cNvGrpSpPr>
            <p:nvPr/>
          </p:nvGrpSpPr>
          <p:grpSpPr bwMode="auto">
            <a:xfrm>
              <a:off x="8136459" y="3853514"/>
              <a:ext cx="152400" cy="152400"/>
              <a:chOff x="1344" y="2064"/>
              <a:chExt cx="192" cy="192"/>
            </a:xfrm>
          </p:grpSpPr>
          <p:sp>
            <p:nvSpPr>
              <p:cNvPr id="292" name="Oval 14">
                <a:extLst>
                  <a:ext uri="{FF2B5EF4-FFF2-40B4-BE49-F238E27FC236}">
                    <a16:creationId xmlns:a16="http://schemas.microsoft.com/office/drawing/2014/main" id="{02D5C303-3727-9C46-A24F-06E1879B7B48}"/>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93" name="Rectangle 15">
                <a:extLst>
                  <a:ext uri="{FF2B5EF4-FFF2-40B4-BE49-F238E27FC236}">
                    <a16:creationId xmlns:a16="http://schemas.microsoft.com/office/drawing/2014/main" id="{4FEABEE0-0F87-BF4D-83A5-1546822BF208}"/>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297" name="TextBox 296">
              <a:extLst>
                <a:ext uri="{FF2B5EF4-FFF2-40B4-BE49-F238E27FC236}">
                  <a16:creationId xmlns:a16="http://schemas.microsoft.com/office/drawing/2014/main" id="{689537D2-10D2-9746-854C-09268E8B653A}"/>
                </a:ext>
              </a:extLst>
            </p:cNvPr>
            <p:cNvSpPr txBox="1"/>
            <p:nvPr/>
          </p:nvSpPr>
          <p:spPr>
            <a:xfrm>
              <a:off x="6761723" y="3580817"/>
              <a:ext cx="431528" cy="369332"/>
            </a:xfrm>
            <a:prstGeom prst="rect">
              <a:avLst/>
            </a:prstGeom>
            <a:noFill/>
          </p:spPr>
          <p:txBody>
            <a:bodyPr wrap="none" rtlCol="0">
              <a:spAutoFit/>
            </a:bodyPr>
            <a:lstStyle/>
            <a:p>
              <a:r>
                <a:rPr lang="en-US" dirty="0"/>
                <a:t>V</a:t>
              </a:r>
              <a:r>
                <a:rPr lang="en-US" baseline="-25000" dirty="0"/>
                <a:t>in</a:t>
              </a:r>
            </a:p>
          </p:txBody>
        </p:sp>
        <p:sp>
          <p:nvSpPr>
            <p:cNvPr id="298" name="TextBox 297">
              <a:extLst>
                <a:ext uri="{FF2B5EF4-FFF2-40B4-BE49-F238E27FC236}">
                  <a16:creationId xmlns:a16="http://schemas.microsoft.com/office/drawing/2014/main" id="{8B0AB8DA-69E9-6048-92CE-8D7673FD16FB}"/>
                </a:ext>
              </a:extLst>
            </p:cNvPr>
            <p:cNvSpPr txBox="1"/>
            <p:nvPr/>
          </p:nvSpPr>
          <p:spPr>
            <a:xfrm>
              <a:off x="6219863" y="2900165"/>
              <a:ext cx="1802296" cy="646331"/>
            </a:xfrm>
            <a:prstGeom prst="rect">
              <a:avLst/>
            </a:prstGeom>
            <a:noFill/>
          </p:spPr>
          <p:txBody>
            <a:bodyPr wrap="square" rtlCol="0">
              <a:spAutoFit/>
            </a:bodyPr>
            <a:lstStyle/>
            <a:p>
              <a:r>
                <a:rPr lang="en-US" dirty="0"/>
                <a:t>Non-inverting Amp</a:t>
              </a:r>
            </a:p>
          </p:txBody>
        </p:sp>
        <p:sp>
          <p:nvSpPr>
            <p:cNvPr id="299" name="TextBox 298">
              <a:extLst>
                <a:ext uri="{FF2B5EF4-FFF2-40B4-BE49-F238E27FC236}">
                  <a16:creationId xmlns:a16="http://schemas.microsoft.com/office/drawing/2014/main" id="{40750FCA-1148-5C42-995A-93861E614B7B}"/>
                </a:ext>
              </a:extLst>
            </p:cNvPr>
            <p:cNvSpPr txBox="1"/>
            <p:nvPr/>
          </p:nvSpPr>
          <p:spPr>
            <a:xfrm>
              <a:off x="8507848" y="2803695"/>
              <a:ext cx="1066799" cy="369332"/>
            </a:xfrm>
            <a:prstGeom prst="rect">
              <a:avLst/>
            </a:prstGeom>
            <a:noFill/>
          </p:spPr>
          <p:txBody>
            <a:bodyPr wrap="square" rtlCol="0">
              <a:spAutoFit/>
            </a:bodyPr>
            <a:lstStyle/>
            <a:p>
              <a:r>
                <a:rPr lang="en-US" dirty="0"/>
                <a:t>LM358</a:t>
              </a:r>
            </a:p>
          </p:txBody>
        </p:sp>
        <p:sp>
          <p:nvSpPr>
            <p:cNvPr id="300" name="Freeform 12">
              <a:extLst>
                <a:ext uri="{FF2B5EF4-FFF2-40B4-BE49-F238E27FC236}">
                  <a16:creationId xmlns:a16="http://schemas.microsoft.com/office/drawing/2014/main" id="{D28F6151-F242-244E-A709-ED8A7643B788}"/>
                </a:ext>
              </a:extLst>
            </p:cNvPr>
            <p:cNvSpPr>
              <a:spLocks noChangeAspect="1"/>
            </p:cNvSpPr>
            <p:nvPr/>
          </p:nvSpPr>
          <p:spPr bwMode="auto">
            <a:xfrm rot="5400000">
              <a:off x="8493397" y="1671927"/>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3" name="TextBox 302">
              <a:extLst>
                <a:ext uri="{FF2B5EF4-FFF2-40B4-BE49-F238E27FC236}">
                  <a16:creationId xmlns:a16="http://schemas.microsoft.com/office/drawing/2014/main" id="{1754268F-D79E-B044-94E4-9DD66B236383}"/>
                </a:ext>
              </a:extLst>
            </p:cNvPr>
            <p:cNvSpPr txBox="1"/>
            <p:nvPr/>
          </p:nvSpPr>
          <p:spPr>
            <a:xfrm>
              <a:off x="8291117" y="1609018"/>
              <a:ext cx="924123" cy="338554"/>
            </a:xfrm>
            <a:prstGeom prst="rect">
              <a:avLst/>
            </a:prstGeom>
            <a:noFill/>
          </p:spPr>
          <p:txBody>
            <a:bodyPr wrap="square" rtlCol="0">
              <a:spAutoFit/>
            </a:bodyPr>
            <a:lstStyle/>
            <a:p>
              <a:r>
                <a:rPr lang="en-US" sz="1600" dirty="0"/>
                <a:t>1M=R</a:t>
              </a:r>
              <a:r>
                <a:rPr lang="en-US" sz="1600" baseline="-25000" dirty="0"/>
                <a:t>2</a:t>
              </a:r>
              <a:endParaRPr lang="en-US" baseline="-25000" dirty="0"/>
            </a:p>
          </p:txBody>
        </p:sp>
        <p:grpSp>
          <p:nvGrpSpPr>
            <p:cNvPr id="304" name="Group 210">
              <a:extLst>
                <a:ext uri="{FF2B5EF4-FFF2-40B4-BE49-F238E27FC236}">
                  <a16:creationId xmlns:a16="http://schemas.microsoft.com/office/drawing/2014/main" id="{BF560317-9453-A041-88D6-F636A4319807}"/>
                </a:ext>
              </a:extLst>
            </p:cNvPr>
            <p:cNvGrpSpPr>
              <a:grpSpLocks/>
            </p:cNvGrpSpPr>
            <p:nvPr/>
          </p:nvGrpSpPr>
          <p:grpSpPr bwMode="auto">
            <a:xfrm>
              <a:off x="8065215" y="4542332"/>
              <a:ext cx="304800" cy="762000"/>
              <a:chOff x="3216" y="1728"/>
              <a:chExt cx="192" cy="480"/>
            </a:xfrm>
          </p:grpSpPr>
          <p:sp>
            <p:nvSpPr>
              <p:cNvPr id="305" name="Line 8">
                <a:extLst>
                  <a:ext uri="{FF2B5EF4-FFF2-40B4-BE49-F238E27FC236}">
                    <a16:creationId xmlns:a16="http://schemas.microsoft.com/office/drawing/2014/main" id="{DEAF4361-FA69-9C45-AE68-463DBD293344}"/>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6" name="Line 9">
                <a:extLst>
                  <a:ext uri="{FF2B5EF4-FFF2-40B4-BE49-F238E27FC236}">
                    <a16:creationId xmlns:a16="http://schemas.microsoft.com/office/drawing/2014/main" id="{74B825A2-5443-B948-B41D-3EF03A195B38}"/>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 name="Line 10">
                <a:extLst>
                  <a:ext uri="{FF2B5EF4-FFF2-40B4-BE49-F238E27FC236}">
                    <a16:creationId xmlns:a16="http://schemas.microsoft.com/office/drawing/2014/main" id="{A0B5D1B1-05A5-9A4D-9BA9-B0884B38C5C9}"/>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8" name="Line 11">
                <a:extLst>
                  <a:ext uri="{FF2B5EF4-FFF2-40B4-BE49-F238E27FC236}">
                    <a16:creationId xmlns:a16="http://schemas.microsoft.com/office/drawing/2014/main" id="{4C9F35EC-4E26-5247-B259-9610E42D6A17}"/>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09" name="Group 207">
              <a:extLst>
                <a:ext uri="{FF2B5EF4-FFF2-40B4-BE49-F238E27FC236}">
                  <a16:creationId xmlns:a16="http://schemas.microsoft.com/office/drawing/2014/main" id="{E2645FE1-7765-BB41-98BA-2B3F243F048D}"/>
                </a:ext>
              </a:extLst>
            </p:cNvPr>
            <p:cNvGrpSpPr>
              <a:grpSpLocks/>
            </p:cNvGrpSpPr>
            <p:nvPr/>
          </p:nvGrpSpPr>
          <p:grpSpPr bwMode="auto">
            <a:xfrm>
              <a:off x="7315712" y="3381026"/>
              <a:ext cx="304800" cy="762000"/>
              <a:chOff x="4560" y="2400"/>
              <a:chExt cx="192" cy="480"/>
            </a:xfrm>
          </p:grpSpPr>
          <p:sp>
            <p:nvSpPr>
              <p:cNvPr id="310" name="Oval 111">
                <a:extLst>
                  <a:ext uri="{FF2B5EF4-FFF2-40B4-BE49-F238E27FC236}">
                    <a16:creationId xmlns:a16="http://schemas.microsoft.com/office/drawing/2014/main" id="{9E07FE10-2E97-DB46-A2B4-376F522F49B2}"/>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311" name="Line 112">
                <a:extLst>
                  <a:ext uri="{FF2B5EF4-FFF2-40B4-BE49-F238E27FC236}">
                    <a16:creationId xmlns:a16="http://schemas.microsoft.com/office/drawing/2014/main" id="{5963FDFE-31D3-464C-B8C2-AE343AEE2B03}"/>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2" name="Line 113">
                <a:extLst>
                  <a:ext uri="{FF2B5EF4-FFF2-40B4-BE49-F238E27FC236}">
                    <a16:creationId xmlns:a16="http://schemas.microsoft.com/office/drawing/2014/main" id="{6D1F1788-7109-9F4F-8A7F-FB20ACD6E4F4}"/>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3" name="Line 114">
                <a:extLst>
                  <a:ext uri="{FF2B5EF4-FFF2-40B4-BE49-F238E27FC236}">
                    <a16:creationId xmlns:a16="http://schemas.microsoft.com/office/drawing/2014/main" id="{E2F8C683-72EC-944B-AC87-1389AC204578}"/>
                  </a:ext>
                </a:extLst>
              </p:cNvPr>
              <p:cNvSpPr>
                <a:spLocks noChangeAspect="1" noChangeShapeType="1"/>
              </p:cNvSpPr>
              <p:nvPr/>
            </p:nvSpPr>
            <p:spPr bwMode="auto">
              <a:xfrm>
                <a:off x="4584" y="2496"/>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4" name="Line 115">
                <a:extLst>
                  <a:ext uri="{FF2B5EF4-FFF2-40B4-BE49-F238E27FC236}">
                    <a16:creationId xmlns:a16="http://schemas.microsoft.com/office/drawing/2014/main" id="{F3A2A91F-0C08-264B-9C60-07D763C4C83C}"/>
                  </a:ext>
                </a:extLst>
              </p:cNvPr>
              <p:cNvSpPr>
                <a:spLocks noChangeAspect="1" noChangeShapeType="1"/>
              </p:cNvSpPr>
              <p:nvPr/>
            </p:nvSpPr>
            <p:spPr bwMode="auto">
              <a:xfrm>
                <a:off x="4608" y="2472"/>
                <a:ext cx="0" cy="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5" name="Line 116">
                <a:extLst>
                  <a:ext uri="{FF2B5EF4-FFF2-40B4-BE49-F238E27FC236}">
                    <a16:creationId xmlns:a16="http://schemas.microsoft.com/office/drawing/2014/main" id="{4808E450-FB6D-5141-9BC7-3AF3F3BDC4C1}"/>
                  </a:ext>
                </a:extLst>
              </p:cNvPr>
              <p:cNvSpPr>
                <a:spLocks noChangeAspect="1" noChangeShapeType="1"/>
              </p:cNvSpPr>
              <p:nvPr/>
            </p:nvSpPr>
            <p:spPr bwMode="auto">
              <a:xfrm>
                <a:off x="4584" y="2784"/>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16" name="Group 117">
                <a:extLst>
                  <a:ext uri="{FF2B5EF4-FFF2-40B4-BE49-F238E27FC236}">
                    <a16:creationId xmlns:a16="http://schemas.microsoft.com/office/drawing/2014/main" id="{5BE2F7B1-719D-124F-A1DD-232BA2A0E0D2}"/>
                  </a:ext>
                </a:extLst>
              </p:cNvPr>
              <p:cNvGrpSpPr>
                <a:grpSpLocks noChangeAspect="1"/>
              </p:cNvGrpSpPr>
              <p:nvPr/>
            </p:nvGrpSpPr>
            <p:grpSpPr bwMode="auto">
              <a:xfrm>
                <a:off x="4608" y="2592"/>
                <a:ext cx="96" cy="96"/>
                <a:chOff x="2929" y="3217"/>
                <a:chExt cx="383" cy="191"/>
              </a:xfrm>
            </p:grpSpPr>
            <p:sp>
              <p:nvSpPr>
                <p:cNvPr id="317" name="Arc 118">
                  <a:extLst>
                    <a:ext uri="{FF2B5EF4-FFF2-40B4-BE49-F238E27FC236}">
                      <a16:creationId xmlns:a16="http://schemas.microsoft.com/office/drawing/2014/main" id="{BD360387-671F-5547-85EB-A80EBE169978}"/>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8" name="Arc 119">
                  <a:extLst>
                    <a:ext uri="{FF2B5EF4-FFF2-40B4-BE49-F238E27FC236}">
                      <a16:creationId xmlns:a16="http://schemas.microsoft.com/office/drawing/2014/main" id="{1883FF9B-EA69-F54E-970C-0D021AF31329}"/>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cxnSp>
          <p:nvCxnSpPr>
            <p:cNvPr id="319" name="Straight Connector 318">
              <a:extLst>
                <a:ext uri="{FF2B5EF4-FFF2-40B4-BE49-F238E27FC236}">
                  <a16:creationId xmlns:a16="http://schemas.microsoft.com/office/drawing/2014/main" id="{E2CCB619-B7DF-4F42-8401-CF0E86B93FED}"/>
                </a:ext>
              </a:extLst>
            </p:cNvPr>
            <p:cNvCxnSpPr>
              <a:cxnSpLocks/>
            </p:cNvCxnSpPr>
            <p:nvPr/>
          </p:nvCxnSpPr>
          <p:spPr>
            <a:xfrm>
              <a:off x="8188597" y="2054685"/>
              <a:ext cx="0" cy="594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0" name="Straight Connector 319">
              <a:extLst>
                <a:ext uri="{FF2B5EF4-FFF2-40B4-BE49-F238E27FC236}">
                  <a16:creationId xmlns:a16="http://schemas.microsoft.com/office/drawing/2014/main" id="{34F23673-3630-B542-BDD9-80B8378F317F}"/>
                </a:ext>
              </a:extLst>
            </p:cNvPr>
            <p:cNvCxnSpPr>
              <a:cxnSpLocks/>
            </p:cNvCxnSpPr>
            <p:nvPr/>
          </p:nvCxnSpPr>
          <p:spPr>
            <a:xfrm>
              <a:off x="8931880" y="2049616"/>
              <a:ext cx="8229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1" name="Straight Connector 320">
              <a:extLst>
                <a:ext uri="{FF2B5EF4-FFF2-40B4-BE49-F238E27FC236}">
                  <a16:creationId xmlns:a16="http://schemas.microsoft.com/office/drawing/2014/main" id="{C7FBC3F2-8713-134F-99C4-0AD13C2D372C}"/>
                </a:ext>
              </a:extLst>
            </p:cNvPr>
            <p:cNvCxnSpPr>
              <a:cxnSpLocks/>
            </p:cNvCxnSpPr>
            <p:nvPr/>
          </p:nvCxnSpPr>
          <p:spPr>
            <a:xfrm>
              <a:off x="9742413" y="2048195"/>
              <a:ext cx="0" cy="109728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22" name="Group 13">
              <a:extLst>
                <a:ext uri="{FF2B5EF4-FFF2-40B4-BE49-F238E27FC236}">
                  <a16:creationId xmlns:a16="http://schemas.microsoft.com/office/drawing/2014/main" id="{9B88B995-8434-284B-B499-CF1AC454C8C3}"/>
                </a:ext>
              </a:extLst>
            </p:cNvPr>
            <p:cNvGrpSpPr>
              <a:grpSpLocks noChangeAspect="1"/>
            </p:cNvGrpSpPr>
            <p:nvPr/>
          </p:nvGrpSpPr>
          <p:grpSpPr bwMode="auto">
            <a:xfrm>
              <a:off x="9650266" y="2922124"/>
              <a:ext cx="182880" cy="182880"/>
              <a:chOff x="1344" y="2064"/>
              <a:chExt cx="192" cy="192"/>
            </a:xfrm>
          </p:grpSpPr>
          <p:sp>
            <p:nvSpPr>
              <p:cNvPr id="323" name="Oval 14">
                <a:extLst>
                  <a:ext uri="{FF2B5EF4-FFF2-40B4-BE49-F238E27FC236}">
                    <a16:creationId xmlns:a16="http://schemas.microsoft.com/office/drawing/2014/main" id="{EFD1649A-0613-4F4A-A5C0-69CF62C639D9}"/>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324" name="Rectangle 15">
                <a:extLst>
                  <a:ext uri="{FF2B5EF4-FFF2-40B4-BE49-F238E27FC236}">
                    <a16:creationId xmlns:a16="http://schemas.microsoft.com/office/drawing/2014/main" id="{86AB4B46-9090-0040-8393-ABF77E94BF12}"/>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325" name="Group 210">
              <a:extLst>
                <a:ext uri="{FF2B5EF4-FFF2-40B4-BE49-F238E27FC236}">
                  <a16:creationId xmlns:a16="http://schemas.microsoft.com/office/drawing/2014/main" id="{EBD8B262-32DD-C841-866F-C7B2D7FC85FA}"/>
                </a:ext>
              </a:extLst>
            </p:cNvPr>
            <p:cNvGrpSpPr>
              <a:grpSpLocks/>
            </p:cNvGrpSpPr>
            <p:nvPr/>
          </p:nvGrpSpPr>
          <p:grpSpPr bwMode="auto">
            <a:xfrm rot="5400000">
              <a:off x="7689217" y="3010565"/>
              <a:ext cx="304800" cy="762000"/>
              <a:chOff x="3216" y="1728"/>
              <a:chExt cx="192" cy="480"/>
            </a:xfrm>
          </p:grpSpPr>
          <p:sp>
            <p:nvSpPr>
              <p:cNvPr id="326" name="Line 8">
                <a:extLst>
                  <a:ext uri="{FF2B5EF4-FFF2-40B4-BE49-F238E27FC236}">
                    <a16:creationId xmlns:a16="http://schemas.microsoft.com/office/drawing/2014/main" id="{C44F3CA4-8682-AE4D-9C61-E0B7E1526C59}"/>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 name="Line 9">
                <a:extLst>
                  <a:ext uri="{FF2B5EF4-FFF2-40B4-BE49-F238E27FC236}">
                    <a16:creationId xmlns:a16="http://schemas.microsoft.com/office/drawing/2014/main" id="{91687D79-1D06-1E49-AA02-83C54E9E0F05}"/>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 name="Line 10">
                <a:extLst>
                  <a:ext uri="{FF2B5EF4-FFF2-40B4-BE49-F238E27FC236}">
                    <a16:creationId xmlns:a16="http://schemas.microsoft.com/office/drawing/2014/main" id="{F64A0DA2-A58E-C947-BE63-29F2E2097CFE}"/>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 name="Line 11">
                <a:extLst>
                  <a:ext uri="{FF2B5EF4-FFF2-40B4-BE49-F238E27FC236}">
                    <a16:creationId xmlns:a16="http://schemas.microsoft.com/office/drawing/2014/main" id="{55BC8483-FA0A-D444-A0E9-A085691A912C}"/>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30" name="Group 220">
              <a:extLst>
                <a:ext uri="{FF2B5EF4-FFF2-40B4-BE49-F238E27FC236}">
                  <a16:creationId xmlns:a16="http://schemas.microsoft.com/office/drawing/2014/main" id="{6CDC8A8D-2AC3-8547-982A-3B7722DB4766}"/>
                </a:ext>
              </a:extLst>
            </p:cNvPr>
            <p:cNvGrpSpPr>
              <a:grpSpLocks/>
            </p:cNvGrpSpPr>
            <p:nvPr/>
          </p:nvGrpSpPr>
          <p:grpSpPr bwMode="auto">
            <a:xfrm>
              <a:off x="7397501" y="4108649"/>
              <a:ext cx="152400" cy="304800"/>
              <a:chOff x="3264" y="3072"/>
              <a:chExt cx="96" cy="192"/>
            </a:xfrm>
          </p:grpSpPr>
          <p:sp>
            <p:nvSpPr>
              <p:cNvPr id="331" name="Line 17">
                <a:extLst>
                  <a:ext uri="{FF2B5EF4-FFF2-40B4-BE49-F238E27FC236}">
                    <a16:creationId xmlns:a16="http://schemas.microsoft.com/office/drawing/2014/main" id="{929ED051-19CA-DF4D-B2EB-225038E8FB3E}"/>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2" name="Freeform 18">
                <a:extLst>
                  <a:ext uri="{FF2B5EF4-FFF2-40B4-BE49-F238E27FC236}">
                    <a16:creationId xmlns:a16="http://schemas.microsoft.com/office/drawing/2014/main" id="{B1FC0A6C-FCDB-AF4B-9289-3AD2F64FC12A}"/>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36" name="Group 220">
              <a:extLst>
                <a:ext uri="{FF2B5EF4-FFF2-40B4-BE49-F238E27FC236}">
                  <a16:creationId xmlns:a16="http://schemas.microsoft.com/office/drawing/2014/main" id="{D71EDB2F-B629-AC40-B599-CA21EE1AA230}"/>
                </a:ext>
              </a:extLst>
            </p:cNvPr>
            <p:cNvGrpSpPr>
              <a:grpSpLocks/>
            </p:cNvGrpSpPr>
            <p:nvPr/>
          </p:nvGrpSpPr>
          <p:grpSpPr bwMode="auto">
            <a:xfrm>
              <a:off x="8148183" y="5244603"/>
              <a:ext cx="152400" cy="304800"/>
              <a:chOff x="3264" y="3072"/>
              <a:chExt cx="96" cy="192"/>
            </a:xfrm>
          </p:grpSpPr>
          <p:sp>
            <p:nvSpPr>
              <p:cNvPr id="337" name="Line 17">
                <a:extLst>
                  <a:ext uri="{FF2B5EF4-FFF2-40B4-BE49-F238E27FC236}">
                    <a16:creationId xmlns:a16="http://schemas.microsoft.com/office/drawing/2014/main" id="{9DE1DF84-2B22-0E42-B8E3-CFF09F9433F1}"/>
                  </a:ext>
                </a:extLst>
              </p:cNvPr>
              <p:cNvSpPr>
                <a:spLocks noChangeAspect="1" noChangeShapeType="1"/>
              </p:cNvSpPr>
              <p:nvPr/>
            </p:nvSpPr>
            <p:spPr bwMode="auto">
              <a:xfrm>
                <a:off x="3305"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 name="Freeform 18">
                <a:extLst>
                  <a:ext uri="{FF2B5EF4-FFF2-40B4-BE49-F238E27FC236}">
                    <a16:creationId xmlns:a16="http://schemas.microsoft.com/office/drawing/2014/main" id="{C30EA005-9A07-C744-9421-371623B756F0}"/>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339" name="TextBox 338">
              <a:extLst>
                <a:ext uri="{FF2B5EF4-FFF2-40B4-BE49-F238E27FC236}">
                  <a16:creationId xmlns:a16="http://schemas.microsoft.com/office/drawing/2014/main" id="{4510252A-2681-D74C-A921-A3D5D2FF4406}"/>
                </a:ext>
              </a:extLst>
            </p:cNvPr>
            <p:cNvSpPr txBox="1"/>
            <p:nvPr/>
          </p:nvSpPr>
          <p:spPr>
            <a:xfrm>
              <a:off x="8249275" y="4890505"/>
              <a:ext cx="720372" cy="338554"/>
            </a:xfrm>
            <a:prstGeom prst="rect">
              <a:avLst/>
            </a:prstGeom>
            <a:noFill/>
          </p:spPr>
          <p:txBody>
            <a:bodyPr wrap="square" rtlCol="0">
              <a:spAutoFit/>
            </a:bodyPr>
            <a:lstStyle/>
            <a:p>
              <a:r>
                <a:rPr lang="en-US" sz="1600" dirty="0"/>
                <a:t>10uF</a:t>
              </a:r>
              <a:endParaRPr lang="en-US" baseline="-25000" dirty="0"/>
            </a:p>
          </p:txBody>
        </p:sp>
        <p:grpSp>
          <p:nvGrpSpPr>
            <p:cNvPr id="340" name="Group 220">
              <a:extLst>
                <a:ext uri="{FF2B5EF4-FFF2-40B4-BE49-F238E27FC236}">
                  <a16:creationId xmlns:a16="http://schemas.microsoft.com/office/drawing/2014/main" id="{822AEADD-4EA5-434C-87A8-11981275AA98}"/>
                </a:ext>
              </a:extLst>
            </p:cNvPr>
            <p:cNvGrpSpPr>
              <a:grpSpLocks/>
            </p:cNvGrpSpPr>
            <p:nvPr/>
          </p:nvGrpSpPr>
          <p:grpSpPr bwMode="auto">
            <a:xfrm>
              <a:off x="9672174" y="3708887"/>
              <a:ext cx="152400" cy="304800"/>
              <a:chOff x="3264" y="3072"/>
              <a:chExt cx="96" cy="192"/>
            </a:xfrm>
          </p:grpSpPr>
          <p:sp>
            <p:nvSpPr>
              <p:cNvPr id="341" name="Line 17">
                <a:extLst>
                  <a:ext uri="{FF2B5EF4-FFF2-40B4-BE49-F238E27FC236}">
                    <a16:creationId xmlns:a16="http://schemas.microsoft.com/office/drawing/2014/main" id="{06249659-BA47-5A48-A04A-FB6DBACC7F40}"/>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2" name="Freeform 18">
                <a:extLst>
                  <a:ext uri="{FF2B5EF4-FFF2-40B4-BE49-F238E27FC236}">
                    <a16:creationId xmlns:a16="http://schemas.microsoft.com/office/drawing/2014/main" id="{2F33A840-45C5-EB44-82F2-83DCC6F9A17E}"/>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343" name="Freeform 12">
              <a:extLst>
                <a:ext uri="{FF2B5EF4-FFF2-40B4-BE49-F238E27FC236}">
                  <a16:creationId xmlns:a16="http://schemas.microsoft.com/office/drawing/2014/main" id="{4C276DE4-B7D0-4946-99BB-694060B38DCE}"/>
                </a:ext>
              </a:extLst>
            </p:cNvPr>
            <p:cNvSpPr>
              <a:spLocks noChangeAspect="1"/>
            </p:cNvSpPr>
            <p:nvPr/>
          </p:nvSpPr>
          <p:spPr bwMode="auto">
            <a:xfrm>
              <a:off x="10404763" y="3005299"/>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344" name="Group 220">
              <a:extLst>
                <a:ext uri="{FF2B5EF4-FFF2-40B4-BE49-F238E27FC236}">
                  <a16:creationId xmlns:a16="http://schemas.microsoft.com/office/drawing/2014/main" id="{C8EF7B42-1B26-2243-94EE-2754B5B3BE41}"/>
                </a:ext>
              </a:extLst>
            </p:cNvPr>
            <p:cNvGrpSpPr>
              <a:grpSpLocks/>
            </p:cNvGrpSpPr>
            <p:nvPr/>
          </p:nvGrpSpPr>
          <p:grpSpPr bwMode="auto">
            <a:xfrm>
              <a:off x="10410724" y="3697165"/>
              <a:ext cx="152400" cy="304800"/>
              <a:chOff x="3264" y="3072"/>
              <a:chExt cx="96" cy="192"/>
            </a:xfrm>
          </p:grpSpPr>
          <p:sp>
            <p:nvSpPr>
              <p:cNvPr id="345" name="Line 17">
                <a:extLst>
                  <a:ext uri="{FF2B5EF4-FFF2-40B4-BE49-F238E27FC236}">
                    <a16:creationId xmlns:a16="http://schemas.microsoft.com/office/drawing/2014/main" id="{A84DBD52-6F90-6842-AA4C-FF0F4523F493}"/>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6" name="Freeform 18">
                <a:extLst>
                  <a:ext uri="{FF2B5EF4-FFF2-40B4-BE49-F238E27FC236}">
                    <a16:creationId xmlns:a16="http://schemas.microsoft.com/office/drawing/2014/main" id="{F261551D-1EBA-794B-AB49-DF8C65A2A198}"/>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47" name="Group 210">
              <a:extLst>
                <a:ext uri="{FF2B5EF4-FFF2-40B4-BE49-F238E27FC236}">
                  <a16:creationId xmlns:a16="http://schemas.microsoft.com/office/drawing/2014/main" id="{6682E497-0031-3B48-8D69-B7D18A319511}"/>
                </a:ext>
              </a:extLst>
            </p:cNvPr>
            <p:cNvGrpSpPr>
              <a:grpSpLocks/>
            </p:cNvGrpSpPr>
            <p:nvPr/>
          </p:nvGrpSpPr>
          <p:grpSpPr bwMode="auto">
            <a:xfrm rot="5400000">
              <a:off x="9950242" y="2623864"/>
              <a:ext cx="304800" cy="762000"/>
              <a:chOff x="3216" y="1728"/>
              <a:chExt cx="192" cy="480"/>
            </a:xfrm>
          </p:grpSpPr>
          <p:sp>
            <p:nvSpPr>
              <p:cNvPr id="348" name="Line 8">
                <a:extLst>
                  <a:ext uri="{FF2B5EF4-FFF2-40B4-BE49-F238E27FC236}">
                    <a16:creationId xmlns:a16="http://schemas.microsoft.com/office/drawing/2014/main" id="{1FECAE7A-AF39-7C4D-9C0E-51CF5CCE2CF0}"/>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 name="Line 9">
                <a:extLst>
                  <a:ext uri="{FF2B5EF4-FFF2-40B4-BE49-F238E27FC236}">
                    <a16:creationId xmlns:a16="http://schemas.microsoft.com/office/drawing/2014/main" id="{F4BDFB57-3CDA-654C-80A4-CD42F87A2F02}"/>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 name="Line 10">
                <a:extLst>
                  <a:ext uri="{FF2B5EF4-FFF2-40B4-BE49-F238E27FC236}">
                    <a16:creationId xmlns:a16="http://schemas.microsoft.com/office/drawing/2014/main" id="{84CD9DED-25C4-254D-9C24-49EDF4099684}"/>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 name="Line 11">
                <a:extLst>
                  <a:ext uri="{FF2B5EF4-FFF2-40B4-BE49-F238E27FC236}">
                    <a16:creationId xmlns:a16="http://schemas.microsoft.com/office/drawing/2014/main" id="{19BE5BB9-F079-8946-B677-5D938EED549C}"/>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52" name="TextBox 351">
              <a:extLst>
                <a:ext uri="{FF2B5EF4-FFF2-40B4-BE49-F238E27FC236}">
                  <a16:creationId xmlns:a16="http://schemas.microsoft.com/office/drawing/2014/main" id="{139E42B7-4839-F645-9742-5335928CEB5A}"/>
                </a:ext>
              </a:extLst>
            </p:cNvPr>
            <p:cNvSpPr txBox="1"/>
            <p:nvPr/>
          </p:nvSpPr>
          <p:spPr>
            <a:xfrm>
              <a:off x="9930575" y="3375838"/>
              <a:ext cx="720372" cy="338554"/>
            </a:xfrm>
            <a:prstGeom prst="rect">
              <a:avLst/>
            </a:prstGeom>
            <a:noFill/>
          </p:spPr>
          <p:txBody>
            <a:bodyPr wrap="square" rtlCol="0">
              <a:spAutoFit/>
            </a:bodyPr>
            <a:lstStyle/>
            <a:p>
              <a:r>
                <a:rPr lang="en-US" sz="1600" dirty="0"/>
                <a:t>10K</a:t>
              </a:r>
              <a:endParaRPr lang="en-US" baseline="-25000" dirty="0"/>
            </a:p>
          </p:txBody>
        </p:sp>
        <p:sp>
          <p:nvSpPr>
            <p:cNvPr id="353" name="Freeform 12">
              <a:extLst>
                <a:ext uri="{FF2B5EF4-FFF2-40B4-BE49-F238E27FC236}">
                  <a16:creationId xmlns:a16="http://schemas.microsoft.com/office/drawing/2014/main" id="{89B92FF3-5792-224C-9B3F-792A1EE31134}"/>
                </a:ext>
              </a:extLst>
            </p:cNvPr>
            <p:cNvSpPr>
              <a:spLocks noChangeAspect="1"/>
            </p:cNvSpPr>
            <p:nvPr/>
          </p:nvSpPr>
          <p:spPr bwMode="auto">
            <a:xfrm rot="5400000">
              <a:off x="7754849" y="1671928"/>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354" name="Group 13">
              <a:extLst>
                <a:ext uri="{FF2B5EF4-FFF2-40B4-BE49-F238E27FC236}">
                  <a16:creationId xmlns:a16="http://schemas.microsoft.com/office/drawing/2014/main" id="{5C594114-EFCC-5347-9B31-2588AEAE1B90}"/>
                </a:ext>
              </a:extLst>
            </p:cNvPr>
            <p:cNvGrpSpPr>
              <a:grpSpLocks noChangeAspect="1"/>
            </p:cNvGrpSpPr>
            <p:nvPr/>
          </p:nvGrpSpPr>
          <p:grpSpPr bwMode="auto">
            <a:xfrm>
              <a:off x="8091098" y="1960836"/>
              <a:ext cx="182880" cy="182880"/>
              <a:chOff x="1344" y="2064"/>
              <a:chExt cx="192" cy="192"/>
            </a:xfrm>
          </p:grpSpPr>
          <p:sp>
            <p:nvSpPr>
              <p:cNvPr id="355" name="Oval 14">
                <a:extLst>
                  <a:ext uri="{FF2B5EF4-FFF2-40B4-BE49-F238E27FC236}">
                    <a16:creationId xmlns:a16="http://schemas.microsoft.com/office/drawing/2014/main" id="{321303DE-6675-784C-AF5B-C36CFAFEBA65}"/>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356" name="Rectangle 15">
                <a:extLst>
                  <a:ext uri="{FF2B5EF4-FFF2-40B4-BE49-F238E27FC236}">
                    <a16:creationId xmlns:a16="http://schemas.microsoft.com/office/drawing/2014/main" id="{3E8A20D7-78E7-8D4E-800C-2923C1D9C3B8}"/>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357" name="Group 210">
              <a:extLst>
                <a:ext uri="{FF2B5EF4-FFF2-40B4-BE49-F238E27FC236}">
                  <a16:creationId xmlns:a16="http://schemas.microsoft.com/office/drawing/2014/main" id="{D384971B-6896-D440-92C4-F616599FF3A7}"/>
                </a:ext>
              </a:extLst>
            </p:cNvPr>
            <p:cNvGrpSpPr>
              <a:grpSpLocks/>
            </p:cNvGrpSpPr>
            <p:nvPr/>
          </p:nvGrpSpPr>
          <p:grpSpPr bwMode="auto">
            <a:xfrm>
              <a:off x="7302190" y="2042810"/>
              <a:ext cx="304800" cy="762000"/>
              <a:chOff x="3216" y="1728"/>
              <a:chExt cx="192" cy="480"/>
            </a:xfrm>
          </p:grpSpPr>
          <p:sp>
            <p:nvSpPr>
              <p:cNvPr id="358" name="Line 8">
                <a:extLst>
                  <a:ext uri="{FF2B5EF4-FFF2-40B4-BE49-F238E27FC236}">
                    <a16:creationId xmlns:a16="http://schemas.microsoft.com/office/drawing/2014/main" id="{E2BED1D1-A0F9-1344-8E6E-13D794272E1E}"/>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 name="Line 9">
                <a:extLst>
                  <a:ext uri="{FF2B5EF4-FFF2-40B4-BE49-F238E27FC236}">
                    <a16:creationId xmlns:a16="http://schemas.microsoft.com/office/drawing/2014/main" id="{BEAE9A82-9886-A948-BEF8-8E27A4BC666F}"/>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0" name="Line 10">
                <a:extLst>
                  <a:ext uri="{FF2B5EF4-FFF2-40B4-BE49-F238E27FC236}">
                    <a16:creationId xmlns:a16="http://schemas.microsoft.com/office/drawing/2014/main" id="{6916E8EB-865C-4F4C-838C-CE4B08CF5A13}"/>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1" name="Line 11">
                <a:extLst>
                  <a:ext uri="{FF2B5EF4-FFF2-40B4-BE49-F238E27FC236}">
                    <a16:creationId xmlns:a16="http://schemas.microsoft.com/office/drawing/2014/main" id="{DA4B1233-AD7D-FE42-A8E4-68765AFACA61}"/>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62" name="Group 220">
              <a:extLst>
                <a:ext uri="{FF2B5EF4-FFF2-40B4-BE49-F238E27FC236}">
                  <a16:creationId xmlns:a16="http://schemas.microsoft.com/office/drawing/2014/main" id="{5ECD0C29-190E-3245-80E0-4DFE939BE170}"/>
                </a:ext>
              </a:extLst>
            </p:cNvPr>
            <p:cNvGrpSpPr>
              <a:grpSpLocks/>
            </p:cNvGrpSpPr>
            <p:nvPr/>
          </p:nvGrpSpPr>
          <p:grpSpPr bwMode="auto">
            <a:xfrm>
              <a:off x="7374450" y="2630366"/>
              <a:ext cx="152400" cy="304800"/>
              <a:chOff x="3264" y="3072"/>
              <a:chExt cx="96" cy="192"/>
            </a:xfrm>
          </p:grpSpPr>
          <p:sp>
            <p:nvSpPr>
              <p:cNvPr id="363" name="Line 17">
                <a:extLst>
                  <a:ext uri="{FF2B5EF4-FFF2-40B4-BE49-F238E27FC236}">
                    <a16:creationId xmlns:a16="http://schemas.microsoft.com/office/drawing/2014/main" id="{145B6BD8-2DD0-0943-94FD-323E33EDD5B3}"/>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4" name="Freeform 18">
                <a:extLst>
                  <a:ext uri="{FF2B5EF4-FFF2-40B4-BE49-F238E27FC236}">
                    <a16:creationId xmlns:a16="http://schemas.microsoft.com/office/drawing/2014/main" id="{5593BAC8-85ED-1A44-9877-D297172B178D}"/>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365" name="TextBox 364">
              <a:extLst>
                <a:ext uri="{FF2B5EF4-FFF2-40B4-BE49-F238E27FC236}">
                  <a16:creationId xmlns:a16="http://schemas.microsoft.com/office/drawing/2014/main" id="{FB86CB59-399E-E849-BBF9-9BED586E7CBF}"/>
                </a:ext>
              </a:extLst>
            </p:cNvPr>
            <p:cNvSpPr txBox="1"/>
            <p:nvPr/>
          </p:nvSpPr>
          <p:spPr>
            <a:xfrm>
              <a:off x="7196445" y="1608009"/>
              <a:ext cx="1138458" cy="338554"/>
            </a:xfrm>
            <a:prstGeom prst="rect">
              <a:avLst/>
            </a:prstGeom>
            <a:noFill/>
          </p:spPr>
          <p:txBody>
            <a:bodyPr wrap="square" rtlCol="0">
              <a:spAutoFit/>
            </a:bodyPr>
            <a:lstStyle/>
            <a:p>
              <a:r>
                <a:rPr lang="en-US" sz="1600" dirty="0"/>
                <a:t>R</a:t>
              </a:r>
              <a:r>
                <a:rPr lang="en-US" sz="1600" baseline="-25000" dirty="0"/>
                <a:t>1</a:t>
              </a:r>
              <a:r>
                <a:rPr lang="en-US" sz="1600" dirty="0"/>
                <a:t>=100K</a:t>
              </a:r>
              <a:endParaRPr lang="en-US" baseline="-25000" dirty="0"/>
            </a:p>
          </p:txBody>
        </p:sp>
        <p:sp>
          <p:nvSpPr>
            <p:cNvPr id="366" name="Freeform 12">
              <a:extLst>
                <a:ext uri="{FF2B5EF4-FFF2-40B4-BE49-F238E27FC236}">
                  <a16:creationId xmlns:a16="http://schemas.microsoft.com/office/drawing/2014/main" id="{B136B228-95DA-1F48-9F36-BDB6A2187F26}"/>
                </a:ext>
              </a:extLst>
            </p:cNvPr>
            <p:cNvSpPr>
              <a:spLocks noChangeAspect="1"/>
            </p:cNvSpPr>
            <p:nvPr/>
          </p:nvSpPr>
          <p:spPr bwMode="auto">
            <a:xfrm rot="5400000">
              <a:off x="8516845" y="4274445"/>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367" name="Group 13">
              <a:extLst>
                <a:ext uri="{FF2B5EF4-FFF2-40B4-BE49-F238E27FC236}">
                  <a16:creationId xmlns:a16="http://schemas.microsoft.com/office/drawing/2014/main" id="{973C5666-92F2-844F-8CE3-2F02966D6190}"/>
                </a:ext>
              </a:extLst>
            </p:cNvPr>
            <p:cNvGrpSpPr>
              <a:grpSpLocks noChangeAspect="1"/>
            </p:cNvGrpSpPr>
            <p:nvPr/>
          </p:nvGrpSpPr>
          <p:grpSpPr bwMode="auto">
            <a:xfrm>
              <a:off x="8923432" y="4563354"/>
              <a:ext cx="182880" cy="182880"/>
              <a:chOff x="1344" y="2064"/>
              <a:chExt cx="192" cy="192"/>
            </a:xfrm>
          </p:grpSpPr>
          <p:sp>
            <p:nvSpPr>
              <p:cNvPr id="368" name="Oval 14">
                <a:extLst>
                  <a:ext uri="{FF2B5EF4-FFF2-40B4-BE49-F238E27FC236}">
                    <a16:creationId xmlns:a16="http://schemas.microsoft.com/office/drawing/2014/main" id="{78E79DC6-D65F-F543-8F13-E966B746386C}"/>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369" name="Rectangle 15">
                <a:extLst>
                  <a:ext uri="{FF2B5EF4-FFF2-40B4-BE49-F238E27FC236}">
                    <a16:creationId xmlns:a16="http://schemas.microsoft.com/office/drawing/2014/main" id="{9D96E27F-35B4-424B-B6FF-B1236B0FC9FA}"/>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370" name="TextBox 369">
              <a:extLst>
                <a:ext uri="{FF2B5EF4-FFF2-40B4-BE49-F238E27FC236}">
                  <a16:creationId xmlns:a16="http://schemas.microsoft.com/office/drawing/2014/main" id="{385B172C-76C5-284D-A1D9-42491C1DDDD9}"/>
                </a:ext>
              </a:extLst>
            </p:cNvPr>
            <p:cNvSpPr txBox="1"/>
            <p:nvPr/>
          </p:nvSpPr>
          <p:spPr>
            <a:xfrm>
              <a:off x="7636762" y="4070157"/>
              <a:ext cx="720372" cy="338554"/>
            </a:xfrm>
            <a:prstGeom prst="rect">
              <a:avLst/>
            </a:prstGeom>
            <a:noFill/>
          </p:spPr>
          <p:txBody>
            <a:bodyPr wrap="square" rtlCol="0">
              <a:spAutoFit/>
            </a:bodyPr>
            <a:lstStyle/>
            <a:p>
              <a:r>
                <a:rPr lang="en-US" sz="1600" dirty="0"/>
                <a:t>1M</a:t>
              </a:r>
              <a:endParaRPr lang="en-US" baseline="-25000" dirty="0"/>
            </a:p>
          </p:txBody>
        </p:sp>
        <p:sp>
          <p:nvSpPr>
            <p:cNvPr id="371" name="TextBox 370">
              <a:extLst>
                <a:ext uri="{FF2B5EF4-FFF2-40B4-BE49-F238E27FC236}">
                  <a16:creationId xmlns:a16="http://schemas.microsoft.com/office/drawing/2014/main" id="{911BCDA1-AFE6-0A42-8035-1364BBB7D17F}"/>
                </a:ext>
              </a:extLst>
            </p:cNvPr>
            <p:cNvSpPr txBox="1"/>
            <p:nvPr/>
          </p:nvSpPr>
          <p:spPr>
            <a:xfrm>
              <a:off x="8407297" y="4248498"/>
              <a:ext cx="720372" cy="338554"/>
            </a:xfrm>
            <a:prstGeom prst="rect">
              <a:avLst/>
            </a:prstGeom>
            <a:noFill/>
          </p:spPr>
          <p:txBody>
            <a:bodyPr wrap="square" rtlCol="0">
              <a:spAutoFit/>
            </a:bodyPr>
            <a:lstStyle/>
            <a:p>
              <a:r>
                <a:rPr lang="en-US" sz="1600" dirty="0"/>
                <a:t>100K</a:t>
              </a:r>
              <a:endParaRPr lang="en-US" baseline="-25000" dirty="0"/>
            </a:p>
          </p:txBody>
        </p:sp>
        <p:sp>
          <p:nvSpPr>
            <p:cNvPr id="372" name="TextBox 371">
              <a:extLst>
                <a:ext uri="{FF2B5EF4-FFF2-40B4-BE49-F238E27FC236}">
                  <a16:creationId xmlns:a16="http://schemas.microsoft.com/office/drawing/2014/main" id="{81B16980-AAA5-D543-8790-84E093AED569}"/>
                </a:ext>
              </a:extLst>
            </p:cNvPr>
            <p:cNvSpPr txBox="1"/>
            <p:nvPr/>
          </p:nvSpPr>
          <p:spPr>
            <a:xfrm>
              <a:off x="8945132" y="4622878"/>
              <a:ext cx="397473" cy="338554"/>
            </a:xfrm>
            <a:prstGeom prst="rect">
              <a:avLst/>
            </a:prstGeom>
            <a:noFill/>
          </p:spPr>
          <p:txBody>
            <a:bodyPr wrap="square" rtlCol="0">
              <a:spAutoFit/>
            </a:bodyPr>
            <a:lstStyle/>
            <a:p>
              <a:r>
                <a:rPr lang="en-US" sz="1600" dirty="0" err="1"/>
                <a:t>V</a:t>
              </a:r>
              <a:r>
                <a:rPr lang="en-US" sz="1600" baseline="-25000" dirty="0" err="1"/>
                <a:t>c</a:t>
              </a:r>
              <a:endParaRPr lang="en-US" baseline="-25000" dirty="0"/>
            </a:p>
          </p:txBody>
        </p:sp>
        <p:sp>
          <p:nvSpPr>
            <p:cNvPr id="373" name="TextBox 372">
              <a:extLst>
                <a:ext uri="{FF2B5EF4-FFF2-40B4-BE49-F238E27FC236}">
                  <a16:creationId xmlns:a16="http://schemas.microsoft.com/office/drawing/2014/main" id="{A6B34C62-DEFB-294C-81A2-AFBA41411EED}"/>
                </a:ext>
              </a:extLst>
            </p:cNvPr>
            <p:cNvSpPr txBox="1"/>
            <p:nvPr/>
          </p:nvSpPr>
          <p:spPr>
            <a:xfrm>
              <a:off x="6656914" y="2242942"/>
              <a:ext cx="720372" cy="338554"/>
            </a:xfrm>
            <a:prstGeom prst="rect">
              <a:avLst/>
            </a:prstGeom>
            <a:noFill/>
          </p:spPr>
          <p:txBody>
            <a:bodyPr wrap="square" rtlCol="0">
              <a:spAutoFit/>
            </a:bodyPr>
            <a:lstStyle/>
            <a:p>
              <a:r>
                <a:rPr lang="en-US" sz="1600" dirty="0"/>
                <a:t>.1uF</a:t>
              </a:r>
              <a:endParaRPr lang="en-US" baseline="-25000" dirty="0"/>
            </a:p>
          </p:txBody>
        </p:sp>
        <p:grpSp>
          <p:nvGrpSpPr>
            <p:cNvPr id="374" name="Group 13">
              <a:extLst>
                <a:ext uri="{FF2B5EF4-FFF2-40B4-BE49-F238E27FC236}">
                  <a16:creationId xmlns:a16="http://schemas.microsoft.com/office/drawing/2014/main" id="{ECDBA12C-D57B-2144-9FB3-7B2BD95D0591}"/>
                </a:ext>
              </a:extLst>
            </p:cNvPr>
            <p:cNvGrpSpPr>
              <a:grpSpLocks noChangeAspect="1"/>
            </p:cNvGrpSpPr>
            <p:nvPr/>
          </p:nvGrpSpPr>
          <p:grpSpPr bwMode="auto">
            <a:xfrm>
              <a:off x="8126266" y="4563355"/>
              <a:ext cx="182880" cy="182880"/>
              <a:chOff x="1344" y="2064"/>
              <a:chExt cx="192" cy="192"/>
            </a:xfrm>
          </p:grpSpPr>
          <p:sp>
            <p:nvSpPr>
              <p:cNvPr id="375" name="Oval 14">
                <a:extLst>
                  <a:ext uri="{FF2B5EF4-FFF2-40B4-BE49-F238E27FC236}">
                    <a16:creationId xmlns:a16="http://schemas.microsoft.com/office/drawing/2014/main" id="{61A835B2-EC2B-684E-BBCC-B868FD66A203}"/>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376" name="Rectangle 15">
                <a:extLst>
                  <a:ext uri="{FF2B5EF4-FFF2-40B4-BE49-F238E27FC236}">
                    <a16:creationId xmlns:a16="http://schemas.microsoft.com/office/drawing/2014/main" id="{7E7E2DB8-026E-9A43-859E-9B3DFFFA7094}"/>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377" name="Freeform 12">
              <a:extLst>
                <a:ext uri="{FF2B5EF4-FFF2-40B4-BE49-F238E27FC236}">
                  <a16:creationId xmlns:a16="http://schemas.microsoft.com/office/drawing/2014/main" id="{2CABCC91-DB4A-C64A-BA60-FEFBE93B08EC}"/>
                </a:ext>
              </a:extLst>
            </p:cNvPr>
            <p:cNvSpPr>
              <a:spLocks noChangeAspect="1"/>
            </p:cNvSpPr>
            <p:nvPr/>
          </p:nvSpPr>
          <p:spPr bwMode="auto">
            <a:xfrm>
              <a:off x="7505208" y="4653988"/>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378" name="Group 220">
              <a:extLst>
                <a:ext uri="{FF2B5EF4-FFF2-40B4-BE49-F238E27FC236}">
                  <a16:creationId xmlns:a16="http://schemas.microsoft.com/office/drawing/2014/main" id="{3971BE48-ECC6-4A40-A031-1C18750C2861}"/>
                </a:ext>
              </a:extLst>
            </p:cNvPr>
            <p:cNvGrpSpPr>
              <a:grpSpLocks/>
            </p:cNvGrpSpPr>
            <p:nvPr/>
          </p:nvGrpSpPr>
          <p:grpSpPr bwMode="auto">
            <a:xfrm>
              <a:off x="7511169" y="5345854"/>
              <a:ext cx="152400" cy="304800"/>
              <a:chOff x="3264" y="3072"/>
              <a:chExt cx="96" cy="192"/>
            </a:xfrm>
          </p:grpSpPr>
          <p:sp>
            <p:nvSpPr>
              <p:cNvPr id="379" name="Line 17">
                <a:extLst>
                  <a:ext uri="{FF2B5EF4-FFF2-40B4-BE49-F238E27FC236}">
                    <a16:creationId xmlns:a16="http://schemas.microsoft.com/office/drawing/2014/main" id="{D4BECCCA-7048-BD4C-9A81-6C4E440DB064}"/>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 name="Freeform 18">
                <a:extLst>
                  <a:ext uri="{FF2B5EF4-FFF2-40B4-BE49-F238E27FC236}">
                    <a16:creationId xmlns:a16="http://schemas.microsoft.com/office/drawing/2014/main" id="{B93B01DF-97F7-4645-94F2-2E5CB18E6240}"/>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cxnSp>
          <p:nvCxnSpPr>
            <p:cNvPr id="381" name="Straight Connector 380">
              <a:extLst>
                <a:ext uri="{FF2B5EF4-FFF2-40B4-BE49-F238E27FC236}">
                  <a16:creationId xmlns:a16="http://schemas.microsoft.com/office/drawing/2014/main" id="{B18F1A0E-DA58-DF48-81F8-44126C146140}"/>
                </a:ext>
              </a:extLst>
            </p:cNvPr>
            <p:cNvCxnSpPr>
              <a:cxnSpLocks/>
            </p:cNvCxnSpPr>
            <p:nvPr/>
          </p:nvCxnSpPr>
          <p:spPr>
            <a:xfrm flipH="1">
              <a:off x="7573139" y="4661233"/>
              <a:ext cx="63018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82" name="TextBox 381">
              <a:extLst>
                <a:ext uri="{FF2B5EF4-FFF2-40B4-BE49-F238E27FC236}">
                  <a16:creationId xmlns:a16="http://schemas.microsoft.com/office/drawing/2014/main" id="{9ADFFBFF-E821-144F-AF79-D4F553F7A248}"/>
                </a:ext>
              </a:extLst>
            </p:cNvPr>
            <p:cNvSpPr txBox="1"/>
            <p:nvPr/>
          </p:nvSpPr>
          <p:spPr>
            <a:xfrm>
              <a:off x="6885277" y="4923413"/>
              <a:ext cx="720372" cy="338554"/>
            </a:xfrm>
            <a:prstGeom prst="rect">
              <a:avLst/>
            </a:prstGeom>
            <a:noFill/>
          </p:spPr>
          <p:txBody>
            <a:bodyPr wrap="square" rtlCol="0">
              <a:spAutoFit/>
            </a:bodyPr>
            <a:lstStyle/>
            <a:p>
              <a:r>
                <a:rPr lang="en-US" sz="1600" dirty="0"/>
                <a:t>100K</a:t>
              </a:r>
              <a:endParaRPr lang="en-US" baseline="-25000" dirty="0"/>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EE4891F5-5C0B-B54D-95C4-CAB207CE174A}"/>
                    </a:ext>
                  </a:extLst>
                </p:cNvPr>
                <p:cNvSpPr txBox="1"/>
                <p:nvPr/>
              </p:nvSpPr>
              <p:spPr>
                <a:xfrm>
                  <a:off x="9028653" y="4051133"/>
                  <a:ext cx="1671419" cy="656205"/>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𝑣</m:t>
                            </m:r>
                          </m:sub>
                        </m:sSub>
                        <m:r>
                          <a:rPr lang="en-US" b="0" i="1" smtClean="0">
                            <a:latin typeface="Cambria Math" panose="02040503050406030204" pitchFamily="18" charset="0"/>
                          </a:rPr>
                          <m:t>=1+</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den>
                        </m:f>
                      </m:oMath>
                    </m:oMathPara>
                  </a14:m>
                  <a:endParaRPr lang="en-US" dirty="0"/>
                </a:p>
              </p:txBody>
            </p:sp>
          </mc:Choice>
          <mc:Fallback xmlns="">
            <p:sp>
              <p:nvSpPr>
                <p:cNvPr id="26" name="TextBox 25">
                  <a:extLst>
                    <a:ext uri="{FF2B5EF4-FFF2-40B4-BE49-F238E27FC236}">
                      <a16:creationId xmlns:a16="http://schemas.microsoft.com/office/drawing/2014/main" id="{EE4891F5-5C0B-B54D-95C4-CAB207CE174A}"/>
                    </a:ext>
                  </a:extLst>
                </p:cNvPr>
                <p:cNvSpPr txBox="1">
                  <a:spLocks noRot="1" noChangeAspect="1" noMove="1" noResize="1" noEditPoints="1" noAdjustHandles="1" noChangeArrowheads="1" noChangeShapeType="1" noTextEdit="1"/>
                </p:cNvSpPr>
                <p:nvPr/>
              </p:nvSpPr>
              <p:spPr>
                <a:xfrm>
                  <a:off x="9028653" y="4051133"/>
                  <a:ext cx="1671419" cy="656205"/>
                </a:xfrm>
                <a:prstGeom prst="rect">
                  <a:avLst/>
                </a:prstGeom>
                <a:blipFill>
                  <a:blip r:embed="rId2"/>
                  <a:stretch>
                    <a:fillRect/>
                  </a:stretch>
                </a:blipFill>
              </p:spPr>
              <p:txBody>
                <a:bodyPr/>
                <a:lstStyle/>
                <a:p>
                  <a:r>
                    <a:rPr lang="en-US">
                      <a:noFill/>
                    </a:rPr>
                    <a:t> </a:t>
                  </a:r>
                </a:p>
              </p:txBody>
            </p:sp>
          </mc:Fallback>
        </mc:AlternateContent>
      </p:grpSp>
      <p:grpSp>
        <p:nvGrpSpPr>
          <p:cNvPr id="27" name="Group 26">
            <a:extLst>
              <a:ext uri="{FF2B5EF4-FFF2-40B4-BE49-F238E27FC236}">
                <a16:creationId xmlns:a16="http://schemas.microsoft.com/office/drawing/2014/main" id="{3DBFE89D-183B-E34B-9893-046DF0687CAD}"/>
              </a:ext>
            </a:extLst>
          </p:cNvPr>
          <p:cNvGrpSpPr/>
          <p:nvPr/>
        </p:nvGrpSpPr>
        <p:grpSpPr>
          <a:xfrm>
            <a:off x="881160" y="1770354"/>
            <a:ext cx="4496818" cy="3669742"/>
            <a:chOff x="47508" y="2182106"/>
            <a:chExt cx="4496818" cy="3669742"/>
          </a:xfrm>
        </p:grpSpPr>
        <p:grpSp>
          <p:nvGrpSpPr>
            <p:cNvPr id="119" name="Group 39">
              <a:extLst>
                <a:ext uri="{FF2B5EF4-FFF2-40B4-BE49-F238E27FC236}">
                  <a16:creationId xmlns:a16="http://schemas.microsoft.com/office/drawing/2014/main" id="{910CA315-A32B-A549-9700-5C01DD078B15}"/>
                </a:ext>
              </a:extLst>
            </p:cNvPr>
            <p:cNvGrpSpPr>
              <a:grpSpLocks/>
            </p:cNvGrpSpPr>
            <p:nvPr/>
          </p:nvGrpSpPr>
          <p:grpSpPr bwMode="auto">
            <a:xfrm>
              <a:off x="2096707" y="2919799"/>
              <a:ext cx="1676400" cy="1371600"/>
              <a:chOff x="2496" y="1968"/>
              <a:chExt cx="1056" cy="864"/>
            </a:xfrm>
          </p:grpSpPr>
          <p:sp>
            <p:nvSpPr>
              <p:cNvPr id="123" name="Line 40">
                <a:extLst>
                  <a:ext uri="{FF2B5EF4-FFF2-40B4-BE49-F238E27FC236}">
                    <a16:creationId xmlns:a16="http://schemas.microsoft.com/office/drawing/2014/main" id="{6806CE39-12E8-8A4E-A028-B2FFC985EE6E}"/>
                  </a:ext>
                </a:extLst>
              </p:cNvPr>
              <p:cNvSpPr>
                <a:spLocks noChangeShapeType="1"/>
              </p:cNvSpPr>
              <p:nvPr/>
            </p:nvSpPr>
            <p:spPr bwMode="auto">
              <a:xfrm>
                <a:off x="2496" y="216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 name="Line 41">
                <a:extLst>
                  <a:ext uri="{FF2B5EF4-FFF2-40B4-BE49-F238E27FC236}">
                    <a16:creationId xmlns:a16="http://schemas.microsoft.com/office/drawing/2014/main" id="{4DFB0A70-4AF3-C847-8B1A-5014587A969F}"/>
                  </a:ext>
                </a:extLst>
              </p:cNvPr>
              <p:cNvSpPr>
                <a:spLocks noChangeShapeType="1"/>
              </p:cNvSpPr>
              <p:nvPr/>
            </p:nvSpPr>
            <p:spPr bwMode="auto">
              <a:xfrm>
                <a:off x="2496" y="264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 name="Line 42">
                <a:extLst>
                  <a:ext uri="{FF2B5EF4-FFF2-40B4-BE49-F238E27FC236}">
                    <a16:creationId xmlns:a16="http://schemas.microsoft.com/office/drawing/2014/main" id="{C3EF8FD0-55CC-6C4B-B1CA-C83A782EC40C}"/>
                  </a:ext>
                </a:extLst>
              </p:cNvPr>
              <p:cNvSpPr>
                <a:spLocks noChangeShapeType="1"/>
              </p:cNvSpPr>
              <p:nvPr/>
            </p:nvSpPr>
            <p:spPr bwMode="auto">
              <a:xfrm>
                <a:off x="3360" y="240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 name="Freeform 43">
                <a:extLst>
                  <a:ext uri="{FF2B5EF4-FFF2-40B4-BE49-F238E27FC236}">
                    <a16:creationId xmlns:a16="http://schemas.microsoft.com/office/drawing/2014/main" id="{9ABBB442-AE8F-EA45-A73B-394D3098B98F}"/>
                  </a:ext>
                </a:extLst>
              </p:cNvPr>
              <p:cNvSpPr>
                <a:spLocks/>
              </p:cNvSpPr>
              <p:nvPr/>
            </p:nvSpPr>
            <p:spPr bwMode="auto">
              <a:xfrm>
                <a:off x="2688" y="1968"/>
                <a:ext cx="672" cy="864"/>
              </a:xfrm>
              <a:custGeom>
                <a:avLst/>
                <a:gdLst>
                  <a:gd name="T0" fmla="*/ 6120 w 432"/>
                  <a:gd name="T1" fmla="*/ 779 h 768"/>
                  <a:gd name="T2" fmla="*/ 0 w 432"/>
                  <a:gd name="T3" fmla="*/ 1558 h 768"/>
                  <a:gd name="T4" fmla="*/ 0 w 432"/>
                  <a:gd name="T5" fmla="*/ 0 h 768"/>
                  <a:gd name="T6" fmla="*/ 6120 w 432"/>
                  <a:gd name="T7" fmla="*/ 779 h 768"/>
                  <a:gd name="T8" fmla="*/ 0 60000 65536"/>
                  <a:gd name="T9" fmla="*/ 0 60000 65536"/>
                  <a:gd name="T10" fmla="*/ 0 60000 65536"/>
                  <a:gd name="T11" fmla="*/ 0 60000 65536"/>
                  <a:gd name="T12" fmla="*/ 0 w 432"/>
                  <a:gd name="T13" fmla="*/ 0 h 768"/>
                  <a:gd name="T14" fmla="*/ 432 w 432"/>
                  <a:gd name="T15" fmla="*/ 768 h 768"/>
                </a:gdLst>
                <a:ahLst/>
                <a:cxnLst>
                  <a:cxn ang="T8">
                    <a:pos x="T0" y="T1"/>
                  </a:cxn>
                  <a:cxn ang="T9">
                    <a:pos x="T2" y="T3"/>
                  </a:cxn>
                  <a:cxn ang="T10">
                    <a:pos x="T4" y="T5"/>
                  </a:cxn>
                  <a:cxn ang="T11">
                    <a:pos x="T6" y="T7"/>
                  </a:cxn>
                </a:cxnLst>
                <a:rect l="T12" t="T13" r="T14" b="T15"/>
                <a:pathLst>
                  <a:path w="432" h="768">
                    <a:moveTo>
                      <a:pt x="432" y="384"/>
                    </a:moveTo>
                    <a:lnTo>
                      <a:pt x="0" y="768"/>
                    </a:lnTo>
                    <a:lnTo>
                      <a:pt x="0" y="0"/>
                    </a:lnTo>
                    <a:lnTo>
                      <a:pt x="432" y="38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grpSp>
        <p:sp>
          <p:nvSpPr>
            <p:cNvPr id="151" name="Freeform 12">
              <a:extLst>
                <a:ext uri="{FF2B5EF4-FFF2-40B4-BE49-F238E27FC236}">
                  <a16:creationId xmlns:a16="http://schemas.microsoft.com/office/drawing/2014/main" id="{9F3CDE0F-68EF-7046-ADF9-E55354A7F820}"/>
                </a:ext>
              </a:extLst>
            </p:cNvPr>
            <p:cNvSpPr>
              <a:spLocks noChangeAspect="1"/>
            </p:cNvSpPr>
            <p:nvPr/>
          </p:nvSpPr>
          <p:spPr bwMode="auto">
            <a:xfrm>
              <a:off x="3559592" y="3613859"/>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 name="TextBox 3">
              <a:extLst>
                <a:ext uri="{FF2B5EF4-FFF2-40B4-BE49-F238E27FC236}">
                  <a16:creationId xmlns:a16="http://schemas.microsoft.com/office/drawing/2014/main" id="{4033ED9C-56D7-0848-A031-F855E9F57FAB}"/>
                </a:ext>
              </a:extLst>
            </p:cNvPr>
            <p:cNvSpPr txBox="1"/>
            <p:nvPr/>
          </p:nvSpPr>
          <p:spPr>
            <a:xfrm flipH="1">
              <a:off x="2398754" y="3771168"/>
              <a:ext cx="439757" cy="369332"/>
            </a:xfrm>
            <a:prstGeom prst="rect">
              <a:avLst/>
            </a:prstGeom>
            <a:noFill/>
          </p:spPr>
          <p:txBody>
            <a:bodyPr wrap="square" rtlCol="0">
              <a:spAutoFit/>
            </a:bodyPr>
            <a:lstStyle/>
            <a:p>
              <a:r>
                <a:rPr lang="en-US" dirty="0"/>
                <a:t>+</a:t>
              </a:r>
            </a:p>
          </p:txBody>
        </p:sp>
        <p:sp>
          <p:nvSpPr>
            <p:cNvPr id="152" name="TextBox 151">
              <a:extLst>
                <a:ext uri="{FF2B5EF4-FFF2-40B4-BE49-F238E27FC236}">
                  <a16:creationId xmlns:a16="http://schemas.microsoft.com/office/drawing/2014/main" id="{6BBE6D44-80B8-3747-8922-0495DB25CA49}"/>
                </a:ext>
              </a:extLst>
            </p:cNvPr>
            <p:cNvSpPr txBox="1"/>
            <p:nvPr/>
          </p:nvSpPr>
          <p:spPr>
            <a:xfrm flipH="1">
              <a:off x="2440984" y="3031201"/>
              <a:ext cx="439757" cy="369332"/>
            </a:xfrm>
            <a:prstGeom prst="rect">
              <a:avLst/>
            </a:prstGeom>
            <a:noFill/>
          </p:spPr>
          <p:txBody>
            <a:bodyPr wrap="square" rtlCol="0">
              <a:spAutoFit/>
            </a:bodyPr>
            <a:lstStyle/>
            <a:p>
              <a:r>
                <a:rPr lang="en-US" dirty="0"/>
                <a:t>-</a:t>
              </a:r>
            </a:p>
          </p:txBody>
        </p:sp>
        <p:sp>
          <p:nvSpPr>
            <p:cNvPr id="153" name="Freeform 12">
              <a:extLst>
                <a:ext uri="{FF2B5EF4-FFF2-40B4-BE49-F238E27FC236}">
                  <a16:creationId xmlns:a16="http://schemas.microsoft.com/office/drawing/2014/main" id="{F5D394A2-DB17-A04C-B32E-98062C637C60}"/>
                </a:ext>
              </a:extLst>
            </p:cNvPr>
            <p:cNvSpPr>
              <a:spLocks noChangeAspect="1"/>
            </p:cNvSpPr>
            <p:nvPr/>
          </p:nvSpPr>
          <p:spPr bwMode="auto">
            <a:xfrm>
              <a:off x="2033754" y="4495304"/>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54" name="Group 220">
              <a:extLst>
                <a:ext uri="{FF2B5EF4-FFF2-40B4-BE49-F238E27FC236}">
                  <a16:creationId xmlns:a16="http://schemas.microsoft.com/office/drawing/2014/main" id="{E1659353-3F2A-F94F-9A4E-96CDAE1F9BCD}"/>
                </a:ext>
              </a:extLst>
            </p:cNvPr>
            <p:cNvGrpSpPr>
              <a:grpSpLocks/>
            </p:cNvGrpSpPr>
            <p:nvPr/>
          </p:nvGrpSpPr>
          <p:grpSpPr bwMode="auto">
            <a:xfrm>
              <a:off x="2029838" y="5126337"/>
              <a:ext cx="152400" cy="304800"/>
              <a:chOff x="3264" y="3072"/>
              <a:chExt cx="96" cy="192"/>
            </a:xfrm>
          </p:grpSpPr>
          <p:sp>
            <p:nvSpPr>
              <p:cNvPr id="155" name="Line 17">
                <a:extLst>
                  <a:ext uri="{FF2B5EF4-FFF2-40B4-BE49-F238E27FC236}">
                    <a16:creationId xmlns:a16="http://schemas.microsoft.com/office/drawing/2014/main" id="{82A0D72E-C1B4-2F48-BEE6-AA2640F3DCEF}"/>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 name="Freeform 18">
                <a:extLst>
                  <a:ext uri="{FF2B5EF4-FFF2-40B4-BE49-F238E27FC236}">
                    <a16:creationId xmlns:a16="http://schemas.microsoft.com/office/drawing/2014/main" id="{5DD5672D-C66A-E44C-B088-BEA7F5499951}"/>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7" name="TextBox 6">
              <a:extLst>
                <a:ext uri="{FF2B5EF4-FFF2-40B4-BE49-F238E27FC236}">
                  <a16:creationId xmlns:a16="http://schemas.microsoft.com/office/drawing/2014/main" id="{76C015CA-237F-A849-9EE0-314B90B2D45F}"/>
                </a:ext>
              </a:extLst>
            </p:cNvPr>
            <p:cNvSpPr txBox="1"/>
            <p:nvPr/>
          </p:nvSpPr>
          <p:spPr>
            <a:xfrm>
              <a:off x="2991620" y="3914060"/>
              <a:ext cx="720372" cy="338554"/>
            </a:xfrm>
            <a:prstGeom prst="rect">
              <a:avLst/>
            </a:prstGeom>
            <a:noFill/>
          </p:spPr>
          <p:txBody>
            <a:bodyPr wrap="square" rtlCol="0">
              <a:spAutoFit/>
            </a:bodyPr>
            <a:lstStyle/>
            <a:p>
              <a:r>
                <a:rPr lang="en-US" sz="1600" dirty="0"/>
                <a:t>6.2K</a:t>
              </a:r>
              <a:endParaRPr lang="en-US" baseline="-25000" dirty="0"/>
            </a:p>
          </p:txBody>
        </p:sp>
        <p:cxnSp>
          <p:nvCxnSpPr>
            <p:cNvPr id="10" name="Straight Connector 9">
              <a:extLst>
                <a:ext uri="{FF2B5EF4-FFF2-40B4-BE49-F238E27FC236}">
                  <a16:creationId xmlns:a16="http://schemas.microsoft.com/office/drawing/2014/main" id="{0103FC3C-886A-0C4B-BB28-A7295BB97192}"/>
                </a:ext>
              </a:extLst>
            </p:cNvPr>
            <p:cNvCxnSpPr>
              <a:cxnSpLocks/>
            </p:cNvCxnSpPr>
            <p:nvPr/>
          </p:nvCxnSpPr>
          <p:spPr>
            <a:xfrm>
              <a:off x="2067938" y="4532215"/>
              <a:ext cx="55069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27A90A03-1271-CA47-8997-6C85FED96F19}"/>
                </a:ext>
              </a:extLst>
            </p:cNvPr>
            <p:cNvCxnSpPr>
              <a:cxnSpLocks/>
            </p:cNvCxnSpPr>
            <p:nvPr/>
          </p:nvCxnSpPr>
          <p:spPr>
            <a:xfrm flipV="1">
              <a:off x="2106038" y="3986601"/>
              <a:ext cx="0" cy="5497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2" name="Group 13">
              <a:extLst>
                <a:ext uri="{FF2B5EF4-FFF2-40B4-BE49-F238E27FC236}">
                  <a16:creationId xmlns:a16="http://schemas.microsoft.com/office/drawing/2014/main" id="{552B6F2E-0231-B540-9741-08657CCD5614}"/>
                </a:ext>
              </a:extLst>
            </p:cNvPr>
            <p:cNvGrpSpPr>
              <a:grpSpLocks noChangeAspect="1"/>
            </p:cNvGrpSpPr>
            <p:nvPr/>
          </p:nvGrpSpPr>
          <p:grpSpPr bwMode="auto">
            <a:xfrm>
              <a:off x="2029838" y="3917547"/>
              <a:ext cx="152400" cy="152400"/>
              <a:chOff x="1344" y="2064"/>
              <a:chExt cx="192" cy="192"/>
            </a:xfrm>
          </p:grpSpPr>
          <p:sp>
            <p:nvSpPr>
              <p:cNvPr id="163" name="Oval 14">
                <a:extLst>
                  <a:ext uri="{FF2B5EF4-FFF2-40B4-BE49-F238E27FC236}">
                    <a16:creationId xmlns:a16="http://schemas.microsoft.com/office/drawing/2014/main" id="{21AEE6BA-8A78-8246-98F6-9B15ABB210C1}"/>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64" name="Rectangle 15">
                <a:extLst>
                  <a:ext uri="{FF2B5EF4-FFF2-40B4-BE49-F238E27FC236}">
                    <a16:creationId xmlns:a16="http://schemas.microsoft.com/office/drawing/2014/main" id="{2E63C5B7-83B2-6D44-B0A7-2463465EF981}"/>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65" name="Group 13">
              <a:extLst>
                <a:ext uri="{FF2B5EF4-FFF2-40B4-BE49-F238E27FC236}">
                  <a16:creationId xmlns:a16="http://schemas.microsoft.com/office/drawing/2014/main" id="{B5475CC6-954F-844D-9C9A-2F06C4BECFC7}"/>
                </a:ext>
              </a:extLst>
            </p:cNvPr>
            <p:cNvGrpSpPr>
              <a:grpSpLocks noChangeAspect="1"/>
            </p:cNvGrpSpPr>
            <p:nvPr/>
          </p:nvGrpSpPr>
          <p:grpSpPr bwMode="auto">
            <a:xfrm>
              <a:off x="2029838" y="4450352"/>
              <a:ext cx="152400" cy="152400"/>
              <a:chOff x="1344" y="2064"/>
              <a:chExt cx="192" cy="192"/>
            </a:xfrm>
          </p:grpSpPr>
          <p:sp>
            <p:nvSpPr>
              <p:cNvPr id="166" name="Oval 14">
                <a:extLst>
                  <a:ext uri="{FF2B5EF4-FFF2-40B4-BE49-F238E27FC236}">
                    <a16:creationId xmlns:a16="http://schemas.microsoft.com/office/drawing/2014/main" id="{397C7A1C-CF34-924F-A4D1-ACEBE73735CA}"/>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67" name="Rectangle 15">
                <a:extLst>
                  <a:ext uri="{FF2B5EF4-FFF2-40B4-BE49-F238E27FC236}">
                    <a16:creationId xmlns:a16="http://schemas.microsoft.com/office/drawing/2014/main" id="{78492618-0AF8-F640-9AC6-2FC58E17B06D}"/>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74" name="Group 13">
              <a:extLst>
                <a:ext uri="{FF2B5EF4-FFF2-40B4-BE49-F238E27FC236}">
                  <a16:creationId xmlns:a16="http://schemas.microsoft.com/office/drawing/2014/main" id="{7B886215-07D3-AC4A-A9CC-0AE2F7683249}"/>
                </a:ext>
              </a:extLst>
            </p:cNvPr>
            <p:cNvGrpSpPr>
              <a:grpSpLocks noChangeAspect="1"/>
            </p:cNvGrpSpPr>
            <p:nvPr/>
          </p:nvGrpSpPr>
          <p:grpSpPr bwMode="auto">
            <a:xfrm>
              <a:off x="1327900" y="3915862"/>
              <a:ext cx="152400" cy="152400"/>
              <a:chOff x="1344" y="2064"/>
              <a:chExt cx="192" cy="192"/>
            </a:xfrm>
          </p:grpSpPr>
          <p:sp>
            <p:nvSpPr>
              <p:cNvPr id="175" name="Oval 14">
                <a:extLst>
                  <a:ext uri="{FF2B5EF4-FFF2-40B4-BE49-F238E27FC236}">
                    <a16:creationId xmlns:a16="http://schemas.microsoft.com/office/drawing/2014/main" id="{C6F9D0E9-831A-0442-A432-049AA1D698D4}"/>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76" name="Rectangle 15">
                <a:extLst>
                  <a:ext uri="{FF2B5EF4-FFF2-40B4-BE49-F238E27FC236}">
                    <a16:creationId xmlns:a16="http://schemas.microsoft.com/office/drawing/2014/main" id="{ECA039D2-CCFD-8C43-872D-511219C21572}"/>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6" name="TextBox 15">
              <a:extLst>
                <a:ext uri="{FF2B5EF4-FFF2-40B4-BE49-F238E27FC236}">
                  <a16:creationId xmlns:a16="http://schemas.microsoft.com/office/drawing/2014/main" id="{0917638E-87FD-3D49-BD74-9B8179643D9D}"/>
                </a:ext>
              </a:extLst>
            </p:cNvPr>
            <p:cNvSpPr txBox="1"/>
            <p:nvPr/>
          </p:nvSpPr>
          <p:spPr>
            <a:xfrm>
              <a:off x="1245101" y="4060943"/>
              <a:ext cx="431528" cy="369332"/>
            </a:xfrm>
            <a:prstGeom prst="rect">
              <a:avLst/>
            </a:prstGeom>
            <a:noFill/>
          </p:spPr>
          <p:txBody>
            <a:bodyPr wrap="none" rtlCol="0">
              <a:spAutoFit/>
            </a:bodyPr>
            <a:lstStyle/>
            <a:p>
              <a:r>
                <a:rPr lang="en-US" dirty="0"/>
                <a:t>V</a:t>
              </a:r>
              <a:r>
                <a:rPr lang="en-US" baseline="-25000" dirty="0"/>
                <a:t>in</a:t>
              </a:r>
            </a:p>
          </p:txBody>
        </p:sp>
        <p:sp>
          <p:nvSpPr>
            <p:cNvPr id="179" name="TextBox 178">
              <a:extLst>
                <a:ext uri="{FF2B5EF4-FFF2-40B4-BE49-F238E27FC236}">
                  <a16:creationId xmlns:a16="http://schemas.microsoft.com/office/drawing/2014/main" id="{4AAED862-24AE-674F-BF88-3048631E0A9B}"/>
                </a:ext>
              </a:extLst>
            </p:cNvPr>
            <p:cNvSpPr txBox="1"/>
            <p:nvPr/>
          </p:nvSpPr>
          <p:spPr>
            <a:xfrm>
              <a:off x="336803" y="2359429"/>
              <a:ext cx="1802296" cy="369332"/>
            </a:xfrm>
            <a:prstGeom prst="rect">
              <a:avLst/>
            </a:prstGeom>
            <a:noFill/>
          </p:spPr>
          <p:txBody>
            <a:bodyPr wrap="square" rtlCol="0">
              <a:spAutoFit/>
            </a:bodyPr>
            <a:lstStyle/>
            <a:p>
              <a:r>
                <a:rPr lang="en-US" dirty="0"/>
                <a:t>Inverting Amp</a:t>
              </a:r>
            </a:p>
          </p:txBody>
        </p:sp>
        <p:sp>
          <p:nvSpPr>
            <p:cNvPr id="11" name="TextBox 10">
              <a:extLst>
                <a:ext uri="{FF2B5EF4-FFF2-40B4-BE49-F238E27FC236}">
                  <a16:creationId xmlns:a16="http://schemas.microsoft.com/office/drawing/2014/main" id="{023D0AF1-CF55-9242-9F17-274AAD50020C}"/>
                </a:ext>
              </a:extLst>
            </p:cNvPr>
            <p:cNvSpPr txBox="1"/>
            <p:nvPr/>
          </p:nvSpPr>
          <p:spPr>
            <a:xfrm>
              <a:off x="2401227" y="3400533"/>
              <a:ext cx="1066799" cy="369332"/>
            </a:xfrm>
            <a:prstGeom prst="rect">
              <a:avLst/>
            </a:prstGeom>
            <a:noFill/>
          </p:spPr>
          <p:txBody>
            <a:bodyPr wrap="square" rtlCol="0">
              <a:spAutoFit/>
            </a:bodyPr>
            <a:lstStyle/>
            <a:p>
              <a:r>
                <a:rPr lang="en-US" dirty="0"/>
                <a:t>LM358</a:t>
              </a:r>
            </a:p>
          </p:txBody>
        </p:sp>
        <p:sp>
          <p:nvSpPr>
            <p:cNvPr id="172" name="Freeform 12">
              <a:extLst>
                <a:ext uri="{FF2B5EF4-FFF2-40B4-BE49-F238E27FC236}">
                  <a16:creationId xmlns:a16="http://schemas.microsoft.com/office/drawing/2014/main" id="{9D3D6E25-4AB4-F944-8EE6-6A34CC8C8562}"/>
                </a:ext>
              </a:extLst>
            </p:cNvPr>
            <p:cNvSpPr>
              <a:spLocks noChangeAspect="1"/>
            </p:cNvSpPr>
            <p:nvPr/>
          </p:nvSpPr>
          <p:spPr bwMode="auto">
            <a:xfrm rot="5400000">
              <a:off x="2386776" y="2268765"/>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3" name="Freeform 12">
              <a:extLst>
                <a:ext uri="{FF2B5EF4-FFF2-40B4-BE49-F238E27FC236}">
                  <a16:creationId xmlns:a16="http://schemas.microsoft.com/office/drawing/2014/main" id="{D878C165-ECCB-1649-A218-1B7A95EC0667}"/>
                </a:ext>
              </a:extLst>
            </p:cNvPr>
            <p:cNvSpPr>
              <a:spLocks noChangeAspect="1"/>
            </p:cNvSpPr>
            <p:nvPr/>
          </p:nvSpPr>
          <p:spPr bwMode="auto">
            <a:xfrm rot="5400000">
              <a:off x="1717541" y="3613858"/>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8" name="TextBox 177">
              <a:extLst>
                <a:ext uri="{FF2B5EF4-FFF2-40B4-BE49-F238E27FC236}">
                  <a16:creationId xmlns:a16="http://schemas.microsoft.com/office/drawing/2014/main" id="{CC50877E-7004-F341-BFDE-452BB4C261C1}"/>
                </a:ext>
              </a:extLst>
            </p:cNvPr>
            <p:cNvSpPr txBox="1"/>
            <p:nvPr/>
          </p:nvSpPr>
          <p:spPr>
            <a:xfrm>
              <a:off x="1404100" y="4655009"/>
              <a:ext cx="720372" cy="338554"/>
            </a:xfrm>
            <a:prstGeom prst="rect">
              <a:avLst/>
            </a:prstGeom>
            <a:noFill/>
          </p:spPr>
          <p:txBody>
            <a:bodyPr wrap="square" rtlCol="0">
              <a:spAutoFit/>
            </a:bodyPr>
            <a:lstStyle/>
            <a:p>
              <a:r>
                <a:rPr lang="en-US" sz="1600" dirty="0"/>
                <a:t>100K</a:t>
              </a:r>
              <a:endParaRPr lang="en-US" baseline="-25000" dirty="0"/>
            </a:p>
          </p:txBody>
        </p:sp>
        <p:sp>
          <p:nvSpPr>
            <p:cNvPr id="181" name="TextBox 180">
              <a:extLst>
                <a:ext uri="{FF2B5EF4-FFF2-40B4-BE49-F238E27FC236}">
                  <a16:creationId xmlns:a16="http://schemas.microsoft.com/office/drawing/2014/main" id="{D6B1E2B1-FD74-4945-8BB7-C5EB0F63AE28}"/>
                </a:ext>
              </a:extLst>
            </p:cNvPr>
            <p:cNvSpPr txBox="1"/>
            <p:nvPr/>
          </p:nvSpPr>
          <p:spPr>
            <a:xfrm>
              <a:off x="2184496" y="2182106"/>
              <a:ext cx="1014987" cy="338554"/>
            </a:xfrm>
            <a:prstGeom prst="rect">
              <a:avLst/>
            </a:prstGeom>
            <a:noFill/>
          </p:spPr>
          <p:txBody>
            <a:bodyPr wrap="square" rtlCol="0">
              <a:spAutoFit/>
            </a:bodyPr>
            <a:lstStyle/>
            <a:p>
              <a:r>
                <a:rPr lang="en-US" sz="1600" dirty="0"/>
                <a:t>R</a:t>
              </a:r>
              <a:r>
                <a:rPr lang="en-US" sz="1600" baseline="-25000" dirty="0"/>
                <a:t>f</a:t>
              </a:r>
              <a:r>
                <a:rPr lang="en-US" sz="1600" dirty="0"/>
                <a:t>=100K</a:t>
              </a:r>
              <a:endParaRPr lang="en-US" baseline="-25000" dirty="0"/>
            </a:p>
          </p:txBody>
        </p:sp>
        <p:grpSp>
          <p:nvGrpSpPr>
            <p:cNvPr id="183" name="Group 210">
              <a:extLst>
                <a:ext uri="{FF2B5EF4-FFF2-40B4-BE49-F238E27FC236}">
                  <a16:creationId xmlns:a16="http://schemas.microsoft.com/office/drawing/2014/main" id="{E8D5E4CA-BE05-4E48-A129-708FC958BB98}"/>
                </a:ext>
              </a:extLst>
            </p:cNvPr>
            <p:cNvGrpSpPr>
              <a:grpSpLocks/>
            </p:cNvGrpSpPr>
            <p:nvPr/>
          </p:nvGrpSpPr>
          <p:grpSpPr bwMode="auto">
            <a:xfrm>
              <a:off x="2462683" y="4517851"/>
              <a:ext cx="304800" cy="762000"/>
              <a:chOff x="3216" y="1728"/>
              <a:chExt cx="192" cy="480"/>
            </a:xfrm>
          </p:grpSpPr>
          <p:sp>
            <p:nvSpPr>
              <p:cNvPr id="184" name="Line 8">
                <a:extLst>
                  <a:ext uri="{FF2B5EF4-FFF2-40B4-BE49-F238E27FC236}">
                    <a16:creationId xmlns:a16="http://schemas.microsoft.com/office/drawing/2014/main" id="{966613A6-031E-FB48-9507-4B65E58561B1}"/>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 name="Line 9">
                <a:extLst>
                  <a:ext uri="{FF2B5EF4-FFF2-40B4-BE49-F238E27FC236}">
                    <a16:creationId xmlns:a16="http://schemas.microsoft.com/office/drawing/2014/main" id="{395DC865-AFE1-E943-9DCE-111BBA441286}"/>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6" name="Line 10">
                <a:extLst>
                  <a:ext uri="{FF2B5EF4-FFF2-40B4-BE49-F238E27FC236}">
                    <a16:creationId xmlns:a16="http://schemas.microsoft.com/office/drawing/2014/main" id="{6FFDFCE6-C043-B34C-B57B-33D2AC3F9C8F}"/>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7" name="Line 11">
                <a:extLst>
                  <a:ext uri="{FF2B5EF4-FFF2-40B4-BE49-F238E27FC236}">
                    <a16:creationId xmlns:a16="http://schemas.microsoft.com/office/drawing/2014/main" id="{6993560E-A466-3844-9442-569FF060A7BD}"/>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88" name="Group 207">
              <a:extLst>
                <a:ext uri="{FF2B5EF4-FFF2-40B4-BE49-F238E27FC236}">
                  <a16:creationId xmlns:a16="http://schemas.microsoft.com/office/drawing/2014/main" id="{F64710D8-09E4-F44B-8CC7-A90092D244AF}"/>
                </a:ext>
              </a:extLst>
            </p:cNvPr>
            <p:cNvGrpSpPr>
              <a:grpSpLocks/>
            </p:cNvGrpSpPr>
            <p:nvPr/>
          </p:nvGrpSpPr>
          <p:grpSpPr bwMode="auto">
            <a:xfrm>
              <a:off x="564326" y="3227590"/>
              <a:ext cx="304800" cy="762000"/>
              <a:chOff x="4560" y="2400"/>
              <a:chExt cx="192" cy="480"/>
            </a:xfrm>
          </p:grpSpPr>
          <p:sp>
            <p:nvSpPr>
              <p:cNvPr id="189" name="Oval 111">
                <a:extLst>
                  <a:ext uri="{FF2B5EF4-FFF2-40B4-BE49-F238E27FC236}">
                    <a16:creationId xmlns:a16="http://schemas.microsoft.com/office/drawing/2014/main" id="{B580ED4F-EEBA-494B-B10A-5B66A2E2B5BE}"/>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190" name="Line 112">
                <a:extLst>
                  <a:ext uri="{FF2B5EF4-FFF2-40B4-BE49-F238E27FC236}">
                    <a16:creationId xmlns:a16="http://schemas.microsoft.com/office/drawing/2014/main" id="{AA9CC112-1404-6745-8BAA-D59021C7F012}"/>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1" name="Line 113">
                <a:extLst>
                  <a:ext uri="{FF2B5EF4-FFF2-40B4-BE49-F238E27FC236}">
                    <a16:creationId xmlns:a16="http://schemas.microsoft.com/office/drawing/2014/main" id="{A6E12C3C-71B6-D843-8E8E-95285847EB90}"/>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2" name="Line 114">
                <a:extLst>
                  <a:ext uri="{FF2B5EF4-FFF2-40B4-BE49-F238E27FC236}">
                    <a16:creationId xmlns:a16="http://schemas.microsoft.com/office/drawing/2014/main" id="{E4E630D0-8E33-1A4B-9D2E-E573FEA96787}"/>
                  </a:ext>
                </a:extLst>
              </p:cNvPr>
              <p:cNvSpPr>
                <a:spLocks noChangeAspect="1" noChangeShapeType="1"/>
              </p:cNvSpPr>
              <p:nvPr/>
            </p:nvSpPr>
            <p:spPr bwMode="auto">
              <a:xfrm>
                <a:off x="4584" y="2496"/>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3" name="Line 115">
                <a:extLst>
                  <a:ext uri="{FF2B5EF4-FFF2-40B4-BE49-F238E27FC236}">
                    <a16:creationId xmlns:a16="http://schemas.microsoft.com/office/drawing/2014/main" id="{92732150-3239-474C-A7BC-93F52962FEA3}"/>
                  </a:ext>
                </a:extLst>
              </p:cNvPr>
              <p:cNvSpPr>
                <a:spLocks noChangeAspect="1" noChangeShapeType="1"/>
              </p:cNvSpPr>
              <p:nvPr/>
            </p:nvSpPr>
            <p:spPr bwMode="auto">
              <a:xfrm>
                <a:off x="4608" y="2472"/>
                <a:ext cx="0" cy="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0" name="Line 116">
                <a:extLst>
                  <a:ext uri="{FF2B5EF4-FFF2-40B4-BE49-F238E27FC236}">
                    <a16:creationId xmlns:a16="http://schemas.microsoft.com/office/drawing/2014/main" id="{A00AB540-6593-8A40-88B2-7C7A7128736C}"/>
                  </a:ext>
                </a:extLst>
              </p:cNvPr>
              <p:cNvSpPr>
                <a:spLocks noChangeAspect="1" noChangeShapeType="1"/>
              </p:cNvSpPr>
              <p:nvPr/>
            </p:nvSpPr>
            <p:spPr bwMode="auto">
              <a:xfrm>
                <a:off x="4584" y="2784"/>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03" name="Group 117">
                <a:extLst>
                  <a:ext uri="{FF2B5EF4-FFF2-40B4-BE49-F238E27FC236}">
                    <a16:creationId xmlns:a16="http://schemas.microsoft.com/office/drawing/2014/main" id="{A84587EF-EDB8-1A4E-87B7-037CE27018C1}"/>
                  </a:ext>
                </a:extLst>
              </p:cNvPr>
              <p:cNvGrpSpPr>
                <a:grpSpLocks noChangeAspect="1"/>
              </p:cNvGrpSpPr>
              <p:nvPr/>
            </p:nvGrpSpPr>
            <p:grpSpPr bwMode="auto">
              <a:xfrm>
                <a:off x="4608" y="2592"/>
                <a:ext cx="96" cy="96"/>
                <a:chOff x="2929" y="3217"/>
                <a:chExt cx="383" cy="191"/>
              </a:xfrm>
            </p:grpSpPr>
            <p:sp>
              <p:nvSpPr>
                <p:cNvPr id="207" name="Arc 118">
                  <a:extLst>
                    <a:ext uri="{FF2B5EF4-FFF2-40B4-BE49-F238E27FC236}">
                      <a16:creationId xmlns:a16="http://schemas.microsoft.com/office/drawing/2014/main" id="{49C5FEB7-8082-0343-A306-33ADC2648990}"/>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8" name="Arc 119">
                  <a:extLst>
                    <a:ext uri="{FF2B5EF4-FFF2-40B4-BE49-F238E27FC236}">
                      <a16:creationId xmlns:a16="http://schemas.microsoft.com/office/drawing/2014/main" id="{C4AA7B74-4FA7-8F4D-A0D9-2CCA61033CF5}"/>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cxnSp>
          <p:nvCxnSpPr>
            <p:cNvPr id="210" name="Straight Connector 209">
              <a:extLst>
                <a:ext uri="{FF2B5EF4-FFF2-40B4-BE49-F238E27FC236}">
                  <a16:creationId xmlns:a16="http://schemas.microsoft.com/office/drawing/2014/main" id="{69A60E94-44F0-A147-8CBA-49EC44D478F7}"/>
                </a:ext>
              </a:extLst>
            </p:cNvPr>
            <p:cNvCxnSpPr>
              <a:cxnSpLocks/>
            </p:cNvCxnSpPr>
            <p:nvPr/>
          </p:nvCxnSpPr>
          <p:spPr>
            <a:xfrm>
              <a:off x="2081976" y="2639648"/>
              <a:ext cx="0" cy="594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B6706834-0AB1-E14B-9486-B8ABF504AFE7}"/>
                </a:ext>
              </a:extLst>
            </p:cNvPr>
            <p:cNvCxnSpPr>
              <a:cxnSpLocks/>
            </p:cNvCxnSpPr>
            <p:nvPr/>
          </p:nvCxnSpPr>
          <p:spPr>
            <a:xfrm>
              <a:off x="2825259" y="2646454"/>
              <a:ext cx="8229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D83F05C1-F211-9546-8992-9872DE154133}"/>
                </a:ext>
              </a:extLst>
            </p:cNvPr>
            <p:cNvCxnSpPr>
              <a:cxnSpLocks/>
            </p:cNvCxnSpPr>
            <p:nvPr/>
          </p:nvCxnSpPr>
          <p:spPr>
            <a:xfrm>
              <a:off x="3635792" y="2645033"/>
              <a:ext cx="0" cy="109728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3" name="Group 13">
              <a:extLst>
                <a:ext uri="{FF2B5EF4-FFF2-40B4-BE49-F238E27FC236}">
                  <a16:creationId xmlns:a16="http://schemas.microsoft.com/office/drawing/2014/main" id="{B9D55E25-6203-E347-9814-8E8388DE46A6}"/>
                </a:ext>
              </a:extLst>
            </p:cNvPr>
            <p:cNvGrpSpPr>
              <a:grpSpLocks noChangeAspect="1"/>
            </p:cNvGrpSpPr>
            <p:nvPr/>
          </p:nvGrpSpPr>
          <p:grpSpPr bwMode="auto">
            <a:xfrm>
              <a:off x="3543645" y="3518962"/>
              <a:ext cx="182880" cy="182880"/>
              <a:chOff x="1344" y="2064"/>
              <a:chExt cx="192" cy="192"/>
            </a:xfrm>
          </p:grpSpPr>
          <p:sp>
            <p:nvSpPr>
              <p:cNvPr id="214" name="Oval 14">
                <a:extLst>
                  <a:ext uri="{FF2B5EF4-FFF2-40B4-BE49-F238E27FC236}">
                    <a16:creationId xmlns:a16="http://schemas.microsoft.com/office/drawing/2014/main" id="{3C772D92-5598-804A-926A-E7C55B38C03E}"/>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15" name="Rectangle 15">
                <a:extLst>
                  <a:ext uri="{FF2B5EF4-FFF2-40B4-BE49-F238E27FC236}">
                    <a16:creationId xmlns:a16="http://schemas.microsoft.com/office/drawing/2014/main" id="{89FC42F5-5BD8-8B41-844A-CB7A147487F6}"/>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216" name="Group 210">
              <a:extLst>
                <a:ext uri="{FF2B5EF4-FFF2-40B4-BE49-F238E27FC236}">
                  <a16:creationId xmlns:a16="http://schemas.microsoft.com/office/drawing/2014/main" id="{781D7168-2BB8-1A4B-8861-F7E32479C863}"/>
                </a:ext>
              </a:extLst>
            </p:cNvPr>
            <p:cNvGrpSpPr>
              <a:grpSpLocks/>
            </p:cNvGrpSpPr>
            <p:nvPr/>
          </p:nvGrpSpPr>
          <p:grpSpPr bwMode="auto">
            <a:xfrm rot="5400000">
              <a:off x="936299" y="2845565"/>
              <a:ext cx="304800" cy="762000"/>
              <a:chOff x="3216" y="1728"/>
              <a:chExt cx="192" cy="480"/>
            </a:xfrm>
          </p:grpSpPr>
          <p:sp>
            <p:nvSpPr>
              <p:cNvPr id="217" name="Line 8">
                <a:extLst>
                  <a:ext uri="{FF2B5EF4-FFF2-40B4-BE49-F238E27FC236}">
                    <a16:creationId xmlns:a16="http://schemas.microsoft.com/office/drawing/2014/main" id="{A22C8E63-CE42-7A4F-A40D-239C40FA9BE9}"/>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8" name="Line 9">
                <a:extLst>
                  <a:ext uri="{FF2B5EF4-FFF2-40B4-BE49-F238E27FC236}">
                    <a16:creationId xmlns:a16="http://schemas.microsoft.com/office/drawing/2014/main" id="{094A48CB-BCB1-2646-A9E3-1DD0C17D56A2}"/>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9" name="Line 10">
                <a:extLst>
                  <a:ext uri="{FF2B5EF4-FFF2-40B4-BE49-F238E27FC236}">
                    <a16:creationId xmlns:a16="http://schemas.microsoft.com/office/drawing/2014/main" id="{7B628763-DAF7-3D45-A60D-83A8A4602DC5}"/>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0" name="Line 11">
                <a:extLst>
                  <a:ext uri="{FF2B5EF4-FFF2-40B4-BE49-F238E27FC236}">
                    <a16:creationId xmlns:a16="http://schemas.microsoft.com/office/drawing/2014/main" id="{CC585950-DCE1-EE44-BF6F-854DFC73A285}"/>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33" name="Group 220">
              <a:extLst>
                <a:ext uri="{FF2B5EF4-FFF2-40B4-BE49-F238E27FC236}">
                  <a16:creationId xmlns:a16="http://schemas.microsoft.com/office/drawing/2014/main" id="{54A39DA3-D8DE-0B47-93EF-85DB0A4E2BD7}"/>
                </a:ext>
              </a:extLst>
            </p:cNvPr>
            <p:cNvGrpSpPr>
              <a:grpSpLocks/>
            </p:cNvGrpSpPr>
            <p:nvPr/>
          </p:nvGrpSpPr>
          <p:grpSpPr bwMode="auto">
            <a:xfrm>
              <a:off x="646115" y="3955213"/>
              <a:ext cx="152400" cy="304800"/>
              <a:chOff x="3264" y="3072"/>
              <a:chExt cx="96" cy="192"/>
            </a:xfrm>
          </p:grpSpPr>
          <p:sp>
            <p:nvSpPr>
              <p:cNvPr id="234" name="Line 17">
                <a:extLst>
                  <a:ext uri="{FF2B5EF4-FFF2-40B4-BE49-F238E27FC236}">
                    <a16:creationId xmlns:a16="http://schemas.microsoft.com/office/drawing/2014/main" id="{4DCB3F48-5691-BE43-818B-0A4D7F5CED92}"/>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 name="Freeform 18">
                <a:extLst>
                  <a:ext uri="{FF2B5EF4-FFF2-40B4-BE49-F238E27FC236}">
                    <a16:creationId xmlns:a16="http://schemas.microsoft.com/office/drawing/2014/main" id="{0E94F73D-5808-A84C-ACA9-74886A5AC48C}"/>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36" name="TextBox 235">
              <a:extLst>
                <a:ext uri="{FF2B5EF4-FFF2-40B4-BE49-F238E27FC236}">
                  <a16:creationId xmlns:a16="http://schemas.microsoft.com/office/drawing/2014/main" id="{483F4B45-15C0-9F48-A9ED-A674C47F87ED}"/>
                </a:ext>
              </a:extLst>
            </p:cNvPr>
            <p:cNvSpPr txBox="1"/>
            <p:nvPr/>
          </p:nvSpPr>
          <p:spPr>
            <a:xfrm>
              <a:off x="1310952" y="3604083"/>
              <a:ext cx="694034" cy="338554"/>
            </a:xfrm>
            <a:prstGeom prst="rect">
              <a:avLst/>
            </a:prstGeom>
            <a:noFill/>
          </p:spPr>
          <p:txBody>
            <a:bodyPr wrap="square" rtlCol="0">
              <a:spAutoFit/>
            </a:bodyPr>
            <a:lstStyle/>
            <a:p>
              <a:r>
                <a:rPr lang="en-US" sz="1600" dirty="0"/>
                <a:t>100K</a:t>
              </a:r>
              <a:endParaRPr lang="en-US" baseline="-25000" dirty="0"/>
            </a:p>
          </p:txBody>
        </p:sp>
        <p:sp>
          <p:nvSpPr>
            <p:cNvPr id="253" name="Freeform 12">
              <a:extLst>
                <a:ext uri="{FF2B5EF4-FFF2-40B4-BE49-F238E27FC236}">
                  <a16:creationId xmlns:a16="http://schemas.microsoft.com/office/drawing/2014/main" id="{CDF4AADF-CDEA-EA48-AFB4-986B47627A85}"/>
                </a:ext>
              </a:extLst>
            </p:cNvPr>
            <p:cNvSpPr>
              <a:spLocks noChangeAspect="1"/>
            </p:cNvSpPr>
            <p:nvPr/>
          </p:nvSpPr>
          <p:spPr bwMode="auto">
            <a:xfrm rot="5400000">
              <a:off x="1752711" y="2840138"/>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5" name="TextBox 254">
              <a:extLst>
                <a:ext uri="{FF2B5EF4-FFF2-40B4-BE49-F238E27FC236}">
                  <a16:creationId xmlns:a16="http://schemas.microsoft.com/office/drawing/2014/main" id="{32E6B35D-BCAE-384E-8E9F-735CDDE101B2}"/>
                </a:ext>
              </a:extLst>
            </p:cNvPr>
            <p:cNvSpPr txBox="1"/>
            <p:nvPr/>
          </p:nvSpPr>
          <p:spPr>
            <a:xfrm>
              <a:off x="1245101" y="2826872"/>
              <a:ext cx="1015003" cy="338554"/>
            </a:xfrm>
            <a:prstGeom prst="rect">
              <a:avLst/>
            </a:prstGeom>
            <a:noFill/>
          </p:spPr>
          <p:txBody>
            <a:bodyPr wrap="square" rtlCol="0">
              <a:spAutoFit/>
            </a:bodyPr>
            <a:lstStyle/>
            <a:p>
              <a:r>
                <a:rPr lang="en-US" sz="1600" dirty="0"/>
                <a:t>R</a:t>
              </a:r>
              <a:r>
                <a:rPr lang="en-US" sz="1600" baseline="-25000" dirty="0"/>
                <a:t>1</a:t>
              </a:r>
              <a:r>
                <a:rPr lang="en-US" sz="1600" dirty="0"/>
                <a:t>=10K</a:t>
              </a:r>
              <a:endParaRPr lang="en-US" baseline="-25000" dirty="0"/>
            </a:p>
          </p:txBody>
        </p:sp>
        <p:grpSp>
          <p:nvGrpSpPr>
            <p:cNvPr id="256" name="Group 220">
              <a:extLst>
                <a:ext uri="{FF2B5EF4-FFF2-40B4-BE49-F238E27FC236}">
                  <a16:creationId xmlns:a16="http://schemas.microsoft.com/office/drawing/2014/main" id="{40A111F2-8F61-A74D-A75E-E825EFE26045}"/>
                </a:ext>
              </a:extLst>
            </p:cNvPr>
            <p:cNvGrpSpPr>
              <a:grpSpLocks/>
            </p:cNvGrpSpPr>
            <p:nvPr/>
          </p:nvGrpSpPr>
          <p:grpSpPr bwMode="auto">
            <a:xfrm>
              <a:off x="2545651" y="5220122"/>
              <a:ext cx="152400" cy="304800"/>
              <a:chOff x="3264" y="3072"/>
              <a:chExt cx="96" cy="192"/>
            </a:xfrm>
          </p:grpSpPr>
          <p:sp>
            <p:nvSpPr>
              <p:cNvPr id="257" name="Line 17">
                <a:extLst>
                  <a:ext uri="{FF2B5EF4-FFF2-40B4-BE49-F238E27FC236}">
                    <a16:creationId xmlns:a16="http://schemas.microsoft.com/office/drawing/2014/main" id="{265489C4-EC8F-9D43-8D82-18029538A77A}"/>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 name="Freeform 18">
                <a:extLst>
                  <a:ext uri="{FF2B5EF4-FFF2-40B4-BE49-F238E27FC236}">
                    <a16:creationId xmlns:a16="http://schemas.microsoft.com/office/drawing/2014/main" id="{C2E462DB-D211-BA46-B87C-7F89E74B4B86}"/>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59" name="TextBox 258">
              <a:extLst>
                <a:ext uri="{FF2B5EF4-FFF2-40B4-BE49-F238E27FC236}">
                  <a16:creationId xmlns:a16="http://schemas.microsoft.com/office/drawing/2014/main" id="{5286D409-2112-D947-9424-A20B3820D4BF}"/>
                </a:ext>
              </a:extLst>
            </p:cNvPr>
            <p:cNvSpPr txBox="1"/>
            <p:nvPr/>
          </p:nvSpPr>
          <p:spPr>
            <a:xfrm>
              <a:off x="2646743" y="4866024"/>
              <a:ext cx="720372" cy="338554"/>
            </a:xfrm>
            <a:prstGeom prst="rect">
              <a:avLst/>
            </a:prstGeom>
            <a:noFill/>
          </p:spPr>
          <p:txBody>
            <a:bodyPr wrap="square" rtlCol="0">
              <a:spAutoFit/>
            </a:bodyPr>
            <a:lstStyle/>
            <a:p>
              <a:r>
                <a:rPr lang="en-US" sz="1600" dirty="0"/>
                <a:t>10uF</a:t>
              </a:r>
              <a:endParaRPr lang="en-US" baseline="-25000" dirty="0"/>
            </a:p>
          </p:txBody>
        </p:sp>
        <p:grpSp>
          <p:nvGrpSpPr>
            <p:cNvPr id="260" name="Group 220">
              <a:extLst>
                <a:ext uri="{FF2B5EF4-FFF2-40B4-BE49-F238E27FC236}">
                  <a16:creationId xmlns:a16="http://schemas.microsoft.com/office/drawing/2014/main" id="{5D26B442-C828-AA43-AB59-8E0B24EA96EB}"/>
                </a:ext>
              </a:extLst>
            </p:cNvPr>
            <p:cNvGrpSpPr>
              <a:grpSpLocks/>
            </p:cNvGrpSpPr>
            <p:nvPr/>
          </p:nvGrpSpPr>
          <p:grpSpPr bwMode="auto">
            <a:xfrm>
              <a:off x="3565553" y="4305725"/>
              <a:ext cx="152400" cy="304800"/>
              <a:chOff x="3264" y="3072"/>
              <a:chExt cx="96" cy="192"/>
            </a:xfrm>
          </p:grpSpPr>
          <p:sp>
            <p:nvSpPr>
              <p:cNvPr id="261" name="Line 17">
                <a:extLst>
                  <a:ext uri="{FF2B5EF4-FFF2-40B4-BE49-F238E27FC236}">
                    <a16:creationId xmlns:a16="http://schemas.microsoft.com/office/drawing/2014/main" id="{9137ECD7-E08D-E041-BF5A-4A86041417D5}"/>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2" name="Freeform 18">
                <a:extLst>
                  <a:ext uri="{FF2B5EF4-FFF2-40B4-BE49-F238E27FC236}">
                    <a16:creationId xmlns:a16="http://schemas.microsoft.com/office/drawing/2014/main" id="{94FAA742-7839-2547-9D6A-798B2EF647E9}"/>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63" name="Freeform 12">
              <a:extLst>
                <a:ext uri="{FF2B5EF4-FFF2-40B4-BE49-F238E27FC236}">
                  <a16:creationId xmlns:a16="http://schemas.microsoft.com/office/drawing/2014/main" id="{E5940BCB-685A-6E47-A0F6-837F7E5D0D57}"/>
                </a:ext>
              </a:extLst>
            </p:cNvPr>
            <p:cNvSpPr>
              <a:spLocks noChangeAspect="1"/>
            </p:cNvSpPr>
            <p:nvPr/>
          </p:nvSpPr>
          <p:spPr bwMode="auto">
            <a:xfrm>
              <a:off x="4298142" y="3602137"/>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64" name="Group 220">
              <a:extLst>
                <a:ext uri="{FF2B5EF4-FFF2-40B4-BE49-F238E27FC236}">
                  <a16:creationId xmlns:a16="http://schemas.microsoft.com/office/drawing/2014/main" id="{D957622C-9ADF-734D-8001-97EA6206096F}"/>
                </a:ext>
              </a:extLst>
            </p:cNvPr>
            <p:cNvGrpSpPr>
              <a:grpSpLocks/>
            </p:cNvGrpSpPr>
            <p:nvPr/>
          </p:nvGrpSpPr>
          <p:grpSpPr bwMode="auto">
            <a:xfrm>
              <a:off x="4304103" y="4294003"/>
              <a:ext cx="152400" cy="304800"/>
              <a:chOff x="3264" y="3072"/>
              <a:chExt cx="96" cy="192"/>
            </a:xfrm>
          </p:grpSpPr>
          <p:sp>
            <p:nvSpPr>
              <p:cNvPr id="265" name="Line 17">
                <a:extLst>
                  <a:ext uri="{FF2B5EF4-FFF2-40B4-BE49-F238E27FC236}">
                    <a16:creationId xmlns:a16="http://schemas.microsoft.com/office/drawing/2014/main" id="{ED7EA051-365D-774B-A256-810C1ACAC9B7}"/>
                  </a:ext>
                </a:extLst>
              </p:cNvPr>
              <p:cNvSpPr>
                <a:spLocks noChangeAspect="1" noChangeShapeType="1"/>
              </p:cNvSpPr>
              <p:nvPr/>
            </p:nvSpPr>
            <p:spPr bwMode="auto">
              <a:xfrm>
                <a:off x="3305"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 name="Freeform 18">
                <a:extLst>
                  <a:ext uri="{FF2B5EF4-FFF2-40B4-BE49-F238E27FC236}">
                    <a16:creationId xmlns:a16="http://schemas.microsoft.com/office/drawing/2014/main" id="{B5BF2053-F60C-734B-8FFD-1EE671B55EFA}"/>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67" name="Group 210">
              <a:extLst>
                <a:ext uri="{FF2B5EF4-FFF2-40B4-BE49-F238E27FC236}">
                  <a16:creationId xmlns:a16="http://schemas.microsoft.com/office/drawing/2014/main" id="{4F6B93F3-B0B1-4248-8D87-C5298E5796E5}"/>
                </a:ext>
              </a:extLst>
            </p:cNvPr>
            <p:cNvGrpSpPr>
              <a:grpSpLocks/>
            </p:cNvGrpSpPr>
            <p:nvPr/>
          </p:nvGrpSpPr>
          <p:grpSpPr bwMode="auto">
            <a:xfrm rot="5400000">
              <a:off x="3843621" y="3220702"/>
              <a:ext cx="304800" cy="762000"/>
              <a:chOff x="3216" y="1728"/>
              <a:chExt cx="192" cy="480"/>
            </a:xfrm>
          </p:grpSpPr>
          <p:sp>
            <p:nvSpPr>
              <p:cNvPr id="268" name="Line 8">
                <a:extLst>
                  <a:ext uri="{FF2B5EF4-FFF2-40B4-BE49-F238E27FC236}">
                    <a16:creationId xmlns:a16="http://schemas.microsoft.com/office/drawing/2014/main" id="{A96485D6-9FAD-9748-9199-380C8DDF6D6C}"/>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9" name="Line 9">
                <a:extLst>
                  <a:ext uri="{FF2B5EF4-FFF2-40B4-BE49-F238E27FC236}">
                    <a16:creationId xmlns:a16="http://schemas.microsoft.com/office/drawing/2014/main" id="{4C2F7284-D6F0-0045-8FDB-80813C477E0B}"/>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0" name="Line 10">
                <a:extLst>
                  <a:ext uri="{FF2B5EF4-FFF2-40B4-BE49-F238E27FC236}">
                    <a16:creationId xmlns:a16="http://schemas.microsoft.com/office/drawing/2014/main" id="{3E85FD29-9415-5241-A4FA-7CE382379A69}"/>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1" name="Line 11">
                <a:extLst>
                  <a:ext uri="{FF2B5EF4-FFF2-40B4-BE49-F238E27FC236}">
                    <a16:creationId xmlns:a16="http://schemas.microsoft.com/office/drawing/2014/main" id="{0409013C-8E17-C641-82C8-C7F01152BE3C}"/>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72" name="TextBox 271">
              <a:extLst>
                <a:ext uri="{FF2B5EF4-FFF2-40B4-BE49-F238E27FC236}">
                  <a16:creationId xmlns:a16="http://schemas.microsoft.com/office/drawing/2014/main" id="{CA0D47EA-AEDB-8C44-8BC4-CC7E78457AA6}"/>
                </a:ext>
              </a:extLst>
            </p:cNvPr>
            <p:cNvSpPr txBox="1"/>
            <p:nvPr/>
          </p:nvSpPr>
          <p:spPr>
            <a:xfrm>
              <a:off x="3823954" y="3972676"/>
              <a:ext cx="720372" cy="338554"/>
            </a:xfrm>
            <a:prstGeom prst="rect">
              <a:avLst/>
            </a:prstGeom>
            <a:noFill/>
          </p:spPr>
          <p:txBody>
            <a:bodyPr wrap="square" rtlCol="0">
              <a:spAutoFit/>
            </a:bodyPr>
            <a:lstStyle/>
            <a:p>
              <a:r>
                <a:rPr lang="en-US" sz="1600" dirty="0"/>
                <a:t>10K</a:t>
              </a:r>
              <a:endParaRPr lang="en-US" baseline="-25000" dirty="0"/>
            </a:p>
          </p:txBody>
        </p:sp>
        <mc:AlternateContent xmlns:mc="http://schemas.openxmlformats.org/markup-compatibility/2006" xmlns:a14="http://schemas.microsoft.com/office/drawing/2010/main">
          <mc:Choice Requires="a14">
            <p:sp>
              <p:nvSpPr>
                <p:cNvPr id="383" name="TextBox 382">
                  <a:extLst>
                    <a:ext uri="{FF2B5EF4-FFF2-40B4-BE49-F238E27FC236}">
                      <a16:creationId xmlns:a16="http://schemas.microsoft.com/office/drawing/2014/main" id="{1C65CDC6-F7EB-6A4F-ACE1-D4684D95A85C}"/>
                    </a:ext>
                  </a:extLst>
                </p:cNvPr>
                <p:cNvSpPr txBox="1"/>
                <p:nvPr/>
              </p:nvSpPr>
              <p:spPr>
                <a:xfrm>
                  <a:off x="47508" y="5187755"/>
                  <a:ext cx="1671419" cy="664093"/>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𝑣</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𝑓</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den>
                        </m:f>
                      </m:oMath>
                    </m:oMathPara>
                  </a14:m>
                  <a:endParaRPr lang="en-US" dirty="0"/>
                </a:p>
              </p:txBody>
            </p:sp>
          </mc:Choice>
          <mc:Fallback xmlns="">
            <p:sp>
              <p:nvSpPr>
                <p:cNvPr id="383" name="TextBox 382">
                  <a:extLst>
                    <a:ext uri="{FF2B5EF4-FFF2-40B4-BE49-F238E27FC236}">
                      <a16:creationId xmlns:a16="http://schemas.microsoft.com/office/drawing/2014/main" id="{1C65CDC6-F7EB-6A4F-ACE1-D4684D95A85C}"/>
                    </a:ext>
                  </a:extLst>
                </p:cNvPr>
                <p:cNvSpPr txBox="1">
                  <a:spLocks noRot="1" noChangeAspect="1" noMove="1" noResize="1" noEditPoints="1" noAdjustHandles="1" noChangeArrowheads="1" noChangeShapeType="1" noTextEdit="1"/>
                </p:cNvSpPr>
                <p:nvPr/>
              </p:nvSpPr>
              <p:spPr>
                <a:xfrm>
                  <a:off x="47508" y="5187755"/>
                  <a:ext cx="1671419" cy="664093"/>
                </a:xfrm>
                <a:prstGeom prst="rect">
                  <a:avLst/>
                </a:prstGeom>
                <a:blipFill>
                  <a:blip r:embed="rId3"/>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28763347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463319" y="247696"/>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Op amp feedback</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9718137" y="6471804"/>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63</a:t>
            </a:fld>
            <a:endParaRPr lang="en-US" dirty="0">
              <a:solidFill>
                <a:schemeClr val="tx1"/>
              </a:solidFill>
            </a:endParaRPr>
          </a:p>
        </p:txBody>
      </p:sp>
      <p:grpSp>
        <p:nvGrpSpPr>
          <p:cNvPr id="126" name="Group 125">
            <a:extLst>
              <a:ext uri="{FF2B5EF4-FFF2-40B4-BE49-F238E27FC236}">
                <a16:creationId xmlns:a16="http://schemas.microsoft.com/office/drawing/2014/main" id="{79DCCD96-8962-7E4D-927A-F835536BC49F}"/>
              </a:ext>
            </a:extLst>
          </p:cNvPr>
          <p:cNvGrpSpPr/>
          <p:nvPr/>
        </p:nvGrpSpPr>
        <p:grpSpPr>
          <a:xfrm>
            <a:off x="1275751" y="2544062"/>
            <a:ext cx="3299866" cy="3080057"/>
            <a:chOff x="7388993" y="2173644"/>
            <a:chExt cx="3299866" cy="3080057"/>
          </a:xfrm>
        </p:grpSpPr>
        <p:sp>
          <p:nvSpPr>
            <p:cNvPr id="58" name="Freeform 43">
              <a:extLst>
                <a:ext uri="{FF2B5EF4-FFF2-40B4-BE49-F238E27FC236}">
                  <a16:creationId xmlns:a16="http://schemas.microsoft.com/office/drawing/2014/main" id="{7002A535-A2A7-9D4B-A28D-8A740D0EB9B2}"/>
                </a:ext>
              </a:extLst>
            </p:cNvPr>
            <p:cNvSpPr>
              <a:spLocks/>
            </p:cNvSpPr>
            <p:nvPr/>
          </p:nvSpPr>
          <p:spPr bwMode="auto">
            <a:xfrm>
              <a:off x="8491999" y="2201868"/>
              <a:ext cx="1066800" cy="1371600"/>
            </a:xfrm>
            <a:custGeom>
              <a:avLst/>
              <a:gdLst>
                <a:gd name="T0" fmla="*/ 6120 w 432"/>
                <a:gd name="T1" fmla="*/ 779 h 768"/>
                <a:gd name="T2" fmla="*/ 0 w 432"/>
                <a:gd name="T3" fmla="*/ 1558 h 768"/>
                <a:gd name="T4" fmla="*/ 0 w 432"/>
                <a:gd name="T5" fmla="*/ 0 h 768"/>
                <a:gd name="T6" fmla="*/ 6120 w 432"/>
                <a:gd name="T7" fmla="*/ 779 h 768"/>
                <a:gd name="T8" fmla="*/ 0 60000 65536"/>
                <a:gd name="T9" fmla="*/ 0 60000 65536"/>
                <a:gd name="T10" fmla="*/ 0 60000 65536"/>
                <a:gd name="T11" fmla="*/ 0 60000 65536"/>
                <a:gd name="T12" fmla="*/ 0 w 432"/>
                <a:gd name="T13" fmla="*/ 0 h 768"/>
                <a:gd name="T14" fmla="*/ 432 w 432"/>
                <a:gd name="T15" fmla="*/ 768 h 768"/>
              </a:gdLst>
              <a:ahLst/>
              <a:cxnLst>
                <a:cxn ang="T8">
                  <a:pos x="T0" y="T1"/>
                </a:cxn>
                <a:cxn ang="T9">
                  <a:pos x="T2" y="T3"/>
                </a:cxn>
                <a:cxn ang="T10">
                  <a:pos x="T4" y="T5"/>
                </a:cxn>
                <a:cxn ang="T11">
                  <a:pos x="T6" y="T7"/>
                </a:cxn>
              </a:cxnLst>
              <a:rect l="T12" t="T13" r="T14" b="T15"/>
              <a:pathLst>
                <a:path w="432" h="768">
                  <a:moveTo>
                    <a:pt x="432" y="384"/>
                  </a:moveTo>
                  <a:lnTo>
                    <a:pt x="0" y="768"/>
                  </a:lnTo>
                  <a:lnTo>
                    <a:pt x="0" y="0"/>
                  </a:lnTo>
                  <a:lnTo>
                    <a:pt x="432" y="38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59" name="Freeform 12">
              <a:extLst>
                <a:ext uri="{FF2B5EF4-FFF2-40B4-BE49-F238E27FC236}">
                  <a16:creationId xmlns:a16="http://schemas.microsoft.com/office/drawing/2014/main" id="{97CDFB28-B715-9A45-A96F-321C9407D45D}"/>
                </a:ext>
              </a:extLst>
            </p:cNvPr>
            <p:cNvSpPr>
              <a:spLocks noChangeAspect="1"/>
            </p:cNvSpPr>
            <p:nvPr/>
          </p:nvSpPr>
          <p:spPr bwMode="auto">
            <a:xfrm>
              <a:off x="9801732" y="4240729"/>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 name="TextBox 1">
              <a:extLst>
                <a:ext uri="{FF2B5EF4-FFF2-40B4-BE49-F238E27FC236}">
                  <a16:creationId xmlns:a16="http://schemas.microsoft.com/office/drawing/2014/main" id="{269FBE37-1107-4F4E-809F-DE42E15FC7BA}"/>
                </a:ext>
              </a:extLst>
            </p:cNvPr>
            <p:cNvSpPr txBox="1"/>
            <p:nvPr/>
          </p:nvSpPr>
          <p:spPr>
            <a:xfrm>
              <a:off x="8460608" y="2338942"/>
              <a:ext cx="211756" cy="338554"/>
            </a:xfrm>
            <a:prstGeom prst="rect">
              <a:avLst/>
            </a:prstGeom>
            <a:noFill/>
          </p:spPr>
          <p:txBody>
            <a:bodyPr wrap="square" rtlCol="0">
              <a:spAutoFit/>
            </a:bodyPr>
            <a:lstStyle/>
            <a:p>
              <a:r>
                <a:rPr lang="en-US" sz="1600" dirty="0"/>
                <a:t>+</a:t>
              </a:r>
              <a:endParaRPr lang="en-US" dirty="0"/>
            </a:p>
          </p:txBody>
        </p:sp>
        <p:sp>
          <p:nvSpPr>
            <p:cNvPr id="60" name="Freeform 12">
              <a:extLst>
                <a:ext uri="{FF2B5EF4-FFF2-40B4-BE49-F238E27FC236}">
                  <a16:creationId xmlns:a16="http://schemas.microsoft.com/office/drawing/2014/main" id="{61E8DF10-CBD3-CE4E-81EA-E70D16840780}"/>
                </a:ext>
              </a:extLst>
            </p:cNvPr>
            <p:cNvSpPr>
              <a:spLocks noChangeAspect="1"/>
            </p:cNvSpPr>
            <p:nvPr/>
          </p:nvSpPr>
          <p:spPr bwMode="auto">
            <a:xfrm>
              <a:off x="9800134" y="2881966"/>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 name="TextBox 60">
              <a:extLst>
                <a:ext uri="{FF2B5EF4-FFF2-40B4-BE49-F238E27FC236}">
                  <a16:creationId xmlns:a16="http://schemas.microsoft.com/office/drawing/2014/main" id="{5A00A5FE-4B49-2C46-BADB-D0B84195B97F}"/>
                </a:ext>
              </a:extLst>
            </p:cNvPr>
            <p:cNvSpPr txBox="1"/>
            <p:nvPr/>
          </p:nvSpPr>
          <p:spPr>
            <a:xfrm>
              <a:off x="8487877" y="3011100"/>
              <a:ext cx="211756" cy="338554"/>
            </a:xfrm>
            <a:prstGeom prst="rect">
              <a:avLst/>
            </a:prstGeom>
            <a:noFill/>
          </p:spPr>
          <p:txBody>
            <a:bodyPr wrap="square" rtlCol="0">
              <a:spAutoFit/>
            </a:bodyPr>
            <a:lstStyle/>
            <a:p>
              <a:r>
                <a:rPr lang="en-US" sz="1600" dirty="0"/>
                <a:t>-</a:t>
              </a:r>
              <a:endParaRPr lang="en-US" dirty="0"/>
            </a:p>
          </p:txBody>
        </p:sp>
        <p:cxnSp>
          <p:nvCxnSpPr>
            <p:cNvPr id="33" name="Straight Connector 32">
              <a:extLst>
                <a:ext uri="{FF2B5EF4-FFF2-40B4-BE49-F238E27FC236}">
                  <a16:creationId xmlns:a16="http://schemas.microsoft.com/office/drawing/2014/main" id="{FCCD4BBA-4569-BC49-83B3-571884E7BC00}"/>
                </a:ext>
              </a:extLst>
            </p:cNvPr>
            <p:cNvCxnSpPr/>
            <p:nvPr/>
          </p:nvCxnSpPr>
          <p:spPr>
            <a:xfrm>
              <a:off x="7700210" y="2512191"/>
              <a:ext cx="78927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3" name="Group 13">
              <a:extLst>
                <a:ext uri="{FF2B5EF4-FFF2-40B4-BE49-F238E27FC236}">
                  <a16:creationId xmlns:a16="http://schemas.microsoft.com/office/drawing/2014/main" id="{AD021C3C-87CA-F344-905B-79EED6AC9255}"/>
                </a:ext>
              </a:extLst>
            </p:cNvPr>
            <p:cNvGrpSpPr>
              <a:grpSpLocks noChangeAspect="1"/>
            </p:cNvGrpSpPr>
            <p:nvPr/>
          </p:nvGrpSpPr>
          <p:grpSpPr bwMode="auto">
            <a:xfrm>
              <a:off x="9793710" y="4164528"/>
              <a:ext cx="152400" cy="152400"/>
              <a:chOff x="1344" y="2064"/>
              <a:chExt cx="192" cy="192"/>
            </a:xfrm>
          </p:grpSpPr>
          <p:sp>
            <p:nvSpPr>
              <p:cNvPr id="64" name="Oval 14">
                <a:extLst>
                  <a:ext uri="{FF2B5EF4-FFF2-40B4-BE49-F238E27FC236}">
                    <a16:creationId xmlns:a16="http://schemas.microsoft.com/office/drawing/2014/main" id="{4E695CA9-834A-3E4E-958E-A251EF4952C1}"/>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65" name="Rectangle 15">
                <a:extLst>
                  <a:ext uri="{FF2B5EF4-FFF2-40B4-BE49-F238E27FC236}">
                    <a16:creationId xmlns:a16="http://schemas.microsoft.com/office/drawing/2014/main" id="{4E5752CE-0AF0-E040-BB66-61E4ECE7F24E}"/>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66" name="TextBox 65">
              <a:extLst>
                <a:ext uri="{FF2B5EF4-FFF2-40B4-BE49-F238E27FC236}">
                  <a16:creationId xmlns:a16="http://schemas.microsoft.com/office/drawing/2014/main" id="{6DEEA716-6B66-0F4E-93D4-B6513B25B9E6}"/>
                </a:ext>
              </a:extLst>
            </p:cNvPr>
            <p:cNvSpPr txBox="1"/>
            <p:nvPr/>
          </p:nvSpPr>
          <p:spPr>
            <a:xfrm>
              <a:off x="7836775" y="2173644"/>
              <a:ext cx="462013" cy="338554"/>
            </a:xfrm>
            <a:prstGeom prst="rect">
              <a:avLst/>
            </a:prstGeom>
            <a:noFill/>
          </p:spPr>
          <p:txBody>
            <a:bodyPr wrap="square" rtlCol="0">
              <a:spAutoFit/>
            </a:bodyPr>
            <a:lstStyle/>
            <a:p>
              <a:r>
                <a:rPr lang="en-US" sz="1600" dirty="0"/>
                <a:t>i</a:t>
              </a:r>
              <a:r>
                <a:rPr lang="en-US" sz="1600" baseline="-25000" dirty="0"/>
                <a:t>1</a:t>
              </a:r>
              <a:endParaRPr lang="en-US" baseline="-25000" dirty="0"/>
            </a:p>
          </p:txBody>
        </p:sp>
        <p:cxnSp>
          <p:nvCxnSpPr>
            <p:cNvPr id="67" name="Straight Connector 66">
              <a:extLst>
                <a:ext uri="{FF2B5EF4-FFF2-40B4-BE49-F238E27FC236}">
                  <a16:creationId xmlns:a16="http://schemas.microsoft.com/office/drawing/2014/main" id="{64957433-845C-A14C-AD24-3136A819D697}"/>
                </a:ext>
              </a:extLst>
            </p:cNvPr>
            <p:cNvCxnSpPr>
              <a:cxnSpLocks/>
            </p:cNvCxnSpPr>
            <p:nvPr/>
          </p:nvCxnSpPr>
          <p:spPr>
            <a:xfrm>
              <a:off x="8157618" y="3198023"/>
              <a:ext cx="33207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C3EFE676-3903-1644-891D-4DD314DD382F}"/>
                </a:ext>
              </a:extLst>
            </p:cNvPr>
            <p:cNvCxnSpPr/>
            <p:nvPr/>
          </p:nvCxnSpPr>
          <p:spPr>
            <a:xfrm>
              <a:off x="9558799" y="2887668"/>
              <a:ext cx="78927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154958E-CC6E-3C46-AF7F-84C845389E4B}"/>
                </a:ext>
              </a:extLst>
            </p:cNvPr>
            <p:cNvCxnSpPr/>
            <p:nvPr/>
          </p:nvCxnSpPr>
          <p:spPr>
            <a:xfrm>
              <a:off x="8163035" y="4240729"/>
              <a:ext cx="170078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D9FB5DD4-7D85-9445-B799-9C774674CFAF}"/>
                </a:ext>
              </a:extLst>
            </p:cNvPr>
            <p:cNvCxnSpPr>
              <a:cxnSpLocks/>
            </p:cNvCxnSpPr>
            <p:nvPr/>
          </p:nvCxnSpPr>
          <p:spPr>
            <a:xfrm>
              <a:off x="9876334" y="3591827"/>
              <a:ext cx="0" cy="64890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1" name="Group 13">
              <a:extLst>
                <a:ext uri="{FF2B5EF4-FFF2-40B4-BE49-F238E27FC236}">
                  <a16:creationId xmlns:a16="http://schemas.microsoft.com/office/drawing/2014/main" id="{3A923C3B-89E9-414D-AD7B-B337CE91C34C}"/>
                </a:ext>
              </a:extLst>
            </p:cNvPr>
            <p:cNvGrpSpPr>
              <a:grpSpLocks noChangeAspect="1"/>
            </p:cNvGrpSpPr>
            <p:nvPr/>
          </p:nvGrpSpPr>
          <p:grpSpPr bwMode="auto">
            <a:xfrm>
              <a:off x="7645875" y="2435198"/>
              <a:ext cx="152400" cy="152400"/>
              <a:chOff x="1344" y="2064"/>
              <a:chExt cx="192" cy="192"/>
            </a:xfrm>
          </p:grpSpPr>
          <p:sp>
            <p:nvSpPr>
              <p:cNvPr id="72" name="Oval 14">
                <a:extLst>
                  <a:ext uri="{FF2B5EF4-FFF2-40B4-BE49-F238E27FC236}">
                    <a16:creationId xmlns:a16="http://schemas.microsoft.com/office/drawing/2014/main" id="{C40CC1FF-2288-1C4F-BC58-85D2B303635B}"/>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73" name="Rectangle 15">
                <a:extLst>
                  <a:ext uri="{FF2B5EF4-FFF2-40B4-BE49-F238E27FC236}">
                    <a16:creationId xmlns:a16="http://schemas.microsoft.com/office/drawing/2014/main" id="{6B492B55-F945-294D-9472-9888DCBA3354}"/>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74" name="Group 13">
              <a:extLst>
                <a:ext uri="{FF2B5EF4-FFF2-40B4-BE49-F238E27FC236}">
                  <a16:creationId xmlns:a16="http://schemas.microsoft.com/office/drawing/2014/main" id="{F2587DD8-D9EB-244E-BD99-C718062192C9}"/>
                </a:ext>
              </a:extLst>
            </p:cNvPr>
            <p:cNvGrpSpPr>
              <a:grpSpLocks noChangeAspect="1"/>
            </p:cNvGrpSpPr>
            <p:nvPr/>
          </p:nvGrpSpPr>
          <p:grpSpPr bwMode="auto">
            <a:xfrm>
              <a:off x="10271871" y="2811468"/>
              <a:ext cx="152400" cy="152400"/>
              <a:chOff x="1344" y="2064"/>
              <a:chExt cx="192" cy="192"/>
            </a:xfrm>
          </p:grpSpPr>
          <p:sp>
            <p:nvSpPr>
              <p:cNvPr id="75" name="Oval 14">
                <a:extLst>
                  <a:ext uri="{FF2B5EF4-FFF2-40B4-BE49-F238E27FC236}">
                    <a16:creationId xmlns:a16="http://schemas.microsoft.com/office/drawing/2014/main" id="{FE4E85C8-990F-E94F-A135-31EDC4B60B25}"/>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76" name="Rectangle 15">
                <a:extLst>
                  <a:ext uri="{FF2B5EF4-FFF2-40B4-BE49-F238E27FC236}">
                    <a16:creationId xmlns:a16="http://schemas.microsoft.com/office/drawing/2014/main" id="{26478EC5-CF38-8742-AC1B-A75D72EBBE90}"/>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77" name="TextBox 76">
              <a:extLst>
                <a:ext uri="{FF2B5EF4-FFF2-40B4-BE49-F238E27FC236}">
                  <a16:creationId xmlns:a16="http://schemas.microsoft.com/office/drawing/2014/main" id="{DD951782-924C-6447-8D4C-F35397536015}"/>
                </a:ext>
              </a:extLst>
            </p:cNvPr>
            <p:cNvSpPr txBox="1"/>
            <p:nvPr/>
          </p:nvSpPr>
          <p:spPr>
            <a:xfrm>
              <a:off x="7388993" y="2347503"/>
              <a:ext cx="462013" cy="338554"/>
            </a:xfrm>
            <a:prstGeom prst="rect">
              <a:avLst/>
            </a:prstGeom>
            <a:noFill/>
          </p:spPr>
          <p:txBody>
            <a:bodyPr wrap="square" rtlCol="0">
              <a:spAutoFit/>
            </a:bodyPr>
            <a:lstStyle/>
            <a:p>
              <a:r>
                <a:rPr lang="en-US" sz="1600" dirty="0"/>
                <a:t>v</a:t>
              </a:r>
              <a:r>
                <a:rPr lang="en-US" sz="1600" baseline="-25000" dirty="0"/>
                <a:t>1</a:t>
              </a:r>
              <a:endParaRPr lang="en-US" baseline="-25000" dirty="0"/>
            </a:p>
          </p:txBody>
        </p:sp>
        <p:sp>
          <p:nvSpPr>
            <p:cNvPr id="78" name="TextBox 77">
              <a:extLst>
                <a:ext uri="{FF2B5EF4-FFF2-40B4-BE49-F238E27FC236}">
                  <a16:creationId xmlns:a16="http://schemas.microsoft.com/office/drawing/2014/main" id="{3B010F6A-2955-E047-A78E-9F57D4B036EF}"/>
                </a:ext>
              </a:extLst>
            </p:cNvPr>
            <p:cNvSpPr txBox="1"/>
            <p:nvPr/>
          </p:nvSpPr>
          <p:spPr>
            <a:xfrm>
              <a:off x="10226846" y="2942665"/>
              <a:ext cx="462013" cy="338554"/>
            </a:xfrm>
            <a:prstGeom prst="rect">
              <a:avLst/>
            </a:prstGeom>
            <a:noFill/>
          </p:spPr>
          <p:txBody>
            <a:bodyPr wrap="square" rtlCol="0">
              <a:spAutoFit/>
            </a:bodyPr>
            <a:lstStyle/>
            <a:p>
              <a:r>
                <a:rPr lang="en-US" sz="1600" dirty="0"/>
                <a:t>v</a:t>
              </a:r>
              <a:r>
                <a:rPr lang="en-US" sz="1600" baseline="-25000" dirty="0"/>
                <a:t>2</a:t>
              </a:r>
              <a:endParaRPr lang="en-US" baseline="-25000" dirty="0"/>
            </a:p>
          </p:txBody>
        </p:sp>
        <p:grpSp>
          <p:nvGrpSpPr>
            <p:cNvPr id="79" name="Group 220">
              <a:extLst>
                <a:ext uri="{FF2B5EF4-FFF2-40B4-BE49-F238E27FC236}">
                  <a16:creationId xmlns:a16="http://schemas.microsoft.com/office/drawing/2014/main" id="{6996E0FA-059F-C147-8051-B8157E9ACABC}"/>
                </a:ext>
              </a:extLst>
            </p:cNvPr>
            <p:cNvGrpSpPr>
              <a:grpSpLocks/>
            </p:cNvGrpSpPr>
            <p:nvPr/>
          </p:nvGrpSpPr>
          <p:grpSpPr bwMode="auto">
            <a:xfrm>
              <a:off x="9800134" y="4948901"/>
              <a:ext cx="152400" cy="304800"/>
              <a:chOff x="3264" y="3072"/>
              <a:chExt cx="96" cy="192"/>
            </a:xfrm>
          </p:grpSpPr>
          <p:sp>
            <p:nvSpPr>
              <p:cNvPr id="80" name="Line 17">
                <a:extLst>
                  <a:ext uri="{FF2B5EF4-FFF2-40B4-BE49-F238E27FC236}">
                    <a16:creationId xmlns:a16="http://schemas.microsoft.com/office/drawing/2014/main" id="{630625D0-2F6D-B74B-ABC4-5E51ECC21AE2}"/>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 name="Freeform 18">
                <a:extLst>
                  <a:ext uri="{FF2B5EF4-FFF2-40B4-BE49-F238E27FC236}">
                    <a16:creationId xmlns:a16="http://schemas.microsoft.com/office/drawing/2014/main" id="{CE803163-167D-F84B-872D-7E2BE8C9BB4D}"/>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82" name="TextBox 81">
              <a:extLst>
                <a:ext uri="{FF2B5EF4-FFF2-40B4-BE49-F238E27FC236}">
                  <a16:creationId xmlns:a16="http://schemas.microsoft.com/office/drawing/2014/main" id="{A988AAEC-8948-D646-BB6D-E8CE2BB230A8}"/>
                </a:ext>
              </a:extLst>
            </p:cNvPr>
            <p:cNvSpPr txBox="1"/>
            <p:nvPr/>
          </p:nvSpPr>
          <p:spPr>
            <a:xfrm>
              <a:off x="9924158" y="3172739"/>
              <a:ext cx="462013" cy="338554"/>
            </a:xfrm>
            <a:prstGeom prst="rect">
              <a:avLst/>
            </a:prstGeom>
            <a:noFill/>
          </p:spPr>
          <p:txBody>
            <a:bodyPr wrap="square" rtlCol="0">
              <a:spAutoFit/>
            </a:bodyPr>
            <a:lstStyle/>
            <a:p>
              <a:r>
                <a:rPr lang="en-US" sz="1600" dirty="0"/>
                <a:t>R</a:t>
              </a:r>
              <a:r>
                <a:rPr lang="en-US" sz="1600" baseline="-25000" dirty="0"/>
                <a:t>1</a:t>
              </a:r>
              <a:endParaRPr lang="en-US" baseline="-25000" dirty="0"/>
            </a:p>
          </p:txBody>
        </p:sp>
        <p:sp>
          <p:nvSpPr>
            <p:cNvPr id="83" name="TextBox 82">
              <a:extLst>
                <a:ext uri="{FF2B5EF4-FFF2-40B4-BE49-F238E27FC236}">
                  <a16:creationId xmlns:a16="http://schemas.microsoft.com/office/drawing/2014/main" id="{5C0DADCB-1FD6-F845-B94E-37C7642171CE}"/>
                </a:ext>
              </a:extLst>
            </p:cNvPr>
            <p:cNvSpPr txBox="1"/>
            <p:nvPr/>
          </p:nvSpPr>
          <p:spPr>
            <a:xfrm>
              <a:off x="9946110" y="4519565"/>
              <a:ext cx="462013" cy="338554"/>
            </a:xfrm>
            <a:prstGeom prst="rect">
              <a:avLst/>
            </a:prstGeom>
            <a:noFill/>
          </p:spPr>
          <p:txBody>
            <a:bodyPr wrap="square" rtlCol="0">
              <a:spAutoFit/>
            </a:bodyPr>
            <a:lstStyle/>
            <a:p>
              <a:r>
                <a:rPr lang="en-US" sz="1600" dirty="0"/>
                <a:t>R</a:t>
              </a:r>
              <a:r>
                <a:rPr lang="en-US" sz="1600" baseline="-25000" dirty="0"/>
                <a:t>2</a:t>
              </a:r>
              <a:endParaRPr lang="en-US" baseline="-25000" dirty="0"/>
            </a:p>
          </p:txBody>
        </p:sp>
        <p:cxnSp>
          <p:nvCxnSpPr>
            <p:cNvPr id="84" name="Straight Connector 83">
              <a:extLst>
                <a:ext uri="{FF2B5EF4-FFF2-40B4-BE49-F238E27FC236}">
                  <a16:creationId xmlns:a16="http://schemas.microsoft.com/office/drawing/2014/main" id="{418D806F-B870-8C48-90F5-8DDC5C7F6AA7}"/>
                </a:ext>
              </a:extLst>
            </p:cNvPr>
            <p:cNvCxnSpPr>
              <a:cxnSpLocks/>
            </p:cNvCxnSpPr>
            <p:nvPr/>
          </p:nvCxnSpPr>
          <p:spPr>
            <a:xfrm>
              <a:off x="8157618" y="3198022"/>
              <a:ext cx="0" cy="106070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27" name="TextBox 126">
                <a:extLst>
                  <a:ext uri="{FF2B5EF4-FFF2-40B4-BE49-F238E27FC236}">
                    <a16:creationId xmlns:a16="http://schemas.microsoft.com/office/drawing/2014/main" id="{A0CAF5A2-7310-8D4B-B87C-43A4BFA1207D}"/>
                  </a:ext>
                </a:extLst>
              </p:cNvPr>
              <p:cNvSpPr txBox="1"/>
              <p:nvPr/>
            </p:nvSpPr>
            <p:spPr>
              <a:xfrm>
                <a:off x="6869324" y="3180145"/>
                <a:ext cx="4982413" cy="2516553"/>
              </a:xfrm>
              <a:prstGeom prst="rect">
                <a:avLst/>
              </a:prstGeom>
              <a:noFill/>
            </p:spPr>
            <p:txBody>
              <a:bodyPr wrap="square" rtlCol="0">
                <a:noAutofit/>
              </a:bodyPr>
              <a:lstStyle/>
              <a:p>
                <a:pPr marL="285750" indent="-28575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2</m:t>
                        </m:r>
                      </m:sub>
                    </m:sSub>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2</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2</m:t>
                            </m:r>
                          </m:sub>
                        </m:sSub>
                      </m:den>
                    </m:f>
                  </m:oMath>
                </a14:m>
                <a:endParaRPr lang="en-US" sz="2000" dirty="0"/>
              </a:p>
              <a:p>
                <a:pPr marL="285750" indent="-28575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r>
                      <a:rPr lang="en-US" sz="2000" b="0" i="1" smtClean="0">
                        <a:latin typeface="Cambria Math" panose="02040503050406030204" pitchFamily="18" charset="0"/>
                      </a:rPr>
                      <m:t>𝐴</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𝑣</m:t>
                            </m:r>
                          </m:e>
                          <m:sub>
                            <m:r>
                              <a:rPr lang="en-US" sz="2000" i="1">
                                <a:latin typeface="Cambria Math" panose="02040503050406030204" pitchFamily="18" charset="0"/>
                              </a:rPr>
                              <m:t>2</m:t>
                            </m:r>
                          </m:sub>
                        </m:sSub>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2</m:t>
                                </m:r>
                              </m:sub>
                            </m:sSub>
                          </m:num>
                          <m:den>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2</m:t>
                                </m:r>
                              </m:sub>
                            </m:sSub>
                          </m:den>
                        </m:f>
                      </m:e>
                    </m:d>
                  </m:oMath>
                </a14:m>
                <a:endParaRPr lang="en-US" sz="2000" dirty="0"/>
              </a:p>
              <a:p>
                <a:pPr marL="285750" indent="-285750">
                  <a:buFont typeface="Arial" panose="020B0604020202020204" pitchFamily="34" charset="0"/>
                  <a:buChar char="•"/>
                </a:pPr>
                <a14:m>
                  <m:oMath xmlns:m="http://schemas.openxmlformats.org/officeDocument/2006/math">
                    <m:f>
                      <m:fPr>
                        <m:ctrlPr>
                          <a:rPr lang="en-US" sz="200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2</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1</m:t>
                            </m:r>
                          </m:sub>
                        </m:sSub>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𝐴</m:t>
                        </m:r>
                      </m:num>
                      <m:den>
                        <m:r>
                          <a:rPr lang="en-US" sz="2000" b="0" i="1" smtClean="0">
                            <a:latin typeface="Cambria Math" panose="02040503050406030204" pitchFamily="18" charset="0"/>
                          </a:rPr>
                          <m:t>1+</m:t>
                        </m:r>
                        <m:r>
                          <a:rPr lang="en-US" sz="2000" b="0" i="1" smtClean="0">
                            <a:latin typeface="Cambria Math" panose="02040503050406030204" pitchFamily="18" charset="0"/>
                          </a:rPr>
                          <m:t>𝐴</m:t>
                        </m:r>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2</m:t>
                                </m:r>
                              </m:sub>
                            </m:sSub>
                          </m:num>
                          <m:den>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2</m:t>
                                </m:r>
                              </m:sub>
                            </m:sSub>
                          </m:den>
                        </m:f>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𝐴</m:t>
                        </m:r>
                      </m:num>
                      <m:den>
                        <m:r>
                          <a:rPr lang="en-US" sz="2000" b="0" i="1" smtClean="0">
                            <a:latin typeface="Cambria Math" panose="02040503050406030204" pitchFamily="18" charset="0"/>
                          </a:rPr>
                          <m:t>1+</m:t>
                        </m:r>
                        <m:r>
                          <a:rPr lang="en-US" sz="2000" b="0" i="1" smtClean="0">
                            <a:latin typeface="Cambria Math" panose="02040503050406030204" pitchFamily="18" charset="0"/>
                          </a:rPr>
                          <m:t>𝐴𝐵</m:t>
                        </m:r>
                      </m:den>
                    </m:f>
                  </m:oMath>
                </a14:m>
                <a:endParaRPr lang="en-US" sz="2000" dirty="0"/>
              </a:p>
              <a:p>
                <a:pPr marL="285750" indent="-285750">
                  <a:buFont typeface="Arial" panose="020B0604020202020204" pitchFamily="34" charset="0"/>
                  <a:buChar char="•"/>
                </a:pPr>
                <a14:m>
                  <m:oMath xmlns:m="http://schemas.openxmlformats.org/officeDocument/2006/math">
                    <m:r>
                      <a:rPr lang="en-US" sz="2000" b="0" i="1" smtClean="0">
                        <a:latin typeface="Cambria Math" panose="02040503050406030204" pitchFamily="18" charset="0"/>
                      </a:rPr>
                      <m:t>𝐾</m:t>
                    </m:r>
                    <m:r>
                      <a:rPr lang="en-US" sz="2000" b="0" i="1" smtClean="0">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𝐴</m:t>
                        </m:r>
                      </m:num>
                      <m:den>
                        <m:r>
                          <a:rPr lang="en-US" sz="2000" i="1">
                            <a:latin typeface="Cambria Math" panose="02040503050406030204" pitchFamily="18" charset="0"/>
                          </a:rPr>
                          <m:t>1+</m:t>
                        </m:r>
                        <m:r>
                          <a:rPr lang="en-US" sz="2000" i="1">
                            <a:latin typeface="Cambria Math" panose="02040503050406030204" pitchFamily="18" charset="0"/>
                          </a:rPr>
                          <m:t>𝐴𝐵</m:t>
                        </m:r>
                      </m:den>
                    </m:f>
                  </m:oMath>
                </a14:m>
                <a:endParaRPr lang="en-US" sz="2000" dirty="0"/>
              </a:p>
              <a:p>
                <a:pPr marL="285750" indent="-285750">
                  <a:buFont typeface="Arial" panose="020B0604020202020204" pitchFamily="34" charset="0"/>
                  <a:buChar char="•"/>
                </a:pPr>
                <a14:m>
                  <m:oMath xmlns:m="http://schemas.openxmlformats.org/officeDocument/2006/math">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𝑑𝐾</m:t>
                        </m:r>
                      </m:num>
                      <m:den>
                        <m:r>
                          <a:rPr lang="en-US" sz="2000" b="0" i="1" smtClean="0">
                            <a:latin typeface="Cambria Math" panose="02040503050406030204" pitchFamily="18" charset="0"/>
                          </a:rPr>
                          <m:t>𝑑𝐴</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(1+</m:t>
                            </m:r>
                            <m:r>
                              <a:rPr lang="en-US" sz="2000" b="0" i="1" smtClean="0">
                                <a:latin typeface="Cambria Math" panose="02040503050406030204" pitchFamily="18" charset="0"/>
                              </a:rPr>
                              <m:t>𝐴𝐵</m:t>
                            </m:r>
                            <m:r>
                              <a:rPr lang="en-US" sz="2000" b="0" i="1" smtClean="0">
                                <a:latin typeface="Cambria Math" panose="02040503050406030204" pitchFamily="18" charset="0"/>
                              </a:rPr>
                              <m:t>)</m:t>
                            </m:r>
                          </m:e>
                          <m:sup>
                            <m:r>
                              <a:rPr lang="en-US" sz="2000" b="0" i="1" smtClean="0">
                                <a:latin typeface="Cambria Math" panose="02040503050406030204" pitchFamily="18" charset="0"/>
                              </a:rPr>
                              <m:t>2</m:t>
                            </m:r>
                          </m:sup>
                        </m:sSup>
                      </m:den>
                    </m:f>
                  </m:oMath>
                </a14:m>
                <a:endParaRPr lang="en-US" sz="2000" dirty="0"/>
              </a:p>
            </p:txBody>
          </p:sp>
        </mc:Choice>
        <mc:Fallback xmlns="">
          <p:sp>
            <p:nvSpPr>
              <p:cNvPr id="127" name="TextBox 126">
                <a:extLst>
                  <a:ext uri="{FF2B5EF4-FFF2-40B4-BE49-F238E27FC236}">
                    <a16:creationId xmlns:a16="http://schemas.microsoft.com/office/drawing/2014/main" id="{A0CAF5A2-7310-8D4B-B87C-43A4BFA1207D}"/>
                  </a:ext>
                </a:extLst>
              </p:cNvPr>
              <p:cNvSpPr txBox="1">
                <a:spLocks noRot="1" noChangeAspect="1" noMove="1" noResize="1" noEditPoints="1" noAdjustHandles="1" noChangeArrowheads="1" noChangeShapeType="1" noTextEdit="1"/>
              </p:cNvSpPr>
              <p:nvPr/>
            </p:nvSpPr>
            <p:spPr>
              <a:xfrm>
                <a:off x="6869324" y="3180145"/>
                <a:ext cx="4982413" cy="2516553"/>
              </a:xfrm>
              <a:prstGeom prst="rect">
                <a:avLst/>
              </a:prstGeom>
              <a:blipFill>
                <a:blip r:embed="rId3"/>
                <a:stretch>
                  <a:fillRect l="-1015" b="-3518"/>
                </a:stretch>
              </a:blipFill>
            </p:spPr>
            <p:txBody>
              <a:bodyPr/>
              <a:lstStyle/>
              <a:p>
                <a:r>
                  <a:rPr lang="en-US">
                    <a:noFill/>
                  </a:rPr>
                  <a:t> </a:t>
                </a:r>
              </a:p>
            </p:txBody>
          </p:sp>
        </mc:Fallback>
      </mc:AlternateContent>
      <p:sp>
        <p:nvSpPr>
          <p:cNvPr id="129" name="TextBox 128">
            <a:extLst>
              <a:ext uri="{FF2B5EF4-FFF2-40B4-BE49-F238E27FC236}">
                <a16:creationId xmlns:a16="http://schemas.microsoft.com/office/drawing/2014/main" id="{B840C58E-1ADE-8240-9714-17B0B482AE42}"/>
              </a:ext>
            </a:extLst>
          </p:cNvPr>
          <p:cNvSpPr txBox="1"/>
          <p:nvPr/>
        </p:nvSpPr>
        <p:spPr>
          <a:xfrm>
            <a:off x="2698412" y="2033667"/>
            <a:ext cx="345328" cy="369332"/>
          </a:xfrm>
          <a:prstGeom prst="rect">
            <a:avLst/>
          </a:prstGeom>
          <a:noFill/>
        </p:spPr>
        <p:txBody>
          <a:bodyPr wrap="square" rtlCol="0">
            <a:spAutoFit/>
          </a:bodyPr>
          <a:lstStyle/>
          <a:p>
            <a:r>
              <a:rPr lang="en-US" dirty="0"/>
              <a:t>A</a:t>
            </a:r>
          </a:p>
        </p:txBody>
      </p:sp>
      <p:sp>
        <p:nvSpPr>
          <p:cNvPr id="131" name="TextBox 130">
            <a:extLst>
              <a:ext uri="{FF2B5EF4-FFF2-40B4-BE49-F238E27FC236}">
                <a16:creationId xmlns:a16="http://schemas.microsoft.com/office/drawing/2014/main" id="{E63DE585-0C89-B141-ADC5-B67D441B1020}"/>
              </a:ext>
            </a:extLst>
          </p:cNvPr>
          <p:cNvSpPr txBox="1"/>
          <p:nvPr/>
        </p:nvSpPr>
        <p:spPr>
          <a:xfrm>
            <a:off x="6923348" y="1878885"/>
            <a:ext cx="2634682" cy="1500275"/>
          </a:xfrm>
          <a:prstGeom prst="rect">
            <a:avLst/>
          </a:prstGeom>
          <a:noFill/>
        </p:spPr>
        <p:txBody>
          <a:bodyPr wrap="square" rtlCol="0">
            <a:noAutofit/>
          </a:bodyPr>
          <a:lstStyle/>
          <a:p>
            <a:r>
              <a:rPr lang="en-US" sz="2000" dirty="0"/>
              <a:t>Nyquist</a:t>
            </a:r>
          </a:p>
          <a:p>
            <a:pPr marL="742950" lvl="1" indent="-285750">
              <a:buFont typeface="Arial" panose="020B0604020202020204" pitchFamily="34" charset="0"/>
              <a:buChar char="•"/>
            </a:pPr>
            <a:r>
              <a:rPr lang="en-US" sz="2000" dirty="0"/>
              <a:t>Polar plot of AB</a:t>
            </a:r>
          </a:p>
        </p:txBody>
      </p:sp>
    </p:spTree>
    <p:extLst>
      <p:ext uri="{BB962C8B-B14F-4D97-AF65-F5344CB8AC3E}">
        <p14:creationId xmlns:p14="http://schemas.microsoft.com/office/powerpoint/2010/main" val="257937999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474749" y="155568"/>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Current to voltage</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9753600" y="642543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64</a:t>
            </a:fld>
            <a:endParaRPr lang="en-US" dirty="0">
              <a:solidFill>
                <a:schemeClr val="tx1"/>
              </a:solidFill>
            </a:endParaRPr>
          </a:p>
        </p:txBody>
      </p:sp>
      <p:grpSp>
        <p:nvGrpSpPr>
          <p:cNvPr id="4" name="Group 3">
            <a:extLst>
              <a:ext uri="{FF2B5EF4-FFF2-40B4-BE49-F238E27FC236}">
                <a16:creationId xmlns:a16="http://schemas.microsoft.com/office/drawing/2014/main" id="{C4219AB7-907C-1342-BCC0-05299DF98D19}"/>
              </a:ext>
            </a:extLst>
          </p:cNvPr>
          <p:cNvGrpSpPr/>
          <p:nvPr/>
        </p:nvGrpSpPr>
        <p:grpSpPr>
          <a:xfrm>
            <a:off x="3697522" y="2825990"/>
            <a:ext cx="4048675" cy="2106215"/>
            <a:chOff x="3811822" y="2197340"/>
            <a:chExt cx="4048675" cy="2106215"/>
          </a:xfrm>
        </p:grpSpPr>
        <p:sp>
          <p:nvSpPr>
            <p:cNvPr id="58" name="Freeform 43">
              <a:extLst>
                <a:ext uri="{FF2B5EF4-FFF2-40B4-BE49-F238E27FC236}">
                  <a16:creationId xmlns:a16="http://schemas.microsoft.com/office/drawing/2014/main" id="{7002A535-A2A7-9D4B-A28D-8A740D0EB9B2}"/>
                </a:ext>
              </a:extLst>
            </p:cNvPr>
            <p:cNvSpPr>
              <a:spLocks/>
            </p:cNvSpPr>
            <p:nvPr/>
          </p:nvSpPr>
          <p:spPr bwMode="auto">
            <a:xfrm>
              <a:off x="5663637" y="2931955"/>
              <a:ext cx="1066800" cy="1371600"/>
            </a:xfrm>
            <a:custGeom>
              <a:avLst/>
              <a:gdLst>
                <a:gd name="T0" fmla="*/ 6120 w 432"/>
                <a:gd name="T1" fmla="*/ 779 h 768"/>
                <a:gd name="T2" fmla="*/ 0 w 432"/>
                <a:gd name="T3" fmla="*/ 1558 h 768"/>
                <a:gd name="T4" fmla="*/ 0 w 432"/>
                <a:gd name="T5" fmla="*/ 0 h 768"/>
                <a:gd name="T6" fmla="*/ 6120 w 432"/>
                <a:gd name="T7" fmla="*/ 779 h 768"/>
                <a:gd name="T8" fmla="*/ 0 60000 65536"/>
                <a:gd name="T9" fmla="*/ 0 60000 65536"/>
                <a:gd name="T10" fmla="*/ 0 60000 65536"/>
                <a:gd name="T11" fmla="*/ 0 60000 65536"/>
                <a:gd name="T12" fmla="*/ 0 w 432"/>
                <a:gd name="T13" fmla="*/ 0 h 768"/>
                <a:gd name="T14" fmla="*/ 432 w 432"/>
                <a:gd name="T15" fmla="*/ 768 h 768"/>
              </a:gdLst>
              <a:ahLst/>
              <a:cxnLst>
                <a:cxn ang="T8">
                  <a:pos x="T0" y="T1"/>
                </a:cxn>
                <a:cxn ang="T9">
                  <a:pos x="T2" y="T3"/>
                </a:cxn>
                <a:cxn ang="T10">
                  <a:pos x="T4" y="T5"/>
                </a:cxn>
                <a:cxn ang="T11">
                  <a:pos x="T6" y="T7"/>
                </a:cxn>
              </a:cxnLst>
              <a:rect l="T12" t="T13" r="T14" b="T15"/>
              <a:pathLst>
                <a:path w="432" h="768">
                  <a:moveTo>
                    <a:pt x="432" y="384"/>
                  </a:moveTo>
                  <a:lnTo>
                    <a:pt x="0" y="768"/>
                  </a:lnTo>
                  <a:lnTo>
                    <a:pt x="0" y="0"/>
                  </a:lnTo>
                  <a:lnTo>
                    <a:pt x="432" y="38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59" name="Freeform 12">
              <a:extLst>
                <a:ext uri="{FF2B5EF4-FFF2-40B4-BE49-F238E27FC236}">
                  <a16:creationId xmlns:a16="http://schemas.microsoft.com/office/drawing/2014/main" id="{97CDFB28-B715-9A45-A96F-321C9407D45D}"/>
                </a:ext>
              </a:extLst>
            </p:cNvPr>
            <p:cNvSpPr>
              <a:spLocks noChangeAspect="1"/>
            </p:cNvSpPr>
            <p:nvPr/>
          </p:nvSpPr>
          <p:spPr bwMode="auto">
            <a:xfrm rot="5400000">
              <a:off x="5917580" y="2250863"/>
              <a:ext cx="151790" cy="758952"/>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 name="TextBox 1">
              <a:extLst>
                <a:ext uri="{FF2B5EF4-FFF2-40B4-BE49-F238E27FC236}">
                  <a16:creationId xmlns:a16="http://schemas.microsoft.com/office/drawing/2014/main" id="{269FBE37-1107-4F4E-809F-DE42E15FC7BA}"/>
                </a:ext>
              </a:extLst>
            </p:cNvPr>
            <p:cNvSpPr txBox="1"/>
            <p:nvPr/>
          </p:nvSpPr>
          <p:spPr>
            <a:xfrm>
              <a:off x="5632246" y="3069029"/>
              <a:ext cx="211756" cy="338554"/>
            </a:xfrm>
            <a:prstGeom prst="rect">
              <a:avLst/>
            </a:prstGeom>
            <a:noFill/>
          </p:spPr>
          <p:txBody>
            <a:bodyPr wrap="square" rtlCol="0">
              <a:spAutoFit/>
            </a:bodyPr>
            <a:lstStyle/>
            <a:p>
              <a:r>
                <a:rPr lang="en-US" sz="1600" dirty="0"/>
                <a:t>-</a:t>
              </a:r>
              <a:endParaRPr lang="en-US" dirty="0"/>
            </a:p>
          </p:txBody>
        </p:sp>
        <p:sp>
          <p:nvSpPr>
            <p:cNvPr id="61" name="TextBox 60">
              <a:extLst>
                <a:ext uri="{FF2B5EF4-FFF2-40B4-BE49-F238E27FC236}">
                  <a16:creationId xmlns:a16="http://schemas.microsoft.com/office/drawing/2014/main" id="{5A00A5FE-4B49-2C46-BADB-D0B84195B97F}"/>
                </a:ext>
              </a:extLst>
            </p:cNvPr>
            <p:cNvSpPr txBox="1"/>
            <p:nvPr/>
          </p:nvSpPr>
          <p:spPr>
            <a:xfrm>
              <a:off x="5659515" y="3741187"/>
              <a:ext cx="211756" cy="338554"/>
            </a:xfrm>
            <a:prstGeom prst="rect">
              <a:avLst/>
            </a:prstGeom>
            <a:noFill/>
          </p:spPr>
          <p:txBody>
            <a:bodyPr wrap="square" rtlCol="0">
              <a:spAutoFit/>
            </a:bodyPr>
            <a:lstStyle/>
            <a:p>
              <a:r>
                <a:rPr lang="en-US" sz="1600" dirty="0"/>
                <a:t>+</a:t>
              </a:r>
              <a:endParaRPr lang="en-US" dirty="0"/>
            </a:p>
          </p:txBody>
        </p:sp>
        <p:cxnSp>
          <p:nvCxnSpPr>
            <p:cNvPr id="33" name="Straight Connector 32">
              <a:extLst>
                <a:ext uri="{FF2B5EF4-FFF2-40B4-BE49-F238E27FC236}">
                  <a16:creationId xmlns:a16="http://schemas.microsoft.com/office/drawing/2014/main" id="{FCCD4BBA-4569-BC49-83B3-571884E7BC00}"/>
                </a:ext>
              </a:extLst>
            </p:cNvPr>
            <p:cNvCxnSpPr/>
            <p:nvPr/>
          </p:nvCxnSpPr>
          <p:spPr>
            <a:xfrm>
              <a:off x="4276936" y="3242278"/>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6DEEA716-6B66-0F4E-93D4-B6513B25B9E6}"/>
                </a:ext>
              </a:extLst>
            </p:cNvPr>
            <p:cNvSpPr txBox="1"/>
            <p:nvPr/>
          </p:nvSpPr>
          <p:spPr>
            <a:xfrm>
              <a:off x="3811822" y="3377435"/>
              <a:ext cx="462013" cy="338554"/>
            </a:xfrm>
            <a:prstGeom prst="rect">
              <a:avLst/>
            </a:prstGeom>
            <a:noFill/>
          </p:spPr>
          <p:txBody>
            <a:bodyPr wrap="square" rtlCol="0">
              <a:spAutoFit/>
            </a:bodyPr>
            <a:lstStyle/>
            <a:p>
              <a:r>
                <a:rPr lang="en-US" sz="1600" dirty="0"/>
                <a:t>i</a:t>
              </a:r>
              <a:r>
                <a:rPr lang="en-US" sz="1600" baseline="-25000" dirty="0"/>
                <a:t>1</a:t>
              </a:r>
              <a:endParaRPr lang="en-US" baseline="-25000" dirty="0"/>
            </a:p>
          </p:txBody>
        </p:sp>
        <p:cxnSp>
          <p:nvCxnSpPr>
            <p:cNvPr id="67" name="Straight Connector 66">
              <a:extLst>
                <a:ext uri="{FF2B5EF4-FFF2-40B4-BE49-F238E27FC236}">
                  <a16:creationId xmlns:a16="http://schemas.microsoft.com/office/drawing/2014/main" id="{64957433-845C-A14C-AD24-3136A819D697}"/>
                </a:ext>
              </a:extLst>
            </p:cNvPr>
            <p:cNvCxnSpPr>
              <a:cxnSpLocks/>
            </p:cNvCxnSpPr>
            <p:nvPr/>
          </p:nvCxnSpPr>
          <p:spPr>
            <a:xfrm>
              <a:off x="5329256" y="3928110"/>
              <a:ext cx="33207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C3EFE676-3903-1644-891D-4DD314DD382F}"/>
                </a:ext>
              </a:extLst>
            </p:cNvPr>
            <p:cNvCxnSpPr/>
            <p:nvPr/>
          </p:nvCxnSpPr>
          <p:spPr>
            <a:xfrm>
              <a:off x="6730437" y="3617755"/>
              <a:ext cx="78927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154958E-CC6E-3C46-AF7F-84C845389E4B}"/>
                </a:ext>
              </a:extLst>
            </p:cNvPr>
            <p:cNvCxnSpPr>
              <a:cxnSpLocks/>
            </p:cNvCxnSpPr>
            <p:nvPr/>
          </p:nvCxnSpPr>
          <p:spPr>
            <a:xfrm>
              <a:off x="4892963" y="2630339"/>
              <a:ext cx="82310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4" name="Group 13">
              <a:extLst>
                <a:ext uri="{FF2B5EF4-FFF2-40B4-BE49-F238E27FC236}">
                  <a16:creationId xmlns:a16="http://schemas.microsoft.com/office/drawing/2014/main" id="{F2587DD8-D9EB-244E-BD99-C718062192C9}"/>
                </a:ext>
              </a:extLst>
            </p:cNvPr>
            <p:cNvGrpSpPr>
              <a:grpSpLocks noChangeAspect="1"/>
            </p:cNvGrpSpPr>
            <p:nvPr/>
          </p:nvGrpSpPr>
          <p:grpSpPr bwMode="auto">
            <a:xfrm>
              <a:off x="7443509" y="3541555"/>
              <a:ext cx="152400" cy="152400"/>
              <a:chOff x="1344" y="2064"/>
              <a:chExt cx="192" cy="192"/>
            </a:xfrm>
          </p:grpSpPr>
          <p:sp>
            <p:nvSpPr>
              <p:cNvPr id="75" name="Oval 14">
                <a:extLst>
                  <a:ext uri="{FF2B5EF4-FFF2-40B4-BE49-F238E27FC236}">
                    <a16:creationId xmlns:a16="http://schemas.microsoft.com/office/drawing/2014/main" id="{FE4E85C8-990F-E94F-A135-31EDC4B60B25}"/>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76" name="Rectangle 15">
                <a:extLst>
                  <a:ext uri="{FF2B5EF4-FFF2-40B4-BE49-F238E27FC236}">
                    <a16:creationId xmlns:a16="http://schemas.microsoft.com/office/drawing/2014/main" id="{26478EC5-CF38-8742-AC1B-A75D72EBBE90}"/>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78" name="TextBox 77">
              <a:extLst>
                <a:ext uri="{FF2B5EF4-FFF2-40B4-BE49-F238E27FC236}">
                  <a16:creationId xmlns:a16="http://schemas.microsoft.com/office/drawing/2014/main" id="{3B010F6A-2955-E047-A78E-9F57D4B036EF}"/>
                </a:ext>
              </a:extLst>
            </p:cNvPr>
            <p:cNvSpPr txBox="1"/>
            <p:nvPr/>
          </p:nvSpPr>
          <p:spPr>
            <a:xfrm>
              <a:off x="7398484" y="3672752"/>
              <a:ext cx="462013" cy="338554"/>
            </a:xfrm>
            <a:prstGeom prst="rect">
              <a:avLst/>
            </a:prstGeom>
            <a:noFill/>
          </p:spPr>
          <p:txBody>
            <a:bodyPr wrap="square" rtlCol="0">
              <a:spAutoFit/>
            </a:bodyPr>
            <a:lstStyle/>
            <a:p>
              <a:r>
                <a:rPr lang="en-US" sz="1600" dirty="0"/>
                <a:t>v</a:t>
              </a:r>
              <a:r>
                <a:rPr lang="en-US" sz="1600" baseline="-25000" dirty="0"/>
                <a:t>2</a:t>
              </a:r>
              <a:endParaRPr lang="en-US" baseline="-25000" dirty="0"/>
            </a:p>
          </p:txBody>
        </p:sp>
        <p:cxnSp>
          <p:nvCxnSpPr>
            <p:cNvPr id="84" name="Straight Connector 83">
              <a:extLst>
                <a:ext uri="{FF2B5EF4-FFF2-40B4-BE49-F238E27FC236}">
                  <a16:creationId xmlns:a16="http://schemas.microsoft.com/office/drawing/2014/main" id="{418D806F-B870-8C48-90F5-8DDC5C7F6AA7}"/>
                </a:ext>
              </a:extLst>
            </p:cNvPr>
            <p:cNvCxnSpPr>
              <a:cxnSpLocks/>
            </p:cNvCxnSpPr>
            <p:nvPr/>
          </p:nvCxnSpPr>
          <p:spPr>
            <a:xfrm>
              <a:off x="4899441" y="2632570"/>
              <a:ext cx="0" cy="65587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5" name="Group 204">
              <a:extLst>
                <a:ext uri="{FF2B5EF4-FFF2-40B4-BE49-F238E27FC236}">
                  <a16:creationId xmlns:a16="http://schemas.microsoft.com/office/drawing/2014/main" id="{373B6161-842B-2942-9D68-87240F11E93B}"/>
                </a:ext>
              </a:extLst>
            </p:cNvPr>
            <p:cNvGrpSpPr>
              <a:grpSpLocks/>
            </p:cNvGrpSpPr>
            <p:nvPr/>
          </p:nvGrpSpPr>
          <p:grpSpPr bwMode="auto">
            <a:xfrm>
              <a:off x="4127213" y="3232211"/>
              <a:ext cx="304800" cy="762000"/>
              <a:chOff x="3552" y="2400"/>
              <a:chExt cx="192" cy="480"/>
            </a:xfrm>
          </p:grpSpPr>
          <p:sp>
            <p:nvSpPr>
              <p:cNvPr id="95" name="Line 52">
                <a:extLst>
                  <a:ext uri="{FF2B5EF4-FFF2-40B4-BE49-F238E27FC236}">
                    <a16:creationId xmlns:a16="http://schemas.microsoft.com/office/drawing/2014/main" id="{DAEB3D88-F21B-714A-AF72-953B6592E803}"/>
                  </a:ext>
                </a:extLst>
              </p:cNvPr>
              <p:cNvSpPr>
                <a:spLocks noChangeAspect="1" noChangeShapeType="1"/>
              </p:cNvSpPr>
              <p:nvPr/>
            </p:nvSpPr>
            <p:spPr bwMode="auto">
              <a:xfrm flipV="1">
                <a:off x="3648" y="2400"/>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 name="Line 53">
                <a:extLst>
                  <a:ext uri="{FF2B5EF4-FFF2-40B4-BE49-F238E27FC236}">
                    <a16:creationId xmlns:a16="http://schemas.microsoft.com/office/drawing/2014/main" id="{7F57B9C2-B1DF-B44F-809C-61B9A4110EA1}"/>
                  </a:ext>
                </a:extLst>
              </p:cNvPr>
              <p:cNvSpPr>
                <a:spLocks noChangeAspect="1" noChangeShapeType="1"/>
              </p:cNvSpPr>
              <p:nvPr/>
            </p:nvSpPr>
            <p:spPr bwMode="auto">
              <a:xfrm flipV="1">
                <a:off x="3648" y="2784"/>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 name="Line 54">
                <a:extLst>
                  <a:ext uri="{FF2B5EF4-FFF2-40B4-BE49-F238E27FC236}">
                    <a16:creationId xmlns:a16="http://schemas.microsoft.com/office/drawing/2014/main" id="{837F799F-D0EA-5443-B133-909AE8D94218}"/>
                  </a:ext>
                </a:extLst>
              </p:cNvPr>
              <p:cNvSpPr>
                <a:spLocks noChangeAspect="1" noChangeShapeType="1"/>
              </p:cNvSpPr>
              <p:nvPr/>
            </p:nvSpPr>
            <p:spPr bwMode="auto">
              <a:xfrm>
                <a:off x="3624" y="2592"/>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 name="Line 55">
                <a:extLst>
                  <a:ext uri="{FF2B5EF4-FFF2-40B4-BE49-F238E27FC236}">
                    <a16:creationId xmlns:a16="http://schemas.microsoft.com/office/drawing/2014/main" id="{4E5647E6-7A20-3B47-A84D-1BC637F70CCA}"/>
                  </a:ext>
                </a:extLst>
              </p:cNvPr>
              <p:cNvSpPr>
                <a:spLocks noChangeAspect="1" noChangeShapeType="1"/>
              </p:cNvSpPr>
              <p:nvPr/>
            </p:nvSpPr>
            <p:spPr bwMode="auto">
              <a:xfrm>
                <a:off x="3648" y="2568"/>
                <a:ext cx="0" cy="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 name="Line 56">
                <a:extLst>
                  <a:ext uri="{FF2B5EF4-FFF2-40B4-BE49-F238E27FC236}">
                    <a16:creationId xmlns:a16="http://schemas.microsoft.com/office/drawing/2014/main" id="{C0681D37-2A2F-6B45-8A17-EF0BF26D9B49}"/>
                  </a:ext>
                </a:extLst>
              </p:cNvPr>
              <p:cNvSpPr>
                <a:spLocks noChangeAspect="1" noChangeShapeType="1"/>
              </p:cNvSpPr>
              <p:nvPr/>
            </p:nvSpPr>
            <p:spPr bwMode="auto">
              <a:xfrm>
                <a:off x="3624" y="26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 name="Freeform 57">
                <a:extLst>
                  <a:ext uri="{FF2B5EF4-FFF2-40B4-BE49-F238E27FC236}">
                    <a16:creationId xmlns:a16="http://schemas.microsoft.com/office/drawing/2014/main" id="{53E9D927-8DCA-6D4A-A7D6-759628CAF3EC}"/>
                  </a:ext>
                </a:extLst>
              </p:cNvPr>
              <p:cNvSpPr>
                <a:spLocks noChangeAspect="1"/>
              </p:cNvSpPr>
              <p:nvPr/>
            </p:nvSpPr>
            <p:spPr bwMode="auto">
              <a:xfrm>
                <a:off x="3552" y="2496"/>
                <a:ext cx="192" cy="288"/>
              </a:xfrm>
              <a:custGeom>
                <a:avLst/>
                <a:gdLst>
                  <a:gd name="T0" fmla="*/ 3 w 384"/>
                  <a:gd name="T1" fmla="*/ 0 h 576"/>
                  <a:gd name="T2" fmla="*/ 0 w 384"/>
                  <a:gd name="T3" fmla="*/ 5 h 576"/>
                  <a:gd name="T4" fmla="*/ 3 w 384"/>
                  <a:gd name="T5" fmla="*/ 9 h 576"/>
                  <a:gd name="T6" fmla="*/ 6 w 384"/>
                  <a:gd name="T7" fmla="*/ 5 h 576"/>
                  <a:gd name="T8" fmla="*/ 3 w 384"/>
                  <a:gd name="T9" fmla="*/ 0 h 576"/>
                  <a:gd name="T10" fmla="*/ 0 60000 65536"/>
                  <a:gd name="T11" fmla="*/ 0 60000 65536"/>
                  <a:gd name="T12" fmla="*/ 0 60000 65536"/>
                  <a:gd name="T13" fmla="*/ 0 60000 65536"/>
                  <a:gd name="T14" fmla="*/ 0 60000 65536"/>
                  <a:gd name="T15" fmla="*/ 0 w 384"/>
                  <a:gd name="T16" fmla="*/ 0 h 576"/>
                  <a:gd name="T17" fmla="*/ 384 w 384"/>
                  <a:gd name="T18" fmla="*/ 576 h 576"/>
                </a:gdLst>
                <a:ahLst/>
                <a:cxnLst>
                  <a:cxn ang="T10">
                    <a:pos x="T0" y="T1"/>
                  </a:cxn>
                  <a:cxn ang="T11">
                    <a:pos x="T2" y="T3"/>
                  </a:cxn>
                  <a:cxn ang="T12">
                    <a:pos x="T4" y="T5"/>
                  </a:cxn>
                  <a:cxn ang="T13">
                    <a:pos x="T6" y="T7"/>
                  </a:cxn>
                  <a:cxn ang="T14">
                    <a:pos x="T8" y="T9"/>
                  </a:cxn>
                </a:cxnLst>
                <a:rect l="T15" t="T16" r="T17" b="T18"/>
                <a:pathLst>
                  <a:path w="384" h="576">
                    <a:moveTo>
                      <a:pt x="192" y="0"/>
                    </a:moveTo>
                    <a:lnTo>
                      <a:pt x="0" y="288"/>
                    </a:lnTo>
                    <a:lnTo>
                      <a:pt x="192" y="576"/>
                    </a:lnTo>
                    <a:lnTo>
                      <a:pt x="384" y="288"/>
                    </a:lnTo>
                    <a:lnTo>
                      <a:pt x="192"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34" name="Freeform 12">
              <a:extLst>
                <a:ext uri="{FF2B5EF4-FFF2-40B4-BE49-F238E27FC236}">
                  <a16:creationId xmlns:a16="http://schemas.microsoft.com/office/drawing/2014/main" id="{EE981420-C1EE-B844-AC01-398DD4A4B150}"/>
                </a:ext>
              </a:extLst>
            </p:cNvPr>
            <p:cNvSpPr>
              <a:spLocks noChangeAspect="1"/>
            </p:cNvSpPr>
            <p:nvPr/>
          </p:nvSpPr>
          <p:spPr bwMode="auto">
            <a:xfrm>
              <a:off x="4823241" y="3250348"/>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35" name="Group 13">
              <a:extLst>
                <a:ext uri="{FF2B5EF4-FFF2-40B4-BE49-F238E27FC236}">
                  <a16:creationId xmlns:a16="http://schemas.microsoft.com/office/drawing/2014/main" id="{D1C3D1CC-4492-6543-8B91-31DC949F820F}"/>
                </a:ext>
              </a:extLst>
            </p:cNvPr>
            <p:cNvGrpSpPr>
              <a:grpSpLocks noChangeAspect="1"/>
            </p:cNvGrpSpPr>
            <p:nvPr/>
          </p:nvGrpSpPr>
          <p:grpSpPr bwMode="auto">
            <a:xfrm>
              <a:off x="4826236" y="3174147"/>
              <a:ext cx="152400" cy="152400"/>
              <a:chOff x="1344" y="2064"/>
              <a:chExt cx="192" cy="192"/>
            </a:xfrm>
          </p:grpSpPr>
          <p:sp>
            <p:nvSpPr>
              <p:cNvPr id="136" name="Oval 14">
                <a:extLst>
                  <a:ext uri="{FF2B5EF4-FFF2-40B4-BE49-F238E27FC236}">
                    <a16:creationId xmlns:a16="http://schemas.microsoft.com/office/drawing/2014/main" id="{0408E16B-4858-BE4F-BBE1-6F09720DEB4B}"/>
                  </a:ext>
                </a:extLst>
              </p:cNvPr>
              <p:cNvSpPr>
                <a:spLocks noChangeAspect="1" noChangeArrowheads="1"/>
              </p:cNvSpPr>
              <p:nvPr/>
            </p:nvSpPr>
            <p:spPr bwMode="auto">
              <a:xfrm>
                <a:off x="1392" y="2095"/>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37" name="Rectangle 15">
                <a:extLst>
                  <a:ext uri="{FF2B5EF4-FFF2-40B4-BE49-F238E27FC236}">
                    <a16:creationId xmlns:a16="http://schemas.microsoft.com/office/drawing/2014/main" id="{7E734541-5A8B-1A40-BD85-420C199D4EEA}"/>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38" name="Group 220">
              <a:extLst>
                <a:ext uri="{FF2B5EF4-FFF2-40B4-BE49-F238E27FC236}">
                  <a16:creationId xmlns:a16="http://schemas.microsoft.com/office/drawing/2014/main" id="{EA77C2A6-8F80-0449-B1DD-2B6A4E87F0A1}"/>
                </a:ext>
              </a:extLst>
            </p:cNvPr>
            <p:cNvGrpSpPr>
              <a:grpSpLocks/>
            </p:cNvGrpSpPr>
            <p:nvPr/>
          </p:nvGrpSpPr>
          <p:grpSpPr bwMode="auto">
            <a:xfrm>
              <a:off x="4821643" y="3958520"/>
              <a:ext cx="152400" cy="304800"/>
              <a:chOff x="3264" y="3072"/>
              <a:chExt cx="96" cy="192"/>
            </a:xfrm>
          </p:grpSpPr>
          <p:sp>
            <p:nvSpPr>
              <p:cNvPr id="139" name="Line 17">
                <a:extLst>
                  <a:ext uri="{FF2B5EF4-FFF2-40B4-BE49-F238E27FC236}">
                    <a16:creationId xmlns:a16="http://schemas.microsoft.com/office/drawing/2014/main" id="{9037871E-B790-1447-8A07-27F2611473B6}"/>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0" name="Freeform 18">
                <a:extLst>
                  <a:ext uri="{FF2B5EF4-FFF2-40B4-BE49-F238E27FC236}">
                    <a16:creationId xmlns:a16="http://schemas.microsoft.com/office/drawing/2014/main" id="{2525E715-6EAE-0D43-A393-3D1FAF3AFA0B}"/>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41" name="TextBox 140">
              <a:extLst>
                <a:ext uri="{FF2B5EF4-FFF2-40B4-BE49-F238E27FC236}">
                  <a16:creationId xmlns:a16="http://schemas.microsoft.com/office/drawing/2014/main" id="{726DA802-9BEB-8F43-8CE7-2F7CD1D995A6}"/>
                </a:ext>
              </a:extLst>
            </p:cNvPr>
            <p:cNvSpPr txBox="1"/>
            <p:nvPr/>
          </p:nvSpPr>
          <p:spPr>
            <a:xfrm>
              <a:off x="4954367" y="3476176"/>
              <a:ext cx="462013" cy="338554"/>
            </a:xfrm>
            <a:prstGeom prst="rect">
              <a:avLst/>
            </a:prstGeom>
            <a:noFill/>
          </p:spPr>
          <p:txBody>
            <a:bodyPr wrap="square" rtlCol="0">
              <a:spAutoFit/>
            </a:bodyPr>
            <a:lstStyle/>
            <a:p>
              <a:r>
                <a:rPr lang="en-US" sz="1600" dirty="0"/>
                <a:t>R</a:t>
              </a:r>
              <a:r>
                <a:rPr lang="en-US" sz="1600" baseline="-25000" dirty="0"/>
                <a:t>2</a:t>
              </a:r>
              <a:endParaRPr lang="en-US" baseline="-25000" dirty="0"/>
            </a:p>
          </p:txBody>
        </p:sp>
        <p:grpSp>
          <p:nvGrpSpPr>
            <p:cNvPr id="142" name="Group 220">
              <a:extLst>
                <a:ext uri="{FF2B5EF4-FFF2-40B4-BE49-F238E27FC236}">
                  <a16:creationId xmlns:a16="http://schemas.microsoft.com/office/drawing/2014/main" id="{810ADB51-4C84-B54E-8FB0-04836CA9DE06}"/>
                </a:ext>
              </a:extLst>
            </p:cNvPr>
            <p:cNvGrpSpPr>
              <a:grpSpLocks/>
            </p:cNvGrpSpPr>
            <p:nvPr/>
          </p:nvGrpSpPr>
          <p:grpSpPr bwMode="auto">
            <a:xfrm>
              <a:off x="5249468" y="3923631"/>
              <a:ext cx="152400" cy="304800"/>
              <a:chOff x="3264" y="3072"/>
              <a:chExt cx="96" cy="192"/>
            </a:xfrm>
          </p:grpSpPr>
          <p:sp>
            <p:nvSpPr>
              <p:cNvPr id="143" name="Line 17">
                <a:extLst>
                  <a:ext uri="{FF2B5EF4-FFF2-40B4-BE49-F238E27FC236}">
                    <a16:creationId xmlns:a16="http://schemas.microsoft.com/office/drawing/2014/main" id="{26ED244D-73E5-C946-9C98-CE941469B60D}"/>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 name="Freeform 18">
                <a:extLst>
                  <a:ext uri="{FF2B5EF4-FFF2-40B4-BE49-F238E27FC236}">
                    <a16:creationId xmlns:a16="http://schemas.microsoft.com/office/drawing/2014/main" id="{85B3B89A-33D8-DF44-A111-67AE362AFCD8}"/>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45" name="Group 220">
              <a:extLst>
                <a:ext uri="{FF2B5EF4-FFF2-40B4-BE49-F238E27FC236}">
                  <a16:creationId xmlns:a16="http://schemas.microsoft.com/office/drawing/2014/main" id="{D567C175-D3A4-A14F-8FD2-B5A8AEF0246A}"/>
                </a:ext>
              </a:extLst>
            </p:cNvPr>
            <p:cNvGrpSpPr>
              <a:grpSpLocks/>
            </p:cNvGrpSpPr>
            <p:nvPr/>
          </p:nvGrpSpPr>
          <p:grpSpPr bwMode="auto">
            <a:xfrm>
              <a:off x="4212046" y="3921793"/>
              <a:ext cx="152400" cy="304800"/>
              <a:chOff x="3264" y="3072"/>
              <a:chExt cx="96" cy="192"/>
            </a:xfrm>
          </p:grpSpPr>
          <p:sp>
            <p:nvSpPr>
              <p:cNvPr id="146" name="Line 17">
                <a:extLst>
                  <a:ext uri="{FF2B5EF4-FFF2-40B4-BE49-F238E27FC236}">
                    <a16:creationId xmlns:a16="http://schemas.microsoft.com/office/drawing/2014/main" id="{4E412692-F1A6-AC4F-B8B3-AF2A47B84F08}"/>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7" name="Freeform 18">
                <a:extLst>
                  <a:ext uri="{FF2B5EF4-FFF2-40B4-BE49-F238E27FC236}">
                    <a16:creationId xmlns:a16="http://schemas.microsoft.com/office/drawing/2014/main" id="{57A8DB24-6748-BC47-8B5A-6987294550E5}"/>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cxnSp>
          <p:nvCxnSpPr>
            <p:cNvPr id="148" name="Straight Connector 147">
              <a:extLst>
                <a:ext uri="{FF2B5EF4-FFF2-40B4-BE49-F238E27FC236}">
                  <a16:creationId xmlns:a16="http://schemas.microsoft.com/office/drawing/2014/main" id="{8B65EA8C-CD9D-7743-8FA3-3BFFCE0932FA}"/>
                </a:ext>
              </a:extLst>
            </p:cNvPr>
            <p:cNvCxnSpPr>
              <a:cxnSpLocks/>
            </p:cNvCxnSpPr>
            <p:nvPr/>
          </p:nvCxnSpPr>
          <p:spPr>
            <a:xfrm>
              <a:off x="6935728" y="2630339"/>
              <a:ext cx="0" cy="99779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F65BDF30-C331-6041-A3DF-8AEC59DE8C5C}"/>
                </a:ext>
              </a:extLst>
            </p:cNvPr>
            <p:cNvCxnSpPr>
              <a:cxnSpLocks/>
            </p:cNvCxnSpPr>
            <p:nvPr/>
          </p:nvCxnSpPr>
          <p:spPr>
            <a:xfrm>
              <a:off x="6345353" y="2628501"/>
              <a:ext cx="601392" cy="183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C4AB8BF7-6520-F944-AE27-CADB2127B278}"/>
                </a:ext>
              </a:extLst>
            </p:cNvPr>
            <p:cNvSpPr txBox="1"/>
            <p:nvPr/>
          </p:nvSpPr>
          <p:spPr>
            <a:xfrm>
              <a:off x="5835638" y="2197340"/>
              <a:ext cx="462013" cy="338554"/>
            </a:xfrm>
            <a:prstGeom prst="rect">
              <a:avLst/>
            </a:prstGeom>
            <a:noFill/>
          </p:spPr>
          <p:txBody>
            <a:bodyPr wrap="square" rtlCol="0">
              <a:spAutoFit/>
            </a:bodyPr>
            <a:lstStyle/>
            <a:p>
              <a:r>
                <a:rPr lang="en-US" sz="1600" dirty="0"/>
                <a:t>R</a:t>
              </a:r>
              <a:r>
                <a:rPr lang="en-US" sz="1600" baseline="-25000" dirty="0"/>
                <a:t>1</a:t>
              </a:r>
              <a:endParaRPr lang="en-US" baseline="-25000" dirty="0"/>
            </a:p>
          </p:txBody>
        </p:sp>
      </p:grpSp>
    </p:spTree>
    <p:extLst>
      <p:ext uri="{BB962C8B-B14F-4D97-AF65-F5344CB8AC3E}">
        <p14:creationId xmlns:p14="http://schemas.microsoft.com/office/powerpoint/2010/main" val="1056475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728424" y="136525"/>
            <a:ext cx="10515600" cy="869909"/>
          </a:xfrm>
        </p:spPr>
        <p:txBody>
          <a:bodyPr/>
          <a:lstStyle/>
          <a:p>
            <a:pPr algn="ctr"/>
            <a:r>
              <a:rPr lang="en-US" dirty="0">
                <a:latin typeface="Calibri" panose="020F0502020204030204" pitchFamily="34" charset="0"/>
                <a:cs typeface="Calibri" panose="020F0502020204030204" pitchFamily="34" charset="0"/>
              </a:rPr>
              <a:t>PLL</a:t>
            </a:r>
          </a:p>
        </p:txBody>
      </p:sp>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65</a:t>
            </a:fld>
            <a:endParaRPr lang="en-US"/>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123EE840-F296-B848-9059-5A9959231202}"/>
                  </a:ext>
                </a:extLst>
              </p:cNvPr>
              <p:cNvSpPr txBox="1"/>
              <p:nvPr/>
            </p:nvSpPr>
            <p:spPr>
              <a:xfrm>
                <a:off x="167269" y="3831544"/>
                <a:ext cx="6694090" cy="2589187"/>
              </a:xfrm>
              <a:prstGeom prst="rect">
                <a:avLst/>
              </a:prstGeom>
              <a:noFill/>
            </p:spPr>
            <p:txBody>
              <a:bodyPr wrap="square" rtlCol="0">
                <a:noAutofit/>
              </a:bodyPr>
              <a:lstStyle/>
              <a:p>
                <a:pPr marL="342900" indent="-342900">
                  <a:buFont typeface="Arial" panose="020B0604020202020204" pitchFamily="34" charset="0"/>
                  <a:buChar char="•"/>
                </a:pPr>
                <a:r>
                  <a:rPr lang="en-US" sz="2000" dirty="0"/>
                  <a:t>For general PLL, if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𝑟𝑒𝑓</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𝑅</m:t>
                        </m:r>
                      </m:sub>
                    </m:sSub>
                    <m:func>
                      <m:funcPr>
                        <m:ctrlPr>
                          <a:rPr lang="en-US" sz="2000" b="0" i="0" smtClean="0">
                            <a:latin typeface="Cambria Math" panose="02040503050406030204" pitchFamily="18" charset="0"/>
                          </a:rPr>
                        </m:ctrlPr>
                      </m:funcPr>
                      <m:fName>
                        <m:r>
                          <m:rPr>
                            <m:sty m:val="p"/>
                          </m:rPr>
                          <a:rPr lang="en-US" sz="2000" b="0" i="0" smtClean="0">
                            <a:latin typeface="Cambria Math" panose="02040503050406030204" pitchFamily="18" charset="0"/>
                          </a:rPr>
                          <m:t>cos</m:t>
                        </m:r>
                      </m:fName>
                      <m:e>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𝑡</m:t>
                            </m:r>
                            <m:r>
                              <a:rPr lang="en-US" sz="2000" b="0" i="1" smtClean="0">
                                <a:latin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𝜙</m:t>
                                </m:r>
                              </m:e>
                              <m:sub>
                                <m:r>
                                  <a:rPr lang="en-US" sz="2000" b="0" i="1" smtClean="0">
                                    <a:latin typeface="Cambria Math" panose="02040503050406030204" pitchFamily="18" charset="0"/>
                                  </a:rPr>
                                  <m:t>𝑅</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e>
                        </m:d>
                      </m:e>
                    </m:func>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𝑣</m:t>
                        </m:r>
                      </m:e>
                      <m:sub>
                        <m:r>
                          <a:rPr lang="en-US" sz="2000" b="0" i="1" smtClean="0">
                            <a:latin typeface="Cambria Math" panose="02040503050406030204" pitchFamily="18" charset="0"/>
                          </a:rPr>
                          <m:t>𝑉𝐶𝑂</m:t>
                        </m:r>
                      </m:sub>
                    </m:sSub>
                    <m:d>
                      <m:dPr>
                        <m:ctrlPr>
                          <a:rPr lang="en-US" sz="2000" i="1">
                            <a:latin typeface="Cambria Math" panose="02040503050406030204" pitchFamily="18" charset="0"/>
                          </a:rPr>
                        </m:ctrlPr>
                      </m:dPr>
                      <m:e>
                        <m:r>
                          <a:rPr lang="en-US" sz="2000" i="1">
                            <a:latin typeface="Cambria Math" panose="02040503050406030204" pitchFamily="18" charset="0"/>
                          </a:rPr>
                          <m:t>𝑡</m:t>
                        </m:r>
                      </m:e>
                    </m:d>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𝑉</m:t>
                        </m:r>
                      </m:e>
                      <m:sub>
                        <m:r>
                          <a:rPr lang="en-US" sz="2000" b="0" i="1" smtClean="0">
                            <a:latin typeface="Cambria Math" panose="02040503050406030204" pitchFamily="18" charset="0"/>
                          </a:rPr>
                          <m:t>𝑉</m:t>
                        </m:r>
                      </m:sub>
                    </m:sSub>
                    <m:r>
                      <m:rPr>
                        <m:sty m:val="p"/>
                      </m:rPr>
                      <a:rPr lang="en-US" sz="2000">
                        <a:latin typeface="Cambria Math" panose="02040503050406030204" pitchFamily="18" charset="0"/>
                      </a:rPr>
                      <m:t>cos</m:t>
                    </m:r>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rPr>
                          <m:t>0</m:t>
                        </m:r>
                      </m:sub>
                    </m:sSub>
                    <m:r>
                      <a:rPr lang="en-US" sz="2000" i="1">
                        <a:latin typeface="Cambria Math" panose="02040503050406030204" pitchFamily="18" charset="0"/>
                      </a:rPr>
                      <m:t>𝑡</m:t>
                    </m:r>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𝜙</m:t>
                        </m:r>
                      </m:e>
                      <m:sub>
                        <m:r>
                          <a:rPr lang="en-US" sz="2000" b="0" i="1" smtClean="0">
                            <a:latin typeface="Cambria Math" panose="02040503050406030204" pitchFamily="18" charset="0"/>
                          </a:rPr>
                          <m:t>𝑉</m:t>
                        </m:r>
                      </m:sub>
                    </m:sSub>
                    <m:d>
                      <m:dPr>
                        <m:ctrlPr>
                          <a:rPr lang="en-US" sz="2000" i="1">
                            <a:latin typeface="Cambria Math" panose="02040503050406030204" pitchFamily="18" charset="0"/>
                          </a:rPr>
                        </m:ctrlPr>
                      </m:dPr>
                      <m:e>
                        <m:r>
                          <a:rPr lang="en-US" sz="2000" i="1">
                            <a:latin typeface="Cambria Math" panose="02040503050406030204" pitchFamily="18" charset="0"/>
                          </a:rPr>
                          <m:t>𝑡</m:t>
                        </m:r>
                      </m:e>
                    </m:d>
                    <m:r>
                      <a:rPr lang="en-US" sz="2000" i="1">
                        <a:latin typeface="Cambria Math" panose="02040503050406030204" pitchFamily="18" charset="0"/>
                      </a:rPr>
                      <m:t>)</m:t>
                    </m:r>
                  </m:oMath>
                </a14:m>
                <a:r>
                  <a:rPr lang="en-US" sz="2000" dirty="0"/>
                  <a:t>, </a:t>
                </a:r>
                <a14:m>
                  <m:oMath xmlns:m="http://schemas.openxmlformats.org/officeDocument/2006/math">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𝑣</m:t>
                        </m:r>
                      </m:e>
                      <m:sub>
                        <m:r>
                          <a:rPr lang="en-US" sz="2000" b="0" i="1" dirty="0" smtClean="0">
                            <a:latin typeface="Cambria Math" panose="02040503050406030204" pitchFamily="18" charset="0"/>
                          </a:rPr>
                          <m:t>𝐷</m:t>
                        </m:r>
                      </m:sub>
                    </m:sSub>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𝑘</m:t>
                        </m:r>
                      </m:e>
                      <m:sub>
                        <m:r>
                          <a:rPr lang="en-US" sz="2000" b="0" i="1" dirty="0" smtClean="0">
                            <a:latin typeface="Cambria Math" panose="02040503050406030204" pitchFamily="18" charset="0"/>
                          </a:rPr>
                          <m:t>𝐷</m:t>
                        </m:r>
                      </m:sub>
                    </m:sSub>
                  </m:oMath>
                </a14:m>
                <a:r>
                  <a:rPr lang="en-US" sz="2000" dirty="0"/>
                  <a:t>(</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𝑣</m:t>
                        </m:r>
                      </m:e>
                      <m:sub>
                        <m:r>
                          <a:rPr lang="en-US" sz="2000" i="1">
                            <a:latin typeface="Cambria Math" panose="02040503050406030204" pitchFamily="18" charset="0"/>
                          </a:rPr>
                          <m:t>𝑟𝑒𝑓</m:t>
                        </m:r>
                      </m:sub>
                    </m:sSub>
                    <m:d>
                      <m:dPr>
                        <m:ctrlPr>
                          <a:rPr lang="en-US" sz="2000" i="1">
                            <a:latin typeface="Cambria Math" panose="02040503050406030204" pitchFamily="18" charset="0"/>
                          </a:rPr>
                        </m:ctrlPr>
                      </m:dPr>
                      <m:e>
                        <m:r>
                          <a:rPr lang="en-US" sz="2000" i="1">
                            <a:latin typeface="Cambria Math" panose="02040503050406030204" pitchFamily="18" charset="0"/>
                          </a:rPr>
                          <m:t>𝑡</m:t>
                        </m:r>
                      </m:e>
                    </m:d>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𝑣</m:t>
                        </m:r>
                      </m:e>
                      <m:sub>
                        <m:r>
                          <a:rPr lang="en-US" sz="2000" i="1">
                            <a:latin typeface="Cambria Math" panose="02040503050406030204" pitchFamily="18" charset="0"/>
                          </a:rPr>
                          <m:t>𝑉𝐶𝑂</m:t>
                        </m:r>
                      </m:sub>
                    </m:sSub>
                    <m:d>
                      <m:dPr>
                        <m:ctrlPr>
                          <a:rPr lang="en-US" sz="2000" i="1">
                            <a:latin typeface="Cambria Math" panose="02040503050406030204" pitchFamily="18" charset="0"/>
                          </a:rPr>
                        </m:ctrlPr>
                      </m:dPr>
                      <m:e>
                        <m:r>
                          <a:rPr lang="en-US" sz="2000" i="1">
                            <a:latin typeface="Cambria Math" panose="02040503050406030204" pitchFamily="18" charset="0"/>
                          </a:rPr>
                          <m:t>𝑡</m:t>
                        </m:r>
                      </m:e>
                    </m:d>
                  </m:oMath>
                </a14:m>
                <a:r>
                  <a:rPr lang="en-US" sz="2000" dirty="0"/>
                  <a:t>) where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𝑣</m:t>
                        </m:r>
                      </m:e>
                      <m:sub>
                        <m:r>
                          <a:rPr lang="en-US" sz="2000" i="1" dirty="0">
                            <a:latin typeface="Cambria Math" panose="02040503050406030204" pitchFamily="18" charset="0"/>
                          </a:rPr>
                          <m:t>𝐷</m:t>
                        </m:r>
                      </m:sub>
                    </m:sSub>
                  </m:oMath>
                </a14:m>
                <a:r>
                  <a:rPr lang="en-US" sz="2000" dirty="0"/>
                  <a:t> is the output of the phase detector.</a:t>
                </a:r>
              </a:p>
              <a:p>
                <a:pPr marL="342900" indent="-342900">
                  <a:buFont typeface="Arial" panose="020B0604020202020204" pitchFamily="34" charset="0"/>
                  <a:buChar char="•"/>
                </a:pPr>
                <a:endParaRPr lang="en-US" sz="2000" i="1" dirty="0">
                  <a:latin typeface="Cambria Math" panose="02040503050406030204" pitchFamily="18" charset="0"/>
                </a:endParaRPr>
              </a:p>
              <a:p>
                <a:pPr marL="342900" indent="-34290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=.3</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m:t>
                        </m:r>
                        <m:r>
                          <a:rPr lang="en-US" sz="2000" b="0" i="1" smtClean="0">
                            <a:latin typeface="Cambria Math" panose="02040503050406030204" pitchFamily="18" charset="0"/>
                          </a:rPr>
                          <m:t>𝑅𝐶</m:t>
                        </m:r>
                        <m:r>
                          <a:rPr lang="en-US" sz="2000" b="0" i="1" smtClean="0">
                            <a:latin typeface="Cambria Math" panose="02040503050406030204" pitchFamily="18" charset="0"/>
                          </a:rPr>
                          <m:t>)</m:t>
                        </m:r>
                      </m:e>
                      <m:sup>
                        <m:r>
                          <a:rPr lang="en-US" sz="2000" b="0" i="1" smtClean="0">
                            <a:latin typeface="Cambria Math" panose="02040503050406030204" pitchFamily="18" charset="0"/>
                          </a:rPr>
                          <m:t>−1</m:t>
                        </m:r>
                      </m:sup>
                    </m:sSup>
                  </m:oMath>
                </a14:m>
                <a:endParaRPr lang="en-US" sz="2000" dirty="0"/>
              </a:p>
              <a:p>
                <a:pPr marL="800100" lvl="1" indent="-342900">
                  <a:buFont typeface="+mj-lt"/>
                  <a:buAutoNum type="arabicPeriod"/>
                </a:pPr>
                <a:r>
                  <a:rPr lang="en-US" sz="2000" dirty="0"/>
                  <a:t>With no input, VCO out is about 1360Hz</a:t>
                </a:r>
              </a:p>
              <a:p>
                <a:pPr marL="800100" lvl="1" indent="-342900">
                  <a:buFont typeface="+mj-lt"/>
                  <a:buAutoNum type="arabicPeriod"/>
                </a:pPr>
                <a:r>
                  <a:rPr lang="en-US" sz="2000" dirty="0"/>
                  <a:t>For input, set function generator to 1V</a:t>
                </a:r>
                <a:r>
                  <a:rPr lang="en-US" sz="2000" baseline="-25000" dirty="0"/>
                  <a:t>pp</a:t>
                </a:r>
              </a:p>
            </p:txBody>
          </p:sp>
        </mc:Choice>
        <mc:Fallback xmlns="">
          <p:sp>
            <p:nvSpPr>
              <p:cNvPr id="45" name="TextBox 44">
                <a:extLst>
                  <a:ext uri="{FF2B5EF4-FFF2-40B4-BE49-F238E27FC236}">
                    <a16:creationId xmlns:a16="http://schemas.microsoft.com/office/drawing/2014/main" id="{123EE840-F296-B848-9059-5A9959231202}"/>
                  </a:ext>
                </a:extLst>
              </p:cNvPr>
              <p:cNvSpPr txBox="1">
                <a:spLocks noRot="1" noChangeAspect="1" noMove="1" noResize="1" noEditPoints="1" noAdjustHandles="1" noChangeArrowheads="1" noChangeShapeType="1" noTextEdit="1"/>
              </p:cNvSpPr>
              <p:nvPr/>
            </p:nvSpPr>
            <p:spPr>
              <a:xfrm>
                <a:off x="167269" y="3831544"/>
                <a:ext cx="6694090" cy="2589187"/>
              </a:xfrm>
              <a:prstGeom prst="rect">
                <a:avLst/>
              </a:prstGeom>
              <a:blipFill>
                <a:blip r:embed="rId3"/>
                <a:stretch>
                  <a:fillRect l="-567" t="-488"/>
                </a:stretch>
              </a:blipFill>
            </p:spPr>
            <p:txBody>
              <a:bodyPr/>
              <a:lstStyle/>
              <a:p>
                <a:r>
                  <a:rPr lang="en-US">
                    <a:noFill/>
                  </a:rPr>
                  <a:t> </a:t>
                </a:r>
              </a:p>
            </p:txBody>
          </p:sp>
        </mc:Fallback>
      </mc:AlternateContent>
      <p:grpSp>
        <p:nvGrpSpPr>
          <p:cNvPr id="30" name="Group 29">
            <a:extLst>
              <a:ext uri="{FF2B5EF4-FFF2-40B4-BE49-F238E27FC236}">
                <a16:creationId xmlns:a16="http://schemas.microsoft.com/office/drawing/2014/main" id="{9A96E3EE-6F5E-4F4B-A876-58D2BC91FC93}"/>
              </a:ext>
            </a:extLst>
          </p:cNvPr>
          <p:cNvGrpSpPr/>
          <p:nvPr/>
        </p:nvGrpSpPr>
        <p:grpSpPr>
          <a:xfrm>
            <a:off x="535260" y="1228370"/>
            <a:ext cx="4808655" cy="2100957"/>
            <a:chOff x="493393" y="4321290"/>
            <a:chExt cx="4808655" cy="2100957"/>
          </a:xfrm>
        </p:grpSpPr>
        <p:sp>
          <p:nvSpPr>
            <p:cNvPr id="148" name="TextBox 147">
              <a:extLst>
                <a:ext uri="{FF2B5EF4-FFF2-40B4-BE49-F238E27FC236}">
                  <a16:creationId xmlns:a16="http://schemas.microsoft.com/office/drawing/2014/main" id="{9527519A-4130-DF4E-A1EA-A581149380C8}"/>
                </a:ext>
              </a:extLst>
            </p:cNvPr>
            <p:cNvSpPr txBox="1"/>
            <p:nvPr/>
          </p:nvSpPr>
          <p:spPr>
            <a:xfrm flipH="1">
              <a:off x="2613094" y="5299036"/>
              <a:ext cx="571748"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dirty="0">
                  <a:solidFill>
                    <a:srgbClr val="000000"/>
                  </a:solidFill>
                </a:rPr>
                <a:t>VCO</a:t>
              </a:r>
              <a:endParaRPr lang="en-US" sz="1400" dirty="0">
                <a:solidFill>
                  <a:srgbClr val="000000"/>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54" name="TextBox 153">
                  <a:extLst>
                    <a:ext uri="{FF2B5EF4-FFF2-40B4-BE49-F238E27FC236}">
                      <a16:creationId xmlns:a16="http://schemas.microsoft.com/office/drawing/2014/main" id="{2367FE76-0C16-3E4E-9161-3FF907DBBE21}"/>
                    </a:ext>
                  </a:extLst>
                </p:cNvPr>
                <p:cNvSpPr txBox="1"/>
                <p:nvPr/>
              </p:nvSpPr>
              <p:spPr>
                <a:xfrm>
                  <a:off x="1308396" y="4321290"/>
                  <a:ext cx="812227" cy="769441"/>
                </a:xfrm>
                <a:prstGeom prst="rect">
                  <a:avLst/>
                </a:prstGeom>
                <a:noFill/>
              </p:spPr>
              <p:txBody>
                <a:bodyPr wrap="square" rtlCol="0">
                  <a:spAutoFit/>
                </a:bodyPr>
                <a:lstStyle/>
                <a:p>
                  <a:pPr/>
                  <a14:m>
                    <m:oMathPara xmlns:m="http://schemas.openxmlformats.org/officeDocument/2006/math">
                      <m:oMath>
                        <m:r>
                          <a:rPr lang="en-US" sz="4400" i="1" smtClean="0">
                            <a:latin typeface="Cambria Math" panose="02040503050406030204" pitchFamily="18" charset="0"/>
                            <a:ea typeface="Cambria Math" panose="02040503050406030204" pitchFamily="18" charset="0"/>
                          </a:rPr>
                          <m:t>⊗</m:t>
                        </m:r>
                      </m:oMath>
                    </m:oMathPara>
                  </a14:m>
                  <a:endParaRPr lang="en-US" sz="4400" dirty="0"/>
                </a:p>
              </p:txBody>
            </p:sp>
          </mc:Choice>
          <mc:Fallback xmlns="">
            <p:sp>
              <p:nvSpPr>
                <p:cNvPr id="154" name="TextBox 153">
                  <a:extLst>
                    <a:ext uri="{FF2B5EF4-FFF2-40B4-BE49-F238E27FC236}">
                      <a16:creationId xmlns:a16="http://schemas.microsoft.com/office/drawing/2014/main" id="{2367FE76-0C16-3E4E-9161-3FF907DBBE21}"/>
                    </a:ext>
                  </a:extLst>
                </p:cNvPr>
                <p:cNvSpPr txBox="1">
                  <a:spLocks noRot="1" noChangeAspect="1" noMove="1" noResize="1" noEditPoints="1" noAdjustHandles="1" noChangeArrowheads="1" noChangeShapeType="1" noTextEdit="1"/>
                </p:cNvSpPr>
                <p:nvPr/>
              </p:nvSpPr>
              <p:spPr>
                <a:xfrm>
                  <a:off x="1308396" y="4321290"/>
                  <a:ext cx="812227" cy="769441"/>
                </a:xfrm>
                <a:prstGeom prst="rect">
                  <a:avLst/>
                </a:prstGeom>
                <a:blipFill>
                  <a:blip r:embed="rId4"/>
                  <a:stretch>
                    <a:fillRect l="-13846" r="-12308" b="-14754"/>
                  </a:stretch>
                </a:blipFill>
              </p:spPr>
              <p:txBody>
                <a:bodyPr/>
                <a:lstStyle/>
                <a:p>
                  <a:r>
                    <a:rPr lang="en-US">
                      <a:noFill/>
                    </a:rPr>
                    <a:t> </a:t>
                  </a:r>
                </a:p>
              </p:txBody>
            </p:sp>
          </mc:Fallback>
        </mc:AlternateContent>
        <p:cxnSp>
          <p:nvCxnSpPr>
            <p:cNvPr id="155" name="Straight Arrow Connector 154">
              <a:extLst>
                <a:ext uri="{FF2B5EF4-FFF2-40B4-BE49-F238E27FC236}">
                  <a16:creationId xmlns:a16="http://schemas.microsoft.com/office/drawing/2014/main" id="{941264B7-1E1A-5D4F-8EEB-A6FAA373F10F}"/>
                </a:ext>
              </a:extLst>
            </p:cNvPr>
            <p:cNvCxnSpPr>
              <a:cxnSpLocks/>
            </p:cNvCxnSpPr>
            <p:nvPr/>
          </p:nvCxnSpPr>
          <p:spPr>
            <a:xfrm>
              <a:off x="910832" y="4845448"/>
              <a:ext cx="54333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6" name="Rectangle 155">
              <a:extLst>
                <a:ext uri="{FF2B5EF4-FFF2-40B4-BE49-F238E27FC236}">
                  <a16:creationId xmlns:a16="http://schemas.microsoft.com/office/drawing/2014/main" id="{DE171CF7-8D70-0D4F-9B35-C6E393FDDF99}"/>
                </a:ext>
              </a:extLst>
            </p:cNvPr>
            <p:cNvSpPr/>
            <p:nvPr/>
          </p:nvSpPr>
          <p:spPr>
            <a:xfrm>
              <a:off x="2461335" y="4389820"/>
              <a:ext cx="841202" cy="779722"/>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TextBox 156">
              <a:extLst>
                <a:ext uri="{FF2B5EF4-FFF2-40B4-BE49-F238E27FC236}">
                  <a16:creationId xmlns:a16="http://schemas.microsoft.com/office/drawing/2014/main" id="{A39F2FEF-FE6D-6647-B640-D43E5D439C52}"/>
                </a:ext>
              </a:extLst>
            </p:cNvPr>
            <p:cNvSpPr txBox="1"/>
            <p:nvPr/>
          </p:nvSpPr>
          <p:spPr>
            <a:xfrm>
              <a:off x="2641233" y="4590685"/>
              <a:ext cx="506870" cy="369332"/>
            </a:xfrm>
            <a:prstGeom prst="rect">
              <a:avLst/>
            </a:prstGeom>
            <a:noFill/>
          </p:spPr>
          <p:txBody>
            <a:bodyPr wrap="none" rtlCol="0">
              <a:spAutoFit/>
            </a:bodyPr>
            <a:lstStyle/>
            <a:p>
              <a:r>
                <a:rPr lang="en-US" dirty="0"/>
                <a:t>LPF</a:t>
              </a:r>
            </a:p>
          </p:txBody>
        </p:sp>
        <p:cxnSp>
          <p:nvCxnSpPr>
            <p:cNvPr id="158" name="Straight Arrow Connector 157">
              <a:extLst>
                <a:ext uri="{FF2B5EF4-FFF2-40B4-BE49-F238E27FC236}">
                  <a16:creationId xmlns:a16="http://schemas.microsoft.com/office/drawing/2014/main" id="{B315AD7F-45E1-B84C-8E50-EBB1018EB9B4}"/>
                </a:ext>
              </a:extLst>
            </p:cNvPr>
            <p:cNvCxnSpPr>
              <a:cxnSpLocks/>
            </p:cNvCxnSpPr>
            <p:nvPr/>
          </p:nvCxnSpPr>
          <p:spPr>
            <a:xfrm>
              <a:off x="1937873" y="4746060"/>
              <a:ext cx="54333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3" name="Oval 111">
              <a:extLst>
                <a:ext uri="{FF2B5EF4-FFF2-40B4-BE49-F238E27FC236}">
                  <a16:creationId xmlns:a16="http://schemas.microsoft.com/office/drawing/2014/main" id="{597C49A2-65F3-DA40-BA82-BCDD584B2BF8}"/>
                </a:ext>
              </a:extLst>
            </p:cNvPr>
            <p:cNvSpPr>
              <a:spLocks noChangeArrowheads="1"/>
            </p:cNvSpPr>
            <p:nvPr/>
          </p:nvSpPr>
          <p:spPr bwMode="auto">
            <a:xfrm>
              <a:off x="2535502" y="5219206"/>
              <a:ext cx="640080" cy="64008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cxnSp>
          <p:nvCxnSpPr>
            <p:cNvPr id="167" name="Straight Arrow Connector 166">
              <a:extLst>
                <a:ext uri="{FF2B5EF4-FFF2-40B4-BE49-F238E27FC236}">
                  <a16:creationId xmlns:a16="http://schemas.microsoft.com/office/drawing/2014/main" id="{5ACB6676-212D-C040-8A24-81AC05E3F072}"/>
                </a:ext>
              </a:extLst>
            </p:cNvPr>
            <p:cNvCxnSpPr>
              <a:cxnSpLocks/>
            </p:cNvCxnSpPr>
            <p:nvPr/>
          </p:nvCxnSpPr>
          <p:spPr>
            <a:xfrm flipH="1" flipV="1">
              <a:off x="1684579" y="4956340"/>
              <a:ext cx="9394" cy="3324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3" name="Straight Arrow Connector 202">
              <a:extLst>
                <a:ext uri="{FF2B5EF4-FFF2-40B4-BE49-F238E27FC236}">
                  <a16:creationId xmlns:a16="http://schemas.microsoft.com/office/drawing/2014/main" id="{FD0737C3-A46D-DA41-8CEF-7E6B09F03B0E}"/>
                </a:ext>
              </a:extLst>
            </p:cNvPr>
            <p:cNvCxnSpPr>
              <a:cxnSpLocks/>
            </p:cNvCxnSpPr>
            <p:nvPr/>
          </p:nvCxnSpPr>
          <p:spPr>
            <a:xfrm>
              <a:off x="904208" y="4626788"/>
              <a:ext cx="54333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2" name="Straight Arrow Connector 221">
              <a:extLst>
                <a:ext uri="{FF2B5EF4-FFF2-40B4-BE49-F238E27FC236}">
                  <a16:creationId xmlns:a16="http://schemas.microsoft.com/office/drawing/2014/main" id="{0DFD5601-EF13-4240-900F-835F78A84CEF}"/>
                </a:ext>
              </a:extLst>
            </p:cNvPr>
            <p:cNvCxnSpPr>
              <a:cxnSpLocks/>
            </p:cNvCxnSpPr>
            <p:nvPr/>
          </p:nvCxnSpPr>
          <p:spPr>
            <a:xfrm>
              <a:off x="904208" y="5288810"/>
              <a:ext cx="780371"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4" name="Freeform 43">
              <a:extLst>
                <a:ext uri="{FF2B5EF4-FFF2-40B4-BE49-F238E27FC236}">
                  <a16:creationId xmlns:a16="http://schemas.microsoft.com/office/drawing/2014/main" id="{9E1E3621-FBF1-CA41-9B84-E06561D17623}"/>
                </a:ext>
              </a:extLst>
            </p:cNvPr>
            <p:cNvSpPr>
              <a:spLocks/>
            </p:cNvSpPr>
            <p:nvPr/>
          </p:nvSpPr>
          <p:spPr bwMode="auto">
            <a:xfrm>
              <a:off x="3828882" y="4498355"/>
              <a:ext cx="535407" cy="584775"/>
            </a:xfrm>
            <a:custGeom>
              <a:avLst/>
              <a:gdLst>
                <a:gd name="T0" fmla="*/ 6120 w 432"/>
                <a:gd name="T1" fmla="*/ 779 h 768"/>
                <a:gd name="T2" fmla="*/ 0 w 432"/>
                <a:gd name="T3" fmla="*/ 1558 h 768"/>
                <a:gd name="T4" fmla="*/ 0 w 432"/>
                <a:gd name="T5" fmla="*/ 0 h 768"/>
                <a:gd name="T6" fmla="*/ 6120 w 432"/>
                <a:gd name="T7" fmla="*/ 779 h 768"/>
                <a:gd name="T8" fmla="*/ 0 60000 65536"/>
                <a:gd name="T9" fmla="*/ 0 60000 65536"/>
                <a:gd name="T10" fmla="*/ 0 60000 65536"/>
                <a:gd name="T11" fmla="*/ 0 60000 65536"/>
                <a:gd name="T12" fmla="*/ 0 w 432"/>
                <a:gd name="T13" fmla="*/ 0 h 768"/>
                <a:gd name="T14" fmla="*/ 432 w 432"/>
                <a:gd name="T15" fmla="*/ 768 h 768"/>
              </a:gdLst>
              <a:ahLst/>
              <a:cxnLst>
                <a:cxn ang="T8">
                  <a:pos x="T0" y="T1"/>
                </a:cxn>
                <a:cxn ang="T9">
                  <a:pos x="T2" y="T3"/>
                </a:cxn>
                <a:cxn ang="T10">
                  <a:pos x="T4" y="T5"/>
                </a:cxn>
                <a:cxn ang="T11">
                  <a:pos x="T6" y="T7"/>
                </a:cxn>
              </a:cxnLst>
              <a:rect l="T12" t="T13" r="T14" b="T15"/>
              <a:pathLst>
                <a:path w="432" h="768">
                  <a:moveTo>
                    <a:pt x="432" y="384"/>
                  </a:moveTo>
                  <a:lnTo>
                    <a:pt x="0" y="768"/>
                  </a:lnTo>
                  <a:lnTo>
                    <a:pt x="0" y="0"/>
                  </a:lnTo>
                  <a:lnTo>
                    <a:pt x="432" y="38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265" name="Straight Arrow Connector 264">
              <a:extLst>
                <a:ext uri="{FF2B5EF4-FFF2-40B4-BE49-F238E27FC236}">
                  <a16:creationId xmlns:a16="http://schemas.microsoft.com/office/drawing/2014/main" id="{383C5AEF-0C55-FE4E-99A3-85FC7A2F9872}"/>
                </a:ext>
              </a:extLst>
            </p:cNvPr>
            <p:cNvCxnSpPr>
              <a:cxnSpLocks/>
            </p:cNvCxnSpPr>
            <p:nvPr/>
          </p:nvCxnSpPr>
          <p:spPr>
            <a:xfrm>
              <a:off x="3296220" y="4752688"/>
              <a:ext cx="54333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6" name="Straight Arrow Connector 265">
              <a:extLst>
                <a:ext uri="{FF2B5EF4-FFF2-40B4-BE49-F238E27FC236}">
                  <a16:creationId xmlns:a16="http://schemas.microsoft.com/office/drawing/2014/main" id="{89E0AC9F-2931-BC4D-9BD0-F55E4701533A}"/>
                </a:ext>
              </a:extLst>
            </p:cNvPr>
            <p:cNvCxnSpPr>
              <a:cxnSpLocks/>
            </p:cNvCxnSpPr>
            <p:nvPr/>
          </p:nvCxnSpPr>
          <p:spPr>
            <a:xfrm>
              <a:off x="4364289" y="4796115"/>
              <a:ext cx="54333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0" name="Straight Arrow Connector 269">
              <a:extLst>
                <a:ext uri="{FF2B5EF4-FFF2-40B4-BE49-F238E27FC236}">
                  <a16:creationId xmlns:a16="http://schemas.microsoft.com/office/drawing/2014/main" id="{7BA67E53-B24C-3E41-8707-B96E5901A478}"/>
                </a:ext>
              </a:extLst>
            </p:cNvPr>
            <p:cNvCxnSpPr>
              <a:cxnSpLocks/>
            </p:cNvCxnSpPr>
            <p:nvPr/>
          </p:nvCxnSpPr>
          <p:spPr>
            <a:xfrm flipH="1" flipV="1">
              <a:off x="772948" y="5539246"/>
              <a:ext cx="174087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1" name="Straight Arrow Connector 270">
              <a:extLst>
                <a:ext uri="{FF2B5EF4-FFF2-40B4-BE49-F238E27FC236}">
                  <a16:creationId xmlns:a16="http://schemas.microsoft.com/office/drawing/2014/main" id="{C92E0244-8CAA-9E44-90F2-3AE5EA37795E}"/>
                </a:ext>
              </a:extLst>
            </p:cNvPr>
            <p:cNvCxnSpPr>
              <a:cxnSpLocks/>
            </p:cNvCxnSpPr>
            <p:nvPr/>
          </p:nvCxnSpPr>
          <p:spPr>
            <a:xfrm flipH="1">
              <a:off x="3184842" y="5530245"/>
              <a:ext cx="145111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2" name="Straight Arrow Connector 271">
              <a:extLst>
                <a:ext uri="{FF2B5EF4-FFF2-40B4-BE49-F238E27FC236}">
                  <a16:creationId xmlns:a16="http://schemas.microsoft.com/office/drawing/2014/main" id="{AA18F737-245C-DB46-A4AC-E41426953584}"/>
                </a:ext>
              </a:extLst>
            </p:cNvPr>
            <p:cNvCxnSpPr>
              <a:cxnSpLocks/>
            </p:cNvCxnSpPr>
            <p:nvPr/>
          </p:nvCxnSpPr>
          <p:spPr>
            <a:xfrm>
              <a:off x="4584008" y="4813800"/>
              <a:ext cx="0" cy="72544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DFC81A65-3163-2D4D-8498-EA7965AFCB85}"/>
                </a:ext>
              </a:extLst>
            </p:cNvPr>
            <p:cNvSpPr txBox="1"/>
            <p:nvPr/>
          </p:nvSpPr>
          <p:spPr>
            <a:xfrm>
              <a:off x="3475421" y="5670093"/>
              <a:ext cx="1054810" cy="369332"/>
            </a:xfrm>
            <a:prstGeom prst="rect">
              <a:avLst/>
            </a:prstGeom>
            <a:noFill/>
          </p:spPr>
          <p:txBody>
            <a:bodyPr wrap="square" rtlCol="0">
              <a:spAutoFit/>
            </a:bodyPr>
            <a:lstStyle/>
            <a:p>
              <a:r>
                <a:rPr lang="en-US" dirty="0"/>
                <a:t>LM565</a:t>
              </a:r>
            </a:p>
          </p:txBody>
        </p:sp>
        <p:sp>
          <p:nvSpPr>
            <p:cNvPr id="273" name="TextBox 272">
              <a:extLst>
                <a:ext uri="{FF2B5EF4-FFF2-40B4-BE49-F238E27FC236}">
                  <a16:creationId xmlns:a16="http://schemas.microsoft.com/office/drawing/2014/main" id="{7A44CE8F-A92B-304C-A202-586C5822DA5D}"/>
                </a:ext>
              </a:extLst>
            </p:cNvPr>
            <p:cNvSpPr txBox="1"/>
            <p:nvPr/>
          </p:nvSpPr>
          <p:spPr>
            <a:xfrm>
              <a:off x="4971068" y="4606076"/>
              <a:ext cx="330980" cy="338554"/>
            </a:xfrm>
            <a:prstGeom prst="rect">
              <a:avLst/>
            </a:prstGeom>
            <a:noFill/>
          </p:spPr>
          <p:txBody>
            <a:bodyPr wrap="square" rtlCol="0">
              <a:spAutoFit/>
            </a:bodyPr>
            <a:lstStyle/>
            <a:p>
              <a:pPr algn="ctr"/>
              <a:r>
                <a:rPr lang="en-US" sz="1600" dirty="0"/>
                <a:t>7</a:t>
              </a:r>
            </a:p>
          </p:txBody>
        </p:sp>
        <p:sp>
          <p:nvSpPr>
            <p:cNvPr id="274" name="TextBox 273">
              <a:extLst>
                <a:ext uri="{FF2B5EF4-FFF2-40B4-BE49-F238E27FC236}">
                  <a16:creationId xmlns:a16="http://schemas.microsoft.com/office/drawing/2014/main" id="{32C4ED8C-2681-E347-8DB4-9D4D0FC1CC4F}"/>
                </a:ext>
              </a:extLst>
            </p:cNvPr>
            <p:cNvSpPr txBox="1"/>
            <p:nvPr/>
          </p:nvSpPr>
          <p:spPr>
            <a:xfrm>
              <a:off x="524958" y="4400667"/>
              <a:ext cx="330980" cy="338554"/>
            </a:xfrm>
            <a:prstGeom prst="rect">
              <a:avLst/>
            </a:prstGeom>
            <a:noFill/>
          </p:spPr>
          <p:txBody>
            <a:bodyPr wrap="square" rtlCol="0">
              <a:spAutoFit/>
            </a:bodyPr>
            <a:lstStyle/>
            <a:p>
              <a:pPr algn="ctr"/>
              <a:r>
                <a:rPr lang="en-US" sz="1600" dirty="0"/>
                <a:t>2</a:t>
              </a:r>
            </a:p>
          </p:txBody>
        </p:sp>
        <p:sp>
          <p:nvSpPr>
            <p:cNvPr id="275" name="TextBox 274">
              <a:extLst>
                <a:ext uri="{FF2B5EF4-FFF2-40B4-BE49-F238E27FC236}">
                  <a16:creationId xmlns:a16="http://schemas.microsoft.com/office/drawing/2014/main" id="{2AB37586-42D2-A449-9E9A-7AD08DF1E666}"/>
                </a:ext>
              </a:extLst>
            </p:cNvPr>
            <p:cNvSpPr txBox="1"/>
            <p:nvPr/>
          </p:nvSpPr>
          <p:spPr>
            <a:xfrm>
              <a:off x="531584" y="4685587"/>
              <a:ext cx="330980" cy="338554"/>
            </a:xfrm>
            <a:prstGeom prst="rect">
              <a:avLst/>
            </a:prstGeom>
            <a:noFill/>
          </p:spPr>
          <p:txBody>
            <a:bodyPr wrap="square" rtlCol="0">
              <a:spAutoFit/>
            </a:bodyPr>
            <a:lstStyle/>
            <a:p>
              <a:pPr algn="ctr"/>
              <a:r>
                <a:rPr lang="en-US" sz="1600" dirty="0"/>
                <a:t>3</a:t>
              </a:r>
            </a:p>
          </p:txBody>
        </p:sp>
        <p:sp>
          <p:nvSpPr>
            <p:cNvPr id="276" name="TextBox 275">
              <a:extLst>
                <a:ext uri="{FF2B5EF4-FFF2-40B4-BE49-F238E27FC236}">
                  <a16:creationId xmlns:a16="http://schemas.microsoft.com/office/drawing/2014/main" id="{FCDC1B02-049D-E749-8A6B-FB84F4C7CDAC}"/>
                </a:ext>
              </a:extLst>
            </p:cNvPr>
            <p:cNvSpPr txBox="1"/>
            <p:nvPr/>
          </p:nvSpPr>
          <p:spPr>
            <a:xfrm>
              <a:off x="538212" y="5116284"/>
              <a:ext cx="330980" cy="338554"/>
            </a:xfrm>
            <a:prstGeom prst="rect">
              <a:avLst/>
            </a:prstGeom>
            <a:noFill/>
          </p:spPr>
          <p:txBody>
            <a:bodyPr wrap="square" rtlCol="0">
              <a:spAutoFit/>
            </a:bodyPr>
            <a:lstStyle/>
            <a:p>
              <a:pPr algn="ctr"/>
              <a:r>
                <a:rPr lang="en-US" sz="1600" dirty="0"/>
                <a:t>4</a:t>
              </a:r>
            </a:p>
          </p:txBody>
        </p:sp>
        <p:sp>
          <p:nvSpPr>
            <p:cNvPr id="277" name="TextBox 276">
              <a:extLst>
                <a:ext uri="{FF2B5EF4-FFF2-40B4-BE49-F238E27FC236}">
                  <a16:creationId xmlns:a16="http://schemas.microsoft.com/office/drawing/2014/main" id="{2862B62C-BEE2-6842-BCF2-424AC9C79198}"/>
                </a:ext>
              </a:extLst>
            </p:cNvPr>
            <p:cNvSpPr txBox="1"/>
            <p:nvPr/>
          </p:nvSpPr>
          <p:spPr>
            <a:xfrm>
              <a:off x="531586" y="5361451"/>
              <a:ext cx="330980" cy="338554"/>
            </a:xfrm>
            <a:prstGeom prst="rect">
              <a:avLst/>
            </a:prstGeom>
            <a:noFill/>
          </p:spPr>
          <p:txBody>
            <a:bodyPr wrap="square" rtlCol="0">
              <a:spAutoFit/>
            </a:bodyPr>
            <a:lstStyle/>
            <a:p>
              <a:pPr algn="ctr"/>
              <a:r>
                <a:rPr lang="en-US" sz="1600" dirty="0"/>
                <a:t>5</a:t>
              </a:r>
            </a:p>
          </p:txBody>
        </p:sp>
        <p:cxnSp>
          <p:nvCxnSpPr>
            <p:cNvPr id="278" name="Straight Arrow Connector 277">
              <a:extLst>
                <a:ext uri="{FF2B5EF4-FFF2-40B4-BE49-F238E27FC236}">
                  <a16:creationId xmlns:a16="http://schemas.microsoft.com/office/drawing/2014/main" id="{3DD2C901-A4D3-7948-BDAC-1F85B03A6A7E}"/>
                </a:ext>
              </a:extLst>
            </p:cNvPr>
            <p:cNvCxnSpPr>
              <a:cxnSpLocks/>
            </p:cNvCxnSpPr>
            <p:nvPr/>
          </p:nvCxnSpPr>
          <p:spPr>
            <a:xfrm flipV="1">
              <a:off x="2746257" y="5825456"/>
              <a:ext cx="0" cy="26264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9" name="Straight Arrow Connector 278">
              <a:extLst>
                <a:ext uri="{FF2B5EF4-FFF2-40B4-BE49-F238E27FC236}">
                  <a16:creationId xmlns:a16="http://schemas.microsoft.com/office/drawing/2014/main" id="{E8744051-1000-8F4C-965E-B6D607A62A80}"/>
                </a:ext>
              </a:extLst>
            </p:cNvPr>
            <p:cNvCxnSpPr>
              <a:cxnSpLocks/>
            </p:cNvCxnSpPr>
            <p:nvPr/>
          </p:nvCxnSpPr>
          <p:spPr>
            <a:xfrm flipV="1">
              <a:off x="3004673" y="5832084"/>
              <a:ext cx="0" cy="26264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0" name="TextBox 279">
              <a:extLst>
                <a:ext uri="{FF2B5EF4-FFF2-40B4-BE49-F238E27FC236}">
                  <a16:creationId xmlns:a16="http://schemas.microsoft.com/office/drawing/2014/main" id="{E076C892-B4D9-0A42-9123-B18099C317E2}"/>
                </a:ext>
              </a:extLst>
            </p:cNvPr>
            <p:cNvSpPr txBox="1"/>
            <p:nvPr/>
          </p:nvSpPr>
          <p:spPr>
            <a:xfrm>
              <a:off x="2526035" y="6083693"/>
              <a:ext cx="452129" cy="338554"/>
            </a:xfrm>
            <a:prstGeom prst="rect">
              <a:avLst/>
            </a:prstGeom>
            <a:noFill/>
          </p:spPr>
          <p:txBody>
            <a:bodyPr wrap="square" rtlCol="0">
              <a:spAutoFit/>
            </a:bodyPr>
            <a:lstStyle/>
            <a:p>
              <a:pPr algn="ctr"/>
              <a:r>
                <a:rPr lang="en-US" sz="1600" dirty="0"/>
                <a:t>8</a:t>
              </a:r>
              <a:r>
                <a:rPr lang="en-US" sz="1600" baseline="-25000" dirty="0"/>
                <a:t>R</a:t>
              </a:r>
            </a:p>
          </p:txBody>
        </p:sp>
        <p:sp>
          <p:nvSpPr>
            <p:cNvPr id="281" name="TextBox 280">
              <a:extLst>
                <a:ext uri="{FF2B5EF4-FFF2-40B4-BE49-F238E27FC236}">
                  <a16:creationId xmlns:a16="http://schemas.microsoft.com/office/drawing/2014/main" id="{D1D5B14F-CA7E-4A45-9AA7-5B903190F3C2}"/>
                </a:ext>
              </a:extLst>
            </p:cNvPr>
            <p:cNvSpPr txBox="1"/>
            <p:nvPr/>
          </p:nvSpPr>
          <p:spPr>
            <a:xfrm>
              <a:off x="2837461" y="6077069"/>
              <a:ext cx="452129" cy="338554"/>
            </a:xfrm>
            <a:prstGeom prst="rect">
              <a:avLst/>
            </a:prstGeom>
            <a:noFill/>
          </p:spPr>
          <p:txBody>
            <a:bodyPr wrap="square" rtlCol="0">
              <a:spAutoFit/>
            </a:bodyPr>
            <a:lstStyle/>
            <a:p>
              <a:pPr algn="ctr"/>
              <a:r>
                <a:rPr lang="en-US" sz="1600" dirty="0"/>
                <a:t>9</a:t>
              </a:r>
              <a:r>
                <a:rPr lang="en-US" sz="1600" baseline="-25000" dirty="0"/>
                <a:t>C</a:t>
              </a:r>
            </a:p>
          </p:txBody>
        </p:sp>
        <p:cxnSp>
          <p:nvCxnSpPr>
            <p:cNvPr id="282" name="Straight Arrow Connector 281">
              <a:extLst>
                <a:ext uri="{FF2B5EF4-FFF2-40B4-BE49-F238E27FC236}">
                  <a16:creationId xmlns:a16="http://schemas.microsoft.com/office/drawing/2014/main" id="{3A28395F-60AB-3844-B6FF-8492930E45C5}"/>
                </a:ext>
              </a:extLst>
            </p:cNvPr>
            <p:cNvCxnSpPr>
              <a:cxnSpLocks/>
            </p:cNvCxnSpPr>
            <p:nvPr/>
          </p:nvCxnSpPr>
          <p:spPr>
            <a:xfrm>
              <a:off x="871080" y="5865866"/>
              <a:ext cx="54333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ACB2E5CE-9EF9-5B48-8C2A-6452F46E1CB2}"/>
                </a:ext>
              </a:extLst>
            </p:cNvPr>
            <p:cNvSpPr txBox="1"/>
            <p:nvPr/>
          </p:nvSpPr>
          <p:spPr>
            <a:xfrm>
              <a:off x="571342" y="5692753"/>
              <a:ext cx="330980" cy="338554"/>
            </a:xfrm>
            <a:prstGeom prst="rect">
              <a:avLst/>
            </a:prstGeom>
            <a:noFill/>
          </p:spPr>
          <p:txBody>
            <a:bodyPr wrap="square" rtlCol="0">
              <a:spAutoFit/>
            </a:bodyPr>
            <a:lstStyle/>
            <a:p>
              <a:pPr algn="ctr"/>
              <a:r>
                <a:rPr lang="en-US" sz="1600" dirty="0"/>
                <a:t>1</a:t>
              </a:r>
            </a:p>
          </p:txBody>
        </p:sp>
        <p:sp>
          <p:nvSpPr>
            <p:cNvPr id="289" name="TextBox 288">
              <a:extLst>
                <a:ext uri="{FF2B5EF4-FFF2-40B4-BE49-F238E27FC236}">
                  <a16:creationId xmlns:a16="http://schemas.microsoft.com/office/drawing/2014/main" id="{2CDC6262-1588-3B48-8931-34F21F292837}"/>
                </a:ext>
              </a:extLst>
            </p:cNvPr>
            <p:cNvSpPr txBox="1"/>
            <p:nvPr/>
          </p:nvSpPr>
          <p:spPr>
            <a:xfrm>
              <a:off x="1492368" y="5672876"/>
              <a:ext cx="562917" cy="338554"/>
            </a:xfrm>
            <a:prstGeom prst="rect">
              <a:avLst/>
            </a:prstGeom>
            <a:noFill/>
          </p:spPr>
          <p:txBody>
            <a:bodyPr wrap="square" rtlCol="0">
              <a:spAutoFit/>
            </a:bodyPr>
            <a:lstStyle/>
            <a:p>
              <a:pPr algn="ctr"/>
              <a:r>
                <a:rPr lang="en-US" sz="1600" dirty="0" err="1"/>
                <a:t>Gnd</a:t>
              </a:r>
              <a:endParaRPr lang="en-US" sz="1600" dirty="0"/>
            </a:p>
          </p:txBody>
        </p:sp>
        <p:cxnSp>
          <p:nvCxnSpPr>
            <p:cNvPr id="290" name="Straight Arrow Connector 289">
              <a:extLst>
                <a:ext uri="{FF2B5EF4-FFF2-40B4-BE49-F238E27FC236}">
                  <a16:creationId xmlns:a16="http://schemas.microsoft.com/office/drawing/2014/main" id="{9A6CD023-D1A5-2040-BBE2-6676F01BF6F0}"/>
                </a:ext>
              </a:extLst>
            </p:cNvPr>
            <p:cNvCxnSpPr>
              <a:cxnSpLocks/>
            </p:cNvCxnSpPr>
            <p:nvPr/>
          </p:nvCxnSpPr>
          <p:spPr>
            <a:xfrm>
              <a:off x="864456" y="6190543"/>
              <a:ext cx="54333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1" name="TextBox 290">
              <a:extLst>
                <a:ext uri="{FF2B5EF4-FFF2-40B4-BE49-F238E27FC236}">
                  <a16:creationId xmlns:a16="http://schemas.microsoft.com/office/drawing/2014/main" id="{641465FE-2A5A-9B48-9C2A-F0270153D1A9}"/>
                </a:ext>
              </a:extLst>
            </p:cNvPr>
            <p:cNvSpPr txBox="1"/>
            <p:nvPr/>
          </p:nvSpPr>
          <p:spPr>
            <a:xfrm>
              <a:off x="493393" y="6017430"/>
              <a:ext cx="402305" cy="338554"/>
            </a:xfrm>
            <a:prstGeom prst="rect">
              <a:avLst/>
            </a:prstGeom>
            <a:noFill/>
          </p:spPr>
          <p:txBody>
            <a:bodyPr wrap="square" rtlCol="0">
              <a:spAutoFit/>
            </a:bodyPr>
            <a:lstStyle/>
            <a:p>
              <a:pPr algn="ctr"/>
              <a:r>
                <a:rPr lang="en-US" sz="1600" dirty="0"/>
                <a:t>10</a:t>
              </a:r>
            </a:p>
          </p:txBody>
        </p:sp>
        <p:sp>
          <p:nvSpPr>
            <p:cNvPr id="293" name="TextBox 292">
              <a:extLst>
                <a:ext uri="{FF2B5EF4-FFF2-40B4-BE49-F238E27FC236}">
                  <a16:creationId xmlns:a16="http://schemas.microsoft.com/office/drawing/2014/main" id="{0F12D064-9F38-D340-BCDD-EEBC53FF3576}"/>
                </a:ext>
              </a:extLst>
            </p:cNvPr>
            <p:cNvSpPr txBox="1"/>
            <p:nvPr/>
          </p:nvSpPr>
          <p:spPr>
            <a:xfrm>
              <a:off x="1485744" y="5997553"/>
              <a:ext cx="562917" cy="338554"/>
            </a:xfrm>
            <a:prstGeom prst="rect">
              <a:avLst/>
            </a:prstGeom>
            <a:noFill/>
          </p:spPr>
          <p:txBody>
            <a:bodyPr wrap="square" rtlCol="0">
              <a:spAutoFit/>
            </a:bodyPr>
            <a:lstStyle/>
            <a:p>
              <a:pPr algn="ctr"/>
              <a:r>
                <a:rPr lang="en-US" sz="1600" dirty="0" err="1"/>
                <a:t>V</a:t>
              </a:r>
              <a:r>
                <a:rPr lang="en-US" sz="1600" baseline="-25000" dirty="0" err="1"/>
                <a:t>cc</a:t>
              </a:r>
              <a:endParaRPr lang="en-US" sz="1600" baseline="-25000" dirty="0"/>
            </a:p>
          </p:txBody>
        </p:sp>
      </p:grpSp>
      <p:grpSp>
        <p:nvGrpSpPr>
          <p:cNvPr id="31" name="Group 30">
            <a:extLst>
              <a:ext uri="{FF2B5EF4-FFF2-40B4-BE49-F238E27FC236}">
                <a16:creationId xmlns:a16="http://schemas.microsoft.com/office/drawing/2014/main" id="{8702022A-1FA7-9A4C-8B2B-7C3390E46C2B}"/>
              </a:ext>
            </a:extLst>
          </p:cNvPr>
          <p:cNvGrpSpPr/>
          <p:nvPr/>
        </p:nvGrpSpPr>
        <p:grpSpPr>
          <a:xfrm>
            <a:off x="6731021" y="629725"/>
            <a:ext cx="5336385" cy="5826771"/>
            <a:chOff x="6731021" y="629725"/>
            <a:chExt cx="5336385" cy="5826771"/>
          </a:xfrm>
        </p:grpSpPr>
        <p:sp>
          <p:nvSpPr>
            <p:cNvPr id="191" name="TextBox 190">
              <a:extLst>
                <a:ext uri="{FF2B5EF4-FFF2-40B4-BE49-F238E27FC236}">
                  <a16:creationId xmlns:a16="http://schemas.microsoft.com/office/drawing/2014/main" id="{5F6DD9E3-5BFE-454E-A418-7AF42684F6AC}"/>
                </a:ext>
              </a:extLst>
            </p:cNvPr>
            <p:cNvSpPr txBox="1"/>
            <p:nvPr/>
          </p:nvSpPr>
          <p:spPr>
            <a:xfrm>
              <a:off x="6731021" y="2488557"/>
              <a:ext cx="810166" cy="338554"/>
            </a:xfrm>
            <a:prstGeom prst="rect">
              <a:avLst/>
            </a:prstGeom>
            <a:noFill/>
          </p:spPr>
          <p:txBody>
            <a:bodyPr wrap="square" rtlCol="0">
              <a:spAutoFit/>
            </a:bodyPr>
            <a:lstStyle/>
            <a:p>
              <a:r>
                <a:rPr lang="en-US" sz="1600" dirty="0"/>
                <a:t>in</a:t>
              </a:r>
            </a:p>
          </p:txBody>
        </p:sp>
        <p:grpSp>
          <p:nvGrpSpPr>
            <p:cNvPr id="687" name="Group 210">
              <a:extLst>
                <a:ext uri="{FF2B5EF4-FFF2-40B4-BE49-F238E27FC236}">
                  <a16:creationId xmlns:a16="http://schemas.microsoft.com/office/drawing/2014/main" id="{B538BCA2-9066-0B4D-B7EB-394950435983}"/>
                </a:ext>
              </a:extLst>
            </p:cNvPr>
            <p:cNvGrpSpPr>
              <a:grpSpLocks/>
            </p:cNvGrpSpPr>
            <p:nvPr/>
          </p:nvGrpSpPr>
          <p:grpSpPr bwMode="auto">
            <a:xfrm>
              <a:off x="10617459" y="4682531"/>
              <a:ext cx="304800" cy="762000"/>
              <a:chOff x="3216" y="1728"/>
              <a:chExt cx="192" cy="480"/>
            </a:xfrm>
          </p:grpSpPr>
          <p:sp>
            <p:nvSpPr>
              <p:cNvPr id="712" name="Line 8">
                <a:extLst>
                  <a:ext uri="{FF2B5EF4-FFF2-40B4-BE49-F238E27FC236}">
                    <a16:creationId xmlns:a16="http://schemas.microsoft.com/office/drawing/2014/main" id="{6C77E5EE-3079-4944-9BA3-D2D355A4AB18}"/>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3" name="Line 9">
                <a:extLst>
                  <a:ext uri="{FF2B5EF4-FFF2-40B4-BE49-F238E27FC236}">
                    <a16:creationId xmlns:a16="http://schemas.microsoft.com/office/drawing/2014/main" id="{B50DD889-2ABC-704E-92F2-D95035108911}"/>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4" name="Line 10">
                <a:extLst>
                  <a:ext uri="{FF2B5EF4-FFF2-40B4-BE49-F238E27FC236}">
                    <a16:creationId xmlns:a16="http://schemas.microsoft.com/office/drawing/2014/main" id="{8E62A679-E34B-974F-8FA4-C6F322B2432F}"/>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5" name="Line 11">
                <a:extLst>
                  <a:ext uri="{FF2B5EF4-FFF2-40B4-BE49-F238E27FC236}">
                    <a16:creationId xmlns:a16="http://schemas.microsoft.com/office/drawing/2014/main" id="{21AB4D70-3BE4-A645-837B-ADF452B1C374}"/>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803" name="Straight Connector 802">
              <a:extLst>
                <a:ext uri="{FF2B5EF4-FFF2-40B4-BE49-F238E27FC236}">
                  <a16:creationId xmlns:a16="http://schemas.microsoft.com/office/drawing/2014/main" id="{BBCFD950-3C63-D040-AE05-5DACBF6F82F3}"/>
                </a:ext>
              </a:extLst>
            </p:cNvPr>
            <p:cNvCxnSpPr>
              <a:cxnSpLocks/>
            </p:cNvCxnSpPr>
            <p:nvPr/>
          </p:nvCxnSpPr>
          <p:spPr>
            <a:xfrm>
              <a:off x="7401080" y="4720440"/>
              <a:ext cx="12716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06" name="TextBox 805">
              <a:extLst>
                <a:ext uri="{FF2B5EF4-FFF2-40B4-BE49-F238E27FC236}">
                  <a16:creationId xmlns:a16="http://schemas.microsoft.com/office/drawing/2014/main" id="{B1F4EEC7-E70E-7240-93EC-29F52BEFA038}"/>
                </a:ext>
              </a:extLst>
            </p:cNvPr>
            <p:cNvSpPr txBox="1"/>
            <p:nvPr/>
          </p:nvSpPr>
          <p:spPr>
            <a:xfrm>
              <a:off x="10807959" y="5141996"/>
              <a:ext cx="718688" cy="338554"/>
            </a:xfrm>
            <a:prstGeom prst="rect">
              <a:avLst/>
            </a:prstGeom>
            <a:noFill/>
          </p:spPr>
          <p:txBody>
            <a:bodyPr wrap="square" rtlCol="0">
              <a:spAutoFit/>
            </a:bodyPr>
            <a:lstStyle/>
            <a:p>
              <a:r>
                <a:rPr lang="en-US" sz="1600" dirty="0"/>
                <a:t>10uF</a:t>
              </a:r>
            </a:p>
          </p:txBody>
        </p:sp>
        <p:sp>
          <p:nvSpPr>
            <p:cNvPr id="269" name="Oval 268">
              <a:extLst>
                <a:ext uri="{FF2B5EF4-FFF2-40B4-BE49-F238E27FC236}">
                  <a16:creationId xmlns:a16="http://schemas.microsoft.com/office/drawing/2014/main" id="{7AA7268B-184A-C446-8B49-ADFBD96B93DF}"/>
                </a:ext>
              </a:extLst>
            </p:cNvPr>
            <p:cNvSpPr>
              <a:spLocks noChangeAspect="1" noChangeArrowheads="1"/>
            </p:cNvSpPr>
            <p:nvPr/>
          </p:nvSpPr>
          <p:spPr bwMode="auto">
            <a:xfrm>
              <a:off x="7333903" y="4658955"/>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1" name="Rectangle 20">
              <a:extLst>
                <a:ext uri="{FF2B5EF4-FFF2-40B4-BE49-F238E27FC236}">
                  <a16:creationId xmlns:a16="http://schemas.microsoft.com/office/drawing/2014/main" id="{E59AAECA-5FAD-EF40-ACCA-B9D529FAAEE0}"/>
                </a:ext>
              </a:extLst>
            </p:cNvPr>
            <p:cNvSpPr/>
            <p:nvPr/>
          </p:nvSpPr>
          <p:spPr>
            <a:xfrm>
              <a:off x="8677505" y="2455787"/>
              <a:ext cx="1709530" cy="2751799"/>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1E63E1B7-2BFE-D544-8F46-B2F36BF1A5F5}"/>
                </a:ext>
              </a:extLst>
            </p:cNvPr>
            <p:cNvSpPr txBox="1"/>
            <p:nvPr/>
          </p:nvSpPr>
          <p:spPr>
            <a:xfrm>
              <a:off x="9211419" y="3624761"/>
              <a:ext cx="641702" cy="369332"/>
            </a:xfrm>
            <a:prstGeom prst="rect">
              <a:avLst/>
            </a:prstGeom>
            <a:noFill/>
          </p:spPr>
          <p:txBody>
            <a:bodyPr wrap="square" rtlCol="0">
              <a:spAutoFit/>
            </a:bodyPr>
            <a:lstStyle/>
            <a:p>
              <a:r>
                <a:rPr lang="en-US" dirty="0"/>
                <a:t>565</a:t>
              </a:r>
            </a:p>
          </p:txBody>
        </p:sp>
        <p:sp>
          <p:nvSpPr>
            <p:cNvPr id="164" name="TextBox 163">
              <a:extLst>
                <a:ext uri="{FF2B5EF4-FFF2-40B4-BE49-F238E27FC236}">
                  <a16:creationId xmlns:a16="http://schemas.microsoft.com/office/drawing/2014/main" id="{1A275126-385E-7C46-B297-21BF769155BC}"/>
                </a:ext>
              </a:extLst>
            </p:cNvPr>
            <p:cNvSpPr txBox="1"/>
            <p:nvPr/>
          </p:nvSpPr>
          <p:spPr>
            <a:xfrm>
              <a:off x="9211419" y="2521834"/>
              <a:ext cx="641702" cy="369332"/>
            </a:xfrm>
            <a:prstGeom prst="rect">
              <a:avLst/>
            </a:prstGeom>
            <a:noFill/>
          </p:spPr>
          <p:txBody>
            <a:bodyPr wrap="square" rtlCol="0">
              <a:spAutoFit/>
            </a:bodyPr>
            <a:lstStyle/>
            <a:p>
              <a:r>
                <a:rPr lang="en-US" dirty="0"/>
                <a:t>10</a:t>
              </a:r>
            </a:p>
          </p:txBody>
        </p:sp>
        <p:sp>
          <p:nvSpPr>
            <p:cNvPr id="165" name="TextBox 164">
              <a:extLst>
                <a:ext uri="{FF2B5EF4-FFF2-40B4-BE49-F238E27FC236}">
                  <a16:creationId xmlns:a16="http://schemas.microsoft.com/office/drawing/2014/main" id="{FB547450-605F-F743-B651-F87252046A04}"/>
                </a:ext>
              </a:extLst>
            </p:cNvPr>
            <p:cNvSpPr txBox="1"/>
            <p:nvPr/>
          </p:nvSpPr>
          <p:spPr>
            <a:xfrm>
              <a:off x="9407307" y="4813005"/>
              <a:ext cx="641702" cy="369332"/>
            </a:xfrm>
            <a:prstGeom prst="rect">
              <a:avLst/>
            </a:prstGeom>
            <a:noFill/>
          </p:spPr>
          <p:txBody>
            <a:bodyPr wrap="square" rtlCol="0">
              <a:spAutoFit/>
            </a:bodyPr>
            <a:lstStyle/>
            <a:p>
              <a:r>
                <a:rPr lang="en-US" dirty="0"/>
                <a:t>1</a:t>
              </a:r>
            </a:p>
          </p:txBody>
        </p:sp>
        <p:sp>
          <p:nvSpPr>
            <p:cNvPr id="166" name="TextBox 165">
              <a:extLst>
                <a:ext uri="{FF2B5EF4-FFF2-40B4-BE49-F238E27FC236}">
                  <a16:creationId xmlns:a16="http://schemas.microsoft.com/office/drawing/2014/main" id="{6922FC6F-2C4C-494B-A699-E240DDCE04CC}"/>
                </a:ext>
              </a:extLst>
            </p:cNvPr>
            <p:cNvSpPr txBox="1"/>
            <p:nvPr/>
          </p:nvSpPr>
          <p:spPr>
            <a:xfrm>
              <a:off x="8675661" y="2702883"/>
              <a:ext cx="641702" cy="369332"/>
            </a:xfrm>
            <a:prstGeom prst="rect">
              <a:avLst/>
            </a:prstGeom>
            <a:noFill/>
          </p:spPr>
          <p:txBody>
            <a:bodyPr wrap="square" rtlCol="0">
              <a:spAutoFit/>
            </a:bodyPr>
            <a:lstStyle/>
            <a:p>
              <a:r>
                <a:rPr lang="en-US" dirty="0"/>
                <a:t>2</a:t>
              </a:r>
            </a:p>
          </p:txBody>
        </p:sp>
        <p:sp>
          <p:nvSpPr>
            <p:cNvPr id="168" name="TextBox 167">
              <a:extLst>
                <a:ext uri="{FF2B5EF4-FFF2-40B4-BE49-F238E27FC236}">
                  <a16:creationId xmlns:a16="http://schemas.microsoft.com/office/drawing/2014/main" id="{46517D5D-3315-404C-9F67-DBD2ACB39A25}"/>
                </a:ext>
              </a:extLst>
            </p:cNvPr>
            <p:cNvSpPr txBox="1"/>
            <p:nvPr/>
          </p:nvSpPr>
          <p:spPr>
            <a:xfrm>
              <a:off x="8679352" y="3172935"/>
              <a:ext cx="641702" cy="369332"/>
            </a:xfrm>
            <a:prstGeom prst="rect">
              <a:avLst/>
            </a:prstGeom>
            <a:noFill/>
          </p:spPr>
          <p:txBody>
            <a:bodyPr wrap="square" rtlCol="0">
              <a:spAutoFit/>
            </a:bodyPr>
            <a:lstStyle/>
            <a:p>
              <a:r>
                <a:rPr lang="en-US" dirty="0"/>
                <a:t>3</a:t>
              </a:r>
            </a:p>
          </p:txBody>
        </p:sp>
        <p:sp>
          <p:nvSpPr>
            <p:cNvPr id="169" name="TextBox 168">
              <a:extLst>
                <a:ext uri="{FF2B5EF4-FFF2-40B4-BE49-F238E27FC236}">
                  <a16:creationId xmlns:a16="http://schemas.microsoft.com/office/drawing/2014/main" id="{DE9FC0C0-A859-684E-AF4E-A5CE017C9497}"/>
                </a:ext>
              </a:extLst>
            </p:cNvPr>
            <p:cNvSpPr txBox="1"/>
            <p:nvPr/>
          </p:nvSpPr>
          <p:spPr>
            <a:xfrm>
              <a:off x="8671697" y="3951958"/>
              <a:ext cx="641702" cy="369332"/>
            </a:xfrm>
            <a:prstGeom prst="rect">
              <a:avLst/>
            </a:prstGeom>
            <a:noFill/>
          </p:spPr>
          <p:txBody>
            <a:bodyPr wrap="square" rtlCol="0">
              <a:spAutoFit/>
            </a:bodyPr>
            <a:lstStyle/>
            <a:p>
              <a:r>
                <a:rPr lang="en-US" dirty="0"/>
                <a:t>4</a:t>
              </a:r>
            </a:p>
          </p:txBody>
        </p:sp>
        <p:sp>
          <p:nvSpPr>
            <p:cNvPr id="170" name="TextBox 169">
              <a:extLst>
                <a:ext uri="{FF2B5EF4-FFF2-40B4-BE49-F238E27FC236}">
                  <a16:creationId xmlns:a16="http://schemas.microsoft.com/office/drawing/2014/main" id="{E8115E86-CF31-BA44-B9DE-D2AF0F26989F}"/>
                </a:ext>
              </a:extLst>
            </p:cNvPr>
            <p:cNvSpPr txBox="1"/>
            <p:nvPr/>
          </p:nvSpPr>
          <p:spPr>
            <a:xfrm>
              <a:off x="8702165" y="4528161"/>
              <a:ext cx="641702" cy="369332"/>
            </a:xfrm>
            <a:prstGeom prst="rect">
              <a:avLst/>
            </a:prstGeom>
            <a:noFill/>
          </p:spPr>
          <p:txBody>
            <a:bodyPr wrap="square" rtlCol="0">
              <a:spAutoFit/>
            </a:bodyPr>
            <a:lstStyle/>
            <a:p>
              <a:r>
                <a:rPr lang="en-US" dirty="0"/>
                <a:t>5</a:t>
              </a:r>
            </a:p>
          </p:txBody>
        </p:sp>
        <p:sp>
          <p:nvSpPr>
            <p:cNvPr id="171" name="TextBox 170">
              <a:extLst>
                <a:ext uri="{FF2B5EF4-FFF2-40B4-BE49-F238E27FC236}">
                  <a16:creationId xmlns:a16="http://schemas.microsoft.com/office/drawing/2014/main" id="{F56347BD-B0B5-384E-8505-06AFC46CD70E}"/>
                </a:ext>
              </a:extLst>
            </p:cNvPr>
            <p:cNvSpPr txBox="1"/>
            <p:nvPr/>
          </p:nvSpPr>
          <p:spPr>
            <a:xfrm>
              <a:off x="9901422" y="2779784"/>
              <a:ext cx="460953" cy="369332"/>
            </a:xfrm>
            <a:prstGeom prst="rect">
              <a:avLst/>
            </a:prstGeom>
            <a:noFill/>
          </p:spPr>
          <p:txBody>
            <a:bodyPr wrap="square" rtlCol="0">
              <a:spAutoFit/>
            </a:bodyPr>
            <a:lstStyle/>
            <a:p>
              <a:pPr algn="r"/>
              <a:r>
                <a:rPr lang="en-US" dirty="0"/>
                <a:t>8</a:t>
              </a:r>
            </a:p>
          </p:txBody>
        </p:sp>
        <p:sp>
          <p:nvSpPr>
            <p:cNvPr id="172" name="TextBox 171">
              <a:extLst>
                <a:ext uri="{FF2B5EF4-FFF2-40B4-BE49-F238E27FC236}">
                  <a16:creationId xmlns:a16="http://schemas.microsoft.com/office/drawing/2014/main" id="{F06F7344-5DFA-6342-8E55-3C3D7A680233}"/>
                </a:ext>
              </a:extLst>
            </p:cNvPr>
            <p:cNvSpPr txBox="1"/>
            <p:nvPr/>
          </p:nvSpPr>
          <p:spPr>
            <a:xfrm>
              <a:off x="9919246" y="3693542"/>
              <a:ext cx="460953" cy="369332"/>
            </a:xfrm>
            <a:prstGeom prst="rect">
              <a:avLst/>
            </a:prstGeom>
            <a:noFill/>
          </p:spPr>
          <p:txBody>
            <a:bodyPr wrap="square" rtlCol="0">
              <a:spAutoFit/>
            </a:bodyPr>
            <a:lstStyle/>
            <a:p>
              <a:pPr algn="r"/>
              <a:r>
                <a:rPr lang="en-US" dirty="0"/>
                <a:t>9</a:t>
              </a:r>
            </a:p>
          </p:txBody>
        </p:sp>
        <p:sp>
          <p:nvSpPr>
            <p:cNvPr id="173" name="TextBox 172">
              <a:extLst>
                <a:ext uri="{FF2B5EF4-FFF2-40B4-BE49-F238E27FC236}">
                  <a16:creationId xmlns:a16="http://schemas.microsoft.com/office/drawing/2014/main" id="{4828B934-FFED-2C4E-9449-83AF7E1D87CF}"/>
                </a:ext>
              </a:extLst>
            </p:cNvPr>
            <p:cNvSpPr txBox="1"/>
            <p:nvPr/>
          </p:nvSpPr>
          <p:spPr>
            <a:xfrm>
              <a:off x="9909957" y="4495031"/>
              <a:ext cx="460954" cy="369332"/>
            </a:xfrm>
            <a:prstGeom prst="rect">
              <a:avLst/>
            </a:prstGeom>
            <a:noFill/>
          </p:spPr>
          <p:txBody>
            <a:bodyPr wrap="square" rtlCol="0">
              <a:spAutoFit/>
            </a:bodyPr>
            <a:lstStyle/>
            <a:p>
              <a:pPr algn="r"/>
              <a:r>
                <a:rPr lang="en-US" dirty="0"/>
                <a:t>7</a:t>
              </a:r>
            </a:p>
          </p:txBody>
        </p:sp>
        <p:grpSp>
          <p:nvGrpSpPr>
            <p:cNvPr id="174" name="Group 222">
              <a:extLst>
                <a:ext uri="{FF2B5EF4-FFF2-40B4-BE49-F238E27FC236}">
                  <a16:creationId xmlns:a16="http://schemas.microsoft.com/office/drawing/2014/main" id="{D80290BE-6EC0-8B42-A135-09922F891AFC}"/>
                </a:ext>
              </a:extLst>
            </p:cNvPr>
            <p:cNvGrpSpPr>
              <a:grpSpLocks/>
            </p:cNvGrpSpPr>
            <p:nvPr/>
          </p:nvGrpSpPr>
          <p:grpSpPr bwMode="auto">
            <a:xfrm>
              <a:off x="10617459" y="5384076"/>
              <a:ext cx="304800" cy="381000"/>
              <a:chOff x="4272" y="3072"/>
              <a:chExt cx="192" cy="240"/>
            </a:xfrm>
          </p:grpSpPr>
          <p:sp>
            <p:nvSpPr>
              <p:cNvPr id="175" name="Line 99">
                <a:extLst>
                  <a:ext uri="{FF2B5EF4-FFF2-40B4-BE49-F238E27FC236}">
                    <a16:creationId xmlns:a16="http://schemas.microsoft.com/office/drawing/2014/main" id="{BE7A6D5F-2103-7344-8D2A-5633E486F463}"/>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6" name="Line 100">
                <a:extLst>
                  <a:ext uri="{FF2B5EF4-FFF2-40B4-BE49-F238E27FC236}">
                    <a16:creationId xmlns:a16="http://schemas.microsoft.com/office/drawing/2014/main" id="{F2ABF4B8-076C-3E47-B3BC-723256D9F9B7}"/>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7" name="Line 101">
                <a:extLst>
                  <a:ext uri="{FF2B5EF4-FFF2-40B4-BE49-F238E27FC236}">
                    <a16:creationId xmlns:a16="http://schemas.microsoft.com/office/drawing/2014/main" id="{C55A1531-7F7C-694A-9F91-B0F5AC48969D}"/>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8" name="Line 102">
                <a:extLst>
                  <a:ext uri="{FF2B5EF4-FFF2-40B4-BE49-F238E27FC236}">
                    <a16:creationId xmlns:a16="http://schemas.microsoft.com/office/drawing/2014/main" id="{73168E00-17B7-134D-B91C-4256C5C89321}"/>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9" name="Line 103">
                <a:extLst>
                  <a:ext uri="{FF2B5EF4-FFF2-40B4-BE49-F238E27FC236}">
                    <a16:creationId xmlns:a16="http://schemas.microsoft.com/office/drawing/2014/main" id="{BDE8B14B-D183-A548-BEB1-313780C36736}"/>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0" name="Line 104">
                <a:extLst>
                  <a:ext uri="{FF2B5EF4-FFF2-40B4-BE49-F238E27FC236}">
                    <a16:creationId xmlns:a16="http://schemas.microsoft.com/office/drawing/2014/main" id="{441030B2-0F88-024C-96E0-B72E34BA463A}"/>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3" name="TextBox 22">
              <a:extLst>
                <a:ext uri="{FF2B5EF4-FFF2-40B4-BE49-F238E27FC236}">
                  <a16:creationId xmlns:a16="http://schemas.microsoft.com/office/drawing/2014/main" id="{AEF68C53-B272-B945-A373-45F087B47CAE}"/>
                </a:ext>
              </a:extLst>
            </p:cNvPr>
            <p:cNvSpPr txBox="1"/>
            <p:nvPr/>
          </p:nvSpPr>
          <p:spPr>
            <a:xfrm>
              <a:off x="10781455" y="4669315"/>
              <a:ext cx="220150" cy="369332"/>
            </a:xfrm>
            <a:prstGeom prst="rect">
              <a:avLst/>
            </a:prstGeom>
            <a:noFill/>
          </p:spPr>
          <p:txBody>
            <a:bodyPr wrap="square" rtlCol="0">
              <a:spAutoFit/>
            </a:bodyPr>
            <a:lstStyle/>
            <a:p>
              <a:r>
                <a:rPr lang="en-US" dirty="0"/>
                <a:t>+</a:t>
              </a:r>
            </a:p>
          </p:txBody>
        </p:sp>
        <p:cxnSp>
          <p:nvCxnSpPr>
            <p:cNvPr id="182" name="Straight Connector 181">
              <a:extLst>
                <a:ext uri="{FF2B5EF4-FFF2-40B4-BE49-F238E27FC236}">
                  <a16:creationId xmlns:a16="http://schemas.microsoft.com/office/drawing/2014/main" id="{2183B26E-0103-B048-BAE0-C0D77B58E187}"/>
                </a:ext>
              </a:extLst>
            </p:cNvPr>
            <p:cNvCxnSpPr>
              <a:cxnSpLocks/>
            </p:cNvCxnSpPr>
            <p:nvPr/>
          </p:nvCxnSpPr>
          <p:spPr>
            <a:xfrm>
              <a:off x="10379687" y="4679697"/>
              <a:ext cx="39347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8C52C04D-9727-5244-A94D-5A9517318851}"/>
                </a:ext>
              </a:extLst>
            </p:cNvPr>
            <p:cNvCxnSpPr>
              <a:cxnSpLocks/>
            </p:cNvCxnSpPr>
            <p:nvPr/>
          </p:nvCxnSpPr>
          <p:spPr>
            <a:xfrm>
              <a:off x="8265963" y="4169487"/>
              <a:ext cx="39347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15413E17-CA01-314F-A5B8-5F6897191C19}"/>
                </a:ext>
              </a:extLst>
            </p:cNvPr>
            <p:cNvCxnSpPr>
              <a:cxnSpLocks/>
            </p:cNvCxnSpPr>
            <p:nvPr/>
          </p:nvCxnSpPr>
          <p:spPr>
            <a:xfrm>
              <a:off x="8270355" y="4173900"/>
              <a:ext cx="0" cy="53892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8" name="TextBox 187">
              <a:extLst>
                <a:ext uri="{FF2B5EF4-FFF2-40B4-BE49-F238E27FC236}">
                  <a16:creationId xmlns:a16="http://schemas.microsoft.com/office/drawing/2014/main" id="{41E55F3C-92F1-7843-82F9-E77E2CF87B37}"/>
                </a:ext>
              </a:extLst>
            </p:cNvPr>
            <p:cNvSpPr txBox="1"/>
            <p:nvPr/>
          </p:nvSpPr>
          <p:spPr>
            <a:xfrm>
              <a:off x="7152427" y="4956860"/>
              <a:ext cx="810166" cy="584775"/>
            </a:xfrm>
            <a:prstGeom prst="rect">
              <a:avLst/>
            </a:prstGeom>
            <a:noFill/>
          </p:spPr>
          <p:txBody>
            <a:bodyPr wrap="square" rtlCol="0">
              <a:spAutoFit/>
            </a:bodyPr>
            <a:lstStyle/>
            <a:p>
              <a:r>
                <a:rPr lang="en-US" sz="1600" dirty="0"/>
                <a:t>VCO out</a:t>
              </a:r>
            </a:p>
          </p:txBody>
        </p:sp>
        <p:sp>
          <p:nvSpPr>
            <p:cNvPr id="190" name="Oval 189">
              <a:extLst>
                <a:ext uri="{FF2B5EF4-FFF2-40B4-BE49-F238E27FC236}">
                  <a16:creationId xmlns:a16="http://schemas.microsoft.com/office/drawing/2014/main" id="{BB0C1814-8113-6A43-B6B8-4E0020286F1D}"/>
                </a:ext>
              </a:extLst>
            </p:cNvPr>
            <p:cNvSpPr>
              <a:spLocks noChangeAspect="1" noChangeArrowheads="1"/>
            </p:cNvSpPr>
            <p:nvPr/>
          </p:nvSpPr>
          <p:spPr bwMode="auto">
            <a:xfrm>
              <a:off x="6797189" y="2863285"/>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192" name="Group 210">
              <a:extLst>
                <a:ext uri="{FF2B5EF4-FFF2-40B4-BE49-F238E27FC236}">
                  <a16:creationId xmlns:a16="http://schemas.microsoft.com/office/drawing/2014/main" id="{019EC8BF-734D-CE4D-AB92-52B53F0853E1}"/>
                </a:ext>
              </a:extLst>
            </p:cNvPr>
            <p:cNvGrpSpPr>
              <a:grpSpLocks/>
            </p:cNvGrpSpPr>
            <p:nvPr/>
          </p:nvGrpSpPr>
          <p:grpSpPr bwMode="auto">
            <a:xfrm rot="5400000">
              <a:off x="7137292" y="2558636"/>
              <a:ext cx="304800" cy="762000"/>
              <a:chOff x="3216" y="1728"/>
              <a:chExt cx="192" cy="480"/>
            </a:xfrm>
          </p:grpSpPr>
          <p:sp>
            <p:nvSpPr>
              <p:cNvPr id="193" name="Line 8">
                <a:extLst>
                  <a:ext uri="{FF2B5EF4-FFF2-40B4-BE49-F238E27FC236}">
                    <a16:creationId xmlns:a16="http://schemas.microsoft.com/office/drawing/2014/main" id="{E50735BF-D371-2A42-A035-FBC6D84FDBF7}"/>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 name="Line 9">
                <a:extLst>
                  <a:ext uri="{FF2B5EF4-FFF2-40B4-BE49-F238E27FC236}">
                    <a16:creationId xmlns:a16="http://schemas.microsoft.com/office/drawing/2014/main" id="{171F3164-5D96-C446-BFE1-33DE18FE5455}"/>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 name="Line 10">
                <a:extLst>
                  <a:ext uri="{FF2B5EF4-FFF2-40B4-BE49-F238E27FC236}">
                    <a16:creationId xmlns:a16="http://schemas.microsoft.com/office/drawing/2014/main" id="{BCC505AA-320E-6441-96C2-7CB3BA9D2914}"/>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 name="Line 11">
                <a:extLst>
                  <a:ext uri="{FF2B5EF4-FFF2-40B4-BE49-F238E27FC236}">
                    <a16:creationId xmlns:a16="http://schemas.microsoft.com/office/drawing/2014/main" id="{CA6996E6-62F8-FF40-B74C-F08B0AA8E3D1}"/>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197" name="Straight Connector 196">
              <a:extLst>
                <a:ext uri="{FF2B5EF4-FFF2-40B4-BE49-F238E27FC236}">
                  <a16:creationId xmlns:a16="http://schemas.microsoft.com/office/drawing/2014/main" id="{46902EC9-EC63-D142-995F-CB15185CB0D0}"/>
                </a:ext>
              </a:extLst>
            </p:cNvPr>
            <p:cNvCxnSpPr>
              <a:cxnSpLocks/>
            </p:cNvCxnSpPr>
            <p:nvPr/>
          </p:nvCxnSpPr>
          <p:spPr>
            <a:xfrm>
              <a:off x="7407708" y="2938022"/>
              <a:ext cx="12716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98" name="Freeform 197">
              <a:extLst>
                <a:ext uri="{FF2B5EF4-FFF2-40B4-BE49-F238E27FC236}">
                  <a16:creationId xmlns:a16="http://schemas.microsoft.com/office/drawing/2014/main" id="{A3FBA258-AC2C-7F48-A04D-7D0B97D36349}"/>
                </a:ext>
              </a:extLst>
            </p:cNvPr>
            <p:cNvSpPr>
              <a:spLocks noChangeAspect="1"/>
            </p:cNvSpPr>
            <p:nvPr/>
          </p:nvSpPr>
          <p:spPr bwMode="auto">
            <a:xfrm>
              <a:off x="7828374" y="3324580"/>
              <a:ext cx="165855" cy="836239"/>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9" name="Freeform 198">
              <a:extLst>
                <a:ext uri="{FF2B5EF4-FFF2-40B4-BE49-F238E27FC236}">
                  <a16:creationId xmlns:a16="http://schemas.microsoft.com/office/drawing/2014/main" id="{6FD1D726-0C89-F340-A21A-E67B0AF074E5}"/>
                </a:ext>
              </a:extLst>
            </p:cNvPr>
            <p:cNvSpPr>
              <a:spLocks noChangeAspect="1"/>
            </p:cNvSpPr>
            <p:nvPr/>
          </p:nvSpPr>
          <p:spPr bwMode="auto">
            <a:xfrm>
              <a:off x="7452376" y="2948483"/>
              <a:ext cx="165855" cy="836239"/>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200" name="Straight Connector 199">
              <a:extLst>
                <a:ext uri="{FF2B5EF4-FFF2-40B4-BE49-F238E27FC236}">
                  <a16:creationId xmlns:a16="http://schemas.microsoft.com/office/drawing/2014/main" id="{79CA0A83-0B06-7C4B-A743-76BEC2DFD4A3}"/>
                </a:ext>
              </a:extLst>
            </p:cNvPr>
            <p:cNvCxnSpPr>
              <a:cxnSpLocks/>
            </p:cNvCxnSpPr>
            <p:nvPr/>
          </p:nvCxnSpPr>
          <p:spPr>
            <a:xfrm>
              <a:off x="7898489" y="3321102"/>
              <a:ext cx="76948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4" name="Group 222">
              <a:extLst>
                <a:ext uri="{FF2B5EF4-FFF2-40B4-BE49-F238E27FC236}">
                  <a16:creationId xmlns:a16="http://schemas.microsoft.com/office/drawing/2014/main" id="{DDB0FB92-9B08-0442-8049-BDA69411635E}"/>
                </a:ext>
              </a:extLst>
            </p:cNvPr>
            <p:cNvGrpSpPr>
              <a:grpSpLocks/>
            </p:cNvGrpSpPr>
            <p:nvPr/>
          </p:nvGrpSpPr>
          <p:grpSpPr bwMode="auto">
            <a:xfrm>
              <a:off x="7378295" y="3693542"/>
              <a:ext cx="304800" cy="381000"/>
              <a:chOff x="4272" y="3072"/>
              <a:chExt cx="192" cy="240"/>
            </a:xfrm>
          </p:grpSpPr>
          <p:sp>
            <p:nvSpPr>
              <p:cNvPr id="205" name="Line 99">
                <a:extLst>
                  <a:ext uri="{FF2B5EF4-FFF2-40B4-BE49-F238E27FC236}">
                    <a16:creationId xmlns:a16="http://schemas.microsoft.com/office/drawing/2014/main" id="{AA0627C1-D319-9F41-B5B4-2833718AE79C}"/>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6" name="Line 100">
                <a:extLst>
                  <a:ext uri="{FF2B5EF4-FFF2-40B4-BE49-F238E27FC236}">
                    <a16:creationId xmlns:a16="http://schemas.microsoft.com/office/drawing/2014/main" id="{B2D0D259-3352-F347-A356-854B65938ADD}"/>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7" name="Line 101">
                <a:extLst>
                  <a:ext uri="{FF2B5EF4-FFF2-40B4-BE49-F238E27FC236}">
                    <a16:creationId xmlns:a16="http://schemas.microsoft.com/office/drawing/2014/main" id="{B6F43AC1-6841-2E45-92F4-35155E426286}"/>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8" name="Line 102">
                <a:extLst>
                  <a:ext uri="{FF2B5EF4-FFF2-40B4-BE49-F238E27FC236}">
                    <a16:creationId xmlns:a16="http://schemas.microsoft.com/office/drawing/2014/main" id="{F86E3D1C-33AC-4E47-968B-D0D764609A35}"/>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9" name="Line 103">
                <a:extLst>
                  <a:ext uri="{FF2B5EF4-FFF2-40B4-BE49-F238E27FC236}">
                    <a16:creationId xmlns:a16="http://schemas.microsoft.com/office/drawing/2014/main" id="{6D692789-0438-E442-AF65-C7B900F2FF53}"/>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0" name="Line 104">
                <a:extLst>
                  <a:ext uri="{FF2B5EF4-FFF2-40B4-BE49-F238E27FC236}">
                    <a16:creationId xmlns:a16="http://schemas.microsoft.com/office/drawing/2014/main" id="{5AB623F4-524F-DC49-B1FA-71D9B657B2C4}"/>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11" name="Group 222">
              <a:extLst>
                <a:ext uri="{FF2B5EF4-FFF2-40B4-BE49-F238E27FC236}">
                  <a16:creationId xmlns:a16="http://schemas.microsoft.com/office/drawing/2014/main" id="{D188915F-3EAC-B04A-BF8A-CCB2EE65922B}"/>
                </a:ext>
              </a:extLst>
            </p:cNvPr>
            <p:cNvGrpSpPr>
              <a:grpSpLocks/>
            </p:cNvGrpSpPr>
            <p:nvPr/>
          </p:nvGrpSpPr>
          <p:grpSpPr bwMode="auto">
            <a:xfrm>
              <a:off x="7756764" y="4031804"/>
              <a:ext cx="304800" cy="381000"/>
              <a:chOff x="4272" y="3072"/>
              <a:chExt cx="192" cy="240"/>
            </a:xfrm>
          </p:grpSpPr>
          <p:sp>
            <p:nvSpPr>
              <p:cNvPr id="212" name="Line 99">
                <a:extLst>
                  <a:ext uri="{FF2B5EF4-FFF2-40B4-BE49-F238E27FC236}">
                    <a16:creationId xmlns:a16="http://schemas.microsoft.com/office/drawing/2014/main" id="{3E41670F-5EA9-054F-9E21-7512DF8CD67B}"/>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3" name="Line 100">
                <a:extLst>
                  <a:ext uri="{FF2B5EF4-FFF2-40B4-BE49-F238E27FC236}">
                    <a16:creationId xmlns:a16="http://schemas.microsoft.com/office/drawing/2014/main" id="{3B89200E-31FB-8B49-9454-88E972979289}"/>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4" name="Line 101">
                <a:extLst>
                  <a:ext uri="{FF2B5EF4-FFF2-40B4-BE49-F238E27FC236}">
                    <a16:creationId xmlns:a16="http://schemas.microsoft.com/office/drawing/2014/main" id="{FB042235-75F3-294E-A0CD-201AEBDB937C}"/>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 name="Line 102">
                <a:extLst>
                  <a:ext uri="{FF2B5EF4-FFF2-40B4-BE49-F238E27FC236}">
                    <a16:creationId xmlns:a16="http://schemas.microsoft.com/office/drawing/2014/main" id="{CD8409FD-E9E4-8C45-A977-E4CD0563FD41}"/>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 name="Line 103">
                <a:extLst>
                  <a:ext uri="{FF2B5EF4-FFF2-40B4-BE49-F238E27FC236}">
                    <a16:creationId xmlns:a16="http://schemas.microsoft.com/office/drawing/2014/main" id="{40E44CD8-9036-134C-B5D1-CF5B6D6E5E3B}"/>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7" name="Line 104">
                <a:extLst>
                  <a:ext uri="{FF2B5EF4-FFF2-40B4-BE49-F238E27FC236}">
                    <a16:creationId xmlns:a16="http://schemas.microsoft.com/office/drawing/2014/main" id="{9A77BA44-E919-674C-919B-CBFAED2463CA}"/>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18" name="Freeform 217">
              <a:extLst>
                <a:ext uri="{FF2B5EF4-FFF2-40B4-BE49-F238E27FC236}">
                  <a16:creationId xmlns:a16="http://schemas.microsoft.com/office/drawing/2014/main" id="{3F0373C1-6530-8A41-AD7F-EE422EC7248A}"/>
                </a:ext>
              </a:extLst>
            </p:cNvPr>
            <p:cNvSpPr>
              <a:spLocks noChangeAspect="1"/>
            </p:cNvSpPr>
            <p:nvPr/>
          </p:nvSpPr>
          <p:spPr bwMode="auto">
            <a:xfrm>
              <a:off x="11028776" y="2112009"/>
              <a:ext cx="165855" cy="836239"/>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219" name="Straight Connector 218">
              <a:extLst>
                <a:ext uri="{FF2B5EF4-FFF2-40B4-BE49-F238E27FC236}">
                  <a16:creationId xmlns:a16="http://schemas.microsoft.com/office/drawing/2014/main" id="{799FD86F-24FB-AD4A-B96E-C5266E9B2E4D}"/>
                </a:ext>
              </a:extLst>
            </p:cNvPr>
            <p:cNvCxnSpPr>
              <a:cxnSpLocks/>
            </p:cNvCxnSpPr>
            <p:nvPr/>
          </p:nvCxnSpPr>
          <p:spPr>
            <a:xfrm>
              <a:off x="10362375" y="2939636"/>
              <a:ext cx="76948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20" name="Freeform 219">
              <a:extLst>
                <a:ext uri="{FF2B5EF4-FFF2-40B4-BE49-F238E27FC236}">
                  <a16:creationId xmlns:a16="http://schemas.microsoft.com/office/drawing/2014/main" id="{7FB50C23-FF64-FF4E-B047-A0BE32D9DBDC}"/>
                </a:ext>
              </a:extLst>
            </p:cNvPr>
            <p:cNvSpPr>
              <a:spLocks noChangeAspect="1"/>
            </p:cNvSpPr>
            <p:nvPr/>
          </p:nvSpPr>
          <p:spPr bwMode="auto">
            <a:xfrm>
              <a:off x="11035404" y="1403018"/>
              <a:ext cx="165855" cy="836239"/>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221" name="Straight Connector 220">
              <a:extLst>
                <a:ext uri="{FF2B5EF4-FFF2-40B4-BE49-F238E27FC236}">
                  <a16:creationId xmlns:a16="http://schemas.microsoft.com/office/drawing/2014/main" id="{A2CBA3FC-66E7-FD4B-8D1B-C860F7E3A460}"/>
                </a:ext>
              </a:extLst>
            </p:cNvPr>
            <p:cNvCxnSpPr>
              <a:cxnSpLocks/>
            </p:cNvCxnSpPr>
            <p:nvPr/>
          </p:nvCxnSpPr>
          <p:spPr>
            <a:xfrm>
              <a:off x="9477680" y="1094662"/>
              <a:ext cx="0" cy="133627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BBC3465B-1FE7-564C-8FB8-44850F949133}"/>
                </a:ext>
              </a:extLst>
            </p:cNvPr>
            <p:cNvCxnSpPr>
              <a:cxnSpLocks/>
            </p:cNvCxnSpPr>
            <p:nvPr/>
          </p:nvCxnSpPr>
          <p:spPr>
            <a:xfrm flipV="1">
              <a:off x="8462698" y="1403018"/>
              <a:ext cx="2662028" cy="1475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28" name="Oval 227">
              <a:extLst>
                <a:ext uri="{FF2B5EF4-FFF2-40B4-BE49-F238E27FC236}">
                  <a16:creationId xmlns:a16="http://schemas.microsoft.com/office/drawing/2014/main" id="{BAFA48B0-1665-3B48-AF7B-071F1BA10C25}"/>
                </a:ext>
              </a:extLst>
            </p:cNvPr>
            <p:cNvSpPr>
              <a:spLocks noChangeAspect="1" noChangeArrowheads="1"/>
            </p:cNvSpPr>
            <p:nvPr/>
          </p:nvSpPr>
          <p:spPr bwMode="auto">
            <a:xfrm>
              <a:off x="9409455" y="993704"/>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29" name="Oval 228">
              <a:extLst>
                <a:ext uri="{FF2B5EF4-FFF2-40B4-BE49-F238E27FC236}">
                  <a16:creationId xmlns:a16="http://schemas.microsoft.com/office/drawing/2014/main" id="{1D8364F6-0ECD-6444-818A-EDB30850EC9E}"/>
                </a:ext>
              </a:extLst>
            </p:cNvPr>
            <p:cNvSpPr>
              <a:spLocks noChangeAspect="1" noChangeArrowheads="1"/>
            </p:cNvSpPr>
            <p:nvPr/>
          </p:nvSpPr>
          <p:spPr bwMode="auto">
            <a:xfrm>
              <a:off x="9407307" y="1352168"/>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230" name="Group 210">
              <a:extLst>
                <a:ext uri="{FF2B5EF4-FFF2-40B4-BE49-F238E27FC236}">
                  <a16:creationId xmlns:a16="http://schemas.microsoft.com/office/drawing/2014/main" id="{5BC3C8B9-B05A-5546-8945-EFE9A6E60FE0}"/>
                </a:ext>
              </a:extLst>
            </p:cNvPr>
            <p:cNvGrpSpPr>
              <a:grpSpLocks/>
            </p:cNvGrpSpPr>
            <p:nvPr/>
          </p:nvGrpSpPr>
          <p:grpSpPr bwMode="auto">
            <a:xfrm>
              <a:off x="8326741" y="1409399"/>
              <a:ext cx="304800" cy="762000"/>
              <a:chOff x="3216" y="1728"/>
              <a:chExt cx="192" cy="480"/>
            </a:xfrm>
          </p:grpSpPr>
          <p:sp>
            <p:nvSpPr>
              <p:cNvPr id="231" name="Line 8">
                <a:extLst>
                  <a:ext uri="{FF2B5EF4-FFF2-40B4-BE49-F238E27FC236}">
                    <a16:creationId xmlns:a16="http://schemas.microsoft.com/office/drawing/2014/main" id="{FC98B1ED-847F-E74C-99AE-E0622365A8C1}"/>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2" name="Line 9">
                <a:extLst>
                  <a:ext uri="{FF2B5EF4-FFF2-40B4-BE49-F238E27FC236}">
                    <a16:creationId xmlns:a16="http://schemas.microsoft.com/office/drawing/2014/main" id="{EE12E0C9-0908-374C-AC1F-8CB040DDF1A6}"/>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3" name="Line 10">
                <a:extLst>
                  <a:ext uri="{FF2B5EF4-FFF2-40B4-BE49-F238E27FC236}">
                    <a16:creationId xmlns:a16="http://schemas.microsoft.com/office/drawing/2014/main" id="{F405D83B-C3DB-D14D-B531-23BBB0CD7A79}"/>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4" name="Line 11">
                <a:extLst>
                  <a:ext uri="{FF2B5EF4-FFF2-40B4-BE49-F238E27FC236}">
                    <a16:creationId xmlns:a16="http://schemas.microsoft.com/office/drawing/2014/main" id="{2CAA3B53-6740-0242-9153-6B22E4AD462B}"/>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35" name="Group 222">
              <a:extLst>
                <a:ext uri="{FF2B5EF4-FFF2-40B4-BE49-F238E27FC236}">
                  <a16:creationId xmlns:a16="http://schemas.microsoft.com/office/drawing/2014/main" id="{FA956173-0977-5840-B5DB-08DC0B48E997}"/>
                </a:ext>
              </a:extLst>
            </p:cNvPr>
            <p:cNvGrpSpPr>
              <a:grpSpLocks/>
            </p:cNvGrpSpPr>
            <p:nvPr/>
          </p:nvGrpSpPr>
          <p:grpSpPr bwMode="auto">
            <a:xfrm>
              <a:off x="8326741" y="2110944"/>
              <a:ext cx="304800" cy="381000"/>
              <a:chOff x="4272" y="3072"/>
              <a:chExt cx="192" cy="240"/>
            </a:xfrm>
          </p:grpSpPr>
          <p:sp>
            <p:nvSpPr>
              <p:cNvPr id="236" name="Line 99">
                <a:extLst>
                  <a:ext uri="{FF2B5EF4-FFF2-40B4-BE49-F238E27FC236}">
                    <a16:creationId xmlns:a16="http://schemas.microsoft.com/office/drawing/2014/main" id="{3E22B236-A898-0B4E-ACE6-CA917B703399}"/>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 name="Line 100">
                <a:extLst>
                  <a:ext uri="{FF2B5EF4-FFF2-40B4-BE49-F238E27FC236}">
                    <a16:creationId xmlns:a16="http://schemas.microsoft.com/office/drawing/2014/main" id="{FF36AD49-8FE5-9647-9151-3835C6D1B7B6}"/>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8" name="Line 101">
                <a:extLst>
                  <a:ext uri="{FF2B5EF4-FFF2-40B4-BE49-F238E27FC236}">
                    <a16:creationId xmlns:a16="http://schemas.microsoft.com/office/drawing/2014/main" id="{7584C418-146D-FD4A-8FA2-0675235C75D0}"/>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9" name="Line 102">
                <a:extLst>
                  <a:ext uri="{FF2B5EF4-FFF2-40B4-BE49-F238E27FC236}">
                    <a16:creationId xmlns:a16="http://schemas.microsoft.com/office/drawing/2014/main" id="{7392A373-B9A8-D047-976B-F5E6BB160C8E}"/>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0" name="Line 103">
                <a:extLst>
                  <a:ext uri="{FF2B5EF4-FFF2-40B4-BE49-F238E27FC236}">
                    <a16:creationId xmlns:a16="http://schemas.microsoft.com/office/drawing/2014/main" id="{FACABF80-3319-CF43-B1A2-0ADA51686DB0}"/>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1" name="Line 104">
                <a:extLst>
                  <a:ext uri="{FF2B5EF4-FFF2-40B4-BE49-F238E27FC236}">
                    <a16:creationId xmlns:a16="http://schemas.microsoft.com/office/drawing/2014/main" id="{C3D3A7CD-BFE5-1142-9191-ED33A1906CEE}"/>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243" name="Straight Connector 242">
              <a:extLst>
                <a:ext uri="{FF2B5EF4-FFF2-40B4-BE49-F238E27FC236}">
                  <a16:creationId xmlns:a16="http://schemas.microsoft.com/office/drawing/2014/main" id="{AB198D58-58DC-CC46-A6BD-CAB130B93C78}"/>
                </a:ext>
              </a:extLst>
            </p:cNvPr>
            <p:cNvCxnSpPr>
              <a:cxnSpLocks/>
            </p:cNvCxnSpPr>
            <p:nvPr/>
          </p:nvCxnSpPr>
          <p:spPr>
            <a:xfrm>
              <a:off x="9567833" y="5187583"/>
              <a:ext cx="0" cy="53892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45" name="Oval 244">
              <a:extLst>
                <a:ext uri="{FF2B5EF4-FFF2-40B4-BE49-F238E27FC236}">
                  <a16:creationId xmlns:a16="http://schemas.microsoft.com/office/drawing/2014/main" id="{ACA3D4B9-64FA-D54B-A4E0-E56B2E7A5F5C}"/>
                </a:ext>
              </a:extLst>
            </p:cNvPr>
            <p:cNvSpPr>
              <a:spLocks noChangeAspect="1" noChangeArrowheads="1"/>
            </p:cNvSpPr>
            <p:nvPr/>
          </p:nvSpPr>
          <p:spPr bwMode="auto">
            <a:xfrm>
              <a:off x="9497087" y="5653715"/>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46" name="TextBox 245">
              <a:extLst>
                <a:ext uri="{FF2B5EF4-FFF2-40B4-BE49-F238E27FC236}">
                  <a16:creationId xmlns:a16="http://schemas.microsoft.com/office/drawing/2014/main" id="{D66A90A0-C93A-4C49-AC56-DE210FB40AC4}"/>
                </a:ext>
              </a:extLst>
            </p:cNvPr>
            <p:cNvSpPr txBox="1"/>
            <p:nvPr/>
          </p:nvSpPr>
          <p:spPr>
            <a:xfrm>
              <a:off x="9172926" y="629725"/>
              <a:ext cx="718688" cy="338554"/>
            </a:xfrm>
            <a:prstGeom prst="rect">
              <a:avLst/>
            </a:prstGeom>
            <a:noFill/>
          </p:spPr>
          <p:txBody>
            <a:bodyPr wrap="square" rtlCol="0">
              <a:spAutoFit/>
            </a:bodyPr>
            <a:lstStyle/>
            <a:p>
              <a:r>
                <a:rPr lang="en-US" sz="1600" dirty="0"/>
                <a:t>+12</a:t>
              </a:r>
            </a:p>
          </p:txBody>
        </p:sp>
        <p:sp>
          <p:nvSpPr>
            <p:cNvPr id="247" name="TextBox 246">
              <a:extLst>
                <a:ext uri="{FF2B5EF4-FFF2-40B4-BE49-F238E27FC236}">
                  <a16:creationId xmlns:a16="http://schemas.microsoft.com/office/drawing/2014/main" id="{2F20AE2F-E17B-5C47-BF4A-BCB78DDB2ED3}"/>
                </a:ext>
              </a:extLst>
            </p:cNvPr>
            <p:cNvSpPr txBox="1"/>
            <p:nvPr/>
          </p:nvSpPr>
          <p:spPr>
            <a:xfrm>
              <a:off x="9313399" y="5857221"/>
              <a:ext cx="718688" cy="338554"/>
            </a:xfrm>
            <a:prstGeom prst="rect">
              <a:avLst/>
            </a:prstGeom>
            <a:noFill/>
          </p:spPr>
          <p:txBody>
            <a:bodyPr wrap="square" rtlCol="0">
              <a:spAutoFit/>
            </a:bodyPr>
            <a:lstStyle/>
            <a:p>
              <a:r>
                <a:rPr lang="en-US" sz="1600" dirty="0"/>
                <a:t>-12</a:t>
              </a:r>
            </a:p>
          </p:txBody>
        </p:sp>
        <p:grpSp>
          <p:nvGrpSpPr>
            <p:cNvPr id="248" name="Group 210">
              <a:extLst>
                <a:ext uri="{FF2B5EF4-FFF2-40B4-BE49-F238E27FC236}">
                  <a16:creationId xmlns:a16="http://schemas.microsoft.com/office/drawing/2014/main" id="{7733C69E-00D8-764D-873E-83508A62F5E0}"/>
                </a:ext>
              </a:extLst>
            </p:cNvPr>
            <p:cNvGrpSpPr>
              <a:grpSpLocks/>
            </p:cNvGrpSpPr>
            <p:nvPr/>
          </p:nvGrpSpPr>
          <p:grpSpPr bwMode="auto">
            <a:xfrm>
              <a:off x="11491075" y="3881894"/>
              <a:ext cx="304800" cy="762000"/>
              <a:chOff x="3216" y="1728"/>
              <a:chExt cx="192" cy="480"/>
            </a:xfrm>
          </p:grpSpPr>
          <p:sp>
            <p:nvSpPr>
              <p:cNvPr id="249" name="Line 8">
                <a:extLst>
                  <a:ext uri="{FF2B5EF4-FFF2-40B4-BE49-F238E27FC236}">
                    <a16:creationId xmlns:a16="http://schemas.microsoft.com/office/drawing/2014/main" id="{79A1A898-E8CD-214B-A4C2-A4F8BD1B6ECB}"/>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0" name="Line 9">
                <a:extLst>
                  <a:ext uri="{FF2B5EF4-FFF2-40B4-BE49-F238E27FC236}">
                    <a16:creationId xmlns:a16="http://schemas.microsoft.com/office/drawing/2014/main" id="{C5693450-2F10-034E-ADD9-A85F76872824}"/>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1" name="Line 10">
                <a:extLst>
                  <a:ext uri="{FF2B5EF4-FFF2-40B4-BE49-F238E27FC236}">
                    <a16:creationId xmlns:a16="http://schemas.microsoft.com/office/drawing/2014/main" id="{31C46D1D-C983-1C47-A8B6-F5CC8F0C0D63}"/>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2" name="Line 11">
                <a:extLst>
                  <a:ext uri="{FF2B5EF4-FFF2-40B4-BE49-F238E27FC236}">
                    <a16:creationId xmlns:a16="http://schemas.microsoft.com/office/drawing/2014/main" id="{851714E4-B0D0-C94A-86EE-B512B0FFD35B}"/>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53" name="Group 222">
              <a:extLst>
                <a:ext uri="{FF2B5EF4-FFF2-40B4-BE49-F238E27FC236}">
                  <a16:creationId xmlns:a16="http://schemas.microsoft.com/office/drawing/2014/main" id="{E375A9FD-5AD5-CD4D-B144-CB66AA9575FD}"/>
                </a:ext>
              </a:extLst>
            </p:cNvPr>
            <p:cNvGrpSpPr>
              <a:grpSpLocks/>
            </p:cNvGrpSpPr>
            <p:nvPr/>
          </p:nvGrpSpPr>
          <p:grpSpPr bwMode="auto">
            <a:xfrm>
              <a:off x="11491075" y="4583439"/>
              <a:ext cx="304800" cy="381000"/>
              <a:chOff x="4272" y="3072"/>
              <a:chExt cx="192" cy="240"/>
            </a:xfrm>
          </p:grpSpPr>
          <p:sp>
            <p:nvSpPr>
              <p:cNvPr id="254" name="Line 99">
                <a:extLst>
                  <a:ext uri="{FF2B5EF4-FFF2-40B4-BE49-F238E27FC236}">
                    <a16:creationId xmlns:a16="http://schemas.microsoft.com/office/drawing/2014/main" id="{110A81B4-F223-084D-A475-8A10D41364F2}"/>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5" name="Line 100">
                <a:extLst>
                  <a:ext uri="{FF2B5EF4-FFF2-40B4-BE49-F238E27FC236}">
                    <a16:creationId xmlns:a16="http://schemas.microsoft.com/office/drawing/2014/main" id="{7EB2E568-F9D4-E04B-9FE4-7B0445025504}"/>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 name="Line 101">
                <a:extLst>
                  <a:ext uri="{FF2B5EF4-FFF2-40B4-BE49-F238E27FC236}">
                    <a16:creationId xmlns:a16="http://schemas.microsoft.com/office/drawing/2014/main" id="{48AF97FC-FD3E-0A4E-A9D8-0BDF37F5A96B}"/>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 name="Line 102">
                <a:extLst>
                  <a:ext uri="{FF2B5EF4-FFF2-40B4-BE49-F238E27FC236}">
                    <a16:creationId xmlns:a16="http://schemas.microsoft.com/office/drawing/2014/main" id="{EE0161BB-CA74-FF41-96F3-94704AC7F79E}"/>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 name="Line 103">
                <a:extLst>
                  <a:ext uri="{FF2B5EF4-FFF2-40B4-BE49-F238E27FC236}">
                    <a16:creationId xmlns:a16="http://schemas.microsoft.com/office/drawing/2014/main" id="{FE79E3E4-DFA4-5E47-871A-7BEF3B5B3794}"/>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9" name="Line 104">
                <a:extLst>
                  <a:ext uri="{FF2B5EF4-FFF2-40B4-BE49-F238E27FC236}">
                    <a16:creationId xmlns:a16="http://schemas.microsoft.com/office/drawing/2014/main" id="{4324FA97-836E-5D41-AB55-111322135491}"/>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261" name="Straight Connector 260">
              <a:extLst>
                <a:ext uri="{FF2B5EF4-FFF2-40B4-BE49-F238E27FC236}">
                  <a16:creationId xmlns:a16="http://schemas.microsoft.com/office/drawing/2014/main" id="{92874741-7276-DD4C-A32D-71C26D127A33}"/>
                </a:ext>
              </a:extLst>
            </p:cNvPr>
            <p:cNvCxnSpPr>
              <a:cxnSpLocks/>
            </p:cNvCxnSpPr>
            <p:nvPr/>
          </p:nvCxnSpPr>
          <p:spPr>
            <a:xfrm>
              <a:off x="10380199" y="3889225"/>
              <a:ext cx="1253323" cy="85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63" name="Oval 262">
              <a:extLst>
                <a:ext uri="{FF2B5EF4-FFF2-40B4-BE49-F238E27FC236}">
                  <a16:creationId xmlns:a16="http://schemas.microsoft.com/office/drawing/2014/main" id="{8D81AA3B-5DBB-B247-9EE0-5C1E5DF7B6A5}"/>
                </a:ext>
              </a:extLst>
            </p:cNvPr>
            <p:cNvSpPr>
              <a:spLocks noChangeAspect="1" noChangeArrowheads="1"/>
            </p:cNvSpPr>
            <p:nvPr/>
          </p:nvSpPr>
          <p:spPr bwMode="auto">
            <a:xfrm>
              <a:off x="11042927" y="2124897"/>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cxnSp>
          <p:nvCxnSpPr>
            <p:cNvPr id="267" name="Straight Connector 266">
              <a:extLst>
                <a:ext uri="{FF2B5EF4-FFF2-40B4-BE49-F238E27FC236}">
                  <a16:creationId xmlns:a16="http://schemas.microsoft.com/office/drawing/2014/main" id="{CA5BED29-BA12-C840-81E6-1204368124E8}"/>
                </a:ext>
              </a:extLst>
            </p:cNvPr>
            <p:cNvCxnSpPr>
              <a:cxnSpLocks/>
            </p:cNvCxnSpPr>
            <p:nvPr/>
          </p:nvCxnSpPr>
          <p:spPr>
            <a:xfrm>
              <a:off x="11085879" y="2191927"/>
              <a:ext cx="35291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30CEACEF-B8BD-0240-A2CC-BB8E18B90559}"/>
                </a:ext>
              </a:extLst>
            </p:cNvPr>
            <p:cNvCxnSpPr>
              <a:cxnSpLocks/>
            </p:cNvCxnSpPr>
            <p:nvPr/>
          </p:nvCxnSpPr>
          <p:spPr>
            <a:xfrm flipH="1">
              <a:off x="11435276" y="1787102"/>
              <a:ext cx="3519" cy="39778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5" name="Straight Arrow Connector 284">
              <a:extLst>
                <a:ext uri="{FF2B5EF4-FFF2-40B4-BE49-F238E27FC236}">
                  <a16:creationId xmlns:a16="http://schemas.microsoft.com/office/drawing/2014/main" id="{65FA80CB-5FD4-3642-925A-F6E94821AC86}"/>
                </a:ext>
              </a:extLst>
            </p:cNvPr>
            <p:cNvCxnSpPr>
              <a:cxnSpLocks/>
            </p:cNvCxnSpPr>
            <p:nvPr/>
          </p:nvCxnSpPr>
          <p:spPr>
            <a:xfrm flipH="1">
              <a:off x="11180087" y="1787102"/>
              <a:ext cx="25518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3D49995A-430A-A347-96ED-E508ECB2279A}"/>
                </a:ext>
              </a:extLst>
            </p:cNvPr>
            <p:cNvCxnSpPr>
              <a:cxnSpLocks/>
            </p:cNvCxnSpPr>
            <p:nvPr/>
          </p:nvCxnSpPr>
          <p:spPr>
            <a:xfrm>
              <a:off x="8740589" y="5384076"/>
              <a:ext cx="82724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87" name="Group 210">
              <a:extLst>
                <a:ext uri="{FF2B5EF4-FFF2-40B4-BE49-F238E27FC236}">
                  <a16:creationId xmlns:a16="http://schemas.microsoft.com/office/drawing/2014/main" id="{C8E1CA2E-24A9-F547-BC08-4B1F4391B0BA}"/>
                </a:ext>
              </a:extLst>
            </p:cNvPr>
            <p:cNvGrpSpPr>
              <a:grpSpLocks/>
            </p:cNvGrpSpPr>
            <p:nvPr/>
          </p:nvGrpSpPr>
          <p:grpSpPr bwMode="auto">
            <a:xfrm>
              <a:off x="8595052" y="5373951"/>
              <a:ext cx="304800" cy="762000"/>
              <a:chOff x="3216" y="1728"/>
              <a:chExt cx="192" cy="480"/>
            </a:xfrm>
          </p:grpSpPr>
          <p:sp>
            <p:nvSpPr>
              <p:cNvPr id="288" name="Line 8">
                <a:extLst>
                  <a:ext uri="{FF2B5EF4-FFF2-40B4-BE49-F238E27FC236}">
                    <a16:creationId xmlns:a16="http://schemas.microsoft.com/office/drawing/2014/main" id="{A4778589-8A98-B84D-A302-C95BDB6B8C57}"/>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4" name="Line 9">
                <a:extLst>
                  <a:ext uri="{FF2B5EF4-FFF2-40B4-BE49-F238E27FC236}">
                    <a16:creationId xmlns:a16="http://schemas.microsoft.com/office/drawing/2014/main" id="{C557278D-D7E5-5347-BA14-7A2E4C5C4FF7}"/>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5" name="Line 10">
                <a:extLst>
                  <a:ext uri="{FF2B5EF4-FFF2-40B4-BE49-F238E27FC236}">
                    <a16:creationId xmlns:a16="http://schemas.microsoft.com/office/drawing/2014/main" id="{B31E2218-25BD-7245-B2D7-76B75E1EAFA8}"/>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6" name="Line 11">
                <a:extLst>
                  <a:ext uri="{FF2B5EF4-FFF2-40B4-BE49-F238E27FC236}">
                    <a16:creationId xmlns:a16="http://schemas.microsoft.com/office/drawing/2014/main" id="{A944A182-D640-CA44-9A29-237A64896485}"/>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43" name="Group 222">
              <a:extLst>
                <a:ext uri="{FF2B5EF4-FFF2-40B4-BE49-F238E27FC236}">
                  <a16:creationId xmlns:a16="http://schemas.microsoft.com/office/drawing/2014/main" id="{F9F04179-0554-0F42-9D0D-50A47B2A70D0}"/>
                </a:ext>
              </a:extLst>
            </p:cNvPr>
            <p:cNvGrpSpPr>
              <a:grpSpLocks/>
            </p:cNvGrpSpPr>
            <p:nvPr/>
          </p:nvGrpSpPr>
          <p:grpSpPr bwMode="auto">
            <a:xfrm>
              <a:off x="8595052" y="6075496"/>
              <a:ext cx="304800" cy="381000"/>
              <a:chOff x="4272" y="3072"/>
              <a:chExt cx="192" cy="240"/>
            </a:xfrm>
          </p:grpSpPr>
          <p:sp>
            <p:nvSpPr>
              <p:cNvPr id="345" name="Line 99">
                <a:extLst>
                  <a:ext uri="{FF2B5EF4-FFF2-40B4-BE49-F238E27FC236}">
                    <a16:creationId xmlns:a16="http://schemas.microsoft.com/office/drawing/2014/main" id="{DCAE70C2-65C5-2449-B6F2-DF82C61D18F8}"/>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6" name="Line 100">
                <a:extLst>
                  <a:ext uri="{FF2B5EF4-FFF2-40B4-BE49-F238E27FC236}">
                    <a16:creationId xmlns:a16="http://schemas.microsoft.com/office/drawing/2014/main" id="{86A92B58-DE60-F84B-A558-EE077DE25A7A}"/>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7" name="Line 101">
                <a:extLst>
                  <a:ext uri="{FF2B5EF4-FFF2-40B4-BE49-F238E27FC236}">
                    <a16:creationId xmlns:a16="http://schemas.microsoft.com/office/drawing/2014/main" id="{D0F0A1C5-E9FA-964D-9FF8-81EB053FAF59}"/>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 name="Line 102">
                <a:extLst>
                  <a:ext uri="{FF2B5EF4-FFF2-40B4-BE49-F238E27FC236}">
                    <a16:creationId xmlns:a16="http://schemas.microsoft.com/office/drawing/2014/main" id="{3BF3473B-EB4A-544B-B097-96C569E1488E}"/>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 name="Line 103">
                <a:extLst>
                  <a:ext uri="{FF2B5EF4-FFF2-40B4-BE49-F238E27FC236}">
                    <a16:creationId xmlns:a16="http://schemas.microsoft.com/office/drawing/2014/main" id="{4DE437AD-04A7-594C-9FBC-FB2C47D96F96}"/>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 name="Line 104">
                <a:extLst>
                  <a:ext uri="{FF2B5EF4-FFF2-40B4-BE49-F238E27FC236}">
                    <a16:creationId xmlns:a16="http://schemas.microsoft.com/office/drawing/2014/main" id="{7D1BB180-2694-8742-A729-A42F0A87DE3B}"/>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63" name="TextBox 362">
              <a:extLst>
                <a:ext uri="{FF2B5EF4-FFF2-40B4-BE49-F238E27FC236}">
                  <a16:creationId xmlns:a16="http://schemas.microsoft.com/office/drawing/2014/main" id="{883A2F75-8EFA-6B4B-957E-58B73597168B}"/>
                </a:ext>
              </a:extLst>
            </p:cNvPr>
            <p:cNvSpPr txBox="1"/>
            <p:nvPr/>
          </p:nvSpPr>
          <p:spPr>
            <a:xfrm>
              <a:off x="10576319" y="4160819"/>
              <a:ext cx="990956" cy="338554"/>
            </a:xfrm>
            <a:prstGeom prst="rect">
              <a:avLst/>
            </a:prstGeom>
            <a:noFill/>
          </p:spPr>
          <p:txBody>
            <a:bodyPr wrap="square" rtlCol="0">
              <a:spAutoFit/>
            </a:bodyPr>
            <a:lstStyle/>
            <a:p>
              <a:r>
                <a:rPr lang="en-US" sz="1600" dirty="0"/>
                <a:t>.022uF</a:t>
              </a:r>
            </a:p>
          </p:txBody>
        </p:sp>
        <p:sp>
          <p:nvSpPr>
            <p:cNvPr id="364" name="TextBox 363">
              <a:extLst>
                <a:ext uri="{FF2B5EF4-FFF2-40B4-BE49-F238E27FC236}">
                  <a16:creationId xmlns:a16="http://schemas.microsoft.com/office/drawing/2014/main" id="{D94B186A-0B7F-EA48-9031-D37BB34E6B02}"/>
                </a:ext>
              </a:extLst>
            </p:cNvPr>
            <p:cNvSpPr txBox="1"/>
            <p:nvPr/>
          </p:nvSpPr>
          <p:spPr>
            <a:xfrm>
              <a:off x="11210464" y="2381388"/>
              <a:ext cx="856942" cy="338554"/>
            </a:xfrm>
            <a:prstGeom prst="rect">
              <a:avLst/>
            </a:prstGeom>
            <a:noFill/>
          </p:spPr>
          <p:txBody>
            <a:bodyPr wrap="square" rtlCol="0">
              <a:spAutoFit/>
            </a:bodyPr>
            <a:lstStyle/>
            <a:p>
              <a:r>
                <a:rPr lang="en-US" sz="1600" dirty="0"/>
                <a:t>4.7K</a:t>
              </a:r>
            </a:p>
          </p:txBody>
        </p:sp>
        <p:sp>
          <p:nvSpPr>
            <p:cNvPr id="366" name="TextBox 365">
              <a:extLst>
                <a:ext uri="{FF2B5EF4-FFF2-40B4-BE49-F238E27FC236}">
                  <a16:creationId xmlns:a16="http://schemas.microsoft.com/office/drawing/2014/main" id="{E2233C2A-9114-6748-8ADE-53C7642A1ED0}"/>
                </a:ext>
              </a:extLst>
            </p:cNvPr>
            <p:cNvSpPr txBox="1"/>
            <p:nvPr/>
          </p:nvSpPr>
          <p:spPr>
            <a:xfrm>
              <a:off x="10505993" y="1618033"/>
              <a:ext cx="856942" cy="338554"/>
            </a:xfrm>
            <a:prstGeom prst="rect">
              <a:avLst/>
            </a:prstGeom>
            <a:noFill/>
          </p:spPr>
          <p:txBody>
            <a:bodyPr wrap="square" rtlCol="0">
              <a:spAutoFit/>
            </a:bodyPr>
            <a:lstStyle/>
            <a:p>
              <a:r>
                <a:rPr lang="en-US" sz="1600" dirty="0"/>
                <a:t>10K</a:t>
              </a:r>
            </a:p>
          </p:txBody>
        </p:sp>
        <p:sp>
          <p:nvSpPr>
            <p:cNvPr id="367" name="TextBox 366">
              <a:extLst>
                <a:ext uri="{FF2B5EF4-FFF2-40B4-BE49-F238E27FC236}">
                  <a16:creationId xmlns:a16="http://schemas.microsoft.com/office/drawing/2014/main" id="{45683A88-2D47-4846-9CD2-6D213493B0CC}"/>
                </a:ext>
              </a:extLst>
            </p:cNvPr>
            <p:cNvSpPr txBox="1"/>
            <p:nvPr/>
          </p:nvSpPr>
          <p:spPr>
            <a:xfrm>
              <a:off x="7066159" y="2376295"/>
              <a:ext cx="856942" cy="338554"/>
            </a:xfrm>
            <a:prstGeom prst="rect">
              <a:avLst/>
            </a:prstGeom>
            <a:noFill/>
          </p:spPr>
          <p:txBody>
            <a:bodyPr wrap="square" rtlCol="0">
              <a:spAutoFit/>
            </a:bodyPr>
            <a:lstStyle/>
            <a:p>
              <a:r>
                <a:rPr lang="en-US" sz="1600" dirty="0"/>
                <a:t>.01</a:t>
              </a:r>
            </a:p>
          </p:txBody>
        </p:sp>
        <p:sp>
          <p:nvSpPr>
            <p:cNvPr id="368" name="TextBox 367">
              <a:extLst>
                <a:ext uri="{FF2B5EF4-FFF2-40B4-BE49-F238E27FC236}">
                  <a16:creationId xmlns:a16="http://schemas.microsoft.com/office/drawing/2014/main" id="{D83CDACF-DB31-9A4B-8217-96CAE5844D88}"/>
                </a:ext>
              </a:extLst>
            </p:cNvPr>
            <p:cNvSpPr txBox="1"/>
            <p:nvPr/>
          </p:nvSpPr>
          <p:spPr>
            <a:xfrm>
              <a:off x="8636654" y="1550034"/>
              <a:ext cx="856942" cy="338554"/>
            </a:xfrm>
            <a:prstGeom prst="rect">
              <a:avLst/>
            </a:prstGeom>
            <a:noFill/>
          </p:spPr>
          <p:txBody>
            <a:bodyPr wrap="square" rtlCol="0">
              <a:spAutoFit/>
            </a:bodyPr>
            <a:lstStyle/>
            <a:p>
              <a:r>
                <a:rPr lang="en-US" sz="1600" dirty="0"/>
                <a:t>.01</a:t>
              </a:r>
            </a:p>
          </p:txBody>
        </p:sp>
        <p:sp>
          <p:nvSpPr>
            <p:cNvPr id="369" name="TextBox 368">
              <a:extLst>
                <a:ext uri="{FF2B5EF4-FFF2-40B4-BE49-F238E27FC236}">
                  <a16:creationId xmlns:a16="http://schemas.microsoft.com/office/drawing/2014/main" id="{BCE408BF-9167-FA40-B371-CCB416BC1D28}"/>
                </a:ext>
              </a:extLst>
            </p:cNvPr>
            <p:cNvSpPr txBox="1"/>
            <p:nvPr/>
          </p:nvSpPr>
          <p:spPr>
            <a:xfrm>
              <a:off x="8082308" y="5595720"/>
              <a:ext cx="856942" cy="338554"/>
            </a:xfrm>
            <a:prstGeom prst="rect">
              <a:avLst/>
            </a:prstGeom>
            <a:noFill/>
          </p:spPr>
          <p:txBody>
            <a:bodyPr wrap="square" rtlCol="0">
              <a:spAutoFit/>
            </a:bodyPr>
            <a:lstStyle/>
            <a:p>
              <a:r>
                <a:rPr lang="en-US" sz="1600" dirty="0"/>
                <a:t>.01</a:t>
              </a:r>
            </a:p>
          </p:txBody>
        </p:sp>
        <p:sp>
          <p:nvSpPr>
            <p:cNvPr id="370" name="TextBox 369">
              <a:extLst>
                <a:ext uri="{FF2B5EF4-FFF2-40B4-BE49-F238E27FC236}">
                  <a16:creationId xmlns:a16="http://schemas.microsoft.com/office/drawing/2014/main" id="{672A9149-BDB6-7941-91CF-91B37474C7C7}"/>
                </a:ext>
              </a:extLst>
            </p:cNvPr>
            <p:cNvSpPr txBox="1"/>
            <p:nvPr/>
          </p:nvSpPr>
          <p:spPr>
            <a:xfrm>
              <a:off x="7985364" y="3513821"/>
              <a:ext cx="856942" cy="338554"/>
            </a:xfrm>
            <a:prstGeom prst="rect">
              <a:avLst/>
            </a:prstGeom>
            <a:noFill/>
          </p:spPr>
          <p:txBody>
            <a:bodyPr wrap="square" rtlCol="0">
              <a:spAutoFit/>
            </a:bodyPr>
            <a:lstStyle/>
            <a:p>
              <a:r>
                <a:rPr lang="en-US" sz="1600" dirty="0"/>
                <a:t>4.7K</a:t>
              </a:r>
            </a:p>
          </p:txBody>
        </p:sp>
        <p:sp>
          <p:nvSpPr>
            <p:cNvPr id="371" name="TextBox 370">
              <a:extLst>
                <a:ext uri="{FF2B5EF4-FFF2-40B4-BE49-F238E27FC236}">
                  <a16:creationId xmlns:a16="http://schemas.microsoft.com/office/drawing/2014/main" id="{85F420F3-DC63-6349-AFB0-F3EC3F59B7D4}"/>
                </a:ext>
              </a:extLst>
            </p:cNvPr>
            <p:cNvSpPr txBox="1"/>
            <p:nvPr/>
          </p:nvSpPr>
          <p:spPr>
            <a:xfrm>
              <a:off x="6903252" y="3344528"/>
              <a:ext cx="856942" cy="338554"/>
            </a:xfrm>
            <a:prstGeom prst="rect">
              <a:avLst/>
            </a:prstGeom>
            <a:noFill/>
          </p:spPr>
          <p:txBody>
            <a:bodyPr wrap="square" rtlCol="0">
              <a:spAutoFit/>
            </a:bodyPr>
            <a:lstStyle/>
            <a:p>
              <a:r>
                <a:rPr lang="en-US" sz="1600" dirty="0"/>
                <a:t>4.7K</a:t>
              </a:r>
            </a:p>
          </p:txBody>
        </p:sp>
        <p:sp>
          <p:nvSpPr>
            <p:cNvPr id="294" name="TextBox 293">
              <a:extLst>
                <a:ext uri="{FF2B5EF4-FFF2-40B4-BE49-F238E27FC236}">
                  <a16:creationId xmlns:a16="http://schemas.microsoft.com/office/drawing/2014/main" id="{DFD47014-8318-ED46-87CF-EDBA76AACFAA}"/>
                </a:ext>
              </a:extLst>
            </p:cNvPr>
            <p:cNvSpPr txBox="1"/>
            <p:nvPr/>
          </p:nvSpPr>
          <p:spPr>
            <a:xfrm>
              <a:off x="10455353" y="3465343"/>
              <a:ext cx="359283" cy="338554"/>
            </a:xfrm>
            <a:prstGeom prst="rect">
              <a:avLst/>
            </a:prstGeom>
            <a:noFill/>
          </p:spPr>
          <p:txBody>
            <a:bodyPr wrap="square" rtlCol="0">
              <a:spAutoFit/>
            </a:bodyPr>
            <a:lstStyle/>
            <a:p>
              <a:r>
                <a:rPr lang="en-US" sz="1600" dirty="0"/>
                <a:t>C</a:t>
              </a:r>
            </a:p>
          </p:txBody>
        </p:sp>
        <p:sp>
          <p:nvSpPr>
            <p:cNvPr id="295" name="TextBox 294">
              <a:extLst>
                <a:ext uri="{FF2B5EF4-FFF2-40B4-BE49-F238E27FC236}">
                  <a16:creationId xmlns:a16="http://schemas.microsoft.com/office/drawing/2014/main" id="{1D3148ED-284C-014D-8FC5-BA59EF69DBE8}"/>
                </a:ext>
              </a:extLst>
            </p:cNvPr>
            <p:cNvSpPr txBox="1"/>
            <p:nvPr/>
          </p:nvSpPr>
          <p:spPr>
            <a:xfrm>
              <a:off x="10461981" y="2597326"/>
              <a:ext cx="359283" cy="338554"/>
            </a:xfrm>
            <a:prstGeom prst="rect">
              <a:avLst/>
            </a:prstGeom>
            <a:noFill/>
          </p:spPr>
          <p:txBody>
            <a:bodyPr wrap="square" rtlCol="0">
              <a:spAutoFit/>
            </a:bodyPr>
            <a:lstStyle/>
            <a:p>
              <a:r>
                <a:rPr lang="en-US" sz="1600" dirty="0"/>
                <a:t>R</a:t>
              </a:r>
            </a:p>
          </p:txBody>
        </p:sp>
      </p:grpSp>
    </p:spTree>
    <p:extLst>
      <p:ext uri="{BB962C8B-B14F-4D97-AF65-F5344CB8AC3E}">
        <p14:creationId xmlns:p14="http://schemas.microsoft.com/office/powerpoint/2010/main" val="33368041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769613" y="165402"/>
            <a:ext cx="10515600" cy="1038988"/>
          </a:xfrm>
        </p:spPr>
        <p:txBody>
          <a:bodyPr/>
          <a:lstStyle/>
          <a:p>
            <a:pPr algn="ctr"/>
            <a:r>
              <a:rPr lang="en-US" dirty="0">
                <a:latin typeface="Calibri" panose="020F0502020204030204" pitchFamily="34" charset="0"/>
                <a:cs typeface="Calibri" panose="020F0502020204030204" pitchFamily="34" charset="0"/>
              </a:rPr>
              <a:t>PLL FM detector</a:t>
            </a:r>
          </a:p>
        </p:txBody>
      </p:sp>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66</a:t>
            </a:fld>
            <a:endParaRPr lang="en-US"/>
          </a:p>
        </p:txBody>
      </p:sp>
      <p:grpSp>
        <p:nvGrpSpPr>
          <p:cNvPr id="25" name="Group 24">
            <a:extLst>
              <a:ext uri="{FF2B5EF4-FFF2-40B4-BE49-F238E27FC236}">
                <a16:creationId xmlns:a16="http://schemas.microsoft.com/office/drawing/2014/main" id="{A6470D0A-BE2C-3349-B9F3-87C0C3B3B039}"/>
              </a:ext>
            </a:extLst>
          </p:cNvPr>
          <p:cNvGrpSpPr/>
          <p:nvPr/>
        </p:nvGrpSpPr>
        <p:grpSpPr>
          <a:xfrm>
            <a:off x="5491206" y="1793494"/>
            <a:ext cx="6238788" cy="4562856"/>
            <a:chOff x="3069482" y="1938049"/>
            <a:chExt cx="6238788" cy="4565513"/>
          </a:xfrm>
        </p:grpSpPr>
        <p:cxnSp>
          <p:nvCxnSpPr>
            <p:cNvPr id="803" name="Straight Connector 802">
              <a:extLst>
                <a:ext uri="{FF2B5EF4-FFF2-40B4-BE49-F238E27FC236}">
                  <a16:creationId xmlns:a16="http://schemas.microsoft.com/office/drawing/2014/main" id="{BBCFD950-3C63-D040-AE05-5DACBF6F82F3}"/>
                </a:ext>
              </a:extLst>
            </p:cNvPr>
            <p:cNvCxnSpPr>
              <a:cxnSpLocks/>
            </p:cNvCxnSpPr>
            <p:nvPr/>
          </p:nvCxnSpPr>
          <p:spPr>
            <a:xfrm>
              <a:off x="3725904" y="5307490"/>
              <a:ext cx="12716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69" name="Oval 268">
              <a:extLst>
                <a:ext uri="{FF2B5EF4-FFF2-40B4-BE49-F238E27FC236}">
                  <a16:creationId xmlns:a16="http://schemas.microsoft.com/office/drawing/2014/main" id="{7AA7268B-184A-C446-8B49-ADFBD96B93DF}"/>
                </a:ext>
              </a:extLst>
            </p:cNvPr>
            <p:cNvSpPr>
              <a:spLocks noChangeAspect="1" noChangeArrowheads="1"/>
            </p:cNvSpPr>
            <p:nvPr/>
          </p:nvSpPr>
          <p:spPr bwMode="auto">
            <a:xfrm>
              <a:off x="3658727" y="5246005"/>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1" name="Rectangle 20">
              <a:extLst>
                <a:ext uri="{FF2B5EF4-FFF2-40B4-BE49-F238E27FC236}">
                  <a16:creationId xmlns:a16="http://schemas.microsoft.com/office/drawing/2014/main" id="{E59AAECA-5FAD-EF40-ACCA-B9D529FAAEE0}"/>
                </a:ext>
              </a:extLst>
            </p:cNvPr>
            <p:cNvSpPr/>
            <p:nvPr/>
          </p:nvSpPr>
          <p:spPr>
            <a:xfrm>
              <a:off x="5002329" y="3042837"/>
              <a:ext cx="1709530" cy="2751799"/>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1E63E1B7-2BFE-D544-8F46-B2F36BF1A5F5}"/>
                </a:ext>
              </a:extLst>
            </p:cNvPr>
            <p:cNvSpPr txBox="1"/>
            <p:nvPr/>
          </p:nvSpPr>
          <p:spPr>
            <a:xfrm>
              <a:off x="5536243" y="4211811"/>
              <a:ext cx="641702" cy="369332"/>
            </a:xfrm>
            <a:prstGeom prst="rect">
              <a:avLst/>
            </a:prstGeom>
            <a:noFill/>
          </p:spPr>
          <p:txBody>
            <a:bodyPr wrap="square" rtlCol="0">
              <a:spAutoFit/>
            </a:bodyPr>
            <a:lstStyle/>
            <a:p>
              <a:r>
                <a:rPr lang="en-US" dirty="0"/>
                <a:t>565</a:t>
              </a:r>
            </a:p>
          </p:txBody>
        </p:sp>
        <p:sp>
          <p:nvSpPr>
            <p:cNvPr id="164" name="TextBox 163">
              <a:extLst>
                <a:ext uri="{FF2B5EF4-FFF2-40B4-BE49-F238E27FC236}">
                  <a16:creationId xmlns:a16="http://schemas.microsoft.com/office/drawing/2014/main" id="{1A275126-385E-7C46-B297-21BF769155BC}"/>
                </a:ext>
              </a:extLst>
            </p:cNvPr>
            <p:cNvSpPr txBox="1"/>
            <p:nvPr/>
          </p:nvSpPr>
          <p:spPr>
            <a:xfrm>
              <a:off x="5661735" y="3082734"/>
              <a:ext cx="641702" cy="369332"/>
            </a:xfrm>
            <a:prstGeom prst="rect">
              <a:avLst/>
            </a:prstGeom>
            <a:noFill/>
          </p:spPr>
          <p:txBody>
            <a:bodyPr wrap="square" rtlCol="0">
              <a:spAutoFit/>
            </a:bodyPr>
            <a:lstStyle/>
            <a:p>
              <a:r>
                <a:rPr lang="en-US" dirty="0"/>
                <a:t>8</a:t>
              </a:r>
            </a:p>
          </p:txBody>
        </p:sp>
        <p:sp>
          <p:nvSpPr>
            <p:cNvPr id="165" name="TextBox 164">
              <a:extLst>
                <a:ext uri="{FF2B5EF4-FFF2-40B4-BE49-F238E27FC236}">
                  <a16:creationId xmlns:a16="http://schemas.microsoft.com/office/drawing/2014/main" id="{FB547450-605F-F743-B651-F87252046A04}"/>
                </a:ext>
              </a:extLst>
            </p:cNvPr>
            <p:cNvSpPr txBox="1"/>
            <p:nvPr/>
          </p:nvSpPr>
          <p:spPr>
            <a:xfrm>
              <a:off x="5732131" y="5400055"/>
              <a:ext cx="641702" cy="369332"/>
            </a:xfrm>
            <a:prstGeom prst="rect">
              <a:avLst/>
            </a:prstGeom>
            <a:noFill/>
          </p:spPr>
          <p:txBody>
            <a:bodyPr wrap="square" rtlCol="0">
              <a:spAutoFit/>
            </a:bodyPr>
            <a:lstStyle/>
            <a:p>
              <a:r>
                <a:rPr lang="en-US" dirty="0"/>
                <a:t>1</a:t>
              </a:r>
            </a:p>
          </p:txBody>
        </p:sp>
        <p:sp>
          <p:nvSpPr>
            <p:cNvPr id="168" name="TextBox 167">
              <a:extLst>
                <a:ext uri="{FF2B5EF4-FFF2-40B4-BE49-F238E27FC236}">
                  <a16:creationId xmlns:a16="http://schemas.microsoft.com/office/drawing/2014/main" id="{46517D5D-3315-404C-9F67-DBD2ACB39A25}"/>
                </a:ext>
              </a:extLst>
            </p:cNvPr>
            <p:cNvSpPr txBox="1"/>
            <p:nvPr/>
          </p:nvSpPr>
          <p:spPr>
            <a:xfrm>
              <a:off x="5004176" y="3759985"/>
              <a:ext cx="641702" cy="369332"/>
            </a:xfrm>
            <a:prstGeom prst="rect">
              <a:avLst/>
            </a:prstGeom>
            <a:noFill/>
          </p:spPr>
          <p:txBody>
            <a:bodyPr wrap="square" rtlCol="0">
              <a:spAutoFit/>
            </a:bodyPr>
            <a:lstStyle/>
            <a:p>
              <a:r>
                <a:rPr lang="en-US" dirty="0"/>
                <a:t>7</a:t>
              </a:r>
            </a:p>
          </p:txBody>
        </p:sp>
        <p:sp>
          <p:nvSpPr>
            <p:cNvPr id="169" name="TextBox 168">
              <a:extLst>
                <a:ext uri="{FF2B5EF4-FFF2-40B4-BE49-F238E27FC236}">
                  <a16:creationId xmlns:a16="http://schemas.microsoft.com/office/drawing/2014/main" id="{DE9FC0C0-A859-684E-AF4E-A5CE017C9497}"/>
                </a:ext>
              </a:extLst>
            </p:cNvPr>
            <p:cNvSpPr txBox="1"/>
            <p:nvPr/>
          </p:nvSpPr>
          <p:spPr>
            <a:xfrm>
              <a:off x="4995913" y="4619288"/>
              <a:ext cx="641702" cy="369332"/>
            </a:xfrm>
            <a:prstGeom prst="rect">
              <a:avLst/>
            </a:prstGeom>
            <a:noFill/>
          </p:spPr>
          <p:txBody>
            <a:bodyPr wrap="square" rtlCol="0">
              <a:spAutoFit/>
            </a:bodyPr>
            <a:lstStyle/>
            <a:p>
              <a:r>
                <a:rPr lang="en-US" dirty="0"/>
                <a:t>6</a:t>
              </a:r>
            </a:p>
          </p:txBody>
        </p:sp>
        <p:sp>
          <p:nvSpPr>
            <p:cNvPr id="170" name="TextBox 169">
              <a:extLst>
                <a:ext uri="{FF2B5EF4-FFF2-40B4-BE49-F238E27FC236}">
                  <a16:creationId xmlns:a16="http://schemas.microsoft.com/office/drawing/2014/main" id="{E8115E86-CF31-BA44-B9DE-D2AF0F26989F}"/>
                </a:ext>
              </a:extLst>
            </p:cNvPr>
            <p:cNvSpPr txBox="1"/>
            <p:nvPr/>
          </p:nvSpPr>
          <p:spPr>
            <a:xfrm>
              <a:off x="5026989" y="5115211"/>
              <a:ext cx="641702" cy="369332"/>
            </a:xfrm>
            <a:prstGeom prst="rect">
              <a:avLst/>
            </a:prstGeom>
            <a:noFill/>
          </p:spPr>
          <p:txBody>
            <a:bodyPr wrap="square" rtlCol="0">
              <a:spAutoFit/>
            </a:bodyPr>
            <a:lstStyle/>
            <a:p>
              <a:r>
                <a:rPr lang="en-US" dirty="0"/>
                <a:t>2</a:t>
              </a:r>
            </a:p>
          </p:txBody>
        </p:sp>
        <p:sp>
          <p:nvSpPr>
            <p:cNvPr id="171" name="TextBox 170">
              <a:extLst>
                <a:ext uri="{FF2B5EF4-FFF2-40B4-BE49-F238E27FC236}">
                  <a16:creationId xmlns:a16="http://schemas.microsoft.com/office/drawing/2014/main" id="{F56347BD-B0B5-384E-8505-06AFC46CD70E}"/>
                </a:ext>
              </a:extLst>
            </p:cNvPr>
            <p:cNvSpPr txBox="1"/>
            <p:nvPr/>
          </p:nvSpPr>
          <p:spPr>
            <a:xfrm>
              <a:off x="6226246" y="3083496"/>
              <a:ext cx="460953" cy="369332"/>
            </a:xfrm>
            <a:prstGeom prst="rect">
              <a:avLst/>
            </a:prstGeom>
            <a:noFill/>
          </p:spPr>
          <p:txBody>
            <a:bodyPr wrap="square" rtlCol="0">
              <a:spAutoFit/>
            </a:bodyPr>
            <a:lstStyle/>
            <a:p>
              <a:pPr algn="r"/>
              <a:r>
                <a:rPr lang="en-US" dirty="0"/>
                <a:t>4</a:t>
              </a:r>
            </a:p>
          </p:txBody>
        </p:sp>
        <p:sp>
          <p:nvSpPr>
            <p:cNvPr id="172" name="TextBox 171">
              <a:extLst>
                <a:ext uri="{FF2B5EF4-FFF2-40B4-BE49-F238E27FC236}">
                  <a16:creationId xmlns:a16="http://schemas.microsoft.com/office/drawing/2014/main" id="{F06F7344-5DFA-6342-8E55-3C3D7A680233}"/>
                </a:ext>
              </a:extLst>
            </p:cNvPr>
            <p:cNvSpPr txBox="1"/>
            <p:nvPr/>
          </p:nvSpPr>
          <p:spPr>
            <a:xfrm>
              <a:off x="6215757" y="3629423"/>
              <a:ext cx="460953" cy="369332"/>
            </a:xfrm>
            <a:prstGeom prst="rect">
              <a:avLst/>
            </a:prstGeom>
            <a:noFill/>
          </p:spPr>
          <p:txBody>
            <a:bodyPr wrap="square" rtlCol="0">
              <a:spAutoFit/>
            </a:bodyPr>
            <a:lstStyle/>
            <a:p>
              <a:pPr algn="r"/>
              <a:r>
                <a:rPr lang="en-US" dirty="0"/>
                <a:t>3</a:t>
              </a:r>
            </a:p>
          </p:txBody>
        </p:sp>
        <p:sp>
          <p:nvSpPr>
            <p:cNvPr id="173" name="TextBox 172">
              <a:extLst>
                <a:ext uri="{FF2B5EF4-FFF2-40B4-BE49-F238E27FC236}">
                  <a16:creationId xmlns:a16="http://schemas.microsoft.com/office/drawing/2014/main" id="{4828B934-FFED-2C4E-9449-83AF7E1D87CF}"/>
                </a:ext>
              </a:extLst>
            </p:cNvPr>
            <p:cNvSpPr txBox="1"/>
            <p:nvPr/>
          </p:nvSpPr>
          <p:spPr>
            <a:xfrm>
              <a:off x="6303437" y="4756436"/>
              <a:ext cx="392298" cy="369332"/>
            </a:xfrm>
            <a:prstGeom prst="rect">
              <a:avLst/>
            </a:prstGeom>
            <a:noFill/>
          </p:spPr>
          <p:txBody>
            <a:bodyPr wrap="square" rtlCol="0">
              <a:spAutoFit/>
            </a:bodyPr>
            <a:lstStyle/>
            <a:p>
              <a:pPr algn="r"/>
              <a:r>
                <a:rPr lang="en-US" dirty="0"/>
                <a:t>5</a:t>
              </a:r>
            </a:p>
          </p:txBody>
        </p:sp>
        <p:cxnSp>
          <p:nvCxnSpPr>
            <p:cNvPr id="184" name="Straight Connector 183">
              <a:extLst>
                <a:ext uri="{FF2B5EF4-FFF2-40B4-BE49-F238E27FC236}">
                  <a16:creationId xmlns:a16="http://schemas.microsoft.com/office/drawing/2014/main" id="{8C52C04D-9727-5244-A94D-5A9517318851}"/>
                </a:ext>
              </a:extLst>
            </p:cNvPr>
            <p:cNvCxnSpPr>
              <a:cxnSpLocks/>
            </p:cNvCxnSpPr>
            <p:nvPr/>
          </p:nvCxnSpPr>
          <p:spPr>
            <a:xfrm>
              <a:off x="4590787" y="4784247"/>
              <a:ext cx="39347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46902EC9-EC63-D142-995F-CB15185CB0D0}"/>
                </a:ext>
              </a:extLst>
            </p:cNvPr>
            <p:cNvCxnSpPr>
              <a:cxnSpLocks/>
            </p:cNvCxnSpPr>
            <p:nvPr/>
          </p:nvCxnSpPr>
          <p:spPr>
            <a:xfrm>
              <a:off x="3723165" y="3544715"/>
              <a:ext cx="0" cy="109567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79CA0A83-0B06-7C4B-A743-76BEC2DFD4A3}"/>
                </a:ext>
              </a:extLst>
            </p:cNvPr>
            <p:cNvCxnSpPr>
              <a:cxnSpLocks/>
              <a:endCxn id="168" idx="1"/>
            </p:cNvCxnSpPr>
            <p:nvPr/>
          </p:nvCxnSpPr>
          <p:spPr>
            <a:xfrm>
              <a:off x="3681889" y="3908152"/>
              <a:ext cx="132228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799FD86F-24FB-AD4A-B96E-C5266E9B2E4D}"/>
                </a:ext>
              </a:extLst>
            </p:cNvPr>
            <p:cNvCxnSpPr>
              <a:cxnSpLocks/>
            </p:cNvCxnSpPr>
            <p:nvPr/>
          </p:nvCxnSpPr>
          <p:spPr>
            <a:xfrm>
              <a:off x="6697857" y="3284293"/>
              <a:ext cx="76948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20" name="Freeform 219">
              <a:extLst>
                <a:ext uri="{FF2B5EF4-FFF2-40B4-BE49-F238E27FC236}">
                  <a16:creationId xmlns:a16="http://schemas.microsoft.com/office/drawing/2014/main" id="{7FB50C23-FF64-FF4E-B047-A0BE32D9DBDC}"/>
                </a:ext>
              </a:extLst>
            </p:cNvPr>
            <p:cNvSpPr>
              <a:spLocks noChangeAspect="1"/>
            </p:cNvSpPr>
            <p:nvPr/>
          </p:nvSpPr>
          <p:spPr bwMode="auto">
            <a:xfrm>
              <a:off x="3638227" y="4475692"/>
              <a:ext cx="165855" cy="836239"/>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221" name="Straight Connector 220">
              <a:extLst>
                <a:ext uri="{FF2B5EF4-FFF2-40B4-BE49-F238E27FC236}">
                  <a16:creationId xmlns:a16="http://schemas.microsoft.com/office/drawing/2014/main" id="{A2CBA3FC-66E7-FD4B-8D1B-C860F7E3A460}"/>
                </a:ext>
              </a:extLst>
            </p:cNvPr>
            <p:cNvCxnSpPr>
              <a:cxnSpLocks/>
            </p:cNvCxnSpPr>
            <p:nvPr/>
          </p:nvCxnSpPr>
          <p:spPr>
            <a:xfrm>
              <a:off x="5802504" y="2543637"/>
              <a:ext cx="0" cy="47434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28" name="Oval 227">
              <a:extLst>
                <a:ext uri="{FF2B5EF4-FFF2-40B4-BE49-F238E27FC236}">
                  <a16:creationId xmlns:a16="http://schemas.microsoft.com/office/drawing/2014/main" id="{BAFA48B0-1665-3B48-AF7B-071F1BA10C25}"/>
                </a:ext>
              </a:extLst>
            </p:cNvPr>
            <p:cNvSpPr>
              <a:spLocks noChangeAspect="1" noChangeArrowheads="1"/>
            </p:cNvSpPr>
            <p:nvPr/>
          </p:nvSpPr>
          <p:spPr bwMode="auto">
            <a:xfrm>
              <a:off x="5734279" y="2443638"/>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cxnSp>
          <p:nvCxnSpPr>
            <p:cNvPr id="243" name="Straight Connector 242">
              <a:extLst>
                <a:ext uri="{FF2B5EF4-FFF2-40B4-BE49-F238E27FC236}">
                  <a16:creationId xmlns:a16="http://schemas.microsoft.com/office/drawing/2014/main" id="{AB198D58-58DC-CC46-A6BD-CAB130B93C78}"/>
                </a:ext>
              </a:extLst>
            </p:cNvPr>
            <p:cNvCxnSpPr>
              <a:cxnSpLocks/>
            </p:cNvCxnSpPr>
            <p:nvPr/>
          </p:nvCxnSpPr>
          <p:spPr>
            <a:xfrm>
              <a:off x="5881640" y="5774633"/>
              <a:ext cx="0" cy="53892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46" name="TextBox 245">
              <a:extLst>
                <a:ext uri="{FF2B5EF4-FFF2-40B4-BE49-F238E27FC236}">
                  <a16:creationId xmlns:a16="http://schemas.microsoft.com/office/drawing/2014/main" id="{D66A90A0-C93A-4C49-AC56-DE210FB40AC4}"/>
                </a:ext>
              </a:extLst>
            </p:cNvPr>
            <p:cNvSpPr txBox="1"/>
            <p:nvPr/>
          </p:nvSpPr>
          <p:spPr>
            <a:xfrm>
              <a:off x="5564029" y="1938049"/>
              <a:ext cx="718688" cy="369332"/>
            </a:xfrm>
            <a:prstGeom prst="rect">
              <a:avLst/>
            </a:prstGeom>
            <a:noFill/>
          </p:spPr>
          <p:txBody>
            <a:bodyPr wrap="square" rtlCol="0">
              <a:spAutoFit/>
            </a:bodyPr>
            <a:lstStyle/>
            <a:p>
              <a:r>
                <a:rPr lang="en-US" dirty="0" err="1"/>
                <a:t>V</a:t>
              </a:r>
              <a:r>
                <a:rPr lang="en-US" baseline="-25000" dirty="0" err="1"/>
                <a:t>cc</a:t>
              </a:r>
              <a:endParaRPr lang="en-US" baseline="-25000" dirty="0"/>
            </a:p>
          </p:txBody>
        </p:sp>
        <p:grpSp>
          <p:nvGrpSpPr>
            <p:cNvPr id="248" name="Group 210">
              <a:extLst>
                <a:ext uri="{FF2B5EF4-FFF2-40B4-BE49-F238E27FC236}">
                  <a16:creationId xmlns:a16="http://schemas.microsoft.com/office/drawing/2014/main" id="{7733C69E-00D8-764D-873E-83508A62F5E0}"/>
                </a:ext>
              </a:extLst>
            </p:cNvPr>
            <p:cNvGrpSpPr>
              <a:grpSpLocks/>
            </p:cNvGrpSpPr>
            <p:nvPr/>
          </p:nvGrpSpPr>
          <p:grpSpPr bwMode="auto">
            <a:xfrm rot="5400000">
              <a:off x="6940459" y="3374752"/>
              <a:ext cx="304800" cy="762000"/>
              <a:chOff x="3216" y="1728"/>
              <a:chExt cx="192" cy="480"/>
            </a:xfrm>
          </p:grpSpPr>
          <p:sp>
            <p:nvSpPr>
              <p:cNvPr id="249" name="Line 8">
                <a:extLst>
                  <a:ext uri="{FF2B5EF4-FFF2-40B4-BE49-F238E27FC236}">
                    <a16:creationId xmlns:a16="http://schemas.microsoft.com/office/drawing/2014/main" id="{79A1A898-E8CD-214B-A4C2-A4F8BD1B6ECB}"/>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0" name="Line 9">
                <a:extLst>
                  <a:ext uri="{FF2B5EF4-FFF2-40B4-BE49-F238E27FC236}">
                    <a16:creationId xmlns:a16="http://schemas.microsoft.com/office/drawing/2014/main" id="{C5693450-2F10-034E-ADD9-A85F76872824}"/>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1" name="Line 10">
                <a:extLst>
                  <a:ext uri="{FF2B5EF4-FFF2-40B4-BE49-F238E27FC236}">
                    <a16:creationId xmlns:a16="http://schemas.microsoft.com/office/drawing/2014/main" id="{31C46D1D-C983-1C47-A8B6-F5CC8F0C0D63}"/>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2" name="Line 11">
                <a:extLst>
                  <a:ext uri="{FF2B5EF4-FFF2-40B4-BE49-F238E27FC236}">
                    <a16:creationId xmlns:a16="http://schemas.microsoft.com/office/drawing/2014/main" id="{851714E4-B0D0-C94A-86EE-B512B0FFD35B}"/>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63" name="Oval 262">
              <a:extLst>
                <a:ext uri="{FF2B5EF4-FFF2-40B4-BE49-F238E27FC236}">
                  <a16:creationId xmlns:a16="http://schemas.microsoft.com/office/drawing/2014/main" id="{8D81AA3B-5DBB-B247-9EE0-5C1E5DF7B6A5}"/>
                </a:ext>
              </a:extLst>
            </p:cNvPr>
            <p:cNvSpPr>
              <a:spLocks noChangeAspect="1" noChangeArrowheads="1"/>
            </p:cNvSpPr>
            <p:nvPr/>
          </p:nvSpPr>
          <p:spPr bwMode="auto">
            <a:xfrm>
              <a:off x="5724528" y="2686957"/>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cxnSp>
          <p:nvCxnSpPr>
            <p:cNvPr id="267" name="Straight Connector 266">
              <a:extLst>
                <a:ext uri="{FF2B5EF4-FFF2-40B4-BE49-F238E27FC236}">
                  <a16:creationId xmlns:a16="http://schemas.microsoft.com/office/drawing/2014/main" id="{CA5BED29-BA12-C840-81E6-1204368124E8}"/>
                </a:ext>
              </a:extLst>
            </p:cNvPr>
            <p:cNvCxnSpPr>
              <a:cxnSpLocks/>
            </p:cNvCxnSpPr>
            <p:nvPr/>
          </p:nvCxnSpPr>
          <p:spPr>
            <a:xfrm>
              <a:off x="7774520" y="5299877"/>
              <a:ext cx="23453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30CEACEF-B8BD-0240-A2CC-BB8E18B90559}"/>
                </a:ext>
              </a:extLst>
            </p:cNvPr>
            <p:cNvCxnSpPr>
              <a:cxnSpLocks/>
            </p:cNvCxnSpPr>
            <p:nvPr/>
          </p:nvCxnSpPr>
          <p:spPr>
            <a:xfrm flipH="1">
              <a:off x="8009052" y="4923352"/>
              <a:ext cx="3519" cy="39778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5" name="Straight Arrow Connector 284">
              <a:extLst>
                <a:ext uri="{FF2B5EF4-FFF2-40B4-BE49-F238E27FC236}">
                  <a16:creationId xmlns:a16="http://schemas.microsoft.com/office/drawing/2014/main" id="{65FA80CB-5FD4-3642-925A-F6E94821AC86}"/>
                </a:ext>
              </a:extLst>
            </p:cNvPr>
            <p:cNvCxnSpPr>
              <a:cxnSpLocks/>
            </p:cNvCxnSpPr>
            <p:nvPr/>
          </p:nvCxnSpPr>
          <p:spPr>
            <a:xfrm flipV="1">
              <a:off x="7771000" y="4994685"/>
              <a:ext cx="1" cy="31280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87" name="Group 210">
              <a:extLst>
                <a:ext uri="{FF2B5EF4-FFF2-40B4-BE49-F238E27FC236}">
                  <a16:creationId xmlns:a16="http://schemas.microsoft.com/office/drawing/2014/main" id="{C8E1CA2E-24A9-F547-BC08-4B1F4391B0BA}"/>
                </a:ext>
              </a:extLst>
            </p:cNvPr>
            <p:cNvGrpSpPr>
              <a:grpSpLocks/>
            </p:cNvGrpSpPr>
            <p:nvPr/>
          </p:nvGrpSpPr>
          <p:grpSpPr bwMode="auto">
            <a:xfrm>
              <a:off x="3567589" y="5304176"/>
              <a:ext cx="304800" cy="762000"/>
              <a:chOff x="3216" y="1728"/>
              <a:chExt cx="192" cy="480"/>
            </a:xfrm>
          </p:grpSpPr>
          <p:sp>
            <p:nvSpPr>
              <p:cNvPr id="288" name="Line 8">
                <a:extLst>
                  <a:ext uri="{FF2B5EF4-FFF2-40B4-BE49-F238E27FC236}">
                    <a16:creationId xmlns:a16="http://schemas.microsoft.com/office/drawing/2014/main" id="{A4778589-8A98-B84D-A302-C95BDB6B8C57}"/>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4" name="Line 9">
                <a:extLst>
                  <a:ext uri="{FF2B5EF4-FFF2-40B4-BE49-F238E27FC236}">
                    <a16:creationId xmlns:a16="http://schemas.microsoft.com/office/drawing/2014/main" id="{C557278D-D7E5-5347-BA14-7A2E4C5C4FF7}"/>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5" name="Line 10">
                <a:extLst>
                  <a:ext uri="{FF2B5EF4-FFF2-40B4-BE49-F238E27FC236}">
                    <a16:creationId xmlns:a16="http://schemas.microsoft.com/office/drawing/2014/main" id="{B31E2218-25BD-7245-B2D7-76B75E1EAFA8}"/>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6" name="Line 11">
                <a:extLst>
                  <a:ext uri="{FF2B5EF4-FFF2-40B4-BE49-F238E27FC236}">
                    <a16:creationId xmlns:a16="http://schemas.microsoft.com/office/drawing/2014/main" id="{A944A182-D640-CA44-9A29-237A64896485}"/>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43" name="Group 222">
              <a:extLst>
                <a:ext uri="{FF2B5EF4-FFF2-40B4-BE49-F238E27FC236}">
                  <a16:creationId xmlns:a16="http://schemas.microsoft.com/office/drawing/2014/main" id="{F9F04179-0554-0F42-9D0D-50A47B2A70D0}"/>
                </a:ext>
              </a:extLst>
            </p:cNvPr>
            <p:cNvGrpSpPr>
              <a:grpSpLocks/>
            </p:cNvGrpSpPr>
            <p:nvPr/>
          </p:nvGrpSpPr>
          <p:grpSpPr bwMode="auto">
            <a:xfrm>
              <a:off x="3567589" y="6005721"/>
              <a:ext cx="304800" cy="381000"/>
              <a:chOff x="4272" y="3072"/>
              <a:chExt cx="192" cy="240"/>
            </a:xfrm>
          </p:grpSpPr>
          <p:sp>
            <p:nvSpPr>
              <p:cNvPr id="345" name="Line 99">
                <a:extLst>
                  <a:ext uri="{FF2B5EF4-FFF2-40B4-BE49-F238E27FC236}">
                    <a16:creationId xmlns:a16="http://schemas.microsoft.com/office/drawing/2014/main" id="{DCAE70C2-65C5-2449-B6F2-DF82C61D18F8}"/>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6" name="Line 100">
                <a:extLst>
                  <a:ext uri="{FF2B5EF4-FFF2-40B4-BE49-F238E27FC236}">
                    <a16:creationId xmlns:a16="http://schemas.microsoft.com/office/drawing/2014/main" id="{86A92B58-DE60-F84B-A558-EE077DE25A7A}"/>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7" name="Line 101">
                <a:extLst>
                  <a:ext uri="{FF2B5EF4-FFF2-40B4-BE49-F238E27FC236}">
                    <a16:creationId xmlns:a16="http://schemas.microsoft.com/office/drawing/2014/main" id="{D0F0A1C5-E9FA-964D-9FF8-81EB053FAF59}"/>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 name="Line 102">
                <a:extLst>
                  <a:ext uri="{FF2B5EF4-FFF2-40B4-BE49-F238E27FC236}">
                    <a16:creationId xmlns:a16="http://schemas.microsoft.com/office/drawing/2014/main" id="{3BF3473B-EB4A-544B-B097-96C569E1488E}"/>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 name="Line 103">
                <a:extLst>
                  <a:ext uri="{FF2B5EF4-FFF2-40B4-BE49-F238E27FC236}">
                    <a16:creationId xmlns:a16="http://schemas.microsoft.com/office/drawing/2014/main" id="{4DE437AD-04A7-594C-9FBC-FB2C47D96F96}"/>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 name="Line 104">
                <a:extLst>
                  <a:ext uri="{FF2B5EF4-FFF2-40B4-BE49-F238E27FC236}">
                    <a16:creationId xmlns:a16="http://schemas.microsoft.com/office/drawing/2014/main" id="{7D1BB180-2694-8742-A729-A42F0A87DE3B}"/>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63" name="TextBox 362">
              <a:extLst>
                <a:ext uri="{FF2B5EF4-FFF2-40B4-BE49-F238E27FC236}">
                  <a16:creationId xmlns:a16="http://schemas.microsoft.com/office/drawing/2014/main" id="{883A2F75-8EFA-6B4B-957E-58B73597168B}"/>
                </a:ext>
              </a:extLst>
            </p:cNvPr>
            <p:cNvSpPr txBox="1"/>
            <p:nvPr/>
          </p:nvSpPr>
          <p:spPr>
            <a:xfrm>
              <a:off x="6787883" y="3917069"/>
              <a:ext cx="856942" cy="338554"/>
            </a:xfrm>
            <a:prstGeom prst="rect">
              <a:avLst/>
            </a:prstGeom>
            <a:noFill/>
          </p:spPr>
          <p:txBody>
            <a:bodyPr wrap="square" rtlCol="0">
              <a:spAutoFit/>
            </a:bodyPr>
            <a:lstStyle/>
            <a:p>
              <a:r>
                <a:rPr lang="en-US" sz="1600" dirty="0"/>
                <a:t>.1uF</a:t>
              </a:r>
            </a:p>
          </p:txBody>
        </p:sp>
        <p:sp>
          <p:nvSpPr>
            <p:cNvPr id="366" name="TextBox 365">
              <a:extLst>
                <a:ext uri="{FF2B5EF4-FFF2-40B4-BE49-F238E27FC236}">
                  <a16:creationId xmlns:a16="http://schemas.microsoft.com/office/drawing/2014/main" id="{E2233C2A-9114-6748-8ADE-53C7642A1ED0}"/>
                </a:ext>
              </a:extLst>
            </p:cNvPr>
            <p:cNvSpPr txBox="1"/>
            <p:nvPr/>
          </p:nvSpPr>
          <p:spPr>
            <a:xfrm>
              <a:off x="7493114" y="4460484"/>
              <a:ext cx="856942" cy="338554"/>
            </a:xfrm>
            <a:prstGeom prst="rect">
              <a:avLst/>
            </a:prstGeom>
            <a:noFill/>
          </p:spPr>
          <p:txBody>
            <a:bodyPr wrap="square" rtlCol="0">
              <a:spAutoFit/>
            </a:bodyPr>
            <a:lstStyle/>
            <a:p>
              <a:r>
                <a:rPr lang="en-US" sz="1600" dirty="0"/>
                <a:t>10K</a:t>
              </a:r>
            </a:p>
          </p:txBody>
        </p:sp>
        <p:sp>
          <p:nvSpPr>
            <p:cNvPr id="369" name="TextBox 368">
              <a:extLst>
                <a:ext uri="{FF2B5EF4-FFF2-40B4-BE49-F238E27FC236}">
                  <a16:creationId xmlns:a16="http://schemas.microsoft.com/office/drawing/2014/main" id="{BCE408BF-9167-FA40-B371-CCB416BC1D28}"/>
                </a:ext>
              </a:extLst>
            </p:cNvPr>
            <p:cNvSpPr txBox="1"/>
            <p:nvPr/>
          </p:nvSpPr>
          <p:spPr>
            <a:xfrm>
              <a:off x="3113695" y="5577395"/>
              <a:ext cx="856942" cy="338554"/>
            </a:xfrm>
            <a:prstGeom prst="rect">
              <a:avLst/>
            </a:prstGeom>
            <a:noFill/>
          </p:spPr>
          <p:txBody>
            <a:bodyPr wrap="square" rtlCol="0">
              <a:spAutoFit/>
            </a:bodyPr>
            <a:lstStyle/>
            <a:p>
              <a:r>
                <a:rPr lang="en-US" sz="1600" dirty="0"/>
                <a:t>.1</a:t>
              </a:r>
            </a:p>
          </p:txBody>
        </p:sp>
        <p:cxnSp>
          <p:nvCxnSpPr>
            <p:cNvPr id="144" name="Straight Connector 143">
              <a:extLst>
                <a:ext uri="{FF2B5EF4-FFF2-40B4-BE49-F238E27FC236}">
                  <a16:creationId xmlns:a16="http://schemas.microsoft.com/office/drawing/2014/main" id="{9678BB71-1915-7F46-B309-FCFA4C354ED1}"/>
                </a:ext>
              </a:extLst>
            </p:cNvPr>
            <p:cNvCxnSpPr>
              <a:cxnSpLocks/>
            </p:cNvCxnSpPr>
            <p:nvPr/>
          </p:nvCxnSpPr>
          <p:spPr>
            <a:xfrm>
              <a:off x="7463628" y="2748522"/>
              <a:ext cx="0" cy="53892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720C4AD1-E2BA-3145-B105-80BEEE3FA369}"/>
                </a:ext>
              </a:extLst>
            </p:cNvPr>
            <p:cNvCxnSpPr>
              <a:cxnSpLocks/>
            </p:cNvCxnSpPr>
            <p:nvPr/>
          </p:nvCxnSpPr>
          <p:spPr>
            <a:xfrm flipV="1">
              <a:off x="3736417" y="2759098"/>
              <a:ext cx="3759532" cy="129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51" name="Freeform 150">
              <a:extLst>
                <a:ext uri="{FF2B5EF4-FFF2-40B4-BE49-F238E27FC236}">
                  <a16:creationId xmlns:a16="http://schemas.microsoft.com/office/drawing/2014/main" id="{91669CDA-F2C3-514A-AFB6-AE03F4907031}"/>
                </a:ext>
              </a:extLst>
            </p:cNvPr>
            <p:cNvSpPr>
              <a:spLocks noChangeAspect="1"/>
            </p:cNvSpPr>
            <p:nvPr/>
          </p:nvSpPr>
          <p:spPr bwMode="auto">
            <a:xfrm>
              <a:off x="3636079" y="2747778"/>
              <a:ext cx="165855" cy="836239"/>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5" name="Oval 154">
              <a:extLst>
                <a:ext uri="{FF2B5EF4-FFF2-40B4-BE49-F238E27FC236}">
                  <a16:creationId xmlns:a16="http://schemas.microsoft.com/office/drawing/2014/main" id="{E5651923-3EB4-984D-A8F2-3F86B98193D0}"/>
                </a:ext>
              </a:extLst>
            </p:cNvPr>
            <p:cNvSpPr>
              <a:spLocks noChangeAspect="1" noChangeArrowheads="1"/>
            </p:cNvSpPr>
            <p:nvPr/>
          </p:nvSpPr>
          <p:spPr bwMode="auto">
            <a:xfrm>
              <a:off x="3656094" y="3842952"/>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156" name="Group 222">
              <a:extLst>
                <a:ext uri="{FF2B5EF4-FFF2-40B4-BE49-F238E27FC236}">
                  <a16:creationId xmlns:a16="http://schemas.microsoft.com/office/drawing/2014/main" id="{9C8D2100-C4DE-9D48-9E3C-203F36E3E18B}"/>
                </a:ext>
              </a:extLst>
            </p:cNvPr>
            <p:cNvGrpSpPr>
              <a:grpSpLocks/>
            </p:cNvGrpSpPr>
            <p:nvPr/>
          </p:nvGrpSpPr>
          <p:grpSpPr bwMode="auto">
            <a:xfrm>
              <a:off x="5729408" y="6122562"/>
              <a:ext cx="304800" cy="381000"/>
              <a:chOff x="4272" y="3072"/>
              <a:chExt cx="192" cy="240"/>
            </a:xfrm>
          </p:grpSpPr>
          <p:sp>
            <p:nvSpPr>
              <p:cNvPr id="157" name="Line 99">
                <a:extLst>
                  <a:ext uri="{FF2B5EF4-FFF2-40B4-BE49-F238E27FC236}">
                    <a16:creationId xmlns:a16="http://schemas.microsoft.com/office/drawing/2014/main" id="{DB8D19FB-5C32-4A48-8BFE-9FEDE442BC01}"/>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8" name="Line 100">
                <a:extLst>
                  <a:ext uri="{FF2B5EF4-FFF2-40B4-BE49-F238E27FC236}">
                    <a16:creationId xmlns:a16="http://schemas.microsoft.com/office/drawing/2014/main" id="{634E01C9-9055-704A-839F-BE275B0511A5}"/>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0" name="Line 101">
                <a:extLst>
                  <a:ext uri="{FF2B5EF4-FFF2-40B4-BE49-F238E27FC236}">
                    <a16:creationId xmlns:a16="http://schemas.microsoft.com/office/drawing/2014/main" id="{42164F53-D7C4-4645-A984-AF8C30D5826B}"/>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1" name="Line 102">
                <a:extLst>
                  <a:ext uri="{FF2B5EF4-FFF2-40B4-BE49-F238E27FC236}">
                    <a16:creationId xmlns:a16="http://schemas.microsoft.com/office/drawing/2014/main" id="{5DF206B4-B2E0-A044-A154-1F124AF2026A}"/>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2" name="Line 103">
                <a:extLst>
                  <a:ext uri="{FF2B5EF4-FFF2-40B4-BE49-F238E27FC236}">
                    <a16:creationId xmlns:a16="http://schemas.microsoft.com/office/drawing/2014/main" id="{BE4E249D-B4B8-4441-B422-89E339EC1832}"/>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 name="Line 104">
                <a:extLst>
                  <a:ext uri="{FF2B5EF4-FFF2-40B4-BE49-F238E27FC236}">
                    <a16:creationId xmlns:a16="http://schemas.microsoft.com/office/drawing/2014/main" id="{A482693A-1FEB-234E-9D54-EA8E2F0421DC}"/>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167" name="Straight Connector 166">
              <a:extLst>
                <a:ext uri="{FF2B5EF4-FFF2-40B4-BE49-F238E27FC236}">
                  <a16:creationId xmlns:a16="http://schemas.microsoft.com/office/drawing/2014/main" id="{EE814094-D621-1647-ACFA-06472021BB19}"/>
                </a:ext>
              </a:extLst>
            </p:cNvPr>
            <p:cNvCxnSpPr>
              <a:cxnSpLocks/>
            </p:cNvCxnSpPr>
            <p:nvPr/>
          </p:nvCxnSpPr>
          <p:spPr>
            <a:xfrm>
              <a:off x="4590787" y="4790030"/>
              <a:ext cx="0" cy="53892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1" name="Oval 180">
              <a:extLst>
                <a:ext uri="{FF2B5EF4-FFF2-40B4-BE49-F238E27FC236}">
                  <a16:creationId xmlns:a16="http://schemas.microsoft.com/office/drawing/2014/main" id="{C3A885E0-DE5C-D14F-9DA4-1BDF3E14A61C}"/>
                </a:ext>
              </a:extLst>
            </p:cNvPr>
            <p:cNvSpPr>
              <a:spLocks noChangeAspect="1" noChangeArrowheads="1"/>
            </p:cNvSpPr>
            <p:nvPr/>
          </p:nvSpPr>
          <p:spPr bwMode="auto">
            <a:xfrm>
              <a:off x="7424534" y="3690549"/>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183" name="Group 210">
              <a:extLst>
                <a:ext uri="{FF2B5EF4-FFF2-40B4-BE49-F238E27FC236}">
                  <a16:creationId xmlns:a16="http://schemas.microsoft.com/office/drawing/2014/main" id="{4D00905E-3F30-D442-A0AB-7890387A4D2A}"/>
                </a:ext>
              </a:extLst>
            </p:cNvPr>
            <p:cNvGrpSpPr>
              <a:grpSpLocks/>
            </p:cNvGrpSpPr>
            <p:nvPr/>
          </p:nvGrpSpPr>
          <p:grpSpPr bwMode="auto">
            <a:xfrm rot="5400000">
              <a:off x="6925203" y="4553713"/>
              <a:ext cx="304800" cy="762000"/>
              <a:chOff x="3216" y="1728"/>
              <a:chExt cx="192" cy="480"/>
            </a:xfrm>
          </p:grpSpPr>
          <p:sp>
            <p:nvSpPr>
              <p:cNvPr id="185" name="Line 8">
                <a:extLst>
                  <a:ext uri="{FF2B5EF4-FFF2-40B4-BE49-F238E27FC236}">
                    <a16:creationId xmlns:a16="http://schemas.microsoft.com/office/drawing/2014/main" id="{E6D5FFF6-13B0-3944-B9C8-841E67F6A507}"/>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6" name="Line 9">
                <a:extLst>
                  <a:ext uri="{FF2B5EF4-FFF2-40B4-BE49-F238E27FC236}">
                    <a16:creationId xmlns:a16="http://schemas.microsoft.com/office/drawing/2014/main" id="{B0339B9E-0DD7-2946-B858-B7C989169C3E}"/>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9" name="Line 10">
                <a:extLst>
                  <a:ext uri="{FF2B5EF4-FFF2-40B4-BE49-F238E27FC236}">
                    <a16:creationId xmlns:a16="http://schemas.microsoft.com/office/drawing/2014/main" id="{FA52E6DD-CFFD-D64F-8A13-9757D6E843DE}"/>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1" name="Line 11">
                <a:extLst>
                  <a:ext uri="{FF2B5EF4-FFF2-40B4-BE49-F238E27FC236}">
                    <a16:creationId xmlns:a16="http://schemas.microsoft.com/office/drawing/2014/main" id="{8EB9B661-612E-8E4C-B9D5-561174F90D47}"/>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02" name="TextBox 201">
              <a:extLst>
                <a:ext uri="{FF2B5EF4-FFF2-40B4-BE49-F238E27FC236}">
                  <a16:creationId xmlns:a16="http://schemas.microsoft.com/office/drawing/2014/main" id="{E57CC79A-682B-4E48-B7F3-6566924C58D3}"/>
                </a:ext>
              </a:extLst>
            </p:cNvPr>
            <p:cNvSpPr txBox="1"/>
            <p:nvPr/>
          </p:nvSpPr>
          <p:spPr>
            <a:xfrm>
              <a:off x="6731112" y="4471117"/>
              <a:ext cx="856942" cy="338554"/>
            </a:xfrm>
            <a:prstGeom prst="rect">
              <a:avLst/>
            </a:prstGeom>
            <a:noFill/>
          </p:spPr>
          <p:txBody>
            <a:bodyPr wrap="square" rtlCol="0">
              <a:spAutoFit/>
            </a:bodyPr>
            <a:lstStyle/>
            <a:p>
              <a:r>
                <a:rPr lang="en-US" sz="1600" dirty="0"/>
                <a:t>1uF</a:t>
              </a:r>
            </a:p>
          </p:txBody>
        </p:sp>
        <p:sp>
          <p:nvSpPr>
            <p:cNvPr id="203" name="Freeform 202">
              <a:extLst>
                <a:ext uri="{FF2B5EF4-FFF2-40B4-BE49-F238E27FC236}">
                  <a16:creationId xmlns:a16="http://schemas.microsoft.com/office/drawing/2014/main" id="{3C3B77D0-CD0D-3141-AD6E-8544249693F3}"/>
                </a:ext>
              </a:extLst>
            </p:cNvPr>
            <p:cNvSpPr>
              <a:spLocks noChangeAspect="1"/>
            </p:cNvSpPr>
            <p:nvPr/>
          </p:nvSpPr>
          <p:spPr bwMode="auto">
            <a:xfrm rot="5400000">
              <a:off x="7623511" y="4510618"/>
              <a:ext cx="165855" cy="836239"/>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2" name="Oval 221">
              <a:extLst>
                <a:ext uri="{FF2B5EF4-FFF2-40B4-BE49-F238E27FC236}">
                  <a16:creationId xmlns:a16="http://schemas.microsoft.com/office/drawing/2014/main" id="{8CCFB598-A3B2-CD43-9FCA-9FAD75C1FF3A}"/>
                </a:ext>
              </a:extLst>
            </p:cNvPr>
            <p:cNvSpPr>
              <a:spLocks noChangeAspect="1" noChangeArrowheads="1"/>
            </p:cNvSpPr>
            <p:nvPr/>
          </p:nvSpPr>
          <p:spPr bwMode="auto">
            <a:xfrm>
              <a:off x="8068259" y="4852888"/>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24" name="TextBox 223">
              <a:extLst>
                <a:ext uri="{FF2B5EF4-FFF2-40B4-BE49-F238E27FC236}">
                  <a16:creationId xmlns:a16="http://schemas.microsoft.com/office/drawing/2014/main" id="{A874119A-275D-2848-AEF0-CD609FB99FDC}"/>
                </a:ext>
              </a:extLst>
            </p:cNvPr>
            <p:cNvSpPr txBox="1"/>
            <p:nvPr/>
          </p:nvSpPr>
          <p:spPr>
            <a:xfrm>
              <a:off x="3114448" y="4653828"/>
              <a:ext cx="856942" cy="338554"/>
            </a:xfrm>
            <a:prstGeom prst="rect">
              <a:avLst/>
            </a:prstGeom>
            <a:noFill/>
          </p:spPr>
          <p:txBody>
            <a:bodyPr wrap="square" rtlCol="0">
              <a:spAutoFit/>
            </a:bodyPr>
            <a:lstStyle/>
            <a:p>
              <a:r>
                <a:rPr lang="en-US" sz="1600" dirty="0"/>
                <a:t>470</a:t>
              </a:r>
            </a:p>
          </p:txBody>
        </p:sp>
        <p:sp>
          <p:nvSpPr>
            <p:cNvPr id="225" name="TextBox 224">
              <a:extLst>
                <a:ext uri="{FF2B5EF4-FFF2-40B4-BE49-F238E27FC236}">
                  <a16:creationId xmlns:a16="http://schemas.microsoft.com/office/drawing/2014/main" id="{C500E76F-D178-A642-8099-7175DACFBFA6}"/>
                </a:ext>
              </a:extLst>
            </p:cNvPr>
            <p:cNvSpPr txBox="1"/>
            <p:nvPr/>
          </p:nvSpPr>
          <p:spPr>
            <a:xfrm>
              <a:off x="3069482" y="2991998"/>
              <a:ext cx="856942" cy="338554"/>
            </a:xfrm>
            <a:prstGeom prst="rect">
              <a:avLst/>
            </a:prstGeom>
            <a:noFill/>
          </p:spPr>
          <p:txBody>
            <a:bodyPr wrap="square" rtlCol="0">
              <a:spAutoFit/>
            </a:bodyPr>
            <a:lstStyle/>
            <a:p>
              <a:r>
                <a:rPr lang="en-US" sz="1600" dirty="0"/>
                <a:t>10K</a:t>
              </a:r>
            </a:p>
          </p:txBody>
        </p:sp>
        <p:sp>
          <p:nvSpPr>
            <p:cNvPr id="226" name="TextBox 225">
              <a:extLst>
                <a:ext uri="{FF2B5EF4-FFF2-40B4-BE49-F238E27FC236}">
                  <a16:creationId xmlns:a16="http://schemas.microsoft.com/office/drawing/2014/main" id="{54C1DF32-0B29-E944-BB58-75ECFEF7A3F9}"/>
                </a:ext>
              </a:extLst>
            </p:cNvPr>
            <p:cNvSpPr txBox="1"/>
            <p:nvPr/>
          </p:nvSpPr>
          <p:spPr>
            <a:xfrm>
              <a:off x="7566170" y="3412210"/>
              <a:ext cx="1087665" cy="338554"/>
            </a:xfrm>
            <a:prstGeom prst="rect">
              <a:avLst/>
            </a:prstGeom>
            <a:noFill/>
          </p:spPr>
          <p:txBody>
            <a:bodyPr wrap="square" rtlCol="0">
              <a:spAutoFit/>
            </a:bodyPr>
            <a:lstStyle/>
            <a:p>
              <a:r>
                <a:rPr lang="en-US" sz="1600" dirty="0"/>
                <a:t>out</a:t>
              </a:r>
            </a:p>
          </p:txBody>
        </p:sp>
        <p:sp>
          <p:nvSpPr>
            <p:cNvPr id="227" name="TextBox 226">
              <a:extLst>
                <a:ext uri="{FF2B5EF4-FFF2-40B4-BE49-F238E27FC236}">
                  <a16:creationId xmlns:a16="http://schemas.microsoft.com/office/drawing/2014/main" id="{832B192C-123B-C042-AFFE-27C2B2FC0AD9}"/>
                </a:ext>
              </a:extLst>
            </p:cNvPr>
            <p:cNvSpPr txBox="1"/>
            <p:nvPr/>
          </p:nvSpPr>
          <p:spPr>
            <a:xfrm>
              <a:off x="8220605" y="4619288"/>
              <a:ext cx="1087665" cy="830997"/>
            </a:xfrm>
            <a:prstGeom prst="rect">
              <a:avLst/>
            </a:prstGeom>
            <a:noFill/>
          </p:spPr>
          <p:txBody>
            <a:bodyPr wrap="square" rtlCol="0">
              <a:spAutoFit/>
            </a:bodyPr>
            <a:lstStyle/>
            <a:p>
              <a:r>
                <a:rPr lang="en-US" sz="1600" dirty="0"/>
                <a:t>Function Gen</a:t>
              </a:r>
            </a:p>
            <a:p>
              <a:r>
                <a:rPr lang="en-US" sz="1600" dirty="0"/>
                <a:t>1 </a:t>
              </a:r>
              <a:r>
                <a:rPr lang="en-US" sz="1600" dirty="0" err="1"/>
                <a:t>V</a:t>
              </a:r>
              <a:r>
                <a:rPr lang="en-US" sz="1600" baseline="-25000" dirty="0" err="1"/>
                <a:t>pp</a:t>
              </a:r>
              <a:endParaRPr lang="en-US" sz="1600" baseline="-25000" dirty="0"/>
            </a:p>
          </p:txBody>
        </p:sp>
      </p:grpSp>
      <p:sp>
        <p:nvSpPr>
          <p:cNvPr id="242" name="TextBox 241">
            <a:extLst>
              <a:ext uri="{FF2B5EF4-FFF2-40B4-BE49-F238E27FC236}">
                <a16:creationId xmlns:a16="http://schemas.microsoft.com/office/drawing/2014/main" id="{83A3E059-8A0B-5841-AD9C-B5A0E18FF31B}"/>
              </a:ext>
            </a:extLst>
          </p:cNvPr>
          <p:cNvSpPr txBox="1"/>
          <p:nvPr/>
        </p:nvSpPr>
        <p:spPr>
          <a:xfrm>
            <a:off x="356005" y="2565384"/>
            <a:ext cx="4751431" cy="1015663"/>
          </a:xfrm>
          <a:prstGeom prst="rect">
            <a:avLst/>
          </a:prstGeom>
          <a:noFill/>
        </p:spPr>
        <p:txBody>
          <a:bodyPr wrap="square" rtlCol="0">
            <a:spAutoFit/>
          </a:bodyPr>
          <a:lstStyle/>
          <a:p>
            <a:pPr marL="342900" indent="-342900">
              <a:buFont typeface="+mj-lt"/>
              <a:buAutoNum type="arabicPeriod"/>
            </a:pPr>
            <a:r>
              <a:rPr lang="en-US" sz="2000" dirty="0"/>
              <a:t>With no input, out is about 1360Hz</a:t>
            </a:r>
          </a:p>
          <a:p>
            <a:pPr marL="342900" indent="-342900">
              <a:buFont typeface="+mj-lt"/>
              <a:buAutoNum type="arabicPeriod"/>
            </a:pPr>
            <a:r>
              <a:rPr lang="en-US" sz="2000" dirty="0"/>
              <a:t>For input, set function generator to 1V</a:t>
            </a:r>
            <a:r>
              <a:rPr lang="en-US" sz="2000" baseline="-25000" dirty="0"/>
              <a:t>pp</a:t>
            </a:r>
            <a:r>
              <a:rPr lang="en-US" sz="2000" dirty="0"/>
              <a:t> and connect to previous 565</a:t>
            </a:r>
            <a:endParaRPr lang="en-US" sz="2000" baseline="-25000" dirty="0"/>
          </a:p>
        </p:txBody>
      </p:sp>
    </p:spTree>
    <p:extLst>
      <p:ext uri="{BB962C8B-B14F-4D97-AF65-F5344CB8AC3E}">
        <p14:creationId xmlns:p14="http://schemas.microsoft.com/office/powerpoint/2010/main" val="8503203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155731"/>
            <a:ext cx="11529391" cy="769441"/>
          </a:xfrm>
          <a:prstGeom prst="rect">
            <a:avLst/>
          </a:prstGeom>
          <a:noFill/>
        </p:spPr>
        <p:txBody>
          <a:bodyPr wrap="square" rtlCol="0">
            <a:spAutoFit/>
          </a:bodyPr>
          <a:lstStyle/>
          <a:p>
            <a:pPr algn="ctr"/>
            <a:r>
              <a:rPr lang="en-US" sz="4400" dirty="0">
                <a:latin typeface="+mj-lt"/>
              </a:rPr>
              <a:t>Miscellaneous</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9299859" y="6368766"/>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67</a:t>
            </a:fld>
            <a:endParaRPr lang="en-US" dirty="0">
              <a:solidFill>
                <a:schemeClr val="tx1"/>
              </a:solidFil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940C0BD-45A7-D64B-8EE5-419696974E66}"/>
                  </a:ext>
                </a:extLst>
              </p:cNvPr>
              <p:cNvSpPr txBox="1"/>
              <p:nvPr/>
            </p:nvSpPr>
            <p:spPr>
              <a:xfrm>
                <a:off x="1077276" y="1763009"/>
                <a:ext cx="6959261" cy="4535883"/>
              </a:xfrm>
              <a:prstGeom prst="rect">
                <a:avLst/>
              </a:prstGeom>
              <a:noFill/>
            </p:spPr>
            <p:txBody>
              <a:bodyPr wrap="square" rtlCol="0">
                <a:noAutofit/>
              </a:bodyPr>
              <a:lstStyle/>
              <a:p>
                <a:pPr marL="285750" indent="-285750">
                  <a:buFont typeface="Arial" panose="020B0604020202020204" pitchFamily="34" charset="0"/>
                  <a:buChar char="•"/>
                </a:pPr>
                <a14:m>
                  <m:oMath xmlns:m="http://schemas.openxmlformats.org/officeDocument/2006/math">
                    <m:r>
                      <a:rPr lang="en-US" sz="2000" b="0" i="1" smtClean="0">
                        <a:latin typeface="Cambria Math" panose="02040503050406030204" pitchFamily="18" charset="0"/>
                      </a:rPr>
                      <m:t>𝐶</m:t>
                    </m:r>
                    <m:r>
                      <a:rPr lang="en-US" sz="2000" b="0" i="1" smtClean="0">
                        <a:latin typeface="Cambria Math" panose="02040503050406030204" pitchFamily="18" charset="0"/>
                      </a:rPr>
                      <m:t>=</m:t>
                    </m:r>
                    <m:r>
                      <a:rPr lang="en-US" sz="2000" b="0" i="1" smtClean="0">
                        <a:latin typeface="Cambria Math" panose="02040503050406030204" pitchFamily="18" charset="0"/>
                      </a:rPr>
                      <m:t>𝐵𝑙𝑔</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r>
                          <a:rPr lang="en-US" sz="2000" b="0" i="1" smtClean="0">
                            <a:latin typeface="Cambria Math" panose="02040503050406030204" pitchFamily="18" charset="0"/>
                          </a:rPr>
                          <m:t>𝑆𝑁𝑅</m:t>
                        </m:r>
                      </m:e>
                    </m:d>
                  </m:oMath>
                </a14:m>
                <a:endParaRPr lang="en-US" sz="2000" b="0" dirty="0"/>
              </a:p>
              <a:p>
                <a:pPr marL="285750" indent="-28575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𝑛</m:t>
                        </m:r>
                      </m:sub>
                    </m:sSub>
                    <m:r>
                      <a:rPr lang="en-US" sz="2000" b="0" i="1" smtClean="0">
                        <a:latin typeface="Cambria Math" panose="02040503050406030204" pitchFamily="18" charset="0"/>
                      </a:rPr>
                      <m:t>=4</m:t>
                    </m:r>
                    <m:r>
                      <a:rPr lang="en-US" sz="2000" b="0" i="1" smtClean="0">
                        <a:latin typeface="Cambria Math" panose="02040503050406030204" pitchFamily="18" charset="0"/>
                      </a:rPr>
                      <m:t>𝑘𝑇𝐵</m:t>
                    </m:r>
                  </m:oMath>
                </a14:m>
                <a:endParaRPr lang="en-US" sz="2000" b="0" dirty="0"/>
              </a:p>
              <a:p>
                <a:pPr marL="285750" indent="-285750">
                  <a:buFont typeface="Arial" panose="020B0604020202020204" pitchFamily="34" charset="0"/>
                  <a:buChar char="•"/>
                </a:pPr>
                <a:r>
                  <a:rPr lang="en-US" sz="2000" dirty="0"/>
                  <a:t>Diode: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b="0" i="1" smtClean="0">
                            <a:latin typeface="Cambria Math" panose="02040503050406030204" pitchFamily="18" charset="0"/>
                          </a:rPr>
                          <m:t>𝐷</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b="0" i="1" smtClean="0">
                            <a:latin typeface="Cambria Math" panose="02040503050406030204" pitchFamily="18" charset="0"/>
                          </a:rPr>
                          <m:t>𝑆</m:t>
                        </m:r>
                      </m:sub>
                    </m:sSub>
                    <m:r>
                      <a:rPr lang="en-US" sz="2000" b="0" i="1" smtClean="0">
                        <a:latin typeface="Cambria Math" panose="02040503050406030204" pitchFamily="18" charset="0"/>
                      </a:rPr>
                      <m:t>[</m:t>
                    </m:r>
                    <m:func>
                      <m:funcPr>
                        <m:ctrlPr>
                          <a:rPr lang="en-US" sz="2000" b="0" i="0" smtClean="0">
                            <a:latin typeface="Cambria Math" panose="02040503050406030204" pitchFamily="18" charset="0"/>
                          </a:rPr>
                        </m:ctrlPr>
                      </m:funcPr>
                      <m:fName>
                        <m:r>
                          <m:rPr>
                            <m:sty m:val="p"/>
                          </m:rPr>
                          <a:rPr lang="en-US" sz="2000" b="0" i="0" smtClean="0">
                            <a:latin typeface="Cambria Math" panose="02040503050406030204" pitchFamily="18" charset="0"/>
                          </a:rPr>
                          <m:t>exp</m:t>
                        </m:r>
                      </m:fName>
                      <m:e>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𝑑𝑖𝑜𝑑𝑒</m:t>
                                    </m:r>
                                  </m:sub>
                                </m:sSub>
                              </m:num>
                              <m:den>
                                <m:r>
                                  <a:rPr lang="en-US" sz="2000" b="0" i="1" smtClean="0">
                                    <a:latin typeface="Cambria Math" panose="02040503050406030204" pitchFamily="18" charset="0"/>
                                  </a:rPr>
                                  <m:t>𝑛</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𝑇</m:t>
                                    </m:r>
                                  </m:sub>
                                </m:sSub>
                              </m:den>
                            </m:f>
                          </m:e>
                        </m:d>
                      </m:e>
                    </m:func>
                    <m:r>
                      <a:rPr lang="en-US" sz="2000" b="0" i="1" smtClean="0">
                        <a:latin typeface="Cambria Math" panose="02040503050406030204" pitchFamily="18" charset="0"/>
                      </a:rPr>
                      <m:t>−1]</m:t>
                    </m:r>
                  </m:oMath>
                </a14:m>
                <a:r>
                  <a:rPr lang="en-US" sz="2000" dirty="0"/>
                  <a:t>, </a:t>
                </a:r>
                <a14:m>
                  <m:oMath xmlns:m="http://schemas.openxmlformats.org/officeDocument/2006/math">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𝑉</m:t>
                        </m:r>
                      </m:e>
                      <m:sub>
                        <m:r>
                          <a:rPr lang="en-US" sz="2000" b="0" i="1" dirty="0" smtClean="0">
                            <a:latin typeface="Cambria Math" panose="02040503050406030204" pitchFamily="18" charset="0"/>
                          </a:rPr>
                          <m:t>𝑇</m:t>
                        </m:r>
                      </m:sub>
                    </m:sSub>
                    <m:r>
                      <a:rPr lang="en-US" sz="2000" b="0" i="1" dirty="0" smtClean="0">
                        <a:latin typeface="Cambria Math" panose="02040503050406030204" pitchFamily="18" charset="0"/>
                      </a:rPr>
                      <m:t>=</m:t>
                    </m:r>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𝑘𝑇</m:t>
                        </m:r>
                      </m:num>
                      <m:den>
                        <m:r>
                          <a:rPr lang="en-US" sz="2000" b="0" i="1" dirty="0" smtClean="0">
                            <a:latin typeface="Cambria Math" panose="02040503050406030204" pitchFamily="18" charset="0"/>
                          </a:rPr>
                          <m:t>𝑞</m:t>
                        </m:r>
                      </m:den>
                    </m:f>
                  </m:oMath>
                </a14:m>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Circuits on  right</a:t>
                </a:r>
              </a:p>
              <a:p>
                <a:pPr marL="742950" lvl="1" indent="-285750">
                  <a:buFont typeface="Arial" panose="020B0604020202020204" pitchFamily="34" charset="0"/>
                  <a:buChar char="•"/>
                </a:pPr>
                <a14:m>
                  <m:oMath xmlns:m="http://schemas.openxmlformats.org/officeDocument/2006/math">
                    <m:r>
                      <a:rPr lang="en-US" sz="2000" b="0" i="1" smtClean="0">
                        <a:latin typeface="Cambria Math" panose="02040503050406030204" pitchFamily="18" charset="0"/>
                      </a:rPr>
                      <m:t>𝑌</m:t>
                    </m:r>
                    <m:r>
                      <a:rPr lang="en-US" sz="2000" b="0" i="1" smtClean="0">
                        <a:latin typeface="Cambria Math" panose="02040503050406030204" pitchFamily="18" charset="0"/>
                      </a:rPr>
                      <m:t>=</m:t>
                    </m:r>
                    <m:r>
                      <a:rPr lang="en-US" sz="2000" b="0" i="1" smtClean="0">
                        <a:latin typeface="Cambria Math" panose="02040503050406030204" pitchFamily="18" charset="0"/>
                      </a:rPr>
                      <m:t>𝐺</m:t>
                    </m:r>
                    <m:r>
                      <a:rPr lang="en-US" sz="2000" b="0" i="1" smtClean="0">
                        <a:latin typeface="Cambria Math" panose="02040503050406030204" pitchFamily="18" charset="0"/>
                      </a:rPr>
                      <m:t>+</m:t>
                    </m:r>
                    <m:r>
                      <a:rPr lang="en-US" sz="2000" b="0" i="1" smtClean="0">
                        <a:latin typeface="Cambria Math" panose="02040503050406030204" pitchFamily="18" charset="0"/>
                      </a:rPr>
                      <m:t>𝑗𝐵</m:t>
                    </m:r>
                  </m:oMath>
                </a14:m>
                <a:endParaRPr lang="en-US" sz="2000" dirty="0"/>
              </a:p>
              <a:p>
                <a:pPr marL="285750" indent="-285750">
                  <a:buFont typeface="Arial" panose="020B0604020202020204" pitchFamily="34" charset="0"/>
                  <a:buChar char="•"/>
                </a:pPr>
                <a:r>
                  <a:rPr lang="en-US" sz="2000" dirty="0"/>
                  <a:t>Capacitive Divider</a:t>
                </a:r>
              </a:p>
              <a:p>
                <a:pPr marL="742950" lvl="1" indent="-28575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𝐺</m:t>
                        </m:r>
                      </m:e>
                      <m:sub>
                        <m:r>
                          <a:rPr lang="en-US" sz="2000" b="0" i="1" smtClean="0">
                            <a:latin typeface="Cambria Math" panose="02040503050406030204" pitchFamily="18" charset="0"/>
                          </a:rPr>
                          <m:t>𝑖𝑛</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𝐿</m:t>
                            </m:r>
                          </m:sub>
                        </m:sSub>
                      </m:den>
                    </m:f>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𝐶</m:t>
                                </m:r>
                              </m:e>
                              <m:sub>
                                <m:r>
                                  <a:rPr lang="en-US" sz="2000" b="0" i="1" smtClean="0">
                                    <a:latin typeface="Cambria Math" panose="02040503050406030204" pitchFamily="18" charset="0"/>
                                  </a:rPr>
                                  <m:t>1</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𝐶</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𝐶</m:t>
                                </m:r>
                              </m:e>
                              <m:sub>
                                <m:r>
                                  <a:rPr lang="en-US" sz="2000" b="0" i="1" smtClean="0">
                                    <a:latin typeface="Cambria Math" panose="02040503050406030204" pitchFamily="18" charset="0"/>
                                  </a:rPr>
                                  <m:t>2</m:t>
                                </m:r>
                              </m:sub>
                            </m:sSub>
                          </m:den>
                        </m:f>
                        <m:r>
                          <a:rPr lang="en-US" sz="2000" b="0" i="1" smtClean="0">
                            <a:latin typeface="Cambria Math" panose="02040503050406030204" pitchFamily="18" charset="0"/>
                          </a:rPr>
                          <m:t>)</m:t>
                        </m:r>
                      </m:e>
                      <m:sup>
                        <m:r>
                          <a:rPr lang="en-US" sz="2000" b="0" i="1" smtClean="0">
                            <a:latin typeface="Cambria Math" panose="02040503050406030204" pitchFamily="18" charset="0"/>
                          </a:rPr>
                          <m:t>2</m:t>
                        </m:r>
                      </m:sup>
                    </m:sSup>
                  </m:oMath>
                </a14:m>
                <a:r>
                  <a:rPr lang="en-US" sz="2000" dirty="0"/>
                  <a: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𝐵</m:t>
                        </m:r>
                      </m:e>
                      <m:sub>
                        <m:r>
                          <a:rPr lang="en-US" sz="2000" i="1">
                            <a:latin typeface="Cambria Math" panose="02040503050406030204" pitchFamily="18" charset="0"/>
                          </a:rPr>
                          <m:t>𝑖𝑛</m:t>
                        </m:r>
                      </m:sub>
                    </m:sSub>
                    <m:r>
                      <a:rPr lang="en-US" sz="2000" i="1">
                        <a:latin typeface="Cambria Math" panose="02040503050406030204" pitchFamily="18" charset="0"/>
                      </a:rPr>
                      <m:t>=</m:t>
                    </m:r>
                    <m:f>
                      <m:fPr>
                        <m:ctrlPr>
                          <a:rPr lang="en-US" sz="2000" i="1">
                            <a:latin typeface="Cambria Math" panose="02040503050406030204" pitchFamily="18" charset="0"/>
                          </a:rPr>
                        </m:ctrlPr>
                      </m:fPr>
                      <m:num>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𝜔</m:t>
                            </m:r>
                            <m:r>
                              <a:rPr lang="en-US" sz="2000" i="1">
                                <a:latin typeface="Cambria Math" panose="02040503050406030204" pitchFamily="18" charset="0"/>
                              </a:rPr>
                              <m:t>𝐶</m:t>
                            </m:r>
                          </m:e>
                          <m:sub>
                            <m:r>
                              <a:rPr lang="en-US" sz="2000" i="1">
                                <a:latin typeface="Cambria Math" panose="02040503050406030204" pitchFamily="18" charset="0"/>
                              </a:rPr>
                              <m:t>1</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𝐶</m:t>
                            </m:r>
                          </m:e>
                          <m:sub>
                            <m:r>
                              <a:rPr lang="en-US" sz="2000" b="0" i="1" smtClean="0">
                                <a:latin typeface="Cambria Math" panose="02040503050406030204" pitchFamily="18" charset="0"/>
                              </a:rPr>
                              <m:t>2</m:t>
                            </m:r>
                          </m:sub>
                        </m:sSub>
                      </m:num>
                      <m:den>
                        <m:sSub>
                          <m:sSubPr>
                            <m:ctrlPr>
                              <a:rPr lang="en-US" sz="2000" i="1">
                                <a:latin typeface="Cambria Math" panose="02040503050406030204" pitchFamily="18" charset="0"/>
                              </a:rPr>
                            </m:ctrlPr>
                          </m:sSubPr>
                          <m:e>
                            <m:r>
                              <a:rPr lang="en-US" sz="2000" i="1">
                                <a:latin typeface="Cambria Math" panose="02040503050406030204" pitchFamily="18" charset="0"/>
                              </a:rPr>
                              <m:t>𝐶</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𝐶</m:t>
                            </m:r>
                          </m:e>
                          <m:sub>
                            <m:r>
                              <a:rPr lang="en-US" sz="2000" i="1">
                                <a:latin typeface="Cambria Math" panose="02040503050406030204" pitchFamily="18" charset="0"/>
                              </a:rPr>
                              <m:t>2</m:t>
                            </m:r>
                          </m:sub>
                        </m:sSub>
                      </m:den>
                    </m:f>
                  </m:oMath>
                </a14:m>
                <a:endParaRPr lang="en-US" sz="2000" dirty="0"/>
              </a:p>
              <a:p>
                <a:pPr marL="285750" indent="-285750">
                  <a:buFont typeface="Arial" panose="020B0604020202020204" pitchFamily="34" charset="0"/>
                  <a:buChar char="•"/>
                </a:pPr>
                <a:r>
                  <a:rPr lang="en-US" sz="2000" dirty="0"/>
                  <a:t>Resonant capacitive divider</a:t>
                </a:r>
              </a:p>
              <a:p>
                <a:pPr marL="742950" lvl="1" indent="-285750">
                  <a:buFont typeface="Arial" panose="020B0604020202020204" pitchFamily="34" charset="0"/>
                  <a:buChar char="•"/>
                </a:pPr>
                <a14:m>
                  <m:oMath xmlns:m="http://schemas.openxmlformats.org/officeDocument/2006/math">
                    <m:sSup>
                      <m:sSupPr>
                        <m:ctrlPr>
                          <a:rPr lang="en-US" sz="2000" i="1" smtClean="0">
                            <a:latin typeface="Cambria Math" panose="02040503050406030204" pitchFamily="18" charset="0"/>
                          </a:rPr>
                        </m:ctrlPr>
                      </m:sSupPr>
                      <m:e>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0</m:t>
                            </m:r>
                          </m:sub>
                        </m:sSub>
                      </m:e>
                      <m:sup>
                        <m:r>
                          <a:rPr lang="en-US" sz="2000" b="0" i="1" smtClean="0">
                            <a:latin typeface="Cambria Math" panose="02040503050406030204" pitchFamily="18" charset="0"/>
                          </a:rPr>
                          <m:t>2</m:t>
                        </m:r>
                      </m:sup>
                    </m:sSup>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𝐶</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𝐶</m:t>
                            </m:r>
                          </m:e>
                          <m:sub>
                            <m:r>
                              <a:rPr lang="en-US" sz="2000" b="0" i="1" smtClean="0">
                                <a:latin typeface="Cambria Math" panose="02040503050406030204" pitchFamily="18" charset="0"/>
                              </a:rPr>
                              <m:t>2</m:t>
                            </m:r>
                          </m:sub>
                        </m:sSub>
                      </m:num>
                      <m:den>
                        <m:r>
                          <a:rPr lang="en-US" sz="2000" b="0" i="1" smtClean="0">
                            <a:latin typeface="Cambria Math" panose="02040503050406030204" pitchFamily="18" charset="0"/>
                          </a:rPr>
                          <m:t>𝐿</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𝐶</m:t>
                            </m:r>
                          </m:e>
                          <m:sub>
                            <m:r>
                              <a:rPr lang="en-US" sz="2000" b="0" i="1" smtClean="0">
                                <a:latin typeface="Cambria Math" panose="02040503050406030204" pitchFamily="18" charset="0"/>
                              </a:rPr>
                              <m:t>1</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𝐶</m:t>
                            </m:r>
                          </m:e>
                          <m:sub>
                            <m:r>
                              <a:rPr lang="en-US" sz="2000" b="0" i="1" smtClean="0">
                                <a:latin typeface="Cambria Math" panose="02040503050406030204" pitchFamily="18" charset="0"/>
                              </a:rPr>
                              <m:t>2</m:t>
                            </m:r>
                          </m:sub>
                        </m:sSub>
                      </m:den>
                    </m:f>
                  </m:oMath>
                </a14:m>
                <a:endParaRPr lang="en-US" sz="2000" dirty="0"/>
              </a:p>
              <a:p>
                <a:pPr marL="742950" lvl="1" indent="-285750">
                  <a:buFont typeface="Arial" panose="020B0604020202020204" pitchFamily="34" charset="0"/>
                  <a:buChar char="•"/>
                </a:pPr>
                <a14:m>
                  <m:oMath xmlns:m="http://schemas.openxmlformats.org/officeDocument/2006/math">
                    <m:r>
                      <a:rPr lang="en-US" sz="2000" b="0" i="1" smtClean="0">
                        <a:latin typeface="Cambria Math" panose="02040503050406030204" pitchFamily="18" charset="0"/>
                      </a:rPr>
                      <m:t>𝑄</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𝑖𝑛</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𝑠</m:t>
                            </m:r>
                          </m:sub>
                        </m:sSub>
                      </m:num>
                      <m:den>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𝐿</m:t>
                        </m:r>
                      </m:den>
                    </m:f>
                  </m:oMath>
                </a14:m>
                <a:endParaRPr lang="en-US" dirty="0"/>
              </a:p>
              <a:p>
                <a:pPr marL="285750" indent="-285750">
                  <a:buFont typeface="Arial" panose="020B0604020202020204" pitchFamily="34" charset="0"/>
                  <a:buChar char="•"/>
                </a:pPr>
                <a:endParaRPr lang="en-US" dirty="0"/>
              </a:p>
            </p:txBody>
          </p:sp>
        </mc:Choice>
        <mc:Fallback xmlns="">
          <p:sp>
            <p:nvSpPr>
              <p:cNvPr id="2" name="TextBox 1">
                <a:extLst>
                  <a:ext uri="{FF2B5EF4-FFF2-40B4-BE49-F238E27FC236}">
                    <a16:creationId xmlns:a16="http://schemas.microsoft.com/office/drawing/2014/main" id="{8940C0BD-45A7-D64B-8EE5-419696974E66}"/>
                  </a:ext>
                </a:extLst>
              </p:cNvPr>
              <p:cNvSpPr txBox="1">
                <a:spLocks noRot="1" noChangeAspect="1" noMove="1" noResize="1" noEditPoints="1" noAdjustHandles="1" noChangeArrowheads="1" noChangeShapeType="1" noTextEdit="1"/>
              </p:cNvSpPr>
              <p:nvPr/>
            </p:nvSpPr>
            <p:spPr>
              <a:xfrm>
                <a:off x="1077276" y="1763009"/>
                <a:ext cx="6959261" cy="4535883"/>
              </a:xfrm>
              <a:prstGeom prst="rect">
                <a:avLst/>
              </a:prstGeom>
              <a:blipFill>
                <a:blip r:embed="rId3"/>
                <a:stretch>
                  <a:fillRect l="-729" t="-279"/>
                </a:stretch>
              </a:blipFill>
            </p:spPr>
            <p:txBody>
              <a:bodyPr/>
              <a:lstStyle/>
              <a:p>
                <a:r>
                  <a:rPr lang="en-US">
                    <a:noFill/>
                  </a:rPr>
                  <a:t> </a:t>
                </a:r>
              </a:p>
            </p:txBody>
          </p:sp>
        </mc:Fallback>
      </mc:AlternateContent>
      <p:grpSp>
        <p:nvGrpSpPr>
          <p:cNvPr id="92" name="Group 91">
            <a:extLst>
              <a:ext uri="{FF2B5EF4-FFF2-40B4-BE49-F238E27FC236}">
                <a16:creationId xmlns:a16="http://schemas.microsoft.com/office/drawing/2014/main" id="{2419BB25-F571-E249-2D3B-01EA01B306AB}"/>
              </a:ext>
            </a:extLst>
          </p:cNvPr>
          <p:cNvGrpSpPr/>
          <p:nvPr/>
        </p:nvGrpSpPr>
        <p:grpSpPr>
          <a:xfrm>
            <a:off x="9217502" y="1550351"/>
            <a:ext cx="1819793" cy="2266119"/>
            <a:chOff x="9217502" y="1026557"/>
            <a:chExt cx="1819793" cy="2266119"/>
          </a:xfrm>
        </p:grpSpPr>
        <p:grpSp>
          <p:nvGrpSpPr>
            <p:cNvPr id="6" name="Group 210">
              <a:extLst>
                <a:ext uri="{FF2B5EF4-FFF2-40B4-BE49-F238E27FC236}">
                  <a16:creationId xmlns:a16="http://schemas.microsoft.com/office/drawing/2014/main" id="{82805EAB-0CA4-6F4A-BEF6-327FB0AF3B27}"/>
                </a:ext>
              </a:extLst>
            </p:cNvPr>
            <p:cNvGrpSpPr>
              <a:grpSpLocks/>
            </p:cNvGrpSpPr>
            <p:nvPr/>
          </p:nvGrpSpPr>
          <p:grpSpPr bwMode="auto">
            <a:xfrm>
              <a:off x="9840354" y="1477130"/>
              <a:ext cx="304800" cy="762000"/>
              <a:chOff x="3216" y="1728"/>
              <a:chExt cx="192" cy="480"/>
            </a:xfrm>
          </p:grpSpPr>
          <p:sp>
            <p:nvSpPr>
              <p:cNvPr id="7" name="Line 8">
                <a:extLst>
                  <a:ext uri="{FF2B5EF4-FFF2-40B4-BE49-F238E27FC236}">
                    <a16:creationId xmlns:a16="http://schemas.microsoft.com/office/drawing/2014/main" id="{A0A7847D-CD43-C743-AD4C-44B2D8C3BF9D}"/>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 name="Line 9">
                <a:extLst>
                  <a:ext uri="{FF2B5EF4-FFF2-40B4-BE49-F238E27FC236}">
                    <a16:creationId xmlns:a16="http://schemas.microsoft.com/office/drawing/2014/main" id="{D826161B-F904-AB48-909A-488634224516}"/>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 name="Line 10">
                <a:extLst>
                  <a:ext uri="{FF2B5EF4-FFF2-40B4-BE49-F238E27FC236}">
                    <a16:creationId xmlns:a16="http://schemas.microsoft.com/office/drawing/2014/main" id="{2AB2D363-17D3-994A-89CE-5B6282E6B9A4}"/>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 name="Line 11">
                <a:extLst>
                  <a:ext uri="{FF2B5EF4-FFF2-40B4-BE49-F238E27FC236}">
                    <a16:creationId xmlns:a16="http://schemas.microsoft.com/office/drawing/2014/main" id="{5152C90D-BE10-5542-B6E5-921BD2DCAA8E}"/>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 name="Group 13">
              <a:extLst>
                <a:ext uri="{FF2B5EF4-FFF2-40B4-BE49-F238E27FC236}">
                  <a16:creationId xmlns:a16="http://schemas.microsoft.com/office/drawing/2014/main" id="{4A174D02-BF32-FB41-A37F-E4B62B5FAAAE}"/>
                </a:ext>
              </a:extLst>
            </p:cNvPr>
            <p:cNvGrpSpPr>
              <a:grpSpLocks noChangeAspect="1"/>
            </p:cNvGrpSpPr>
            <p:nvPr/>
          </p:nvGrpSpPr>
          <p:grpSpPr bwMode="auto">
            <a:xfrm>
              <a:off x="9347641" y="1371483"/>
              <a:ext cx="228600" cy="228600"/>
              <a:chOff x="1344" y="2064"/>
              <a:chExt cx="192" cy="192"/>
            </a:xfrm>
          </p:grpSpPr>
          <p:sp>
            <p:nvSpPr>
              <p:cNvPr id="13" name="Oval 14">
                <a:extLst>
                  <a:ext uri="{FF2B5EF4-FFF2-40B4-BE49-F238E27FC236}">
                    <a16:creationId xmlns:a16="http://schemas.microsoft.com/office/drawing/2014/main" id="{D0BA91C9-303D-8249-866D-36000F394EB7}"/>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4" name="Rectangle 15">
                <a:extLst>
                  <a:ext uri="{FF2B5EF4-FFF2-40B4-BE49-F238E27FC236}">
                    <a16:creationId xmlns:a16="http://schemas.microsoft.com/office/drawing/2014/main" id="{B514C3B0-8A62-9B4E-B7FA-4D98854EDA18}"/>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5" name="Group 220">
              <a:extLst>
                <a:ext uri="{FF2B5EF4-FFF2-40B4-BE49-F238E27FC236}">
                  <a16:creationId xmlns:a16="http://schemas.microsoft.com/office/drawing/2014/main" id="{71E94CF6-E172-1242-878A-C711DC75CA45}"/>
                </a:ext>
              </a:extLst>
            </p:cNvPr>
            <p:cNvGrpSpPr>
              <a:grpSpLocks/>
            </p:cNvGrpSpPr>
            <p:nvPr/>
          </p:nvGrpSpPr>
          <p:grpSpPr bwMode="auto">
            <a:xfrm>
              <a:off x="9916554" y="2882233"/>
              <a:ext cx="152400" cy="304800"/>
              <a:chOff x="3264" y="3072"/>
              <a:chExt cx="96" cy="192"/>
            </a:xfrm>
          </p:grpSpPr>
          <p:sp>
            <p:nvSpPr>
              <p:cNvPr id="16" name="Line 17">
                <a:extLst>
                  <a:ext uri="{FF2B5EF4-FFF2-40B4-BE49-F238E27FC236}">
                    <a16:creationId xmlns:a16="http://schemas.microsoft.com/office/drawing/2014/main" id="{B803364F-746C-CB49-A730-5D22C5B7645E}"/>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 name="Freeform 18">
                <a:extLst>
                  <a:ext uri="{FF2B5EF4-FFF2-40B4-BE49-F238E27FC236}">
                    <a16:creationId xmlns:a16="http://schemas.microsoft.com/office/drawing/2014/main" id="{96A62881-E8E6-3A4C-9ADF-F5DAAD91D972}"/>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2" name="Group 210">
              <a:extLst>
                <a:ext uri="{FF2B5EF4-FFF2-40B4-BE49-F238E27FC236}">
                  <a16:creationId xmlns:a16="http://schemas.microsoft.com/office/drawing/2014/main" id="{1C9F1DCF-DFB0-D040-B052-B9C3D369BE46}"/>
                </a:ext>
              </a:extLst>
            </p:cNvPr>
            <p:cNvGrpSpPr>
              <a:grpSpLocks/>
            </p:cNvGrpSpPr>
            <p:nvPr/>
          </p:nvGrpSpPr>
          <p:grpSpPr bwMode="auto">
            <a:xfrm>
              <a:off x="9838698" y="2138081"/>
              <a:ext cx="304800" cy="762000"/>
              <a:chOff x="3216" y="1728"/>
              <a:chExt cx="192" cy="480"/>
            </a:xfrm>
          </p:grpSpPr>
          <p:sp>
            <p:nvSpPr>
              <p:cNvPr id="33" name="Line 8">
                <a:extLst>
                  <a:ext uri="{FF2B5EF4-FFF2-40B4-BE49-F238E27FC236}">
                    <a16:creationId xmlns:a16="http://schemas.microsoft.com/office/drawing/2014/main" id="{5672F355-EE28-5A4E-9318-6FAB2E8EEA6F}"/>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 name="Line 9">
                <a:extLst>
                  <a:ext uri="{FF2B5EF4-FFF2-40B4-BE49-F238E27FC236}">
                    <a16:creationId xmlns:a16="http://schemas.microsoft.com/office/drawing/2014/main" id="{DFFD38DA-4202-A04B-9B34-01230106C94A}"/>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 name="Line 10">
                <a:extLst>
                  <a:ext uri="{FF2B5EF4-FFF2-40B4-BE49-F238E27FC236}">
                    <a16:creationId xmlns:a16="http://schemas.microsoft.com/office/drawing/2014/main" id="{3A410773-552E-1A4F-AC43-E38C9CE921BC}"/>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 name="Line 11">
                <a:extLst>
                  <a:ext uri="{FF2B5EF4-FFF2-40B4-BE49-F238E27FC236}">
                    <a16:creationId xmlns:a16="http://schemas.microsoft.com/office/drawing/2014/main" id="{D42AC138-937F-E742-8BF6-56783CCF83A6}"/>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7" name="Freeform 12">
              <a:extLst>
                <a:ext uri="{FF2B5EF4-FFF2-40B4-BE49-F238E27FC236}">
                  <a16:creationId xmlns:a16="http://schemas.microsoft.com/office/drawing/2014/main" id="{9D77C124-E83E-7748-96B5-737D7652F226}"/>
                </a:ext>
              </a:extLst>
            </p:cNvPr>
            <p:cNvSpPr>
              <a:spLocks noChangeAspect="1"/>
            </p:cNvSpPr>
            <p:nvPr/>
          </p:nvSpPr>
          <p:spPr bwMode="auto">
            <a:xfrm>
              <a:off x="10443330" y="2225876"/>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38" name="Group 220">
              <a:extLst>
                <a:ext uri="{FF2B5EF4-FFF2-40B4-BE49-F238E27FC236}">
                  <a16:creationId xmlns:a16="http://schemas.microsoft.com/office/drawing/2014/main" id="{5EA076CD-4053-5447-B755-19F5CD39D259}"/>
                </a:ext>
              </a:extLst>
            </p:cNvPr>
            <p:cNvGrpSpPr>
              <a:grpSpLocks/>
            </p:cNvGrpSpPr>
            <p:nvPr/>
          </p:nvGrpSpPr>
          <p:grpSpPr bwMode="auto">
            <a:xfrm>
              <a:off x="10443330" y="2987876"/>
              <a:ext cx="152400" cy="304800"/>
              <a:chOff x="3264" y="3072"/>
              <a:chExt cx="96" cy="192"/>
            </a:xfrm>
          </p:grpSpPr>
          <p:sp>
            <p:nvSpPr>
              <p:cNvPr id="39" name="Line 17">
                <a:extLst>
                  <a:ext uri="{FF2B5EF4-FFF2-40B4-BE49-F238E27FC236}">
                    <a16:creationId xmlns:a16="http://schemas.microsoft.com/office/drawing/2014/main" id="{8CA635A0-F383-E348-B3BE-9D60794042D2}"/>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 name="Freeform 18">
                <a:extLst>
                  <a:ext uri="{FF2B5EF4-FFF2-40B4-BE49-F238E27FC236}">
                    <a16:creationId xmlns:a16="http://schemas.microsoft.com/office/drawing/2014/main" id="{C4F11CB6-2224-AA47-BB16-F8E8AB8CE94C}"/>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cxnSp>
          <p:nvCxnSpPr>
            <p:cNvPr id="41" name="Straight Connector 40">
              <a:extLst>
                <a:ext uri="{FF2B5EF4-FFF2-40B4-BE49-F238E27FC236}">
                  <a16:creationId xmlns:a16="http://schemas.microsoft.com/office/drawing/2014/main" id="{1974B53A-CF0A-D54F-A5DC-FCDAC564E07C}"/>
                </a:ext>
              </a:extLst>
            </p:cNvPr>
            <p:cNvCxnSpPr>
              <a:cxnSpLocks/>
            </p:cNvCxnSpPr>
            <p:nvPr/>
          </p:nvCxnSpPr>
          <p:spPr>
            <a:xfrm>
              <a:off x="9979499" y="2239130"/>
              <a:ext cx="54240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F2E327C-9F53-554E-89BB-3FE984E5A2B4}"/>
                </a:ext>
              </a:extLst>
            </p:cNvPr>
            <p:cNvCxnSpPr>
              <a:cxnSpLocks/>
            </p:cNvCxnSpPr>
            <p:nvPr/>
          </p:nvCxnSpPr>
          <p:spPr>
            <a:xfrm>
              <a:off x="9437096" y="1485783"/>
              <a:ext cx="54240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5" name="Group 13">
              <a:extLst>
                <a:ext uri="{FF2B5EF4-FFF2-40B4-BE49-F238E27FC236}">
                  <a16:creationId xmlns:a16="http://schemas.microsoft.com/office/drawing/2014/main" id="{E1783DC3-2246-6445-B1ED-6A49EAF7D349}"/>
                </a:ext>
              </a:extLst>
            </p:cNvPr>
            <p:cNvGrpSpPr>
              <a:grpSpLocks noChangeAspect="1"/>
            </p:cNvGrpSpPr>
            <p:nvPr/>
          </p:nvGrpSpPr>
          <p:grpSpPr bwMode="auto">
            <a:xfrm>
              <a:off x="10440951" y="2162219"/>
              <a:ext cx="152400" cy="152400"/>
              <a:chOff x="1344" y="2064"/>
              <a:chExt cx="192" cy="192"/>
            </a:xfrm>
          </p:grpSpPr>
          <p:sp>
            <p:nvSpPr>
              <p:cNvPr id="46" name="Oval 14">
                <a:extLst>
                  <a:ext uri="{FF2B5EF4-FFF2-40B4-BE49-F238E27FC236}">
                    <a16:creationId xmlns:a16="http://schemas.microsoft.com/office/drawing/2014/main" id="{239BDDD1-E12D-4B4C-9139-002390B9D1EF}"/>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47" name="Rectangle 15">
                <a:extLst>
                  <a:ext uri="{FF2B5EF4-FFF2-40B4-BE49-F238E27FC236}">
                    <a16:creationId xmlns:a16="http://schemas.microsoft.com/office/drawing/2014/main" id="{09B06B95-C95F-B34F-A669-2BF4FEEF89D5}"/>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F32FE3C3-7ED6-D04B-A51A-CBA247C5837B}"/>
                    </a:ext>
                  </a:extLst>
                </p:cNvPr>
                <p:cNvSpPr txBox="1"/>
                <p:nvPr/>
              </p:nvSpPr>
              <p:spPr>
                <a:xfrm>
                  <a:off x="9469291" y="1742174"/>
                  <a:ext cx="441568"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1</m:t>
                            </m:r>
                          </m:sub>
                        </m:sSub>
                      </m:oMath>
                    </m:oMathPara>
                  </a14:m>
                  <a:endParaRPr lang="en-US" dirty="0"/>
                </a:p>
              </p:txBody>
            </p:sp>
          </mc:Choice>
          <mc:Fallback xmlns="">
            <p:sp>
              <p:nvSpPr>
                <p:cNvPr id="78" name="TextBox 77">
                  <a:extLst>
                    <a:ext uri="{FF2B5EF4-FFF2-40B4-BE49-F238E27FC236}">
                      <a16:creationId xmlns:a16="http://schemas.microsoft.com/office/drawing/2014/main" id="{F32FE3C3-7ED6-D04B-A51A-CBA247C5837B}"/>
                    </a:ext>
                  </a:extLst>
                </p:cNvPr>
                <p:cNvSpPr txBox="1">
                  <a:spLocks noRot="1" noChangeAspect="1" noMove="1" noResize="1" noEditPoints="1" noAdjustHandles="1" noChangeArrowheads="1" noChangeShapeType="1" noTextEdit="1"/>
                </p:cNvSpPr>
                <p:nvPr/>
              </p:nvSpPr>
              <p:spPr>
                <a:xfrm>
                  <a:off x="9469291" y="1742174"/>
                  <a:ext cx="441568"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5D3FDD3A-D6E6-334D-B19D-6067014E941B}"/>
                    </a:ext>
                  </a:extLst>
                </p:cNvPr>
                <p:cNvSpPr txBox="1"/>
                <p:nvPr/>
              </p:nvSpPr>
              <p:spPr>
                <a:xfrm>
                  <a:off x="9489170" y="2305392"/>
                  <a:ext cx="441568"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2</m:t>
                            </m:r>
                          </m:sub>
                        </m:sSub>
                      </m:oMath>
                    </m:oMathPara>
                  </a14:m>
                  <a:endParaRPr lang="en-US" dirty="0"/>
                </a:p>
              </p:txBody>
            </p:sp>
          </mc:Choice>
          <mc:Fallback xmlns="">
            <p:sp>
              <p:nvSpPr>
                <p:cNvPr id="79" name="TextBox 78">
                  <a:extLst>
                    <a:ext uri="{FF2B5EF4-FFF2-40B4-BE49-F238E27FC236}">
                      <a16:creationId xmlns:a16="http://schemas.microsoft.com/office/drawing/2014/main" id="{5D3FDD3A-D6E6-334D-B19D-6067014E941B}"/>
                    </a:ext>
                  </a:extLst>
                </p:cNvPr>
                <p:cNvSpPr txBox="1">
                  <a:spLocks noRot="1" noChangeAspect="1" noMove="1" noResize="1" noEditPoints="1" noAdjustHandles="1" noChangeArrowheads="1" noChangeShapeType="1" noTextEdit="1"/>
                </p:cNvSpPr>
                <p:nvPr/>
              </p:nvSpPr>
              <p:spPr>
                <a:xfrm>
                  <a:off x="9489170" y="2305392"/>
                  <a:ext cx="441568"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4B637527-64A8-1B48-BF3A-DAF18B144A8D}"/>
                    </a:ext>
                  </a:extLst>
                </p:cNvPr>
                <p:cNvSpPr txBox="1"/>
                <p:nvPr/>
              </p:nvSpPr>
              <p:spPr>
                <a:xfrm>
                  <a:off x="10595727" y="2457792"/>
                  <a:ext cx="441568"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𝐿</m:t>
                            </m:r>
                          </m:sub>
                        </m:sSub>
                      </m:oMath>
                    </m:oMathPara>
                  </a14:m>
                  <a:endParaRPr lang="en-US" dirty="0"/>
                </a:p>
              </p:txBody>
            </p:sp>
          </mc:Choice>
          <mc:Fallback xmlns="">
            <p:sp>
              <p:nvSpPr>
                <p:cNvPr id="80" name="TextBox 79">
                  <a:extLst>
                    <a:ext uri="{FF2B5EF4-FFF2-40B4-BE49-F238E27FC236}">
                      <a16:creationId xmlns:a16="http://schemas.microsoft.com/office/drawing/2014/main" id="{4B637527-64A8-1B48-BF3A-DAF18B144A8D}"/>
                    </a:ext>
                  </a:extLst>
                </p:cNvPr>
                <p:cNvSpPr txBox="1">
                  <a:spLocks noRot="1" noChangeAspect="1" noMove="1" noResize="1" noEditPoints="1" noAdjustHandles="1" noChangeArrowheads="1" noChangeShapeType="1" noTextEdit="1"/>
                </p:cNvSpPr>
                <p:nvPr/>
              </p:nvSpPr>
              <p:spPr>
                <a:xfrm>
                  <a:off x="10595727" y="2457792"/>
                  <a:ext cx="441568"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5DD5DF7B-31EE-5748-9B77-6DC3AE56A215}"/>
                    </a:ext>
                  </a:extLst>
                </p:cNvPr>
                <p:cNvSpPr txBox="1"/>
                <p:nvPr/>
              </p:nvSpPr>
              <p:spPr>
                <a:xfrm>
                  <a:off x="10575850" y="2040348"/>
                  <a:ext cx="441568"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𝑜</m:t>
                            </m:r>
                          </m:sub>
                        </m:sSub>
                      </m:oMath>
                    </m:oMathPara>
                  </a14:m>
                  <a:endParaRPr lang="en-US" dirty="0"/>
                </a:p>
              </p:txBody>
            </p:sp>
          </mc:Choice>
          <mc:Fallback xmlns="">
            <p:sp>
              <p:nvSpPr>
                <p:cNvPr id="81" name="TextBox 80">
                  <a:extLst>
                    <a:ext uri="{FF2B5EF4-FFF2-40B4-BE49-F238E27FC236}">
                      <a16:creationId xmlns:a16="http://schemas.microsoft.com/office/drawing/2014/main" id="{5DD5DF7B-31EE-5748-9B77-6DC3AE56A215}"/>
                    </a:ext>
                  </a:extLst>
                </p:cNvPr>
                <p:cNvSpPr txBox="1">
                  <a:spLocks noRot="1" noChangeAspect="1" noMove="1" noResize="1" noEditPoints="1" noAdjustHandles="1" noChangeArrowheads="1" noChangeShapeType="1" noTextEdit="1"/>
                </p:cNvSpPr>
                <p:nvPr/>
              </p:nvSpPr>
              <p:spPr>
                <a:xfrm>
                  <a:off x="10575850" y="2040348"/>
                  <a:ext cx="441568"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4087F7A4-F436-CF43-87D4-47BBFEAF54F2}"/>
                    </a:ext>
                  </a:extLst>
                </p:cNvPr>
                <p:cNvSpPr txBox="1"/>
                <p:nvPr/>
              </p:nvSpPr>
              <p:spPr>
                <a:xfrm>
                  <a:off x="9217502" y="1026557"/>
                  <a:ext cx="441568"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oMath>
                    </m:oMathPara>
                  </a14:m>
                  <a:endParaRPr lang="en-US" dirty="0"/>
                </a:p>
              </p:txBody>
            </p:sp>
          </mc:Choice>
          <mc:Fallback xmlns="">
            <p:sp>
              <p:nvSpPr>
                <p:cNvPr id="82" name="TextBox 81">
                  <a:extLst>
                    <a:ext uri="{FF2B5EF4-FFF2-40B4-BE49-F238E27FC236}">
                      <a16:creationId xmlns:a16="http://schemas.microsoft.com/office/drawing/2014/main" id="{4087F7A4-F436-CF43-87D4-47BBFEAF54F2}"/>
                    </a:ext>
                  </a:extLst>
                </p:cNvPr>
                <p:cNvSpPr txBox="1">
                  <a:spLocks noRot="1" noChangeAspect="1" noMove="1" noResize="1" noEditPoints="1" noAdjustHandles="1" noChangeArrowheads="1" noChangeShapeType="1" noTextEdit="1"/>
                </p:cNvSpPr>
                <p:nvPr/>
              </p:nvSpPr>
              <p:spPr>
                <a:xfrm>
                  <a:off x="9217502" y="1026557"/>
                  <a:ext cx="441568" cy="369332"/>
                </a:xfrm>
                <a:prstGeom prst="rect">
                  <a:avLst/>
                </a:prstGeom>
                <a:blipFill>
                  <a:blip r:embed="rId8"/>
                  <a:stretch>
                    <a:fillRect/>
                  </a:stretch>
                </a:blipFill>
              </p:spPr>
              <p:txBody>
                <a:bodyPr/>
                <a:lstStyle/>
                <a:p>
                  <a:r>
                    <a:rPr lang="en-US">
                      <a:noFill/>
                    </a:rPr>
                    <a:t> </a:t>
                  </a:r>
                </a:p>
              </p:txBody>
            </p:sp>
          </mc:Fallback>
        </mc:AlternateContent>
        <p:grpSp>
          <p:nvGrpSpPr>
            <p:cNvPr id="11" name="Group 13">
              <a:extLst>
                <a:ext uri="{FF2B5EF4-FFF2-40B4-BE49-F238E27FC236}">
                  <a16:creationId xmlns:a16="http://schemas.microsoft.com/office/drawing/2014/main" id="{28B49D95-E6F8-4B76-B394-2549DAC20556}"/>
                </a:ext>
              </a:extLst>
            </p:cNvPr>
            <p:cNvGrpSpPr>
              <a:grpSpLocks noChangeAspect="1"/>
            </p:cNvGrpSpPr>
            <p:nvPr/>
          </p:nvGrpSpPr>
          <p:grpSpPr bwMode="auto">
            <a:xfrm>
              <a:off x="10410089" y="2133942"/>
              <a:ext cx="228600" cy="228600"/>
              <a:chOff x="1344" y="2064"/>
              <a:chExt cx="192" cy="192"/>
            </a:xfrm>
          </p:grpSpPr>
          <p:sp>
            <p:nvSpPr>
              <p:cNvPr id="42" name="Oval 14">
                <a:extLst>
                  <a:ext uri="{FF2B5EF4-FFF2-40B4-BE49-F238E27FC236}">
                    <a16:creationId xmlns:a16="http://schemas.microsoft.com/office/drawing/2014/main" id="{CBF89F1B-61F8-0E74-B2B6-790F96A02F63}"/>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43" name="Rectangle 15">
                <a:extLst>
                  <a:ext uri="{FF2B5EF4-FFF2-40B4-BE49-F238E27FC236}">
                    <a16:creationId xmlns:a16="http://schemas.microsoft.com/office/drawing/2014/main" id="{A6F8F7EE-DECB-912B-D940-BDE584AFBFDA}"/>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89" name="Group 13">
              <a:extLst>
                <a:ext uri="{FF2B5EF4-FFF2-40B4-BE49-F238E27FC236}">
                  <a16:creationId xmlns:a16="http://schemas.microsoft.com/office/drawing/2014/main" id="{529BD6C4-BDDA-4D55-5C42-E6EDB36B70FF}"/>
                </a:ext>
              </a:extLst>
            </p:cNvPr>
            <p:cNvGrpSpPr>
              <a:grpSpLocks noChangeAspect="1"/>
            </p:cNvGrpSpPr>
            <p:nvPr/>
          </p:nvGrpSpPr>
          <p:grpSpPr bwMode="auto">
            <a:xfrm>
              <a:off x="9876689" y="2133942"/>
              <a:ext cx="228600" cy="228600"/>
              <a:chOff x="1344" y="2064"/>
              <a:chExt cx="192" cy="192"/>
            </a:xfrm>
          </p:grpSpPr>
          <p:sp>
            <p:nvSpPr>
              <p:cNvPr id="90" name="Oval 14">
                <a:extLst>
                  <a:ext uri="{FF2B5EF4-FFF2-40B4-BE49-F238E27FC236}">
                    <a16:creationId xmlns:a16="http://schemas.microsoft.com/office/drawing/2014/main" id="{EAB2F9AE-DFE1-B9C1-9E2C-718C44B5D146}"/>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91" name="Rectangle 15">
                <a:extLst>
                  <a:ext uri="{FF2B5EF4-FFF2-40B4-BE49-F238E27FC236}">
                    <a16:creationId xmlns:a16="http://schemas.microsoft.com/office/drawing/2014/main" id="{5ABAD814-9BF9-3048-16B2-0CC5053D58B0}"/>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grpSp>
        <p:nvGrpSpPr>
          <p:cNvPr id="96" name="Group 95">
            <a:extLst>
              <a:ext uri="{FF2B5EF4-FFF2-40B4-BE49-F238E27FC236}">
                <a16:creationId xmlns:a16="http://schemas.microsoft.com/office/drawing/2014/main" id="{F7F1DDB0-468D-A37E-4979-69107C300B15}"/>
              </a:ext>
            </a:extLst>
          </p:cNvPr>
          <p:cNvGrpSpPr/>
          <p:nvPr/>
        </p:nvGrpSpPr>
        <p:grpSpPr>
          <a:xfrm>
            <a:off x="8862540" y="3847330"/>
            <a:ext cx="2561915" cy="2252867"/>
            <a:chOff x="8764081" y="3846285"/>
            <a:chExt cx="2561915" cy="2252867"/>
          </a:xfrm>
        </p:grpSpPr>
        <p:grpSp>
          <p:nvGrpSpPr>
            <p:cNvPr id="18" name="Group 209">
              <a:extLst>
                <a:ext uri="{FF2B5EF4-FFF2-40B4-BE49-F238E27FC236}">
                  <a16:creationId xmlns:a16="http://schemas.microsoft.com/office/drawing/2014/main" id="{58009940-AC2F-D04D-8109-760321D0CBD4}"/>
                </a:ext>
              </a:extLst>
            </p:cNvPr>
            <p:cNvGrpSpPr>
              <a:grpSpLocks/>
            </p:cNvGrpSpPr>
            <p:nvPr/>
          </p:nvGrpSpPr>
          <p:grpSpPr bwMode="auto">
            <a:xfrm>
              <a:off x="9478504" y="4283606"/>
              <a:ext cx="152400" cy="762000"/>
              <a:chOff x="3935" y="1728"/>
              <a:chExt cx="96" cy="480"/>
            </a:xfrm>
          </p:grpSpPr>
          <p:sp>
            <p:nvSpPr>
              <p:cNvPr id="19" name="Arc 59">
                <a:extLst>
                  <a:ext uri="{FF2B5EF4-FFF2-40B4-BE49-F238E27FC236}">
                    <a16:creationId xmlns:a16="http://schemas.microsoft.com/office/drawing/2014/main" id="{F37CAC88-530B-3045-AB7D-C0A2D2AE8040}"/>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 name="Arc 60">
                <a:extLst>
                  <a:ext uri="{FF2B5EF4-FFF2-40B4-BE49-F238E27FC236}">
                    <a16:creationId xmlns:a16="http://schemas.microsoft.com/office/drawing/2014/main" id="{B617C844-C596-894E-AF56-EFEE21996900}"/>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1" name="Arc 61">
                <a:extLst>
                  <a:ext uri="{FF2B5EF4-FFF2-40B4-BE49-F238E27FC236}">
                    <a16:creationId xmlns:a16="http://schemas.microsoft.com/office/drawing/2014/main" id="{71F70027-834F-E944-B208-19EACC8CD74E}"/>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 name="Arc 62">
                <a:extLst>
                  <a:ext uri="{FF2B5EF4-FFF2-40B4-BE49-F238E27FC236}">
                    <a16:creationId xmlns:a16="http://schemas.microsoft.com/office/drawing/2014/main" id="{BA4AF83E-C58B-FE43-B6E3-6800413DED6E}"/>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3" name="Line 63">
                <a:extLst>
                  <a:ext uri="{FF2B5EF4-FFF2-40B4-BE49-F238E27FC236}">
                    <a16:creationId xmlns:a16="http://schemas.microsoft.com/office/drawing/2014/main" id="{7EC956E0-5497-9549-A5A5-4A593AF3B256}"/>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 name="Line 64">
                <a:extLst>
                  <a:ext uri="{FF2B5EF4-FFF2-40B4-BE49-F238E27FC236}">
                    <a16:creationId xmlns:a16="http://schemas.microsoft.com/office/drawing/2014/main" id="{0EE569EF-88D0-834B-A4BB-4C6090766A48}"/>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 name="Arc 65">
                <a:extLst>
                  <a:ext uri="{FF2B5EF4-FFF2-40B4-BE49-F238E27FC236}">
                    <a16:creationId xmlns:a16="http://schemas.microsoft.com/office/drawing/2014/main" id="{6C2EAF94-1790-1245-93B1-7EA4C5D61E3E}"/>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 name="Arc 66">
                <a:extLst>
                  <a:ext uri="{FF2B5EF4-FFF2-40B4-BE49-F238E27FC236}">
                    <a16:creationId xmlns:a16="http://schemas.microsoft.com/office/drawing/2014/main" id="{A5EB87BB-9272-304F-BFB2-2584318AB65E}"/>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 name="Arc 67">
                <a:extLst>
                  <a:ext uri="{FF2B5EF4-FFF2-40B4-BE49-F238E27FC236}">
                    <a16:creationId xmlns:a16="http://schemas.microsoft.com/office/drawing/2014/main" id="{73FC238F-44F7-324C-A3F1-B5EB77E8A722}"/>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 name="Arc 68">
                <a:extLst>
                  <a:ext uri="{FF2B5EF4-FFF2-40B4-BE49-F238E27FC236}">
                    <a16:creationId xmlns:a16="http://schemas.microsoft.com/office/drawing/2014/main" id="{D6FB4D2A-715A-C345-842B-C84502BBEACD}"/>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 name="Arc 69">
                <a:extLst>
                  <a:ext uri="{FF2B5EF4-FFF2-40B4-BE49-F238E27FC236}">
                    <a16:creationId xmlns:a16="http://schemas.microsoft.com/office/drawing/2014/main" id="{CD2A82E9-A2FD-774E-9DA9-DAE9A5C541B1}"/>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 name="Arc 70">
                <a:extLst>
                  <a:ext uri="{FF2B5EF4-FFF2-40B4-BE49-F238E27FC236}">
                    <a16:creationId xmlns:a16="http://schemas.microsoft.com/office/drawing/2014/main" id="{77D75C2A-F69E-2947-ACA8-CE82F791846B}"/>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 name="Arc 71">
                <a:extLst>
                  <a:ext uri="{FF2B5EF4-FFF2-40B4-BE49-F238E27FC236}">
                    <a16:creationId xmlns:a16="http://schemas.microsoft.com/office/drawing/2014/main" id="{184CCB9C-098F-5E4D-9BD6-CA7FA3712F32}"/>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48" name="Group 210">
              <a:extLst>
                <a:ext uri="{FF2B5EF4-FFF2-40B4-BE49-F238E27FC236}">
                  <a16:creationId xmlns:a16="http://schemas.microsoft.com/office/drawing/2014/main" id="{52A9D5EF-CB30-3744-A86E-519A6C5119FD}"/>
                </a:ext>
              </a:extLst>
            </p:cNvPr>
            <p:cNvGrpSpPr>
              <a:grpSpLocks/>
            </p:cNvGrpSpPr>
            <p:nvPr/>
          </p:nvGrpSpPr>
          <p:grpSpPr bwMode="auto">
            <a:xfrm>
              <a:off x="10129055" y="4283606"/>
              <a:ext cx="304800" cy="762000"/>
              <a:chOff x="3216" y="1728"/>
              <a:chExt cx="192" cy="480"/>
            </a:xfrm>
          </p:grpSpPr>
          <p:sp>
            <p:nvSpPr>
              <p:cNvPr id="49" name="Line 8">
                <a:extLst>
                  <a:ext uri="{FF2B5EF4-FFF2-40B4-BE49-F238E27FC236}">
                    <a16:creationId xmlns:a16="http://schemas.microsoft.com/office/drawing/2014/main" id="{047F4C53-F732-7341-AD52-43289D5B98C6}"/>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 name="Line 9">
                <a:extLst>
                  <a:ext uri="{FF2B5EF4-FFF2-40B4-BE49-F238E27FC236}">
                    <a16:creationId xmlns:a16="http://schemas.microsoft.com/office/drawing/2014/main" id="{C0021467-8BF3-9E44-9235-400F41BD19E9}"/>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 name="Line 10">
                <a:extLst>
                  <a:ext uri="{FF2B5EF4-FFF2-40B4-BE49-F238E27FC236}">
                    <a16:creationId xmlns:a16="http://schemas.microsoft.com/office/drawing/2014/main" id="{5A3B287F-B7CB-9440-AD22-B3E5D1EB0043}"/>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 name="Line 11">
                <a:extLst>
                  <a:ext uri="{FF2B5EF4-FFF2-40B4-BE49-F238E27FC236}">
                    <a16:creationId xmlns:a16="http://schemas.microsoft.com/office/drawing/2014/main" id="{12A1AD2A-873F-D742-BE8D-02AC8B5A2F29}"/>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4" name="Group 13">
              <a:extLst>
                <a:ext uri="{FF2B5EF4-FFF2-40B4-BE49-F238E27FC236}">
                  <a16:creationId xmlns:a16="http://schemas.microsoft.com/office/drawing/2014/main" id="{20A047C4-72C1-DF44-B931-03CB84B9B9E5}"/>
                </a:ext>
              </a:extLst>
            </p:cNvPr>
            <p:cNvGrpSpPr>
              <a:grpSpLocks noChangeAspect="1"/>
            </p:cNvGrpSpPr>
            <p:nvPr/>
          </p:nvGrpSpPr>
          <p:grpSpPr bwMode="auto">
            <a:xfrm>
              <a:off x="8854463" y="4191211"/>
              <a:ext cx="228600" cy="228600"/>
              <a:chOff x="1344" y="2064"/>
              <a:chExt cx="192" cy="192"/>
            </a:xfrm>
          </p:grpSpPr>
          <p:sp>
            <p:nvSpPr>
              <p:cNvPr id="55" name="Oval 14">
                <a:extLst>
                  <a:ext uri="{FF2B5EF4-FFF2-40B4-BE49-F238E27FC236}">
                    <a16:creationId xmlns:a16="http://schemas.microsoft.com/office/drawing/2014/main" id="{F2ED8B16-EE0C-2248-B725-079C59DE0AA4}"/>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56" name="Rectangle 15">
                <a:extLst>
                  <a:ext uri="{FF2B5EF4-FFF2-40B4-BE49-F238E27FC236}">
                    <a16:creationId xmlns:a16="http://schemas.microsoft.com/office/drawing/2014/main" id="{8189AF83-649C-3D49-928A-C25A220E2D6E}"/>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57" name="Group 220">
              <a:extLst>
                <a:ext uri="{FF2B5EF4-FFF2-40B4-BE49-F238E27FC236}">
                  <a16:creationId xmlns:a16="http://schemas.microsoft.com/office/drawing/2014/main" id="{A5657710-B42D-F745-9AEE-40514BD442FB}"/>
                </a:ext>
              </a:extLst>
            </p:cNvPr>
            <p:cNvGrpSpPr>
              <a:grpSpLocks/>
            </p:cNvGrpSpPr>
            <p:nvPr/>
          </p:nvGrpSpPr>
          <p:grpSpPr bwMode="auto">
            <a:xfrm>
              <a:off x="10205255" y="5688709"/>
              <a:ext cx="152400" cy="304800"/>
              <a:chOff x="3264" y="3072"/>
              <a:chExt cx="96" cy="192"/>
            </a:xfrm>
          </p:grpSpPr>
          <p:sp>
            <p:nvSpPr>
              <p:cNvPr id="58" name="Line 17">
                <a:extLst>
                  <a:ext uri="{FF2B5EF4-FFF2-40B4-BE49-F238E27FC236}">
                    <a16:creationId xmlns:a16="http://schemas.microsoft.com/office/drawing/2014/main" id="{F6D9901F-AED2-F746-A470-C268F9700957}"/>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 name="Freeform 18">
                <a:extLst>
                  <a:ext uri="{FF2B5EF4-FFF2-40B4-BE49-F238E27FC236}">
                    <a16:creationId xmlns:a16="http://schemas.microsoft.com/office/drawing/2014/main" id="{E9FF418E-E255-4E45-939C-45B85112FC1F}"/>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60" name="Group 210">
              <a:extLst>
                <a:ext uri="{FF2B5EF4-FFF2-40B4-BE49-F238E27FC236}">
                  <a16:creationId xmlns:a16="http://schemas.microsoft.com/office/drawing/2014/main" id="{710F1841-F445-4649-9E3E-11570D49269F}"/>
                </a:ext>
              </a:extLst>
            </p:cNvPr>
            <p:cNvGrpSpPr>
              <a:grpSpLocks/>
            </p:cNvGrpSpPr>
            <p:nvPr/>
          </p:nvGrpSpPr>
          <p:grpSpPr bwMode="auto">
            <a:xfrm>
              <a:off x="10127399" y="4944557"/>
              <a:ext cx="304800" cy="762000"/>
              <a:chOff x="3216" y="1728"/>
              <a:chExt cx="192" cy="480"/>
            </a:xfrm>
          </p:grpSpPr>
          <p:sp>
            <p:nvSpPr>
              <p:cNvPr id="61" name="Line 8">
                <a:extLst>
                  <a:ext uri="{FF2B5EF4-FFF2-40B4-BE49-F238E27FC236}">
                    <a16:creationId xmlns:a16="http://schemas.microsoft.com/office/drawing/2014/main" id="{6DD03BB1-9D9A-7940-A485-511F8D1423B8}"/>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 name="Line 9">
                <a:extLst>
                  <a:ext uri="{FF2B5EF4-FFF2-40B4-BE49-F238E27FC236}">
                    <a16:creationId xmlns:a16="http://schemas.microsoft.com/office/drawing/2014/main" id="{F6705D44-9A7A-524A-BFE2-62286D0E6D38}"/>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 name="Line 10">
                <a:extLst>
                  <a:ext uri="{FF2B5EF4-FFF2-40B4-BE49-F238E27FC236}">
                    <a16:creationId xmlns:a16="http://schemas.microsoft.com/office/drawing/2014/main" id="{F6B1E89A-BFA8-764B-B1BA-24B2415CD7E6}"/>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 name="Line 11">
                <a:extLst>
                  <a:ext uri="{FF2B5EF4-FFF2-40B4-BE49-F238E27FC236}">
                    <a16:creationId xmlns:a16="http://schemas.microsoft.com/office/drawing/2014/main" id="{B9008ADC-9045-BF47-8BF7-307A7DE348A8}"/>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6" name="Freeform 12">
              <a:extLst>
                <a:ext uri="{FF2B5EF4-FFF2-40B4-BE49-F238E27FC236}">
                  <a16:creationId xmlns:a16="http://schemas.microsoft.com/office/drawing/2014/main" id="{6907248A-C8AE-3F4E-942E-3F009A888F25}"/>
                </a:ext>
              </a:extLst>
            </p:cNvPr>
            <p:cNvSpPr>
              <a:spLocks noChangeAspect="1"/>
            </p:cNvSpPr>
            <p:nvPr/>
          </p:nvSpPr>
          <p:spPr bwMode="auto">
            <a:xfrm>
              <a:off x="10732031" y="5032352"/>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67" name="Group 220">
              <a:extLst>
                <a:ext uri="{FF2B5EF4-FFF2-40B4-BE49-F238E27FC236}">
                  <a16:creationId xmlns:a16="http://schemas.microsoft.com/office/drawing/2014/main" id="{8CFBB0B7-629C-3F40-BAA2-D48C7F7F0620}"/>
                </a:ext>
              </a:extLst>
            </p:cNvPr>
            <p:cNvGrpSpPr>
              <a:grpSpLocks/>
            </p:cNvGrpSpPr>
            <p:nvPr/>
          </p:nvGrpSpPr>
          <p:grpSpPr bwMode="auto">
            <a:xfrm>
              <a:off x="10732031" y="5794352"/>
              <a:ext cx="152400" cy="304800"/>
              <a:chOff x="3264" y="3072"/>
              <a:chExt cx="96" cy="192"/>
            </a:xfrm>
          </p:grpSpPr>
          <p:sp>
            <p:nvSpPr>
              <p:cNvPr id="68" name="Line 17">
                <a:extLst>
                  <a:ext uri="{FF2B5EF4-FFF2-40B4-BE49-F238E27FC236}">
                    <a16:creationId xmlns:a16="http://schemas.microsoft.com/office/drawing/2014/main" id="{1B07F63E-7EC2-3842-A2FD-10725CBE5404}"/>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 name="Freeform 18">
                <a:extLst>
                  <a:ext uri="{FF2B5EF4-FFF2-40B4-BE49-F238E27FC236}">
                    <a16:creationId xmlns:a16="http://schemas.microsoft.com/office/drawing/2014/main" id="{9ED7A708-D79F-C940-9D38-73E6F5FB904D}"/>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cxnSp>
          <p:nvCxnSpPr>
            <p:cNvPr id="70" name="Straight Connector 69">
              <a:extLst>
                <a:ext uri="{FF2B5EF4-FFF2-40B4-BE49-F238E27FC236}">
                  <a16:creationId xmlns:a16="http://schemas.microsoft.com/office/drawing/2014/main" id="{D9A1E75A-B470-E94A-B4CC-6EF7BE45FD8C}"/>
                </a:ext>
              </a:extLst>
            </p:cNvPr>
            <p:cNvCxnSpPr>
              <a:cxnSpLocks/>
            </p:cNvCxnSpPr>
            <p:nvPr/>
          </p:nvCxnSpPr>
          <p:spPr>
            <a:xfrm>
              <a:off x="10268200" y="5045606"/>
              <a:ext cx="54240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16F23F-0678-9548-81DC-CF9D98A8669C}"/>
                </a:ext>
              </a:extLst>
            </p:cNvPr>
            <p:cNvCxnSpPr>
              <a:cxnSpLocks/>
            </p:cNvCxnSpPr>
            <p:nvPr/>
          </p:nvCxnSpPr>
          <p:spPr>
            <a:xfrm flipV="1">
              <a:off x="8943918" y="4296858"/>
              <a:ext cx="133753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2" name="Group 13">
              <a:extLst>
                <a:ext uri="{FF2B5EF4-FFF2-40B4-BE49-F238E27FC236}">
                  <a16:creationId xmlns:a16="http://schemas.microsoft.com/office/drawing/2014/main" id="{A79D864C-ED33-504D-B3F9-5574BBAD5561}"/>
                </a:ext>
              </a:extLst>
            </p:cNvPr>
            <p:cNvGrpSpPr>
              <a:grpSpLocks noChangeAspect="1"/>
            </p:cNvGrpSpPr>
            <p:nvPr/>
          </p:nvGrpSpPr>
          <p:grpSpPr bwMode="auto">
            <a:xfrm>
              <a:off x="10691552" y="4932961"/>
              <a:ext cx="228600" cy="228600"/>
              <a:chOff x="1344" y="2064"/>
              <a:chExt cx="192" cy="192"/>
            </a:xfrm>
          </p:grpSpPr>
          <p:sp>
            <p:nvSpPr>
              <p:cNvPr id="73" name="Oval 14">
                <a:extLst>
                  <a:ext uri="{FF2B5EF4-FFF2-40B4-BE49-F238E27FC236}">
                    <a16:creationId xmlns:a16="http://schemas.microsoft.com/office/drawing/2014/main" id="{6429093B-42B0-5248-9700-314A8E76D4F4}"/>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74" name="Rectangle 15">
                <a:extLst>
                  <a:ext uri="{FF2B5EF4-FFF2-40B4-BE49-F238E27FC236}">
                    <a16:creationId xmlns:a16="http://schemas.microsoft.com/office/drawing/2014/main" id="{7FCF37EE-1D9C-414D-A307-A241180C69BE}"/>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75" name="Group 220">
              <a:extLst>
                <a:ext uri="{FF2B5EF4-FFF2-40B4-BE49-F238E27FC236}">
                  <a16:creationId xmlns:a16="http://schemas.microsoft.com/office/drawing/2014/main" id="{5349CB74-4FAC-1340-888D-C79C464A3CA0}"/>
                </a:ext>
              </a:extLst>
            </p:cNvPr>
            <p:cNvGrpSpPr>
              <a:grpSpLocks/>
            </p:cNvGrpSpPr>
            <p:nvPr/>
          </p:nvGrpSpPr>
          <p:grpSpPr bwMode="auto">
            <a:xfrm>
              <a:off x="9483016" y="5006229"/>
              <a:ext cx="152400" cy="304800"/>
              <a:chOff x="3264" y="3072"/>
              <a:chExt cx="96" cy="192"/>
            </a:xfrm>
          </p:grpSpPr>
          <p:sp>
            <p:nvSpPr>
              <p:cNvPr id="76" name="Line 17">
                <a:extLst>
                  <a:ext uri="{FF2B5EF4-FFF2-40B4-BE49-F238E27FC236}">
                    <a16:creationId xmlns:a16="http://schemas.microsoft.com/office/drawing/2014/main" id="{301FE1F8-9424-5144-8D78-959F98508937}"/>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 name="Freeform 18">
                <a:extLst>
                  <a:ext uri="{FF2B5EF4-FFF2-40B4-BE49-F238E27FC236}">
                    <a16:creationId xmlns:a16="http://schemas.microsoft.com/office/drawing/2014/main" id="{66DC9496-9431-804B-8D61-1DF4D0910A91}"/>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F0AE3DF4-B50B-8147-BAC5-688C53D943A8}"/>
                    </a:ext>
                  </a:extLst>
                </p:cNvPr>
                <p:cNvSpPr txBox="1"/>
                <p:nvPr/>
              </p:nvSpPr>
              <p:spPr>
                <a:xfrm>
                  <a:off x="8764081" y="3846285"/>
                  <a:ext cx="441568"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oMath>
                    </m:oMathPara>
                  </a14:m>
                  <a:endParaRPr lang="en-US" dirty="0"/>
                </a:p>
              </p:txBody>
            </p:sp>
          </mc:Choice>
          <mc:Fallback xmlns="">
            <p:sp>
              <p:nvSpPr>
                <p:cNvPr id="83" name="TextBox 82">
                  <a:extLst>
                    <a:ext uri="{FF2B5EF4-FFF2-40B4-BE49-F238E27FC236}">
                      <a16:creationId xmlns:a16="http://schemas.microsoft.com/office/drawing/2014/main" id="{F0AE3DF4-B50B-8147-BAC5-688C53D943A8}"/>
                    </a:ext>
                  </a:extLst>
                </p:cNvPr>
                <p:cNvSpPr txBox="1">
                  <a:spLocks noRot="1" noChangeAspect="1" noMove="1" noResize="1" noEditPoints="1" noAdjustHandles="1" noChangeArrowheads="1" noChangeShapeType="1" noTextEdit="1"/>
                </p:cNvSpPr>
                <p:nvPr/>
              </p:nvSpPr>
              <p:spPr>
                <a:xfrm>
                  <a:off x="8764081" y="3846285"/>
                  <a:ext cx="441568"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4015ADD3-5F10-AC4C-AF19-43B52130C760}"/>
                    </a:ext>
                  </a:extLst>
                </p:cNvPr>
                <p:cNvSpPr txBox="1"/>
                <p:nvPr/>
              </p:nvSpPr>
              <p:spPr>
                <a:xfrm>
                  <a:off x="9731488" y="4495642"/>
                  <a:ext cx="441568"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1</m:t>
                            </m:r>
                          </m:sub>
                        </m:sSub>
                      </m:oMath>
                    </m:oMathPara>
                  </a14:m>
                  <a:endParaRPr lang="en-US" dirty="0"/>
                </a:p>
              </p:txBody>
            </p:sp>
          </mc:Choice>
          <mc:Fallback xmlns="">
            <p:sp>
              <p:nvSpPr>
                <p:cNvPr id="84" name="TextBox 83">
                  <a:extLst>
                    <a:ext uri="{FF2B5EF4-FFF2-40B4-BE49-F238E27FC236}">
                      <a16:creationId xmlns:a16="http://schemas.microsoft.com/office/drawing/2014/main" id="{4015ADD3-5F10-AC4C-AF19-43B52130C760}"/>
                    </a:ext>
                  </a:extLst>
                </p:cNvPr>
                <p:cNvSpPr txBox="1">
                  <a:spLocks noRot="1" noChangeAspect="1" noMove="1" noResize="1" noEditPoints="1" noAdjustHandles="1" noChangeArrowheads="1" noChangeShapeType="1" noTextEdit="1"/>
                </p:cNvSpPr>
                <p:nvPr/>
              </p:nvSpPr>
              <p:spPr>
                <a:xfrm>
                  <a:off x="9731488" y="4495642"/>
                  <a:ext cx="441568"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9D8D788C-B266-3247-AAC7-D99AF9C994B0}"/>
                    </a:ext>
                  </a:extLst>
                </p:cNvPr>
                <p:cNvSpPr txBox="1"/>
                <p:nvPr/>
              </p:nvSpPr>
              <p:spPr>
                <a:xfrm>
                  <a:off x="9751367" y="5058860"/>
                  <a:ext cx="441568"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2</m:t>
                            </m:r>
                          </m:sub>
                        </m:sSub>
                      </m:oMath>
                    </m:oMathPara>
                  </a14:m>
                  <a:endParaRPr lang="en-US" dirty="0"/>
                </a:p>
              </p:txBody>
            </p:sp>
          </mc:Choice>
          <mc:Fallback xmlns="">
            <p:sp>
              <p:nvSpPr>
                <p:cNvPr id="85" name="TextBox 84">
                  <a:extLst>
                    <a:ext uri="{FF2B5EF4-FFF2-40B4-BE49-F238E27FC236}">
                      <a16:creationId xmlns:a16="http://schemas.microsoft.com/office/drawing/2014/main" id="{9D8D788C-B266-3247-AAC7-D99AF9C994B0}"/>
                    </a:ext>
                  </a:extLst>
                </p:cNvPr>
                <p:cNvSpPr txBox="1">
                  <a:spLocks noRot="1" noChangeAspect="1" noMove="1" noResize="1" noEditPoints="1" noAdjustHandles="1" noChangeArrowheads="1" noChangeShapeType="1" noTextEdit="1"/>
                </p:cNvSpPr>
                <p:nvPr/>
              </p:nvSpPr>
              <p:spPr>
                <a:xfrm>
                  <a:off x="9751367" y="5058860"/>
                  <a:ext cx="441568"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071F1C5A-94D0-1345-956A-954207FC9FC5}"/>
                    </a:ext>
                  </a:extLst>
                </p:cNvPr>
                <p:cNvSpPr txBox="1"/>
                <p:nvPr/>
              </p:nvSpPr>
              <p:spPr>
                <a:xfrm>
                  <a:off x="10884428" y="5304026"/>
                  <a:ext cx="441568"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𝐿</m:t>
                            </m:r>
                          </m:sub>
                        </m:sSub>
                      </m:oMath>
                    </m:oMathPara>
                  </a14:m>
                  <a:endParaRPr lang="en-US" dirty="0"/>
                </a:p>
              </p:txBody>
            </p:sp>
          </mc:Choice>
          <mc:Fallback xmlns="">
            <p:sp>
              <p:nvSpPr>
                <p:cNvPr id="86" name="TextBox 85">
                  <a:extLst>
                    <a:ext uri="{FF2B5EF4-FFF2-40B4-BE49-F238E27FC236}">
                      <a16:creationId xmlns:a16="http://schemas.microsoft.com/office/drawing/2014/main" id="{071F1C5A-94D0-1345-956A-954207FC9FC5}"/>
                    </a:ext>
                  </a:extLst>
                </p:cNvPr>
                <p:cNvSpPr txBox="1">
                  <a:spLocks noRot="1" noChangeAspect="1" noMove="1" noResize="1" noEditPoints="1" noAdjustHandles="1" noChangeArrowheads="1" noChangeShapeType="1" noTextEdit="1"/>
                </p:cNvSpPr>
                <p:nvPr/>
              </p:nvSpPr>
              <p:spPr>
                <a:xfrm>
                  <a:off x="10884428" y="5304026"/>
                  <a:ext cx="441568"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77174B80-237C-2E42-A4EC-0F22C36381D0}"/>
                    </a:ext>
                  </a:extLst>
                </p:cNvPr>
                <p:cNvSpPr txBox="1"/>
                <p:nvPr/>
              </p:nvSpPr>
              <p:spPr>
                <a:xfrm>
                  <a:off x="10864551" y="4886582"/>
                  <a:ext cx="441568"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𝑜</m:t>
                            </m:r>
                          </m:sub>
                        </m:sSub>
                      </m:oMath>
                    </m:oMathPara>
                  </a14:m>
                  <a:endParaRPr lang="en-US" dirty="0"/>
                </a:p>
              </p:txBody>
            </p:sp>
          </mc:Choice>
          <mc:Fallback xmlns="">
            <p:sp>
              <p:nvSpPr>
                <p:cNvPr id="87" name="TextBox 86">
                  <a:extLst>
                    <a:ext uri="{FF2B5EF4-FFF2-40B4-BE49-F238E27FC236}">
                      <a16:creationId xmlns:a16="http://schemas.microsoft.com/office/drawing/2014/main" id="{77174B80-237C-2E42-A4EC-0F22C36381D0}"/>
                    </a:ext>
                  </a:extLst>
                </p:cNvPr>
                <p:cNvSpPr txBox="1">
                  <a:spLocks noRot="1" noChangeAspect="1" noMove="1" noResize="1" noEditPoints="1" noAdjustHandles="1" noChangeArrowheads="1" noChangeShapeType="1" noTextEdit="1"/>
                </p:cNvSpPr>
                <p:nvPr/>
              </p:nvSpPr>
              <p:spPr>
                <a:xfrm>
                  <a:off x="10864551" y="4886582"/>
                  <a:ext cx="441568"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DE1A46A9-05E4-8049-AA1C-933105FECA76}"/>
                    </a:ext>
                  </a:extLst>
                </p:cNvPr>
                <p:cNvSpPr txBox="1"/>
                <p:nvPr/>
              </p:nvSpPr>
              <p:spPr>
                <a:xfrm>
                  <a:off x="9115261" y="4449261"/>
                  <a:ext cx="441568"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rPr>
                          <m:t>𝐿</m:t>
                        </m:r>
                      </m:oMath>
                    </m:oMathPara>
                  </a14:m>
                  <a:endParaRPr lang="en-US" dirty="0"/>
                </a:p>
              </p:txBody>
            </p:sp>
          </mc:Choice>
          <mc:Fallback xmlns="">
            <p:sp>
              <p:nvSpPr>
                <p:cNvPr id="88" name="TextBox 87">
                  <a:extLst>
                    <a:ext uri="{FF2B5EF4-FFF2-40B4-BE49-F238E27FC236}">
                      <a16:creationId xmlns:a16="http://schemas.microsoft.com/office/drawing/2014/main" id="{DE1A46A9-05E4-8049-AA1C-933105FECA76}"/>
                    </a:ext>
                  </a:extLst>
                </p:cNvPr>
                <p:cNvSpPr txBox="1">
                  <a:spLocks noRot="1" noChangeAspect="1" noMove="1" noResize="1" noEditPoints="1" noAdjustHandles="1" noChangeArrowheads="1" noChangeShapeType="1" noTextEdit="1"/>
                </p:cNvSpPr>
                <p:nvPr/>
              </p:nvSpPr>
              <p:spPr>
                <a:xfrm>
                  <a:off x="9115261" y="4449261"/>
                  <a:ext cx="441568" cy="369332"/>
                </a:xfrm>
                <a:prstGeom prst="rect">
                  <a:avLst/>
                </a:prstGeom>
                <a:blipFill>
                  <a:blip r:embed="rId14"/>
                  <a:stretch>
                    <a:fillRect/>
                  </a:stretch>
                </a:blipFill>
              </p:spPr>
              <p:txBody>
                <a:bodyPr/>
                <a:lstStyle/>
                <a:p>
                  <a:r>
                    <a:rPr lang="en-US">
                      <a:noFill/>
                    </a:rPr>
                    <a:t> </a:t>
                  </a:r>
                </a:p>
              </p:txBody>
            </p:sp>
          </mc:Fallback>
        </mc:AlternateContent>
        <p:grpSp>
          <p:nvGrpSpPr>
            <p:cNvPr id="93" name="Group 13">
              <a:extLst>
                <a:ext uri="{FF2B5EF4-FFF2-40B4-BE49-F238E27FC236}">
                  <a16:creationId xmlns:a16="http://schemas.microsoft.com/office/drawing/2014/main" id="{974E7EF0-0F85-9E0C-58D7-EAA142FF7DD0}"/>
                </a:ext>
              </a:extLst>
            </p:cNvPr>
            <p:cNvGrpSpPr>
              <a:grpSpLocks noChangeAspect="1"/>
            </p:cNvGrpSpPr>
            <p:nvPr/>
          </p:nvGrpSpPr>
          <p:grpSpPr bwMode="auto">
            <a:xfrm>
              <a:off x="10170852" y="4945661"/>
              <a:ext cx="228600" cy="228600"/>
              <a:chOff x="1344" y="2064"/>
              <a:chExt cx="192" cy="192"/>
            </a:xfrm>
          </p:grpSpPr>
          <p:sp>
            <p:nvSpPr>
              <p:cNvPr id="94" name="Oval 14">
                <a:extLst>
                  <a:ext uri="{FF2B5EF4-FFF2-40B4-BE49-F238E27FC236}">
                    <a16:creationId xmlns:a16="http://schemas.microsoft.com/office/drawing/2014/main" id="{AC78FA74-3C62-2DB4-CC44-E397149EA2AB}"/>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95" name="Rectangle 15">
                <a:extLst>
                  <a:ext uri="{FF2B5EF4-FFF2-40B4-BE49-F238E27FC236}">
                    <a16:creationId xmlns:a16="http://schemas.microsoft.com/office/drawing/2014/main" id="{0DE8CF95-126D-2B88-FBA0-0E1BF2A9D24D}"/>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spTree>
    <p:extLst>
      <p:ext uri="{BB962C8B-B14F-4D97-AF65-F5344CB8AC3E}">
        <p14:creationId xmlns:p14="http://schemas.microsoft.com/office/powerpoint/2010/main" val="174220948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728424" y="136525"/>
            <a:ext cx="10515600" cy="869909"/>
          </a:xfrm>
        </p:spPr>
        <p:txBody>
          <a:bodyPr/>
          <a:lstStyle/>
          <a:p>
            <a:pPr algn="ctr"/>
            <a:r>
              <a:rPr lang="en-US" dirty="0">
                <a:latin typeface="Calibri" panose="020F0502020204030204" pitchFamily="34" charset="0"/>
                <a:cs typeface="Calibri" panose="020F0502020204030204" pitchFamily="34" charset="0"/>
              </a:rPr>
              <a:t>RF Amp</a:t>
            </a:r>
          </a:p>
        </p:txBody>
      </p:sp>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68</a:t>
            </a:fld>
            <a:endParaRPr lang="en-US"/>
          </a:p>
        </p:txBody>
      </p:sp>
      <p:grpSp>
        <p:nvGrpSpPr>
          <p:cNvPr id="3" name="Group 2">
            <a:extLst>
              <a:ext uri="{FF2B5EF4-FFF2-40B4-BE49-F238E27FC236}">
                <a16:creationId xmlns:a16="http://schemas.microsoft.com/office/drawing/2014/main" id="{3E6F1C72-0D41-FD43-82CD-C9EDD7B9472E}"/>
              </a:ext>
            </a:extLst>
          </p:cNvPr>
          <p:cNvGrpSpPr/>
          <p:nvPr/>
        </p:nvGrpSpPr>
        <p:grpSpPr>
          <a:xfrm>
            <a:off x="3361313" y="1576644"/>
            <a:ext cx="5469373" cy="4029445"/>
            <a:chOff x="3361313" y="1918167"/>
            <a:chExt cx="5469373" cy="4029445"/>
          </a:xfrm>
        </p:grpSpPr>
        <p:sp>
          <p:nvSpPr>
            <p:cNvPr id="481" name="TextBox 480">
              <a:extLst>
                <a:ext uri="{FF2B5EF4-FFF2-40B4-BE49-F238E27FC236}">
                  <a16:creationId xmlns:a16="http://schemas.microsoft.com/office/drawing/2014/main" id="{F5C58CBF-C859-5541-9819-299845070B9A}"/>
                </a:ext>
              </a:extLst>
            </p:cNvPr>
            <p:cNvSpPr txBox="1"/>
            <p:nvPr/>
          </p:nvSpPr>
          <p:spPr>
            <a:xfrm flipH="1">
              <a:off x="4205260" y="1918167"/>
              <a:ext cx="571748"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9V</a:t>
              </a:r>
              <a:endParaRPr lang="en-US" sz="1400" dirty="0">
                <a:solidFill>
                  <a:srgbClr val="000000"/>
                </a:solidFill>
                <a:latin typeface="Calibri"/>
                <a:ea typeface="Calibri"/>
                <a:cs typeface="Calibri"/>
                <a:sym typeface="Calibri"/>
              </a:endParaRPr>
            </a:p>
          </p:txBody>
        </p:sp>
        <p:grpSp>
          <p:nvGrpSpPr>
            <p:cNvPr id="483" name="Group 478">
              <a:extLst>
                <a:ext uri="{FF2B5EF4-FFF2-40B4-BE49-F238E27FC236}">
                  <a16:creationId xmlns:a16="http://schemas.microsoft.com/office/drawing/2014/main" id="{F560B425-1942-8E4F-91C3-58ED0E9C09BB}"/>
                </a:ext>
              </a:extLst>
            </p:cNvPr>
            <p:cNvGrpSpPr>
              <a:grpSpLocks/>
            </p:cNvGrpSpPr>
            <p:nvPr/>
          </p:nvGrpSpPr>
          <p:grpSpPr bwMode="auto">
            <a:xfrm flipH="1">
              <a:off x="6485545" y="4158666"/>
              <a:ext cx="437080" cy="668991"/>
              <a:chOff x="4656" y="1344"/>
              <a:chExt cx="192" cy="384"/>
            </a:xfrm>
          </p:grpSpPr>
          <p:sp>
            <p:nvSpPr>
              <p:cNvPr id="523" name="Freeform 522">
                <a:extLst>
                  <a:ext uri="{FF2B5EF4-FFF2-40B4-BE49-F238E27FC236}">
                    <a16:creationId xmlns:a16="http://schemas.microsoft.com/office/drawing/2014/main" id="{93C557CC-C7D2-F249-8E52-8D1B9E4A149A}"/>
                  </a:ext>
                </a:extLst>
              </p:cNvPr>
              <p:cNvSpPr>
                <a:spLocks noChangeAspect="1"/>
              </p:cNvSpPr>
              <p:nvPr/>
            </p:nvSpPr>
            <p:spPr bwMode="auto">
              <a:xfrm>
                <a:off x="4656" y="1344"/>
                <a:ext cx="99" cy="384"/>
              </a:xfrm>
              <a:custGeom>
                <a:avLst/>
                <a:gdLst/>
                <a:ahLst/>
                <a:cxnLst>
                  <a:cxn ang="0">
                    <a:pos x="0" y="0"/>
                  </a:cxn>
                  <a:cxn ang="0">
                    <a:pos x="0" y="192"/>
                  </a:cxn>
                  <a:cxn ang="0">
                    <a:pos x="192" y="288"/>
                  </a:cxn>
                  <a:cxn ang="0">
                    <a:pos x="192" y="480"/>
                  </a:cxn>
                  <a:cxn ang="0">
                    <a:pos x="0" y="576"/>
                  </a:cxn>
                  <a:cxn ang="0">
                    <a:pos x="0" y="768"/>
                  </a:cxn>
                </a:cxnLst>
                <a:rect l="0" t="0" r="r" b="b"/>
                <a:pathLst>
                  <a:path w="192" h="768">
                    <a:moveTo>
                      <a:pt x="0" y="0"/>
                    </a:moveTo>
                    <a:lnTo>
                      <a:pt x="0" y="192"/>
                    </a:lnTo>
                    <a:lnTo>
                      <a:pt x="192" y="288"/>
                    </a:lnTo>
                    <a:lnTo>
                      <a:pt x="192" y="480"/>
                    </a:lnTo>
                    <a:lnTo>
                      <a:pt x="0" y="576"/>
                    </a:lnTo>
                    <a:lnTo>
                      <a:pt x="0" y="768"/>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524" name="Line 36">
                <a:extLst>
                  <a:ext uri="{FF2B5EF4-FFF2-40B4-BE49-F238E27FC236}">
                    <a16:creationId xmlns:a16="http://schemas.microsoft.com/office/drawing/2014/main" id="{91BCBE8F-CACC-724D-9461-66CE23E8C10C}"/>
                  </a:ext>
                </a:extLst>
              </p:cNvPr>
              <p:cNvSpPr>
                <a:spLocks noChangeAspect="1" noChangeShapeType="1"/>
              </p:cNvSpPr>
              <p:nvPr/>
            </p:nvSpPr>
            <p:spPr bwMode="auto">
              <a:xfrm>
                <a:off x="4755" y="1440"/>
                <a:ext cx="0" cy="192"/>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525" name="Line 37">
                <a:extLst>
                  <a:ext uri="{FF2B5EF4-FFF2-40B4-BE49-F238E27FC236}">
                    <a16:creationId xmlns:a16="http://schemas.microsoft.com/office/drawing/2014/main" id="{2146A595-3A5E-7543-9B6C-2040622F542E}"/>
                  </a:ext>
                </a:extLst>
              </p:cNvPr>
              <p:cNvSpPr>
                <a:spLocks noChangeAspect="1" noChangeShapeType="1"/>
              </p:cNvSpPr>
              <p:nvPr/>
            </p:nvSpPr>
            <p:spPr bwMode="auto">
              <a:xfrm>
                <a:off x="4755" y="1536"/>
                <a:ext cx="93"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526" name="Freeform 525">
                <a:extLst>
                  <a:ext uri="{FF2B5EF4-FFF2-40B4-BE49-F238E27FC236}">
                    <a16:creationId xmlns:a16="http://schemas.microsoft.com/office/drawing/2014/main" id="{C441896A-7402-FA4F-8F1F-C71EFE146384}"/>
                  </a:ext>
                </a:extLst>
              </p:cNvPr>
              <p:cNvSpPr>
                <a:spLocks noChangeAspect="1"/>
              </p:cNvSpPr>
              <p:nvPr/>
            </p:nvSpPr>
            <p:spPr bwMode="auto">
              <a:xfrm rot="20040000">
                <a:off x="4656" y="1597"/>
                <a:ext cx="48" cy="48"/>
              </a:xfrm>
              <a:custGeom>
                <a:avLst/>
                <a:gdLst/>
                <a:ahLst/>
                <a:cxnLst>
                  <a:cxn ang="0">
                    <a:pos x="0" y="48"/>
                  </a:cxn>
                  <a:cxn ang="0">
                    <a:pos x="96" y="0"/>
                  </a:cxn>
                  <a:cxn ang="0">
                    <a:pos x="96" y="96"/>
                  </a:cxn>
                  <a:cxn ang="0">
                    <a:pos x="0" y="48"/>
                  </a:cxn>
                </a:cxnLst>
                <a:rect l="0" t="0" r="r" b="b"/>
                <a:pathLst>
                  <a:path w="96" h="96">
                    <a:moveTo>
                      <a:pt x="0" y="48"/>
                    </a:moveTo>
                    <a:lnTo>
                      <a:pt x="96" y="0"/>
                    </a:lnTo>
                    <a:lnTo>
                      <a:pt x="96" y="96"/>
                    </a:lnTo>
                    <a:lnTo>
                      <a:pt x="0" y="48"/>
                    </a:lnTo>
                    <a:close/>
                  </a:path>
                </a:pathLst>
              </a:custGeom>
              <a:solidFill>
                <a:schemeClr val="tx1"/>
              </a:solidFill>
              <a:ln w="25400" cmpd="sng">
                <a:solidFill>
                  <a:schemeClr val="tx1"/>
                </a:solidFill>
                <a:round/>
                <a:headEnd/>
                <a:tailEnd/>
              </a:ln>
              <a:effectLst/>
            </p:spPr>
            <p:txBody>
              <a:bodyPr>
                <a:prstTxWarp prst="textNoShape">
                  <a:avLst/>
                </a:prstTxWarp>
              </a:bodyPr>
              <a:lstStyle/>
              <a:p>
                <a:endParaRPr lang="en-US" sz="1200"/>
              </a:p>
            </p:txBody>
          </p:sp>
        </p:grpSp>
        <p:sp>
          <p:nvSpPr>
            <p:cNvPr id="573" name="TextBox 572">
              <a:extLst>
                <a:ext uri="{FF2B5EF4-FFF2-40B4-BE49-F238E27FC236}">
                  <a16:creationId xmlns:a16="http://schemas.microsoft.com/office/drawing/2014/main" id="{0E1A3FED-8333-7547-A766-AED1F94EEF8A}"/>
                </a:ext>
              </a:extLst>
            </p:cNvPr>
            <p:cNvSpPr txBox="1"/>
            <p:nvPr/>
          </p:nvSpPr>
          <p:spPr>
            <a:xfrm>
              <a:off x="4691603" y="4164528"/>
              <a:ext cx="718688" cy="338554"/>
            </a:xfrm>
            <a:prstGeom prst="rect">
              <a:avLst/>
            </a:prstGeom>
            <a:noFill/>
          </p:spPr>
          <p:txBody>
            <a:bodyPr wrap="square" rtlCol="0">
              <a:spAutoFit/>
            </a:bodyPr>
            <a:lstStyle/>
            <a:p>
              <a:r>
                <a:rPr lang="en-US" sz="1600" dirty="0"/>
                <a:t>in</a:t>
              </a:r>
            </a:p>
          </p:txBody>
        </p:sp>
        <p:sp>
          <p:nvSpPr>
            <p:cNvPr id="675" name="Oval 674">
              <a:extLst>
                <a:ext uri="{FF2B5EF4-FFF2-40B4-BE49-F238E27FC236}">
                  <a16:creationId xmlns:a16="http://schemas.microsoft.com/office/drawing/2014/main" id="{9FDFB0CD-9F33-F644-9422-E69184A26C1D}"/>
                </a:ext>
              </a:extLst>
            </p:cNvPr>
            <p:cNvSpPr>
              <a:spLocks noChangeAspect="1" noChangeArrowheads="1"/>
            </p:cNvSpPr>
            <p:nvPr/>
          </p:nvSpPr>
          <p:spPr bwMode="auto">
            <a:xfrm>
              <a:off x="5724851" y="4409876"/>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687" name="Group 210">
              <a:extLst>
                <a:ext uri="{FF2B5EF4-FFF2-40B4-BE49-F238E27FC236}">
                  <a16:creationId xmlns:a16="http://schemas.microsoft.com/office/drawing/2014/main" id="{B538BCA2-9066-0B4D-B7EB-394950435983}"/>
                </a:ext>
              </a:extLst>
            </p:cNvPr>
            <p:cNvGrpSpPr>
              <a:grpSpLocks/>
            </p:cNvGrpSpPr>
            <p:nvPr/>
          </p:nvGrpSpPr>
          <p:grpSpPr bwMode="auto">
            <a:xfrm>
              <a:off x="3361313" y="3057952"/>
              <a:ext cx="304800" cy="762000"/>
              <a:chOff x="3216" y="1728"/>
              <a:chExt cx="192" cy="480"/>
            </a:xfrm>
          </p:grpSpPr>
          <p:sp>
            <p:nvSpPr>
              <p:cNvPr id="712" name="Line 8">
                <a:extLst>
                  <a:ext uri="{FF2B5EF4-FFF2-40B4-BE49-F238E27FC236}">
                    <a16:creationId xmlns:a16="http://schemas.microsoft.com/office/drawing/2014/main" id="{6C77E5EE-3079-4944-9BA3-D2D355A4AB18}"/>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3" name="Line 9">
                <a:extLst>
                  <a:ext uri="{FF2B5EF4-FFF2-40B4-BE49-F238E27FC236}">
                    <a16:creationId xmlns:a16="http://schemas.microsoft.com/office/drawing/2014/main" id="{B50DD889-2ABC-704E-92F2-D95035108911}"/>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4" name="Line 10">
                <a:extLst>
                  <a:ext uri="{FF2B5EF4-FFF2-40B4-BE49-F238E27FC236}">
                    <a16:creationId xmlns:a16="http://schemas.microsoft.com/office/drawing/2014/main" id="{8E62A679-E34B-974F-8FA4-C6F322B2432F}"/>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5" name="Line 11">
                <a:extLst>
                  <a:ext uri="{FF2B5EF4-FFF2-40B4-BE49-F238E27FC236}">
                    <a16:creationId xmlns:a16="http://schemas.microsoft.com/office/drawing/2014/main" id="{21AB4D70-3BE4-A645-837B-ADF452B1C374}"/>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88" name="Freeform 687">
              <a:extLst>
                <a:ext uri="{FF2B5EF4-FFF2-40B4-BE49-F238E27FC236}">
                  <a16:creationId xmlns:a16="http://schemas.microsoft.com/office/drawing/2014/main" id="{626390E8-7AB6-DC48-957D-21129B3D8076}"/>
                </a:ext>
              </a:extLst>
            </p:cNvPr>
            <p:cNvSpPr>
              <a:spLocks noChangeAspect="1"/>
            </p:cNvSpPr>
            <p:nvPr/>
          </p:nvSpPr>
          <p:spPr bwMode="auto">
            <a:xfrm>
              <a:off x="5710993" y="3074746"/>
              <a:ext cx="165855" cy="836239"/>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690" name="Group 222">
              <a:extLst>
                <a:ext uri="{FF2B5EF4-FFF2-40B4-BE49-F238E27FC236}">
                  <a16:creationId xmlns:a16="http://schemas.microsoft.com/office/drawing/2014/main" id="{D03060DD-E039-4747-8CAA-AA5E4D61F30C}"/>
                </a:ext>
              </a:extLst>
            </p:cNvPr>
            <p:cNvGrpSpPr>
              <a:grpSpLocks/>
            </p:cNvGrpSpPr>
            <p:nvPr/>
          </p:nvGrpSpPr>
          <p:grpSpPr bwMode="auto">
            <a:xfrm>
              <a:off x="3368656" y="3613538"/>
              <a:ext cx="304800" cy="381000"/>
              <a:chOff x="4272" y="3072"/>
              <a:chExt cx="192" cy="240"/>
            </a:xfrm>
          </p:grpSpPr>
          <p:sp>
            <p:nvSpPr>
              <p:cNvPr id="700" name="Line 99">
                <a:extLst>
                  <a:ext uri="{FF2B5EF4-FFF2-40B4-BE49-F238E27FC236}">
                    <a16:creationId xmlns:a16="http://schemas.microsoft.com/office/drawing/2014/main" id="{8128633A-DE98-AD4C-BF69-A3D99BA17E0F}"/>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1" name="Line 100">
                <a:extLst>
                  <a:ext uri="{FF2B5EF4-FFF2-40B4-BE49-F238E27FC236}">
                    <a16:creationId xmlns:a16="http://schemas.microsoft.com/office/drawing/2014/main" id="{C4334777-5B43-BA45-AA95-44CFEB7728B5}"/>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2" name="Line 101">
                <a:extLst>
                  <a:ext uri="{FF2B5EF4-FFF2-40B4-BE49-F238E27FC236}">
                    <a16:creationId xmlns:a16="http://schemas.microsoft.com/office/drawing/2014/main" id="{5CE7AE29-434B-EF4C-84E2-30E3E32342D2}"/>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3" name="Line 102">
                <a:extLst>
                  <a:ext uri="{FF2B5EF4-FFF2-40B4-BE49-F238E27FC236}">
                    <a16:creationId xmlns:a16="http://schemas.microsoft.com/office/drawing/2014/main" id="{159311E8-DA8D-CC40-8B85-89C30494A072}"/>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4" name="Line 103">
                <a:extLst>
                  <a:ext uri="{FF2B5EF4-FFF2-40B4-BE49-F238E27FC236}">
                    <a16:creationId xmlns:a16="http://schemas.microsoft.com/office/drawing/2014/main" id="{263BA02C-316D-264F-8CE6-DAD485694763}"/>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5" name="Line 104">
                <a:extLst>
                  <a:ext uri="{FF2B5EF4-FFF2-40B4-BE49-F238E27FC236}">
                    <a16:creationId xmlns:a16="http://schemas.microsoft.com/office/drawing/2014/main" id="{EEC1C355-BA50-DC45-A5B9-336D291730F0}"/>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91" name="Freeform 690">
              <a:extLst>
                <a:ext uri="{FF2B5EF4-FFF2-40B4-BE49-F238E27FC236}">
                  <a16:creationId xmlns:a16="http://schemas.microsoft.com/office/drawing/2014/main" id="{13DF603D-8DC2-324A-8CB8-E0CE17B3B07C}"/>
                </a:ext>
              </a:extLst>
            </p:cNvPr>
            <p:cNvSpPr>
              <a:spLocks noChangeAspect="1"/>
            </p:cNvSpPr>
            <p:nvPr/>
          </p:nvSpPr>
          <p:spPr bwMode="auto">
            <a:xfrm>
              <a:off x="6840130" y="4786613"/>
              <a:ext cx="165855" cy="836239"/>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692" name="Group 222">
              <a:extLst>
                <a:ext uri="{FF2B5EF4-FFF2-40B4-BE49-F238E27FC236}">
                  <a16:creationId xmlns:a16="http://schemas.microsoft.com/office/drawing/2014/main" id="{3EAE7021-7A20-164A-B23E-6209BEA0292D}"/>
                </a:ext>
              </a:extLst>
            </p:cNvPr>
            <p:cNvGrpSpPr>
              <a:grpSpLocks/>
            </p:cNvGrpSpPr>
            <p:nvPr/>
          </p:nvGrpSpPr>
          <p:grpSpPr bwMode="auto">
            <a:xfrm>
              <a:off x="6776343" y="5566612"/>
              <a:ext cx="304800" cy="381000"/>
              <a:chOff x="4272" y="3072"/>
              <a:chExt cx="192" cy="240"/>
            </a:xfrm>
          </p:grpSpPr>
          <p:sp>
            <p:nvSpPr>
              <p:cNvPr id="694" name="Line 99">
                <a:extLst>
                  <a:ext uri="{FF2B5EF4-FFF2-40B4-BE49-F238E27FC236}">
                    <a16:creationId xmlns:a16="http://schemas.microsoft.com/office/drawing/2014/main" id="{03B28F80-E06A-134E-B508-8AA240CB7527}"/>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5" name="Line 100">
                <a:extLst>
                  <a:ext uri="{FF2B5EF4-FFF2-40B4-BE49-F238E27FC236}">
                    <a16:creationId xmlns:a16="http://schemas.microsoft.com/office/drawing/2014/main" id="{46295122-8D12-4743-B0AC-C127999AFEDD}"/>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 name="Line 101">
                <a:extLst>
                  <a:ext uri="{FF2B5EF4-FFF2-40B4-BE49-F238E27FC236}">
                    <a16:creationId xmlns:a16="http://schemas.microsoft.com/office/drawing/2014/main" id="{C88FECEA-4528-DC44-8D30-D07E1C4C46D6}"/>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 name="Line 102">
                <a:extLst>
                  <a:ext uri="{FF2B5EF4-FFF2-40B4-BE49-F238E27FC236}">
                    <a16:creationId xmlns:a16="http://schemas.microsoft.com/office/drawing/2014/main" id="{AB457583-AD0E-C649-9022-B63EF8A1978C}"/>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8" name="Line 103">
                <a:extLst>
                  <a:ext uri="{FF2B5EF4-FFF2-40B4-BE49-F238E27FC236}">
                    <a16:creationId xmlns:a16="http://schemas.microsoft.com/office/drawing/2014/main" id="{D5E9A508-0C5C-3143-9541-4B9EAF97BFA2}"/>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9" name="Line 104">
                <a:extLst>
                  <a:ext uri="{FF2B5EF4-FFF2-40B4-BE49-F238E27FC236}">
                    <a16:creationId xmlns:a16="http://schemas.microsoft.com/office/drawing/2014/main" id="{C867C164-C1AA-444E-A41D-84F82A869E6E}"/>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62" name="Freeform 761">
              <a:extLst>
                <a:ext uri="{FF2B5EF4-FFF2-40B4-BE49-F238E27FC236}">
                  <a16:creationId xmlns:a16="http://schemas.microsoft.com/office/drawing/2014/main" id="{4D17F137-D285-D247-8FF1-71D59B47DA8D}"/>
                </a:ext>
              </a:extLst>
            </p:cNvPr>
            <p:cNvSpPr>
              <a:spLocks noChangeAspect="1"/>
            </p:cNvSpPr>
            <p:nvPr/>
          </p:nvSpPr>
          <p:spPr bwMode="auto">
            <a:xfrm rot="5400000">
              <a:off x="3841948" y="2654369"/>
              <a:ext cx="165855" cy="836239"/>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764" name="Group 210">
              <a:extLst>
                <a:ext uri="{FF2B5EF4-FFF2-40B4-BE49-F238E27FC236}">
                  <a16:creationId xmlns:a16="http://schemas.microsoft.com/office/drawing/2014/main" id="{25CD1232-52C3-6049-AB4D-3022768BCA15}"/>
                </a:ext>
              </a:extLst>
            </p:cNvPr>
            <p:cNvGrpSpPr>
              <a:grpSpLocks/>
            </p:cNvGrpSpPr>
            <p:nvPr/>
          </p:nvGrpSpPr>
          <p:grpSpPr bwMode="auto">
            <a:xfrm rot="5400000">
              <a:off x="5270029" y="4100199"/>
              <a:ext cx="304800" cy="762000"/>
              <a:chOff x="3216" y="1728"/>
              <a:chExt cx="192" cy="480"/>
            </a:xfrm>
          </p:grpSpPr>
          <p:sp>
            <p:nvSpPr>
              <p:cNvPr id="765" name="Line 8">
                <a:extLst>
                  <a:ext uri="{FF2B5EF4-FFF2-40B4-BE49-F238E27FC236}">
                    <a16:creationId xmlns:a16="http://schemas.microsoft.com/office/drawing/2014/main" id="{17D2E54B-D4FB-5149-B8D5-6C6D219A0623}"/>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6" name="Line 9">
                <a:extLst>
                  <a:ext uri="{FF2B5EF4-FFF2-40B4-BE49-F238E27FC236}">
                    <a16:creationId xmlns:a16="http://schemas.microsoft.com/office/drawing/2014/main" id="{7711B630-2258-7C4B-BC2E-B5E356C05D4C}"/>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7" name="Line 10">
                <a:extLst>
                  <a:ext uri="{FF2B5EF4-FFF2-40B4-BE49-F238E27FC236}">
                    <a16:creationId xmlns:a16="http://schemas.microsoft.com/office/drawing/2014/main" id="{D15D2165-2069-B44D-A8C2-DD345C6421E6}"/>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 name="Line 11">
                <a:extLst>
                  <a:ext uri="{FF2B5EF4-FFF2-40B4-BE49-F238E27FC236}">
                    <a16:creationId xmlns:a16="http://schemas.microsoft.com/office/drawing/2014/main" id="{2C603981-4805-BC48-9EDE-C2634DB6A8FD}"/>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74" name="Oval 773">
              <a:extLst>
                <a:ext uri="{FF2B5EF4-FFF2-40B4-BE49-F238E27FC236}">
                  <a16:creationId xmlns:a16="http://schemas.microsoft.com/office/drawing/2014/main" id="{70E419B7-018E-8D4B-A26F-A12B8E14BE98}"/>
                </a:ext>
              </a:extLst>
            </p:cNvPr>
            <p:cNvSpPr>
              <a:spLocks noChangeAspect="1" noChangeArrowheads="1"/>
            </p:cNvSpPr>
            <p:nvPr/>
          </p:nvSpPr>
          <p:spPr bwMode="auto">
            <a:xfrm>
              <a:off x="4220427" y="2317383"/>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776" name="Freeform 775">
              <a:extLst>
                <a:ext uri="{FF2B5EF4-FFF2-40B4-BE49-F238E27FC236}">
                  <a16:creationId xmlns:a16="http://schemas.microsoft.com/office/drawing/2014/main" id="{81060E42-0075-1340-BDCE-7C993D5EAC9D}"/>
                </a:ext>
              </a:extLst>
            </p:cNvPr>
            <p:cNvSpPr>
              <a:spLocks noChangeAspect="1"/>
            </p:cNvSpPr>
            <p:nvPr/>
          </p:nvSpPr>
          <p:spPr bwMode="auto">
            <a:xfrm>
              <a:off x="5722096" y="4487595"/>
              <a:ext cx="165855" cy="836239"/>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777" name="Straight Connector 776">
              <a:extLst>
                <a:ext uri="{FF2B5EF4-FFF2-40B4-BE49-F238E27FC236}">
                  <a16:creationId xmlns:a16="http://schemas.microsoft.com/office/drawing/2014/main" id="{5DFA8A91-170B-384B-AA70-571DB5E1CD9D}"/>
                </a:ext>
              </a:extLst>
            </p:cNvPr>
            <p:cNvCxnSpPr>
              <a:cxnSpLocks/>
            </p:cNvCxnSpPr>
            <p:nvPr/>
          </p:nvCxnSpPr>
          <p:spPr>
            <a:xfrm>
              <a:off x="7290194" y="3492491"/>
              <a:ext cx="88891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8" name="Straight Connector 777">
              <a:extLst>
                <a:ext uri="{FF2B5EF4-FFF2-40B4-BE49-F238E27FC236}">
                  <a16:creationId xmlns:a16="http://schemas.microsoft.com/office/drawing/2014/main" id="{F66DC287-06DC-7848-8639-8AF76E6364D3}"/>
                </a:ext>
              </a:extLst>
            </p:cNvPr>
            <p:cNvCxnSpPr>
              <a:cxnSpLocks/>
            </p:cNvCxnSpPr>
            <p:nvPr/>
          </p:nvCxnSpPr>
          <p:spPr>
            <a:xfrm>
              <a:off x="5798121" y="3806700"/>
              <a:ext cx="0" cy="67662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79" name="Group 222">
              <a:extLst>
                <a:ext uri="{FF2B5EF4-FFF2-40B4-BE49-F238E27FC236}">
                  <a16:creationId xmlns:a16="http://schemas.microsoft.com/office/drawing/2014/main" id="{6666A75C-EB63-884F-B758-16430D440B30}"/>
                </a:ext>
              </a:extLst>
            </p:cNvPr>
            <p:cNvGrpSpPr>
              <a:grpSpLocks/>
            </p:cNvGrpSpPr>
            <p:nvPr/>
          </p:nvGrpSpPr>
          <p:grpSpPr bwMode="auto">
            <a:xfrm>
              <a:off x="5649256" y="5279864"/>
              <a:ext cx="304800" cy="381000"/>
              <a:chOff x="4272" y="3072"/>
              <a:chExt cx="192" cy="240"/>
            </a:xfrm>
          </p:grpSpPr>
          <p:sp>
            <p:nvSpPr>
              <p:cNvPr id="780" name="Line 99">
                <a:extLst>
                  <a:ext uri="{FF2B5EF4-FFF2-40B4-BE49-F238E27FC236}">
                    <a16:creationId xmlns:a16="http://schemas.microsoft.com/office/drawing/2014/main" id="{7E02A6A5-2388-6E4D-A8D1-11CA1FEFD082}"/>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1" name="Line 100">
                <a:extLst>
                  <a:ext uri="{FF2B5EF4-FFF2-40B4-BE49-F238E27FC236}">
                    <a16:creationId xmlns:a16="http://schemas.microsoft.com/office/drawing/2014/main" id="{994B9549-1830-C043-891A-300A1958C41E}"/>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2" name="Line 101">
                <a:extLst>
                  <a:ext uri="{FF2B5EF4-FFF2-40B4-BE49-F238E27FC236}">
                    <a16:creationId xmlns:a16="http://schemas.microsoft.com/office/drawing/2014/main" id="{77941200-B924-EE4D-BCFC-269F442EA54A}"/>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3" name="Line 102">
                <a:extLst>
                  <a:ext uri="{FF2B5EF4-FFF2-40B4-BE49-F238E27FC236}">
                    <a16:creationId xmlns:a16="http://schemas.microsoft.com/office/drawing/2014/main" id="{770D124D-3769-9940-845D-C1C4AD048501}"/>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4" name="Line 103">
                <a:extLst>
                  <a:ext uri="{FF2B5EF4-FFF2-40B4-BE49-F238E27FC236}">
                    <a16:creationId xmlns:a16="http://schemas.microsoft.com/office/drawing/2014/main" id="{C3E52D73-668A-DF4F-9C2F-C894E0890B66}"/>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5" name="Line 104">
                <a:extLst>
                  <a:ext uri="{FF2B5EF4-FFF2-40B4-BE49-F238E27FC236}">
                    <a16:creationId xmlns:a16="http://schemas.microsoft.com/office/drawing/2014/main" id="{7A51883B-86CF-A444-8D21-FB2EBB1379F7}"/>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89" name="Freeform 341">
              <a:extLst>
                <a:ext uri="{FF2B5EF4-FFF2-40B4-BE49-F238E27FC236}">
                  <a16:creationId xmlns:a16="http://schemas.microsoft.com/office/drawing/2014/main" id="{683E6358-B3D1-F141-94E6-4BA02567D259}"/>
                </a:ext>
              </a:extLst>
            </p:cNvPr>
            <p:cNvSpPr>
              <a:spLocks/>
            </p:cNvSpPr>
            <p:nvPr/>
          </p:nvSpPr>
          <p:spPr bwMode="auto">
            <a:xfrm>
              <a:off x="4821335" y="3871068"/>
              <a:ext cx="285400" cy="836239"/>
            </a:xfrm>
            <a:custGeom>
              <a:avLst/>
              <a:gdLst>
                <a:gd name="T0" fmla="*/ 173 w 345"/>
                <a:gd name="T1" fmla="*/ 0 h 633"/>
                <a:gd name="T2" fmla="*/ 0 w 345"/>
                <a:gd name="T3" fmla="*/ 230 h 633"/>
                <a:gd name="T4" fmla="*/ 173 w 345"/>
                <a:gd name="T5" fmla="*/ 633 h 633"/>
                <a:gd name="T6" fmla="*/ 345 w 345"/>
                <a:gd name="T7" fmla="*/ 230 h 633"/>
                <a:gd name="T8" fmla="*/ 173 w 345"/>
                <a:gd name="T9" fmla="*/ 0 h 633"/>
                <a:gd name="T10" fmla="*/ 0 60000 65536"/>
                <a:gd name="T11" fmla="*/ 0 60000 65536"/>
                <a:gd name="T12" fmla="*/ 0 60000 65536"/>
                <a:gd name="T13" fmla="*/ 0 60000 65536"/>
                <a:gd name="T14" fmla="*/ 0 60000 65536"/>
                <a:gd name="T15" fmla="*/ 0 w 345"/>
                <a:gd name="T16" fmla="*/ 0 h 633"/>
                <a:gd name="T17" fmla="*/ 345 w 345"/>
                <a:gd name="T18" fmla="*/ 633 h 633"/>
              </a:gdLst>
              <a:ahLst/>
              <a:cxnLst>
                <a:cxn ang="T10">
                  <a:pos x="T0" y="T1"/>
                </a:cxn>
                <a:cxn ang="T11">
                  <a:pos x="T2" y="T3"/>
                </a:cxn>
                <a:cxn ang="T12">
                  <a:pos x="T4" y="T5"/>
                </a:cxn>
                <a:cxn ang="T13">
                  <a:pos x="T6" y="T7"/>
                </a:cxn>
                <a:cxn ang="T14">
                  <a:pos x="T8" y="T9"/>
                </a:cxn>
              </a:cxnLst>
              <a:rect l="T15" t="T16" r="T17" b="T18"/>
              <a:pathLst>
                <a:path w="345" h="633">
                  <a:moveTo>
                    <a:pt x="173" y="0"/>
                  </a:moveTo>
                  <a:lnTo>
                    <a:pt x="0" y="230"/>
                  </a:lnTo>
                  <a:lnTo>
                    <a:pt x="173" y="633"/>
                  </a:lnTo>
                  <a:lnTo>
                    <a:pt x="345" y="230"/>
                  </a:lnTo>
                  <a:lnTo>
                    <a:pt x="173"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cxnSp>
          <p:nvCxnSpPr>
            <p:cNvPr id="803" name="Straight Connector 802">
              <a:extLst>
                <a:ext uri="{FF2B5EF4-FFF2-40B4-BE49-F238E27FC236}">
                  <a16:creationId xmlns:a16="http://schemas.microsoft.com/office/drawing/2014/main" id="{BBCFD950-3C63-D040-AE05-5DACBF6F82F3}"/>
                </a:ext>
              </a:extLst>
            </p:cNvPr>
            <p:cNvCxnSpPr>
              <a:cxnSpLocks/>
            </p:cNvCxnSpPr>
            <p:nvPr/>
          </p:nvCxnSpPr>
          <p:spPr>
            <a:xfrm>
              <a:off x="5839756" y="4494836"/>
              <a:ext cx="78694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4" name="Straight Connector 803">
              <a:extLst>
                <a:ext uri="{FF2B5EF4-FFF2-40B4-BE49-F238E27FC236}">
                  <a16:creationId xmlns:a16="http://schemas.microsoft.com/office/drawing/2014/main" id="{4FDE9F6A-2B91-654A-8593-0F2C377A185F}"/>
                </a:ext>
              </a:extLst>
            </p:cNvPr>
            <p:cNvCxnSpPr>
              <a:cxnSpLocks/>
            </p:cNvCxnSpPr>
            <p:nvPr/>
          </p:nvCxnSpPr>
          <p:spPr>
            <a:xfrm flipH="1">
              <a:off x="6914712" y="3070753"/>
              <a:ext cx="5478" cy="50087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05" name="TextBox 804">
              <a:extLst>
                <a:ext uri="{FF2B5EF4-FFF2-40B4-BE49-F238E27FC236}">
                  <a16:creationId xmlns:a16="http://schemas.microsoft.com/office/drawing/2014/main" id="{710AE6D9-D2FA-4E4E-8B8C-2A610921053F}"/>
                </a:ext>
              </a:extLst>
            </p:cNvPr>
            <p:cNvSpPr txBox="1"/>
            <p:nvPr/>
          </p:nvSpPr>
          <p:spPr>
            <a:xfrm>
              <a:off x="3724777" y="2573561"/>
              <a:ext cx="718688" cy="338554"/>
            </a:xfrm>
            <a:prstGeom prst="rect">
              <a:avLst/>
            </a:prstGeom>
            <a:noFill/>
          </p:spPr>
          <p:txBody>
            <a:bodyPr wrap="square" rtlCol="0">
              <a:spAutoFit/>
            </a:bodyPr>
            <a:lstStyle/>
            <a:p>
              <a:r>
                <a:rPr lang="en-US" sz="1600" dirty="0"/>
                <a:t>68</a:t>
              </a:r>
            </a:p>
          </p:txBody>
        </p:sp>
        <p:sp>
          <p:nvSpPr>
            <p:cNvPr id="806" name="TextBox 805">
              <a:extLst>
                <a:ext uri="{FF2B5EF4-FFF2-40B4-BE49-F238E27FC236}">
                  <a16:creationId xmlns:a16="http://schemas.microsoft.com/office/drawing/2014/main" id="{B1F4EEC7-E70E-7240-93EC-29F52BEFA038}"/>
                </a:ext>
              </a:extLst>
            </p:cNvPr>
            <p:cNvSpPr txBox="1"/>
            <p:nvPr/>
          </p:nvSpPr>
          <p:spPr>
            <a:xfrm>
              <a:off x="3607842" y="3323214"/>
              <a:ext cx="718688" cy="338554"/>
            </a:xfrm>
            <a:prstGeom prst="rect">
              <a:avLst/>
            </a:prstGeom>
            <a:noFill/>
          </p:spPr>
          <p:txBody>
            <a:bodyPr wrap="square" rtlCol="0">
              <a:spAutoFit/>
            </a:bodyPr>
            <a:lstStyle/>
            <a:p>
              <a:r>
                <a:rPr lang="en-US" sz="1600" dirty="0"/>
                <a:t>.01</a:t>
              </a:r>
            </a:p>
          </p:txBody>
        </p:sp>
        <p:sp>
          <p:nvSpPr>
            <p:cNvPr id="807" name="TextBox 806">
              <a:extLst>
                <a:ext uri="{FF2B5EF4-FFF2-40B4-BE49-F238E27FC236}">
                  <a16:creationId xmlns:a16="http://schemas.microsoft.com/office/drawing/2014/main" id="{E28EAE5B-F53D-B24C-8F4D-C9042AD92870}"/>
                </a:ext>
              </a:extLst>
            </p:cNvPr>
            <p:cNvSpPr txBox="1"/>
            <p:nvPr/>
          </p:nvSpPr>
          <p:spPr>
            <a:xfrm>
              <a:off x="6967432" y="3097185"/>
              <a:ext cx="718688" cy="338554"/>
            </a:xfrm>
            <a:prstGeom prst="rect">
              <a:avLst/>
            </a:prstGeom>
            <a:noFill/>
          </p:spPr>
          <p:txBody>
            <a:bodyPr wrap="square" rtlCol="0">
              <a:spAutoFit/>
            </a:bodyPr>
            <a:lstStyle/>
            <a:p>
              <a:r>
                <a:rPr lang="en-US" sz="1600" dirty="0"/>
                <a:t>12:3</a:t>
              </a:r>
            </a:p>
          </p:txBody>
        </p:sp>
        <p:sp>
          <p:nvSpPr>
            <p:cNvPr id="811" name="TextBox 810">
              <a:extLst>
                <a:ext uri="{FF2B5EF4-FFF2-40B4-BE49-F238E27FC236}">
                  <a16:creationId xmlns:a16="http://schemas.microsoft.com/office/drawing/2014/main" id="{5AF53C49-F136-3142-BF31-90C778425F59}"/>
                </a:ext>
              </a:extLst>
            </p:cNvPr>
            <p:cNvSpPr txBox="1"/>
            <p:nvPr/>
          </p:nvSpPr>
          <p:spPr>
            <a:xfrm>
              <a:off x="5008957" y="4690136"/>
              <a:ext cx="718688" cy="338554"/>
            </a:xfrm>
            <a:prstGeom prst="rect">
              <a:avLst/>
            </a:prstGeom>
            <a:noFill/>
          </p:spPr>
          <p:txBody>
            <a:bodyPr wrap="square" rtlCol="0">
              <a:spAutoFit/>
            </a:bodyPr>
            <a:lstStyle/>
            <a:p>
              <a:r>
                <a:rPr lang="en-US" sz="1600" dirty="0"/>
                <a:t>100</a:t>
              </a:r>
            </a:p>
          </p:txBody>
        </p:sp>
        <p:sp>
          <p:nvSpPr>
            <p:cNvPr id="812" name="TextBox 811">
              <a:extLst>
                <a:ext uri="{FF2B5EF4-FFF2-40B4-BE49-F238E27FC236}">
                  <a16:creationId xmlns:a16="http://schemas.microsoft.com/office/drawing/2014/main" id="{A144039F-352E-5840-9972-A66305C1E22D}"/>
                </a:ext>
              </a:extLst>
            </p:cNvPr>
            <p:cNvSpPr txBox="1"/>
            <p:nvPr/>
          </p:nvSpPr>
          <p:spPr>
            <a:xfrm>
              <a:off x="7889814" y="3867767"/>
              <a:ext cx="718688" cy="338554"/>
            </a:xfrm>
            <a:prstGeom prst="rect">
              <a:avLst/>
            </a:prstGeom>
            <a:noFill/>
          </p:spPr>
          <p:txBody>
            <a:bodyPr wrap="square" rtlCol="0">
              <a:spAutoFit/>
            </a:bodyPr>
            <a:lstStyle/>
            <a:p>
              <a:r>
                <a:rPr lang="en-US" sz="1600" dirty="0"/>
                <a:t>47</a:t>
              </a:r>
            </a:p>
          </p:txBody>
        </p:sp>
        <p:sp>
          <p:nvSpPr>
            <p:cNvPr id="264" name="Freeform 263">
              <a:extLst>
                <a:ext uri="{FF2B5EF4-FFF2-40B4-BE49-F238E27FC236}">
                  <a16:creationId xmlns:a16="http://schemas.microsoft.com/office/drawing/2014/main" id="{74E9FA25-C3E8-C741-A6E2-BD54E341EB1E}"/>
                </a:ext>
              </a:extLst>
            </p:cNvPr>
            <p:cNvSpPr>
              <a:spLocks noChangeAspect="1"/>
            </p:cNvSpPr>
            <p:nvPr/>
          </p:nvSpPr>
          <p:spPr bwMode="auto">
            <a:xfrm rot="5400000">
              <a:off x="4537686" y="2660997"/>
              <a:ext cx="165855" cy="836239"/>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5" name="TextBox 264">
              <a:extLst>
                <a:ext uri="{FF2B5EF4-FFF2-40B4-BE49-F238E27FC236}">
                  <a16:creationId xmlns:a16="http://schemas.microsoft.com/office/drawing/2014/main" id="{F03F1E23-DF6A-5748-B946-1CA503B4E6BE}"/>
                </a:ext>
              </a:extLst>
            </p:cNvPr>
            <p:cNvSpPr txBox="1"/>
            <p:nvPr/>
          </p:nvSpPr>
          <p:spPr>
            <a:xfrm>
              <a:off x="4420515" y="2580189"/>
              <a:ext cx="718688" cy="338554"/>
            </a:xfrm>
            <a:prstGeom prst="rect">
              <a:avLst/>
            </a:prstGeom>
            <a:noFill/>
          </p:spPr>
          <p:txBody>
            <a:bodyPr wrap="square" rtlCol="0">
              <a:spAutoFit/>
            </a:bodyPr>
            <a:lstStyle/>
            <a:p>
              <a:r>
                <a:rPr lang="en-US" sz="1600" dirty="0"/>
                <a:t>68</a:t>
              </a:r>
            </a:p>
          </p:txBody>
        </p:sp>
        <p:cxnSp>
          <p:nvCxnSpPr>
            <p:cNvPr id="266" name="Straight Connector 265">
              <a:extLst>
                <a:ext uri="{FF2B5EF4-FFF2-40B4-BE49-F238E27FC236}">
                  <a16:creationId xmlns:a16="http://schemas.microsoft.com/office/drawing/2014/main" id="{7E0F030D-F814-B949-866F-C4AC538E73B0}"/>
                </a:ext>
              </a:extLst>
            </p:cNvPr>
            <p:cNvCxnSpPr>
              <a:cxnSpLocks/>
              <a:stCxn id="774" idx="4"/>
            </p:cNvCxnSpPr>
            <p:nvPr/>
          </p:nvCxnSpPr>
          <p:spPr>
            <a:xfrm flipH="1">
              <a:off x="4281189" y="2454543"/>
              <a:ext cx="0" cy="62457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69" name="Oval 268">
              <a:extLst>
                <a:ext uri="{FF2B5EF4-FFF2-40B4-BE49-F238E27FC236}">
                  <a16:creationId xmlns:a16="http://schemas.microsoft.com/office/drawing/2014/main" id="{7AA7268B-184A-C446-8B49-ADFBD96B93DF}"/>
                </a:ext>
              </a:extLst>
            </p:cNvPr>
            <p:cNvSpPr>
              <a:spLocks noChangeAspect="1" noChangeArrowheads="1"/>
            </p:cNvSpPr>
            <p:nvPr/>
          </p:nvSpPr>
          <p:spPr bwMode="auto">
            <a:xfrm>
              <a:off x="4213803" y="3013121"/>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270" name="Group 210">
              <a:extLst>
                <a:ext uri="{FF2B5EF4-FFF2-40B4-BE49-F238E27FC236}">
                  <a16:creationId xmlns:a16="http://schemas.microsoft.com/office/drawing/2014/main" id="{72878ABD-34A4-C648-9870-DB237EECA62F}"/>
                </a:ext>
              </a:extLst>
            </p:cNvPr>
            <p:cNvGrpSpPr>
              <a:grpSpLocks/>
            </p:cNvGrpSpPr>
            <p:nvPr/>
          </p:nvGrpSpPr>
          <p:grpSpPr bwMode="auto">
            <a:xfrm>
              <a:off x="4865432" y="3064579"/>
              <a:ext cx="304800" cy="762000"/>
              <a:chOff x="3216" y="1728"/>
              <a:chExt cx="192" cy="480"/>
            </a:xfrm>
          </p:grpSpPr>
          <p:sp>
            <p:nvSpPr>
              <p:cNvPr id="271" name="Line 8">
                <a:extLst>
                  <a:ext uri="{FF2B5EF4-FFF2-40B4-BE49-F238E27FC236}">
                    <a16:creationId xmlns:a16="http://schemas.microsoft.com/office/drawing/2014/main" id="{DC61C338-AAC2-F940-B84A-7BB24FF43399}"/>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2" name="Line 9">
                <a:extLst>
                  <a:ext uri="{FF2B5EF4-FFF2-40B4-BE49-F238E27FC236}">
                    <a16:creationId xmlns:a16="http://schemas.microsoft.com/office/drawing/2014/main" id="{6130B9E9-7191-7147-B828-D88650DDC5D4}"/>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3" name="Line 10">
                <a:extLst>
                  <a:ext uri="{FF2B5EF4-FFF2-40B4-BE49-F238E27FC236}">
                    <a16:creationId xmlns:a16="http://schemas.microsoft.com/office/drawing/2014/main" id="{6AE23AA6-5ACA-5E49-9C57-364D52002DFC}"/>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4" name="Line 11">
                <a:extLst>
                  <a:ext uri="{FF2B5EF4-FFF2-40B4-BE49-F238E27FC236}">
                    <a16:creationId xmlns:a16="http://schemas.microsoft.com/office/drawing/2014/main" id="{3720A286-93F1-BF4F-9A93-FF0FC5A81F8B}"/>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75" name="Group 222">
              <a:extLst>
                <a:ext uri="{FF2B5EF4-FFF2-40B4-BE49-F238E27FC236}">
                  <a16:creationId xmlns:a16="http://schemas.microsoft.com/office/drawing/2014/main" id="{BB24AD9E-9A7B-7F47-B894-A34508A32022}"/>
                </a:ext>
              </a:extLst>
            </p:cNvPr>
            <p:cNvGrpSpPr>
              <a:grpSpLocks/>
            </p:cNvGrpSpPr>
            <p:nvPr/>
          </p:nvGrpSpPr>
          <p:grpSpPr bwMode="auto">
            <a:xfrm>
              <a:off x="4872775" y="3606913"/>
              <a:ext cx="304800" cy="381000"/>
              <a:chOff x="4272" y="3072"/>
              <a:chExt cx="192" cy="240"/>
            </a:xfrm>
          </p:grpSpPr>
          <p:sp>
            <p:nvSpPr>
              <p:cNvPr id="276" name="Line 99">
                <a:extLst>
                  <a:ext uri="{FF2B5EF4-FFF2-40B4-BE49-F238E27FC236}">
                    <a16:creationId xmlns:a16="http://schemas.microsoft.com/office/drawing/2014/main" id="{AD909DA4-D7E4-8345-8385-6309BC4F5A51}"/>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 name="Line 100">
                <a:extLst>
                  <a:ext uri="{FF2B5EF4-FFF2-40B4-BE49-F238E27FC236}">
                    <a16:creationId xmlns:a16="http://schemas.microsoft.com/office/drawing/2014/main" id="{C2F2F127-C956-D74F-9365-3E77FCF50205}"/>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 name="Line 101">
                <a:extLst>
                  <a:ext uri="{FF2B5EF4-FFF2-40B4-BE49-F238E27FC236}">
                    <a16:creationId xmlns:a16="http://schemas.microsoft.com/office/drawing/2014/main" id="{E568A6DB-825B-D24C-A7FF-306B610C27CC}"/>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9" name="Line 102">
                <a:extLst>
                  <a:ext uri="{FF2B5EF4-FFF2-40B4-BE49-F238E27FC236}">
                    <a16:creationId xmlns:a16="http://schemas.microsoft.com/office/drawing/2014/main" id="{AC667900-F7AE-E14C-BF63-F9959AFCC6F3}"/>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0" name="Line 103">
                <a:extLst>
                  <a:ext uri="{FF2B5EF4-FFF2-40B4-BE49-F238E27FC236}">
                    <a16:creationId xmlns:a16="http://schemas.microsoft.com/office/drawing/2014/main" id="{36782EF8-114C-5046-B7BA-B14F51D1116D}"/>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1" name="Line 104">
                <a:extLst>
                  <a:ext uri="{FF2B5EF4-FFF2-40B4-BE49-F238E27FC236}">
                    <a16:creationId xmlns:a16="http://schemas.microsoft.com/office/drawing/2014/main" id="{E0CCA3FB-36C4-0E48-A806-636F8DB2B976}"/>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82" name="TextBox 281">
              <a:extLst>
                <a:ext uri="{FF2B5EF4-FFF2-40B4-BE49-F238E27FC236}">
                  <a16:creationId xmlns:a16="http://schemas.microsoft.com/office/drawing/2014/main" id="{CC604B66-37C5-6D4A-8CAD-C22F2B0D3374}"/>
                </a:ext>
              </a:extLst>
            </p:cNvPr>
            <p:cNvSpPr txBox="1"/>
            <p:nvPr/>
          </p:nvSpPr>
          <p:spPr>
            <a:xfrm>
              <a:off x="4250819" y="3304371"/>
              <a:ext cx="718688" cy="338554"/>
            </a:xfrm>
            <a:prstGeom prst="rect">
              <a:avLst/>
            </a:prstGeom>
            <a:noFill/>
          </p:spPr>
          <p:txBody>
            <a:bodyPr wrap="square" rtlCol="0">
              <a:spAutoFit/>
            </a:bodyPr>
            <a:lstStyle/>
            <a:p>
              <a:r>
                <a:rPr lang="en-US" sz="1600" dirty="0"/>
                <a:t>.01</a:t>
              </a:r>
            </a:p>
          </p:txBody>
        </p:sp>
        <p:cxnSp>
          <p:nvCxnSpPr>
            <p:cNvPr id="283" name="Straight Connector 282">
              <a:extLst>
                <a:ext uri="{FF2B5EF4-FFF2-40B4-BE49-F238E27FC236}">
                  <a16:creationId xmlns:a16="http://schemas.microsoft.com/office/drawing/2014/main" id="{09334534-8720-744F-9D30-BFB69E46698A}"/>
                </a:ext>
              </a:extLst>
            </p:cNvPr>
            <p:cNvCxnSpPr>
              <a:cxnSpLocks/>
            </p:cNvCxnSpPr>
            <p:nvPr/>
          </p:nvCxnSpPr>
          <p:spPr>
            <a:xfrm>
              <a:off x="4997877" y="3079116"/>
              <a:ext cx="192640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4" name="Oval 283">
              <a:extLst>
                <a:ext uri="{FF2B5EF4-FFF2-40B4-BE49-F238E27FC236}">
                  <a16:creationId xmlns:a16="http://schemas.microsoft.com/office/drawing/2014/main" id="{16FB2294-0844-E047-B491-1148A71B7B19}"/>
                </a:ext>
              </a:extLst>
            </p:cNvPr>
            <p:cNvSpPr>
              <a:spLocks noChangeAspect="1" noChangeArrowheads="1"/>
            </p:cNvSpPr>
            <p:nvPr/>
          </p:nvSpPr>
          <p:spPr bwMode="auto">
            <a:xfrm>
              <a:off x="4949299" y="3006497"/>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89" name="Oval 288">
              <a:extLst>
                <a:ext uri="{FF2B5EF4-FFF2-40B4-BE49-F238E27FC236}">
                  <a16:creationId xmlns:a16="http://schemas.microsoft.com/office/drawing/2014/main" id="{45F54AFA-410A-544C-A261-03C54FCAA4CA}"/>
                </a:ext>
              </a:extLst>
            </p:cNvPr>
            <p:cNvSpPr>
              <a:spLocks noChangeAspect="1" noChangeArrowheads="1"/>
            </p:cNvSpPr>
            <p:nvPr/>
          </p:nvSpPr>
          <p:spPr bwMode="auto">
            <a:xfrm>
              <a:off x="8111998" y="3420884"/>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90" name="Oval 289">
              <a:extLst>
                <a:ext uri="{FF2B5EF4-FFF2-40B4-BE49-F238E27FC236}">
                  <a16:creationId xmlns:a16="http://schemas.microsoft.com/office/drawing/2014/main" id="{CC9E9E18-CBF2-064E-AAD5-DB2B3BA857EF}"/>
                </a:ext>
              </a:extLst>
            </p:cNvPr>
            <p:cNvSpPr>
              <a:spLocks noChangeAspect="1" noChangeArrowheads="1"/>
            </p:cNvSpPr>
            <p:nvPr/>
          </p:nvSpPr>
          <p:spPr bwMode="auto">
            <a:xfrm>
              <a:off x="4989354" y="4416504"/>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91" name="TextBox 290">
              <a:extLst>
                <a:ext uri="{FF2B5EF4-FFF2-40B4-BE49-F238E27FC236}">
                  <a16:creationId xmlns:a16="http://schemas.microsoft.com/office/drawing/2014/main" id="{F78F3FA5-0696-A148-B7F7-2FFC5A7C220F}"/>
                </a:ext>
              </a:extLst>
            </p:cNvPr>
            <p:cNvSpPr txBox="1"/>
            <p:nvPr/>
          </p:nvSpPr>
          <p:spPr>
            <a:xfrm>
              <a:off x="5887951" y="4736437"/>
              <a:ext cx="718688" cy="338554"/>
            </a:xfrm>
            <a:prstGeom prst="rect">
              <a:avLst/>
            </a:prstGeom>
            <a:noFill/>
          </p:spPr>
          <p:txBody>
            <a:bodyPr wrap="square" rtlCol="0">
              <a:spAutoFit/>
            </a:bodyPr>
            <a:lstStyle/>
            <a:p>
              <a:r>
                <a:rPr lang="en-US" sz="1600" dirty="0"/>
                <a:t>4.7K</a:t>
              </a:r>
            </a:p>
          </p:txBody>
        </p:sp>
        <p:sp>
          <p:nvSpPr>
            <p:cNvPr id="292" name="TextBox 291">
              <a:extLst>
                <a:ext uri="{FF2B5EF4-FFF2-40B4-BE49-F238E27FC236}">
                  <a16:creationId xmlns:a16="http://schemas.microsoft.com/office/drawing/2014/main" id="{7CE073B9-67FE-FD47-B212-EB58A453AAFC}"/>
                </a:ext>
              </a:extLst>
            </p:cNvPr>
            <p:cNvSpPr txBox="1"/>
            <p:nvPr/>
          </p:nvSpPr>
          <p:spPr>
            <a:xfrm>
              <a:off x="5857528" y="3365515"/>
              <a:ext cx="718688" cy="338554"/>
            </a:xfrm>
            <a:prstGeom prst="rect">
              <a:avLst/>
            </a:prstGeom>
            <a:noFill/>
          </p:spPr>
          <p:txBody>
            <a:bodyPr wrap="square" rtlCol="0">
              <a:spAutoFit/>
            </a:bodyPr>
            <a:lstStyle/>
            <a:p>
              <a:r>
                <a:rPr lang="en-US" sz="1600" dirty="0"/>
                <a:t>22K</a:t>
              </a:r>
            </a:p>
          </p:txBody>
        </p:sp>
        <p:grpSp>
          <p:nvGrpSpPr>
            <p:cNvPr id="293" name="Group 300">
              <a:extLst>
                <a:ext uri="{FF2B5EF4-FFF2-40B4-BE49-F238E27FC236}">
                  <a16:creationId xmlns:a16="http://schemas.microsoft.com/office/drawing/2014/main" id="{54F806E5-EA33-A24E-AB5C-92F3A16FB79E}"/>
                </a:ext>
              </a:extLst>
            </p:cNvPr>
            <p:cNvGrpSpPr>
              <a:grpSpLocks/>
            </p:cNvGrpSpPr>
            <p:nvPr/>
          </p:nvGrpSpPr>
          <p:grpSpPr bwMode="auto">
            <a:xfrm>
              <a:off x="6838869" y="3483679"/>
              <a:ext cx="533400" cy="762000"/>
              <a:chOff x="4896" y="1728"/>
              <a:chExt cx="336" cy="480"/>
            </a:xfrm>
          </p:grpSpPr>
          <p:grpSp>
            <p:nvGrpSpPr>
              <p:cNvPr id="294" name="Group 267">
                <a:extLst>
                  <a:ext uri="{FF2B5EF4-FFF2-40B4-BE49-F238E27FC236}">
                    <a16:creationId xmlns:a16="http://schemas.microsoft.com/office/drawing/2014/main" id="{06DC07E8-6F00-374D-BDA2-16FB1025DC23}"/>
                  </a:ext>
                </a:extLst>
              </p:cNvPr>
              <p:cNvGrpSpPr>
                <a:grpSpLocks/>
              </p:cNvGrpSpPr>
              <p:nvPr/>
            </p:nvGrpSpPr>
            <p:grpSpPr bwMode="auto">
              <a:xfrm>
                <a:off x="4896" y="1728"/>
                <a:ext cx="96" cy="480"/>
                <a:chOff x="3935" y="1728"/>
                <a:chExt cx="96" cy="480"/>
              </a:xfrm>
            </p:grpSpPr>
            <p:sp>
              <p:nvSpPr>
                <p:cNvPr id="311" name="Arc 268">
                  <a:extLst>
                    <a:ext uri="{FF2B5EF4-FFF2-40B4-BE49-F238E27FC236}">
                      <a16:creationId xmlns:a16="http://schemas.microsoft.com/office/drawing/2014/main" id="{5C0641D1-3C36-D640-84C9-1D56733EA0AE}"/>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2" name="Arc 269">
                  <a:extLst>
                    <a:ext uri="{FF2B5EF4-FFF2-40B4-BE49-F238E27FC236}">
                      <a16:creationId xmlns:a16="http://schemas.microsoft.com/office/drawing/2014/main" id="{CCACBCC8-C3F9-5148-B4A4-59D251B45B85}"/>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3" name="Arc 270">
                  <a:extLst>
                    <a:ext uri="{FF2B5EF4-FFF2-40B4-BE49-F238E27FC236}">
                      <a16:creationId xmlns:a16="http://schemas.microsoft.com/office/drawing/2014/main" id="{F5428A4D-7E55-7143-9717-3E727A9AB9BF}"/>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4" name="Arc 271">
                  <a:extLst>
                    <a:ext uri="{FF2B5EF4-FFF2-40B4-BE49-F238E27FC236}">
                      <a16:creationId xmlns:a16="http://schemas.microsoft.com/office/drawing/2014/main" id="{A6ADF740-09D8-E146-9828-0A427FCA0DF5}"/>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5" name="Line 272">
                  <a:extLst>
                    <a:ext uri="{FF2B5EF4-FFF2-40B4-BE49-F238E27FC236}">
                      <a16:creationId xmlns:a16="http://schemas.microsoft.com/office/drawing/2014/main" id="{0DF52A33-6D05-EF42-AED8-E459278B9ED4}"/>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6" name="Line 273">
                  <a:extLst>
                    <a:ext uri="{FF2B5EF4-FFF2-40B4-BE49-F238E27FC236}">
                      <a16:creationId xmlns:a16="http://schemas.microsoft.com/office/drawing/2014/main" id="{F74172CA-5BA9-544B-8B0C-55F5CC6C01AE}"/>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 name="Arc 274">
                  <a:extLst>
                    <a:ext uri="{FF2B5EF4-FFF2-40B4-BE49-F238E27FC236}">
                      <a16:creationId xmlns:a16="http://schemas.microsoft.com/office/drawing/2014/main" id="{9B7E0361-84A0-9F40-9638-3F165E3FC76F}"/>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8" name="Arc 275">
                  <a:extLst>
                    <a:ext uri="{FF2B5EF4-FFF2-40B4-BE49-F238E27FC236}">
                      <a16:creationId xmlns:a16="http://schemas.microsoft.com/office/drawing/2014/main" id="{E148BB6D-416D-FB4D-8C58-E87B086FA9EF}"/>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9" name="Arc 276">
                  <a:extLst>
                    <a:ext uri="{FF2B5EF4-FFF2-40B4-BE49-F238E27FC236}">
                      <a16:creationId xmlns:a16="http://schemas.microsoft.com/office/drawing/2014/main" id="{429BAF38-753D-B14F-9D61-040298DAF544}"/>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0" name="Arc 277">
                  <a:extLst>
                    <a:ext uri="{FF2B5EF4-FFF2-40B4-BE49-F238E27FC236}">
                      <a16:creationId xmlns:a16="http://schemas.microsoft.com/office/drawing/2014/main" id="{E7D72395-99F4-2145-8473-0AC5BA259BA7}"/>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1" name="Arc 278">
                  <a:extLst>
                    <a:ext uri="{FF2B5EF4-FFF2-40B4-BE49-F238E27FC236}">
                      <a16:creationId xmlns:a16="http://schemas.microsoft.com/office/drawing/2014/main" id="{01A059E0-392A-764B-98CB-547FA7A04AF1}"/>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2" name="Arc 279">
                  <a:extLst>
                    <a:ext uri="{FF2B5EF4-FFF2-40B4-BE49-F238E27FC236}">
                      <a16:creationId xmlns:a16="http://schemas.microsoft.com/office/drawing/2014/main" id="{DC922E33-8520-1A4C-A539-763F13808C83}"/>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3" name="Arc 280">
                  <a:extLst>
                    <a:ext uri="{FF2B5EF4-FFF2-40B4-BE49-F238E27FC236}">
                      <a16:creationId xmlns:a16="http://schemas.microsoft.com/office/drawing/2014/main" id="{C10C78DA-26A2-E549-96AA-29972181A0BD}"/>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295" name="Group 281">
                <a:extLst>
                  <a:ext uri="{FF2B5EF4-FFF2-40B4-BE49-F238E27FC236}">
                    <a16:creationId xmlns:a16="http://schemas.microsoft.com/office/drawing/2014/main" id="{9442AA26-9B6A-9343-8F8F-94AF0AB1F077}"/>
                  </a:ext>
                </a:extLst>
              </p:cNvPr>
              <p:cNvGrpSpPr>
                <a:grpSpLocks/>
              </p:cNvGrpSpPr>
              <p:nvPr/>
            </p:nvGrpSpPr>
            <p:grpSpPr bwMode="auto">
              <a:xfrm flipH="1">
                <a:off x="5136" y="1728"/>
                <a:ext cx="96" cy="480"/>
                <a:chOff x="3935" y="1728"/>
                <a:chExt cx="96" cy="480"/>
              </a:xfrm>
            </p:grpSpPr>
            <p:sp>
              <p:nvSpPr>
                <p:cNvPr id="298" name="Arc 282">
                  <a:extLst>
                    <a:ext uri="{FF2B5EF4-FFF2-40B4-BE49-F238E27FC236}">
                      <a16:creationId xmlns:a16="http://schemas.microsoft.com/office/drawing/2014/main" id="{96CF3D3C-592A-8A42-A980-4200C9CCE806}"/>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9" name="Arc 283">
                  <a:extLst>
                    <a:ext uri="{FF2B5EF4-FFF2-40B4-BE49-F238E27FC236}">
                      <a16:creationId xmlns:a16="http://schemas.microsoft.com/office/drawing/2014/main" id="{B0A1AA55-C37E-124E-94BB-97DB3C9E1C79}"/>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0" name="Arc 284">
                  <a:extLst>
                    <a:ext uri="{FF2B5EF4-FFF2-40B4-BE49-F238E27FC236}">
                      <a16:creationId xmlns:a16="http://schemas.microsoft.com/office/drawing/2014/main" id="{96EE5A2A-460D-7944-B940-ABA94B698255}"/>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1" name="Arc 285">
                  <a:extLst>
                    <a:ext uri="{FF2B5EF4-FFF2-40B4-BE49-F238E27FC236}">
                      <a16:creationId xmlns:a16="http://schemas.microsoft.com/office/drawing/2014/main" id="{80E7AC69-6E5D-034F-85D8-127F58F2FED9}"/>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2" name="Line 286">
                  <a:extLst>
                    <a:ext uri="{FF2B5EF4-FFF2-40B4-BE49-F238E27FC236}">
                      <a16:creationId xmlns:a16="http://schemas.microsoft.com/office/drawing/2014/main" id="{FCCA8C43-BD4A-C74E-8E1F-96BC80A64EB1}"/>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3" name="Line 287">
                  <a:extLst>
                    <a:ext uri="{FF2B5EF4-FFF2-40B4-BE49-F238E27FC236}">
                      <a16:creationId xmlns:a16="http://schemas.microsoft.com/office/drawing/2014/main" id="{CADC0EEE-FEAB-D94C-89EF-EA03D941D482}"/>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4" name="Arc 288">
                  <a:extLst>
                    <a:ext uri="{FF2B5EF4-FFF2-40B4-BE49-F238E27FC236}">
                      <a16:creationId xmlns:a16="http://schemas.microsoft.com/office/drawing/2014/main" id="{EA8B66BB-68DF-3744-84E7-8C312C0D089A}"/>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5" name="Arc 289">
                  <a:extLst>
                    <a:ext uri="{FF2B5EF4-FFF2-40B4-BE49-F238E27FC236}">
                      <a16:creationId xmlns:a16="http://schemas.microsoft.com/office/drawing/2014/main" id="{F8888AD9-C458-B34D-A6F9-946FFF28A7FE}"/>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6" name="Arc 290">
                  <a:extLst>
                    <a:ext uri="{FF2B5EF4-FFF2-40B4-BE49-F238E27FC236}">
                      <a16:creationId xmlns:a16="http://schemas.microsoft.com/office/drawing/2014/main" id="{EAA13721-8BAF-9649-B0FF-FC23A617610B}"/>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7" name="Arc 291">
                  <a:extLst>
                    <a:ext uri="{FF2B5EF4-FFF2-40B4-BE49-F238E27FC236}">
                      <a16:creationId xmlns:a16="http://schemas.microsoft.com/office/drawing/2014/main" id="{85DE5ED3-F8FE-784B-B447-2F33DE4A107D}"/>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8" name="Arc 292">
                  <a:extLst>
                    <a:ext uri="{FF2B5EF4-FFF2-40B4-BE49-F238E27FC236}">
                      <a16:creationId xmlns:a16="http://schemas.microsoft.com/office/drawing/2014/main" id="{B7696F6C-B54B-504F-A0F4-112F89BB3123}"/>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9" name="Arc 293">
                  <a:extLst>
                    <a:ext uri="{FF2B5EF4-FFF2-40B4-BE49-F238E27FC236}">
                      <a16:creationId xmlns:a16="http://schemas.microsoft.com/office/drawing/2014/main" id="{A1ED32D1-E318-8545-A758-4C7D7EA289ED}"/>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0" name="Arc 294">
                  <a:extLst>
                    <a:ext uri="{FF2B5EF4-FFF2-40B4-BE49-F238E27FC236}">
                      <a16:creationId xmlns:a16="http://schemas.microsoft.com/office/drawing/2014/main" id="{9B250EEC-E733-4240-B851-E515B563F6F4}"/>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296" name="Line 295">
                <a:extLst>
                  <a:ext uri="{FF2B5EF4-FFF2-40B4-BE49-F238E27FC236}">
                    <a16:creationId xmlns:a16="http://schemas.microsoft.com/office/drawing/2014/main" id="{63E11FF5-8EFB-E743-91D3-D8B3C205B4BF}"/>
                  </a:ext>
                </a:extLst>
              </p:cNvPr>
              <p:cNvSpPr>
                <a:spLocks noChangeShapeType="1"/>
              </p:cNvSpPr>
              <p:nvPr/>
            </p:nvSpPr>
            <p:spPr bwMode="auto">
              <a:xfrm>
                <a:off x="5040" y="1824"/>
                <a:ext cx="0" cy="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 name="Line 296">
                <a:extLst>
                  <a:ext uri="{FF2B5EF4-FFF2-40B4-BE49-F238E27FC236}">
                    <a16:creationId xmlns:a16="http://schemas.microsoft.com/office/drawing/2014/main" id="{1B28FD2B-F9D8-624A-A995-E85DACD5F618}"/>
                  </a:ext>
                </a:extLst>
              </p:cNvPr>
              <p:cNvSpPr>
                <a:spLocks noChangeShapeType="1"/>
              </p:cNvSpPr>
              <p:nvPr/>
            </p:nvSpPr>
            <p:spPr bwMode="auto">
              <a:xfrm>
                <a:off x="5088" y="1824"/>
                <a:ext cx="0" cy="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27" name="TextBox 326">
              <a:extLst>
                <a:ext uri="{FF2B5EF4-FFF2-40B4-BE49-F238E27FC236}">
                  <a16:creationId xmlns:a16="http://schemas.microsoft.com/office/drawing/2014/main" id="{F056DF44-C9B2-0046-853F-BD6CBA1C2DC3}"/>
                </a:ext>
              </a:extLst>
            </p:cNvPr>
            <p:cNvSpPr txBox="1"/>
            <p:nvPr/>
          </p:nvSpPr>
          <p:spPr>
            <a:xfrm>
              <a:off x="6293490" y="5232467"/>
              <a:ext cx="718688" cy="338554"/>
            </a:xfrm>
            <a:prstGeom prst="rect">
              <a:avLst/>
            </a:prstGeom>
            <a:noFill/>
          </p:spPr>
          <p:txBody>
            <a:bodyPr wrap="square" rtlCol="0">
              <a:spAutoFit/>
            </a:bodyPr>
            <a:lstStyle/>
            <a:p>
              <a:r>
                <a:rPr lang="en-US" sz="1600" dirty="0"/>
                <a:t>270</a:t>
              </a:r>
            </a:p>
          </p:txBody>
        </p:sp>
        <p:sp>
          <p:nvSpPr>
            <p:cNvPr id="328" name="Freeform 327">
              <a:extLst>
                <a:ext uri="{FF2B5EF4-FFF2-40B4-BE49-F238E27FC236}">
                  <a16:creationId xmlns:a16="http://schemas.microsoft.com/office/drawing/2014/main" id="{A6FC9B79-7047-B449-8CCC-64C90FEDFA21}"/>
                </a:ext>
              </a:extLst>
            </p:cNvPr>
            <p:cNvSpPr>
              <a:spLocks noChangeAspect="1"/>
            </p:cNvSpPr>
            <p:nvPr/>
          </p:nvSpPr>
          <p:spPr bwMode="auto">
            <a:xfrm>
              <a:off x="7761157" y="3481276"/>
              <a:ext cx="165855" cy="836239"/>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329" name="Group 222">
              <a:extLst>
                <a:ext uri="{FF2B5EF4-FFF2-40B4-BE49-F238E27FC236}">
                  <a16:creationId xmlns:a16="http://schemas.microsoft.com/office/drawing/2014/main" id="{31F761A8-8DA6-A949-964F-9E783BE6CAA8}"/>
                </a:ext>
              </a:extLst>
            </p:cNvPr>
            <p:cNvGrpSpPr>
              <a:grpSpLocks/>
            </p:cNvGrpSpPr>
            <p:nvPr/>
          </p:nvGrpSpPr>
          <p:grpSpPr bwMode="auto">
            <a:xfrm>
              <a:off x="7697370" y="4248023"/>
              <a:ext cx="304800" cy="381000"/>
              <a:chOff x="4272" y="3072"/>
              <a:chExt cx="192" cy="240"/>
            </a:xfrm>
          </p:grpSpPr>
          <p:sp>
            <p:nvSpPr>
              <p:cNvPr id="330" name="Line 99">
                <a:extLst>
                  <a:ext uri="{FF2B5EF4-FFF2-40B4-BE49-F238E27FC236}">
                    <a16:creationId xmlns:a16="http://schemas.microsoft.com/office/drawing/2014/main" id="{FF1BBAB5-94D2-4C49-BAB9-D12331592F43}"/>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1" name="Line 100">
                <a:extLst>
                  <a:ext uri="{FF2B5EF4-FFF2-40B4-BE49-F238E27FC236}">
                    <a16:creationId xmlns:a16="http://schemas.microsoft.com/office/drawing/2014/main" id="{F5740145-EFC6-044F-8CED-FCFFB9E1DC9E}"/>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2" name="Line 101">
                <a:extLst>
                  <a:ext uri="{FF2B5EF4-FFF2-40B4-BE49-F238E27FC236}">
                    <a16:creationId xmlns:a16="http://schemas.microsoft.com/office/drawing/2014/main" id="{869576A5-7CF1-4049-BB6A-2D59D21D73D5}"/>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3" name="Line 102">
                <a:extLst>
                  <a:ext uri="{FF2B5EF4-FFF2-40B4-BE49-F238E27FC236}">
                    <a16:creationId xmlns:a16="http://schemas.microsoft.com/office/drawing/2014/main" id="{69D6D9C2-0E09-DC48-9C17-D0ED4F99F84C}"/>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4" name="Line 103">
                <a:extLst>
                  <a:ext uri="{FF2B5EF4-FFF2-40B4-BE49-F238E27FC236}">
                    <a16:creationId xmlns:a16="http://schemas.microsoft.com/office/drawing/2014/main" id="{525C2B43-C50D-E143-BFB2-687A97FCB70D}"/>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5" name="Line 104">
                <a:extLst>
                  <a:ext uri="{FF2B5EF4-FFF2-40B4-BE49-F238E27FC236}">
                    <a16:creationId xmlns:a16="http://schemas.microsoft.com/office/drawing/2014/main" id="{4FE3D22F-EDF4-604C-ADF1-1E858897644C}"/>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36" name="Group 222">
              <a:extLst>
                <a:ext uri="{FF2B5EF4-FFF2-40B4-BE49-F238E27FC236}">
                  <a16:creationId xmlns:a16="http://schemas.microsoft.com/office/drawing/2014/main" id="{A3ADFDAB-D8C8-C14D-B074-BC824FBA7E2A}"/>
                </a:ext>
              </a:extLst>
            </p:cNvPr>
            <p:cNvGrpSpPr>
              <a:grpSpLocks/>
            </p:cNvGrpSpPr>
            <p:nvPr/>
          </p:nvGrpSpPr>
          <p:grpSpPr bwMode="auto">
            <a:xfrm>
              <a:off x="7148060" y="4163413"/>
              <a:ext cx="304800" cy="381000"/>
              <a:chOff x="4272" y="3072"/>
              <a:chExt cx="192" cy="240"/>
            </a:xfrm>
          </p:grpSpPr>
          <p:sp>
            <p:nvSpPr>
              <p:cNvPr id="337" name="Line 99">
                <a:extLst>
                  <a:ext uri="{FF2B5EF4-FFF2-40B4-BE49-F238E27FC236}">
                    <a16:creationId xmlns:a16="http://schemas.microsoft.com/office/drawing/2014/main" id="{41062ED2-B939-E346-B848-4898B5BB7BD8}"/>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 name="Line 100">
                <a:extLst>
                  <a:ext uri="{FF2B5EF4-FFF2-40B4-BE49-F238E27FC236}">
                    <a16:creationId xmlns:a16="http://schemas.microsoft.com/office/drawing/2014/main" id="{E6ED5AE6-F080-AC40-9E9E-DA475CCE6EAB}"/>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9" name="Line 101">
                <a:extLst>
                  <a:ext uri="{FF2B5EF4-FFF2-40B4-BE49-F238E27FC236}">
                    <a16:creationId xmlns:a16="http://schemas.microsoft.com/office/drawing/2014/main" id="{01699E7C-41D0-8246-9E8A-91B52999C1A8}"/>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0" name="Line 102">
                <a:extLst>
                  <a:ext uri="{FF2B5EF4-FFF2-40B4-BE49-F238E27FC236}">
                    <a16:creationId xmlns:a16="http://schemas.microsoft.com/office/drawing/2014/main" id="{7D69150E-97FA-434C-862D-F74FC2ABA9DC}"/>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1" name="Line 103">
                <a:extLst>
                  <a:ext uri="{FF2B5EF4-FFF2-40B4-BE49-F238E27FC236}">
                    <a16:creationId xmlns:a16="http://schemas.microsoft.com/office/drawing/2014/main" id="{A307E037-5381-D44A-8306-DFB575015FA5}"/>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2" name="Line 104">
                <a:extLst>
                  <a:ext uri="{FF2B5EF4-FFF2-40B4-BE49-F238E27FC236}">
                    <a16:creationId xmlns:a16="http://schemas.microsoft.com/office/drawing/2014/main" id="{29450D42-20AD-D14E-A1DE-3ECEB1B39778}"/>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44" name="TextBox 343">
              <a:extLst>
                <a:ext uri="{FF2B5EF4-FFF2-40B4-BE49-F238E27FC236}">
                  <a16:creationId xmlns:a16="http://schemas.microsoft.com/office/drawing/2014/main" id="{465DA3B7-A0C9-A04E-8C27-E06FCAFBA30F}"/>
                </a:ext>
              </a:extLst>
            </p:cNvPr>
            <p:cNvSpPr txBox="1"/>
            <p:nvPr/>
          </p:nvSpPr>
          <p:spPr>
            <a:xfrm>
              <a:off x="8111998" y="3112692"/>
              <a:ext cx="718688" cy="338554"/>
            </a:xfrm>
            <a:prstGeom prst="rect">
              <a:avLst/>
            </a:prstGeom>
            <a:noFill/>
          </p:spPr>
          <p:txBody>
            <a:bodyPr wrap="square" rtlCol="0">
              <a:spAutoFit/>
            </a:bodyPr>
            <a:lstStyle/>
            <a:p>
              <a:r>
                <a:rPr lang="en-US" sz="1600" dirty="0"/>
                <a:t>out</a:t>
              </a:r>
            </a:p>
          </p:txBody>
        </p:sp>
      </p:grpSp>
    </p:spTree>
    <p:extLst>
      <p:ext uri="{BB962C8B-B14F-4D97-AF65-F5344CB8AC3E}">
        <p14:creationId xmlns:p14="http://schemas.microsoft.com/office/powerpoint/2010/main" val="32432283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0" y="144204"/>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BJT and FET mixers</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9560112" y="6301689"/>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69</a:t>
            </a:fld>
            <a:endParaRPr lang="en-US" dirty="0">
              <a:solidFill>
                <a:schemeClr val="tx1"/>
              </a:solidFill>
            </a:endParaRPr>
          </a:p>
        </p:txBody>
      </p:sp>
      <p:grpSp>
        <p:nvGrpSpPr>
          <p:cNvPr id="5" name="Group 4">
            <a:extLst>
              <a:ext uri="{FF2B5EF4-FFF2-40B4-BE49-F238E27FC236}">
                <a16:creationId xmlns:a16="http://schemas.microsoft.com/office/drawing/2014/main" id="{8C990F92-FB07-1275-951D-223C1E23FD8C}"/>
              </a:ext>
            </a:extLst>
          </p:cNvPr>
          <p:cNvGrpSpPr/>
          <p:nvPr/>
        </p:nvGrpSpPr>
        <p:grpSpPr>
          <a:xfrm>
            <a:off x="8765228" y="2282814"/>
            <a:ext cx="2764280" cy="3624320"/>
            <a:chOff x="8694933" y="1658620"/>
            <a:chExt cx="2764280" cy="3624320"/>
          </a:xfrm>
        </p:grpSpPr>
        <p:grpSp>
          <p:nvGrpSpPr>
            <p:cNvPr id="17" name="Group 209">
              <a:extLst>
                <a:ext uri="{FF2B5EF4-FFF2-40B4-BE49-F238E27FC236}">
                  <a16:creationId xmlns:a16="http://schemas.microsoft.com/office/drawing/2014/main" id="{CB3F518F-C911-4144-984A-D3ACB59C14A5}"/>
                </a:ext>
              </a:extLst>
            </p:cNvPr>
            <p:cNvGrpSpPr>
              <a:grpSpLocks/>
            </p:cNvGrpSpPr>
            <p:nvPr/>
          </p:nvGrpSpPr>
          <p:grpSpPr bwMode="auto">
            <a:xfrm>
              <a:off x="9478421" y="2918185"/>
              <a:ext cx="152400" cy="762000"/>
              <a:chOff x="3935" y="1728"/>
              <a:chExt cx="96" cy="480"/>
            </a:xfrm>
          </p:grpSpPr>
          <p:sp>
            <p:nvSpPr>
              <p:cNvPr id="18" name="Arc 59">
                <a:extLst>
                  <a:ext uri="{FF2B5EF4-FFF2-40B4-BE49-F238E27FC236}">
                    <a16:creationId xmlns:a16="http://schemas.microsoft.com/office/drawing/2014/main" id="{79F42420-B6E0-B344-8EA3-78C1DBFFE8BA}"/>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 name="Arc 60">
                <a:extLst>
                  <a:ext uri="{FF2B5EF4-FFF2-40B4-BE49-F238E27FC236}">
                    <a16:creationId xmlns:a16="http://schemas.microsoft.com/office/drawing/2014/main" id="{4B4F8DB3-A65C-D949-A7D5-57E7580A6B35}"/>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 name="Arc 61">
                <a:extLst>
                  <a:ext uri="{FF2B5EF4-FFF2-40B4-BE49-F238E27FC236}">
                    <a16:creationId xmlns:a16="http://schemas.microsoft.com/office/drawing/2014/main" id="{44929794-199F-864A-A588-5C42430850EA}"/>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1" name="Arc 62">
                <a:extLst>
                  <a:ext uri="{FF2B5EF4-FFF2-40B4-BE49-F238E27FC236}">
                    <a16:creationId xmlns:a16="http://schemas.microsoft.com/office/drawing/2014/main" id="{0D9D40E1-41DF-8845-B9A8-58489E7A88F1}"/>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 name="Line 63">
                <a:extLst>
                  <a:ext uri="{FF2B5EF4-FFF2-40B4-BE49-F238E27FC236}">
                    <a16:creationId xmlns:a16="http://schemas.microsoft.com/office/drawing/2014/main" id="{80AB6230-0C8E-1244-A863-D94DCF4CBC53}"/>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 name="Line 64">
                <a:extLst>
                  <a:ext uri="{FF2B5EF4-FFF2-40B4-BE49-F238E27FC236}">
                    <a16:creationId xmlns:a16="http://schemas.microsoft.com/office/drawing/2014/main" id="{B2A3E257-B7D0-194B-8DCB-4AA2566DAC66}"/>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 name="Arc 65">
                <a:extLst>
                  <a:ext uri="{FF2B5EF4-FFF2-40B4-BE49-F238E27FC236}">
                    <a16:creationId xmlns:a16="http://schemas.microsoft.com/office/drawing/2014/main" id="{04A885A6-3DC2-5641-88E3-3531D22C70AB}"/>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 name="Arc 66">
                <a:extLst>
                  <a:ext uri="{FF2B5EF4-FFF2-40B4-BE49-F238E27FC236}">
                    <a16:creationId xmlns:a16="http://schemas.microsoft.com/office/drawing/2014/main" id="{59121CA0-B3DC-E64C-A673-E6E232A62BA9}"/>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 name="Arc 67">
                <a:extLst>
                  <a:ext uri="{FF2B5EF4-FFF2-40B4-BE49-F238E27FC236}">
                    <a16:creationId xmlns:a16="http://schemas.microsoft.com/office/drawing/2014/main" id="{649E58AF-FB1D-2A4F-8161-C80A9CC4D823}"/>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 name="Arc 68">
                <a:extLst>
                  <a:ext uri="{FF2B5EF4-FFF2-40B4-BE49-F238E27FC236}">
                    <a16:creationId xmlns:a16="http://schemas.microsoft.com/office/drawing/2014/main" id="{B049FFF8-96C7-0845-9635-D469B4F19967}"/>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 name="Arc 69">
                <a:extLst>
                  <a:ext uri="{FF2B5EF4-FFF2-40B4-BE49-F238E27FC236}">
                    <a16:creationId xmlns:a16="http://schemas.microsoft.com/office/drawing/2014/main" id="{B07512D0-A0BD-DD40-B708-CB318B972087}"/>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 name="Arc 70">
                <a:extLst>
                  <a:ext uri="{FF2B5EF4-FFF2-40B4-BE49-F238E27FC236}">
                    <a16:creationId xmlns:a16="http://schemas.microsoft.com/office/drawing/2014/main" id="{77880D2D-B5CC-3649-986E-C7B28CA6B503}"/>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 name="Arc 71">
                <a:extLst>
                  <a:ext uri="{FF2B5EF4-FFF2-40B4-BE49-F238E27FC236}">
                    <a16:creationId xmlns:a16="http://schemas.microsoft.com/office/drawing/2014/main" id="{3ECE13DD-EA1A-0F43-B8CE-60103C6090CA}"/>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37" name="TextBox 36">
              <a:extLst>
                <a:ext uri="{FF2B5EF4-FFF2-40B4-BE49-F238E27FC236}">
                  <a16:creationId xmlns:a16="http://schemas.microsoft.com/office/drawing/2014/main" id="{D255FFA7-9159-CA42-A25C-E1EE20154E25}"/>
                </a:ext>
              </a:extLst>
            </p:cNvPr>
            <p:cNvSpPr txBox="1"/>
            <p:nvPr/>
          </p:nvSpPr>
          <p:spPr>
            <a:xfrm>
              <a:off x="9193495" y="1658620"/>
              <a:ext cx="1093889" cy="369332"/>
            </a:xfrm>
            <a:prstGeom prst="rect">
              <a:avLst/>
            </a:prstGeom>
            <a:noFill/>
          </p:spPr>
          <p:txBody>
            <a:bodyPr wrap="none" rtlCol="0">
              <a:spAutoFit/>
            </a:bodyPr>
            <a:lstStyle/>
            <a:p>
              <a:r>
                <a:rPr lang="en-US" dirty="0"/>
                <a:t>FET mixer</a:t>
              </a:r>
            </a:p>
          </p:txBody>
        </p:sp>
        <p:grpSp>
          <p:nvGrpSpPr>
            <p:cNvPr id="38" name="Group 210">
              <a:extLst>
                <a:ext uri="{FF2B5EF4-FFF2-40B4-BE49-F238E27FC236}">
                  <a16:creationId xmlns:a16="http://schemas.microsoft.com/office/drawing/2014/main" id="{5777C84E-A81F-A54D-9673-6B6AFB57B56D}"/>
                </a:ext>
              </a:extLst>
            </p:cNvPr>
            <p:cNvGrpSpPr>
              <a:grpSpLocks/>
            </p:cNvGrpSpPr>
            <p:nvPr/>
          </p:nvGrpSpPr>
          <p:grpSpPr bwMode="auto">
            <a:xfrm rot="5400000">
              <a:off x="9015199" y="3323813"/>
              <a:ext cx="304800" cy="762000"/>
              <a:chOff x="3216" y="1728"/>
              <a:chExt cx="192" cy="480"/>
            </a:xfrm>
          </p:grpSpPr>
          <p:sp>
            <p:nvSpPr>
              <p:cNvPr id="101" name="Line 8">
                <a:extLst>
                  <a:ext uri="{FF2B5EF4-FFF2-40B4-BE49-F238E27FC236}">
                    <a16:creationId xmlns:a16="http://schemas.microsoft.com/office/drawing/2014/main" id="{3C77F468-EAFA-6F41-9318-4602959232C3}"/>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 name="Line 9">
                <a:extLst>
                  <a:ext uri="{FF2B5EF4-FFF2-40B4-BE49-F238E27FC236}">
                    <a16:creationId xmlns:a16="http://schemas.microsoft.com/office/drawing/2014/main" id="{E02FD86B-00AA-F44D-BDDB-1CE2DF07E6DA}"/>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 name="Line 10">
                <a:extLst>
                  <a:ext uri="{FF2B5EF4-FFF2-40B4-BE49-F238E27FC236}">
                    <a16:creationId xmlns:a16="http://schemas.microsoft.com/office/drawing/2014/main" id="{1FEDFAAA-B62F-1149-8AA2-BA4EE0CD8E15}"/>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 name="Line 11">
                <a:extLst>
                  <a:ext uri="{FF2B5EF4-FFF2-40B4-BE49-F238E27FC236}">
                    <a16:creationId xmlns:a16="http://schemas.microsoft.com/office/drawing/2014/main" id="{E44D8B1E-06AF-C147-BD59-0143810FF5EA}"/>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0" name="Group 39">
              <a:extLst>
                <a:ext uri="{FF2B5EF4-FFF2-40B4-BE49-F238E27FC236}">
                  <a16:creationId xmlns:a16="http://schemas.microsoft.com/office/drawing/2014/main" id="{225096FF-77BB-314D-B1E7-96C5A4C3760E}"/>
                </a:ext>
              </a:extLst>
            </p:cNvPr>
            <p:cNvGrpSpPr/>
            <p:nvPr/>
          </p:nvGrpSpPr>
          <p:grpSpPr>
            <a:xfrm>
              <a:off x="9499613" y="3089891"/>
              <a:ext cx="762000" cy="1219200"/>
              <a:chOff x="2362200" y="1905000"/>
              <a:chExt cx="762000" cy="1219200"/>
            </a:xfrm>
          </p:grpSpPr>
          <p:cxnSp>
            <p:nvCxnSpPr>
              <p:cNvPr id="92" name="Straight Connector 91">
                <a:extLst>
                  <a:ext uri="{FF2B5EF4-FFF2-40B4-BE49-F238E27FC236}">
                    <a16:creationId xmlns:a16="http://schemas.microsoft.com/office/drawing/2014/main" id="{0CE05387-E260-3144-BEE8-C178DCB2DC98}"/>
                  </a:ext>
                </a:extLst>
              </p:cNvPr>
              <p:cNvCxnSpPr/>
              <p:nvPr/>
            </p:nvCxnSpPr>
            <p:spPr bwMode="auto">
              <a:xfrm>
                <a:off x="2819400" y="2209800"/>
                <a:ext cx="0" cy="640080"/>
              </a:xfrm>
              <a:prstGeom prst="line">
                <a:avLst/>
              </a:prstGeom>
              <a:solidFill>
                <a:schemeClr val="accent1"/>
              </a:solidFill>
              <a:ln w="31750" cap="flat" cmpd="sng" algn="ctr">
                <a:solidFill>
                  <a:schemeClr val="tx1"/>
                </a:solidFill>
                <a:prstDash val="solid"/>
                <a:round/>
                <a:headEnd type="none" w="med" len="med"/>
                <a:tailEnd type="none" w="med" len="med"/>
              </a:ln>
              <a:effectLst/>
            </p:spPr>
          </p:cxnSp>
          <p:cxnSp>
            <p:nvCxnSpPr>
              <p:cNvPr id="93" name="Straight Connector 92">
                <a:extLst>
                  <a:ext uri="{FF2B5EF4-FFF2-40B4-BE49-F238E27FC236}">
                    <a16:creationId xmlns:a16="http://schemas.microsoft.com/office/drawing/2014/main" id="{BFB06DDA-2769-ED4C-99EF-E69199D81C22}"/>
                  </a:ext>
                </a:extLst>
              </p:cNvPr>
              <p:cNvCxnSpPr/>
              <p:nvPr/>
            </p:nvCxnSpPr>
            <p:spPr bwMode="auto">
              <a:xfrm>
                <a:off x="3113183" y="1905000"/>
                <a:ext cx="0" cy="45720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94" name="Straight Connector 93">
                <a:extLst>
                  <a:ext uri="{FF2B5EF4-FFF2-40B4-BE49-F238E27FC236}">
                    <a16:creationId xmlns:a16="http://schemas.microsoft.com/office/drawing/2014/main" id="{2C140FFA-6E06-E74D-9627-208E52B7CEBA}"/>
                  </a:ext>
                </a:extLst>
              </p:cNvPr>
              <p:cNvCxnSpPr>
                <a:cxnSpLocks/>
              </p:cNvCxnSpPr>
              <p:nvPr/>
            </p:nvCxnSpPr>
            <p:spPr bwMode="auto">
              <a:xfrm>
                <a:off x="2819400" y="2362200"/>
                <a:ext cx="304800"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95" name="Straight Connector 94">
                <a:extLst>
                  <a:ext uri="{FF2B5EF4-FFF2-40B4-BE49-F238E27FC236}">
                    <a16:creationId xmlns:a16="http://schemas.microsoft.com/office/drawing/2014/main" id="{AF288C95-9585-AE4D-BB16-DF173C8CC6D6}"/>
                  </a:ext>
                </a:extLst>
              </p:cNvPr>
              <p:cNvCxnSpPr>
                <a:cxnSpLocks/>
              </p:cNvCxnSpPr>
              <p:nvPr/>
            </p:nvCxnSpPr>
            <p:spPr bwMode="auto">
              <a:xfrm>
                <a:off x="2819400" y="2667000"/>
                <a:ext cx="304800"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96" name="Straight Connector 95">
                <a:extLst>
                  <a:ext uri="{FF2B5EF4-FFF2-40B4-BE49-F238E27FC236}">
                    <a16:creationId xmlns:a16="http://schemas.microsoft.com/office/drawing/2014/main" id="{F82F6D1C-5740-0740-928A-1A42632BE680}"/>
                  </a:ext>
                </a:extLst>
              </p:cNvPr>
              <p:cNvCxnSpPr/>
              <p:nvPr/>
            </p:nvCxnSpPr>
            <p:spPr bwMode="auto">
              <a:xfrm>
                <a:off x="3124200" y="2667000"/>
                <a:ext cx="0" cy="45720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97" name="Straight Arrow Connector 96">
                <a:extLst>
                  <a:ext uri="{FF2B5EF4-FFF2-40B4-BE49-F238E27FC236}">
                    <a16:creationId xmlns:a16="http://schemas.microsoft.com/office/drawing/2014/main" id="{C43F590E-E551-C146-889E-113C8862C972}"/>
                  </a:ext>
                </a:extLst>
              </p:cNvPr>
              <p:cNvCxnSpPr>
                <a:cxnSpLocks/>
              </p:cNvCxnSpPr>
              <p:nvPr/>
            </p:nvCxnSpPr>
            <p:spPr bwMode="auto">
              <a:xfrm>
                <a:off x="2362200" y="2514600"/>
                <a:ext cx="457200" cy="0"/>
              </a:xfrm>
              <a:prstGeom prst="straightConnector1">
                <a:avLst/>
              </a:prstGeom>
              <a:solidFill>
                <a:schemeClr val="accent1"/>
              </a:solidFill>
              <a:ln w="25400" cap="flat" cmpd="sng" algn="ctr">
                <a:solidFill>
                  <a:schemeClr val="tx1"/>
                </a:solidFill>
                <a:prstDash val="solid"/>
                <a:round/>
                <a:headEnd type="none" w="med" len="med"/>
                <a:tailEnd type="triangle"/>
              </a:ln>
              <a:effectLst/>
            </p:spPr>
          </p:cxnSp>
          <p:sp>
            <p:nvSpPr>
              <p:cNvPr id="98" name="TextBox 97">
                <a:extLst>
                  <a:ext uri="{FF2B5EF4-FFF2-40B4-BE49-F238E27FC236}">
                    <a16:creationId xmlns:a16="http://schemas.microsoft.com/office/drawing/2014/main" id="{D70E3C61-00D8-1445-BE2C-71DF436A4175}"/>
                  </a:ext>
                </a:extLst>
              </p:cNvPr>
              <p:cNvSpPr txBox="1"/>
              <p:nvPr/>
            </p:nvSpPr>
            <p:spPr>
              <a:xfrm>
                <a:off x="2819400" y="1905000"/>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D</a:t>
                </a:r>
              </a:p>
            </p:txBody>
          </p:sp>
          <p:sp>
            <p:nvSpPr>
              <p:cNvPr id="99" name="TextBox 98">
                <a:extLst>
                  <a:ext uri="{FF2B5EF4-FFF2-40B4-BE49-F238E27FC236}">
                    <a16:creationId xmlns:a16="http://schemas.microsoft.com/office/drawing/2014/main" id="{A76E8216-953C-5245-AA88-42CADF5D8E9D}"/>
                  </a:ext>
                </a:extLst>
              </p:cNvPr>
              <p:cNvSpPr txBox="1"/>
              <p:nvPr/>
            </p:nvSpPr>
            <p:spPr>
              <a:xfrm>
                <a:off x="2819400" y="2664023"/>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S</a:t>
                </a:r>
              </a:p>
            </p:txBody>
          </p:sp>
          <p:sp>
            <p:nvSpPr>
              <p:cNvPr id="100" name="TextBox 99">
                <a:extLst>
                  <a:ext uri="{FF2B5EF4-FFF2-40B4-BE49-F238E27FC236}">
                    <a16:creationId xmlns:a16="http://schemas.microsoft.com/office/drawing/2014/main" id="{E29A2367-3E01-EE41-AFC8-1C59BCFABE91}"/>
                  </a:ext>
                </a:extLst>
              </p:cNvPr>
              <p:cNvSpPr txBox="1"/>
              <p:nvPr/>
            </p:nvSpPr>
            <p:spPr>
              <a:xfrm>
                <a:off x="2438400" y="2206823"/>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G</a:t>
                </a:r>
              </a:p>
            </p:txBody>
          </p:sp>
        </p:grpSp>
        <p:grpSp>
          <p:nvGrpSpPr>
            <p:cNvPr id="41" name="Group 220">
              <a:extLst>
                <a:ext uri="{FF2B5EF4-FFF2-40B4-BE49-F238E27FC236}">
                  <a16:creationId xmlns:a16="http://schemas.microsoft.com/office/drawing/2014/main" id="{59F97E2F-392A-5442-ABB9-035E13C7CFE1}"/>
                </a:ext>
              </a:extLst>
            </p:cNvPr>
            <p:cNvGrpSpPr>
              <a:grpSpLocks/>
            </p:cNvGrpSpPr>
            <p:nvPr/>
          </p:nvGrpSpPr>
          <p:grpSpPr bwMode="auto">
            <a:xfrm>
              <a:off x="9466961" y="4406649"/>
              <a:ext cx="152400" cy="304800"/>
              <a:chOff x="3264" y="3072"/>
              <a:chExt cx="96" cy="192"/>
            </a:xfrm>
          </p:grpSpPr>
          <p:sp>
            <p:nvSpPr>
              <p:cNvPr id="90" name="Line 17">
                <a:extLst>
                  <a:ext uri="{FF2B5EF4-FFF2-40B4-BE49-F238E27FC236}">
                    <a16:creationId xmlns:a16="http://schemas.microsoft.com/office/drawing/2014/main" id="{A2BD1F4C-377C-7449-B6E1-7BF8E71783B7}"/>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91" name="Freeform 18">
                <a:extLst>
                  <a:ext uri="{FF2B5EF4-FFF2-40B4-BE49-F238E27FC236}">
                    <a16:creationId xmlns:a16="http://schemas.microsoft.com/office/drawing/2014/main" id="{A40CC255-201A-6A44-B941-B0548BE7EC33}"/>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grpSp>
        <p:grpSp>
          <p:nvGrpSpPr>
            <p:cNvPr id="42" name="Group 13">
              <a:extLst>
                <a:ext uri="{FF2B5EF4-FFF2-40B4-BE49-F238E27FC236}">
                  <a16:creationId xmlns:a16="http://schemas.microsoft.com/office/drawing/2014/main" id="{6CC7033B-EF65-C640-B01D-9093666019EF}"/>
                </a:ext>
              </a:extLst>
            </p:cNvPr>
            <p:cNvGrpSpPr>
              <a:grpSpLocks noChangeAspect="1"/>
            </p:cNvGrpSpPr>
            <p:nvPr/>
          </p:nvGrpSpPr>
          <p:grpSpPr bwMode="auto">
            <a:xfrm>
              <a:off x="9469774" y="3628615"/>
              <a:ext cx="152400" cy="152400"/>
              <a:chOff x="1344" y="2064"/>
              <a:chExt cx="192" cy="192"/>
            </a:xfrm>
          </p:grpSpPr>
          <p:sp>
            <p:nvSpPr>
              <p:cNvPr id="88" name="Oval 14">
                <a:extLst>
                  <a:ext uri="{FF2B5EF4-FFF2-40B4-BE49-F238E27FC236}">
                    <a16:creationId xmlns:a16="http://schemas.microsoft.com/office/drawing/2014/main" id="{D7C1F85E-0795-EA4A-90CE-6CCDE0E4DAB2}"/>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89" name="Rectangle 15">
                <a:extLst>
                  <a:ext uri="{FF2B5EF4-FFF2-40B4-BE49-F238E27FC236}">
                    <a16:creationId xmlns:a16="http://schemas.microsoft.com/office/drawing/2014/main" id="{EAAE652F-6984-B04D-8271-12BDD8C28233}"/>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44" name="Group 210">
              <a:extLst>
                <a:ext uri="{FF2B5EF4-FFF2-40B4-BE49-F238E27FC236}">
                  <a16:creationId xmlns:a16="http://schemas.microsoft.com/office/drawing/2014/main" id="{78D56462-46B5-2142-A056-981534CC3D0B}"/>
                </a:ext>
              </a:extLst>
            </p:cNvPr>
            <p:cNvGrpSpPr>
              <a:grpSpLocks/>
            </p:cNvGrpSpPr>
            <p:nvPr/>
          </p:nvGrpSpPr>
          <p:grpSpPr bwMode="auto">
            <a:xfrm rot="5400000">
              <a:off x="10479335" y="2714410"/>
              <a:ext cx="304800" cy="762000"/>
              <a:chOff x="3216" y="1728"/>
              <a:chExt cx="192" cy="480"/>
            </a:xfrm>
          </p:grpSpPr>
          <p:sp>
            <p:nvSpPr>
              <p:cNvPr id="84" name="Line 8">
                <a:extLst>
                  <a:ext uri="{FF2B5EF4-FFF2-40B4-BE49-F238E27FC236}">
                    <a16:creationId xmlns:a16="http://schemas.microsoft.com/office/drawing/2014/main" id="{278C8F97-0677-3E4D-8EBD-FB5F2B893264}"/>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 name="Line 9">
                <a:extLst>
                  <a:ext uri="{FF2B5EF4-FFF2-40B4-BE49-F238E27FC236}">
                    <a16:creationId xmlns:a16="http://schemas.microsoft.com/office/drawing/2014/main" id="{EAB6022A-DB72-D84F-A6C9-2813C06ADE30}"/>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 name="Line 10">
                <a:extLst>
                  <a:ext uri="{FF2B5EF4-FFF2-40B4-BE49-F238E27FC236}">
                    <a16:creationId xmlns:a16="http://schemas.microsoft.com/office/drawing/2014/main" id="{15230B3E-6162-0F40-B838-D3A99F0E1B8D}"/>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 name="Line 11">
                <a:extLst>
                  <a:ext uri="{FF2B5EF4-FFF2-40B4-BE49-F238E27FC236}">
                    <a16:creationId xmlns:a16="http://schemas.microsoft.com/office/drawing/2014/main" id="{88D062F1-48AF-1242-A5F1-6EF7A0528B03}"/>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6" name="Freeform 12">
              <a:extLst>
                <a:ext uri="{FF2B5EF4-FFF2-40B4-BE49-F238E27FC236}">
                  <a16:creationId xmlns:a16="http://schemas.microsoft.com/office/drawing/2014/main" id="{0B84B576-F079-824E-9937-A1CB53A31F90}"/>
                </a:ext>
              </a:extLst>
            </p:cNvPr>
            <p:cNvSpPr>
              <a:spLocks noChangeAspect="1"/>
            </p:cNvSpPr>
            <p:nvPr/>
          </p:nvSpPr>
          <p:spPr bwMode="auto">
            <a:xfrm>
              <a:off x="9466957" y="3709458"/>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47" name="Group 13">
              <a:extLst>
                <a:ext uri="{FF2B5EF4-FFF2-40B4-BE49-F238E27FC236}">
                  <a16:creationId xmlns:a16="http://schemas.microsoft.com/office/drawing/2014/main" id="{BF4E138E-99B0-B241-BB71-24EF9E04E4B2}"/>
                </a:ext>
              </a:extLst>
            </p:cNvPr>
            <p:cNvGrpSpPr>
              <a:grpSpLocks noChangeAspect="1"/>
            </p:cNvGrpSpPr>
            <p:nvPr/>
          </p:nvGrpSpPr>
          <p:grpSpPr bwMode="auto">
            <a:xfrm>
              <a:off x="8713217" y="3588700"/>
              <a:ext cx="228600" cy="228600"/>
              <a:chOff x="1344" y="2064"/>
              <a:chExt cx="192" cy="192"/>
            </a:xfrm>
          </p:grpSpPr>
          <p:sp>
            <p:nvSpPr>
              <p:cNvPr id="82" name="Oval 14">
                <a:extLst>
                  <a:ext uri="{FF2B5EF4-FFF2-40B4-BE49-F238E27FC236}">
                    <a16:creationId xmlns:a16="http://schemas.microsoft.com/office/drawing/2014/main" id="{1A9D61D5-03B4-D942-BD78-00893511F298}"/>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83" name="Rectangle 15">
                <a:extLst>
                  <a:ext uri="{FF2B5EF4-FFF2-40B4-BE49-F238E27FC236}">
                    <a16:creationId xmlns:a16="http://schemas.microsoft.com/office/drawing/2014/main" id="{DF565E05-3E37-5846-96DA-F25A2DF0F2EB}"/>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48" name="Group 13">
              <a:extLst>
                <a:ext uri="{FF2B5EF4-FFF2-40B4-BE49-F238E27FC236}">
                  <a16:creationId xmlns:a16="http://schemas.microsoft.com/office/drawing/2014/main" id="{DC0DE77B-8183-D643-9046-DC7B354AAAE2}"/>
                </a:ext>
              </a:extLst>
            </p:cNvPr>
            <p:cNvGrpSpPr>
              <a:grpSpLocks noChangeAspect="1"/>
            </p:cNvGrpSpPr>
            <p:nvPr/>
          </p:nvGrpSpPr>
          <p:grpSpPr bwMode="auto">
            <a:xfrm>
              <a:off x="10950229" y="2991248"/>
              <a:ext cx="228600" cy="228600"/>
              <a:chOff x="1344" y="2064"/>
              <a:chExt cx="192" cy="192"/>
            </a:xfrm>
          </p:grpSpPr>
          <p:sp>
            <p:nvSpPr>
              <p:cNvPr id="80" name="Oval 14">
                <a:extLst>
                  <a:ext uri="{FF2B5EF4-FFF2-40B4-BE49-F238E27FC236}">
                    <a16:creationId xmlns:a16="http://schemas.microsoft.com/office/drawing/2014/main" id="{6D4F8148-40BE-C645-B786-82EEE8260802}"/>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81" name="Rectangle 15">
                <a:extLst>
                  <a:ext uri="{FF2B5EF4-FFF2-40B4-BE49-F238E27FC236}">
                    <a16:creationId xmlns:a16="http://schemas.microsoft.com/office/drawing/2014/main" id="{70C1CA47-C0DB-1B4A-885B-7A4BBEE1D487}"/>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49" name="Freeform 12">
              <a:extLst>
                <a:ext uri="{FF2B5EF4-FFF2-40B4-BE49-F238E27FC236}">
                  <a16:creationId xmlns:a16="http://schemas.microsoft.com/office/drawing/2014/main" id="{AC9FE2C1-64F5-3E4C-9E4E-DEBF958E7F03}"/>
                </a:ext>
              </a:extLst>
            </p:cNvPr>
            <p:cNvSpPr>
              <a:spLocks noChangeAspect="1"/>
            </p:cNvSpPr>
            <p:nvPr/>
          </p:nvSpPr>
          <p:spPr bwMode="auto">
            <a:xfrm>
              <a:off x="10185411" y="4242859"/>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51" name="Straight Connector 50">
              <a:extLst>
                <a:ext uri="{FF2B5EF4-FFF2-40B4-BE49-F238E27FC236}">
                  <a16:creationId xmlns:a16="http://schemas.microsoft.com/office/drawing/2014/main" id="{E2E14B4D-8330-064E-89DB-500627E552A9}"/>
                </a:ext>
              </a:extLst>
            </p:cNvPr>
            <p:cNvCxnSpPr/>
            <p:nvPr/>
          </p:nvCxnSpPr>
          <p:spPr>
            <a:xfrm flipV="1">
              <a:off x="9532983" y="2348745"/>
              <a:ext cx="7315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3" name="Group 220">
              <a:extLst>
                <a:ext uri="{FF2B5EF4-FFF2-40B4-BE49-F238E27FC236}">
                  <a16:creationId xmlns:a16="http://schemas.microsoft.com/office/drawing/2014/main" id="{6C1C90D7-4BF9-2F47-B994-94C6ADB66945}"/>
                </a:ext>
              </a:extLst>
            </p:cNvPr>
            <p:cNvGrpSpPr>
              <a:grpSpLocks/>
            </p:cNvGrpSpPr>
            <p:nvPr/>
          </p:nvGrpSpPr>
          <p:grpSpPr bwMode="auto">
            <a:xfrm>
              <a:off x="10184226" y="4978140"/>
              <a:ext cx="152400" cy="304800"/>
              <a:chOff x="3257" y="3072"/>
              <a:chExt cx="96" cy="192"/>
            </a:xfrm>
          </p:grpSpPr>
          <p:sp>
            <p:nvSpPr>
              <p:cNvPr id="78" name="Line 17">
                <a:extLst>
                  <a:ext uri="{FF2B5EF4-FFF2-40B4-BE49-F238E27FC236}">
                    <a16:creationId xmlns:a16="http://schemas.microsoft.com/office/drawing/2014/main" id="{B423656E-AC4A-7B43-8B4F-178EAFF1D21C}"/>
                  </a:ext>
                </a:extLst>
              </p:cNvPr>
              <p:cNvSpPr>
                <a:spLocks noChangeAspect="1" noChangeShapeType="1"/>
              </p:cNvSpPr>
              <p:nvPr/>
            </p:nvSpPr>
            <p:spPr bwMode="auto">
              <a:xfrm>
                <a:off x="3305"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79" name="Freeform 18">
                <a:extLst>
                  <a:ext uri="{FF2B5EF4-FFF2-40B4-BE49-F238E27FC236}">
                    <a16:creationId xmlns:a16="http://schemas.microsoft.com/office/drawing/2014/main" id="{0184AD8E-0063-9F45-AAAC-216C9D3AA300}"/>
                  </a:ext>
                </a:extLst>
              </p:cNvPr>
              <p:cNvSpPr>
                <a:spLocks noChangeAspect="1"/>
              </p:cNvSpPr>
              <p:nvPr/>
            </p:nvSpPr>
            <p:spPr bwMode="auto">
              <a:xfrm>
                <a:off x="3257"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gr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A8BC80F9-1E4D-D741-9A5C-1754C880F874}"/>
                    </a:ext>
                  </a:extLst>
                </p:cNvPr>
                <p:cNvSpPr txBox="1"/>
                <p:nvPr/>
              </p:nvSpPr>
              <p:spPr>
                <a:xfrm>
                  <a:off x="8876496" y="3869850"/>
                  <a:ext cx="633999"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𝐵𝐿</m:t>
                            </m:r>
                          </m:sub>
                        </m:sSub>
                      </m:oMath>
                    </m:oMathPara>
                  </a14:m>
                  <a:endParaRPr lang="en-US" dirty="0"/>
                </a:p>
              </p:txBody>
            </p:sp>
          </mc:Choice>
          <mc:Fallback xmlns="">
            <p:sp>
              <p:nvSpPr>
                <p:cNvPr id="57" name="TextBox 56">
                  <a:extLst>
                    <a:ext uri="{FF2B5EF4-FFF2-40B4-BE49-F238E27FC236}">
                      <a16:creationId xmlns:a16="http://schemas.microsoft.com/office/drawing/2014/main" id="{A8BC80F9-1E4D-D741-9A5C-1754C880F874}"/>
                    </a:ext>
                  </a:extLst>
                </p:cNvPr>
                <p:cNvSpPr txBox="1">
                  <a:spLocks noRot="1" noChangeAspect="1" noMove="1" noResize="1" noEditPoints="1" noAdjustHandles="1" noChangeArrowheads="1" noChangeShapeType="1" noTextEdit="1"/>
                </p:cNvSpPr>
                <p:nvPr/>
              </p:nvSpPr>
              <p:spPr>
                <a:xfrm>
                  <a:off x="8876496" y="3869850"/>
                  <a:ext cx="633999"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10D64BD8-E123-4343-B593-6B776D67674E}"/>
                    </a:ext>
                  </a:extLst>
                </p:cNvPr>
                <p:cNvSpPr txBox="1"/>
                <p:nvPr/>
              </p:nvSpPr>
              <p:spPr>
                <a:xfrm>
                  <a:off x="9584065" y="4064058"/>
                  <a:ext cx="633999"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oMath>
                    </m:oMathPara>
                  </a14:m>
                  <a:endParaRPr lang="en-US" dirty="0"/>
                </a:p>
              </p:txBody>
            </p:sp>
          </mc:Choice>
          <mc:Fallback xmlns="">
            <p:sp>
              <p:nvSpPr>
                <p:cNvPr id="58" name="TextBox 57">
                  <a:extLst>
                    <a:ext uri="{FF2B5EF4-FFF2-40B4-BE49-F238E27FC236}">
                      <a16:creationId xmlns:a16="http://schemas.microsoft.com/office/drawing/2014/main" id="{10D64BD8-E123-4343-B593-6B776D67674E}"/>
                    </a:ext>
                  </a:extLst>
                </p:cNvPr>
                <p:cNvSpPr txBox="1">
                  <a:spLocks noRot="1" noChangeAspect="1" noMove="1" noResize="1" noEditPoints="1" noAdjustHandles="1" noChangeArrowheads="1" noChangeShapeType="1" noTextEdit="1"/>
                </p:cNvSpPr>
                <p:nvPr/>
              </p:nvSpPr>
              <p:spPr>
                <a:xfrm>
                  <a:off x="9584065" y="4064058"/>
                  <a:ext cx="633999"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DAA98F2B-5C5A-D74F-BAFE-06471FD68C0B}"/>
                    </a:ext>
                  </a:extLst>
                </p:cNvPr>
                <p:cNvSpPr txBox="1"/>
                <p:nvPr/>
              </p:nvSpPr>
              <p:spPr>
                <a:xfrm>
                  <a:off x="9790359" y="4488967"/>
                  <a:ext cx="633999"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𝑆</m:t>
                            </m:r>
                          </m:sub>
                        </m:sSub>
                      </m:oMath>
                    </m:oMathPara>
                  </a14:m>
                  <a:endParaRPr lang="en-US" dirty="0"/>
                </a:p>
              </p:txBody>
            </p:sp>
          </mc:Choice>
          <mc:Fallback xmlns="">
            <p:sp>
              <p:nvSpPr>
                <p:cNvPr id="60" name="TextBox 59">
                  <a:extLst>
                    <a:ext uri="{FF2B5EF4-FFF2-40B4-BE49-F238E27FC236}">
                      <a16:creationId xmlns:a16="http://schemas.microsoft.com/office/drawing/2014/main" id="{DAA98F2B-5C5A-D74F-BAFE-06471FD68C0B}"/>
                    </a:ext>
                  </a:extLst>
                </p:cNvPr>
                <p:cNvSpPr txBox="1">
                  <a:spLocks noRot="1" noChangeAspect="1" noMove="1" noResize="1" noEditPoints="1" noAdjustHandles="1" noChangeArrowheads="1" noChangeShapeType="1" noTextEdit="1"/>
                </p:cNvSpPr>
                <p:nvPr/>
              </p:nvSpPr>
              <p:spPr>
                <a:xfrm>
                  <a:off x="9790359" y="4488967"/>
                  <a:ext cx="633999" cy="369332"/>
                </a:xfrm>
                <a:prstGeom prst="rect">
                  <a:avLst/>
                </a:prstGeom>
                <a:blipFill>
                  <a:blip r:embed="rId5"/>
                  <a:stretch>
                    <a:fillRect/>
                  </a:stretch>
                </a:blipFill>
              </p:spPr>
              <p:txBody>
                <a:bodyPr/>
                <a:lstStyle/>
                <a:p>
                  <a:r>
                    <a:rPr lang="en-US">
                      <a:noFill/>
                    </a:rPr>
                    <a:t> </a:t>
                  </a:r>
                </a:p>
              </p:txBody>
            </p:sp>
          </mc:Fallback>
        </mc:AlternateContent>
        <p:cxnSp>
          <p:nvCxnSpPr>
            <p:cNvPr id="63" name="Straight Connector 62">
              <a:extLst>
                <a:ext uri="{FF2B5EF4-FFF2-40B4-BE49-F238E27FC236}">
                  <a16:creationId xmlns:a16="http://schemas.microsoft.com/office/drawing/2014/main" id="{EC29EFAD-487C-614D-B352-B2904BB7BDAD}"/>
                </a:ext>
              </a:extLst>
            </p:cNvPr>
            <p:cNvCxnSpPr>
              <a:cxnSpLocks/>
            </p:cNvCxnSpPr>
            <p:nvPr/>
          </p:nvCxnSpPr>
          <p:spPr>
            <a:xfrm flipV="1">
              <a:off x="9922827" y="2090433"/>
              <a:ext cx="0" cy="2583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4" name="Group 13">
              <a:extLst>
                <a:ext uri="{FF2B5EF4-FFF2-40B4-BE49-F238E27FC236}">
                  <a16:creationId xmlns:a16="http://schemas.microsoft.com/office/drawing/2014/main" id="{B7492192-3060-E746-8F06-0C636EC9052D}"/>
                </a:ext>
              </a:extLst>
            </p:cNvPr>
            <p:cNvGrpSpPr>
              <a:grpSpLocks noChangeAspect="1"/>
            </p:cNvGrpSpPr>
            <p:nvPr/>
          </p:nvGrpSpPr>
          <p:grpSpPr bwMode="auto">
            <a:xfrm>
              <a:off x="9816159" y="2008041"/>
              <a:ext cx="228600" cy="228600"/>
              <a:chOff x="1344" y="2064"/>
              <a:chExt cx="192" cy="192"/>
            </a:xfrm>
          </p:grpSpPr>
          <p:sp>
            <p:nvSpPr>
              <p:cNvPr id="70" name="Oval 14">
                <a:extLst>
                  <a:ext uri="{FF2B5EF4-FFF2-40B4-BE49-F238E27FC236}">
                    <a16:creationId xmlns:a16="http://schemas.microsoft.com/office/drawing/2014/main" id="{5B7A09B4-A935-A142-A278-D9450CBD6CDF}"/>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71" name="Rectangle 15">
                <a:extLst>
                  <a:ext uri="{FF2B5EF4-FFF2-40B4-BE49-F238E27FC236}">
                    <a16:creationId xmlns:a16="http://schemas.microsoft.com/office/drawing/2014/main" id="{D8B920F5-31F6-DD4B-9944-3F80F0B6CA57}"/>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cxnSp>
          <p:nvCxnSpPr>
            <p:cNvPr id="65" name="Straight Connector 64">
              <a:extLst>
                <a:ext uri="{FF2B5EF4-FFF2-40B4-BE49-F238E27FC236}">
                  <a16:creationId xmlns:a16="http://schemas.microsoft.com/office/drawing/2014/main" id="{E3C3A7FB-BA5E-9A41-96C7-77AE9F70C7BC}"/>
                </a:ext>
              </a:extLst>
            </p:cNvPr>
            <p:cNvCxnSpPr>
              <a:cxnSpLocks/>
            </p:cNvCxnSpPr>
            <p:nvPr/>
          </p:nvCxnSpPr>
          <p:spPr>
            <a:xfrm flipV="1">
              <a:off x="9553207" y="2348745"/>
              <a:ext cx="0" cy="60350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352A6D82-DCEF-E44F-AC47-82BE761D02B2}"/>
                    </a:ext>
                  </a:extLst>
                </p:cNvPr>
                <p:cNvSpPr txBox="1"/>
                <p:nvPr/>
              </p:nvSpPr>
              <p:spPr>
                <a:xfrm>
                  <a:off x="8694933" y="3316487"/>
                  <a:ext cx="633999" cy="369332"/>
                </a:xfrm>
                <a:prstGeom prst="rect">
                  <a:avLst/>
                </a:prstGeom>
                <a:noFill/>
              </p:spPr>
              <p:txBody>
                <a:bodyPr wrap="square" rtlCol="0">
                  <a:spAutoFit/>
                </a:bodyPr>
                <a:lstStyle/>
                <a:p>
                  <a:pPr/>
                  <a14:m>
                    <m:oMathPara xmlns:m="http://schemas.openxmlformats.org/officeDocument/2006/math">
                      <m:oMathParaPr>
                        <m:jc m:val="left"/>
                      </m:oMathParaPr>
                      <m:oMath>
                        <m:r>
                          <a:rPr lang="en-US" b="0" i="1" smtClean="0">
                            <a:latin typeface="Cambria Math" panose="02040503050406030204" pitchFamily="18" charset="0"/>
                          </a:rPr>
                          <m:t>𝑅𝐹</m:t>
                        </m:r>
                      </m:oMath>
                    </m:oMathPara>
                  </a14:m>
                  <a:endParaRPr lang="en-US" dirty="0"/>
                </a:p>
              </p:txBody>
            </p:sp>
          </mc:Choice>
          <mc:Fallback xmlns="">
            <p:sp>
              <p:nvSpPr>
                <p:cNvPr id="66" name="TextBox 65">
                  <a:extLst>
                    <a:ext uri="{FF2B5EF4-FFF2-40B4-BE49-F238E27FC236}">
                      <a16:creationId xmlns:a16="http://schemas.microsoft.com/office/drawing/2014/main" id="{352A6D82-DCEF-E44F-AC47-82BE761D02B2}"/>
                    </a:ext>
                  </a:extLst>
                </p:cNvPr>
                <p:cNvSpPr txBox="1">
                  <a:spLocks noRot="1" noChangeAspect="1" noMove="1" noResize="1" noEditPoints="1" noAdjustHandles="1" noChangeArrowheads="1" noChangeShapeType="1" noTextEdit="1"/>
                </p:cNvSpPr>
                <p:nvPr/>
              </p:nvSpPr>
              <p:spPr>
                <a:xfrm>
                  <a:off x="8694933" y="3316487"/>
                  <a:ext cx="633999"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C18C1ED4-A9B0-F845-8C82-377EFD09C017}"/>
                    </a:ext>
                  </a:extLst>
                </p:cNvPr>
                <p:cNvSpPr txBox="1"/>
                <p:nvPr/>
              </p:nvSpPr>
              <p:spPr>
                <a:xfrm>
                  <a:off x="10818586" y="2663102"/>
                  <a:ext cx="633999"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𝑜</m:t>
                            </m:r>
                          </m:sub>
                        </m:sSub>
                      </m:oMath>
                    </m:oMathPara>
                  </a14:m>
                  <a:endParaRPr lang="en-US" dirty="0"/>
                </a:p>
              </p:txBody>
            </p:sp>
          </mc:Choice>
          <mc:Fallback xmlns="">
            <p:sp>
              <p:nvSpPr>
                <p:cNvPr id="67" name="TextBox 66">
                  <a:extLst>
                    <a:ext uri="{FF2B5EF4-FFF2-40B4-BE49-F238E27FC236}">
                      <a16:creationId xmlns:a16="http://schemas.microsoft.com/office/drawing/2014/main" id="{C18C1ED4-A9B0-F845-8C82-377EFD09C017}"/>
                    </a:ext>
                  </a:extLst>
                </p:cNvPr>
                <p:cNvSpPr txBox="1">
                  <a:spLocks noRot="1" noChangeAspect="1" noMove="1" noResize="1" noEditPoints="1" noAdjustHandles="1" noChangeArrowheads="1" noChangeShapeType="1" noTextEdit="1"/>
                </p:cNvSpPr>
                <p:nvPr/>
              </p:nvSpPr>
              <p:spPr>
                <a:xfrm>
                  <a:off x="10818586" y="2663102"/>
                  <a:ext cx="633999"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D367F147-E9CD-384D-8616-C48663EDDA6E}"/>
                    </a:ext>
                  </a:extLst>
                </p:cNvPr>
                <p:cNvSpPr txBox="1"/>
                <p:nvPr/>
              </p:nvSpPr>
              <p:spPr>
                <a:xfrm>
                  <a:off x="10066527" y="1874549"/>
                  <a:ext cx="633999"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𝑐𝑐</m:t>
                            </m:r>
                          </m:sub>
                        </m:sSub>
                      </m:oMath>
                    </m:oMathPara>
                  </a14:m>
                  <a:endParaRPr lang="en-US" dirty="0"/>
                </a:p>
              </p:txBody>
            </p:sp>
          </mc:Choice>
          <mc:Fallback xmlns="">
            <p:sp>
              <p:nvSpPr>
                <p:cNvPr id="68" name="TextBox 67">
                  <a:extLst>
                    <a:ext uri="{FF2B5EF4-FFF2-40B4-BE49-F238E27FC236}">
                      <a16:creationId xmlns:a16="http://schemas.microsoft.com/office/drawing/2014/main" id="{D367F147-E9CD-384D-8616-C48663EDDA6E}"/>
                    </a:ext>
                  </a:extLst>
                </p:cNvPr>
                <p:cNvSpPr txBox="1">
                  <a:spLocks noRot="1" noChangeAspect="1" noMove="1" noResize="1" noEditPoints="1" noAdjustHandles="1" noChangeArrowheads="1" noChangeShapeType="1" noTextEdit="1"/>
                </p:cNvSpPr>
                <p:nvPr/>
              </p:nvSpPr>
              <p:spPr>
                <a:xfrm>
                  <a:off x="10066527" y="1874549"/>
                  <a:ext cx="633999" cy="369332"/>
                </a:xfrm>
                <a:prstGeom prst="rect">
                  <a:avLst/>
                </a:prstGeom>
                <a:blipFill>
                  <a:blip r:embed="rId8"/>
                  <a:stretch>
                    <a:fillRect/>
                  </a:stretch>
                </a:blipFill>
              </p:spPr>
              <p:txBody>
                <a:bodyPr/>
                <a:lstStyle/>
                <a:p>
                  <a:r>
                    <a:rPr lang="en-US">
                      <a:noFill/>
                    </a:rPr>
                    <a:t> </a:t>
                  </a:r>
                </a:p>
              </p:txBody>
            </p:sp>
          </mc:Fallback>
        </mc:AlternateContent>
        <p:grpSp>
          <p:nvGrpSpPr>
            <p:cNvPr id="106" name="Group 210">
              <a:extLst>
                <a:ext uri="{FF2B5EF4-FFF2-40B4-BE49-F238E27FC236}">
                  <a16:creationId xmlns:a16="http://schemas.microsoft.com/office/drawing/2014/main" id="{5ABDA9C3-7932-174A-A249-115C8123FA2C}"/>
                </a:ext>
              </a:extLst>
            </p:cNvPr>
            <p:cNvGrpSpPr>
              <a:grpSpLocks/>
            </p:cNvGrpSpPr>
            <p:nvPr/>
          </p:nvGrpSpPr>
          <p:grpSpPr bwMode="auto">
            <a:xfrm>
              <a:off x="10097495" y="2357884"/>
              <a:ext cx="304800" cy="762000"/>
              <a:chOff x="3216" y="1728"/>
              <a:chExt cx="192" cy="480"/>
            </a:xfrm>
          </p:grpSpPr>
          <p:sp>
            <p:nvSpPr>
              <p:cNvPr id="107" name="Line 8">
                <a:extLst>
                  <a:ext uri="{FF2B5EF4-FFF2-40B4-BE49-F238E27FC236}">
                    <a16:creationId xmlns:a16="http://schemas.microsoft.com/office/drawing/2014/main" id="{6C99D811-7063-644C-A743-6028E7DF727E}"/>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 name="Line 9">
                <a:extLst>
                  <a:ext uri="{FF2B5EF4-FFF2-40B4-BE49-F238E27FC236}">
                    <a16:creationId xmlns:a16="http://schemas.microsoft.com/office/drawing/2014/main" id="{0AC1DD38-9BCE-0849-8A20-2F87DA4F6D67}"/>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 name="Line 10">
                <a:extLst>
                  <a:ext uri="{FF2B5EF4-FFF2-40B4-BE49-F238E27FC236}">
                    <a16:creationId xmlns:a16="http://schemas.microsoft.com/office/drawing/2014/main" id="{606B97DF-E0DC-B148-874F-27EA7B773099}"/>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 name="Line 11">
                <a:extLst>
                  <a:ext uri="{FF2B5EF4-FFF2-40B4-BE49-F238E27FC236}">
                    <a16:creationId xmlns:a16="http://schemas.microsoft.com/office/drawing/2014/main" id="{065D91F9-2B66-4549-AA0F-2480048977FD}"/>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1" name="Group 210">
              <a:extLst>
                <a:ext uri="{FF2B5EF4-FFF2-40B4-BE49-F238E27FC236}">
                  <a16:creationId xmlns:a16="http://schemas.microsoft.com/office/drawing/2014/main" id="{38EAA3D9-E52A-324F-BF17-79945F33ADBC}"/>
                </a:ext>
              </a:extLst>
            </p:cNvPr>
            <p:cNvGrpSpPr>
              <a:grpSpLocks/>
            </p:cNvGrpSpPr>
            <p:nvPr/>
          </p:nvGrpSpPr>
          <p:grpSpPr bwMode="auto">
            <a:xfrm rot="5400000">
              <a:off x="10454929" y="3469316"/>
              <a:ext cx="304800" cy="762000"/>
              <a:chOff x="3216" y="1728"/>
              <a:chExt cx="192" cy="480"/>
            </a:xfrm>
          </p:grpSpPr>
          <p:sp>
            <p:nvSpPr>
              <p:cNvPr id="112" name="Line 8">
                <a:extLst>
                  <a:ext uri="{FF2B5EF4-FFF2-40B4-BE49-F238E27FC236}">
                    <a16:creationId xmlns:a16="http://schemas.microsoft.com/office/drawing/2014/main" id="{BB1CD36F-2021-F84E-863D-83B5F36FAB38}"/>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 name="Line 9">
                <a:extLst>
                  <a:ext uri="{FF2B5EF4-FFF2-40B4-BE49-F238E27FC236}">
                    <a16:creationId xmlns:a16="http://schemas.microsoft.com/office/drawing/2014/main" id="{27400597-C8F1-C74C-AF70-1484FFA18AA7}"/>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 name="Line 10">
                <a:extLst>
                  <a:ext uri="{FF2B5EF4-FFF2-40B4-BE49-F238E27FC236}">
                    <a16:creationId xmlns:a16="http://schemas.microsoft.com/office/drawing/2014/main" id="{5DD23070-E78F-EE4C-93A5-75BF71DD3ABB}"/>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 name="Line 11">
                <a:extLst>
                  <a:ext uri="{FF2B5EF4-FFF2-40B4-BE49-F238E27FC236}">
                    <a16:creationId xmlns:a16="http://schemas.microsoft.com/office/drawing/2014/main" id="{6EF163CB-2BD7-614C-BDEB-314421E0AC11}"/>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6" name="Group 13">
              <a:extLst>
                <a:ext uri="{FF2B5EF4-FFF2-40B4-BE49-F238E27FC236}">
                  <a16:creationId xmlns:a16="http://schemas.microsoft.com/office/drawing/2014/main" id="{0FB20316-7F37-8140-AA4E-4C2A68D24698}"/>
                </a:ext>
              </a:extLst>
            </p:cNvPr>
            <p:cNvGrpSpPr>
              <a:grpSpLocks noChangeAspect="1"/>
            </p:cNvGrpSpPr>
            <p:nvPr/>
          </p:nvGrpSpPr>
          <p:grpSpPr bwMode="auto">
            <a:xfrm>
              <a:off x="10917101" y="3790799"/>
              <a:ext cx="228600" cy="238125"/>
              <a:chOff x="1344" y="2112"/>
              <a:chExt cx="192" cy="200"/>
            </a:xfrm>
          </p:grpSpPr>
          <p:sp>
            <p:nvSpPr>
              <p:cNvPr id="117" name="Oval 14">
                <a:extLst>
                  <a:ext uri="{FF2B5EF4-FFF2-40B4-BE49-F238E27FC236}">
                    <a16:creationId xmlns:a16="http://schemas.microsoft.com/office/drawing/2014/main" id="{1E6D2C6C-4D11-6C4F-B6A9-124B0E8FA9B6}"/>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18" name="Rectangle 15">
                <a:extLst>
                  <a:ext uri="{FF2B5EF4-FFF2-40B4-BE49-F238E27FC236}">
                    <a16:creationId xmlns:a16="http://schemas.microsoft.com/office/drawing/2014/main" id="{7135BD03-C223-9D4E-92CD-CD87E64FA987}"/>
                  </a:ext>
                </a:extLst>
              </p:cNvPr>
              <p:cNvSpPr>
                <a:spLocks noChangeAspect="1" noChangeArrowheads="1"/>
              </p:cNvSpPr>
              <p:nvPr/>
            </p:nvSpPr>
            <p:spPr bwMode="auto">
              <a:xfrm>
                <a:off x="1344" y="212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A4A2E08D-CD12-2E46-9D38-10C297B7D39E}"/>
                    </a:ext>
                  </a:extLst>
                </p:cNvPr>
                <p:cNvSpPr txBox="1"/>
                <p:nvPr/>
              </p:nvSpPr>
              <p:spPr>
                <a:xfrm>
                  <a:off x="10825214" y="3906491"/>
                  <a:ext cx="633999" cy="369332"/>
                </a:xfrm>
                <a:prstGeom prst="rect">
                  <a:avLst/>
                </a:prstGeom>
                <a:noFill/>
              </p:spPr>
              <p:txBody>
                <a:bodyPr wrap="square" rtlCol="0">
                  <a:spAutoFit/>
                </a:bodyPr>
                <a:lstStyle/>
                <a:p>
                  <a:pPr/>
                  <a14:m>
                    <m:oMathPara xmlns:m="http://schemas.openxmlformats.org/officeDocument/2006/math">
                      <m:oMathParaPr>
                        <m:jc m:val="left"/>
                      </m:oMathParaPr>
                      <m:oMath>
                        <m:r>
                          <a:rPr lang="en-US" b="0" i="1" smtClean="0">
                            <a:latin typeface="Cambria Math" panose="02040503050406030204" pitchFamily="18" charset="0"/>
                          </a:rPr>
                          <m:t>𝐿𝑂</m:t>
                        </m:r>
                      </m:oMath>
                    </m:oMathPara>
                  </a14:m>
                  <a:endParaRPr lang="en-US" dirty="0"/>
                </a:p>
              </p:txBody>
            </p:sp>
          </mc:Choice>
          <mc:Fallback xmlns="">
            <p:sp>
              <p:nvSpPr>
                <p:cNvPr id="119" name="TextBox 118">
                  <a:extLst>
                    <a:ext uri="{FF2B5EF4-FFF2-40B4-BE49-F238E27FC236}">
                      <a16:creationId xmlns:a16="http://schemas.microsoft.com/office/drawing/2014/main" id="{A4A2E08D-CD12-2E46-9D38-10C297B7D39E}"/>
                    </a:ext>
                  </a:extLst>
                </p:cNvPr>
                <p:cNvSpPr txBox="1">
                  <a:spLocks noRot="1" noChangeAspect="1" noMove="1" noResize="1" noEditPoints="1" noAdjustHandles="1" noChangeArrowheads="1" noChangeShapeType="1" noTextEdit="1"/>
                </p:cNvSpPr>
                <p:nvPr/>
              </p:nvSpPr>
              <p:spPr>
                <a:xfrm>
                  <a:off x="10825214" y="3906491"/>
                  <a:ext cx="633999" cy="369332"/>
                </a:xfrm>
                <a:prstGeom prst="rect">
                  <a:avLst/>
                </a:prstGeom>
                <a:blipFill>
                  <a:blip r:embed="rId9"/>
                  <a:stretch>
                    <a:fillRect/>
                  </a:stretch>
                </a:blipFill>
              </p:spPr>
              <p:txBody>
                <a:bodyPr/>
                <a:lstStyle/>
                <a:p>
                  <a:r>
                    <a:rPr lang="en-US">
                      <a:noFill/>
                    </a:rPr>
                    <a:t> </a:t>
                  </a:r>
                </a:p>
              </p:txBody>
            </p:sp>
          </mc:Fallback>
        </mc:AlternateContent>
      </p:grpSp>
      <p:grpSp>
        <p:nvGrpSpPr>
          <p:cNvPr id="4" name="Group 3">
            <a:extLst>
              <a:ext uri="{FF2B5EF4-FFF2-40B4-BE49-F238E27FC236}">
                <a16:creationId xmlns:a16="http://schemas.microsoft.com/office/drawing/2014/main" id="{F3E3BB03-84ED-B5D4-887A-98EAF92E6898}"/>
              </a:ext>
            </a:extLst>
          </p:cNvPr>
          <p:cNvGrpSpPr/>
          <p:nvPr/>
        </p:nvGrpSpPr>
        <p:grpSpPr>
          <a:xfrm>
            <a:off x="770990" y="2518780"/>
            <a:ext cx="3650089" cy="3452137"/>
            <a:chOff x="410141" y="2364389"/>
            <a:chExt cx="3650089" cy="3452137"/>
          </a:xfrm>
        </p:grpSpPr>
        <p:sp>
          <p:nvSpPr>
            <p:cNvPr id="105" name="TextBox 104">
              <a:extLst>
                <a:ext uri="{FF2B5EF4-FFF2-40B4-BE49-F238E27FC236}">
                  <a16:creationId xmlns:a16="http://schemas.microsoft.com/office/drawing/2014/main" id="{A7DD109E-77DF-7543-8730-80CB5D46DD2E}"/>
                </a:ext>
              </a:extLst>
            </p:cNvPr>
            <p:cNvSpPr txBox="1"/>
            <p:nvPr/>
          </p:nvSpPr>
          <p:spPr>
            <a:xfrm>
              <a:off x="1191879" y="2364389"/>
              <a:ext cx="1074653" cy="369332"/>
            </a:xfrm>
            <a:prstGeom prst="rect">
              <a:avLst/>
            </a:prstGeom>
            <a:noFill/>
          </p:spPr>
          <p:txBody>
            <a:bodyPr wrap="none" rtlCol="0">
              <a:spAutoFit/>
            </a:bodyPr>
            <a:lstStyle/>
            <a:p>
              <a:r>
                <a:rPr lang="en-US" dirty="0"/>
                <a:t>BJT mixer</a:t>
              </a:r>
            </a:p>
          </p:txBody>
        </p:sp>
        <p:grpSp>
          <p:nvGrpSpPr>
            <p:cNvPr id="125" name="Group 209">
              <a:extLst>
                <a:ext uri="{FF2B5EF4-FFF2-40B4-BE49-F238E27FC236}">
                  <a16:creationId xmlns:a16="http://schemas.microsoft.com/office/drawing/2014/main" id="{F588259B-217C-1D43-B44D-76356E70A3A6}"/>
                </a:ext>
              </a:extLst>
            </p:cNvPr>
            <p:cNvGrpSpPr>
              <a:grpSpLocks/>
            </p:cNvGrpSpPr>
            <p:nvPr/>
          </p:nvGrpSpPr>
          <p:grpSpPr bwMode="auto">
            <a:xfrm>
              <a:off x="1927556" y="3427820"/>
              <a:ext cx="152400" cy="762000"/>
              <a:chOff x="3935" y="1728"/>
              <a:chExt cx="96" cy="480"/>
            </a:xfrm>
          </p:grpSpPr>
          <p:sp>
            <p:nvSpPr>
              <p:cNvPr id="126" name="Arc 59">
                <a:extLst>
                  <a:ext uri="{FF2B5EF4-FFF2-40B4-BE49-F238E27FC236}">
                    <a16:creationId xmlns:a16="http://schemas.microsoft.com/office/drawing/2014/main" id="{791F562D-5E15-CC43-8B01-B67989B75A9B}"/>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7" name="Arc 60">
                <a:extLst>
                  <a:ext uri="{FF2B5EF4-FFF2-40B4-BE49-F238E27FC236}">
                    <a16:creationId xmlns:a16="http://schemas.microsoft.com/office/drawing/2014/main" id="{5061E1CF-47DB-3A46-8875-5CAFA13A4C88}"/>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8" name="Arc 61">
                <a:extLst>
                  <a:ext uri="{FF2B5EF4-FFF2-40B4-BE49-F238E27FC236}">
                    <a16:creationId xmlns:a16="http://schemas.microsoft.com/office/drawing/2014/main" id="{03BBF630-EECD-684A-90D1-8567AED3AF66}"/>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9" name="Arc 62">
                <a:extLst>
                  <a:ext uri="{FF2B5EF4-FFF2-40B4-BE49-F238E27FC236}">
                    <a16:creationId xmlns:a16="http://schemas.microsoft.com/office/drawing/2014/main" id="{71DDA873-F170-3B44-BF00-8D2FA6A9E7D2}"/>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0" name="Line 63">
                <a:extLst>
                  <a:ext uri="{FF2B5EF4-FFF2-40B4-BE49-F238E27FC236}">
                    <a16:creationId xmlns:a16="http://schemas.microsoft.com/office/drawing/2014/main" id="{4974E285-4A4B-2140-A1F0-256180630362}"/>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1" name="Line 64">
                <a:extLst>
                  <a:ext uri="{FF2B5EF4-FFF2-40B4-BE49-F238E27FC236}">
                    <a16:creationId xmlns:a16="http://schemas.microsoft.com/office/drawing/2014/main" id="{2DCCAF3D-EC2A-1043-8E04-2763DBC75F75}"/>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 name="Arc 65">
                <a:extLst>
                  <a:ext uri="{FF2B5EF4-FFF2-40B4-BE49-F238E27FC236}">
                    <a16:creationId xmlns:a16="http://schemas.microsoft.com/office/drawing/2014/main" id="{B761C7A0-61EA-BD4F-AE87-89E497C54A3A}"/>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 name="Arc 66">
                <a:extLst>
                  <a:ext uri="{FF2B5EF4-FFF2-40B4-BE49-F238E27FC236}">
                    <a16:creationId xmlns:a16="http://schemas.microsoft.com/office/drawing/2014/main" id="{819EA6A4-C9A8-FD47-9BC5-329BAC603DEC}"/>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4" name="Arc 67">
                <a:extLst>
                  <a:ext uri="{FF2B5EF4-FFF2-40B4-BE49-F238E27FC236}">
                    <a16:creationId xmlns:a16="http://schemas.microsoft.com/office/drawing/2014/main" id="{DB57A4CB-F6E6-F548-9A83-B00E59A3427A}"/>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5" name="Arc 68">
                <a:extLst>
                  <a:ext uri="{FF2B5EF4-FFF2-40B4-BE49-F238E27FC236}">
                    <a16:creationId xmlns:a16="http://schemas.microsoft.com/office/drawing/2014/main" id="{EFAEDFCF-C988-4E45-A3AD-2F0627161FBA}"/>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6" name="Arc 69">
                <a:extLst>
                  <a:ext uri="{FF2B5EF4-FFF2-40B4-BE49-F238E27FC236}">
                    <a16:creationId xmlns:a16="http://schemas.microsoft.com/office/drawing/2014/main" id="{59CECDB7-DCF7-B64A-8BDA-7EA1AD17B199}"/>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7" name="Arc 70">
                <a:extLst>
                  <a:ext uri="{FF2B5EF4-FFF2-40B4-BE49-F238E27FC236}">
                    <a16:creationId xmlns:a16="http://schemas.microsoft.com/office/drawing/2014/main" id="{6E540DA1-ABC9-3F41-8445-0526CABFEA6D}"/>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8" name="Arc 71">
                <a:extLst>
                  <a:ext uri="{FF2B5EF4-FFF2-40B4-BE49-F238E27FC236}">
                    <a16:creationId xmlns:a16="http://schemas.microsoft.com/office/drawing/2014/main" id="{731BC3AD-6430-A94C-AA54-A5958B8E486B}"/>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39" name="Group 210">
              <a:extLst>
                <a:ext uri="{FF2B5EF4-FFF2-40B4-BE49-F238E27FC236}">
                  <a16:creationId xmlns:a16="http://schemas.microsoft.com/office/drawing/2014/main" id="{0AD0E7C0-2E4C-BF4D-B9FA-549BB26DD3BF}"/>
                </a:ext>
              </a:extLst>
            </p:cNvPr>
            <p:cNvGrpSpPr>
              <a:grpSpLocks/>
            </p:cNvGrpSpPr>
            <p:nvPr/>
          </p:nvGrpSpPr>
          <p:grpSpPr bwMode="auto">
            <a:xfrm rot="5400000">
              <a:off x="774704" y="4120076"/>
              <a:ext cx="304800" cy="762000"/>
              <a:chOff x="3216" y="1728"/>
              <a:chExt cx="192" cy="480"/>
            </a:xfrm>
          </p:grpSpPr>
          <p:sp>
            <p:nvSpPr>
              <p:cNvPr id="140" name="Line 8">
                <a:extLst>
                  <a:ext uri="{FF2B5EF4-FFF2-40B4-BE49-F238E27FC236}">
                    <a16:creationId xmlns:a16="http://schemas.microsoft.com/office/drawing/2014/main" id="{014C4E5A-9282-144E-8C83-BC4AFAFA2305}"/>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1" name="Line 9">
                <a:extLst>
                  <a:ext uri="{FF2B5EF4-FFF2-40B4-BE49-F238E27FC236}">
                    <a16:creationId xmlns:a16="http://schemas.microsoft.com/office/drawing/2014/main" id="{5F80B5BD-84B6-804C-971F-B4043BCB4E62}"/>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2" name="Line 10">
                <a:extLst>
                  <a:ext uri="{FF2B5EF4-FFF2-40B4-BE49-F238E27FC236}">
                    <a16:creationId xmlns:a16="http://schemas.microsoft.com/office/drawing/2014/main" id="{115A7772-3B4A-F845-BF44-7D295A282BA7}"/>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 name="Line 11">
                <a:extLst>
                  <a:ext uri="{FF2B5EF4-FFF2-40B4-BE49-F238E27FC236}">
                    <a16:creationId xmlns:a16="http://schemas.microsoft.com/office/drawing/2014/main" id="{641533BE-2D1F-8847-BC0D-054D2DA8A1DB}"/>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 name="Group 220">
              <a:extLst>
                <a:ext uri="{FF2B5EF4-FFF2-40B4-BE49-F238E27FC236}">
                  <a16:creationId xmlns:a16="http://schemas.microsoft.com/office/drawing/2014/main" id="{33FC2EA2-67CC-514F-B30A-BF680916F79B}"/>
                </a:ext>
              </a:extLst>
            </p:cNvPr>
            <p:cNvGrpSpPr>
              <a:grpSpLocks/>
            </p:cNvGrpSpPr>
            <p:nvPr/>
          </p:nvGrpSpPr>
          <p:grpSpPr bwMode="auto">
            <a:xfrm>
              <a:off x="1226466" y="5192026"/>
              <a:ext cx="152400" cy="304800"/>
              <a:chOff x="3264" y="3072"/>
              <a:chExt cx="96" cy="192"/>
            </a:xfrm>
          </p:grpSpPr>
          <p:sp>
            <p:nvSpPr>
              <p:cNvPr id="155" name="Line 17">
                <a:extLst>
                  <a:ext uri="{FF2B5EF4-FFF2-40B4-BE49-F238E27FC236}">
                    <a16:creationId xmlns:a16="http://schemas.microsoft.com/office/drawing/2014/main" id="{FC36F4CD-6D41-C249-BE94-2D68BCE562A3}"/>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56" name="Freeform 18">
                <a:extLst>
                  <a:ext uri="{FF2B5EF4-FFF2-40B4-BE49-F238E27FC236}">
                    <a16:creationId xmlns:a16="http://schemas.microsoft.com/office/drawing/2014/main" id="{7E37CEFD-64B2-5E48-A088-454EAD44112D}"/>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grpSp>
        <p:grpSp>
          <p:nvGrpSpPr>
            <p:cNvPr id="157" name="Group 13">
              <a:extLst>
                <a:ext uri="{FF2B5EF4-FFF2-40B4-BE49-F238E27FC236}">
                  <a16:creationId xmlns:a16="http://schemas.microsoft.com/office/drawing/2014/main" id="{149E5FE1-927C-E342-AAAC-8A7BE4E03C68}"/>
                </a:ext>
              </a:extLst>
            </p:cNvPr>
            <p:cNvGrpSpPr>
              <a:grpSpLocks noChangeAspect="1"/>
            </p:cNvGrpSpPr>
            <p:nvPr/>
          </p:nvGrpSpPr>
          <p:grpSpPr bwMode="auto">
            <a:xfrm>
              <a:off x="1229279" y="4424878"/>
              <a:ext cx="152400" cy="152400"/>
              <a:chOff x="1344" y="2064"/>
              <a:chExt cx="192" cy="192"/>
            </a:xfrm>
          </p:grpSpPr>
          <p:sp>
            <p:nvSpPr>
              <p:cNvPr id="158" name="Oval 14">
                <a:extLst>
                  <a:ext uri="{FF2B5EF4-FFF2-40B4-BE49-F238E27FC236}">
                    <a16:creationId xmlns:a16="http://schemas.microsoft.com/office/drawing/2014/main" id="{29FA3C52-674B-EF44-99B1-F39ADF2C0E77}"/>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59" name="Rectangle 15">
                <a:extLst>
                  <a:ext uri="{FF2B5EF4-FFF2-40B4-BE49-F238E27FC236}">
                    <a16:creationId xmlns:a16="http://schemas.microsoft.com/office/drawing/2014/main" id="{9BCD8518-C359-A440-A724-7EA06BA091C0}"/>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60" name="Group 210">
              <a:extLst>
                <a:ext uri="{FF2B5EF4-FFF2-40B4-BE49-F238E27FC236}">
                  <a16:creationId xmlns:a16="http://schemas.microsoft.com/office/drawing/2014/main" id="{9363A572-4D59-5741-8B53-C9D020F54F14}"/>
                </a:ext>
              </a:extLst>
            </p:cNvPr>
            <p:cNvGrpSpPr>
              <a:grpSpLocks/>
            </p:cNvGrpSpPr>
            <p:nvPr/>
          </p:nvGrpSpPr>
          <p:grpSpPr bwMode="auto">
            <a:xfrm rot="5400000">
              <a:off x="3086980" y="3791334"/>
              <a:ext cx="304800" cy="762000"/>
              <a:chOff x="3216" y="1728"/>
              <a:chExt cx="192" cy="480"/>
            </a:xfrm>
          </p:grpSpPr>
          <p:sp>
            <p:nvSpPr>
              <p:cNvPr id="161" name="Line 8">
                <a:extLst>
                  <a:ext uri="{FF2B5EF4-FFF2-40B4-BE49-F238E27FC236}">
                    <a16:creationId xmlns:a16="http://schemas.microsoft.com/office/drawing/2014/main" id="{7D848EF1-FA0F-7C41-B88D-32DFB0BF9776}"/>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2" name="Line 9">
                <a:extLst>
                  <a:ext uri="{FF2B5EF4-FFF2-40B4-BE49-F238E27FC236}">
                    <a16:creationId xmlns:a16="http://schemas.microsoft.com/office/drawing/2014/main" id="{EA2C2E0D-4B4E-324C-BF72-F25A64A134E5}"/>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 name="Line 10">
                <a:extLst>
                  <a:ext uri="{FF2B5EF4-FFF2-40B4-BE49-F238E27FC236}">
                    <a16:creationId xmlns:a16="http://schemas.microsoft.com/office/drawing/2014/main" id="{0A1F6656-3F76-ED4E-8541-330D15F2AFBB}"/>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 name="Line 11">
                <a:extLst>
                  <a:ext uri="{FF2B5EF4-FFF2-40B4-BE49-F238E27FC236}">
                    <a16:creationId xmlns:a16="http://schemas.microsoft.com/office/drawing/2014/main" id="{28417F38-8958-F64B-A6C8-9B71E37424D4}"/>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65" name="Freeform 12">
              <a:extLst>
                <a:ext uri="{FF2B5EF4-FFF2-40B4-BE49-F238E27FC236}">
                  <a16:creationId xmlns:a16="http://schemas.microsoft.com/office/drawing/2014/main" id="{1CCF8E7E-9FC9-4248-92B6-8AEBC1B71506}"/>
                </a:ext>
              </a:extLst>
            </p:cNvPr>
            <p:cNvSpPr>
              <a:spLocks noChangeAspect="1"/>
            </p:cNvSpPr>
            <p:nvPr/>
          </p:nvSpPr>
          <p:spPr bwMode="auto">
            <a:xfrm>
              <a:off x="1226462" y="4494835"/>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66" name="Group 13">
              <a:extLst>
                <a:ext uri="{FF2B5EF4-FFF2-40B4-BE49-F238E27FC236}">
                  <a16:creationId xmlns:a16="http://schemas.microsoft.com/office/drawing/2014/main" id="{4892EF4C-76F5-8D4E-ADCC-F690829556ED}"/>
                </a:ext>
              </a:extLst>
            </p:cNvPr>
            <p:cNvGrpSpPr>
              <a:grpSpLocks noChangeAspect="1"/>
            </p:cNvGrpSpPr>
            <p:nvPr/>
          </p:nvGrpSpPr>
          <p:grpSpPr bwMode="auto">
            <a:xfrm>
              <a:off x="460022" y="4386777"/>
              <a:ext cx="228600" cy="228600"/>
              <a:chOff x="1344" y="2064"/>
              <a:chExt cx="192" cy="192"/>
            </a:xfrm>
          </p:grpSpPr>
          <p:sp>
            <p:nvSpPr>
              <p:cNvPr id="167" name="Oval 14">
                <a:extLst>
                  <a:ext uri="{FF2B5EF4-FFF2-40B4-BE49-F238E27FC236}">
                    <a16:creationId xmlns:a16="http://schemas.microsoft.com/office/drawing/2014/main" id="{4713C5BE-8039-7742-BD16-5349C3BA7188}"/>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68" name="Rectangle 15">
                <a:extLst>
                  <a:ext uri="{FF2B5EF4-FFF2-40B4-BE49-F238E27FC236}">
                    <a16:creationId xmlns:a16="http://schemas.microsoft.com/office/drawing/2014/main" id="{7505467C-161B-834E-B635-A3F95FDF1F96}"/>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69" name="Group 13">
              <a:extLst>
                <a:ext uri="{FF2B5EF4-FFF2-40B4-BE49-F238E27FC236}">
                  <a16:creationId xmlns:a16="http://schemas.microsoft.com/office/drawing/2014/main" id="{1A07BCA3-B332-8047-9F0E-1F5BCB94CD7D}"/>
                </a:ext>
              </a:extLst>
            </p:cNvPr>
            <p:cNvGrpSpPr>
              <a:grpSpLocks noChangeAspect="1"/>
            </p:cNvGrpSpPr>
            <p:nvPr/>
          </p:nvGrpSpPr>
          <p:grpSpPr bwMode="auto">
            <a:xfrm>
              <a:off x="3557874" y="4068172"/>
              <a:ext cx="228600" cy="228600"/>
              <a:chOff x="1344" y="2064"/>
              <a:chExt cx="192" cy="192"/>
            </a:xfrm>
          </p:grpSpPr>
          <p:sp>
            <p:nvSpPr>
              <p:cNvPr id="170" name="Oval 14">
                <a:extLst>
                  <a:ext uri="{FF2B5EF4-FFF2-40B4-BE49-F238E27FC236}">
                    <a16:creationId xmlns:a16="http://schemas.microsoft.com/office/drawing/2014/main" id="{13097AFD-02BC-5E42-94F1-A20C0C396D53}"/>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71" name="Rectangle 15">
                <a:extLst>
                  <a:ext uri="{FF2B5EF4-FFF2-40B4-BE49-F238E27FC236}">
                    <a16:creationId xmlns:a16="http://schemas.microsoft.com/office/drawing/2014/main" id="{1087E3F5-B844-594C-B813-2976AC08C241}"/>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72" name="Freeform 12">
              <a:extLst>
                <a:ext uri="{FF2B5EF4-FFF2-40B4-BE49-F238E27FC236}">
                  <a16:creationId xmlns:a16="http://schemas.microsoft.com/office/drawing/2014/main" id="{50D32D89-D315-8C48-9819-87E4A7C56131}"/>
                </a:ext>
              </a:extLst>
            </p:cNvPr>
            <p:cNvSpPr>
              <a:spLocks noChangeAspect="1"/>
            </p:cNvSpPr>
            <p:nvPr/>
          </p:nvSpPr>
          <p:spPr bwMode="auto">
            <a:xfrm>
              <a:off x="1931664" y="4776445"/>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173" name="Straight Connector 172">
              <a:extLst>
                <a:ext uri="{FF2B5EF4-FFF2-40B4-BE49-F238E27FC236}">
                  <a16:creationId xmlns:a16="http://schemas.microsoft.com/office/drawing/2014/main" id="{BEC01FC3-F9C4-984D-9930-994748A1DB56}"/>
                </a:ext>
              </a:extLst>
            </p:cNvPr>
            <p:cNvCxnSpPr/>
            <p:nvPr/>
          </p:nvCxnSpPr>
          <p:spPr>
            <a:xfrm flipV="1">
              <a:off x="1312123" y="3160626"/>
              <a:ext cx="7315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4" name="Group 220">
              <a:extLst>
                <a:ext uri="{FF2B5EF4-FFF2-40B4-BE49-F238E27FC236}">
                  <a16:creationId xmlns:a16="http://schemas.microsoft.com/office/drawing/2014/main" id="{41A4AF00-A81E-5048-8F42-5A537707995A}"/>
                </a:ext>
              </a:extLst>
            </p:cNvPr>
            <p:cNvGrpSpPr>
              <a:grpSpLocks/>
            </p:cNvGrpSpPr>
            <p:nvPr/>
          </p:nvGrpSpPr>
          <p:grpSpPr bwMode="auto">
            <a:xfrm>
              <a:off x="1930705" y="5511726"/>
              <a:ext cx="152400" cy="304800"/>
              <a:chOff x="3264" y="3072"/>
              <a:chExt cx="96" cy="192"/>
            </a:xfrm>
          </p:grpSpPr>
          <p:sp>
            <p:nvSpPr>
              <p:cNvPr id="175" name="Line 17">
                <a:extLst>
                  <a:ext uri="{FF2B5EF4-FFF2-40B4-BE49-F238E27FC236}">
                    <a16:creationId xmlns:a16="http://schemas.microsoft.com/office/drawing/2014/main" id="{65C31343-C888-6946-BE08-302CF03D0C0B}"/>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76" name="Freeform 18">
                <a:extLst>
                  <a:ext uri="{FF2B5EF4-FFF2-40B4-BE49-F238E27FC236}">
                    <a16:creationId xmlns:a16="http://schemas.microsoft.com/office/drawing/2014/main" id="{8E68A282-D5DA-BB4C-BE95-0E7A5A1B40EB}"/>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grpSp>
        <p:cxnSp>
          <p:nvCxnSpPr>
            <p:cNvPr id="180" name="Straight Connector 179">
              <a:extLst>
                <a:ext uri="{FF2B5EF4-FFF2-40B4-BE49-F238E27FC236}">
                  <a16:creationId xmlns:a16="http://schemas.microsoft.com/office/drawing/2014/main" id="{BA2C615E-7074-A749-B024-6474DFE55084}"/>
                </a:ext>
              </a:extLst>
            </p:cNvPr>
            <p:cNvCxnSpPr>
              <a:cxnSpLocks/>
            </p:cNvCxnSpPr>
            <p:nvPr/>
          </p:nvCxnSpPr>
          <p:spPr>
            <a:xfrm flipV="1">
              <a:off x="2013636" y="2902314"/>
              <a:ext cx="0" cy="2583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1" name="Group 13">
              <a:extLst>
                <a:ext uri="{FF2B5EF4-FFF2-40B4-BE49-F238E27FC236}">
                  <a16:creationId xmlns:a16="http://schemas.microsoft.com/office/drawing/2014/main" id="{1AE3E16C-16AA-9348-A4E2-3E19C009EBB9}"/>
                </a:ext>
              </a:extLst>
            </p:cNvPr>
            <p:cNvGrpSpPr>
              <a:grpSpLocks noChangeAspect="1"/>
            </p:cNvGrpSpPr>
            <p:nvPr/>
          </p:nvGrpSpPr>
          <p:grpSpPr bwMode="auto">
            <a:xfrm>
              <a:off x="1892454" y="2818818"/>
              <a:ext cx="228600" cy="228600"/>
              <a:chOff x="1344" y="2064"/>
              <a:chExt cx="192" cy="192"/>
            </a:xfrm>
          </p:grpSpPr>
          <p:sp>
            <p:nvSpPr>
              <p:cNvPr id="182" name="Oval 14">
                <a:extLst>
                  <a:ext uri="{FF2B5EF4-FFF2-40B4-BE49-F238E27FC236}">
                    <a16:creationId xmlns:a16="http://schemas.microsoft.com/office/drawing/2014/main" id="{EFAAA325-264A-E048-AEC1-E72F9FB44029}"/>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83" name="Rectangle 15">
                <a:extLst>
                  <a:ext uri="{FF2B5EF4-FFF2-40B4-BE49-F238E27FC236}">
                    <a16:creationId xmlns:a16="http://schemas.microsoft.com/office/drawing/2014/main" id="{22683F4F-68CE-7340-A951-96816CF8CE69}"/>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cxnSp>
          <p:nvCxnSpPr>
            <p:cNvPr id="184" name="Straight Connector 183">
              <a:extLst>
                <a:ext uri="{FF2B5EF4-FFF2-40B4-BE49-F238E27FC236}">
                  <a16:creationId xmlns:a16="http://schemas.microsoft.com/office/drawing/2014/main" id="{1329C44D-49E0-A141-B58B-34D901723ABA}"/>
                </a:ext>
              </a:extLst>
            </p:cNvPr>
            <p:cNvCxnSpPr>
              <a:cxnSpLocks/>
            </p:cNvCxnSpPr>
            <p:nvPr/>
          </p:nvCxnSpPr>
          <p:spPr>
            <a:xfrm flipV="1">
              <a:off x="1312712" y="3160626"/>
              <a:ext cx="0" cy="60350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5" name="TextBox 184">
                  <a:extLst>
                    <a:ext uri="{FF2B5EF4-FFF2-40B4-BE49-F238E27FC236}">
                      <a16:creationId xmlns:a16="http://schemas.microsoft.com/office/drawing/2014/main" id="{4DEE7CD5-46B9-EB43-ADF8-81A414C9E6A5}"/>
                    </a:ext>
                  </a:extLst>
                </p:cNvPr>
                <p:cNvSpPr txBox="1"/>
                <p:nvPr/>
              </p:nvSpPr>
              <p:spPr>
                <a:xfrm>
                  <a:off x="410141" y="4004229"/>
                  <a:ext cx="633999" cy="369332"/>
                </a:xfrm>
                <a:prstGeom prst="rect">
                  <a:avLst/>
                </a:prstGeom>
                <a:noFill/>
              </p:spPr>
              <p:txBody>
                <a:bodyPr wrap="square" rtlCol="0">
                  <a:spAutoFit/>
                </a:bodyPr>
                <a:lstStyle/>
                <a:p>
                  <a:pPr/>
                  <a14:m>
                    <m:oMathPara xmlns:m="http://schemas.openxmlformats.org/officeDocument/2006/math">
                      <m:oMathParaPr>
                        <m:jc m:val="left"/>
                      </m:oMathParaPr>
                      <m:oMath>
                        <m:r>
                          <a:rPr lang="en-US" b="0" i="1" smtClean="0">
                            <a:latin typeface="Cambria Math" panose="02040503050406030204" pitchFamily="18" charset="0"/>
                          </a:rPr>
                          <m:t>𝑅𝐹</m:t>
                        </m:r>
                      </m:oMath>
                    </m:oMathPara>
                  </a14:m>
                  <a:endParaRPr lang="en-US" dirty="0"/>
                </a:p>
              </p:txBody>
            </p:sp>
          </mc:Choice>
          <mc:Fallback xmlns="">
            <p:sp>
              <p:nvSpPr>
                <p:cNvPr id="185" name="TextBox 184">
                  <a:extLst>
                    <a:ext uri="{FF2B5EF4-FFF2-40B4-BE49-F238E27FC236}">
                      <a16:creationId xmlns:a16="http://schemas.microsoft.com/office/drawing/2014/main" id="{4DEE7CD5-46B9-EB43-ADF8-81A414C9E6A5}"/>
                    </a:ext>
                  </a:extLst>
                </p:cNvPr>
                <p:cNvSpPr txBox="1">
                  <a:spLocks noRot="1" noChangeAspect="1" noMove="1" noResize="1" noEditPoints="1" noAdjustHandles="1" noChangeArrowheads="1" noChangeShapeType="1" noTextEdit="1"/>
                </p:cNvSpPr>
                <p:nvPr/>
              </p:nvSpPr>
              <p:spPr>
                <a:xfrm>
                  <a:off x="410141" y="4004229"/>
                  <a:ext cx="633999"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6" name="TextBox 185">
                  <a:extLst>
                    <a:ext uri="{FF2B5EF4-FFF2-40B4-BE49-F238E27FC236}">
                      <a16:creationId xmlns:a16="http://schemas.microsoft.com/office/drawing/2014/main" id="{B06A0697-0DC5-5945-B708-A11603894399}"/>
                    </a:ext>
                  </a:extLst>
                </p:cNvPr>
                <p:cNvSpPr txBox="1"/>
                <p:nvPr/>
              </p:nvSpPr>
              <p:spPr>
                <a:xfrm>
                  <a:off x="3426231" y="3740026"/>
                  <a:ext cx="633999"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𝑜</m:t>
                            </m:r>
                          </m:sub>
                        </m:sSub>
                      </m:oMath>
                    </m:oMathPara>
                  </a14:m>
                  <a:endParaRPr lang="en-US" dirty="0"/>
                </a:p>
              </p:txBody>
            </p:sp>
          </mc:Choice>
          <mc:Fallback xmlns="">
            <p:sp>
              <p:nvSpPr>
                <p:cNvPr id="186" name="TextBox 185">
                  <a:extLst>
                    <a:ext uri="{FF2B5EF4-FFF2-40B4-BE49-F238E27FC236}">
                      <a16:creationId xmlns:a16="http://schemas.microsoft.com/office/drawing/2014/main" id="{B06A0697-0DC5-5945-B708-A11603894399}"/>
                    </a:ext>
                  </a:extLst>
                </p:cNvPr>
                <p:cNvSpPr txBox="1">
                  <a:spLocks noRot="1" noChangeAspect="1" noMove="1" noResize="1" noEditPoints="1" noAdjustHandles="1" noChangeArrowheads="1" noChangeShapeType="1" noTextEdit="1"/>
                </p:cNvSpPr>
                <p:nvPr/>
              </p:nvSpPr>
              <p:spPr>
                <a:xfrm>
                  <a:off x="3426231" y="3740026"/>
                  <a:ext cx="633999"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8F267ACB-2880-8546-95D6-E3F5E75F5ED3}"/>
                    </a:ext>
                  </a:extLst>
                </p:cNvPr>
                <p:cNvSpPr txBox="1"/>
                <p:nvPr/>
              </p:nvSpPr>
              <p:spPr>
                <a:xfrm>
                  <a:off x="2156104" y="2684090"/>
                  <a:ext cx="633999"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𝑐𝑐</m:t>
                            </m:r>
                          </m:sub>
                        </m:sSub>
                      </m:oMath>
                    </m:oMathPara>
                  </a14:m>
                  <a:endParaRPr lang="en-US" dirty="0"/>
                </a:p>
              </p:txBody>
            </p:sp>
          </mc:Choice>
          <mc:Fallback xmlns="">
            <p:sp>
              <p:nvSpPr>
                <p:cNvPr id="187" name="TextBox 186">
                  <a:extLst>
                    <a:ext uri="{FF2B5EF4-FFF2-40B4-BE49-F238E27FC236}">
                      <a16:creationId xmlns:a16="http://schemas.microsoft.com/office/drawing/2014/main" id="{8F267ACB-2880-8546-95D6-E3F5E75F5ED3}"/>
                    </a:ext>
                  </a:extLst>
                </p:cNvPr>
                <p:cNvSpPr txBox="1">
                  <a:spLocks noRot="1" noChangeAspect="1" noMove="1" noResize="1" noEditPoints="1" noAdjustHandles="1" noChangeArrowheads="1" noChangeShapeType="1" noTextEdit="1"/>
                </p:cNvSpPr>
                <p:nvPr/>
              </p:nvSpPr>
              <p:spPr>
                <a:xfrm>
                  <a:off x="2156104" y="2684090"/>
                  <a:ext cx="633999" cy="369332"/>
                </a:xfrm>
                <a:prstGeom prst="rect">
                  <a:avLst/>
                </a:prstGeom>
                <a:blipFill>
                  <a:blip r:embed="rId12"/>
                  <a:stretch>
                    <a:fillRect/>
                  </a:stretch>
                </a:blipFill>
              </p:spPr>
              <p:txBody>
                <a:bodyPr/>
                <a:lstStyle/>
                <a:p>
                  <a:r>
                    <a:rPr lang="en-US">
                      <a:noFill/>
                    </a:rPr>
                    <a:t> </a:t>
                  </a:r>
                </a:p>
              </p:txBody>
            </p:sp>
          </mc:Fallback>
        </mc:AlternateContent>
        <p:grpSp>
          <p:nvGrpSpPr>
            <p:cNvPr id="188" name="Group 210">
              <a:extLst>
                <a:ext uri="{FF2B5EF4-FFF2-40B4-BE49-F238E27FC236}">
                  <a16:creationId xmlns:a16="http://schemas.microsoft.com/office/drawing/2014/main" id="{BFF94CCA-E7F7-2A46-A1DE-0AE66E3BD77D}"/>
                </a:ext>
              </a:extLst>
            </p:cNvPr>
            <p:cNvGrpSpPr>
              <a:grpSpLocks/>
            </p:cNvGrpSpPr>
            <p:nvPr/>
          </p:nvGrpSpPr>
          <p:grpSpPr bwMode="auto">
            <a:xfrm>
              <a:off x="2612376" y="3421556"/>
              <a:ext cx="304800" cy="762000"/>
              <a:chOff x="3216" y="1728"/>
              <a:chExt cx="192" cy="480"/>
            </a:xfrm>
          </p:grpSpPr>
          <p:sp>
            <p:nvSpPr>
              <p:cNvPr id="189" name="Line 8">
                <a:extLst>
                  <a:ext uri="{FF2B5EF4-FFF2-40B4-BE49-F238E27FC236}">
                    <a16:creationId xmlns:a16="http://schemas.microsoft.com/office/drawing/2014/main" id="{8815F648-AA3A-4B4C-8D7B-199293B42004}"/>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0" name="Line 9">
                <a:extLst>
                  <a:ext uri="{FF2B5EF4-FFF2-40B4-BE49-F238E27FC236}">
                    <a16:creationId xmlns:a16="http://schemas.microsoft.com/office/drawing/2014/main" id="{EB8AEA65-46A2-9044-B001-84D3B1B10C13}"/>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1" name="Line 10">
                <a:extLst>
                  <a:ext uri="{FF2B5EF4-FFF2-40B4-BE49-F238E27FC236}">
                    <a16:creationId xmlns:a16="http://schemas.microsoft.com/office/drawing/2014/main" id="{0C677B4B-171A-6848-973E-95B569796D2B}"/>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2" name="Line 11">
                <a:extLst>
                  <a:ext uri="{FF2B5EF4-FFF2-40B4-BE49-F238E27FC236}">
                    <a16:creationId xmlns:a16="http://schemas.microsoft.com/office/drawing/2014/main" id="{C9F919ED-B25B-9245-AD8B-4BECB56781C4}"/>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93" name="Group 210">
              <a:extLst>
                <a:ext uri="{FF2B5EF4-FFF2-40B4-BE49-F238E27FC236}">
                  <a16:creationId xmlns:a16="http://schemas.microsoft.com/office/drawing/2014/main" id="{C383462C-A21C-A44E-A19E-F1B53B54233D}"/>
                </a:ext>
              </a:extLst>
            </p:cNvPr>
            <p:cNvGrpSpPr>
              <a:grpSpLocks/>
            </p:cNvGrpSpPr>
            <p:nvPr/>
          </p:nvGrpSpPr>
          <p:grpSpPr bwMode="auto">
            <a:xfrm rot="5400000">
              <a:off x="2214434" y="4294449"/>
              <a:ext cx="304800" cy="762000"/>
              <a:chOff x="3216" y="1728"/>
              <a:chExt cx="192" cy="480"/>
            </a:xfrm>
          </p:grpSpPr>
          <p:sp>
            <p:nvSpPr>
              <p:cNvPr id="194" name="Line 8">
                <a:extLst>
                  <a:ext uri="{FF2B5EF4-FFF2-40B4-BE49-F238E27FC236}">
                    <a16:creationId xmlns:a16="http://schemas.microsoft.com/office/drawing/2014/main" id="{17995D10-5E17-DA4C-9B45-C04C21FB4B9B}"/>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 name="Line 9">
                <a:extLst>
                  <a:ext uri="{FF2B5EF4-FFF2-40B4-BE49-F238E27FC236}">
                    <a16:creationId xmlns:a16="http://schemas.microsoft.com/office/drawing/2014/main" id="{187CE883-AB60-3940-9DC3-18EA5F6242E1}"/>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 name="Line 10">
                <a:extLst>
                  <a:ext uri="{FF2B5EF4-FFF2-40B4-BE49-F238E27FC236}">
                    <a16:creationId xmlns:a16="http://schemas.microsoft.com/office/drawing/2014/main" id="{8C8457C7-DC55-4948-A34B-EB5C94E1EA81}"/>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7" name="Line 11">
                <a:extLst>
                  <a:ext uri="{FF2B5EF4-FFF2-40B4-BE49-F238E27FC236}">
                    <a16:creationId xmlns:a16="http://schemas.microsoft.com/office/drawing/2014/main" id="{5331198E-CE76-484D-87A7-F9547DC9F2B4}"/>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98" name="Group 13">
              <a:extLst>
                <a:ext uri="{FF2B5EF4-FFF2-40B4-BE49-F238E27FC236}">
                  <a16:creationId xmlns:a16="http://schemas.microsoft.com/office/drawing/2014/main" id="{C1C742B1-06A3-A745-B51E-F584E5758068}"/>
                </a:ext>
              </a:extLst>
            </p:cNvPr>
            <p:cNvGrpSpPr>
              <a:grpSpLocks noChangeAspect="1"/>
            </p:cNvGrpSpPr>
            <p:nvPr/>
          </p:nvGrpSpPr>
          <p:grpSpPr bwMode="auto">
            <a:xfrm>
              <a:off x="2676606" y="4565130"/>
              <a:ext cx="228600" cy="228600"/>
              <a:chOff x="1344" y="2064"/>
              <a:chExt cx="192" cy="192"/>
            </a:xfrm>
          </p:grpSpPr>
          <p:sp>
            <p:nvSpPr>
              <p:cNvPr id="199" name="Oval 14">
                <a:extLst>
                  <a:ext uri="{FF2B5EF4-FFF2-40B4-BE49-F238E27FC236}">
                    <a16:creationId xmlns:a16="http://schemas.microsoft.com/office/drawing/2014/main" id="{ABA49248-B52B-E54F-84A5-4131A6ADA204}"/>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00" name="Rectangle 15">
                <a:extLst>
                  <a:ext uri="{FF2B5EF4-FFF2-40B4-BE49-F238E27FC236}">
                    <a16:creationId xmlns:a16="http://schemas.microsoft.com/office/drawing/2014/main" id="{92929119-9B97-484D-A1B6-17D98DC8E07B}"/>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mc:AlternateContent xmlns:mc="http://schemas.openxmlformats.org/markup-compatibility/2006" xmlns:a14="http://schemas.microsoft.com/office/drawing/2010/main">
          <mc:Choice Requires="a14">
            <p:sp>
              <p:nvSpPr>
                <p:cNvPr id="201" name="TextBox 200">
                  <a:extLst>
                    <a:ext uri="{FF2B5EF4-FFF2-40B4-BE49-F238E27FC236}">
                      <a16:creationId xmlns:a16="http://schemas.microsoft.com/office/drawing/2014/main" id="{816CC5ED-D1F2-9248-ACD0-109A165324FA}"/>
                    </a:ext>
                  </a:extLst>
                </p:cNvPr>
                <p:cNvSpPr txBox="1"/>
                <p:nvPr/>
              </p:nvSpPr>
              <p:spPr>
                <a:xfrm>
                  <a:off x="2584719" y="4647800"/>
                  <a:ext cx="633999" cy="369332"/>
                </a:xfrm>
                <a:prstGeom prst="rect">
                  <a:avLst/>
                </a:prstGeom>
                <a:noFill/>
              </p:spPr>
              <p:txBody>
                <a:bodyPr wrap="square" rtlCol="0">
                  <a:spAutoFit/>
                </a:bodyPr>
                <a:lstStyle/>
                <a:p>
                  <a:pPr/>
                  <a14:m>
                    <m:oMathPara xmlns:m="http://schemas.openxmlformats.org/officeDocument/2006/math">
                      <m:oMathParaPr>
                        <m:jc m:val="left"/>
                      </m:oMathParaPr>
                      <m:oMath>
                        <m:r>
                          <a:rPr lang="en-US" b="0" i="1" smtClean="0">
                            <a:latin typeface="Cambria Math" panose="02040503050406030204" pitchFamily="18" charset="0"/>
                          </a:rPr>
                          <m:t>𝐿𝑂</m:t>
                        </m:r>
                      </m:oMath>
                    </m:oMathPara>
                  </a14:m>
                  <a:endParaRPr lang="en-US" dirty="0"/>
                </a:p>
              </p:txBody>
            </p:sp>
          </mc:Choice>
          <mc:Fallback xmlns="">
            <p:sp>
              <p:nvSpPr>
                <p:cNvPr id="201" name="TextBox 200">
                  <a:extLst>
                    <a:ext uri="{FF2B5EF4-FFF2-40B4-BE49-F238E27FC236}">
                      <a16:creationId xmlns:a16="http://schemas.microsoft.com/office/drawing/2014/main" id="{816CC5ED-D1F2-9248-ACD0-109A165324FA}"/>
                    </a:ext>
                  </a:extLst>
                </p:cNvPr>
                <p:cNvSpPr txBox="1">
                  <a:spLocks noRot="1" noChangeAspect="1" noMove="1" noResize="1" noEditPoints="1" noAdjustHandles="1" noChangeArrowheads="1" noChangeShapeType="1" noTextEdit="1"/>
                </p:cNvSpPr>
                <p:nvPr/>
              </p:nvSpPr>
              <p:spPr>
                <a:xfrm>
                  <a:off x="2584719" y="4647800"/>
                  <a:ext cx="633999" cy="369332"/>
                </a:xfrm>
                <a:prstGeom prst="rect">
                  <a:avLst/>
                </a:prstGeom>
                <a:blipFill>
                  <a:blip r:embed="rId13"/>
                  <a:stretch>
                    <a:fillRect/>
                  </a:stretch>
                </a:blipFill>
              </p:spPr>
              <p:txBody>
                <a:bodyPr/>
                <a:lstStyle/>
                <a:p>
                  <a:r>
                    <a:rPr lang="en-US">
                      <a:noFill/>
                    </a:rPr>
                    <a:t> </a:t>
                  </a:r>
                </a:p>
              </p:txBody>
            </p:sp>
          </mc:Fallback>
        </mc:AlternateContent>
        <p:cxnSp>
          <p:nvCxnSpPr>
            <p:cNvPr id="202" name="Straight Connector 201">
              <a:extLst>
                <a:ext uri="{FF2B5EF4-FFF2-40B4-BE49-F238E27FC236}">
                  <a16:creationId xmlns:a16="http://schemas.microsoft.com/office/drawing/2014/main" id="{F7AF79FA-E2B2-C849-9082-E954E530396F}"/>
                </a:ext>
              </a:extLst>
            </p:cNvPr>
            <p:cNvCxnSpPr/>
            <p:nvPr/>
          </p:nvCxnSpPr>
          <p:spPr>
            <a:xfrm flipV="1">
              <a:off x="1974950" y="4178493"/>
              <a:ext cx="9144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028104CC-1CEB-134D-A7DE-4F2613FEB1D1}"/>
                </a:ext>
              </a:extLst>
            </p:cNvPr>
            <p:cNvCxnSpPr/>
            <p:nvPr/>
          </p:nvCxnSpPr>
          <p:spPr>
            <a:xfrm flipV="1">
              <a:off x="1898016" y="3163761"/>
              <a:ext cx="87782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C157C621-AE52-8C45-9564-12B65C0C9014}"/>
                </a:ext>
              </a:extLst>
            </p:cNvPr>
            <p:cNvCxnSpPr/>
            <p:nvPr/>
          </p:nvCxnSpPr>
          <p:spPr>
            <a:xfrm flipV="1">
              <a:off x="1022563" y="4505721"/>
              <a:ext cx="7315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05" name="Freeform 12">
              <a:extLst>
                <a:ext uri="{FF2B5EF4-FFF2-40B4-BE49-F238E27FC236}">
                  <a16:creationId xmlns:a16="http://schemas.microsoft.com/office/drawing/2014/main" id="{ECEE1D33-6505-3748-9B41-908F864561E2}"/>
                </a:ext>
              </a:extLst>
            </p:cNvPr>
            <p:cNvSpPr>
              <a:spLocks noChangeAspect="1"/>
            </p:cNvSpPr>
            <p:nvPr/>
          </p:nvSpPr>
          <p:spPr bwMode="auto">
            <a:xfrm>
              <a:off x="1235923" y="3762656"/>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06" name="Group 478">
              <a:extLst>
                <a:ext uri="{FF2B5EF4-FFF2-40B4-BE49-F238E27FC236}">
                  <a16:creationId xmlns:a16="http://schemas.microsoft.com/office/drawing/2014/main" id="{EB6660F4-19A8-FE41-8EAD-1930D215C3A6}"/>
                </a:ext>
              </a:extLst>
            </p:cNvPr>
            <p:cNvGrpSpPr>
              <a:grpSpLocks/>
            </p:cNvGrpSpPr>
            <p:nvPr/>
          </p:nvGrpSpPr>
          <p:grpSpPr bwMode="auto">
            <a:xfrm flipH="1">
              <a:off x="1570530" y="4169772"/>
              <a:ext cx="437080" cy="668991"/>
              <a:chOff x="4656" y="1344"/>
              <a:chExt cx="192" cy="384"/>
            </a:xfrm>
          </p:grpSpPr>
          <p:sp>
            <p:nvSpPr>
              <p:cNvPr id="207" name="Freeform 206">
                <a:extLst>
                  <a:ext uri="{FF2B5EF4-FFF2-40B4-BE49-F238E27FC236}">
                    <a16:creationId xmlns:a16="http://schemas.microsoft.com/office/drawing/2014/main" id="{4C9597A5-BB98-7F47-8699-AEB0186C2ECF}"/>
                  </a:ext>
                </a:extLst>
              </p:cNvPr>
              <p:cNvSpPr>
                <a:spLocks noChangeAspect="1"/>
              </p:cNvSpPr>
              <p:nvPr/>
            </p:nvSpPr>
            <p:spPr bwMode="auto">
              <a:xfrm>
                <a:off x="4656" y="1344"/>
                <a:ext cx="99" cy="384"/>
              </a:xfrm>
              <a:custGeom>
                <a:avLst/>
                <a:gdLst/>
                <a:ahLst/>
                <a:cxnLst>
                  <a:cxn ang="0">
                    <a:pos x="0" y="0"/>
                  </a:cxn>
                  <a:cxn ang="0">
                    <a:pos x="0" y="192"/>
                  </a:cxn>
                  <a:cxn ang="0">
                    <a:pos x="192" y="288"/>
                  </a:cxn>
                  <a:cxn ang="0">
                    <a:pos x="192" y="480"/>
                  </a:cxn>
                  <a:cxn ang="0">
                    <a:pos x="0" y="576"/>
                  </a:cxn>
                  <a:cxn ang="0">
                    <a:pos x="0" y="768"/>
                  </a:cxn>
                </a:cxnLst>
                <a:rect l="0" t="0" r="r" b="b"/>
                <a:pathLst>
                  <a:path w="192" h="768">
                    <a:moveTo>
                      <a:pt x="0" y="0"/>
                    </a:moveTo>
                    <a:lnTo>
                      <a:pt x="0" y="192"/>
                    </a:lnTo>
                    <a:lnTo>
                      <a:pt x="192" y="288"/>
                    </a:lnTo>
                    <a:lnTo>
                      <a:pt x="192" y="480"/>
                    </a:lnTo>
                    <a:lnTo>
                      <a:pt x="0" y="576"/>
                    </a:lnTo>
                    <a:lnTo>
                      <a:pt x="0" y="768"/>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208" name="Line 36">
                <a:extLst>
                  <a:ext uri="{FF2B5EF4-FFF2-40B4-BE49-F238E27FC236}">
                    <a16:creationId xmlns:a16="http://schemas.microsoft.com/office/drawing/2014/main" id="{EC70C804-4CA8-5240-A2E0-47683D79E23B}"/>
                  </a:ext>
                </a:extLst>
              </p:cNvPr>
              <p:cNvSpPr>
                <a:spLocks noChangeAspect="1" noChangeShapeType="1"/>
              </p:cNvSpPr>
              <p:nvPr/>
            </p:nvSpPr>
            <p:spPr bwMode="auto">
              <a:xfrm>
                <a:off x="4755" y="1440"/>
                <a:ext cx="0" cy="192"/>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209" name="Line 37">
                <a:extLst>
                  <a:ext uri="{FF2B5EF4-FFF2-40B4-BE49-F238E27FC236}">
                    <a16:creationId xmlns:a16="http://schemas.microsoft.com/office/drawing/2014/main" id="{3AF82159-40BF-0C42-8C8C-F4ABB76CDEA0}"/>
                  </a:ext>
                </a:extLst>
              </p:cNvPr>
              <p:cNvSpPr>
                <a:spLocks noChangeAspect="1" noChangeShapeType="1"/>
              </p:cNvSpPr>
              <p:nvPr/>
            </p:nvSpPr>
            <p:spPr bwMode="auto">
              <a:xfrm>
                <a:off x="4755" y="1536"/>
                <a:ext cx="93"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210" name="Freeform 209">
                <a:extLst>
                  <a:ext uri="{FF2B5EF4-FFF2-40B4-BE49-F238E27FC236}">
                    <a16:creationId xmlns:a16="http://schemas.microsoft.com/office/drawing/2014/main" id="{AF59BBF7-8C38-5742-A66D-52AAE6023108}"/>
                  </a:ext>
                </a:extLst>
              </p:cNvPr>
              <p:cNvSpPr>
                <a:spLocks noChangeAspect="1"/>
              </p:cNvSpPr>
              <p:nvPr/>
            </p:nvSpPr>
            <p:spPr bwMode="auto">
              <a:xfrm rot="20040000">
                <a:off x="4656" y="1597"/>
                <a:ext cx="48" cy="48"/>
              </a:xfrm>
              <a:custGeom>
                <a:avLst/>
                <a:gdLst/>
                <a:ahLst/>
                <a:cxnLst>
                  <a:cxn ang="0">
                    <a:pos x="0" y="48"/>
                  </a:cxn>
                  <a:cxn ang="0">
                    <a:pos x="96" y="0"/>
                  </a:cxn>
                  <a:cxn ang="0">
                    <a:pos x="96" y="96"/>
                  </a:cxn>
                  <a:cxn ang="0">
                    <a:pos x="0" y="48"/>
                  </a:cxn>
                </a:cxnLst>
                <a:rect l="0" t="0" r="r" b="b"/>
                <a:pathLst>
                  <a:path w="96" h="96">
                    <a:moveTo>
                      <a:pt x="0" y="48"/>
                    </a:moveTo>
                    <a:lnTo>
                      <a:pt x="96" y="0"/>
                    </a:lnTo>
                    <a:lnTo>
                      <a:pt x="96" y="96"/>
                    </a:lnTo>
                    <a:lnTo>
                      <a:pt x="0" y="48"/>
                    </a:lnTo>
                    <a:close/>
                  </a:path>
                </a:pathLst>
              </a:custGeom>
              <a:solidFill>
                <a:schemeClr val="tx1"/>
              </a:solidFill>
              <a:ln w="25400" cmpd="sng">
                <a:solidFill>
                  <a:schemeClr val="tx1"/>
                </a:solidFill>
                <a:round/>
                <a:headEnd/>
                <a:tailEnd/>
              </a:ln>
              <a:effectLst/>
            </p:spPr>
            <p:txBody>
              <a:bodyPr>
                <a:prstTxWarp prst="textNoShape">
                  <a:avLst/>
                </a:prstTxWarp>
              </a:bodyPr>
              <a:lstStyle/>
              <a:p>
                <a:endParaRPr lang="en-US" sz="1200"/>
              </a:p>
            </p:txBody>
          </p:sp>
        </p:grpSp>
        <p:cxnSp>
          <p:nvCxnSpPr>
            <p:cNvPr id="211" name="Straight Connector 210">
              <a:extLst>
                <a:ext uri="{FF2B5EF4-FFF2-40B4-BE49-F238E27FC236}">
                  <a16:creationId xmlns:a16="http://schemas.microsoft.com/office/drawing/2014/main" id="{C3ACE46C-956F-3549-8D0C-7941A95545CE}"/>
                </a:ext>
              </a:extLst>
            </p:cNvPr>
            <p:cNvCxnSpPr>
              <a:cxnSpLocks/>
            </p:cNvCxnSpPr>
            <p:nvPr/>
          </p:nvCxnSpPr>
          <p:spPr>
            <a:xfrm>
              <a:off x="2766322" y="3147374"/>
              <a:ext cx="0" cy="50809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E644336D-4930-C844-A506-DFE27D2CA6FE}"/>
                </a:ext>
              </a:extLst>
            </p:cNvPr>
            <p:cNvCxnSpPr>
              <a:cxnSpLocks/>
            </p:cNvCxnSpPr>
            <p:nvPr/>
          </p:nvCxnSpPr>
          <p:spPr>
            <a:xfrm flipV="1">
              <a:off x="2008451" y="3148527"/>
              <a:ext cx="0" cy="3079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16" name="TextBox 215">
                <a:extLst>
                  <a:ext uri="{FF2B5EF4-FFF2-40B4-BE49-F238E27FC236}">
                    <a16:creationId xmlns:a16="http://schemas.microsoft.com/office/drawing/2014/main" id="{19F81602-0971-BC43-9F2E-B0609626629B}"/>
                  </a:ext>
                </a:extLst>
              </p:cNvPr>
              <p:cNvSpPr txBox="1"/>
              <p:nvPr/>
            </p:nvSpPr>
            <p:spPr>
              <a:xfrm>
                <a:off x="3479195" y="1619385"/>
                <a:ext cx="5083943" cy="1724886"/>
              </a:xfrm>
              <a:prstGeom prst="rect">
                <a:avLst/>
              </a:prstGeom>
              <a:noFill/>
            </p:spPr>
            <p:txBody>
              <a:bodyPr wrap="square" rtlCol="0">
                <a:noAutofit/>
              </a:bodyPr>
              <a:lstStyle/>
              <a:p>
                <a:pPr marL="285750" indent="-285750">
                  <a:buFont typeface="Arial" panose="020B0604020202020204" pitchFamily="34" charset="0"/>
                  <a:buChar char="•"/>
                </a:pPr>
                <a:r>
                  <a:rPr lang="en-US" sz="2000" dirty="0"/>
                  <a:t>AM: </a:t>
                </a:r>
                <a14:m>
                  <m:oMath xmlns:m="http://schemas.openxmlformats.org/officeDocument/2006/math">
                    <m:r>
                      <a:rPr lang="en-US" sz="2000" b="0" i="1" smtClean="0">
                        <a:latin typeface="Cambria Math" panose="02040503050406030204" pitchFamily="18" charset="0"/>
                      </a:rPr>
                      <m:t>𝑣</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1+</m:t>
                        </m:r>
                        <m:r>
                          <a:rPr lang="en-US" sz="2000" b="0" i="1" smtClean="0">
                            <a:latin typeface="Cambria Math" panose="02040503050406030204" pitchFamily="18" charset="0"/>
                          </a:rPr>
                          <m:t>𝑚𝑎</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e>
                    </m:d>
                    <m:r>
                      <m:rPr>
                        <m:sty m:val="p"/>
                      </m:rPr>
                      <a:rPr lang="en-US" sz="2000" b="0" i="0" smtClean="0">
                        <a:latin typeface="Cambria Math" panose="02040503050406030204" pitchFamily="18" charset="0"/>
                      </a:rPr>
                      <m:t>cos</m:t>
                    </m:r>
                    <m:r>
                      <a:rPr lang="en-US" sz="2000" b="0" i="1" smtClean="0">
                        <a:latin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𝑐</m:t>
                        </m:r>
                      </m:sub>
                    </m:sSub>
                    <m:r>
                      <a:rPr lang="en-US" sz="2000" b="0" i="1" smtClean="0">
                        <a:latin typeface="Cambria Math" panose="02040503050406030204" pitchFamily="18" charset="0"/>
                      </a:rPr>
                      <m:t>𝑡</m:t>
                    </m:r>
                    <m:r>
                      <a:rPr lang="en-US" sz="2000" b="0" i="1" smtClean="0">
                        <a:latin typeface="Cambria Math" panose="02040503050406030204" pitchFamily="18" charset="0"/>
                      </a:rPr>
                      <m:t>)</m:t>
                    </m:r>
                  </m:oMath>
                </a14:m>
                <a:endParaRPr lang="en-US" sz="2000" dirty="0"/>
              </a:p>
              <a:p>
                <a:pPr marL="285750" indent="-285750">
                  <a:buFont typeface="Arial" panose="020B0604020202020204" pitchFamily="34" charset="0"/>
                  <a:buChar char="•"/>
                </a:pPr>
                <a:r>
                  <a:rPr lang="en-US" sz="2000" dirty="0"/>
                  <a:t>Phase: </a:t>
                </a:r>
                <a14:m>
                  <m:oMath xmlns:m="http://schemas.openxmlformats.org/officeDocument/2006/math">
                    <m:r>
                      <a:rPr lang="en-US" sz="2000" i="1">
                        <a:latin typeface="Cambria Math" panose="02040503050406030204" pitchFamily="18" charset="0"/>
                      </a:rPr>
                      <m:t>𝑣</m:t>
                    </m:r>
                    <m:d>
                      <m:dPr>
                        <m:ctrlPr>
                          <a:rPr lang="en-US" sz="2000" i="1">
                            <a:latin typeface="Cambria Math" panose="02040503050406030204" pitchFamily="18" charset="0"/>
                          </a:rPr>
                        </m:ctrlPr>
                      </m:dPr>
                      <m:e>
                        <m:r>
                          <a:rPr lang="en-US" sz="2000" i="1">
                            <a:latin typeface="Cambria Math" panose="02040503050406030204" pitchFamily="18" charset="0"/>
                          </a:rPr>
                          <m:t>𝑡</m:t>
                        </m:r>
                      </m:e>
                    </m:d>
                    <m:r>
                      <a:rPr lang="en-US" sz="2000" i="1">
                        <a:latin typeface="Cambria Math" panose="02040503050406030204" pitchFamily="18" charset="0"/>
                      </a:rPr>
                      <m:t>=</m:t>
                    </m:r>
                    <m:r>
                      <a:rPr lang="en-US" sz="2000" b="0" i="1" smtClean="0">
                        <a:latin typeface="Cambria Math" panose="02040503050406030204" pitchFamily="18" charset="0"/>
                      </a:rPr>
                      <m:t>𝐴</m:t>
                    </m:r>
                    <m:r>
                      <m:rPr>
                        <m:sty m:val="p"/>
                      </m:rPr>
                      <a:rPr lang="en-US" sz="2000">
                        <a:latin typeface="Cambria Math" panose="02040503050406030204" pitchFamily="18" charset="0"/>
                      </a:rPr>
                      <m:t>cos</m:t>
                    </m:r>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rPr>
                          <m:t>𝑐</m:t>
                        </m:r>
                      </m:sub>
                    </m:sSub>
                    <m:r>
                      <a:rPr lang="en-US" sz="2000" i="1">
                        <a:latin typeface="Cambria Math" panose="02040503050406030204" pitchFamily="18" charset="0"/>
                      </a:rPr>
                      <m:t>𝑡</m:t>
                    </m:r>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𝜙</m:t>
                    </m:r>
                    <m:r>
                      <a:rPr lang="en-US" sz="2000" i="1">
                        <a:latin typeface="Cambria Math" panose="02040503050406030204" pitchFamily="18" charset="0"/>
                      </a:rPr>
                      <m:t>)</m:t>
                    </m:r>
                  </m:oMath>
                </a14:m>
                <a:r>
                  <a:rPr lang="en-US" sz="2000" dirty="0"/>
                  <a:t>,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𝜙</m:t>
                    </m:r>
                    <m:r>
                      <a:rPr lang="en-US" sz="2000" b="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𝑚𝑎</m:t>
                    </m:r>
                    <m:r>
                      <a:rPr lang="en-US" sz="2000" b="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𝑡</m:t>
                    </m:r>
                    <m:r>
                      <a:rPr lang="en-US" sz="2000" b="0" i="1" dirty="0" smtClean="0">
                        <a:latin typeface="Cambria Math" panose="02040503050406030204" pitchFamily="18" charset="0"/>
                        <a:ea typeface="Cambria Math" panose="02040503050406030204" pitchFamily="18" charset="0"/>
                      </a:rPr>
                      <m:t>)</m:t>
                    </m:r>
                  </m:oMath>
                </a14:m>
                <a:endParaRPr lang="en-US" sz="2000" dirty="0"/>
              </a:p>
              <a:p>
                <a:pPr marL="285750" indent="-285750">
                  <a:buFont typeface="Arial" panose="020B0604020202020204" pitchFamily="34" charset="0"/>
                  <a:buChar char="•"/>
                </a:pPr>
                <a:r>
                  <a:rPr lang="en-US" sz="2000" dirty="0"/>
                  <a:t>FM: </a:t>
                </a:r>
                <a14:m>
                  <m:oMath xmlns:m="http://schemas.openxmlformats.org/officeDocument/2006/math">
                    <m:r>
                      <a:rPr lang="en-US" sz="2000" i="1">
                        <a:latin typeface="Cambria Math" panose="02040503050406030204" pitchFamily="18" charset="0"/>
                      </a:rPr>
                      <m:t>𝑣</m:t>
                    </m:r>
                    <m:d>
                      <m:dPr>
                        <m:ctrlPr>
                          <a:rPr lang="en-US" sz="2000" i="1">
                            <a:latin typeface="Cambria Math" panose="02040503050406030204" pitchFamily="18" charset="0"/>
                          </a:rPr>
                        </m:ctrlPr>
                      </m:dPr>
                      <m:e>
                        <m:r>
                          <a:rPr lang="en-US" sz="2000" i="1">
                            <a:latin typeface="Cambria Math" panose="02040503050406030204" pitchFamily="18" charset="0"/>
                          </a:rPr>
                          <m:t>𝑡</m:t>
                        </m:r>
                      </m:e>
                    </m:d>
                    <m:r>
                      <a:rPr lang="en-US" sz="2000" i="1">
                        <a:latin typeface="Cambria Math" panose="02040503050406030204" pitchFamily="18" charset="0"/>
                      </a:rPr>
                      <m:t>=</m:t>
                    </m:r>
                    <m:r>
                      <a:rPr lang="en-US" sz="2000" i="1">
                        <a:latin typeface="Cambria Math" panose="02040503050406030204" pitchFamily="18" charset="0"/>
                      </a:rPr>
                      <m:t>𝐴</m:t>
                    </m:r>
                    <m:r>
                      <m:rPr>
                        <m:sty m:val="p"/>
                      </m:rPr>
                      <a:rPr lang="en-US" sz="2000">
                        <a:latin typeface="Cambria Math" panose="02040503050406030204" pitchFamily="18" charset="0"/>
                      </a:rPr>
                      <m:t>cos</m:t>
                    </m:r>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rPr>
                          <m:t>𝑐</m:t>
                        </m:r>
                      </m:sub>
                    </m:sSub>
                    <m:r>
                      <a:rPr lang="en-US" sz="2000" i="1">
                        <a:latin typeface="Cambria Math" panose="02040503050406030204" pitchFamily="18" charset="0"/>
                      </a:rPr>
                      <m:t>𝑡</m:t>
                    </m:r>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𝜙</m:t>
                    </m:r>
                    <m:r>
                      <a:rPr lang="en-US" sz="2000" i="1">
                        <a:latin typeface="Cambria Math" panose="02040503050406030204" pitchFamily="18" charset="0"/>
                      </a:rPr>
                      <m:t>)</m:t>
                    </m:r>
                  </m:oMath>
                </a14:m>
                <a:r>
                  <a:rPr lang="en-US" sz="2000" dirty="0"/>
                  <a:t>, </a:t>
                </a:r>
                <a14:m>
                  <m:oMath xmlns:m="http://schemas.openxmlformats.org/officeDocument/2006/math">
                    <m:r>
                      <a:rPr lang="en-US" sz="2000" i="1" dirty="0">
                        <a:latin typeface="Cambria Math" panose="02040503050406030204" pitchFamily="18" charset="0"/>
                        <a:ea typeface="Cambria Math" panose="02040503050406030204" pitchFamily="18" charset="0"/>
                      </a:rPr>
                      <m:t>𝜙</m:t>
                    </m:r>
                    <m:r>
                      <a:rPr lang="en-US" sz="2000" i="1" dirty="0">
                        <a:latin typeface="Cambria Math" panose="02040503050406030204" pitchFamily="18" charset="0"/>
                        <a:ea typeface="Cambria Math" panose="02040503050406030204" pitchFamily="18" charset="0"/>
                      </a:rPr>
                      <m:t>=</m:t>
                    </m:r>
                    <m:nary>
                      <m:naryPr>
                        <m:limLoc m:val="undOvr"/>
                        <m:subHide m:val="on"/>
                        <m:supHide m:val="on"/>
                        <m:ctrlPr>
                          <a:rPr lang="en-US" sz="2000" i="1" dirty="0" smtClean="0">
                            <a:latin typeface="Cambria Math" panose="02040503050406030204" pitchFamily="18" charset="0"/>
                            <a:ea typeface="Cambria Math" panose="02040503050406030204" pitchFamily="18" charset="0"/>
                          </a:rPr>
                        </m:ctrlPr>
                      </m:naryPr>
                      <m:sub/>
                      <m:sup/>
                      <m:e>
                        <m:r>
                          <a:rPr lang="en-US" sz="2000" i="1" dirty="0">
                            <a:latin typeface="Cambria Math" panose="02040503050406030204" pitchFamily="18" charset="0"/>
                            <a:ea typeface="Cambria Math" panose="02040503050406030204" pitchFamily="18" charset="0"/>
                          </a:rPr>
                          <m:t>𝑚𝑎</m:t>
                        </m:r>
                        <m:r>
                          <a:rPr lang="en-US" sz="2000" i="1" dirty="0">
                            <a:latin typeface="Cambria Math" panose="02040503050406030204" pitchFamily="18" charset="0"/>
                            <a:ea typeface="Cambria Math" panose="02040503050406030204" pitchFamily="18" charset="0"/>
                          </a:rPr>
                          <m:t>(</m:t>
                        </m:r>
                        <m:r>
                          <a:rPr lang="en-US" sz="2000" i="1" dirty="0">
                            <a:latin typeface="Cambria Math" panose="02040503050406030204" pitchFamily="18" charset="0"/>
                            <a:ea typeface="Cambria Math" panose="02040503050406030204" pitchFamily="18" charset="0"/>
                          </a:rPr>
                          <m:t>𝑡</m:t>
                        </m:r>
                        <m:r>
                          <a:rPr lang="en-US" sz="2000" i="1" dirty="0">
                            <a:latin typeface="Cambria Math" panose="02040503050406030204" pitchFamily="18" charset="0"/>
                            <a:ea typeface="Cambria Math" panose="02040503050406030204" pitchFamily="18" charset="0"/>
                          </a:rPr>
                          <m:t>)</m:t>
                        </m:r>
                        <m:r>
                          <m:rPr>
                            <m:nor/>
                          </m:rPr>
                          <a:rPr lang="en-US" sz="2000" i="0" dirty="0"/>
                          <m:t> </m:t>
                        </m:r>
                        <m:r>
                          <a:rPr lang="en-US" sz="2000" b="0" i="1" dirty="0" smtClean="0">
                            <a:latin typeface="Cambria Math" panose="02040503050406030204" pitchFamily="18" charset="0"/>
                          </a:rPr>
                          <m:t>𝑑𝑡</m:t>
                        </m:r>
                      </m:e>
                    </m:nary>
                  </m:oMath>
                </a14:m>
                <a:endParaRPr lang="en-US" dirty="0"/>
              </a:p>
            </p:txBody>
          </p:sp>
        </mc:Choice>
        <mc:Fallback xmlns="">
          <p:sp>
            <p:nvSpPr>
              <p:cNvPr id="216" name="TextBox 215">
                <a:extLst>
                  <a:ext uri="{FF2B5EF4-FFF2-40B4-BE49-F238E27FC236}">
                    <a16:creationId xmlns:a16="http://schemas.microsoft.com/office/drawing/2014/main" id="{19F81602-0971-BC43-9F2E-B0609626629B}"/>
                  </a:ext>
                </a:extLst>
              </p:cNvPr>
              <p:cNvSpPr txBox="1">
                <a:spLocks noRot="1" noChangeAspect="1" noMove="1" noResize="1" noEditPoints="1" noAdjustHandles="1" noChangeArrowheads="1" noChangeShapeType="1" noTextEdit="1"/>
              </p:cNvSpPr>
              <p:nvPr/>
            </p:nvSpPr>
            <p:spPr>
              <a:xfrm>
                <a:off x="3479195" y="1619385"/>
                <a:ext cx="5083943" cy="1724886"/>
              </a:xfrm>
              <a:prstGeom prst="rect">
                <a:avLst/>
              </a:prstGeom>
              <a:blipFill>
                <a:blip r:embed="rId14"/>
                <a:stretch>
                  <a:fillRect l="-3741" t="-2190" b="-29927"/>
                </a:stretch>
              </a:blipFill>
            </p:spPr>
            <p:txBody>
              <a:bodyPr/>
              <a:lstStyle/>
              <a:p>
                <a:r>
                  <a:rPr lang="en-US">
                    <a:noFill/>
                  </a:rPr>
                  <a:t> </a:t>
                </a:r>
              </a:p>
            </p:txBody>
          </p:sp>
        </mc:Fallback>
      </mc:AlternateContent>
    </p:spTree>
    <p:extLst>
      <p:ext uri="{BB962C8B-B14F-4D97-AF65-F5344CB8AC3E}">
        <p14:creationId xmlns:p14="http://schemas.microsoft.com/office/powerpoint/2010/main" val="392924524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155731"/>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Some real oscillators</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6553200" y="6404292"/>
            <a:ext cx="2133600" cy="269241"/>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pPr lvl="0"/>
              <a:t>70</a:t>
            </a:fld>
            <a:endParaRPr lang="en-US"/>
          </a:p>
        </p:txBody>
      </p:sp>
      <p:grpSp>
        <p:nvGrpSpPr>
          <p:cNvPr id="98" name="Group 97">
            <a:extLst>
              <a:ext uri="{FF2B5EF4-FFF2-40B4-BE49-F238E27FC236}">
                <a16:creationId xmlns:a16="http://schemas.microsoft.com/office/drawing/2014/main" id="{C307A1F4-24DC-E543-A285-F7E5F280A48F}"/>
              </a:ext>
            </a:extLst>
          </p:cNvPr>
          <p:cNvGrpSpPr/>
          <p:nvPr/>
        </p:nvGrpSpPr>
        <p:grpSpPr>
          <a:xfrm>
            <a:off x="1387200" y="1556622"/>
            <a:ext cx="2700202" cy="4541807"/>
            <a:chOff x="407596" y="950554"/>
            <a:chExt cx="2700202" cy="4541807"/>
          </a:xfrm>
        </p:grpSpPr>
        <p:sp>
          <p:nvSpPr>
            <p:cNvPr id="6" name="Freeform 5">
              <a:extLst>
                <a:ext uri="{FF2B5EF4-FFF2-40B4-BE49-F238E27FC236}">
                  <a16:creationId xmlns:a16="http://schemas.microsoft.com/office/drawing/2014/main" id="{DEE09B4C-C487-3646-B5EA-6A57E9BE64F1}"/>
                </a:ext>
              </a:extLst>
            </p:cNvPr>
            <p:cNvSpPr>
              <a:spLocks noChangeAspect="1"/>
            </p:cNvSpPr>
            <p:nvPr/>
          </p:nvSpPr>
          <p:spPr bwMode="auto">
            <a:xfrm>
              <a:off x="1656676" y="1465040"/>
              <a:ext cx="147456" cy="743474"/>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7" name="Group 210">
              <a:extLst>
                <a:ext uri="{FF2B5EF4-FFF2-40B4-BE49-F238E27FC236}">
                  <a16:creationId xmlns:a16="http://schemas.microsoft.com/office/drawing/2014/main" id="{E651A5DE-F46F-FA42-8500-788CE8C7B792}"/>
                </a:ext>
              </a:extLst>
            </p:cNvPr>
            <p:cNvGrpSpPr>
              <a:grpSpLocks/>
            </p:cNvGrpSpPr>
            <p:nvPr/>
          </p:nvGrpSpPr>
          <p:grpSpPr bwMode="auto">
            <a:xfrm>
              <a:off x="2091445" y="1463823"/>
              <a:ext cx="304800" cy="762000"/>
              <a:chOff x="3216" y="1728"/>
              <a:chExt cx="192" cy="480"/>
            </a:xfrm>
          </p:grpSpPr>
          <p:sp>
            <p:nvSpPr>
              <p:cNvPr id="67" name="Line 8">
                <a:extLst>
                  <a:ext uri="{FF2B5EF4-FFF2-40B4-BE49-F238E27FC236}">
                    <a16:creationId xmlns:a16="http://schemas.microsoft.com/office/drawing/2014/main" id="{B4FB12D8-B0F7-9E49-B1E0-F614D2631612}"/>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 name="Line 9">
                <a:extLst>
                  <a:ext uri="{FF2B5EF4-FFF2-40B4-BE49-F238E27FC236}">
                    <a16:creationId xmlns:a16="http://schemas.microsoft.com/office/drawing/2014/main" id="{F9329161-F071-8845-9C37-3A132AC7625D}"/>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 name="Line 10">
                <a:extLst>
                  <a:ext uri="{FF2B5EF4-FFF2-40B4-BE49-F238E27FC236}">
                    <a16:creationId xmlns:a16="http://schemas.microsoft.com/office/drawing/2014/main" id="{B5AB1AFF-B160-CC42-844B-165274921B98}"/>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 name="Line 11">
                <a:extLst>
                  <a:ext uri="{FF2B5EF4-FFF2-40B4-BE49-F238E27FC236}">
                    <a16:creationId xmlns:a16="http://schemas.microsoft.com/office/drawing/2014/main" id="{6BD7EE84-DCAE-1B44-AA68-03B55E4487FE}"/>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8" name="TextBox 7">
              <a:extLst>
                <a:ext uri="{FF2B5EF4-FFF2-40B4-BE49-F238E27FC236}">
                  <a16:creationId xmlns:a16="http://schemas.microsoft.com/office/drawing/2014/main" id="{08B597B0-F06C-784A-93EE-F26F1B8EC7B0}"/>
                </a:ext>
              </a:extLst>
            </p:cNvPr>
            <p:cNvSpPr txBox="1"/>
            <p:nvPr/>
          </p:nvSpPr>
          <p:spPr>
            <a:xfrm>
              <a:off x="2338998" y="1678072"/>
              <a:ext cx="345258" cy="338554"/>
            </a:xfrm>
            <a:prstGeom prst="rect">
              <a:avLst/>
            </a:prstGeom>
            <a:noFill/>
          </p:spPr>
          <p:txBody>
            <a:bodyPr wrap="square" rtlCol="0">
              <a:spAutoFit/>
            </a:bodyPr>
            <a:lstStyle/>
            <a:p>
              <a:r>
                <a:rPr lang="en-US" sz="1600" dirty="0"/>
                <a:t>C</a:t>
              </a:r>
            </a:p>
          </p:txBody>
        </p:sp>
        <p:grpSp>
          <p:nvGrpSpPr>
            <p:cNvPr id="15" name="Group 220">
              <a:extLst>
                <a:ext uri="{FF2B5EF4-FFF2-40B4-BE49-F238E27FC236}">
                  <a16:creationId xmlns:a16="http://schemas.microsoft.com/office/drawing/2014/main" id="{EA6A166E-5FFD-FF44-8240-09416D15E8E7}"/>
                </a:ext>
              </a:extLst>
            </p:cNvPr>
            <p:cNvGrpSpPr>
              <a:grpSpLocks/>
            </p:cNvGrpSpPr>
            <p:nvPr/>
          </p:nvGrpSpPr>
          <p:grpSpPr bwMode="auto">
            <a:xfrm>
              <a:off x="2437129" y="3618897"/>
              <a:ext cx="152400" cy="304800"/>
              <a:chOff x="3264" y="3072"/>
              <a:chExt cx="96" cy="192"/>
            </a:xfrm>
          </p:grpSpPr>
          <p:sp>
            <p:nvSpPr>
              <p:cNvPr id="65" name="Line 17">
                <a:extLst>
                  <a:ext uri="{FF2B5EF4-FFF2-40B4-BE49-F238E27FC236}">
                    <a16:creationId xmlns:a16="http://schemas.microsoft.com/office/drawing/2014/main" id="{D3FEA89A-BD55-1043-BD3A-DBEA55EBADFB}"/>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 name="Freeform 18">
                <a:extLst>
                  <a:ext uri="{FF2B5EF4-FFF2-40B4-BE49-F238E27FC236}">
                    <a16:creationId xmlns:a16="http://schemas.microsoft.com/office/drawing/2014/main" id="{89E179BA-6360-0646-B5E7-EA1095A3F361}"/>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7" name="TextBox 16">
              <a:extLst>
                <a:ext uri="{FF2B5EF4-FFF2-40B4-BE49-F238E27FC236}">
                  <a16:creationId xmlns:a16="http://schemas.microsoft.com/office/drawing/2014/main" id="{E9BA5B3D-7DBB-3A40-9B10-C2355D93A55D}"/>
                </a:ext>
              </a:extLst>
            </p:cNvPr>
            <p:cNvSpPr txBox="1"/>
            <p:nvPr/>
          </p:nvSpPr>
          <p:spPr>
            <a:xfrm>
              <a:off x="1741136" y="1730426"/>
              <a:ext cx="400820" cy="338554"/>
            </a:xfrm>
            <a:prstGeom prst="rect">
              <a:avLst/>
            </a:prstGeom>
            <a:noFill/>
          </p:spPr>
          <p:txBody>
            <a:bodyPr wrap="square" rtlCol="0">
              <a:spAutoFit/>
            </a:bodyPr>
            <a:lstStyle/>
            <a:p>
              <a:r>
                <a:rPr lang="en-US" sz="1600" dirty="0"/>
                <a:t>R</a:t>
              </a:r>
              <a:r>
                <a:rPr lang="en-US" sz="1600" baseline="-25000" dirty="0"/>
                <a:t>2</a:t>
              </a:r>
            </a:p>
          </p:txBody>
        </p:sp>
        <p:cxnSp>
          <p:nvCxnSpPr>
            <p:cNvPr id="18" name="Straight Connector 17">
              <a:extLst>
                <a:ext uri="{FF2B5EF4-FFF2-40B4-BE49-F238E27FC236}">
                  <a16:creationId xmlns:a16="http://schemas.microsoft.com/office/drawing/2014/main" id="{EE2CB27F-6DC4-CA4E-BF1D-1D800494AA05}"/>
                </a:ext>
              </a:extLst>
            </p:cNvPr>
            <p:cNvCxnSpPr>
              <a:cxnSpLocks/>
            </p:cNvCxnSpPr>
            <p:nvPr/>
          </p:nvCxnSpPr>
          <p:spPr>
            <a:xfrm>
              <a:off x="561418" y="1469521"/>
              <a:ext cx="51290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 name="Group 300">
              <a:extLst>
                <a:ext uri="{FF2B5EF4-FFF2-40B4-BE49-F238E27FC236}">
                  <a16:creationId xmlns:a16="http://schemas.microsoft.com/office/drawing/2014/main" id="{DFFAD6B4-6A81-CA43-A1DE-A95C0B859C18}"/>
                </a:ext>
              </a:extLst>
            </p:cNvPr>
            <p:cNvGrpSpPr>
              <a:grpSpLocks/>
            </p:cNvGrpSpPr>
            <p:nvPr/>
          </p:nvGrpSpPr>
          <p:grpSpPr bwMode="auto">
            <a:xfrm>
              <a:off x="988981" y="1459902"/>
              <a:ext cx="533400" cy="762000"/>
              <a:chOff x="4896" y="1728"/>
              <a:chExt cx="336" cy="480"/>
            </a:xfrm>
          </p:grpSpPr>
          <p:grpSp>
            <p:nvGrpSpPr>
              <p:cNvPr id="31" name="Group 267">
                <a:extLst>
                  <a:ext uri="{FF2B5EF4-FFF2-40B4-BE49-F238E27FC236}">
                    <a16:creationId xmlns:a16="http://schemas.microsoft.com/office/drawing/2014/main" id="{3D62B4A5-6162-9944-A88F-94AFAE0A87C6}"/>
                  </a:ext>
                </a:extLst>
              </p:cNvPr>
              <p:cNvGrpSpPr>
                <a:grpSpLocks/>
              </p:cNvGrpSpPr>
              <p:nvPr/>
            </p:nvGrpSpPr>
            <p:grpSpPr bwMode="auto">
              <a:xfrm>
                <a:off x="4896" y="1728"/>
                <a:ext cx="96" cy="480"/>
                <a:chOff x="3935" y="1728"/>
                <a:chExt cx="96" cy="480"/>
              </a:xfrm>
            </p:grpSpPr>
            <p:sp>
              <p:nvSpPr>
                <p:cNvPr id="48" name="Arc 268">
                  <a:extLst>
                    <a:ext uri="{FF2B5EF4-FFF2-40B4-BE49-F238E27FC236}">
                      <a16:creationId xmlns:a16="http://schemas.microsoft.com/office/drawing/2014/main" id="{557F730B-E081-5E4F-A0B8-4F856628E1A3}"/>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 name="Arc 269">
                  <a:extLst>
                    <a:ext uri="{FF2B5EF4-FFF2-40B4-BE49-F238E27FC236}">
                      <a16:creationId xmlns:a16="http://schemas.microsoft.com/office/drawing/2014/main" id="{A3F7AC76-BF57-7541-8141-13DDDA525AC8}"/>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1" name="Arc 270">
                  <a:extLst>
                    <a:ext uri="{FF2B5EF4-FFF2-40B4-BE49-F238E27FC236}">
                      <a16:creationId xmlns:a16="http://schemas.microsoft.com/office/drawing/2014/main" id="{C3174D5F-2424-4A4F-9493-0DDB68AAFC5E}"/>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2" name="Arc 271">
                  <a:extLst>
                    <a:ext uri="{FF2B5EF4-FFF2-40B4-BE49-F238E27FC236}">
                      <a16:creationId xmlns:a16="http://schemas.microsoft.com/office/drawing/2014/main" id="{BB83EC63-F368-914F-93FB-DA6513EFA61B}"/>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3" name="Line 272">
                  <a:extLst>
                    <a:ext uri="{FF2B5EF4-FFF2-40B4-BE49-F238E27FC236}">
                      <a16:creationId xmlns:a16="http://schemas.microsoft.com/office/drawing/2014/main" id="{9BA41E0E-A656-4640-9BF6-8603D6F3B542}"/>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 name="Line 273">
                  <a:extLst>
                    <a:ext uri="{FF2B5EF4-FFF2-40B4-BE49-F238E27FC236}">
                      <a16:creationId xmlns:a16="http://schemas.microsoft.com/office/drawing/2014/main" id="{E8B0FDA8-C102-114D-9908-9E6E38677C4E}"/>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 name="Arc 274">
                  <a:extLst>
                    <a:ext uri="{FF2B5EF4-FFF2-40B4-BE49-F238E27FC236}">
                      <a16:creationId xmlns:a16="http://schemas.microsoft.com/office/drawing/2014/main" id="{29079221-5BAC-D542-8B21-50D436440E8C}"/>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6" name="Arc 275">
                  <a:extLst>
                    <a:ext uri="{FF2B5EF4-FFF2-40B4-BE49-F238E27FC236}">
                      <a16:creationId xmlns:a16="http://schemas.microsoft.com/office/drawing/2014/main" id="{04D0BBD8-A393-2D4B-8D9C-E932B6EB2E33}"/>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7" name="Arc 276">
                  <a:extLst>
                    <a:ext uri="{FF2B5EF4-FFF2-40B4-BE49-F238E27FC236}">
                      <a16:creationId xmlns:a16="http://schemas.microsoft.com/office/drawing/2014/main" id="{45BFCCB4-E725-5043-8F66-5834F0573C30}"/>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8" name="Arc 277">
                  <a:extLst>
                    <a:ext uri="{FF2B5EF4-FFF2-40B4-BE49-F238E27FC236}">
                      <a16:creationId xmlns:a16="http://schemas.microsoft.com/office/drawing/2014/main" id="{3B61557E-E0F2-0E43-81DD-44AF91FF1C6E}"/>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9" name="Arc 278">
                  <a:extLst>
                    <a:ext uri="{FF2B5EF4-FFF2-40B4-BE49-F238E27FC236}">
                      <a16:creationId xmlns:a16="http://schemas.microsoft.com/office/drawing/2014/main" id="{6C3CDC40-0ACF-EB42-9197-695AB3B3E52C}"/>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0" name="Arc 279">
                  <a:extLst>
                    <a:ext uri="{FF2B5EF4-FFF2-40B4-BE49-F238E27FC236}">
                      <a16:creationId xmlns:a16="http://schemas.microsoft.com/office/drawing/2014/main" id="{22825586-9F13-5A47-A9DA-B5D83224C213}"/>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 name="Arc 280">
                  <a:extLst>
                    <a:ext uri="{FF2B5EF4-FFF2-40B4-BE49-F238E27FC236}">
                      <a16:creationId xmlns:a16="http://schemas.microsoft.com/office/drawing/2014/main" id="{3CA0BF0A-F697-5D4B-A677-21A159B81BC1}"/>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32" name="Group 281">
                <a:extLst>
                  <a:ext uri="{FF2B5EF4-FFF2-40B4-BE49-F238E27FC236}">
                    <a16:creationId xmlns:a16="http://schemas.microsoft.com/office/drawing/2014/main" id="{26655ABD-BC28-964E-93B4-25E3842352AE}"/>
                  </a:ext>
                </a:extLst>
              </p:cNvPr>
              <p:cNvGrpSpPr>
                <a:grpSpLocks/>
              </p:cNvGrpSpPr>
              <p:nvPr/>
            </p:nvGrpSpPr>
            <p:grpSpPr bwMode="auto">
              <a:xfrm flipH="1">
                <a:off x="5136" y="1728"/>
                <a:ext cx="96" cy="480"/>
                <a:chOff x="3935" y="1728"/>
                <a:chExt cx="96" cy="480"/>
              </a:xfrm>
            </p:grpSpPr>
            <p:sp>
              <p:nvSpPr>
                <p:cNvPr id="35" name="Arc 282">
                  <a:extLst>
                    <a:ext uri="{FF2B5EF4-FFF2-40B4-BE49-F238E27FC236}">
                      <a16:creationId xmlns:a16="http://schemas.microsoft.com/office/drawing/2014/main" id="{4F4B98E7-9AD9-FB48-B561-AF9E33C22F90}"/>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6" name="Arc 283">
                  <a:extLst>
                    <a:ext uri="{FF2B5EF4-FFF2-40B4-BE49-F238E27FC236}">
                      <a16:creationId xmlns:a16="http://schemas.microsoft.com/office/drawing/2014/main" id="{4770E070-34A4-484A-BB11-F04E952A67A5}"/>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7" name="Arc 284">
                  <a:extLst>
                    <a:ext uri="{FF2B5EF4-FFF2-40B4-BE49-F238E27FC236}">
                      <a16:creationId xmlns:a16="http://schemas.microsoft.com/office/drawing/2014/main" id="{FF339495-8EB6-1540-99E2-DE5EE839EF33}"/>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8" name="Arc 285">
                  <a:extLst>
                    <a:ext uri="{FF2B5EF4-FFF2-40B4-BE49-F238E27FC236}">
                      <a16:creationId xmlns:a16="http://schemas.microsoft.com/office/drawing/2014/main" id="{EA37173D-1D69-1342-8541-E08BC25F8B67}"/>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 name="Line 286">
                  <a:extLst>
                    <a:ext uri="{FF2B5EF4-FFF2-40B4-BE49-F238E27FC236}">
                      <a16:creationId xmlns:a16="http://schemas.microsoft.com/office/drawing/2014/main" id="{62DC2B71-B030-8741-8684-B0315F9ABDF9}"/>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 name="Line 287">
                  <a:extLst>
                    <a:ext uri="{FF2B5EF4-FFF2-40B4-BE49-F238E27FC236}">
                      <a16:creationId xmlns:a16="http://schemas.microsoft.com/office/drawing/2014/main" id="{7E7143EA-41C1-6F49-BE97-74453F19A4ED}"/>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 name="Arc 288">
                  <a:extLst>
                    <a:ext uri="{FF2B5EF4-FFF2-40B4-BE49-F238E27FC236}">
                      <a16:creationId xmlns:a16="http://schemas.microsoft.com/office/drawing/2014/main" id="{87DF1541-028B-D947-BC26-1AB30B41292E}"/>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2" name="Arc 289">
                  <a:extLst>
                    <a:ext uri="{FF2B5EF4-FFF2-40B4-BE49-F238E27FC236}">
                      <a16:creationId xmlns:a16="http://schemas.microsoft.com/office/drawing/2014/main" id="{18C289B9-3E50-7B42-BAA7-D9ABF49848E2}"/>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3" name="Arc 290">
                  <a:extLst>
                    <a:ext uri="{FF2B5EF4-FFF2-40B4-BE49-F238E27FC236}">
                      <a16:creationId xmlns:a16="http://schemas.microsoft.com/office/drawing/2014/main" id="{C4A81CCF-F38D-1344-A9C3-7C4D624123C7}"/>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4" name="Arc 291">
                  <a:extLst>
                    <a:ext uri="{FF2B5EF4-FFF2-40B4-BE49-F238E27FC236}">
                      <a16:creationId xmlns:a16="http://schemas.microsoft.com/office/drawing/2014/main" id="{C39F376D-D131-8F47-84E6-B64CB439F0F5}"/>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5" name="Arc 292">
                  <a:extLst>
                    <a:ext uri="{FF2B5EF4-FFF2-40B4-BE49-F238E27FC236}">
                      <a16:creationId xmlns:a16="http://schemas.microsoft.com/office/drawing/2014/main" id="{7015A202-09C8-5541-839A-DD7EF112AB47}"/>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6" name="Arc 293">
                  <a:extLst>
                    <a:ext uri="{FF2B5EF4-FFF2-40B4-BE49-F238E27FC236}">
                      <a16:creationId xmlns:a16="http://schemas.microsoft.com/office/drawing/2014/main" id="{60F06506-42F0-0348-A406-AB99A26AE371}"/>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7" name="Arc 294">
                  <a:extLst>
                    <a:ext uri="{FF2B5EF4-FFF2-40B4-BE49-F238E27FC236}">
                      <a16:creationId xmlns:a16="http://schemas.microsoft.com/office/drawing/2014/main" id="{CB4EFAEC-9663-DC49-BFB1-D1EF608E0D0F}"/>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33" name="Line 295">
                <a:extLst>
                  <a:ext uri="{FF2B5EF4-FFF2-40B4-BE49-F238E27FC236}">
                    <a16:creationId xmlns:a16="http://schemas.microsoft.com/office/drawing/2014/main" id="{E39BE13A-F453-A04E-8BBE-332E7C20AB1C}"/>
                  </a:ext>
                </a:extLst>
              </p:cNvPr>
              <p:cNvSpPr>
                <a:spLocks noChangeShapeType="1"/>
              </p:cNvSpPr>
              <p:nvPr/>
            </p:nvSpPr>
            <p:spPr bwMode="auto">
              <a:xfrm>
                <a:off x="5040" y="1824"/>
                <a:ext cx="0" cy="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 name="Line 296">
                <a:extLst>
                  <a:ext uri="{FF2B5EF4-FFF2-40B4-BE49-F238E27FC236}">
                    <a16:creationId xmlns:a16="http://schemas.microsoft.com/office/drawing/2014/main" id="{55E3DA1D-3AB6-0548-B9F4-EA6EC2DC6E17}"/>
                  </a:ext>
                </a:extLst>
              </p:cNvPr>
              <p:cNvSpPr>
                <a:spLocks noChangeShapeType="1"/>
              </p:cNvSpPr>
              <p:nvPr/>
            </p:nvSpPr>
            <p:spPr bwMode="auto">
              <a:xfrm>
                <a:off x="5088" y="1824"/>
                <a:ext cx="0" cy="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0" name="Group 220">
              <a:extLst>
                <a:ext uri="{FF2B5EF4-FFF2-40B4-BE49-F238E27FC236}">
                  <a16:creationId xmlns:a16="http://schemas.microsoft.com/office/drawing/2014/main" id="{32DFABDD-A0AC-4B4E-BC89-863BA6A25BEA}"/>
                </a:ext>
              </a:extLst>
            </p:cNvPr>
            <p:cNvGrpSpPr>
              <a:grpSpLocks/>
            </p:cNvGrpSpPr>
            <p:nvPr/>
          </p:nvGrpSpPr>
          <p:grpSpPr bwMode="auto">
            <a:xfrm>
              <a:off x="495984" y="1466792"/>
              <a:ext cx="152400" cy="304800"/>
              <a:chOff x="3264" y="3072"/>
              <a:chExt cx="96" cy="192"/>
            </a:xfrm>
          </p:grpSpPr>
          <p:sp>
            <p:nvSpPr>
              <p:cNvPr id="29" name="Line 17">
                <a:extLst>
                  <a:ext uri="{FF2B5EF4-FFF2-40B4-BE49-F238E27FC236}">
                    <a16:creationId xmlns:a16="http://schemas.microsoft.com/office/drawing/2014/main" id="{60C408BB-F6FB-314D-9C1F-F6B9C76B442E}"/>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 name="Freeform 18">
                <a:extLst>
                  <a:ext uri="{FF2B5EF4-FFF2-40B4-BE49-F238E27FC236}">
                    <a16:creationId xmlns:a16="http://schemas.microsoft.com/office/drawing/2014/main" id="{142222D7-7493-A546-9D74-B2004A21BC11}"/>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cxnSp>
          <p:nvCxnSpPr>
            <p:cNvPr id="22" name="Straight Connector 21">
              <a:extLst>
                <a:ext uri="{FF2B5EF4-FFF2-40B4-BE49-F238E27FC236}">
                  <a16:creationId xmlns:a16="http://schemas.microsoft.com/office/drawing/2014/main" id="{47585B98-5A11-D245-927B-BC8E0B29E362}"/>
                </a:ext>
              </a:extLst>
            </p:cNvPr>
            <p:cNvCxnSpPr>
              <a:cxnSpLocks/>
            </p:cNvCxnSpPr>
            <p:nvPr/>
          </p:nvCxnSpPr>
          <p:spPr>
            <a:xfrm>
              <a:off x="1439241" y="1469521"/>
              <a:ext cx="10972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14BABC00-04F4-C24E-B562-DD75DF3BCA76}"/>
                </a:ext>
              </a:extLst>
            </p:cNvPr>
            <p:cNvSpPr>
              <a:spLocks noChangeAspect="1" noChangeArrowheads="1"/>
            </p:cNvSpPr>
            <p:nvPr/>
          </p:nvSpPr>
          <p:spPr bwMode="auto">
            <a:xfrm>
              <a:off x="2506179" y="1408181"/>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4" name="TextBox 23">
              <a:extLst>
                <a:ext uri="{FF2B5EF4-FFF2-40B4-BE49-F238E27FC236}">
                  <a16:creationId xmlns:a16="http://schemas.microsoft.com/office/drawing/2014/main" id="{36EDF0F2-2CAD-D546-B2A6-8587B79B9A12}"/>
                </a:ext>
              </a:extLst>
            </p:cNvPr>
            <p:cNvSpPr txBox="1"/>
            <p:nvPr/>
          </p:nvSpPr>
          <p:spPr>
            <a:xfrm>
              <a:off x="714210" y="1817946"/>
              <a:ext cx="345258" cy="338554"/>
            </a:xfrm>
            <a:prstGeom prst="rect">
              <a:avLst/>
            </a:prstGeom>
            <a:noFill/>
          </p:spPr>
          <p:txBody>
            <a:bodyPr wrap="square" rtlCol="0">
              <a:spAutoFit/>
            </a:bodyPr>
            <a:lstStyle/>
            <a:p>
              <a:r>
                <a:rPr lang="en-US" sz="1600" dirty="0"/>
                <a:t>L</a:t>
              </a:r>
            </a:p>
          </p:txBody>
        </p:sp>
        <p:sp>
          <p:nvSpPr>
            <p:cNvPr id="25" name="TextBox 24">
              <a:extLst>
                <a:ext uri="{FF2B5EF4-FFF2-40B4-BE49-F238E27FC236}">
                  <a16:creationId xmlns:a16="http://schemas.microsoft.com/office/drawing/2014/main" id="{1EBD5689-540A-F649-80F8-5CD96F058260}"/>
                </a:ext>
              </a:extLst>
            </p:cNvPr>
            <p:cNvSpPr txBox="1"/>
            <p:nvPr/>
          </p:nvSpPr>
          <p:spPr>
            <a:xfrm>
              <a:off x="1122642" y="1153482"/>
              <a:ext cx="345258" cy="338554"/>
            </a:xfrm>
            <a:prstGeom prst="rect">
              <a:avLst/>
            </a:prstGeom>
            <a:noFill/>
          </p:spPr>
          <p:txBody>
            <a:bodyPr wrap="square" rtlCol="0">
              <a:spAutoFit/>
            </a:bodyPr>
            <a:lstStyle/>
            <a:p>
              <a:r>
                <a:rPr lang="en-US" sz="1600" dirty="0"/>
                <a:t>M</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6A57248-2697-A744-8B6A-94566300E0FD}"/>
                    </a:ext>
                  </a:extLst>
                </p:cNvPr>
                <p:cNvSpPr txBox="1"/>
                <p:nvPr/>
              </p:nvSpPr>
              <p:spPr>
                <a:xfrm>
                  <a:off x="407596" y="4251739"/>
                  <a:ext cx="2700202" cy="1240622"/>
                </a:xfrm>
                <a:prstGeom prst="rect">
                  <a:avLst/>
                </a:prstGeom>
                <a:noFill/>
              </p:spPr>
              <p:txBody>
                <a:bodyPr wrap="square" rtlCol="0">
                  <a:noAutofit/>
                </a:bodyPr>
                <a:lstStyle/>
                <a:p>
                  <a:pPr marL="285750" indent="-285750">
                    <a:buFont typeface="Arial" panose="020B0604020202020204" pitchFamily="34" charset="0"/>
                    <a:buChar char="•"/>
                  </a:pPr>
                  <a14:m>
                    <m:oMath xmlns:m="http://schemas.openxmlformats.org/officeDocument/2006/math">
                      <m:r>
                        <a:rPr lang="en-US" sz="2000" b="0" i="1" smtClean="0">
                          <a:latin typeface="Cambria Math" panose="02040503050406030204" pitchFamily="18" charset="0"/>
                        </a:rPr>
                        <m:t>𝐵</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𝑀</m:t>
                          </m:r>
                        </m:num>
                        <m:den>
                          <m:r>
                            <a:rPr lang="en-US" sz="2000" b="0" i="1" smtClean="0">
                              <a:latin typeface="Cambria Math" panose="02040503050406030204" pitchFamily="18" charset="0"/>
                            </a:rPr>
                            <m:t>𝐿</m:t>
                          </m:r>
                        </m:den>
                      </m:f>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2</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2</m:t>
                              </m:r>
                            </m:sub>
                          </m:sSub>
                        </m:den>
                      </m:f>
                      <m:r>
                        <a:rPr lang="en-US" sz="2000" b="0" i="1" smtClean="0">
                          <a:latin typeface="Cambria Math" panose="02040503050406030204" pitchFamily="18" charset="0"/>
                        </a:rPr>
                        <m:t>)</m:t>
                      </m:r>
                    </m:oMath>
                  </a14:m>
                  <a:endParaRPr lang="en-US" sz="2000" dirty="0"/>
                </a:p>
                <a:p>
                  <a:pPr marL="285750" indent="-285750">
                    <a:buFont typeface="Arial" panose="020B0604020202020204" pitchFamily="34" charset="0"/>
                    <a:buChar char="•"/>
                  </a:pPr>
                  <a14:m>
                    <m:oMath xmlns:m="http://schemas.openxmlformats.org/officeDocument/2006/math">
                      <m:r>
                        <a:rPr lang="en-US" sz="200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m:t>
                          </m:r>
                        </m:num>
                        <m:den>
                          <m:rad>
                            <m:radPr>
                              <m:degHide m:val="on"/>
                              <m:ctrlPr>
                                <a:rPr lang="en-US" sz="2000" b="0" i="1" smtClean="0">
                                  <a:latin typeface="Cambria Math" panose="02040503050406030204" pitchFamily="18" charset="0"/>
                                  <a:ea typeface="Cambria Math" panose="02040503050406030204" pitchFamily="18" charset="0"/>
                                </a:rPr>
                              </m:ctrlPr>
                            </m:radPr>
                            <m:deg/>
                            <m:e>
                              <m:r>
                                <a:rPr lang="en-US" sz="2000" b="0" i="1" smtClean="0">
                                  <a:latin typeface="Cambria Math" panose="02040503050406030204" pitchFamily="18" charset="0"/>
                                  <a:ea typeface="Cambria Math" panose="02040503050406030204" pitchFamily="18" charset="0"/>
                                </a:rPr>
                                <m:t>𝐿𝐶</m:t>
                              </m:r>
                            </m:e>
                          </m:rad>
                        </m:den>
                      </m:f>
                    </m:oMath>
                  </a14:m>
                  <a:endParaRPr lang="en-US" sz="2000" dirty="0"/>
                </a:p>
              </p:txBody>
            </p:sp>
          </mc:Choice>
          <mc:Fallback xmlns="">
            <p:sp>
              <p:nvSpPr>
                <p:cNvPr id="26" name="TextBox 25">
                  <a:extLst>
                    <a:ext uri="{FF2B5EF4-FFF2-40B4-BE49-F238E27FC236}">
                      <a16:creationId xmlns:a16="http://schemas.microsoft.com/office/drawing/2014/main" id="{26A57248-2697-A744-8B6A-94566300E0FD}"/>
                    </a:ext>
                  </a:extLst>
                </p:cNvPr>
                <p:cNvSpPr txBox="1">
                  <a:spLocks noRot="1" noChangeAspect="1" noMove="1" noResize="1" noEditPoints="1" noAdjustHandles="1" noChangeArrowheads="1" noChangeShapeType="1" noTextEdit="1"/>
                </p:cNvSpPr>
                <p:nvPr/>
              </p:nvSpPr>
              <p:spPr>
                <a:xfrm>
                  <a:off x="407596" y="4251739"/>
                  <a:ext cx="2700202" cy="1240622"/>
                </a:xfrm>
                <a:prstGeom prst="rect">
                  <a:avLst/>
                </a:prstGeom>
                <a:blipFill>
                  <a:blip r:embed="rId3"/>
                  <a:stretch>
                    <a:fillRect l="-1869"/>
                  </a:stretch>
                </a:blipFill>
              </p:spPr>
              <p:txBody>
                <a:bodyPr/>
                <a:lstStyle/>
                <a:p>
                  <a:r>
                    <a:rPr lang="en-US">
                      <a:noFill/>
                    </a:rPr>
                    <a:t> </a:t>
                  </a:r>
                </a:p>
              </p:txBody>
            </p:sp>
          </mc:Fallback>
        </mc:AlternateContent>
        <p:sp>
          <p:nvSpPr>
            <p:cNvPr id="71" name="TextBox 70">
              <a:extLst>
                <a:ext uri="{FF2B5EF4-FFF2-40B4-BE49-F238E27FC236}">
                  <a16:creationId xmlns:a16="http://schemas.microsoft.com/office/drawing/2014/main" id="{04FE5A9B-EB24-6A45-89CE-1626647B1086}"/>
                </a:ext>
              </a:extLst>
            </p:cNvPr>
            <p:cNvSpPr txBox="1"/>
            <p:nvPr/>
          </p:nvSpPr>
          <p:spPr>
            <a:xfrm>
              <a:off x="2401493" y="950554"/>
              <a:ext cx="565525" cy="338554"/>
            </a:xfrm>
            <a:prstGeom prst="rect">
              <a:avLst/>
            </a:prstGeom>
            <a:noFill/>
          </p:spPr>
          <p:txBody>
            <a:bodyPr wrap="square" rtlCol="0">
              <a:spAutoFit/>
            </a:bodyPr>
            <a:lstStyle/>
            <a:p>
              <a:r>
                <a:rPr lang="en-US" sz="1600" dirty="0" err="1"/>
                <a:t>V</a:t>
              </a:r>
              <a:r>
                <a:rPr lang="en-US" sz="1600" baseline="-25000" dirty="0" err="1"/>
                <a:t>cc</a:t>
              </a:r>
              <a:endParaRPr lang="en-US" sz="1600" baseline="-25000" dirty="0"/>
            </a:p>
          </p:txBody>
        </p:sp>
        <p:grpSp>
          <p:nvGrpSpPr>
            <p:cNvPr id="72" name="Group 71">
              <a:extLst>
                <a:ext uri="{FF2B5EF4-FFF2-40B4-BE49-F238E27FC236}">
                  <a16:creationId xmlns:a16="http://schemas.microsoft.com/office/drawing/2014/main" id="{81422F77-011B-6E4F-BE53-4E0EACB84DEC}"/>
                </a:ext>
              </a:extLst>
            </p:cNvPr>
            <p:cNvGrpSpPr/>
            <p:nvPr/>
          </p:nvGrpSpPr>
          <p:grpSpPr>
            <a:xfrm>
              <a:off x="1065933" y="2217096"/>
              <a:ext cx="859202" cy="1144703"/>
              <a:chOff x="2362200" y="1905000"/>
              <a:chExt cx="762000" cy="1219200"/>
            </a:xfrm>
          </p:grpSpPr>
          <p:cxnSp>
            <p:nvCxnSpPr>
              <p:cNvPr id="73" name="Straight Connector 72">
                <a:extLst>
                  <a:ext uri="{FF2B5EF4-FFF2-40B4-BE49-F238E27FC236}">
                    <a16:creationId xmlns:a16="http://schemas.microsoft.com/office/drawing/2014/main" id="{87B008A1-DB2A-C445-9C50-19AFA8FB75F3}"/>
                  </a:ext>
                </a:extLst>
              </p:cNvPr>
              <p:cNvCxnSpPr/>
              <p:nvPr/>
            </p:nvCxnSpPr>
            <p:spPr bwMode="auto">
              <a:xfrm>
                <a:off x="2819400" y="2209800"/>
                <a:ext cx="0" cy="640080"/>
              </a:xfrm>
              <a:prstGeom prst="line">
                <a:avLst/>
              </a:prstGeom>
              <a:solidFill>
                <a:schemeClr val="accent1"/>
              </a:solidFill>
              <a:ln w="31750" cap="flat" cmpd="sng" algn="ctr">
                <a:solidFill>
                  <a:schemeClr val="tx1"/>
                </a:solidFill>
                <a:prstDash val="solid"/>
                <a:round/>
                <a:headEnd type="none" w="med" len="med"/>
                <a:tailEnd type="none" w="med" len="med"/>
              </a:ln>
              <a:effectLst/>
            </p:spPr>
          </p:cxnSp>
          <p:cxnSp>
            <p:nvCxnSpPr>
              <p:cNvPr id="74" name="Straight Connector 73">
                <a:extLst>
                  <a:ext uri="{FF2B5EF4-FFF2-40B4-BE49-F238E27FC236}">
                    <a16:creationId xmlns:a16="http://schemas.microsoft.com/office/drawing/2014/main" id="{8C3207B0-4B33-0F43-BCEF-D1899879A124}"/>
                  </a:ext>
                </a:extLst>
              </p:cNvPr>
              <p:cNvCxnSpPr/>
              <p:nvPr/>
            </p:nvCxnSpPr>
            <p:spPr bwMode="auto">
              <a:xfrm>
                <a:off x="3124200" y="1905000"/>
                <a:ext cx="0" cy="45720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75" name="Straight Connector 74">
                <a:extLst>
                  <a:ext uri="{FF2B5EF4-FFF2-40B4-BE49-F238E27FC236}">
                    <a16:creationId xmlns:a16="http://schemas.microsoft.com/office/drawing/2014/main" id="{ED9A016D-0D06-3249-A402-9F29AB452AC4}"/>
                  </a:ext>
                </a:extLst>
              </p:cNvPr>
              <p:cNvCxnSpPr>
                <a:cxnSpLocks/>
              </p:cNvCxnSpPr>
              <p:nvPr/>
            </p:nvCxnSpPr>
            <p:spPr bwMode="auto">
              <a:xfrm>
                <a:off x="2819400" y="2362200"/>
                <a:ext cx="304800"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76" name="Straight Connector 75">
                <a:extLst>
                  <a:ext uri="{FF2B5EF4-FFF2-40B4-BE49-F238E27FC236}">
                    <a16:creationId xmlns:a16="http://schemas.microsoft.com/office/drawing/2014/main" id="{20221B7B-1311-FA42-AA2E-7D1AEEB842CF}"/>
                  </a:ext>
                </a:extLst>
              </p:cNvPr>
              <p:cNvCxnSpPr>
                <a:cxnSpLocks/>
              </p:cNvCxnSpPr>
              <p:nvPr/>
            </p:nvCxnSpPr>
            <p:spPr bwMode="auto">
              <a:xfrm>
                <a:off x="2819400" y="2667000"/>
                <a:ext cx="304800"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77" name="Straight Connector 76">
                <a:extLst>
                  <a:ext uri="{FF2B5EF4-FFF2-40B4-BE49-F238E27FC236}">
                    <a16:creationId xmlns:a16="http://schemas.microsoft.com/office/drawing/2014/main" id="{092396C8-BEA0-154B-B39A-C7775BF422DE}"/>
                  </a:ext>
                </a:extLst>
              </p:cNvPr>
              <p:cNvCxnSpPr/>
              <p:nvPr/>
            </p:nvCxnSpPr>
            <p:spPr bwMode="auto">
              <a:xfrm>
                <a:off x="3124200" y="2667000"/>
                <a:ext cx="0" cy="45720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78" name="Straight Arrow Connector 77">
                <a:extLst>
                  <a:ext uri="{FF2B5EF4-FFF2-40B4-BE49-F238E27FC236}">
                    <a16:creationId xmlns:a16="http://schemas.microsoft.com/office/drawing/2014/main" id="{84EA9F62-BB97-EF40-BF1A-67FDE11A7A80}"/>
                  </a:ext>
                </a:extLst>
              </p:cNvPr>
              <p:cNvCxnSpPr>
                <a:cxnSpLocks/>
              </p:cNvCxnSpPr>
              <p:nvPr/>
            </p:nvCxnSpPr>
            <p:spPr bwMode="auto">
              <a:xfrm>
                <a:off x="2362200" y="2514600"/>
                <a:ext cx="457200" cy="0"/>
              </a:xfrm>
              <a:prstGeom prst="straightConnector1">
                <a:avLst/>
              </a:prstGeom>
              <a:solidFill>
                <a:schemeClr val="accent1"/>
              </a:solidFill>
              <a:ln w="25400" cap="flat" cmpd="sng" algn="ctr">
                <a:solidFill>
                  <a:schemeClr val="tx1"/>
                </a:solidFill>
                <a:prstDash val="solid"/>
                <a:round/>
                <a:headEnd type="none" w="med" len="med"/>
                <a:tailEnd type="triangle"/>
              </a:ln>
              <a:effectLst/>
            </p:spPr>
          </p:cxnSp>
          <p:sp>
            <p:nvSpPr>
              <p:cNvPr id="79" name="TextBox 78">
                <a:extLst>
                  <a:ext uri="{FF2B5EF4-FFF2-40B4-BE49-F238E27FC236}">
                    <a16:creationId xmlns:a16="http://schemas.microsoft.com/office/drawing/2014/main" id="{ECC8B92B-5284-F641-94B8-4084D5760EAA}"/>
                  </a:ext>
                </a:extLst>
              </p:cNvPr>
              <p:cNvSpPr txBox="1"/>
              <p:nvPr/>
            </p:nvSpPr>
            <p:spPr>
              <a:xfrm>
                <a:off x="2819400" y="1905000"/>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D</a:t>
                </a:r>
              </a:p>
            </p:txBody>
          </p:sp>
          <p:sp>
            <p:nvSpPr>
              <p:cNvPr id="80" name="TextBox 79">
                <a:extLst>
                  <a:ext uri="{FF2B5EF4-FFF2-40B4-BE49-F238E27FC236}">
                    <a16:creationId xmlns:a16="http://schemas.microsoft.com/office/drawing/2014/main" id="{D96E907E-38B6-FB4A-A4C1-03C5081144FE}"/>
                  </a:ext>
                </a:extLst>
              </p:cNvPr>
              <p:cNvSpPr txBox="1"/>
              <p:nvPr/>
            </p:nvSpPr>
            <p:spPr>
              <a:xfrm>
                <a:off x="2819400" y="2664023"/>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S</a:t>
                </a:r>
              </a:p>
            </p:txBody>
          </p:sp>
          <p:sp>
            <p:nvSpPr>
              <p:cNvPr id="81" name="TextBox 80">
                <a:extLst>
                  <a:ext uri="{FF2B5EF4-FFF2-40B4-BE49-F238E27FC236}">
                    <a16:creationId xmlns:a16="http://schemas.microsoft.com/office/drawing/2014/main" id="{456D710B-E4D4-BF47-AC97-D90610431526}"/>
                  </a:ext>
                </a:extLst>
              </p:cNvPr>
              <p:cNvSpPr txBox="1"/>
              <p:nvPr/>
            </p:nvSpPr>
            <p:spPr>
              <a:xfrm>
                <a:off x="2438400" y="2206823"/>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G</a:t>
                </a:r>
              </a:p>
            </p:txBody>
          </p:sp>
        </p:grpSp>
        <p:cxnSp>
          <p:nvCxnSpPr>
            <p:cNvPr id="82" name="Straight Connector 81">
              <a:extLst>
                <a:ext uri="{FF2B5EF4-FFF2-40B4-BE49-F238E27FC236}">
                  <a16:creationId xmlns:a16="http://schemas.microsoft.com/office/drawing/2014/main" id="{8236E4EA-4E74-C342-B33B-07017537A288}"/>
                </a:ext>
              </a:extLst>
            </p:cNvPr>
            <p:cNvCxnSpPr>
              <a:cxnSpLocks/>
            </p:cNvCxnSpPr>
            <p:nvPr/>
          </p:nvCxnSpPr>
          <p:spPr>
            <a:xfrm>
              <a:off x="1067743" y="2169094"/>
              <a:ext cx="7999" cy="63360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09E0A398-FD28-7A45-8B85-826BDBD82B2F}"/>
                </a:ext>
              </a:extLst>
            </p:cNvPr>
            <p:cNvCxnSpPr>
              <a:cxnSpLocks/>
            </p:cNvCxnSpPr>
            <p:nvPr/>
          </p:nvCxnSpPr>
          <p:spPr>
            <a:xfrm>
              <a:off x="1449425" y="2208514"/>
              <a:ext cx="10972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Oval 83">
              <a:extLst>
                <a:ext uri="{FF2B5EF4-FFF2-40B4-BE49-F238E27FC236}">
                  <a16:creationId xmlns:a16="http://schemas.microsoft.com/office/drawing/2014/main" id="{ABDD3D6E-D171-5A45-9B73-685394294AD8}"/>
                </a:ext>
              </a:extLst>
            </p:cNvPr>
            <p:cNvSpPr>
              <a:spLocks noChangeAspect="1" noChangeArrowheads="1"/>
            </p:cNvSpPr>
            <p:nvPr/>
          </p:nvSpPr>
          <p:spPr bwMode="auto">
            <a:xfrm>
              <a:off x="2486303" y="2130426"/>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85" name="TextBox 84">
              <a:extLst>
                <a:ext uri="{FF2B5EF4-FFF2-40B4-BE49-F238E27FC236}">
                  <a16:creationId xmlns:a16="http://schemas.microsoft.com/office/drawing/2014/main" id="{4581D90A-9B8F-EA4B-A0E7-621FE6A1B10F}"/>
                </a:ext>
              </a:extLst>
            </p:cNvPr>
            <p:cNvSpPr txBox="1"/>
            <p:nvPr/>
          </p:nvSpPr>
          <p:spPr>
            <a:xfrm>
              <a:off x="2396245" y="2267586"/>
              <a:ext cx="565525" cy="338554"/>
            </a:xfrm>
            <a:prstGeom prst="rect">
              <a:avLst/>
            </a:prstGeom>
            <a:noFill/>
          </p:spPr>
          <p:txBody>
            <a:bodyPr wrap="square" rtlCol="0">
              <a:spAutoFit/>
            </a:bodyPr>
            <a:lstStyle/>
            <a:p>
              <a:r>
                <a:rPr lang="en-US" sz="1600" dirty="0"/>
                <a:t>out</a:t>
              </a:r>
              <a:endParaRPr lang="en-US" sz="1600" baseline="-25000" dirty="0"/>
            </a:p>
          </p:txBody>
        </p:sp>
        <p:sp>
          <p:nvSpPr>
            <p:cNvPr id="86" name="Freeform 85">
              <a:extLst>
                <a:ext uri="{FF2B5EF4-FFF2-40B4-BE49-F238E27FC236}">
                  <a16:creationId xmlns:a16="http://schemas.microsoft.com/office/drawing/2014/main" id="{8ADC43CA-2511-0B41-926A-ADC577428FF3}"/>
                </a:ext>
              </a:extLst>
            </p:cNvPr>
            <p:cNvSpPr>
              <a:spLocks noChangeAspect="1"/>
            </p:cNvSpPr>
            <p:nvPr/>
          </p:nvSpPr>
          <p:spPr bwMode="auto">
            <a:xfrm>
              <a:off x="1849558" y="3273958"/>
              <a:ext cx="147456" cy="743474"/>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87" name="Group 210">
              <a:extLst>
                <a:ext uri="{FF2B5EF4-FFF2-40B4-BE49-F238E27FC236}">
                  <a16:creationId xmlns:a16="http://schemas.microsoft.com/office/drawing/2014/main" id="{5E2E371B-5F77-5345-ABD3-F7DAF8D5B027}"/>
                </a:ext>
              </a:extLst>
            </p:cNvPr>
            <p:cNvGrpSpPr>
              <a:grpSpLocks/>
            </p:cNvGrpSpPr>
            <p:nvPr/>
          </p:nvGrpSpPr>
          <p:grpSpPr bwMode="auto">
            <a:xfrm>
              <a:off x="2363113" y="2941437"/>
              <a:ext cx="304800" cy="762000"/>
              <a:chOff x="3216" y="1728"/>
              <a:chExt cx="192" cy="480"/>
            </a:xfrm>
          </p:grpSpPr>
          <p:sp>
            <p:nvSpPr>
              <p:cNvPr id="88" name="Line 8">
                <a:extLst>
                  <a:ext uri="{FF2B5EF4-FFF2-40B4-BE49-F238E27FC236}">
                    <a16:creationId xmlns:a16="http://schemas.microsoft.com/office/drawing/2014/main" id="{40C34176-27BF-9B47-A83F-8E8B3F9B93ED}"/>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 name="Line 9">
                <a:extLst>
                  <a:ext uri="{FF2B5EF4-FFF2-40B4-BE49-F238E27FC236}">
                    <a16:creationId xmlns:a16="http://schemas.microsoft.com/office/drawing/2014/main" id="{A114B15A-D8D9-0444-A658-CC7A97057645}"/>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 name="Line 10">
                <a:extLst>
                  <a:ext uri="{FF2B5EF4-FFF2-40B4-BE49-F238E27FC236}">
                    <a16:creationId xmlns:a16="http://schemas.microsoft.com/office/drawing/2014/main" id="{91E6F7D3-F29B-4044-AFF8-D50821CB81FF}"/>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 name="Line 11">
                <a:extLst>
                  <a:ext uri="{FF2B5EF4-FFF2-40B4-BE49-F238E27FC236}">
                    <a16:creationId xmlns:a16="http://schemas.microsoft.com/office/drawing/2014/main" id="{C193E7FC-67BE-0B4E-84D4-0CA3D69C8184}"/>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92" name="Straight Connector 91">
              <a:extLst>
                <a:ext uri="{FF2B5EF4-FFF2-40B4-BE49-F238E27FC236}">
                  <a16:creationId xmlns:a16="http://schemas.microsoft.com/office/drawing/2014/main" id="{FEF2CDD1-3ED6-8844-87F5-B9E1D235C150}"/>
                </a:ext>
              </a:extLst>
            </p:cNvPr>
            <p:cNvCxnSpPr>
              <a:cxnSpLocks/>
            </p:cNvCxnSpPr>
            <p:nvPr/>
          </p:nvCxnSpPr>
          <p:spPr>
            <a:xfrm>
              <a:off x="1656676" y="2929740"/>
              <a:ext cx="87984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4" name="Group 220">
              <a:extLst>
                <a:ext uri="{FF2B5EF4-FFF2-40B4-BE49-F238E27FC236}">
                  <a16:creationId xmlns:a16="http://schemas.microsoft.com/office/drawing/2014/main" id="{636776F8-F403-984C-A667-BDF6E687C3F9}"/>
                </a:ext>
              </a:extLst>
            </p:cNvPr>
            <p:cNvGrpSpPr>
              <a:grpSpLocks/>
            </p:cNvGrpSpPr>
            <p:nvPr/>
          </p:nvGrpSpPr>
          <p:grpSpPr bwMode="auto">
            <a:xfrm>
              <a:off x="1854840" y="3932937"/>
              <a:ext cx="152400" cy="304800"/>
              <a:chOff x="3264" y="3072"/>
              <a:chExt cx="96" cy="192"/>
            </a:xfrm>
          </p:grpSpPr>
          <p:sp>
            <p:nvSpPr>
              <p:cNvPr id="95" name="Line 17">
                <a:extLst>
                  <a:ext uri="{FF2B5EF4-FFF2-40B4-BE49-F238E27FC236}">
                    <a16:creationId xmlns:a16="http://schemas.microsoft.com/office/drawing/2014/main" id="{EF58EA5E-8F47-6E45-B896-78006D7C56FC}"/>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 name="Freeform 18">
                <a:extLst>
                  <a:ext uri="{FF2B5EF4-FFF2-40B4-BE49-F238E27FC236}">
                    <a16:creationId xmlns:a16="http://schemas.microsoft.com/office/drawing/2014/main" id="{9252F564-7677-FA4B-9E8D-6B0962A46CCB}"/>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97" name="TextBox 96">
              <a:extLst>
                <a:ext uri="{FF2B5EF4-FFF2-40B4-BE49-F238E27FC236}">
                  <a16:creationId xmlns:a16="http://schemas.microsoft.com/office/drawing/2014/main" id="{56EDB773-4F9F-0644-B9F0-AC5D59DF6168}"/>
                </a:ext>
              </a:extLst>
            </p:cNvPr>
            <p:cNvSpPr txBox="1"/>
            <p:nvPr/>
          </p:nvSpPr>
          <p:spPr>
            <a:xfrm>
              <a:off x="1480178" y="3473628"/>
              <a:ext cx="400820" cy="338554"/>
            </a:xfrm>
            <a:prstGeom prst="rect">
              <a:avLst/>
            </a:prstGeom>
            <a:noFill/>
          </p:spPr>
          <p:txBody>
            <a:bodyPr wrap="square" rtlCol="0">
              <a:spAutoFit/>
            </a:bodyPr>
            <a:lstStyle/>
            <a:p>
              <a:r>
                <a:rPr lang="en-US" sz="1600" dirty="0"/>
                <a:t>R</a:t>
              </a:r>
              <a:r>
                <a:rPr lang="en-US" sz="1600" baseline="-25000" dirty="0"/>
                <a:t>1</a:t>
              </a:r>
            </a:p>
          </p:txBody>
        </p:sp>
      </p:grpSp>
      <p:grpSp>
        <p:nvGrpSpPr>
          <p:cNvPr id="232" name="Group 231">
            <a:extLst>
              <a:ext uri="{FF2B5EF4-FFF2-40B4-BE49-F238E27FC236}">
                <a16:creationId xmlns:a16="http://schemas.microsoft.com/office/drawing/2014/main" id="{B0A49E31-4C59-C44A-82DA-C9148D4CBE33}"/>
              </a:ext>
            </a:extLst>
          </p:cNvPr>
          <p:cNvGrpSpPr/>
          <p:nvPr/>
        </p:nvGrpSpPr>
        <p:grpSpPr>
          <a:xfrm>
            <a:off x="7002690" y="1586767"/>
            <a:ext cx="3713722" cy="4759676"/>
            <a:chOff x="8202972" y="1172222"/>
            <a:chExt cx="3713722" cy="4759676"/>
          </a:xfrm>
        </p:grpSpPr>
        <p:grpSp>
          <p:nvGrpSpPr>
            <p:cNvPr id="100" name="Group 39">
              <a:extLst>
                <a:ext uri="{FF2B5EF4-FFF2-40B4-BE49-F238E27FC236}">
                  <a16:creationId xmlns:a16="http://schemas.microsoft.com/office/drawing/2014/main" id="{A8D13AA3-0B77-624A-A224-2BB15AFC9BBF}"/>
                </a:ext>
              </a:extLst>
            </p:cNvPr>
            <p:cNvGrpSpPr>
              <a:grpSpLocks/>
            </p:cNvGrpSpPr>
            <p:nvPr/>
          </p:nvGrpSpPr>
          <p:grpSpPr bwMode="auto">
            <a:xfrm>
              <a:off x="8925294" y="1978916"/>
              <a:ext cx="1676400" cy="1371600"/>
              <a:chOff x="2496" y="1968"/>
              <a:chExt cx="1056" cy="864"/>
            </a:xfrm>
          </p:grpSpPr>
          <p:sp>
            <p:nvSpPr>
              <p:cNvPr id="195" name="Line 40">
                <a:extLst>
                  <a:ext uri="{FF2B5EF4-FFF2-40B4-BE49-F238E27FC236}">
                    <a16:creationId xmlns:a16="http://schemas.microsoft.com/office/drawing/2014/main" id="{7638AEAE-BFA7-594B-BF37-DA3388E98B8E}"/>
                  </a:ext>
                </a:extLst>
              </p:cNvPr>
              <p:cNvSpPr>
                <a:spLocks noChangeShapeType="1"/>
              </p:cNvSpPr>
              <p:nvPr/>
            </p:nvSpPr>
            <p:spPr bwMode="auto">
              <a:xfrm>
                <a:off x="2496" y="216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 name="Line 41">
                <a:extLst>
                  <a:ext uri="{FF2B5EF4-FFF2-40B4-BE49-F238E27FC236}">
                    <a16:creationId xmlns:a16="http://schemas.microsoft.com/office/drawing/2014/main" id="{7D84375F-9C81-CC48-9012-0D1AF55ADC85}"/>
                  </a:ext>
                </a:extLst>
              </p:cNvPr>
              <p:cNvSpPr>
                <a:spLocks noChangeShapeType="1"/>
              </p:cNvSpPr>
              <p:nvPr/>
            </p:nvSpPr>
            <p:spPr bwMode="auto">
              <a:xfrm>
                <a:off x="2496" y="264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7" name="Line 42">
                <a:extLst>
                  <a:ext uri="{FF2B5EF4-FFF2-40B4-BE49-F238E27FC236}">
                    <a16:creationId xmlns:a16="http://schemas.microsoft.com/office/drawing/2014/main" id="{B8CEFAD3-4A20-4E47-B6A9-B5B72CAAF0F2}"/>
                  </a:ext>
                </a:extLst>
              </p:cNvPr>
              <p:cNvSpPr>
                <a:spLocks noChangeShapeType="1"/>
              </p:cNvSpPr>
              <p:nvPr/>
            </p:nvSpPr>
            <p:spPr bwMode="auto">
              <a:xfrm>
                <a:off x="3360" y="240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8" name="Freeform 43">
                <a:extLst>
                  <a:ext uri="{FF2B5EF4-FFF2-40B4-BE49-F238E27FC236}">
                    <a16:creationId xmlns:a16="http://schemas.microsoft.com/office/drawing/2014/main" id="{197AB69D-68B7-5E4A-9E24-F4DB3BC6E494}"/>
                  </a:ext>
                </a:extLst>
              </p:cNvPr>
              <p:cNvSpPr>
                <a:spLocks/>
              </p:cNvSpPr>
              <p:nvPr/>
            </p:nvSpPr>
            <p:spPr bwMode="auto">
              <a:xfrm>
                <a:off x="2688" y="1968"/>
                <a:ext cx="672" cy="864"/>
              </a:xfrm>
              <a:custGeom>
                <a:avLst/>
                <a:gdLst>
                  <a:gd name="T0" fmla="*/ 6120 w 432"/>
                  <a:gd name="T1" fmla="*/ 779 h 768"/>
                  <a:gd name="T2" fmla="*/ 0 w 432"/>
                  <a:gd name="T3" fmla="*/ 1558 h 768"/>
                  <a:gd name="T4" fmla="*/ 0 w 432"/>
                  <a:gd name="T5" fmla="*/ 0 h 768"/>
                  <a:gd name="T6" fmla="*/ 6120 w 432"/>
                  <a:gd name="T7" fmla="*/ 779 h 768"/>
                  <a:gd name="T8" fmla="*/ 0 60000 65536"/>
                  <a:gd name="T9" fmla="*/ 0 60000 65536"/>
                  <a:gd name="T10" fmla="*/ 0 60000 65536"/>
                  <a:gd name="T11" fmla="*/ 0 60000 65536"/>
                  <a:gd name="T12" fmla="*/ 0 w 432"/>
                  <a:gd name="T13" fmla="*/ 0 h 768"/>
                  <a:gd name="T14" fmla="*/ 432 w 432"/>
                  <a:gd name="T15" fmla="*/ 768 h 768"/>
                </a:gdLst>
                <a:ahLst/>
                <a:cxnLst>
                  <a:cxn ang="T8">
                    <a:pos x="T0" y="T1"/>
                  </a:cxn>
                  <a:cxn ang="T9">
                    <a:pos x="T2" y="T3"/>
                  </a:cxn>
                  <a:cxn ang="T10">
                    <a:pos x="T4" y="T5"/>
                  </a:cxn>
                  <a:cxn ang="T11">
                    <a:pos x="T6" y="T7"/>
                  </a:cxn>
                </a:cxnLst>
                <a:rect l="T12" t="T13" r="T14" b="T15"/>
                <a:pathLst>
                  <a:path w="432" h="768">
                    <a:moveTo>
                      <a:pt x="432" y="384"/>
                    </a:moveTo>
                    <a:lnTo>
                      <a:pt x="0" y="768"/>
                    </a:lnTo>
                    <a:lnTo>
                      <a:pt x="0" y="0"/>
                    </a:lnTo>
                    <a:lnTo>
                      <a:pt x="432" y="38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grpSp>
        <p:sp>
          <p:nvSpPr>
            <p:cNvPr id="101" name="Freeform 12">
              <a:extLst>
                <a:ext uri="{FF2B5EF4-FFF2-40B4-BE49-F238E27FC236}">
                  <a16:creationId xmlns:a16="http://schemas.microsoft.com/office/drawing/2014/main" id="{AFB6E3F5-55DD-0E42-B9CB-B1785A6A50E0}"/>
                </a:ext>
              </a:extLst>
            </p:cNvPr>
            <p:cNvSpPr>
              <a:spLocks noChangeAspect="1"/>
            </p:cNvSpPr>
            <p:nvPr/>
          </p:nvSpPr>
          <p:spPr bwMode="auto">
            <a:xfrm>
              <a:off x="9586515" y="3624952"/>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TextBox 101">
              <a:extLst>
                <a:ext uri="{FF2B5EF4-FFF2-40B4-BE49-F238E27FC236}">
                  <a16:creationId xmlns:a16="http://schemas.microsoft.com/office/drawing/2014/main" id="{733535C0-6C7D-544F-92DA-23FFDB5C492B}"/>
                </a:ext>
              </a:extLst>
            </p:cNvPr>
            <p:cNvSpPr txBox="1"/>
            <p:nvPr/>
          </p:nvSpPr>
          <p:spPr>
            <a:xfrm flipH="1">
              <a:off x="9227341" y="2830285"/>
              <a:ext cx="439757" cy="369332"/>
            </a:xfrm>
            <a:prstGeom prst="rect">
              <a:avLst/>
            </a:prstGeom>
            <a:noFill/>
          </p:spPr>
          <p:txBody>
            <a:bodyPr wrap="square" rtlCol="0">
              <a:spAutoFit/>
            </a:bodyPr>
            <a:lstStyle/>
            <a:p>
              <a:r>
                <a:rPr lang="en-US" dirty="0"/>
                <a:t>+</a:t>
              </a:r>
            </a:p>
          </p:txBody>
        </p:sp>
        <p:sp>
          <p:nvSpPr>
            <p:cNvPr id="103" name="TextBox 102">
              <a:extLst>
                <a:ext uri="{FF2B5EF4-FFF2-40B4-BE49-F238E27FC236}">
                  <a16:creationId xmlns:a16="http://schemas.microsoft.com/office/drawing/2014/main" id="{650048CD-2A90-F944-8959-475A81DAF5C6}"/>
                </a:ext>
              </a:extLst>
            </p:cNvPr>
            <p:cNvSpPr txBox="1"/>
            <p:nvPr/>
          </p:nvSpPr>
          <p:spPr>
            <a:xfrm flipH="1">
              <a:off x="9269571" y="2090318"/>
              <a:ext cx="439757" cy="369332"/>
            </a:xfrm>
            <a:prstGeom prst="rect">
              <a:avLst/>
            </a:prstGeom>
            <a:noFill/>
          </p:spPr>
          <p:txBody>
            <a:bodyPr wrap="square" rtlCol="0">
              <a:spAutoFit/>
            </a:bodyPr>
            <a:lstStyle/>
            <a:p>
              <a:r>
                <a:rPr lang="en-US" dirty="0"/>
                <a:t>-</a:t>
              </a:r>
            </a:p>
          </p:txBody>
        </p:sp>
        <p:sp>
          <p:nvSpPr>
            <p:cNvPr id="105" name="TextBox 104">
              <a:extLst>
                <a:ext uri="{FF2B5EF4-FFF2-40B4-BE49-F238E27FC236}">
                  <a16:creationId xmlns:a16="http://schemas.microsoft.com/office/drawing/2014/main" id="{443DA053-CC1B-5245-8309-1CDB0F8FFFFB}"/>
                </a:ext>
              </a:extLst>
            </p:cNvPr>
            <p:cNvSpPr txBox="1"/>
            <p:nvPr/>
          </p:nvSpPr>
          <p:spPr>
            <a:xfrm>
              <a:off x="9077694" y="1172222"/>
              <a:ext cx="1642465" cy="338554"/>
            </a:xfrm>
            <a:prstGeom prst="rect">
              <a:avLst/>
            </a:prstGeom>
            <a:noFill/>
          </p:spPr>
          <p:txBody>
            <a:bodyPr wrap="square" rtlCol="0">
              <a:spAutoFit/>
            </a:bodyPr>
            <a:lstStyle/>
            <a:p>
              <a:r>
                <a:rPr lang="en-US" sz="1600" dirty="0"/>
                <a:t>B</a:t>
              </a:r>
              <a:r>
                <a:rPr lang="en-US" sz="1600" baseline="-25000" dirty="0"/>
                <a:t>2 </a:t>
              </a:r>
              <a:r>
                <a:rPr lang="en-US" sz="1600" dirty="0"/>
                <a:t>feedback</a:t>
              </a:r>
              <a:endParaRPr lang="en-US" baseline="-25000" dirty="0"/>
            </a:p>
          </p:txBody>
        </p:sp>
        <p:sp>
          <p:nvSpPr>
            <p:cNvPr id="111" name="TextBox 110">
              <a:extLst>
                <a:ext uri="{FF2B5EF4-FFF2-40B4-BE49-F238E27FC236}">
                  <a16:creationId xmlns:a16="http://schemas.microsoft.com/office/drawing/2014/main" id="{1A8AB0B5-D293-4C48-8206-072908C0F9D4}"/>
                </a:ext>
              </a:extLst>
            </p:cNvPr>
            <p:cNvSpPr txBox="1"/>
            <p:nvPr/>
          </p:nvSpPr>
          <p:spPr>
            <a:xfrm>
              <a:off x="9378405" y="2459650"/>
              <a:ext cx="427432" cy="369332"/>
            </a:xfrm>
            <a:prstGeom prst="rect">
              <a:avLst/>
            </a:prstGeom>
            <a:noFill/>
          </p:spPr>
          <p:txBody>
            <a:bodyPr wrap="square" rtlCol="0">
              <a:spAutoFit/>
            </a:bodyPr>
            <a:lstStyle/>
            <a:p>
              <a:r>
                <a:rPr lang="en-US" dirty="0"/>
                <a:t>A</a:t>
              </a:r>
            </a:p>
          </p:txBody>
        </p:sp>
        <p:sp>
          <p:nvSpPr>
            <p:cNvPr id="112" name="Freeform 12">
              <a:extLst>
                <a:ext uri="{FF2B5EF4-FFF2-40B4-BE49-F238E27FC236}">
                  <a16:creationId xmlns:a16="http://schemas.microsoft.com/office/drawing/2014/main" id="{00A5FF19-FDA9-974E-82A9-9DBBDA36DE25}"/>
                </a:ext>
              </a:extLst>
            </p:cNvPr>
            <p:cNvSpPr>
              <a:spLocks noChangeAspect="1"/>
            </p:cNvSpPr>
            <p:nvPr/>
          </p:nvSpPr>
          <p:spPr bwMode="auto">
            <a:xfrm>
              <a:off x="8483232" y="1688536"/>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116" name="Straight Connector 115">
              <a:extLst>
                <a:ext uri="{FF2B5EF4-FFF2-40B4-BE49-F238E27FC236}">
                  <a16:creationId xmlns:a16="http://schemas.microsoft.com/office/drawing/2014/main" id="{E62AA87C-5F42-8E49-812F-E2471A4E221D}"/>
                </a:ext>
              </a:extLst>
            </p:cNvPr>
            <p:cNvCxnSpPr>
              <a:cxnSpLocks/>
            </p:cNvCxnSpPr>
            <p:nvPr/>
          </p:nvCxnSpPr>
          <p:spPr>
            <a:xfrm>
              <a:off x="8934015" y="3031462"/>
              <a:ext cx="0" cy="594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E9CFE071-BDF9-664B-AC1E-7E8A2DE62C40}"/>
                </a:ext>
              </a:extLst>
            </p:cNvPr>
            <p:cNvCxnSpPr>
              <a:cxnSpLocks/>
            </p:cNvCxnSpPr>
            <p:nvPr/>
          </p:nvCxnSpPr>
          <p:spPr>
            <a:xfrm>
              <a:off x="8934015" y="3605923"/>
              <a:ext cx="8229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57FE8E83-B979-A742-9A72-3714D39DCB63}"/>
                </a:ext>
              </a:extLst>
            </p:cNvPr>
            <p:cNvCxnSpPr>
              <a:cxnSpLocks/>
            </p:cNvCxnSpPr>
            <p:nvPr/>
          </p:nvCxnSpPr>
          <p:spPr>
            <a:xfrm>
              <a:off x="11092796" y="2663020"/>
              <a:ext cx="0" cy="9692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9" name="Group 13">
              <a:extLst>
                <a:ext uri="{FF2B5EF4-FFF2-40B4-BE49-F238E27FC236}">
                  <a16:creationId xmlns:a16="http://schemas.microsoft.com/office/drawing/2014/main" id="{CDEC87C2-5450-CD4B-A5DD-716A1E0DADD9}"/>
                </a:ext>
              </a:extLst>
            </p:cNvPr>
            <p:cNvGrpSpPr>
              <a:grpSpLocks noChangeAspect="1"/>
            </p:cNvGrpSpPr>
            <p:nvPr/>
          </p:nvGrpSpPr>
          <p:grpSpPr bwMode="auto">
            <a:xfrm>
              <a:off x="9570568" y="3530055"/>
              <a:ext cx="182880" cy="182880"/>
              <a:chOff x="1344" y="2064"/>
              <a:chExt cx="192" cy="192"/>
            </a:xfrm>
          </p:grpSpPr>
          <p:sp>
            <p:nvSpPr>
              <p:cNvPr id="176" name="Oval 14">
                <a:extLst>
                  <a:ext uri="{FF2B5EF4-FFF2-40B4-BE49-F238E27FC236}">
                    <a16:creationId xmlns:a16="http://schemas.microsoft.com/office/drawing/2014/main" id="{DD67EAC0-D39C-9C40-99C7-1AC122ABEEEB}"/>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77" name="Rectangle 15">
                <a:extLst>
                  <a:ext uri="{FF2B5EF4-FFF2-40B4-BE49-F238E27FC236}">
                    <a16:creationId xmlns:a16="http://schemas.microsoft.com/office/drawing/2014/main" id="{07477E34-9EF0-264B-AAB1-04C1B3A8DA26}"/>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24" name="Group 220">
              <a:extLst>
                <a:ext uri="{FF2B5EF4-FFF2-40B4-BE49-F238E27FC236}">
                  <a16:creationId xmlns:a16="http://schemas.microsoft.com/office/drawing/2014/main" id="{2386C8C9-2D4D-6541-AE76-85FDF576C713}"/>
                </a:ext>
              </a:extLst>
            </p:cNvPr>
            <p:cNvGrpSpPr>
              <a:grpSpLocks/>
            </p:cNvGrpSpPr>
            <p:nvPr/>
          </p:nvGrpSpPr>
          <p:grpSpPr bwMode="auto">
            <a:xfrm>
              <a:off x="9581046" y="4316818"/>
              <a:ext cx="152400" cy="304800"/>
              <a:chOff x="3264" y="3072"/>
              <a:chExt cx="96" cy="192"/>
            </a:xfrm>
          </p:grpSpPr>
          <p:sp>
            <p:nvSpPr>
              <p:cNvPr id="166" name="Line 17">
                <a:extLst>
                  <a:ext uri="{FF2B5EF4-FFF2-40B4-BE49-F238E27FC236}">
                    <a16:creationId xmlns:a16="http://schemas.microsoft.com/office/drawing/2014/main" id="{4E2605A7-17B2-334E-8587-12E3418F66DA}"/>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7" name="Freeform 18">
                <a:extLst>
                  <a:ext uri="{FF2B5EF4-FFF2-40B4-BE49-F238E27FC236}">
                    <a16:creationId xmlns:a16="http://schemas.microsoft.com/office/drawing/2014/main" id="{1074417A-2669-DD4E-B96D-0D8CD387F264}"/>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27" name="Group 210">
              <a:extLst>
                <a:ext uri="{FF2B5EF4-FFF2-40B4-BE49-F238E27FC236}">
                  <a16:creationId xmlns:a16="http://schemas.microsoft.com/office/drawing/2014/main" id="{32E717E4-A6C9-9745-8BEF-0BAAEC0435F3}"/>
                </a:ext>
              </a:extLst>
            </p:cNvPr>
            <p:cNvGrpSpPr>
              <a:grpSpLocks/>
            </p:cNvGrpSpPr>
            <p:nvPr/>
          </p:nvGrpSpPr>
          <p:grpSpPr bwMode="auto">
            <a:xfrm rot="5400000">
              <a:off x="10559396" y="3232296"/>
              <a:ext cx="304800" cy="762000"/>
              <a:chOff x="3216" y="1728"/>
              <a:chExt cx="192" cy="480"/>
            </a:xfrm>
          </p:grpSpPr>
          <p:sp>
            <p:nvSpPr>
              <p:cNvPr id="160" name="Line 8">
                <a:extLst>
                  <a:ext uri="{FF2B5EF4-FFF2-40B4-BE49-F238E27FC236}">
                    <a16:creationId xmlns:a16="http://schemas.microsoft.com/office/drawing/2014/main" id="{C60DCE57-2AE1-D24A-82F4-B954D4D2B4C3}"/>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1" name="Line 9">
                <a:extLst>
                  <a:ext uri="{FF2B5EF4-FFF2-40B4-BE49-F238E27FC236}">
                    <a16:creationId xmlns:a16="http://schemas.microsoft.com/office/drawing/2014/main" id="{4B07E53B-0682-D94F-8BFB-C6690A308535}"/>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2" name="Line 10">
                <a:extLst>
                  <a:ext uri="{FF2B5EF4-FFF2-40B4-BE49-F238E27FC236}">
                    <a16:creationId xmlns:a16="http://schemas.microsoft.com/office/drawing/2014/main" id="{1691D767-0B6B-F146-BEA0-DC43F2165633}"/>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 name="Line 11">
                <a:extLst>
                  <a:ext uri="{FF2B5EF4-FFF2-40B4-BE49-F238E27FC236}">
                    <a16:creationId xmlns:a16="http://schemas.microsoft.com/office/drawing/2014/main" id="{5B8F794D-BC50-254D-BA93-F468E8F16625}"/>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9" name="Freeform 12">
              <a:extLst>
                <a:ext uri="{FF2B5EF4-FFF2-40B4-BE49-F238E27FC236}">
                  <a16:creationId xmlns:a16="http://schemas.microsoft.com/office/drawing/2014/main" id="{ED34A97B-57FA-FB4F-B873-DD0CD3D07CCB}"/>
                </a:ext>
              </a:extLst>
            </p:cNvPr>
            <p:cNvSpPr>
              <a:spLocks noChangeAspect="1"/>
            </p:cNvSpPr>
            <p:nvPr/>
          </p:nvSpPr>
          <p:spPr bwMode="auto">
            <a:xfrm rot="5400000">
              <a:off x="10651270" y="1314343"/>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30" name="Group 13">
              <a:extLst>
                <a:ext uri="{FF2B5EF4-FFF2-40B4-BE49-F238E27FC236}">
                  <a16:creationId xmlns:a16="http://schemas.microsoft.com/office/drawing/2014/main" id="{2999B92B-4648-0240-8491-AA4817FF7A30}"/>
                </a:ext>
              </a:extLst>
            </p:cNvPr>
            <p:cNvGrpSpPr>
              <a:grpSpLocks noChangeAspect="1"/>
            </p:cNvGrpSpPr>
            <p:nvPr/>
          </p:nvGrpSpPr>
          <p:grpSpPr bwMode="auto">
            <a:xfrm>
              <a:off x="11420456" y="2566818"/>
              <a:ext cx="182880" cy="182880"/>
              <a:chOff x="1344" y="2064"/>
              <a:chExt cx="192" cy="192"/>
            </a:xfrm>
          </p:grpSpPr>
          <p:sp>
            <p:nvSpPr>
              <p:cNvPr id="158" name="Oval 14">
                <a:extLst>
                  <a:ext uri="{FF2B5EF4-FFF2-40B4-BE49-F238E27FC236}">
                    <a16:creationId xmlns:a16="http://schemas.microsoft.com/office/drawing/2014/main" id="{D179760F-CE63-A64D-832A-17617D3E3211}"/>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59" name="Rectangle 15">
                <a:extLst>
                  <a:ext uri="{FF2B5EF4-FFF2-40B4-BE49-F238E27FC236}">
                    <a16:creationId xmlns:a16="http://schemas.microsoft.com/office/drawing/2014/main" id="{B0099EC7-B3E3-F947-BDA8-75ED742B2084}"/>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99" name="Group 220">
              <a:extLst>
                <a:ext uri="{FF2B5EF4-FFF2-40B4-BE49-F238E27FC236}">
                  <a16:creationId xmlns:a16="http://schemas.microsoft.com/office/drawing/2014/main" id="{6317F5BA-EA6A-C243-B925-6550A8387B50}"/>
                </a:ext>
              </a:extLst>
            </p:cNvPr>
            <p:cNvGrpSpPr>
              <a:grpSpLocks/>
            </p:cNvGrpSpPr>
            <p:nvPr/>
          </p:nvGrpSpPr>
          <p:grpSpPr bwMode="auto">
            <a:xfrm>
              <a:off x="8479750" y="2402428"/>
              <a:ext cx="152400" cy="304800"/>
              <a:chOff x="3264" y="3072"/>
              <a:chExt cx="96" cy="192"/>
            </a:xfrm>
          </p:grpSpPr>
          <p:sp>
            <p:nvSpPr>
              <p:cNvPr id="200" name="Line 17">
                <a:extLst>
                  <a:ext uri="{FF2B5EF4-FFF2-40B4-BE49-F238E27FC236}">
                    <a16:creationId xmlns:a16="http://schemas.microsoft.com/office/drawing/2014/main" id="{E414DFDB-0F8A-894B-9EF3-1933DE35807A}"/>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1" name="Freeform 18">
                <a:extLst>
                  <a:ext uri="{FF2B5EF4-FFF2-40B4-BE49-F238E27FC236}">
                    <a16:creationId xmlns:a16="http://schemas.microsoft.com/office/drawing/2014/main" id="{7569E140-274F-C848-B2A8-7B67D832B586}"/>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02" name="Group 210">
              <a:extLst>
                <a:ext uri="{FF2B5EF4-FFF2-40B4-BE49-F238E27FC236}">
                  <a16:creationId xmlns:a16="http://schemas.microsoft.com/office/drawing/2014/main" id="{F549094A-C7E9-484F-8191-31531D678BD3}"/>
                </a:ext>
              </a:extLst>
            </p:cNvPr>
            <p:cNvGrpSpPr>
              <a:grpSpLocks/>
            </p:cNvGrpSpPr>
            <p:nvPr/>
          </p:nvGrpSpPr>
          <p:grpSpPr bwMode="auto">
            <a:xfrm>
              <a:off x="9142419" y="3600770"/>
              <a:ext cx="304800" cy="762000"/>
              <a:chOff x="3216" y="1728"/>
              <a:chExt cx="192" cy="480"/>
            </a:xfrm>
          </p:grpSpPr>
          <p:sp>
            <p:nvSpPr>
              <p:cNvPr id="203" name="Line 8">
                <a:extLst>
                  <a:ext uri="{FF2B5EF4-FFF2-40B4-BE49-F238E27FC236}">
                    <a16:creationId xmlns:a16="http://schemas.microsoft.com/office/drawing/2014/main" id="{281CF0FA-90F4-6743-BEF5-029D6D75399F}"/>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 name="Line 9">
                <a:extLst>
                  <a:ext uri="{FF2B5EF4-FFF2-40B4-BE49-F238E27FC236}">
                    <a16:creationId xmlns:a16="http://schemas.microsoft.com/office/drawing/2014/main" id="{749A3DDE-C67F-264C-82E3-63AF3BBFD0FD}"/>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 name="Line 10">
                <a:extLst>
                  <a:ext uri="{FF2B5EF4-FFF2-40B4-BE49-F238E27FC236}">
                    <a16:creationId xmlns:a16="http://schemas.microsoft.com/office/drawing/2014/main" id="{C7DFC6C5-6012-A142-95AD-4BAA74CACF03}"/>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6" name="Line 11">
                <a:extLst>
                  <a:ext uri="{FF2B5EF4-FFF2-40B4-BE49-F238E27FC236}">
                    <a16:creationId xmlns:a16="http://schemas.microsoft.com/office/drawing/2014/main" id="{4E38127A-CC99-F249-B5F0-35982C88C48B}"/>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07" name="Group 220">
              <a:extLst>
                <a:ext uri="{FF2B5EF4-FFF2-40B4-BE49-F238E27FC236}">
                  <a16:creationId xmlns:a16="http://schemas.microsoft.com/office/drawing/2014/main" id="{C1248E84-C614-E742-8580-B4E5E4C74233}"/>
                </a:ext>
              </a:extLst>
            </p:cNvPr>
            <p:cNvGrpSpPr>
              <a:grpSpLocks/>
            </p:cNvGrpSpPr>
            <p:nvPr/>
          </p:nvGrpSpPr>
          <p:grpSpPr bwMode="auto">
            <a:xfrm>
              <a:off x="9218784" y="4318906"/>
              <a:ext cx="152400" cy="304800"/>
              <a:chOff x="3264" y="3072"/>
              <a:chExt cx="96" cy="192"/>
            </a:xfrm>
          </p:grpSpPr>
          <p:sp>
            <p:nvSpPr>
              <p:cNvPr id="208" name="Line 17">
                <a:extLst>
                  <a:ext uri="{FF2B5EF4-FFF2-40B4-BE49-F238E27FC236}">
                    <a16:creationId xmlns:a16="http://schemas.microsoft.com/office/drawing/2014/main" id="{9ACED345-8C39-D949-852C-F8CD2BC06E60}"/>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9" name="Freeform 18">
                <a:extLst>
                  <a:ext uri="{FF2B5EF4-FFF2-40B4-BE49-F238E27FC236}">
                    <a16:creationId xmlns:a16="http://schemas.microsoft.com/office/drawing/2014/main" id="{731987E6-0463-5F4A-B305-ABEBE827A762}"/>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10" name="Freeform 12">
              <a:extLst>
                <a:ext uri="{FF2B5EF4-FFF2-40B4-BE49-F238E27FC236}">
                  <a16:creationId xmlns:a16="http://schemas.microsoft.com/office/drawing/2014/main" id="{CD436057-69D6-C547-B938-FC20BCA85B53}"/>
                </a:ext>
              </a:extLst>
            </p:cNvPr>
            <p:cNvSpPr>
              <a:spLocks noChangeAspect="1"/>
            </p:cNvSpPr>
            <p:nvPr/>
          </p:nvSpPr>
          <p:spPr bwMode="auto">
            <a:xfrm rot="5400000">
              <a:off x="9994549" y="3233923"/>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211" name="Straight Connector 210">
              <a:extLst>
                <a:ext uri="{FF2B5EF4-FFF2-40B4-BE49-F238E27FC236}">
                  <a16:creationId xmlns:a16="http://schemas.microsoft.com/office/drawing/2014/main" id="{21E11B09-FF44-6C46-B7B1-28B168A5E112}"/>
                </a:ext>
              </a:extLst>
            </p:cNvPr>
            <p:cNvCxnSpPr>
              <a:cxnSpLocks/>
            </p:cNvCxnSpPr>
            <p:nvPr/>
          </p:nvCxnSpPr>
          <p:spPr>
            <a:xfrm>
              <a:off x="10411544" y="2664716"/>
              <a:ext cx="111270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13" name="TextBox 212">
              <a:extLst>
                <a:ext uri="{FF2B5EF4-FFF2-40B4-BE49-F238E27FC236}">
                  <a16:creationId xmlns:a16="http://schemas.microsoft.com/office/drawing/2014/main" id="{A06F15B0-399D-6949-A5B1-09636CF111AC}"/>
                </a:ext>
              </a:extLst>
            </p:cNvPr>
            <p:cNvSpPr txBox="1"/>
            <p:nvPr/>
          </p:nvSpPr>
          <p:spPr>
            <a:xfrm>
              <a:off x="11377062" y="2273302"/>
              <a:ext cx="396988" cy="338554"/>
            </a:xfrm>
            <a:prstGeom prst="rect">
              <a:avLst/>
            </a:prstGeom>
            <a:noFill/>
          </p:spPr>
          <p:txBody>
            <a:bodyPr wrap="square" rtlCol="0">
              <a:spAutoFit/>
            </a:bodyPr>
            <a:lstStyle/>
            <a:p>
              <a:r>
                <a:rPr lang="en-US" sz="1600" dirty="0"/>
                <a:t>v</a:t>
              </a:r>
              <a:r>
                <a:rPr lang="en-US" sz="1600" baseline="-25000" dirty="0"/>
                <a:t>3</a:t>
              </a:r>
              <a:endParaRPr lang="en-US" baseline="-25000" dirty="0"/>
            </a:p>
          </p:txBody>
        </p:sp>
        <p:cxnSp>
          <p:nvCxnSpPr>
            <p:cNvPr id="214" name="Straight Connector 213">
              <a:extLst>
                <a:ext uri="{FF2B5EF4-FFF2-40B4-BE49-F238E27FC236}">
                  <a16:creationId xmlns:a16="http://schemas.microsoft.com/office/drawing/2014/main" id="{F754A8D3-C179-8B46-B46A-A16EF465EEBD}"/>
                </a:ext>
              </a:extLst>
            </p:cNvPr>
            <p:cNvCxnSpPr>
              <a:cxnSpLocks/>
            </p:cNvCxnSpPr>
            <p:nvPr/>
          </p:nvCxnSpPr>
          <p:spPr>
            <a:xfrm>
              <a:off x="11092796" y="1705278"/>
              <a:ext cx="0" cy="9692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EE889E65-56DE-A54A-B0FE-618FE6367F4F}"/>
                </a:ext>
              </a:extLst>
            </p:cNvPr>
            <p:cNvCxnSpPr>
              <a:cxnSpLocks/>
            </p:cNvCxnSpPr>
            <p:nvPr/>
          </p:nvCxnSpPr>
          <p:spPr>
            <a:xfrm flipV="1">
              <a:off x="8550613" y="1693216"/>
              <a:ext cx="1828800" cy="98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694347A4-5AFA-9944-A702-763BA6888CC2}"/>
                </a:ext>
              </a:extLst>
            </p:cNvPr>
            <p:cNvCxnSpPr>
              <a:cxnSpLocks/>
            </p:cNvCxnSpPr>
            <p:nvPr/>
          </p:nvCxnSpPr>
          <p:spPr>
            <a:xfrm>
              <a:off x="8934015" y="1695343"/>
              <a:ext cx="0" cy="594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9" name="Group 13">
              <a:extLst>
                <a:ext uri="{FF2B5EF4-FFF2-40B4-BE49-F238E27FC236}">
                  <a16:creationId xmlns:a16="http://schemas.microsoft.com/office/drawing/2014/main" id="{80654D42-AE77-4A41-A9B2-9544F5C3C879}"/>
                </a:ext>
              </a:extLst>
            </p:cNvPr>
            <p:cNvGrpSpPr>
              <a:grpSpLocks noChangeAspect="1"/>
            </p:cNvGrpSpPr>
            <p:nvPr/>
          </p:nvGrpSpPr>
          <p:grpSpPr bwMode="auto">
            <a:xfrm>
              <a:off x="10999977" y="2575997"/>
              <a:ext cx="182880" cy="182880"/>
              <a:chOff x="1344" y="2064"/>
              <a:chExt cx="192" cy="192"/>
            </a:xfrm>
          </p:grpSpPr>
          <p:sp>
            <p:nvSpPr>
              <p:cNvPr id="220" name="Oval 14">
                <a:extLst>
                  <a:ext uri="{FF2B5EF4-FFF2-40B4-BE49-F238E27FC236}">
                    <a16:creationId xmlns:a16="http://schemas.microsoft.com/office/drawing/2014/main" id="{F70A59C6-10B5-CD40-901F-AF4B1CE5B832}"/>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21" name="Rectangle 15">
                <a:extLst>
                  <a:ext uri="{FF2B5EF4-FFF2-40B4-BE49-F238E27FC236}">
                    <a16:creationId xmlns:a16="http://schemas.microsoft.com/office/drawing/2014/main" id="{4EF14932-3075-DE45-AAE2-B6876D0A6A5F}"/>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222" name="TextBox 221">
              <a:extLst>
                <a:ext uri="{FF2B5EF4-FFF2-40B4-BE49-F238E27FC236}">
                  <a16:creationId xmlns:a16="http://schemas.microsoft.com/office/drawing/2014/main" id="{1F5F422B-CFF0-F74C-8F04-C7F75DC4C9C2}"/>
                </a:ext>
              </a:extLst>
            </p:cNvPr>
            <p:cNvSpPr txBox="1"/>
            <p:nvPr/>
          </p:nvSpPr>
          <p:spPr>
            <a:xfrm>
              <a:off x="10551402" y="1224978"/>
              <a:ext cx="396988" cy="338554"/>
            </a:xfrm>
            <a:prstGeom prst="rect">
              <a:avLst/>
            </a:prstGeom>
            <a:noFill/>
          </p:spPr>
          <p:txBody>
            <a:bodyPr wrap="square" rtlCol="0">
              <a:spAutoFit/>
            </a:bodyPr>
            <a:lstStyle/>
            <a:p>
              <a:r>
                <a:rPr lang="en-US" sz="1600" dirty="0"/>
                <a:t>Z</a:t>
              </a:r>
              <a:r>
                <a:rPr lang="en-US" sz="1600" baseline="-25000" dirty="0"/>
                <a:t>2</a:t>
              </a:r>
              <a:endParaRPr lang="en-US" baseline="-25000" dirty="0"/>
            </a:p>
          </p:txBody>
        </p:sp>
        <p:sp>
          <p:nvSpPr>
            <p:cNvPr id="223" name="TextBox 222">
              <a:extLst>
                <a:ext uri="{FF2B5EF4-FFF2-40B4-BE49-F238E27FC236}">
                  <a16:creationId xmlns:a16="http://schemas.microsoft.com/office/drawing/2014/main" id="{6948FBFA-D70E-4341-BB4D-1386B0BBBABA}"/>
                </a:ext>
              </a:extLst>
            </p:cNvPr>
            <p:cNvSpPr txBox="1"/>
            <p:nvPr/>
          </p:nvSpPr>
          <p:spPr>
            <a:xfrm>
              <a:off x="8202972" y="1928221"/>
              <a:ext cx="396988" cy="338554"/>
            </a:xfrm>
            <a:prstGeom prst="rect">
              <a:avLst/>
            </a:prstGeom>
            <a:noFill/>
          </p:spPr>
          <p:txBody>
            <a:bodyPr wrap="square" rtlCol="0">
              <a:spAutoFit/>
            </a:bodyPr>
            <a:lstStyle/>
            <a:p>
              <a:r>
                <a:rPr lang="en-US" sz="1600" dirty="0"/>
                <a:t>Z</a:t>
              </a:r>
              <a:r>
                <a:rPr lang="en-US" sz="1600" baseline="-25000" dirty="0"/>
                <a:t>1</a:t>
              </a:r>
              <a:endParaRPr lang="en-US" baseline="-25000" dirty="0"/>
            </a:p>
          </p:txBody>
        </p:sp>
        <p:sp>
          <p:nvSpPr>
            <p:cNvPr id="224" name="TextBox 223">
              <a:extLst>
                <a:ext uri="{FF2B5EF4-FFF2-40B4-BE49-F238E27FC236}">
                  <a16:creationId xmlns:a16="http://schemas.microsoft.com/office/drawing/2014/main" id="{B3501090-F34F-2145-8BDC-03D4E0CE35A9}"/>
                </a:ext>
              </a:extLst>
            </p:cNvPr>
            <p:cNvSpPr txBox="1"/>
            <p:nvPr/>
          </p:nvSpPr>
          <p:spPr>
            <a:xfrm>
              <a:off x="9944253" y="3214426"/>
              <a:ext cx="396988" cy="338554"/>
            </a:xfrm>
            <a:prstGeom prst="rect">
              <a:avLst/>
            </a:prstGeom>
            <a:noFill/>
          </p:spPr>
          <p:txBody>
            <a:bodyPr wrap="square" rtlCol="0">
              <a:spAutoFit/>
            </a:bodyPr>
            <a:lstStyle/>
            <a:p>
              <a:r>
                <a:rPr lang="en-US" sz="1600" dirty="0"/>
                <a:t>R</a:t>
              </a:r>
              <a:endParaRPr lang="en-US" baseline="-25000" dirty="0"/>
            </a:p>
          </p:txBody>
        </p:sp>
        <p:sp>
          <p:nvSpPr>
            <p:cNvPr id="225" name="TextBox 224">
              <a:extLst>
                <a:ext uri="{FF2B5EF4-FFF2-40B4-BE49-F238E27FC236}">
                  <a16:creationId xmlns:a16="http://schemas.microsoft.com/office/drawing/2014/main" id="{223816CD-3D37-A84C-B694-43BF329B3588}"/>
                </a:ext>
              </a:extLst>
            </p:cNvPr>
            <p:cNvSpPr txBox="1"/>
            <p:nvPr/>
          </p:nvSpPr>
          <p:spPr>
            <a:xfrm>
              <a:off x="9799196" y="3972755"/>
              <a:ext cx="396988" cy="338554"/>
            </a:xfrm>
            <a:prstGeom prst="rect">
              <a:avLst/>
            </a:prstGeom>
            <a:noFill/>
          </p:spPr>
          <p:txBody>
            <a:bodyPr wrap="square" rtlCol="0">
              <a:spAutoFit/>
            </a:bodyPr>
            <a:lstStyle/>
            <a:p>
              <a:r>
                <a:rPr lang="en-US" sz="1600" dirty="0"/>
                <a:t>R</a:t>
              </a:r>
              <a:endParaRPr lang="en-US" baseline="-25000" dirty="0"/>
            </a:p>
          </p:txBody>
        </p:sp>
        <p:sp>
          <p:nvSpPr>
            <p:cNvPr id="226" name="TextBox 225">
              <a:extLst>
                <a:ext uri="{FF2B5EF4-FFF2-40B4-BE49-F238E27FC236}">
                  <a16:creationId xmlns:a16="http://schemas.microsoft.com/office/drawing/2014/main" id="{48FD85A6-BA70-D64E-BA46-80F4CC096209}"/>
                </a:ext>
              </a:extLst>
            </p:cNvPr>
            <p:cNvSpPr txBox="1"/>
            <p:nvPr/>
          </p:nvSpPr>
          <p:spPr>
            <a:xfrm>
              <a:off x="10574677" y="3850593"/>
              <a:ext cx="396988" cy="338554"/>
            </a:xfrm>
            <a:prstGeom prst="rect">
              <a:avLst/>
            </a:prstGeom>
            <a:noFill/>
          </p:spPr>
          <p:txBody>
            <a:bodyPr wrap="square" rtlCol="0">
              <a:spAutoFit/>
            </a:bodyPr>
            <a:lstStyle/>
            <a:p>
              <a:r>
                <a:rPr lang="en-US" sz="1600" dirty="0"/>
                <a:t>C</a:t>
              </a:r>
              <a:endParaRPr lang="en-US" baseline="-25000" dirty="0"/>
            </a:p>
          </p:txBody>
        </p:sp>
        <p:sp>
          <p:nvSpPr>
            <p:cNvPr id="227" name="TextBox 226">
              <a:extLst>
                <a:ext uri="{FF2B5EF4-FFF2-40B4-BE49-F238E27FC236}">
                  <a16:creationId xmlns:a16="http://schemas.microsoft.com/office/drawing/2014/main" id="{0B2FD3A1-778B-E84E-81ED-AE1CB396EAD4}"/>
                </a:ext>
              </a:extLst>
            </p:cNvPr>
            <p:cNvSpPr txBox="1"/>
            <p:nvPr/>
          </p:nvSpPr>
          <p:spPr>
            <a:xfrm>
              <a:off x="8765198" y="3822287"/>
              <a:ext cx="396988" cy="338554"/>
            </a:xfrm>
            <a:prstGeom prst="rect">
              <a:avLst/>
            </a:prstGeom>
            <a:noFill/>
          </p:spPr>
          <p:txBody>
            <a:bodyPr wrap="square" rtlCol="0">
              <a:spAutoFit/>
            </a:bodyPr>
            <a:lstStyle/>
            <a:p>
              <a:r>
                <a:rPr lang="en-US" sz="1600" dirty="0"/>
                <a:t>C</a:t>
              </a:r>
              <a:endParaRPr lang="en-US" baseline="-25000" dirty="0"/>
            </a:p>
          </p:txBody>
        </p:sp>
        <p:sp>
          <p:nvSpPr>
            <p:cNvPr id="228" name="TextBox 227">
              <a:extLst>
                <a:ext uri="{FF2B5EF4-FFF2-40B4-BE49-F238E27FC236}">
                  <a16:creationId xmlns:a16="http://schemas.microsoft.com/office/drawing/2014/main" id="{5966DBCD-3AA6-4C4C-8639-98D49C6740E7}"/>
                </a:ext>
              </a:extLst>
            </p:cNvPr>
            <p:cNvSpPr txBox="1"/>
            <p:nvPr/>
          </p:nvSpPr>
          <p:spPr>
            <a:xfrm>
              <a:off x="8721136" y="1346179"/>
              <a:ext cx="396988" cy="338554"/>
            </a:xfrm>
            <a:prstGeom prst="rect">
              <a:avLst/>
            </a:prstGeom>
            <a:noFill/>
          </p:spPr>
          <p:txBody>
            <a:bodyPr wrap="square" rtlCol="0">
              <a:spAutoFit/>
            </a:bodyPr>
            <a:lstStyle/>
            <a:p>
              <a:r>
                <a:rPr lang="en-US" sz="1600" dirty="0"/>
                <a:t>v</a:t>
              </a:r>
              <a:r>
                <a:rPr lang="en-US" sz="1600" baseline="-25000" dirty="0"/>
                <a:t>2</a:t>
              </a:r>
              <a:endParaRPr lang="en-US" baseline="-25000" dirty="0"/>
            </a:p>
          </p:txBody>
        </p:sp>
        <p:sp>
          <p:nvSpPr>
            <p:cNvPr id="229" name="TextBox 228">
              <a:extLst>
                <a:ext uri="{FF2B5EF4-FFF2-40B4-BE49-F238E27FC236}">
                  <a16:creationId xmlns:a16="http://schemas.microsoft.com/office/drawing/2014/main" id="{2472BEE6-4D04-5141-B135-9CE493967DE9}"/>
                </a:ext>
              </a:extLst>
            </p:cNvPr>
            <p:cNvSpPr txBox="1"/>
            <p:nvPr/>
          </p:nvSpPr>
          <p:spPr>
            <a:xfrm>
              <a:off x="8596467" y="2864104"/>
              <a:ext cx="396988" cy="338554"/>
            </a:xfrm>
            <a:prstGeom prst="rect">
              <a:avLst/>
            </a:prstGeom>
            <a:noFill/>
          </p:spPr>
          <p:txBody>
            <a:bodyPr wrap="square" rtlCol="0">
              <a:spAutoFit/>
            </a:bodyPr>
            <a:lstStyle/>
            <a:p>
              <a:r>
                <a:rPr lang="en-US" sz="1600" dirty="0"/>
                <a:t>v</a:t>
              </a:r>
              <a:r>
                <a:rPr lang="en-US" sz="1600" baseline="-25000" dirty="0"/>
                <a:t>1</a:t>
              </a:r>
              <a:endParaRPr lang="en-US" baseline="-25000" dirty="0"/>
            </a:p>
          </p:txBody>
        </p:sp>
        <p:sp>
          <p:nvSpPr>
            <p:cNvPr id="230" name="TextBox 229">
              <a:extLst>
                <a:ext uri="{FF2B5EF4-FFF2-40B4-BE49-F238E27FC236}">
                  <a16:creationId xmlns:a16="http://schemas.microsoft.com/office/drawing/2014/main" id="{4D02494C-8797-6746-839F-59A47E5A2F4F}"/>
                </a:ext>
              </a:extLst>
            </p:cNvPr>
            <p:cNvSpPr txBox="1"/>
            <p:nvPr/>
          </p:nvSpPr>
          <p:spPr>
            <a:xfrm>
              <a:off x="9997690" y="4170852"/>
              <a:ext cx="1642465" cy="338554"/>
            </a:xfrm>
            <a:prstGeom prst="rect">
              <a:avLst/>
            </a:prstGeom>
            <a:noFill/>
          </p:spPr>
          <p:txBody>
            <a:bodyPr wrap="square" rtlCol="0">
              <a:spAutoFit/>
            </a:bodyPr>
            <a:lstStyle/>
            <a:p>
              <a:r>
                <a:rPr lang="en-US" sz="1600" dirty="0"/>
                <a:t>B</a:t>
              </a:r>
              <a:r>
                <a:rPr lang="en-US" sz="1600" baseline="-25000" dirty="0"/>
                <a:t>1 </a:t>
              </a:r>
              <a:r>
                <a:rPr lang="en-US" sz="1600" dirty="0"/>
                <a:t>feedback</a:t>
              </a:r>
              <a:endParaRPr lang="en-US" baseline="-25000" dirty="0"/>
            </a:p>
          </p:txBody>
        </p:sp>
        <mc:AlternateContent xmlns:mc="http://schemas.openxmlformats.org/markup-compatibility/2006" xmlns:a14="http://schemas.microsoft.com/office/drawing/2010/main">
          <mc:Choice Requires="a14">
            <p:sp>
              <p:nvSpPr>
                <p:cNvPr id="231" name="TextBox 230">
                  <a:extLst>
                    <a:ext uri="{FF2B5EF4-FFF2-40B4-BE49-F238E27FC236}">
                      <a16:creationId xmlns:a16="http://schemas.microsoft.com/office/drawing/2014/main" id="{822D381A-D742-AB4D-85B3-6259474A4FC9}"/>
                    </a:ext>
                  </a:extLst>
                </p:cNvPr>
                <p:cNvSpPr txBox="1"/>
                <p:nvPr/>
              </p:nvSpPr>
              <p:spPr>
                <a:xfrm>
                  <a:off x="8224804" y="4811758"/>
                  <a:ext cx="3691890" cy="1120140"/>
                </a:xfrm>
                <a:prstGeom prst="rect">
                  <a:avLst/>
                </a:prstGeom>
                <a:noFill/>
              </p:spPr>
              <p:txBody>
                <a:bodyPr wrap="square" rtlCol="0">
                  <a:noAutofit/>
                </a:bodyPr>
                <a:lstStyle/>
                <a:p>
                  <a:pPr marL="285750" indent="-28575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3</m:t>
                          </m:r>
                        </m:sub>
                      </m:sSub>
                      <m:r>
                        <a:rPr lang="en-US" sz="2000" b="0" i="1" smtClean="0">
                          <a:latin typeface="Cambria Math" panose="02040503050406030204" pitchFamily="18" charset="0"/>
                        </a:rPr>
                        <m:t>=</m:t>
                      </m:r>
                      <m:r>
                        <a:rPr lang="en-US" sz="2000" b="0" i="1" smtClean="0">
                          <a:latin typeface="Cambria Math" panose="02040503050406030204" pitchFamily="18" charset="0"/>
                        </a:rPr>
                        <m:t>𝐴</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oMath>
                  </a14:m>
                  <a:endParaRPr lang="en-US" sz="2000" dirty="0"/>
                </a:p>
                <a:p>
                  <a:pPr marL="285750" indent="-285750">
                    <a:buFont typeface="Arial" panose="020B0604020202020204" pitchFamily="34" charset="0"/>
                    <a:buChar char="•"/>
                  </a:pPr>
                  <a14:m>
                    <m:oMath xmlns:m="http://schemas.openxmlformats.org/officeDocument/2006/math">
                      <m:r>
                        <a:rPr lang="en-US" sz="2000" b="0" i="1" smtClean="0">
                          <a:latin typeface="Cambria Math" panose="02040503050406030204" pitchFamily="18" charset="0"/>
                        </a:rPr>
                        <m:t>𝐾</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𝐵</m:t>
                              </m:r>
                            </m:e>
                            <m:sub>
                              <m:r>
                                <a:rPr lang="en-US" sz="2000" b="0" i="1" smtClean="0">
                                  <a:latin typeface="Cambria Math" panose="02040503050406030204" pitchFamily="18" charset="0"/>
                                </a:rPr>
                                <m:t>1</m:t>
                              </m:r>
                            </m:sub>
                          </m:sSub>
                        </m:den>
                      </m:f>
                    </m:oMath>
                  </a14:m>
                  <a:endParaRPr lang="en-US" sz="2000" dirty="0"/>
                </a:p>
              </p:txBody>
            </p:sp>
          </mc:Choice>
          <mc:Fallback xmlns="">
            <p:sp>
              <p:nvSpPr>
                <p:cNvPr id="231" name="TextBox 230">
                  <a:extLst>
                    <a:ext uri="{FF2B5EF4-FFF2-40B4-BE49-F238E27FC236}">
                      <a16:creationId xmlns:a16="http://schemas.microsoft.com/office/drawing/2014/main" id="{822D381A-D742-AB4D-85B3-6259474A4FC9}"/>
                    </a:ext>
                  </a:extLst>
                </p:cNvPr>
                <p:cNvSpPr txBox="1">
                  <a:spLocks noRot="1" noChangeAspect="1" noMove="1" noResize="1" noEditPoints="1" noAdjustHandles="1" noChangeArrowheads="1" noChangeShapeType="1" noTextEdit="1"/>
                </p:cNvSpPr>
                <p:nvPr/>
              </p:nvSpPr>
              <p:spPr>
                <a:xfrm>
                  <a:off x="8224804" y="4811758"/>
                  <a:ext cx="3691890" cy="1120140"/>
                </a:xfrm>
                <a:prstGeom prst="rect">
                  <a:avLst/>
                </a:prstGeom>
                <a:blipFill>
                  <a:blip r:embed="rId4"/>
                  <a:stretch>
                    <a:fillRect l="-1370" t="-1124"/>
                  </a:stretch>
                </a:blipFill>
              </p:spPr>
              <p:txBody>
                <a:bodyPr/>
                <a:lstStyle/>
                <a:p>
                  <a:r>
                    <a:rPr lang="en-US">
                      <a:noFill/>
                    </a:rPr>
                    <a:t> </a:t>
                  </a:r>
                </a:p>
              </p:txBody>
            </p:sp>
          </mc:Fallback>
        </mc:AlternateContent>
      </p:grpSp>
    </p:spTree>
    <p:extLst>
      <p:ext uri="{BB962C8B-B14F-4D97-AF65-F5344CB8AC3E}">
        <p14:creationId xmlns:p14="http://schemas.microsoft.com/office/powerpoint/2010/main" val="207844953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155731"/>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Modulators and detectors</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9588141" y="6392030"/>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71</a:t>
            </a:fld>
            <a:endParaRPr lang="en-US" dirty="0">
              <a:solidFill>
                <a:schemeClr val="tx1"/>
              </a:solidFill>
            </a:endParaRPr>
          </a:p>
        </p:txBody>
      </p:sp>
      <p:grpSp>
        <p:nvGrpSpPr>
          <p:cNvPr id="187" name="Group 186">
            <a:extLst>
              <a:ext uri="{FF2B5EF4-FFF2-40B4-BE49-F238E27FC236}">
                <a16:creationId xmlns:a16="http://schemas.microsoft.com/office/drawing/2014/main" id="{A1E0F896-E5F5-1B43-9E11-B9EEF83826B5}"/>
              </a:ext>
            </a:extLst>
          </p:cNvPr>
          <p:cNvGrpSpPr/>
          <p:nvPr/>
        </p:nvGrpSpPr>
        <p:grpSpPr>
          <a:xfrm>
            <a:off x="7125502" y="1859929"/>
            <a:ext cx="3813508" cy="2041280"/>
            <a:chOff x="4390072" y="1698886"/>
            <a:chExt cx="3813508" cy="2041280"/>
          </a:xfrm>
        </p:grpSpPr>
        <p:sp>
          <p:nvSpPr>
            <p:cNvPr id="6" name="TextBox 5">
              <a:extLst>
                <a:ext uri="{FF2B5EF4-FFF2-40B4-BE49-F238E27FC236}">
                  <a16:creationId xmlns:a16="http://schemas.microsoft.com/office/drawing/2014/main" id="{F2B647DE-3255-5543-89C0-4F311C5C9C85}"/>
                </a:ext>
              </a:extLst>
            </p:cNvPr>
            <p:cNvSpPr txBox="1"/>
            <p:nvPr/>
          </p:nvSpPr>
          <p:spPr>
            <a:xfrm>
              <a:off x="4598020" y="1698886"/>
              <a:ext cx="3605560" cy="369332"/>
            </a:xfrm>
            <a:prstGeom prst="rect">
              <a:avLst/>
            </a:prstGeom>
            <a:noFill/>
          </p:spPr>
          <p:txBody>
            <a:bodyPr wrap="square" rtlCol="0">
              <a:spAutoFit/>
            </a:bodyPr>
            <a:lstStyle/>
            <a:p>
              <a:r>
                <a:rPr lang="en-US" dirty="0"/>
                <a:t>Simple FM detector</a:t>
              </a:r>
            </a:p>
          </p:txBody>
        </p:sp>
        <p:grpSp>
          <p:nvGrpSpPr>
            <p:cNvPr id="31" name="Group 210">
              <a:extLst>
                <a:ext uri="{FF2B5EF4-FFF2-40B4-BE49-F238E27FC236}">
                  <a16:creationId xmlns:a16="http://schemas.microsoft.com/office/drawing/2014/main" id="{98613A3C-16C4-7441-AC2D-A83738F69F49}"/>
                </a:ext>
              </a:extLst>
            </p:cNvPr>
            <p:cNvGrpSpPr>
              <a:grpSpLocks/>
            </p:cNvGrpSpPr>
            <p:nvPr/>
          </p:nvGrpSpPr>
          <p:grpSpPr bwMode="auto">
            <a:xfrm>
              <a:off x="5675264" y="2307204"/>
              <a:ext cx="304800" cy="762000"/>
              <a:chOff x="3216" y="1728"/>
              <a:chExt cx="192" cy="480"/>
            </a:xfrm>
          </p:grpSpPr>
          <p:sp>
            <p:nvSpPr>
              <p:cNvPr id="36" name="Line 8">
                <a:extLst>
                  <a:ext uri="{FF2B5EF4-FFF2-40B4-BE49-F238E27FC236}">
                    <a16:creationId xmlns:a16="http://schemas.microsoft.com/office/drawing/2014/main" id="{77641C7C-B9A9-7F46-AB13-2B4E3DCED1DC}"/>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 name="Line 9">
                <a:extLst>
                  <a:ext uri="{FF2B5EF4-FFF2-40B4-BE49-F238E27FC236}">
                    <a16:creationId xmlns:a16="http://schemas.microsoft.com/office/drawing/2014/main" id="{AEF5DBDF-28BB-1848-821B-66D8E54F2F5F}"/>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 name="Line 10">
                <a:extLst>
                  <a:ext uri="{FF2B5EF4-FFF2-40B4-BE49-F238E27FC236}">
                    <a16:creationId xmlns:a16="http://schemas.microsoft.com/office/drawing/2014/main" id="{86FCA8F1-3B76-AA4E-ADEC-8A45FFE1600B}"/>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 name="Line 11">
                <a:extLst>
                  <a:ext uri="{FF2B5EF4-FFF2-40B4-BE49-F238E27FC236}">
                    <a16:creationId xmlns:a16="http://schemas.microsoft.com/office/drawing/2014/main" id="{E0F0B94C-D819-914A-BAAD-D81D1A265EA2}"/>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5" name="Straight Connector 4">
              <a:extLst>
                <a:ext uri="{FF2B5EF4-FFF2-40B4-BE49-F238E27FC236}">
                  <a16:creationId xmlns:a16="http://schemas.microsoft.com/office/drawing/2014/main" id="{F6311B81-237D-994E-8946-15522B87D418}"/>
                </a:ext>
              </a:extLst>
            </p:cNvPr>
            <p:cNvCxnSpPr/>
            <p:nvPr/>
          </p:nvCxnSpPr>
          <p:spPr>
            <a:xfrm>
              <a:off x="6143631" y="2297129"/>
              <a:ext cx="82519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5" name="Freeform 12">
              <a:extLst>
                <a:ext uri="{FF2B5EF4-FFF2-40B4-BE49-F238E27FC236}">
                  <a16:creationId xmlns:a16="http://schemas.microsoft.com/office/drawing/2014/main" id="{D69B7979-484D-D54D-901D-7CEAFD7726EE}"/>
                </a:ext>
              </a:extLst>
            </p:cNvPr>
            <p:cNvSpPr>
              <a:spLocks noChangeAspect="1"/>
            </p:cNvSpPr>
            <p:nvPr/>
          </p:nvSpPr>
          <p:spPr bwMode="auto">
            <a:xfrm>
              <a:off x="4889368" y="2285212"/>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36" name="Group 218">
              <a:extLst>
                <a:ext uri="{FF2B5EF4-FFF2-40B4-BE49-F238E27FC236}">
                  <a16:creationId xmlns:a16="http://schemas.microsoft.com/office/drawing/2014/main" id="{EA596B68-3071-7344-817D-D19CB333D34D}"/>
                </a:ext>
              </a:extLst>
            </p:cNvPr>
            <p:cNvGrpSpPr>
              <a:grpSpLocks/>
            </p:cNvGrpSpPr>
            <p:nvPr/>
          </p:nvGrpSpPr>
          <p:grpSpPr bwMode="auto">
            <a:xfrm rot="5400000">
              <a:off x="5943600" y="1915605"/>
              <a:ext cx="152400" cy="762000"/>
              <a:chOff x="5280" y="1200"/>
              <a:chExt cx="96" cy="480"/>
            </a:xfrm>
          </p:grpSpPr>
          <p:sp>
            <p:nvSpPr>
              <p:cNvPr id="137" name="Line 106">
                <a:extLst>
                  <a:ext uri="{FF2B5EF4-FFF2-40B4-BE49-F238E27FC236}">
                    <a16:creationId xmlns:a16="http://schemas.microsoft.com/office/drawing/2014/main" id="{0CD6FBB6-2AC6-5340-83C5-0D24F6A887B4}"/>
                  </a:ext>
                </a:extLst>
              </p:cNvPr>
              <p:cNvSpPr>
                <a:spLocks noChangeAspect="1" noChangeShapeType="1"/>
              </p:cNvSpPr>
              <p:nvPr/>
            </p:nvSpPr>
            <p:spPr bwMode="auto">
              <a:xfrm>
                <a:off x="5328" y="1200"/>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8" name="Line 107">
                <a:extLst>
                  <a:ext uri="{FF2B5EF4-FFF2-40B4-BE49-F238E27FC236}">
                    <a16:creationId xmlns:a16="http://schemas.microsoft.com/office/drawing/2014/main" id="{BBAED855-6292-9741-B06C-5574512D8806}"/>
                  </a:ext>
                </a:extLst>
              </p:cNvPr>
              <p:cNvSpPr>
                <a:spLocks noChangeAspect="1" noChangeShapeType="1"/>
              </p:cNvSpPr>
              <p:nvPr/>
            </p:nvSpPr>
            <p:spPr bwMode="auto">
              <a:xfrm>
                <a:off x="5280" y="1392"/>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9" name="Freeform 108">
                <a:extLst>
                  <a:ext uri="{FF2B5EF4-FFF2-40B4-BE49-F238E27FC236}">
                    <a16:creationId xmlns:a16="http://schemas.microsoft.com/office/drawing/2014/main" id="{CBCF6EBD-2980-674D-BA87-C44737E7956A}"/>
                  </a:ext>
                </a:extLst>
              </p:cNvPr>
              <p:cNvSpPr>
                <a:spLocks noChangeAspect="1"/>
              </p:cNvSpPr>
              <p:nvPr/>
            </p:nvSpPr>
            <p:spPr bwMode="auto">
              <a:xfrm>
                <a:off x="5280" y="1392"/>
                <a:ext cx="96" cy="96"/>
              </a:xfrm>
              <a:custGeom>
                <a:avLst/>
                <a:gdLst>
                  <a:gd name="T0" fmla="*/ 0 w 288"/>
                  <a:gd name="T1" fmla="*/ 0 h 240"/>
                  <a:gd name="T2" fmla="*/ 0 w 288"/>
                  <a:gd name="T3" fmla="*/ 1 h 240"/>
                  <a:gd name="T4" fmla="*/ 0 w 288"/>
                  <a:gd name="T5" fmla="*/ 1 h 240"/>
                  <a:gd name="T6" fmla="*/ 0 w 288"/>
                  <a:gd name="T7" fmla="*/ 0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144" y="0"/>
                    </a:moveTo>
                    <a:lnTo>
                      <a:pt x="0" y="240"/>
                    </a:lnTo>
                    <a:lnTo>
                      <a:pt x="288" y="240"/>
                    </a:lnTo>
                    <a:lnTo>
                      <a:pt x="144" y="0"/>
                    </a:lnTo>
                    <a:close/>
                  </a:path>
                </a:pathLst>
              </a:custGeom>
              <a:solidFill>
                <a:schemeClr val="tx1"/>
              </a:solidFill>
              <a:ln w="25400">
                <a:solidFill>
                  <a:schemeClr val="tx1"/>
                </a:solidFill>
                <a:round/>
                <a:headEnd/>
                <a:tailEnd/>
              </a:ln>
            </p:spPr>
            <p:txBody>
              <a:bodyPr/>
              <a:lstStyle/>
              <a:p>
                <a:endParaRPr lang="en-US"/>
              </a:p>
            </p:txBody>
          </p:sp>
          <p:sp>
            <p:nvSpPr>
              <p:cNvPr id="140" name="Line 109">
                <a:extLst>
                  <a:ext uri="{FF2B5EF4-FFF2-40B4-BE49-F238E27FC236}">
                    <a16:creationId xmlns:a16="http://schemas.microsoft.com/office/drawing/2014/main" id="{A13F1773-80AB-6843-AE64-ACA49B86BCA2}"/>
                  </a:ext>
                </a:extLst>
              </p:cNvPr>
              <p:cNvSpPr>
                <a:spLocks noChangeAspect="1" noChangeShapeType="1"/>
              </p:cNvSpPr>
              <p:nvPr/>
            </p:nvSpPr>
            <p:spPr bwMode="auto">
              <a:xfrm>
                <a:off x="5328" y="1488"/>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41" name="Group 207">
              <a:extLst>
                <a:ext uri="{FF2B5EF4-FFF2-40B4-BE49-F238E27FC236}">
                  <a16:creationId xmlns:a16="http://schemas.microsoft.com/office/drawing/2014/main" id="{DD450908-D961-C14A-A402-7E97B05EE2AB}"/>
                </a:ext>
              </a:extLst>
            </p:cNvPr>
            <p:cNvGrpSpPr>
              <a:grpSpLocks/>
            </p:cNvGrpSpPr>
            <p:nvPr/>
          </p:nvGrpSpPr>
          <p:grpSpPr bwMode="auto">
            <a:xfrm>
              <a:off x="4809102" y="2978166"/>
              <a:ext cx="304800" cy="762000"/>
              <a:chOff x="4560" y="2400"/>
              <a:chExt cx="192" cy="480"/>
            </a:xfrm>
          </p:grpSpPr>
          <p:sp>
            <p:nvSpPr>
              <p:cNvPr id="142" name="Oval 111">
                <a:extLst>
                  <a:ext uri="{FF2B5EF4-FFF2-40B4-BE49-F238E27FC236}">
                    <a16:creationId xmlns:a16="http://schemas.microsoft.com/office/drawing/2014/main" id="{7A47C597-65E1-A848-B003-628C8C1DF848}"/>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143" name="Line 112">
                <a:extLst>
                  <a:ext uri="{FF2B5EF4-FFF2-40B4-BE49-F238E27FC236}">
                    <a16:creationId xmlns:a16="http://schemas.microsoft.com/office/drawing/2014/main" id="{40344015-CEA1-4E42-B965-3E9DAC1F5B9C}"/>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 name="Line 113">
                <a:extLst>
                  <a:ext uri="{FF2B5EF4-FFF2-40B4-BE49-F238E27FC236}">
                    <a16:creationId xmlns:a16="http://schemas.microsoft.com/office/drawing/2014/main" id="{27877C15-F187-824A-83AA-3D1CB4EA5F2B}"/>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5" name="Line 114">
                <a:extLst>
                  <a:ext uri="{FF2B5EF4-FFF2-40B4-BE49-F238E27FC236}">
                    <a16:creationId xmlns:a16="http://schemas.microsoft.com/office/drawing/2014/main" id="{B5E6BD7A-F2AC-1845-B414-3DD056E2FDB6}"/>
                  </a:ext>
                </a:extLst>
              </p:cNvPr>
              <p:cNvSpPr>
                <a:spLocks noChangeAspect="1" noChangeShapeType="1"/>
              </p:cNvSpPr>
              <p:nvPr/>
            </p:nvSpPr>
            <p:spPr bwMode="auto">
              <a:xfrm>
                <a:off x="4584" y="2496"/>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6" name="Line 115">
                <a:extLst>
                  <a:ext uri="{FF2B5EF4-FFF2-40B4-BE49-F238E27FC236}">
                    <a16:creationId xmlns:a16="http://schemas.microsoft.com/office/drawing/2014/main" id="{066207D9-1C7A-A449-8D46-29D869F189DA}"/>
                  </a:ext>
                </a:extLst>
              </p:cNvPr>
              <p:cNvSpPr>
                <a:spLocks noChangeAspect="1" noChangeShapeType="1"/>
              </p:cNvSpPr>
              <p:nvPr/>
            </p:nvSpPr>
            <p:spPr bwMode="auto">
              <a:xfrm>
                <a:off x="4608" y="2472"/>
                <a:ext cx="0" cy="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7" name="Line 116">
                <a:extLst>
                  <a:ext uri="{FF2B5EF4-FFF2-40B4-BE49-F238E27FC236}">
                    <a16:creationId xmlns:a16="http://schemas.microsoft.com/office/drawing/2014/main" id="{FB5EC610-AD87-A941-8DFD-D6EA31086765}"/>
                  </a:ext>
                </a:extLst>
              </p:cNvPr>
              <p:cNvSpPr>
                <a:spLocks noChangeAspect="1" noChangeShapeType="1"/>
              </p:cNvSpPr>
              <p:nvPr/>
            </p:nvSpPr>
            <p:spPr bwMode="auto">
              <a:xfrm>
                <a:off x="4584" y="2784"/>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48" name="Group 117">
                <a:extLst>
                  <a:ext uri="{FF2B5EF4-FFF2-40B4-BE49-F238E27FC236}">
                    <a16:creationId xmlns:a16="http://schemas.microsoft.com/office/drawing/2014/main" id="{B2061031-A822-3546-9FA3-57069AD68212}"/>
                  </a:ext>
                </a:extLst>
              </p:cNvPr>
              <p:cNvGrpSpPr>
                <a:grpSpLocks noChangeAspect="1"/>
              </p:cNvGrpSpPr>
              <p:nvPr/>
            </p:nvGrpSpPr>
            <p:grpSpPr bwMode="auto">
              <a:xfrm>
                <a:off x="4608" y="2592"/>
                <a:ext cx="96" cy="96"/>
                <a:chOff x="2929" y="3217"/>
                <a:chExt cx="383" cy="191"/>
              </a:xfrm>
            </p:grpSpPr>
            <p:sp>
              <p:nvSpPr>
                <p:cNvPr id="149" name="Arc 118">
                  <a:extLst>
                    <a:ext uri="{FF2B5EF4-FFF2-40B4-BE49-F238E27FC236}">
                      <a16:creationId xmlns:a16="http://schemas.microsoft.com/office/drawing/2014/main" id="{833C57B7-3BF6-6545-B848-314E6453A45E}"/>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0" name="Arc 119">
                  <a:extLst>
                    <a:ext uri="{FF2B5EF4-FFF2-40B4-BE49-F238E27FC236}">
                      <a16:creationId xmlns:a16="http://schemas.microsoft.com/office/drawing/2014/main" id="{223A15FA-22DF-2649-9AFC-C0D5B26F8D40}"/>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grpSp>
          <p:nvGrpSpPr>
            <p:cNvPr id="151" name="Group 209">
              <a:extLst>
                <a:ext uri="{FF2B5EF4-FFF2-40B4-BE49-F238E27FC236}">
                  <a16:creationId xmlns:a16="http://schemas.microsoft.com/office/drawing/2014/main" id="{3BA23F73-6903-C94B-A949-C374016594ED}"/>
                </a:ext>
              </a:extLst>
            </p:cNvPr>
            <p:cNvGrpSpPr>
              <a:grpSpLocks/>
            </p:cNvGrpSpPr>
            <p:nvPr/>
          </p:nvGrpSpPr>
          <p:grpSpPr bwMode="auto">
            <a:xfrm>
              <a:off x="5383476" y="2285214"/>
              <a:ext cx="152400" cy="762000"/>
              <a:chOff x="3935" y="1728"/>
              <a:chExt cx="96" cy="480"/>
            </a:xfrm>
          </p:grpSpPr>
          <p:sp>
            <p:nvSpPr>
              <p:cNvPr id="152" name="Arc 59">
                <a:extLst>
                  <a:ext uri="{FF2B5EF4-FFF2-40B4-BE49-F238E27FC236}">
                    <a16:creationId xmlns:a16="http://schemas.microsoft.com/office/drawing/2014/main" id="{CCEDAAFA-C9DC-A440-B96F-8847419AB60D}"/>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3" name="Arc 60">
                <a:extLst>
                  <a:ext uri="{FF2B5EF4-FFF2-40B4-BE49-F238E27FC236}">
                    <a16:creationId xmlns:a16="http://schemas.microsoft.com/office/drawing/2014/main" id="{D63E8CCC-E4C5-3A4D-A3FE-DBCC91E1931B}"/>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4" name="Arc 61">
                <a:extLst>
                  <a:ext uri="{FF2B5EF4-FFF2-40B4-BE49-F238E27FC236}">
                    <a16:creationId xmlns:a16="http://schemas.microsoft.com/office/drawing/2014/main" id="{639540A1-519B-2A4E-AA90-DB34CAD53E64}"/>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5" name="Arc 62">
                <a:extLst>
                  <a:ext uri="{FF2B5EF4-FFF2-40B4-BE49-F238E27FC236}">
                    <a16:creationId xmlns:a16="http://schemas.microsoft.com/office/drawing/2014/main" id="{2830D845-EE8F-D64B-96BC-643588783361}"/>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6" name="Line 63">
                <a:extLst>
                  <a:ext uri="{FF2B5EF4-FFF2-40B4-BE49-F238E27FC236}">
                    <a16:creationId xmlns:a16="http://schemas.microsoft.com/office/drawing/2014/main" id="{84562746-DA67-F145-86C3-5B68C14CE71B}"/>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7" name="Line 64">
                <a:extLst>
                  <a:ext uri="{FF2B5EF4-FFF2-40B4-BE49-F238E27FC236}">
                    <a16:creationId xmlns:a16="http://schemas.microsoft.com/office/drawing/2014/main" id="{1655E699-3F02-5C4E-9FC0-A59B7AB8D674}"/>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8" name="Arc 65">
                <a:extLst>
                  <a:ext uri="{FF2B5EF4-FFF2-40B4-BE49-F238E27FC236}">
                    <a16:creationId xmlns:a16="http://schemas.microsoft.com/office/drawing/2014/main" id="{0BBB196D-4A08-B340-8CD9-9CF90BBB98F4}"/>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9" name="Arc 66">
                <a:extLst>
                  <a:ext uri="{FF2B5EF4-FFF2-40B4-BE49-F238E27FC236}">
                    <a16:creationId xmlns:a16="http://schemas.microsoft.com/office/drawing/2014/main" id="{87DA2087-1F70-D842-9954-52BF8426C2D4}"/>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0" name="Arc 67">
                <a:extLst>
                  <a:ext uri="{FF2B5EF4-FFF2-40B4-BE49-F238E27FC236}">
                    <a16:creationId xmlns:a16="http://schemas.microsoft.com/office/drawing/2014/main" id="{84FD8F8D-BC0A-C744-8F58-595B92B1B326}"/>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1" name="Arc 68">
                <a:extLst>
                  <a:ext uri="{FF2B5EF4-FFF2-40B4-BE49-F238E27FC236}">
                    <a16:creationId xmlns:a16="http://schemas.microsoft.com/office/drawing/2014/main" id="{A949086A-8550-C741-8DA2-823F6E74FF9A}"/>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2" name="Arc 69">
                <a:extLst>
                  <a:ext uri="{FF2B5EF4-FFF2-40B4-BE49-F238E27FC236}">
                    <a16:creationId xmlns:a16="http://schemas.microsoft.com/office/drawing/2014/main" id="{218ABF38-0AEA-DF48-9459-2C22E74CD844}"/>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3" name="Arc 70">
                <a:extLst>
                  <a:ext uri="{FF2B5EF4-FFF2-40B4-BE49-F238E27FC236}">
                    <a16:creationId xmlns:a16="http://schemas.microsoft.com/office/drawing/2014/main" id="{15C53A08-98CC-9B41-8A9D-768F199C648D}"/>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4" name="Arc 71">
                <a:extLst>
                  <a:ext uri="{FF2B5EF4-FFF2-40B4-BE49-F238E27FC236}">
                    <a16:creationId xmlns:a16="http://schemas.microsoft.com/office/drawing/2014/main" id="{4F14C8FF-BDB5-664F-B3C7-D3C59196E58E}"/>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cxnSp>
          <p:nvCxnSpPr>
            <p:cNvPr id="165" name="Straight Connector 164">
              <a:extLst>
                <a:ext uri="{FF2B5EF4-FFF2-40B4-BE49-F238E27FC236}">
                  <a16:creationId xmlns:a16="http://schemas.microsoft.com/office/drawing/2014/main" id="{07064418-26EE-7545-BC71-743B71774AE0}"/>
                </a:ext>
              </a:extLst>
            </p:cNvPr>
            <p:cNvCxnSpPr/>
            <p:nvPr/>
          </p:nvCxnSpPr>
          <p:spPr>
            <a:xfrm>
              <a:off x="4960454" y="2296605"/>
              <a:ext cx="82519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66" name="Freeform 12">
              <a:extLst>
                <a:ext uri="{FF2B5EF4-FFF2-40B4-BE49-F238E27FC236}">
                  <a16:creationId xmlns:a16="http://schemas.microsoft.com/office/drawing/2014/main" id="{D06CA9C9-DFC1-0048-97DB-04C6E3023CF0}"/>
                </a:ext>
              </a:extLst>
            </p:cNvPr>
            <p:cNvSpPr>
              <a:spLocks noChangeAspect="1"/>
            </p:cNvSpPr>
            <p:nvPr/>
          </p:nvSpPr>
          <p:spPr bwMode="auto">
            <a:xfrm>
              <a:off x="6879996" y="2286782"/>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68" name="Group 210">
              <a:extLst>
                <a:ext uri="{FF2B5EF4-FFF2-40B4-BE49-F238E27FC236}">
                  <a16:creationId xmlns:a16="http://schemas.microsoft.com/office/drawing/2014/main" id="{D3125C9B-15F7-2A42-8C0A-7C88F2DE9328}"/>
                </a:ext>
              </a:extLst>
            </p:cNvPr>
            <p:cNvGrpSpPr>
              <a:grpSpLocks/>
            </p:cNvGrpSpPr>
            <p:nvPr/>
          </p:nvGrpSpPr>
          <p:grpSpPr bwMode="auto">
            <a:xfrm>
              <a:off x="6214678" y="2297022"/>
              <a:ext cx="304800" cy="762000"/>
              <a:chOff x="3216" y="1728"/>
              <a:chExt cx="192" cy="480"/>
            </a:xfrm>
          </p:grpSpPr>
          <p:sp>
            <p:nvSpPr>
              <p:cNvPr id="169" name="Line 8">
                <a:extLst>
                  <a:ext uri="{FF2B5EF4-FFF2-40B4-BE49-F238E27FC236}">
                    <a16:creationId xmlns:a16="http://schemas.microsoft.com/office/drawing/2014/main" id="{6E41FD91-5577-B849-978E-E7CFA221EC6E}"/>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0" name="Line 9">
                <a:extLst>
                  <a:ext uri="{FF2B5EF4-FFF2-40B4-BE49-F238E27FC236}">
                    <a16:creationId xmlns:a16="http://schemas.microsoft.com/office/drawing/2014/main" id="{4046E5F4-A1E3-E34D-B2B0-235E07B17169}"/>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1" name="Line 10">
                <a:extLst>
                  <a:ext uri="{FF2B5EF4-FFF2-40B4-BE49-F238E27FC236}">
                    <a16:creationId xmlns:a16="http://schemas.microsoft.com/office/drawing/2014/main" id="{EAE02626-5B2C-5946-B778-66DA8A64CBB2}"/>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2" name="Line 11">
                <a:extLst>
                  <a:ext uri="{FF2B5EF4-FFF2-40B4-BE49-F238E27FC236}">
                    <a16:creationId xmlns:a16="http://schemas.microsoft.com/office/drawing/2014/main" id="{2AE4520A-FD7A-FB4D-95D3-10B2D713F94F}"/>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mc:AlternateContent xmlns:mc="http://schemas.openxmlformats.org/markup-compatibility/2006" xmlns:a14="http://schemas.microsoft.com/office/drawing/2010/main">
          <mc:Choice Requires="a14">
            <p:sp>
              <p:nvSpPr>
                <p:cNvPr id="173" name="TextBox 172">
                  <a:extLst>
                    <a:ext uri="{FF2B5EF4-FFF2-40B4-BE49-F238E27FC236}">
                      <a16:creationId xmlns:a16="http://schemas.microsoft.com/office/drawing/2014/main" id="{458D2468-7236-4944-B35A-89199B85EEB8}"/>
                    </a:ext>
                  </a:extLst>
                </p:cNvPr>
                <p:cNvSpPr txBox="1"/>
                <p:nvPr/>
              </p:nvSpPr>
              <p:spPr>
                <a:xfrm>
                  <a:off x="7101179" y="2639922"/>
                  <a:ext cx="367990" cy="338554"/>
                </a:xfrm>
                <a:prstGeom prst="rect">
                  <a:avLst/>
                </a:prstGeom>
                <a:noFill/>
              </p:spPr>
              <p:txBody>
                <a:bodyPr wrap="square" rtlCol="0">
                  <a:spAutoFit/>
                </a:bodyPr>
                <a:lstStyle/>
                <a:p>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𝑅</m:t>
                            </m:r>
                          </m:e>
                          <m:sub>
                            <m:r>
                              <a:rPr lang="en-US" sz="1600" b="0" i="1" smtClean="0">
                                <a:latin typeface="Cambria Math" panose="02040503050406030204" pitchFamily="18" charset="0"/>
                              </a:rPr>
                              <m:t>𝐿</m:t>
                            </m:r>
                          </m:sub>
                        </m:sSub>
                      </m:oMath>
                    </m:oMathPara>
                  </a14:m>
                  <a:endParaRPr lang="en-US" dirty="0"/>
                </a:p>
              </p:txBody>
            </p:sp>
          </mc:Choice>
          <mc:Fallback xmlns="">
            <p:sp>
              <p:nvSpPr>
                <p:cNvPr id="173" name="TextBox 172">
                  <a:extLst>
                    <a:ext uri="{FF2B5EF4-FFF2-40B4-BE49-F238E27FC236}">
                      <a16:creationId xmlns:a16="http://schemas.microsoft.com/office/drawing/2014/main" id="{458D2468-7236-4944-B35A-89199B85EEB8}"/>
                    </a:ext>
                  </a:extLst>
                </p:cNvPr>
                <p:cNvSpPr txBox="1">
                  <a:spLocks noRot="1" noChangeAspect="1" noMove="1" noResize="1" noEditPoints="1" noAdjustHandles="1" noChangeArrowheads="1" noChangeShapeType="1" noTextEdit="1"/>
                </p:cNvSpPr>
                <p:nvPr/>
              </p:nvSpPr>
              <p:spPr>
                <a:xfrm>
                  <a:off x="7101179" y="2639922"/>
                  <a:ext cx="367990" cy="33855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4" name="TextBox 173">
                  <a:extLst>
                    <a:ext uri="{FF2B5EF4-FFF2-40B4-BE49-F238E27FC236}">
                      <a16:creationId xmlns:a16="http://schemas.microsoft.com/office/drawing/2014/main" id="{E5386762-D347-154F-89B9-2FD4F9B6205B}"/>
                    </a:ext>
                  </a:extLst>
                </p:cNvPr>
                <p:cNvSpPr txBox="1"/>
                <p:nvPr/>
              </p:nvSpPr>
              <p:spPr>
                <a:xfrm>
                  <a:off x="4519791" y="2433954"/>
                  <a:ext cx="367990" cy="338554"/>
                </a:xfrm>
                <a:prstGeom prst="rect">
                  <a:avLst/>
                </a:prstGeom>
                <a:noFill/>
              </p:spPr>
              <p:txBody>
                <a:bodyPr wrap="square" rtlCol="0">
                  <a:spAutoFit/>
                </a:bodyPr>
                <a:lstStyle/>
                <a:p>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𝑅</m:t>
                            </m:r>
                          </m:e>
                          <m:sub>
                            <m:r>
                              <a:rPr lang="en-US" sz="1600" b="0" i="1" smtClean="0">
                                <a:latin typeface="Cambria Math" panose="02040503050406030204" pitchFamily="18" charset="0"/>
                              </a:rPr>
                              <m:t>𝑆</m:t>
                            </m:r>
                          </m:sub>
                        </m:sSub>
                      </m:oMath>
                    </m:oMathPara>
                  </a14:m>
                  <a:endParaRPr lang="en-US" dirty="0"/>
                </a:p>
              </p:txBody>
            </p:sp>
          </mc:Choice>
          <mc:Fallback xmlns="">
            <p:sp>
              <p:nvSpPr>
                <p:cNvPr id="174" name="TextBox 173">
                  <a:extLst>
                    <a:ext uri="{FF2B5EF4-FFF2-40B4-BE49-F238E27FC236}">
                      <a16:creationId xmlns:a16="http://schemas.microsoft.com/office/drawing/2014/main" id="{E5386762-D347-154F-89B9-2FD4F9B6205B}"/>
                    </a:ext>
                  </a:extLst>
                </p:cNvPr>
                <p:cNvSpPr txBox="1">
                  <a:spLocks noRot="1" noChangeAspect="1" noMove="1" noResize="1" noEditPoints="1" noAdjustHandles="1" noChangeArrowheads="1" noChangeShapeType="1" noTextEdit="1"/>
                </p:cNvSpPr>
                <p:nvPr/>
              </p:nvSpPr>
              <p:spPr>
                <a:xfrm>
                  <a:off x="4519791" y="2433954"/>
                  <a:ext cx="367990" cy="33855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5" name="TextBox 174">
                  <a:extLst>
                    <a:ext uri="{FF2B5EF4-FFF2-40B4-BE49-F238E27FC236}">
                      <a16:creationId xmlns:a16="http://schemas.microsoft.com/office/drawing/2014/main" id="{31C1EF59-D1AA-324B-9EDC-25649B8A275F}"/>
                    </a:ext>
                  </a:extLst>
                </p:cNvPr>
                <p:cNvSpPr txBox="1"/>
                <p:nvPr/>
              </p:nvSpPr>
              <p:spPr>
                <a:xfrm>
                  <a:off x="6444275" y="2641985"/>
                  <a:ext cx="367990" cy="338554"/>
                </a:xfrm>
                <a:prstGeom prst="rect">
                  <a:avLst/>
                </a:prstGeom>
                <a:noFill/>
              </p:spPr>
              <p:txBody>
                <a:bodyPr wrap="square" rtlCol="0">
                  <a:spAutoFit/>
                </a:bodyPr>
                <a:lstStyle/>
                <a:p>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𝐶</m:t>
                            </m:r>
                          </m:e>
                          <m:sub>
                            <m:r>
                              <a:rPr lang="en-US" sz="1600" b="0" i="1" smtClean="0">
                                <a:latin typeface="Cambria Math" panose="02040503050406030204" pitchFamily="18" charset="0"/>
                              </a:rPr>
                              <m:t>𝐿</m:t>
                            </m:r>
                          </m:sub>
                        </m:sSub>
                      </m:oMath>
                    </m:oMathPara>
                  </a14:m>
                  <a:endParaRPr lang="en-US" dirty="0"/>
                </a:p>
              </p:txBody>
            </p:sp>
          </mc:Choice>
          <mc:Fallback xmlns="">
            <p:sp>
              <p:nvSpPr>
                <p:cNvPr id="175" name="TextBox 174">
                  <a:extLst>
                    <a:ext uri="{FF2B5EF4-FFF2-40B4-BE49-F238E27FC236}">
                      <a16:creationId xmlns:a16="http://schemas.microsoft.com/office/drawing/2014/main" id="{31C1EF59-D1AA-324B-9EDC-25649B8A275F}"/>
                    </a:ext>
                  </a:extLst>
                </p:cNvPr>
                <p:cNvSpPr txBox="1">
                  <a:spLocks noRot="1" noChangeAspect="1" noMove="1" noResize="1" noEditPoints="1" noAdjustHandles="1" noChangeArrowheads="1" noChangeShapeType="1" noTextEdit="1"/>
                </p:cNvSpPr>
                <p:nvPr/>
              </p:nvSpPr>
              <p:spPr>
                <a:xfrm>
                  <a:off x="6444275" y="2641985"/>
                  <a:ext cx="367990" cy="33855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6" name="TextBox 175">
                  <a:extLst>
                    <a:ext uri="{FF2B5EF4-FFF2-40B4-BE49-F238E27FC236}">
                      <a16:creationId xmlns:a16="http://schemas.microsoft.com/office/drawing/2014/main" id="{07881976-84D5-1341-BE5B-5B53E9BF827B}"/>
                    </a:ext>
                  </a:extLst>
                </p:cNvPr>
                <p:cNvSpPr txBox="1"/>
                <p:nvPr/>
              </p:nvSpPr>
              <p:spPr>
                <a:xfrm>
                  <a:off x="5805581" y="2686636"/>
                  <a:ext cx="367990" cy="338554"/>
                </a:xfrm>
                <a:prstGeom prst="rect">
                  <a:avLst/>
                </a:prstGeom>
                <a:noFill/>
              </p:spPr>
              <p:txBody>
                <a:bodyPr wrap="square" rtlCol="0">
                  <a:spAutoFit/>
                </a:bodyPr>
                <a:lstStyle/>
                <a:p>
                  <a:pPr/>
                  <a14:m>
                    <m:oMathPara xmlns:m="http://schemas.openxmlformats.org/officeDocument/2006/math">
                      <m:oMath>
                        <m:r>
                          <a:rPr lang="en-US" sz="1600" i="1" smtClean="0">
                            <a:latin typeface="Cambria Math" panose="02040503050406030204" pitchFamily="18" charset="0"/>
                          </a:rPr>
                          <m:t>𝐶</m:t>
                        </m:r>
                      </m:oMath>
                    </m:oMathPara>
                  </a14:m>
                  <a:endParaRPr lang="en-US" dirty="0"/>
                </a:p>
              </p:txBody>
            </p:sp>
          </mc:Choice>
          <mc:Fallback xmlns="">
            <p:sp>
              <p:nvSpPr>
                <p:cNvPr id="176" name="TextBox 175">
                  <a:extLst>
                    <a:ext uri="{FF2B5EF4-FFF2-40B4-BE49-F238E27FC236}">
                      <a16:creationId xmlns:a16="http://schemas.microsoft.com/office/drawing/2014/main" id="{07881976-84D5-1341-BE5B-5B53E9BF827B}"/>
                    </a:ext>
                  </a:extLst>
                </p:cNvPr>
                <p:cNvSpPr txBox="1">
                  <a:spLocks noRot="1" noChangeAspect="1" noMove="1" noResize="1" noEditPoints="1" noAdjustHandles="1" noChangeArrowheads="1" noChangeShapeType="1" noTextEdit="1"/>
                </p:cNvSpPr>
                <p:nvPr/>
              </p:nvSpPr>
              <p:spPr>
                <a:xfrm>
                  <a:off x="5805581" y="2686636"/>
                  <a:ext cx="367990" cy="338554"/>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7" name="TextBox 176">
                  <a:extLst>
                    <a:ext uri="{FF2B5EF4-FFF2-40B4-BE49-F238E27FC236}">
                      <a16:creationId xmlns:a16="http://schemas.microsoft.com/office/drawing/2014/main" id="{C324FBFD-6751-204C-9A27-AB07F10FF9F3}"/>
                    </a:ext>
                  </a:extLst>
                </p:cNvPr>
                <p:cNvSpPr txBox="1"/>
                <p:nvPr/>
              </p:nvSpPr>
              <p:spPr>
                <a:xfrm>
                  <a:off x="5091289" y="2529164"/>
                  <a:ext cx="367990" cy="338554"/>
                </a:xfrm>
                <a:prstGeom prst="rect">
                  <a:avLst/>
                </a:prstGeom>
                <a:noFill/>
              </p:spPr>
              <p:txBody>
                <a:bodyPr wrap="square" rtlCol="0">
                  <a:spAutoFit/>
                </a:bodyPr>
                <a:lstStyle/>
                <a:p>
                  <a:pPr/>
                  <a14:m>
                    <m:oMathPara xmlns:m="http://schemas.openxmlformats.org/officeDocument/2006/math">
                      <m:oMath>
                        <m:r>
                          <a:rPr lang="en-US" sz="1600" b="0" i="1" smtClean="0">
                            <a:latin typeface="Cambria Math" panose="02040503050406030204" pitchFamily="18" charset="0"/>
                          </a:rPr>
                          <m:t>𝐿</m:t>
                        </m:r>
                      </m:oMath>
                    </m:oMathPara>
                  </a14:m>
                  <a:endParaRPr lang="en-US" dirty="0"/>
                </a:p>
              </p:txBody>
            </p:sp>
          </mc:Choice>
          <mc:Fallback xmlns="">
            <p:sp>
              <p:nvSpPr>
                <p:cNvPr id="177" name="TextBox 176">
                  <a:extLst>
                    <a:ext uri="{FF2B5EF4-FFF2-40B4-BE49-F238E27FC236}">
                      <a16:creationId xmlns:a16="http://schemas.microsoft.com/office/drawing/2014/main" id="{C324FBFD-6751-204C-9A27-AB07F10FF9F3}"/>
                    </a:ext>
                  </a:extLst>
                </p:cNvPr>
                <p:cNvSpPr txBox="1">
                  <a:spLocks noRot="1" noChangeAspect="1" noMove="1" noResize="1" noEditPoints="1" noAdjustHandles="1" noChangeArrowheads="1" noChangeShapeType="1" noTextEdit="1"/>
                </p:cNvSpPr>
                <p:nvPr/>
              </p:nvSpPr>
              <p:spPr>
                <a:xfrm>
                  <a:off x="5091289" y="2529164"/>
                  <a:ext cx="367990" cy="338554"/>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6E8B66E3-6AEC-6844-87D3-F7485FF23E7F}"/>
                    </a:ext>
                  </a:extLst>
                </p:cNvPr>
                <p:cNvSpPr txBox="1"/>
                <p:nvPr/>
              </p:nvSpPr>
              <p:spPr>
                <a:xfrm>
                  <a:off x="4390072" y="3213034"/>
                  <a:ext cx="367990" cy="338554"/>
                </a:xfrm>
                <a:prstGeom prst="rect">
                  <a:avLst/>
                </a:prstGeom>
                <a:noFill/>
              </p:spPr>
              <p:txBody>
                <a:bodyPr wrap="square" rtlCol="0">
                  <a:spAutoFit/>
                </a:bodyPr>
                <a:lstStyle/>
                <a:p>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𝑣</m:t>
                            </m:r>
                          </m:e>
                          <m:sub>
                            <m:r>
                              <a:rPr lang="en-US" sz="1600" b="0" i="1" smtClean="0">
                                <a:latin typeface="Cambria Math" panose="02040503050406030204" pitchFamily="18" charset="0"/>
                              </a:rPr>
                              <m:t>𝑖</m:t>
                            </m:r>
                          </m:sub>
                        </m:sSub>
                      </m:oMath>
                    </m:oMathPara>
                  </a14:m>
                  <a:endParaRPr lang="en-US" dirty="0"/>
                </a:p>
              </p:txBody>
            </p:sp>
          </mc:Choice>
          <mc:Fallback xmlns="">
            <p:sp>
              <p:nvSpPr>
                <p:cNvPr id="178" name="TextBox 177">
                  <a:extLst>
                    <a:ext uri="{FF2B5EF4-FFF2-40B4-BE49-F238E27FC236}">
                      <a16:creationId xmlns:a16="http://schemas.microsoft.com/office/drawing/2014/main" id="{6E8B66E3-6AEC-6844-87D3-F7485FF23E7F}"/>
                    </a:ext>
                  </a:extLst>
                </p:cNvPr>
                <p:cNvSpPr txBox="1">
                  <a:spLocks noRot="1" noChangeAspect="1" noMove="1" noResize="1" noEditPoints="1" noAdjustHandles="1" noChangeArrowheads="1" noChangeShapeType="1" noTextEdit="1"/>
                </p:cNvSpPr>
                <p:nvPr/>
              </p:nvSpPr>
              <p:spPr>
                <a:xfrm>
                  <a:off x="4390072" y="3213034"/>
                  <a:ext cx="367990" cy="338554"/>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9" name="TextBox 178">
                  <a:extLst>
                    <a:ext uri="{FF2B5EF4-FFF2-40B4-BE49-F238E27FC236}">
                      <a16:creationId xmlns:a16="http://schemas.microsoft.com/office/drawing/2014/main" id="{589BD1C5-BE63-C349-AD05-5C6778A2124F}"/>
                    </a:ext>
                  </a:extLst>
                </p:cNvPr>
                <p:cNvSpPr txBox="1"/>
                <p:nvPr/>
              </p:nvSpPr>
              <p:spPr>
                <a:xfrm>
                  <a:off x="7024924" y="2079649"/>
                  <a:ext cx="367990" cy="338554"/>
                </a:xfrm>
                <a:prstGeom prst="rect">
                  <a:avLst/>
                </a:prstGeom>
                <a:noFill/>
              </p:spPr>
              <p:txBody>
                <a:bodyPr wrap="square" rtlCol="0">
                  <a:spAutoFit/>
                </a:bodyPr>
                <a:lstStyle/>
                <a:p>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𝑣</m:t>
                            </m:r>
                          </m:e>
                          <m:sub>
                            <m:r>
                              <a:rPr lang="en-US" sz="1600" b="0" i="1" smtClean="0">
                                <a:latin typeface="Cambria Math" panose="02040503050406030204" pitchFamily="18" charset="0"/>
                              </a:rPr>
                              <m:t>𝑜</m:t>
                            </m:r>
                          </m:sub>
                        </m:sSub>
                      </m:oMath>
                    </m:oMathPara>
                  </a14:m>
                  <a:endParaRPr lang="en-US" dirty="0"/>
                </a:p>
              </p:txBody>
            </p:sp>
          </mc:Choice>
          <mc:Fallback xmlns="">
            <p:sp>
              <p:nvSpPr>
                <p:cNvPr id="179" name="TextBox 178">
                  <a:extLst>
                    <a:ext uri="{FF2B5EF4-FFF2-40B4-BE49-F238E27FC236}">
                      <a16:creationId xmlns:a16="http://schemas.microsoft.com/office/drawing/2014/main" id="{589BD1C5-BE63-C349-AD05-5C6778A2124F}"/>
                    </a:ext>
                  </a:extLst>
                </p:cNvPr>
                <p:cNvSpPr txBox="1">
                  <a:spLocks noRot="1" noChangeAspect="1" noMove="1" noResize="1" noEditPoints="1" noAdjustHandles="1" noChangeArrowheads="1" noChangeShapeType="1" noTextEdit="1"/>
                </p:cNvSpPr>
                <p:nvPr/>
              </p:nvSpPr>
              <p:spPr>
                <a:xfrm>
                  <a:off x="7024924" y="2079649"/>
                  <a:ext cx="367990" cy="338554"/>
                </a:xfrm>
                <a:prstGeom prst="rect">
                  <a:avLst/>
                </a:prstGeom>
                <a:blipFill>
                  <a:blip r:embed="rId9"/>
                  <a:stretch>
                    <a:fillRect/>
                  </a:stretch>
                </a:blipFill>
              </p:spPr>
              <p:txBody>
                <a:bodyPr/>
                <a:lstStyle/>
                <a:p>
                  <a:r>
                    <a:rPr lang="en-US">
                      <a:noFill/>
                    </a:rPr>
                    <a:t> </a:t>
                  </a:r>
                </a:p>
              </p:txBody>
            </p:sp>
          </mc:Fallback>
        </mc:AlternateContent>
        <p:cxnSp>
          <p:nvCxnSpPr>
            <p:cNvPr id="180" name="Straight Connector 179">
              <a:extLst>
                <a:ext uri="{FF2B5EF4-FFF2-40B4-BE49-F238E27FC236}">
                  <a16:creationId xmlns:a16="http://schemas.microsoft.com/office/drawing/2014/main" id="{F7C6D2D6-2ADB-574A-8B8D-9D05CFE4B4D5}"/>
                </a:ext>
              </a:extLst>
            </p:cNvPr>
            <p:cNvCxnSpPr/>
            <p:nvPr/>
          </p:nvCxnSpPr>
          <p:spPr>
            <a:xfrm>
              <a:off x="4960454" y="3740166"/>
              <a:ext cx="20116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5B36F28E-8AFC-1745-B8CD-59C4341BD381}"/>
                </a:ext>
              </a:extLst>
            </p:cNvPr>
            <p:cNvCxnSpPr>
              <a:cxnSpLocks/>
            </p:cNvCxnSpPr>
            <p:nvPr/>
          </p:nvCxnSpPr>
          <p:spPr>
            <a:xfrm flipV="1">
              <a:off x="6956196" y="3021170"/>
              <a:ext cx="0" cy="71899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11194095-B764-8845-B93C-2E9C0DECD920}"/>
                </a:ext>
              </a:extLst>
            </p:cNvPr>
            <p:cNvCxnSpPr>
              <a:cxnSpLocks/>
            </p:cNvCxnSpPr>
            <p:nvPr/>
          </p:nvCxnSpPr>
          <p:spPr>
            <a:xfrm flipV="1">
              <a:off x="5458491" y="3021170"/>
              <a:ext cx="0" cy="71899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1BD60EB3-7B81-CD4B-9147-5A77E47AD3E5}"/>
                </a:ext>
              </a:extLst>
            </p:cNvPr>
            <p:cNvCxnSpPr>
              <a:cxnSpLocks/>
            </p:cNvCxnSpPr>
            <p:nvPr/>
          </p:nvCxnSpPr>
          <p:spPr>
            <a:xfrm flipV="1">
              <a:off x="5825294" y="3009095"/>
              <a:ext cx="0" cy="71899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0E681EAF-8B96-A840-8954-0F50A33258A8}"/>
                </a:ext>
              </a:extLst>
            </p:cNvPr>
            <p:cNvCxnSpPr>
              <a:cxnSpLocks/>
            </p:cNvCxnSpPr>
            <p:nvPr/>
          </p:nvCxnSpPr>
          <p:spPr>
            <a:xfrm flipV="1">
              <a:off x="6365508" y="3021170"/>
              <a:ext cx="0" cy="71899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9" name="Group 188">
            <a:extLst>
              <a:ext uri="{FF2B5EF4-FFF2-40B4-BE49-F238E27FC236}">
                <a16:creationId xmlns:a16="http://schemas.microsoft.com/office/drawing/2014/main" id="{F4A4964C-357A-0840-AE84-F00DB8D06027}"/>
              </a:ext>
            </a:extLst>
          </p:cNvPr>
          <p:cNvGrpSpPr/>
          <p:nvPr/>
        </p:nvGrpSpPr>
        <p:grpSpPr>
          <a:xfrm>
            <a:off x="1316314" y="1859929"/>
            <a:ext cx="3122365" cy="3965836"/>
            <a:chOff x="285635" y="1425996"/>
            <a:chExt cx="3122365" cy="3965836"/>
          </a:xfrm>
        </p:grpSpPr>
        <p:sp>
          <p:nvSpPr>
            <p:cNvPr id="2" name="TextBox 1">
              <a:extLst>
                <a:ext uri="{FF2B5EF4-FFF2-40B4-BE49-F238E27FC236}">
                  <a16:creationId xmlns:a16="http://schemas.microsoft.com/office/drawing/2014/main" id="{4E2DE8A7-DEAA-FB43-AA21-B57736809FE7}"/>
                </a:ext>
              </a:extLst>
            </p:cNvPr>
            <p:cNvSpPr txBox="1"/>
            <p:nvPr/>
          </p:nvSpPr>
          <p:spPr>
            <a:xfrm>
              <a:off x="1160756" y="1425996"/>
              <a:ext cx="1984917" cy="369332"/>
            </a:xfrm>
            <a:prstGeom prst="rect">
              <a:avLst/>
            </a:prstGeom>
            <a:noFill/>
          </p:spPr>
          <p:txBody>
            <a:bodyPr wrap="square" rtlCol="0">
              <a:spAutoFit/>
            </a:bodyPr>
            <a:lstStyle/>
            <a:p>
              <a:r>
                <a:rPr lang="en-US" dirty="0"/>
                <a:t>Phase modulator</a:t>
              </a:r>
            </a:p>
          </p:txBody>
        </p:sp>
        <p:grpSp>
          <p:nvGrpSpPr>
            <p:cNvPr id="8" name="Group 209">
              <a:extLst>
                <a:ext uri="{FF2B5EF4-FFF2-40B4-BE49-F238E27FC236}">
                  <a16:creationId xmlns:a16="http://schemas.microsoft.com/office/drawing/2014/main" id="{F027A9DD-A68A-B840-9C1A-FCC943C32746}"/>
                </a:ext>
              </a:extLst>
            </p:cNvPr>
            <p:cNvGrpSpPr>
              <a:grpSpLocks/>
            </p:cNvGrpSpPr>
            <p:nvPr/>
          </p:nvGrpSpPr>
          <p:grpSpPr bwMode="auto">
            <a:xfrm>
              <a:off x="2060652" y="2469643"/>
              <a:ext cx="152400" cy="762000"/>
              <a:chOff x="3935" y="1728"/>
              <a:chExt cx="96" cy="480"/>
            </a:xfrm>
          </p:grpSpPr>
          <p:sp>
            <p:nvSpPr>
              <p:cNvPr id="75" name="Arc 59">
                <a:extLst>
                  <a:ext uri="{FF2B5EF4-FFF2-40B4-BE49-F238E27FC236}">
                    <a16:creationId xmlns:a16="http://schemas.microsoft.com/office/drawing/2014/main" id="{52D2C109-7243-8245-9B2D-876AAAB4A028}"/>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6" name="Arc 60">
                <a:extLst>
                  <a:ext uri="{FF2B5EF4-FFF2-40B4-BE49-F238E27FC236}">
                    <a16:creationId xmlns:a16="http://schemas.microsoft.com/office/drawing/2014/main" id="{5C087E87-A805-544A-8A48-1B558FC0D444}"/>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7" name="Arc 61">
                <a:extLst>
                  <a:ext uri="{FF2B5EF4-FFF2-40B4-BE49-F238E27FC236}">
                    <a16:creationId xmlns:a16="http://schemas.microsoft.com/office/drawing/2014/main" id="{25376C18-5965-F247-864A-3305891AB74A}"/>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8" name="Arc 62">
                <a:extLst>
                  <a:ext uri="{FF2B5EF4-FFF2-40B4-BE49-F238E27FC236}">
                    <a16:creationId xmlns:a16="http://schemas.microsoft.com/office/drawing/2014/main" id="{2FC9CCED-F6F6-3845-B4D0-49819063EED4}"/>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9" name="Line 63">
                <a:extLst>
                  <a:ext uri="{FF2B5EF4-FFF2-40B4-BE49-F238E27FC236}">
                    <a16:creationId xmlns:a16="http://schemas.microsoft.com/office/drawing/2014/main" id="{808CD854-3695-9A45-BF4D-3FB1BF59D5F3}"/>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 name="Line 64">
                <a:extLst>
                  <a:ext uri="{FF2B5EF4-FFF2-40B4-BE49-F238E27FC236}">
                    <a16:creationId xmlns:a16="http://schemas.microsoft.com/office/drawing/2014/main" id="{4F0CBFAD-1F1F-B443-8455-815CBCD5DB2B}"/>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 name="Arc 65">
                <a:extLst>
                  <a:ext uri="{FF2B5EF4-FFF2-40B4-BE49-F238E27FC236}">
                    <a16:creationId xmlns:a16="http://schemas.microsoft.com/office/drawing/2014/main" id="{49E8AF46-114B-0342-B169-9A910908E462}"/>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2" name="Arc 66">
                <a:extLst>
                  <a:ext uri="{FF2B5EF4-FFF2-40B4-BE49-F238E27FC236}">
                    <a16:creationId xmlns:a16="http://schemas.microsoft.com/office/drawing/2014/main" id="{A13E333E-E643-D241-BCB0-E276A2B26A07}"/>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3" name="Arc 67">
                <a:extLst>
                  <a:ext uri="{FF2B5EF4-FFF2-40B4-BE49-F238E27FC236}">
                    <a16:creationId xmlns:a16="http://schemas.microsoft.com/office/drawing/2014/main" id="{29A323B8-9131-6445-9A15-D7814DFCEA13}"/>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4" name="Arc 68">
                <a:extLst>
                  <a:ext uri="{FF2B5EF4-FFF2-40B4-BE49-F238E27FC236}">
                    <a16:creationId xmlns:a16="http://schemas.microsoft.com/office/drawing/2014/main" id="{FFCBB524-BEFC-0749-8FD1-D5A0A73CA2E1}"/>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5" name="Arc 69">
                <a:extLst>
                  <a:ext uri="{FF2B5EF4-FFF2-40B4-BE49-F238E27FC236}">
                    <a16:creationId xmlns:a16="http://schemas.microsoft.com/office/drawing/2014/main" id="{EAE41F3C-4C79-0849-8083-0660920A3E3E}"/>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6" name="Arc 70">
                <a:extLst>
                  <a:ext uri="{FF2B5EF4-FFF2-40B4-BE49-F238E27FC236}">
                    <a16:creationId xmlns:a16="http://schemas.microsoft.com/office/drawing/2014/main" id="{04761FCA-1B03-2D4C-9D02-09FE55270A3D}"/>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7" name="Arc 71">
                <a:extLst>
                  <a:ext uri="{FF2B5EF4-FFF2-40B4-BE49-F238E27FC236}">
                    <a16:creationId xmlns:a16="http://schemas.microsoft.com/office/drawing/2014/main" id="{917DA46D-B10A-7C47-80F0-920EAA71CAE8}"/>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0" name="Group 210">
              <a:extLst>
                <a:ext uri="{FF2B5EF4-FFF2-40B4-BE49-F238E27FC236}">
                  <a16:creationId xmlns:a16="http://schemas.microsoft.com/office/drawing/2014/main" id="{27AAB0DD-DB27-4B40-876A-3798FB0CCE1C}"/>
                </a:ext>
              </a:extLst>
            </p:cNvPr>
            <p:cNvGrpSpPr>
              <a:grpSpLocks/>
            </p:cNvGrpSpPr>
            <p:nvPr/>
          </p:nvGrpSpPr>
          <p:grpSpPr bwMode="auto">
            <a:xfrm rot="5400000">
              <a:off x="960417" y="2830422"/>
              <a:ext cx="304800" cy="762000"/>
              <a:chOff x="3216" y="1728"/>
              <a:chExt cx="192" cy="480"/>
            </a:xfrm>
          </p:grpSpPr>
          <p:sp>
            <p:nvSpPr>
              <p:cNvPr id="71" name="Line 8">
                <a:extLst>
                  <a:ext uri="{FF2B5EF4-FFF2-40B4-BE49-F238E27FC236}">
                    <a16:creationId xmlns:a16="http://schemas.microsoft.com/office/drawing/2014/main" id="{E67E5CE1-32AD-C942-B00C-9C7E4F01EBBA}"/>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 name="Line 9">
                <a:extLst>
                  <a:ext uri="{FF2B5EF4-FFF2-40B4-BE49-F238E27FC236}">
                    <a16:creationId xmlns:a16="http://schemas.microsoft.com/office/drawing/2014/main" id="{5EC87BCF-A9C1-A14D-8FF1-02862A1A69E5}"/>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 name="Line 10">
                <a:extLst>
                  <a:ext uri="{FF2B5EF4-FFF2-40B4-BE49-F238E27FC236}">
                    <a16:creationId xmlns:a16="http://schemas.microsoft.com/office/drawing/2014/main" id="{590E10A8-BB62-3C44-B901-1AFFD6341E16}"/>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 name="Line 11">
                <a:extLst>
                  <a:ext uri="{FF2B5EF4-FFF2-40B4-BE49-F238E27FC236}">
                    <a16:creationId xmlns:a16="http://schemas.microsoft.com/office/drawing/2014/main" id="{B10AA837-719E-894D-BD55-7A37CA760D9C}"/>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 name="Group 10">
              <a:extLst>
                <a:ext uri="{FF2B5EF4-FFF2-40B4-BE49-F238E27FC236}">
                  <a16:creationId xmlns:a16="http://schemas.microsoft.com/office/drawing/2014/main" id="{073423CE-8A06-5345-B303-E7223C4D605B}"/>
                </a:ext>
              </a:extLst>
            </p:cNvPr>
            <p:cNvGrpSpPr/>
            <p:nvPr/>
          </p:nvGrpSpPr>
          <p:grpSpPr>
            <a:xfrm>
              <a:off x="1369749" y="3264772"/>
              <a:ext cx="762000" cy="1219200"/>
              <a:chOff x="2362200" y="1905000"/>
              <a:chExt cx="762000" cy="1219200"/>
            </a:xfrm>
          </p:grpSpPr>
          <p:cxnSp>
            <p:nvCxnSpPr>
              <p:cNvPr id="61" name="Straight Connector 60">
                <a:extLst>
                  <a:ext uri="{FF2B5EF4-FFF2-40B4-BE49-F238E27FC236}">
                    <a16:creationId xmlns:a16="http://schemas.microsoft.com/office/drawing/2014/main" id="{8EB86725-6CE2-2A4E-991F-68D799833CE7}"/>
                  </a:ext>
                </a:extLst>
              </p:cNvPr>
              <p:cNvCxnSpPr/>
              <p:nvPr/>
            </p:nvCxnSpPr>
            <p:spPr bwMode="auto">
              <a:xfrm>
                <a:off x="2819400" y="2209800"/>
                <a:ext cx="0" cy="640080"/>
              </a:xfrm>
              <a:prstGeom prst="line">
                <a:avLst/>
              </a:prstGeom>
              <a:solidFill>
                <a:schemeClr val="accent1"/>
              </a:solidFill>
              <a:ln w="31750" cap="flat" cmpd="sng" algn="ctr">
                <a:solidFill>
                  <a:schemeClr val="tx1"/>
                </a:solidFill>
                <a:prstDash val="solid"/>
                <a:round/>
                <a:headEnd type="none" w="med" len="med"/>
                <a:tailEnd type="none" w="med" len="med"/>
              </a:ln>
              <a:effectLst/>
            </p:spPr>
          </p:cxnSp>
          <p:cxnSp>
            <p:nvCxnSpPr>
              <p:cNvPr id="63" name="Straight Connector 62">
                <a:extLst>
                  <a:ext uri="{FF2B5EF4-FFF2-40B4-BE49-F238E27FC236}">
                    <a16:creationId xmlns:a16="http://schemas.microsoft.com/office/drawing/2014/main" id="{2FBC7B1B-C5E4-9D4E-8643-CC9B6CA904C8}"/>
                  </a:ext>
                </a:extLst>
              </p:cNvPr>
              <p:cNvCxnSpPr/>
              <p:nvPr/>
            </p:nvCxnSpPr>
            <p:spPr bwMode="auto">
              <a:xfrm>
                <a:off x="3124200" y="1905000"/>
                <a:ext cx="0" cy="45720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64" name="Straight Connector 63">
                <a:extLst>
                  <a:ext uri="{FF2B5EF4-FFF2-40B4-BE49-F238E27FC236}">
                    <a16:creationId xmlns:a16="http://schemas.microsoft.com/office/drawing/2014/main" id="{3665A855-E3C0-E44C-A633-8EA219E88A8B}"/>
                  </a:ext>
                </a:extLst>
              </p:cNvPr>
              <p:cNvCxnSpPr>
                <a:cxnSpLocks/>
              </p:cNvCxnSpPr>
              <p:nvPr/>
            </p:nvCxnSpPr>
            <p:spPr bwMode="auto">
              <a:xfrm>
                <a:off x="2819400" y="2362200"/>
                <a:ext cx="304800"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65" name="Straight Connector 64">
                <a:extLst>
                  <a:ext uri="{FF2B5EF4-FFF2-40B4-BE49-F238E27FC236}">
                    <a16:creationId xmlns:a16="http://schemas.microsoft.com/office/drawing/2014/main" id="{5DE4F9AA-8AD9-5845-B563-1D560EA20683}"/>
                  </a:ext>
                </a:extLst>
              </p:cNvPr>
              <p:cNvCxnSpPr>
                <a:cxnSpLocks/>
              </p:cNvCxnSpPr>
              <p:nvPr/>
            </p:nvCxnSpPr>
            <p:spPr bwMode="auto">
              <a:xfrm>
                <a:off x="2819400" y="2667000"/>
                <a:ext cx="304800"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66" name="Straight Connector 65">
                <a:extLst>
                  <a:ext uri="{FF2B5EF4-FFF2-40B4-BE49-F238E27FC236}">
                    <a16:creationId xmlns:a16="http://schemas.microsoft.com/office/drawing/2014/main" id="{4E37789A-4E5E-DD40-A976-1EF8C932B1DE}"/>
                  </a:ext>
                </a:extLst>
              </p:cNvPr>
              <p:cNvCxnSpPr/>
              <p:nvPr/>
            </p:nvCxnSpPr>
            <p:spPr bwMode="auto">
              <a:xfrm>
                <a:off x="3124200" y="2667000"/>
                <a:ext cx="0" cy="45720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67" name="Straight Arrow Connector 66">
                <a:extLst>
                  <a:ext uri="{FF2B5EF4-FFF2-40B4-BE49-F238E27FC236}">
                    <a16:creationId xmlns:a16="http://schemas.microsoft.com/office/drawing/2014/main" id="{252A649E-2E28-F54E-847B-AB5298939B34}"/>
                  </a:ext>
                </a:extLst>
              </p:cNvPr>
              <p:cNvCxnSpPr>
                <a:cxnSpLocks/>
              </p:cNvCxnSpPr>
              <p:nvPr/>
            </p:nvCxnSpPr>
            <p:spPr bwMode="auto">
              <a:xfrm>
                <a:off x="2362200" y="2514600"/>
                <a:ext cx="457200" cy="0"/>
              </a:xfrm>
              <a:prstGeom prst="straightConnector1">
                <a:avLst/>
              </a:prstGeom>
              <a:solidFill>
                <a:schemeClr val="accent1"/>
              </a:solidFill>
              <a:ln w="25400" cap="flat" cmpd="sng" algn="ctr">
                <a:solidFill>
                  <a:schemeClr val="tx1"/>
                </a:solidFill>
                <a:prstDash val="solid"/>
                <a:round/>
                <a:headEnd type="none" w="med" len="med"/>
                <a:tailEnd type="triangle"/>
              </a:ln>
              <a:effectLst/>
            </p:spPr>
          </p:cxnSp>
          <p:sp>
            <p:nvSpPr>
              <p:cNvPr id="68" name="TextBox 67">
                <a:extLst>
                  <a:ext uri="{FF2B5EF4-FFF2-40B4-BE49-F238E27FC236}">
                    <a16:creationId xmlns:a16="http://schemas.microsoft.com/office/drawing/2014/main" id="{791E45C0-495F-AC46-B6E4-A5174B995354}"/>
                  </a:ext>
                </a:extLst>
              </p:cNvPr>
              <p:cNvSpPr txBox="1"/>
              <p:nvPr/>
            </p:nvSpPr>
            <p:spPr>
              <a:xfrm>
                <a:off x="2819400" y="1905000"/>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D</a:t>
                </a:r>
              </a:p>
            </p:txBody>
          </p:sp>
          <p:sp>
            <p:nvSpPr>
              <p:cNvPr id="69" name="TextBox 68">
                <a:extLst>
                  <a:ext uri="{FF2B5EF4-FFF2-40B4-BE49-F238E27FC236}">
                    <a16:creationId xmlns:a16="http://schemas.microsoft.com/office/drawing/2014/main" id="{1469970E-BB08-3245-A124-734E4045085B}"/>
                  </a:ext>
                </a:extLst>
              </p:cNvPr>
              <p:cNvSpPr txBox="1"/>
              <p:nvPr/>
            </p:nvSpPr>
            <p:spPr>
              <a:xfrm>
                <a:off x="2819400" y="2664023"/>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S</a:t>
                </a:r>
              </a:p>
            </p:txBody>
          </p:sp>
          <p:sp>
            <p:nvSpPr>
              <p:cNvPr id="70" name="TextBox 69">
                <a:extLst>
                  <a:ext uri="{FF2B5EF4-FFF2-40B4-BE49-F238E27FC236}">
                    <a16:creationId xmlns:a16="http://schemas.microsoft.com/office/drawing/2014/main" id="{2D4E915D-899D-8349-A4AB-BB132706E325}"/>
                  </a:ext>
                </a:extLst>
              </p:cNvPr>
              <p:cNvSpPr txBox="1"/>
              <p:nvPr/>
            </p:nvSpPr>
            <p:spPr>
              <a:xfrm>
                <a:off x="2523243" y="2206823"/>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G</a:t>
                </a:r>
              </a:p>
            </p:txBody>
          </p:sp>
        </p:grpSp>
        <p:grpSp>
          <p:nvGrpSpPr>
            <p:cNvPr id="12" name="Group 220">
              <a:extLst>
                <a:ext uri="{FF2B5EF4-FFF2-40B4-BE49-F238E27FC236}">
                  <a16:creationId xmlns:a16="http://schemas.microsoft.com/office/drawing/2014/main" id="{12BE06AE-1CCD-4D4E-A094-08228BA6ABBF}"/>
                </a:ext>
              </a:extLst>
            </p:cNvPr>
            <p:cNvGrpSpPr>
              <a:grpSpLocks/>
            </p:cNvGrpSpPr>
            <p:nvPr/>
          </p:nvGrpSpPr>
          <p:grpSpPr bwMode="auto">
            <a:xfrm>
              <a:off x="1337097" y="4581530"/>
              <a:ext cx="152400" cy="304800"/>
              <a:chOff x="3264" y="3072"/>
              <a:chExt cx="96" cy="192"/>
            </a:xfrm>
          </p:grpSpPr>
          <p:sp>
            <p:nvSpPr>
              <p:cNvPr id="59" name="Line 17">
                <a:extLst>
                  <a:ext uri="{FF2B5EF4-FFF2-40B4-BE49-F238E27FC236}">
                    <a16:creationId xmlns:a16="http://schemas.microsoft.com/office/drawing/2014/main" id="{32FBD98E-0804-4349-A479-2A792540A873}"/>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60" name="Freeform 18">
                <a:extLst>
                  <a:ext uri="{FF2B5EF4-FFF2-40B4-BE49-F238E27FC236}">
                    <a16:creationId xmlns:a16="http://schemas.microsoft.com/office/drawing/2014/main" id="{376B5EF7-C416-6B4E-A014-E056E6350DF0}"/>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grpSp>
        <p:grpSp>
          <p:nvGrpSpPr>
            <p:cNvPr id="13" name="Group 13">
              <a:extLst>
                <a:ext uri="{FF2B5EF4-FFF2-40B4-BE49-F238E27FC236}">
                  <a16:creationId xmlns:a16="http://schemas.microsoft.com/office/drawing/2014/main" id="{1DF9D0D2-DB86-294B-8E5F-8FEFDFDE4D27}"/>
                </a:ext>
              </a:extLst>
            </p:cNvPr>
            <p:cNvGrpSpPr>
              <a:grpSpLocks noChangeAspect="1"/>
            </p:cNvGrpSpPr>
            <p:nvPr/>
          </p:nvGrpSpPr>
          <p:grpSpPr bwMode="auto">
            <a:xfrm>
              <a:off x="1339910" y="3803496"/>
              <a:ext cx="152400" cy="152400"/>
              <a:chOff x="1344" y="2064"/>
              <a:chExt cx="192" cy="192"/>
            </a:xfrm>
          </p:grpSpPr>
          <p:sp>
            <p:nvSpPr>
              <p:cNvPr id="57" name="Oval 14">
                <a:extLst>
                  <a:ext uri="{FF2B5EF4-FFF2-40B4-BE49-F238E27FC236}">
                    <a16:creationId xmlns:a16="http://schemas.microsoft.com/office/drawing/2014/main" id="{6F301511-77BC-C446-80E9-01FB45EB3A97}"/>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58" name="Rectangle 15">
                <a:extLst>
                  <a:ext uri="{FF2B5EF4-FFF2-40B4-BE49-F238E27FC236}">
                    <a16:creationId xmlns:a16="http://schemas.microsoft.com/office/drawing/2014/main" id="{7CD9EEB5-856C-0D4A-83E1-73E32F6F91E2}"/>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4" name="Group 210">
              <a:extLst>
                <a:ext uri="{FF2B5EF4-FFF2-40B4-BE49-F238E27FC236}">
                  <a16:creationId xmlns:a16="http://schemas.microsoft.com/office/drawing/2014/main" id="{DF384F23-3823-CE46-944A-C3B105794EA3}"/>
                </a:ext>
              </a:extLst>
            </p:cNvPr>
            <p:cNvGrpSpPr>
              <a:grpSpLocks/>
            </p:cNvGrpSpPr>
            <p:nvPr/>
          </p:nvGrpSpPr>
          <p:grpSpPr bwMode="auto">
            <a:xfrm rot="5400000">
              <a:off x="2368325" y="2823302"/>
              <a:ext cx="304800" cy="762000"/>
              <a:chOff x="3216" y="1728"/>
              <a:chExt cx="192" cy="480"/>
            </a:xfrm>
          </p:grpSpPr>
          <p:sp>
            <p:nvSpPr>
              <p:cNvPr id="53" name="Line 8">
                <a:extLst>
                  <a:ext uri="{FF2B5EF4-FFF2-40B4-BE49-F238E27FC236}">
                    <a16:creationId xmlns:a16="http://schemas.microsoft.com/office/drawing/2014/main" id="{8FB423A0-8286-D04D-8130-2FE0AC703DF1}"/>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 name="Line 9">
                <a:extLst>
                  <a:ext uri="{FF2B5EF4-FFF2-40B4-BE49-F238E27FC236}">
                    <a16:creationId xmlns:a16="http://schemas.microsoft.com/office/drawing/2014/main" id="{BA631686-2AA2-594A-8387-BF4219A84640}"/>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 name="Line 10">
                <a:extLst>
                  <a:ext uri="{FF2B5EF4-FFF2-40B4-BE49-F238E27FC236}">
                    <a16:creationId xmlns:a16="http://schemas.microsoft.com/office/drawing/2014/main" id="{7DBEFC5B-0B40-0440-8947-D9DF6198D0BC}"/>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 name="Line 11">
                <a:extLst>
                  <a:ext uri="{FF2B5EF4-FFF2-40B4-BE49-F238E27FC236}">
                    <a16:creationId xmlns:a16="http://schemas.microsoft.com/office/drawing/2014/main" id="{F43A0E37-0853-924F-99A0-B7400E7D98EC}"/>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5" name="Freeform 12">
              <a:extLst>
                <a:ext uri="{FF2B5EF4-FFF2-40B4-BE49-F238E27FC236}">
                  <a16:creationId xmlns:a16="http://schemas.microsoft.com/office/drawing/2014/main" id="{25A6C8B8-6757-B743-AD14-F9BA4B4D59C7}"/>
                </a:ext>
              </a:extLst>
            </p:cNvPr>
            <p:cNvSpPr>
              <a:spLocks noChangeAspect="1"/>
            </p:cNvSpPr>
            <p:nvPr/>
          </p:nvSpPr>
          <p:spPr bwMode="auto">
            <a:xfrm>
              <a:off x="1337093" y="3884339"/>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6" name="Group 13">
              <a:extLst>
                <a:ext uri="{FF2B5EF4-FFF2-40B4-BE49-F238E27FC236}">
                  <a16:creationId xmlns:a16="http://schemas.microsoft.com/office/drawing/2014/main" id="{D0C56BF4-6953-0C47-945B-661EFE47C59C}"/>
                </a:ext>
              </a:extLst>
            </p:cNvPr>
            <p:cNvGrpSpPr>
              <a:grpSpLocks noChangeAspect="1"/>
            </p:cNvGrpSpPr>
            <p:nvPr/>
          </p:nvGrpSpPr>
          <p:grpSpPr bwMode="auto">
            <a:xfrm>
              <a:off x="629155" y="3135074"/>
              <a:ext cx="152400" cy="152400"/>
              <a:chOff x="1344" y="2064"/>
              <a:chExt cx="192" cy="192"/>
            </a:xfrm>
          </p:grpSpPr>
          <p:sp>
            <p:nvSpPr>
              <p:cNvPr id="51" name="Oval 14">
                <a:extLst>
                  <a:ext uri="{FF2B5EF4-FFF2-40B4-BE49-F238E27FC236}">
                    <a16:creationId xmlns:a16="http://schemas.microsoft.com/office/drawing/2014/main" id="{46401080-0209-9149-B7D4-5749ECF49E5A}"/>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52" name="Rectangle 15">
                <a:extLst>
                  <a:ext uri="{FF2B5EF4-FFF2-40B4-BE49-F238E27FC236}">
                    <a16:creationId xmlns:a16="http://schemas.microsoft.com/office/drawing/2014/main" id="{CB90E18E-46AD-FA44-A80E-6C9C7BB4BBC5}"/>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7" name="Group 13">
              <a:extLst>
                <a:ext uri="{FF2B5EF4-FFF2-40B4-BE49-F238E27FC236}">
                  <a16:creationId xmlns:a16="http://schemas.microsoft.com/office/drawing/2014/main" id="{E7D804B6-B513-A642-8509-D6F1A085CFF1}"/>
                </a:ext>
              </a:extLst>
            </p:cNvPr>
            <p:cNvGrpSpPr>
              <a:grpSpLocks noChangeAspect="1"/>
            </p:cNvGrpSpPr>
            <p:nvPr/>
          </p:nvGrpSpPr>
          <p:grpSpPr bwMode="auto">
            <a:xfrm>
              <a:off x="2839219" y="3134967"/>
              <a:ext cx="152400" cy="152400"/>
              <a:chOff x="1344" y="2064"/>
              <a:chExt cx="192" cy="192"/>
            </a:xfrm>
          </p:grpSpPr>
          <p:sp>
            <p:nvSpPr>
              <p:cNvPr id="48" name="Oval 14">
                <a:extLst>
                  <a:ext uri="{FF2B5EF4-FFF2-40B4-BE49-F238E27FC236}">
                    <a16:creationId xmlns:a16="http://schemas.microsoft.com/office/drawing/2014/main" id="{279EDCD4-F846-9B4F-A165-F0B43545FC16}"/>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49" name="Rectangle 15">
                <a:extLst>
                  <a:ext uri="{FF2B5EF4-FFF2-40B4-BE49-F238E27FC236}">
                    <a16:creationId xmlns:a16="http://schemas.microsoft.com/office/drawing/2014/main" id="{FF38C630-C2B3-8A40-BB9C-16FF801F9AA6}"/>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8" name="Freeform 12">
              <a:extLst>
                <a:ext uri="{FF2B5EF4-FFF2-40B4-BE49-F238E27FC236}">
                  <a16:creationId xmlns:a16="http://schemas.microsoft.com/office/drawing/2014/main" id="{C7768AF1-79C4-2B48-A111-F4249025273E}"/>
                </a:ext>
              </a:extLst>
            </p:cNvPr>
            <p:cNvSpPr>
              <a:spLocks noChangeAspect="1"/>
            </p:cNvSpPr>
            <p:nvPr/>
          </p:nvSpPr>
          <p:spPr bwMode="auto">
            <a:xfrm>
              <a:off x="2055547" y="4417740"/>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0" name="Group 220">
              <a:extLst>
                <a:ext uri="{FF2B5EF4-FFF2-40B4-BE49-F238E27FC236}">
                  <a16:creationId xmlns:a16="http://schemas.microsoft.com/office/drawing/2014/main" id="{995AE462-EC70-0741-B68A-A01D9D1AE48A}"/>
                </a:ext>
              </a:extLst>
            </p:cNvPr>
            <p:cNvGrpSpPr>
              <a:grpSpLocks/>
            </p:cNvGrpSpPr>
            <p:nvPr/>
          </p:nvGrpSpPr>
          <p:grpSpPr bwMode="auto">
            <a:xfrm>
              <a:off x="2054323" y="5087032"/>
              <a:ext cx="152400" cy="304800"/>
              <a:chOff x="3264" y="3072"/>
              <a:chExt cx="96" cy="192"/>
            </a:xfrm>
          </p:grpSpPr>
          <p:sp>
            <p:nvSpPr>
              <p:cNvPr id="46" name="Line 17">
                <a:extLst>
                  <a:ext uri="{FF2B5EF4-FFF2-40B4-BE49-F238E27FC236}">
                    <a16:creationId xmlns:a16="http://schemas.microsoft.com/office/drawing/2014/main" id="{601370F7-30A1-8E4F-ABF9-DCBDE615C616}"/>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47" name="Freeform 18">
                <a:extLst>
                  <a:ext uri="{FF2B5EF4-FFF2-40B4-BE49-F238E27FC236}">
                    <a16:creationId xmlns:a16="http://schemas.microsoft.com/office/drawing/2014/main" id="{758B1939-FD60-F649-8406-054331258C69}"/>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gr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95357523-4C69-C34D-84B9-30C4E9D2A1B6}"/>
                    </a:ext>
                  </a:extLst>
                </p:cNvPr>
                <p:cNvSpPr txBox="1"/>
                <p:nvPr/>
              </p:nvSpPr>
              <p:spPr>
                <a:xfrm>
                  <a:off x="859818" y="2575390"/>
                  <a:ext cx="633999"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𝐵𝐿</m:t>
                            </m:r>
                          </m:sub>
                        </m:sSub>
                      </m:oMath>
                    </m:oMathPara>
                  </a14:m>
                  <a:endParaRPr lang="en-US" dirty="0"/>
                </a:p>
              </p:txBody>
            </p:sp>
          </mc:Choice>
          <mc:Fallback xmlns="">
            <p:sp>
              <p:nvSpPr>
                <p:cNvPr id="21" name="TextBox 20">
                  <a:extLst>
                    <a:ext uri="{FF2B5EF4-FFF2-40B4-BE49-F238E27FC236}">
                      <a16:creationId xmlns:a16="http://schemas.microsoft.com/office/drawing/2014/main" id="{95357523-4C69-C34D-84B9-30C4E9D2A1B6}"/>
                    </a:ext>
                  </a:extLst>
                </p:cNvPr>
                <p:cNvSpPr txBox="1">
                  <a:spLocks noRot="1" noChangeAspect="1" noMove="1" noResize="1" noEditPoints="1" noAdjustHandles="1" noChangeArrowheads="1" noChangeShapeType="1" noTextEdit="1"/>
                </p:cNvSpPr>
                <p:nvPr/>
              </p:nvSpPr>
              <p:spPr>
                <a:xfrm>
                  <a:off x="859818" y="2575390"/>
                  <a:ext cx="633999"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D028B39-9E6A-764F-B805-FF9B71C76A10}"/>
                    </a:ext>
                  </a:extLst>
                </p:cNvPr>
                <p:cNvSpPr txBox="1"/>
                <p:nvPr/>
              </p:nvSpPr>
              <p:spPr>
                <a:xfrm>
                  <a:off x="1454201" y="4238939"/>
                  <a:ext cx="633999"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oMath>
                    </m:oMathPara>
                  </a14:m>
                  <a:endParaRPr lang="en-US" dirty="0"/>
                </a:p>
              </p:txBody>
            </p:sp>
          </mc:Choice>
          <mc:Fallback xmlns="">
            <p:sp>
              <p:nvSpPr>
                <p:cNvPr id="22" name="TextBox 21">
                  <a:extLst>
                    <a:ext uri="{FF2B5EF4-FFF2-40B4-BE49-F238E27FC236}">
                      <a16:creationId xmlns:a16="http://schemas.microsoft.com/office/drawing/2014/main" id="{4D028B39-9E6A-764F-B805-FF9B71C76A10}"/>
                    </a:ext>
                  </a:extLst>
                </p:cNvPr>
                <p:cNvSpPr txBox="1">
                  <a:spLocks noRot="1" noChangeAspect="1" noMove="1" noResize="1" noEditPoints="1" noAdjustHandles="1" noChangeArrowheads="1" noChangeShapeType="1" noTextEdit="1"/>
                </p:cNvSpPr>
                <p:nvPr/>
              </p:nvSpPr>
              <p:spPr>
                <a:xfrm>
                  <a:off x="1454201" y="4238939"/>
                  <a:ext cx="633999"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8E48CC4-9A2B-E14C-9D5F-FD1D0921B474}"/>
                    </a:ext>
                  </a:extLst>
                </p:cNvPr>
                <p:cNvSpPr txBox="1"/>
                <p:nvPr/>
              </p:nvSpPr>
              <p:spPr>
                <a:xfrm>
                  <a:off x="1660495" y="4663848"/>
                  <a:ext cx="633999"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𝑆</m:t>
                            </m:r>
                          </m:sub>
                        </m:sSub>
                      </m:oMath>
                    </m:oMathPara>
                  </a14:m>
                  <a:endParaRPr lang="en-US" dirty="0"/>
                </a:p>
              </p:txBody>
            </p:sp>
          </mc:Choice>
          <mc:Fallback xmlns="">
            <p:sp>
              <p:nvSpPr>
                <p:cNvPr id="23" name="TextBox 22">
                  <a:extLst>
                    <a:ext uri="{FF2B5EF4-FFF2-40B4-BE49-F238E27FC236}">
                      <a16:creationId xmlns:a16="http://schemas.microsoft.com/office/drawing/2014/main" id="{28E48CC4-9A2B-E14C-9D5F-FD1D0921B474}"/>
                    </a:ext>
                  </a:extLst>
                </p:cNvPr>
                <p:cNvSpPr txBox="1">
                  <a:spLocks noRot="1" noChangeAspect="1" noMove="1" noResize="1" noEditPoints="1" noAdjustHandles="1" noChangeArrowheads="1" noChangeShapeType="1" noTextEdit="1"/>
                </p:cNvSpPr>
                <p:nvPr/>
              </p:nvSpPr>
              <p:spPr>
                <a:xfrm>
                  <a:off x="1660495" y="4663848"/>
                  <a:ext cx="633999" cy="369332"/>
                </a:xfrm>
                <a:prstGeom prst="rect">
                  <a:avLst/>
                </a:prstGeom>
                <a:blipFill>
                  <a:blip r:embed="rId12"/>
                  <a:stretch>
                    <a:fillRect/>
                  </a:stretch>
                </a:blipFill>
              </p:spPr>
              <p:txBody>
                <a:bodyPr/>
                <a:lstStyle/>
                <a:p>
                  <a:r>
                    <a:rPr lang="en-US">
                      <a:noFill/>
                    </a:rPr>
                    <a:t> </a:t>
                  </a:r>
                </a:p>
              </p:txBody>
            </p:sp>
          </mc:Fallback>
        </mc:AlternateContent>
        <p:cxnSp>
          <p:nvCxnSpPr>
            <p:cNvPr id="24" name="Straight Connector 23">
              <a:extLst>
                <a:ext uri="{FF2B5EF4-FFF2-40B4-BE49-F238E27FC236}">
                  <a16:creationId xmlns:a16="http://schemas.microsoft.com/office/drawing/2014/main" id="{1BDC2DE4-97F2-A54F-80A8-F7B6905FAB54}"/>
                </a:ext>
              </a:extLst>
            </p:cNvPr>
            <p:cNvCxnSpPr>
              <a:cxnSpLocks/>
            </p:cNvCxnSpPr>
            <p:nvPr/>
          </p:nvCxnSpPr>
          <p:spPr>
            <a:xfrm flipV="1">
              <a:off x="2136924" y="2221627"/>
              <a:ext cx="0" cy="2583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5" name="Group 13">
              <a:extLst>
                <a:ext uri="{FF2B5EF4-FFF2-40B4-BE49-F238E27FC236}">
                  <a16:creationId xmlns:a16="http://schemas.microsoft.com/office/drawing/2014/main" id="{631B1EB0-C70D-3C48-82EF-DA287F3F8C23}"/>
                </a:ext>
              </a:extLst>
            </p:cNvPr>
            <p:cNvGrpSpPr>
              <a:grpSpLocks noChangeAspect="1"/>
            </p:cNvGrpSpPr>
            <p:nvPr/>
          </p:nvGrpSpPr>
          <p:grpSpPr bwMode="auto">
            <a:xfrm>
              <a:off x="2055656" y="2164635"/>
              <a:ext cx="152400" cy="152400"/>
              <a:chOff x="1344" y="2064"/>
              <a:chExt cx="192" cy="192"/>
            </a:xfrm>
          </p:grpSpPr>
          <p:sp>
            <p:nvSpPr>
              <p:cNvPr id="44" name="Oval 14">
                <a:extLst>
                  <a:ext uri="{FF2B5EF4-FFF2-40B4-BE49-F238E27FC236}">
                    <a16:creationId xmlns:a16="http://schemas.microsoft.com/office/drawing/2014/main" id="{77232456-87EE-3A4A-BDBA-88406E193D83}"/>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45" name="Rectangle 15">
                <a:extLst>
                  <a:ext uri="{FF2B5EF4-FFF2-40B4-BE49-F238E27FC236}">
                    <a16:creationId xmlns:a16="http://schemas.microsoft.com/office/drawing/2014/main" id="{BA53B8C2-BB0B-A64C-99E4-8EE232B39400}"/>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8A88B0D4-674F-B142-B6EE-2B264D14CA34}"/>
                    </a:ext>
                  </a:extLst>
                </p:cNvPr>
                <p:cNvSpPr txBox="1"/>
                <p:nvPr/>
              </p:nvSpPr>
              <p:spPr>
                <a:xfrm>
                  <a:off x="350392" y="2789076"/>
                  <a:ext cx="633999" cy="369332"/>
                </a:xfrm>
                <a:prstGeom prst="rect">
                  <a:avLst/>
                </a:prstGeom>
                <a:noFill/>
              </p:spPr>
              <p:txBody>
                <a:bodyPr wrap="square" rtlCol="0">
                  <a:spAutoFit/>
                </a:bodyPr>
                <a:lstStyle/>
                <a:p>
                  <a:pPr/>
                  <a14:m>
                    <m:oMathPara xmlns:m="http://schemas.openxmlformats.org/officeDocument/2006/math">
                      <m:oMathParaPr>
                        <m:jc m:val="left"/>
                      </m:oMathParaPr>
                      <m:oMath>
                        <m:r>
                          <a:rPr lang="en-US" b="0" i="1" smtClean="0">
                            <a:latin typeface="Cambria Math" panose="02040503050406030204" pitchFamily="18" charset="0"/>
                          </a:rPr>
                          <m:t>𝑅𝐹</m:t>
                        </m:r>
                      </m:oMath>
                    </m:oMathPara>
                  </a14:m>
                  <a:endParaRPr lang="en-US" dirty="0"/>
                </a:p>
              </p:txBody>
            </p:sp>
          </mc:Choice>
          <mc:Fallback xmlns="">
            <p:sp>
              <p:nvSpPr>
                <p:cNvPr id="27" name="TextBox 26">
                  <a:extLst>
                    <a:ext uri="{FF2B5EF4-FFF2-40B4-BE49-F238E27FC236}">
                      <a16:creationId xmlns:a16="http://schemas.microsoft.com/office/drawing/2014/main" id="{8A88B0D4-674F-B142-B6EE-2B264D14CA34}"/>
                    </a:ext>
                  </a:extLst>
                </p:cNvPr>
                <p:cNvSpPr txBox="1">
                  <a:spLocks noRot="1" noChangeAspect="1" noMove="1" noResize="1" noEditPoints="1" noAdjustHandles="1" noChangeArrowheads="1" noChangeShapeType="1" noTextEdit="1"/>
                </p:cNvSpPr>
                <p:nvPr/>
              </p:nvSpPr>
              <p:spPr>
                <a:xfrm>
                  <a:off x="350392" y="2789076"/>
                  <a:ext cx="633999"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A1C89521-8849-F54A-9A40-C66AFF0B2CB9}"/>
                    </a:ext>
                  </a:extLst>
                </p:cNvPr>
                <p:cNvSpPr txBox="1"/>
                <p:nvPr/>
              </p:nvSpPr>
              <p:spPr>
                <a:xfrm>
                  <a:off x="2707576" y="2771994"/>
                  <a:ext cx="633999"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𝑀</m:t>
                            </m:r>
                          </m:sub>
                        </m:sSub>
                      </m:oMath>
                    </m:oMathPara>
                  </a14:m>
                  <a:endParaRPr lang="en-US" dirty="0"/>
                </a:p>
              </p:txBody>
            </p:sp>
          </mc:Choice>
          <mc:Fallback xmlns="">
            <p:sp>
              <p:nvSpPr>
                <p:cNvPr id="28" name="TextBox 27">
                  <a:extLst>
                    <a:ext uri="{FF2B5EF4-FFF2-40B4-BE49-F238E27FC236}">
                      <a16:creationId xmlns:a16="http://schemas.microsoft.com/office/drawing/2014/main" id="{A1C89521-8849-F54A-9A40-C66AFF0B2CB9}"/>
                    </a:ext>
                  </a:extLst>
                </p:cNvPr>
                <p:cNvSpPr txBox="1">
                  <a:spLocks noRot="1" noChangeAspect="1" noMove="1" noResize="1" noEditPoints="1" noAdjustHandles="1" noChangeArrowheads="1" noChangeShapeType="1" noTextEdit="1"/>
                </p:cNvSpPr>
                <p:nvPr/>
              </p:nvSpPr>
              <p:spPr>
                <a:xfrm>
                  <a:off x="2707576" y="2771994"/>
                  <a:ext cx="633999"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01101A7-8DF2-0F48-BF4B-09A979CDACAD}"/>
                    </a:ext>
                  </a:extLst>
                </p:cNvPr>
                <p:cNvSpPr txBox="1"/>
                <p:nvPr/>
              </p:nvSpPr>
              <p:spPr>
                <a:xfrm>
                  <a:off x="1955517" y="1799850"/>
                  <a:ext cx="633999"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𝑐𝑐</m:t>
                            </m:r>
                          </m:sub>
                        </m:sSub>
                      </m:oMath>
                    </m:oMathPara>
                  </a14:m>
                  <a:endParaRPr lang="en-US" dirty="0"/>
                </a:p>
              </p:txBody>
            </p:sp>
          </mc:Choice>
          <mc:Fallback xmlns="">
            <p:sp>
              <p:nvSpPr>
                <p:cNvPr id="29" name="TextBox 28">
                  <a:extLst>
                    <a:ext uri="{FF2B5EF4-FFF2-40B4-BE49-F238E27FC236}">
                      <a16:creationId xmlns:a16="http://schemas.microsoft.com/office/drawing/2014/main" id="{201101A7-8DF2-0F48-BF4B-09A979CDACAD}"/>
                    </a:ext>
                  </a:extLst>
                </p:cNvPr>
                <p:cNvSpPr txBox="1">
                  <a:spLocks noRot="1" noChangeAspect="1" noMove="1" noResize="1" noEditPoints="1" noAdjustHandles="1" noChangeArrowheads="1" noChangeShapeType="1" noTextEdit="1"/>
                </p:cNvSpPr>
                <p:nvPr/>
              </p:nvSpPr>
              <p:spPr>
                <a:xfrm>
                  <a:off x="1955517" y="1799850"/>
                  <a:ext cx="633999" cy="369332"/>
                </a:xfrm>
                <a:prstGeom prst="rect">
                  <a:avLst/>
                </a:prstGeom>
                <a:blipFill>
                  <a:blip r:embed="rId15"/>
                  <a:stretch>
                    <a:fillRect/>
                  </a:stretch>
                </a:blipFill>
              </p:spPr>
              <p:txBody>
                <a:bodyPr/>
                <a:lstStyle/>
                <a:p>
                  <a:r>
                    <a:rPr lang="en-US">
                      <a:noFill/>
                    </a:rPr>
                    <a:t> </a:t>
                  </a:r>
                </a:p>
              </p:txBody>
            </p:sp>
          </mc:Fallback>
        </mc:AlternateContent>
        <p:grpSp>
          <p:nvGrpSpPr>
            <p:cNvPr id="88" name="Group 210">
              <a:extLst>
                <a:ext uri="{FF2B5EF4-FFF2-40B4-BE49-F238E27FC236}">
                  <a16:creationId xmlns:a16="http://schemas.microsoft.com/office/drawing/2014/main" id="{AAF18653-C8B5-8C49-812F-EB6AF1F94180}"/>
                </a:ext>
              </a:extLst>
            </p:cNvPr>
            <p:cNvGrpSpPr>
              <a:grpSpLocks/>
            </p:cNvGrpSpPr>
            <p:nvPr/>
          </p:nvGrpSpPr>
          <p:grpSpPr bwMode="auto">
            <a:xfrm>
              <a:off x="2527856" y="4029077"/>
              <a:ext cx="304800" cy="762000"/>
              <a:chOff x="3216" y="1728"/>
              <a:chExt cx="192" cy="480"/>
            </a:xfrm>
          </p:grpSpPr>
          <p:sp>
            <p:nvSpPr>
              <p:cNvPr id="89" name="Line 8">
                <a:extLst>
                  <a:ext uri="{FF2B5EF4-FFF2-40B4-BE49-F238E27FC236}">
                    <a16:creationId xmlns:a16="http://schemas.microsoft.com/office/drawing/2014/main" id="{A6EBF0EE-8A65-2243-9651-AFFB351B0187}"/>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 name="Line 9">
                <a:extLst>
                  <a:ext uri="{FF2B5EF4-FFF2-40B4-BE49-F238E27FC236}">
                    <a16:creationId xmlns:a16="http://schemas.microsoft.com/office/drawing/2014/main" id="{F3D90F39-B05E-8242-BA57-52A84069FA19}"/>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 name="Line 10">
                <a:extLst>
                  <a:ext uri="{FF2B5EF4-FFF2-40B4-BE49-F238E27FC236}">
                    <a16:creationId xmlns:a16="http://schemas.microsoft.com/office/drawing/2014/main" id="{1889591E-49EC-A148-88C1-60E2B30F45C9}"/>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 name="Line 11">
                <a:extLst>
                  <a:ext uri="{FF2B5EF4-FFF2-40B4-BE49-F238E27FC236}">
                    <a16:creationId xmlns:a16="http://schemas.microsoft.com/office/drawing/2014/main" id="{171B7C19-8F9F-6E43-B002-7E3B94E9EACA}"/>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93" name="Straight Connector 92">
              <a:extLst>
                <a:ext uri="{FF2B5EF4-FFF2-40B4-BE49-F238E27FC236}">
                  <a16:creationId xmlns:a16="http://schemas.microsoft.com/office/drawing/2014/main" id="{D82E7DEB-9D1C-F84D-A60D-B5A96AF65912}"/>
                </a:ext>
              </a:extLst>
            </p:cNvPr>
            <p:cNvCxnSpPr>
              <a:cxnSpLocks/>
            </p:cNvCxnSpPr>
            <p:nvPr/>
          </p:nvCxnSpPr>
          <p:spPr>
            <a:xfrm>
              <a:off x="2109475" y="4022429"/>
              <a:ext cx="57924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5" name="Group 220">
              <a:extLst>
                <a:ext uri="{FF2B5EF4-FFF2-40B4-BE49-F238E27FC236}">
                  <a16:creationId xmlns:a16="http://schemas.microsoft.com/office/drawing/2014/main" id="{534E113C-81AE-C34A-8D07-8E1E05504F41}"/>
                </a:ext>
              </a:extLst>
            </p:cNvPr>
            <p:cNvGrpSpPr>
              <a:grpSpLocks/>
            </p:cNvGrpSpPr>
            <p:nvPr/>
          </p:nvGrpSpPr>
          <p:grpSpPr bwMode="auto">
            <a:xfrm>
              <a:off x="2606877" y="4746433"/>
              <a:ext cx="152400" cy="304800"/>
              <a:chOff x="3264" y="3072"/>
              <a:chExt cx="96" cy="192"/>
            </a:xfrm>
          </p:grpSpPr>
          <p:sp>
            <p:nvSpPr>
              <p:cNvPr id="96" name="Line 17">
                <a:extLst>
                  <a:ext uri="{FF2B5EF4-FFF2-40B4-BE49-F238E27FC236}">
                    <a16:creationId xmlns:a16="http://schemas.microsoft.com/office/drawing/2014/main" id="{378CAA67-AC2F-B942-AC2D-58E35ECBA124}"/>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97" name="Freeform 18">
                <a:extLst>
                  <a:ext uri="{FF2B5EF4-FFF2-40B4-BE49-F238E27FC236}">
                    <a16:creationId xmlns:a16="http://schemas.microsoft.com/office/drawing/2014/main" id="{500A56E0-634C-C44D-84B0-E2351BCA8D29}"/>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grpSp>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8F538F09-ADD5-AD43-AE9E-3E269204FF50}"/>
                    </a:ext>
                  </a:extLst>
                </p:cNvPr>
                <p:cNvSpPr txBox="1"/>
                <p:nvPr/>
              </p:nvSpPr>
              <p:spPr>
                <a:xfrm>
                  <a:off x="2249248" y="2414979"/>
                  <a:ext cx="633999" cy="369332"/>
                </a:xfrm>
                <a:prstGeom prst="rect">
                  <a:avLst/>
                </a:prstGeom>
                <a:noFill/>
              </p:spPr>
              <p:txBody>
                <a:bodyPr wrap="square" rtlCol="0">
                  <a:spAutoFit/>
                </a:bodyPr>
                <a:lstStyle/>
                <a:p>
                  <a:pPr/>
                  <a14:m>
                    <m:oMathPara xmlns:m="http://schemas.openxmlformats.org/officeDocument/2006/math">
                      <m:oMathParaPr>
                        <m:jc m:val="left"/>
                      </m:oMathParaPr>
                      <m:oMath>
                        <m:r>
                          <a:rPr lang="en-US" b="0" i="1" smtClean="0">
                            <a:latin typeface="Cambria Math" panose="02040503050406030204" pitchFamily="18" charset="0"/>
                          </a:rPr>
                          <m:t>𝑅𝐹𝐶</m:t>
                        </m:r>
                      </m:oMath>
                    </m:oMathPara>
                  </a14:m>
                  <a:endParaRPr lang="en-US" dirty="0"/>
                </a:p>
              </p:txBody>
            </p:sp>
          </mc:Choice>
          <mc:Fallback xmlns="">
            <p:sp>
              <p:nvSpPr>
                <p:cNvPr id="98" name="TextBox 97">
                  <a:extLst>
                    <a:ext uri="{FF2B5EF4-FFF2-40B4-BE49-F238E27FC236}">
                      <a16:creationId xmlns:a16="http://schemas.microsoft.com/office/drawing/2014/main" id="{8F538F09-ADD5-AD43-AE9E-3E269204FF50}"/>
                    </a:ext>
                  </a:extLst>
                </p:cNvPr>
                <p:cNvSpPr txBox="1">
                  <a:spLocks noRot="1" noChangeAspect="1" noMove="1" noResize="1" noEditPoints="1" noAdjustHandles="1" noChangeArrowheads="1" noChangeShapeType="1" noTextEdit="1"/>
                </p:cNvSpPr>
                <p:nvPr/>
              </p:nvSpPr>
              <p:spPr>
                <a:xfrm>
                  <a:off x="2249248" y="2414979"/>
                  <a:ext cx="633999" cy="369332"/>
                </a:xfrm>
                <a:prstGeom prst="rect">
                  <a:avLst/>
                </a:prstGeom>
                <a:blipFill>
                  <a:blip r:embed="rId16"/>
                  <a:stretch>
                    <a:fillRect/>
                  </a:stretch>
                </a:blipFill>
              </p:spPr>
              <p:txBody>
                <a:bodyPr/>
                <a:lstStyle/>
                <a:p>
                  <a:r>
                    <a:rPr lang="en-US">
                      <a:noFill/>
                    </a:rPr>
                    <a:t> </a:t>
                  </a:r>
                </a:p>
              </p:txBody>
            </p:sp>
          </mc:Fallback>
        </mc:AlternateContent>
        <p:grpSp>
          <p:nvGrpSpPr>
            <p:cNvPr id="99" name="Group 210">
              <a:extLst>
                <a:ext uri="{FF2B5EF4-FFF2-40B4-BE49-F238E27FC236}">
                  <a16:creationId xmlns:a16="http://schemas.microsoft.com/office/drawing/2014/main" id="{71F718C8-F270-0E47-B6A9-DAB5F7F0387C}"/>
                </a:ext>
              </a:extLst>
            </p:cNvPr>
            <p:cNvGrpSpPr>
              <a:grpSpLocks/>
            </p:cNvGrpSpPr>
            <p:nvPr/>
          </p:nvGrpSpPr>
          <p:grpSpPr bwMode="auto">
            <a:xfrm rot="5400000">
              <a:off x="1657915" y="2823697"/>
              <a:ext cx="304800" cy="762000"/>
              <a:chOff x="3216" y="1728"/>
              <a:chExt cx="192" cy="480"/>
            </a:xfrm>
          </p:grpSpPr>
          <p:sp>
            <p:nvSpPr>
              <p:cNvPr id="100" name="Line 8">
                <a:extLst>
                  <a:ext uri="{FF2B5EF4-FFF2-40B4-BE49-F238E27FC236}">
                    <a16:creationId xmlns:a16="http://schemas.microsoft.com/office/drawing/2014/main" id="{032C8420-54AE-4D46-83B2-E791EA4963F1}"/>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 name="Line 9">
                <a:extLst>
                  <a:ext uri="{FF2B5EF4-FFF2-40B4-BE49-F238E27FC236}">
                    <a16:creationId xmlns:a16="http://schemas.microsoft.com/office/drawing/2014/main" id="{652A012D-496E-F54A-AEB3-4F92F66FA582}"/>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 name="Line 10">
                <a:extLst>
                  <a:ext uri="{FF2B5EF4-FFF2-40B4-BE49-F238E27FC236}">
                    <a16:creationId xmlns:a16="http://schemas.microsoft.com/office/drawing/2014/main" id="{D6E4B2B3-CD0E-BB49-B767-36DA71CE6289}"/>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 name="Line 11">
                <a:extLst>
                  <a:ext uri="{FF2B5EF4-FFF2-40B4-BE49-F238E27FC236}">
                    <a16:creationId xmlns:a16="http://schemas.microsoft.com/office/drawing/2014/main" id="{58DF4A60-2F2C-0C45-A3B6-E6E680E539A2}"/>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3168E615-1956-3447-A516-71375F48B205}"/>
                    </a:ext>
                  </a:extLst>
                </p:cNvPr>
                <p:cNvSpPr txBox="1"/>
                <p:nvPr/>
              </p:nvSpPr>
              <p:spPr>
                <a:xfrm>
                  <a:off x="1504596" y="2628317"/>
                  <a:ext cx="633999" cy="369332"/>
                </a:xfrm>
                <a:prstGeom prst="rect">
                  <a:avLst/>
                </a:prstGeom>
                <a:noFill/>
              </p:spPr>
              <p:txBody>
                <a:bodyPr wrap="square" rtlCol="0">
                  <a:spAutoFit/>
                </a:bodyPr>
                <a:lstStyle/>
                <a:p>
                  <a:pPr/>
                  <a14:m>
                    <m:oMathPara xmlns:m="http://schemas.openxmlformats.org/officeDocument/2006/math">
                      <m:oMathParaPr>
                        <m:jc m:val="left"/>
                      </m:oMathParaPr>
                      <m:oMath>
                        <m:r>
                          <a:rPr lang="en-US" b="0" i="1" smtClean="0">
                            <a:latin typeface="Cambria Math" panose="02040503050406030204" pitchFamily="18" charset="0"/>
                          </a:rPr>
                          <m:t>𝐶</m:t>
                        </m:r>
                      </m:oMath>
                    </m:oMathPara>
                  </a14:m>
                  <a:endParaRPr lang="en-US" dirty="0"/>
                </a:p>
              </p:txBody>
            </p:sp>
          </mc:Choice>
          <mc:Fallback xmlns="">
            <p:sp>
              <p:nvSpPr>
                <p:cNvPr id="104" name="TextBox 103">
                  <a:extLst>
                    <a:ext uri="{FF2B5EF4-FFF2-40B4-BE49-F238E27FC236}">
                      <a16:creationId xmlns:a16="http://schemas.microsoft.com/office/drawing/2014/main" id="{3168E615-1956-3447-A516-71375F48B205}"/>
                    </a:ext>
                  </a:extLst>
                </p:cNvPr>
                <p:cNvSpPr txBox="1">
                  <a:spLocks noRot="1" noChangeAspect="1" noMove="1" noResize="1" noEditPoints="1" noAdjustHandles="1" noChangeArrowheads="1" noChangeShapeType="1" noTextEdit="1"/>
                </p:cNvSpPr>
                <p:nvPr/>
              </p:nvSpPr>
              <p:spPr>
                <a:xfrm>
                  <a:off x="1504596" y="2628317"/>
                  <a:ext cx="633999" cy="369332"/>
                </a:xfrm>
                <a:prstGeom prst="rect">
                  <a:avLst/>
                </a:prstGeom>
                <a:blipFill>
                  <a:blip r:embed="rId17"/>
                  <a:stretch>
                    <a:fillRect/>
                  </a:stretch>
                </a:blipFill>
              </p:spPr>
              <p:txBody>
                <a:bodyPr/>
                <a:lstStyle/>
                <a:p>
                  <a:r>
                    <a:rPr lang="en-US">
                      <a:noFill/>
                    </a:rPr>
                    <a:t> </a:t>
                  </a:r>
                </a:p>
              </p:txBody>
            </p:sp>
          </mc:Fallback>
        </mc:AlternateContent>
        <p:grpSp>
          <p:nvGrpSpPr>
            <p:cNvPr id="105" name="Group 13">
              <a:extLst>
                <a:ext uri="{FF2B5EF4-FFF2-40B4-BE49-F238E27FC236}">
                  <a16:creationId xmlns:a16="http://schemas.microsoft.com/office/drawing/2014/main" id="{F975B16C-20FF-F84C-B286-CBA6FFEC3A36}"/>
                </a:ext>
              </a:extLst>
            </p:cNvPr>
            <p:cNvGrpSpPr>
              <a:grpSpLocks noChangeAspect="1"/>
            </p:cNvGrpSpPr>
            <p:nvPr/>
          </p:nvGrpSpPr>
          <p:grpSpPr bwMode="auto">
            <a:xfrm>
              <a:off x="2058161" y="3128102"/>
              <a:ext cx="152400" cy="152400"/>
              <a:chOff x="1344" y="2064"/>
              <a:chExt cx="192" cy="192"/>
            </a:xfrm>
          </p:grpSpPr>
          <p:sp>
            <p:nvSpPr>
              <p:cNvPr id="106" name="Oval 14">
                <a:extLst>
                  <a:ext uri="{FF2B5EF4-FFF2-40B4-BE49-F238E27FC236}">
                    <a16:creationId xmlns:a16="http://schemas.microsoft.com/office/drawing/2014/main" id="{BF339E4B-2920-B240-B484-52F55E4AEA4D}"/>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07" name="Rectangle 15">
                <a:extLst>
                  <a:ext uri="{FF2B5EF4-FFF2-40B4-BE49-F238E27FC236}">
                    <a16:creationId xmlns:a16="http://schemas.microsoft.com/office/drawing/2014/main" id="{4A0DD779-BE3D-9C4D-9FEA-370D10CF86F3}"/>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08" name="Freeform 12">
              <a:extLst>
                <a:ext uri="{FF2B5EF4-FFF2-40B4-BE49-F238E27FC236}">
                  <a16:creationId xmlns:a16="http://schemas.microsoft.com/office/drawing/2014/main" id="{9BD46E9F-A518-9A41-A7C4-6E17774EA8C2}"/>
                </a:ext>
              </a:extLst>
            </p:cNvPr>
            <p:cNvSpPr>
              <a:spLocks noChangeAspect="1"/>
            </p:cNvSpPr>
            <p:nvPr/>
          </p:nvSpPr>
          <p:spPr bwMode="auto">
            <a:xfrm>
              <a:off x="1338664" y="3207177"/>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09" name="Group 13">
              <a:extLst>
                <a:ext uri="{FF2B5EF4-FFF2-40B4-BE49-F238E27FC236}">
                  <a16:creationId xmlns:a16="http://schemas.microsoft.com/office/drawing/2014/main" id="{D0FC04D6-B345-6A44-BEC2-06E52276C19D}"/>
                </a:ext>
              </a:extLst>
            </p:cNvPr>
            <p:cNvGrpSpPr>
              <a:grpSpLocks noChangeAspect="1"/>
            </p:cNvGrpSpPr>
            <p:nvPr/>
          </p:nvGrpSpPr>
          <p:grpSpPr bwMode="auto">
            <a:xfrm>
              <a:off x="1341929" y="3136535"/>
              <a:ext cx="152400" cy="152400"/>
              <a:chOff x="1344" y="2064"/>
              <a:chExt cx="192" cy="192"/>
            </a:xfrm>
          </p:grpSpPr>
          <p:sp>
            <p:nvSpPr>
              <p:cNvPr id="110" name="Oval 14">
                <a:extLst>
                  <a:ext uri="{FF2B5EF4-FFF2-40B4-BE49-F238E27FC236}">
                    <a16:creationId xmlns:a16="http://schemas.microsoft.com/office/drawing/2014/main" id="{1B040EB8-E5AC-E54E-AC2A-8D30C237228B}"/>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11" name="Rectangle 15">
                <a:extLst>
                  <a:ext uri="{FF2B5EF4-FFF2-40B4-BE49-F238E27FC236}">
                    <a16:creationId xmlns:a16="http://schemas.microsoft.com/office/drawing/2014/main" id="{215821C7-CFD4-0B4E-B288-EAF033589F21}"/>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BB3095CA-5299-094C-87A9-C40824279B0D}"/>
                    </a:ext>
                  </a:extLst>
                </p:cNvPr>
                <p:cNvSpPr txBox="1"/>
                <p:nvPr/>
              </p:nvSpPr>
              <p:spPr>
                <a:xfrm>
                  <a:off x="2774001" y="4255372"/>
                  <a:ext cx="633999"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𝐵𝑃</m:t>
                            </m:r>
                          </m:sub>
                        </m:sSub>
                      </m:oMath>
                    </m:oMathPara>
                  </a14:m>
                  <a:endParaRPr lang="en-US" dirty="0"/>
                </a:p>
              </p:txBody>
            </p:sp>
          </mc:Choice>
          <mc:Fallback xmlns="">
            <p:sp>
              <p:nvSpPr>
                <p:cNvPr id="112" name="TextBox 111">
                  <a:extLst>
                    <a:ext uri="{FF2B5EF4-FFF2-40B4-BE49-F238E27FC236}">
                      <a16:creationId xmlns:a16="http://schemas.microsoft.com/office/drawing/2014/main" id="{BB3095CA-5299-094C-87A9-C40824279B0D}"/>
                    </a:ext>
                  </a:extLst>
                </p:cNvPr>
                <p:cNvSpPr txBox="1">
                  <a:spLocks noRot="1" noChangeAspect="1" noMove="1" noResize="1" noEditPoints="1" noAdjustHandles="1" noChangeArrowheads="1" noChangeShapeType="1" noTextEdit="1"/>
                </p:cNvSpPr>
                <p:nvPr/>
              </p:nvSpPr>
              <p:spPr>
                <a:xfrm>
                  <a:off x="2774001" y="4255372"/>
                  <a:ext cx="633999" cy="369332"/>
                </a:xfrm>
                <a:prstGeom prst="rect">
                  <a:avLst/>
                </a:prstGeom>
                <a:blipFill>
                  <a:blip r:embed="rId18"/>
                  <a:stretch>
                    <a:fillRect/>
                  </a:stretch>
                </a:blipFill>
              </p:spPr>
              <p:txBody>
                <a:bodyPr/>
                <a:lstStyle/>
                <a:p>
                  <a:r>
                    <a:rPr lang="en-US">
                      <a:noFill/>
                    </a:rPr>
                    <a:t> </a:t>
                  </a:r>
                </a:p>
              </p:txBody>
            </p:sp>
          </mc:Fallback>
        </mc:AlternateContent>
        <p:grpSp>
          <p:nvGrpSpPr>
            <p:cNvPr id="113" name="Group 209">
              <a:extLst>
                <a:ext uri="{FF2B5EF4-FFF2-40B4-BE49-F238E27FC236}">
                  <a16:creationId xmlns:a16="http://schemas.microsoft.com/office/drawing/2014/main" id="{29C90D6B-A2B3-914C-9A55-571970024F3A}"/>
                </a:ext>
              </a:extLst>
            </p:cNvPr>
            <p:cNvGrpSpPr>
              <a:grpSpLocks/>
            </p:cNvGrpSpPr>
            <p:nvPr/>
          </p:nvGrpSpPr>
          <p:grpSpPr bwMode="auto">
            <a:xfrm rot="5400000">
              <a:off x="923020" y="3494842"/>
              <a:ext cx="152400" cy="762000"/>
              <a:chOff x="3935" y="1728"/>
              <a:chExt cx="96" cy="480"/>
            </a:xfrm>
          </p:grpSpPr>
          <p:sp>
            <p:nvSpPr>
              <p:cNvPr id="114" name="Arc 59">
                <a:extLst>
                  <a:ext uri="{FF2B5EF4-FFF2-40B4-BE49-F238E27FC236}">
                    <a16:creationId xmlns:a16="http://schemas.microsoft.com/office/drawing/2014/main" id="{E140E458-1740-7E44-8C70-571BEFDE64EC}"/>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5" name="Arc 60">
                <a:extLst>
                  <a:ext uri="{FF2B5EF4-FFF2-40B4-BE49-F238E27FC236}">
                    <a16:creationId xmlns:a16="http://schemas.microsoft.com/office/drawing/2014/main" id="{9685C9F6-301D-F64B-9862-D1865D59855D}"/>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6" name="Arc 61">
                <a:extLst>
                  <a:ext uri="{FF2B5EF4-FFF2-40B4-BE49-F238E27FC236}">
                    <a16:creationId xmlns:a16="http://schemas.microsoft.com/office/drawing/2014/main" id="{F29A10DF-20A5-8C44-8DD9-C03B558C7EAE}"/>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7" name="Arc 62">
                <a:extLst>
                  <a:ext uri="{FF2B5EF4-FFF2-40B4-BE49-F238E27FC236}">
                    <a16:creationId xmlns:a16="http://schemas.microsoft.com/office/drawing/2014/main" id="{3FDB6627-4BDD-964B-AC30-7F6DE7BD706A}"/>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8" name="Line 63">
                <a:extLst>
                  <a:ext uri="{FF2B5EF4-FFF2-40B4-BE49-F238E27FC236}">
                    <a16:creationId xmlns:a16="http://schemas.microsoft.com/office/drawing/2014/main" id="{ABC82D5E-B95A-6148-93FE-8AEE4437A0A8}"/>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 name="Line 64">
                <a:extLst>
                  <a:ext uri="{FF2B5EF4-FFF2-40B4-BE49-F238E27FC236}">
                    <a16:creationId xmlns:a16="http://schemas.microsoft.com/office/drawing/2014/main" id="{22516C26-EBF0-7F4F-A82D-24A302034646}"/>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 name="Arc 65">
                <a:extLst>
                  <a:ext uri="{FF2B5EF4-FFF2-40B4-BE49-F238E27FC236}">
                    <a16:creationId xmlns:a16="http://schemas.microsoft.com/office/drawing/2014/main" id="{E510CBD0-3B5D-9B44-8BC4-77A9054A390C}"/>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1" name="Arc 66">
                <a:extLst>
                  <a:ext uri="{FF2B5EF4-FFF2-40B4-BE49-F238E27FC236}">
                    <a16:creationId xmlns:a16="http://schemas.microsoft.com/office/drawing/2014/main" id="{3E17714A-6638-384D-BBB2-22AA6A96485B}"/>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2" name="Arc 67">
                <a:extLst>
                  <a:ext uri="{FF2B5EF4-FFF2-40B4-BE49-F238E27FC236}">
                    <a16:creationId xmlns:a16="http://schemas.microsoft.com/office/drawing/2014/main" id="{B127239F-0B68-EE4E-BEB3-9AEB2816FDBE}"/>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3" name="Arc 68">
                <a:extLst>
                  <a:ext uri="{FF2B5EF4-FFF2-40B4-BE49-F238E27FC236}">
                    <a16:creationId xmlns:a16="http://schemas.microsoft.com/office/drawing/2014/main" id="{C3300442-180A-B440-A905-920C5319DD13}"/>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4" name="Arc 69">
                <a:extLst>
                  <a:ext uri="{FF2B5EF4-FFF2-40B4-BE49-F238E27FC236}">
                    <a16:creationId xmlns:a16="http://schemas.microsoft.com/office/drawing/2014/main" id="{AEDE6B31-81CF-8B4B-8AAB-29CDD29CE497}"/>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5" name="Arc 70">
                <a:extLst>
                  <a:ext uri="{FF2B5EF4-FFF2-40B4-BE49-F238E27FC236}">
                    <a16:creationId xmlns:a16="http://schemas.microsoft.com/office/drawing/2014/main" id="{4AC9B164-7D3A-F74B-8967-D3BF02E2EEBC}"/>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6" name="Arc 71">
                <a:extLst>
                  <a:ext uri="{FF2B5EF4-FFF2-40B4-BE49-F238E27FC236}">
                    <a16:creationId xmlns:a16="http://schemas.microsoft.com/office/drawing/2014/main" id="{B380976C-0D1D-3949-855B-EE745697ADD5}"/>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27" name="Group 13">
              <a:extLst>
                <a:ext uri="{FF2B5EF4-FFF2-40B4-BE49-F238E27FC236}">
                  <a16:creationId xmlns:a16="http://schemas.microsoft.com/office/drawing/2014/main" id="{42DDBC2E-841F-FA42-96C2-615C678B080B}"/>
                </a:ext>
              </a:extLst>
            </p:cNvPr>
            <p:cNvGrpSpPr>
              <a:grpSpLocks noChangeAspect="1"/>
            </p:cNvGrpSpPr>
            <p:nvPr/>
          </p:nvGrpSpPr>
          <p:grpSpPr bwMode="auto">
            <a:xfrm>
              <a:off x="540649" y="3796416"/>
              <a:ext cx="152400" cy="152400"/>
              <a:chOff x="1344" y="2064"/>
              <a:chExt cx="192" cy="192"/>
            </a:xfrm>
          </p:grpSpPr>
          <p:sp>
            <p:nvSpPr>
              <p:cNvPr id="128" name="Oval 14">
                <a:extLst>
                  <a:ext uri="{FF2B5EF4-FFF2-40B4-BE49-F238E27FC236}">
                    <a16:creationId xmlns:a16="http://schemas.microsoft.com/office/drawing/2014/main" id="{3FB36FBD-914E-3540-A415-722D20A39A7E}"/>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29" name="Rectangle 15">
                <a:extLst>
                  <a:ext uri="{FF2B5EF4-FFF2-40B4-BE49-F238E27FC236}">
                    <a16:creationId xmlns:a16="http://schemas.microsoft.com/office/drawing/2014/main" id="{34FB40ED-47FB-3C46-92E1-43924047A490}"/>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30" name="Group 13">
              <a:extLst>
                <a:ext uri="{FF2B5EF4-FFF2-40B4-BE49-F238E27FC236}">
                  <a16:creationId xmlns:a16="http://schemas.microsoft.com/office/drawing/2014/main" id="{48293BE4-0B7C-A74F-BE26-63CFAD466980}"/>
                </a:ext>
              </a:extLst>
            </p:cNvPr>
            <p:cNvGrpSpPr>
              <a:grpSpLocks noChangeAspect="1"/>
            </p:cNvGrpSpPr>
            <p:nvPr/>
          </p:nvGrpSpPr>
          <p:grpSpPr bwMode="auto">
            <a:xfrm>
              <a:off x="2057784" y="3947669"/>
              <a:ext cx="152400" cy="152400"/>
              <a:chOff x="1344" y="2064"/>
              <a:chExt cx="192" cy="192"/>
            </a:xfrm>
          </p:grpSpPr>
          <p:sp>
            <p:nvSpPr>
              <p:cNvPr id="131" name="Oval 14">
                <a:extLst>
                  <a:ext uri="{FF2B5EF4-FFF2-40B4-BE49-F238E27FC236}">
                    <a16:creationId xmlns:a16="http://schemas.microsoft.com/office/drawing/2014/main" id="{EDF9FFF8-584A-E244-BCA5-766E937DCD7D}"/>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32" name="Rectangle 15">
                <a:extLst>
                  <a:ext uri="{FF2B5EF4-FFF2-40B4-BE49-F238E27FC236}">
                    <a16:creationId xmlns:a16="http://schemas.microsoft.com/office/drawing/2014/main" id="{DF19FD6D-7CF0-BC47-B895-5BA67CF29C8B}"/>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mc:AlternateContent xmlns:mc="http://schemas.openxmlformats.org/markup-compatibility/2006" xmlns:a14="http://schemas.microsoft.com/office/drawing/2010/main">
          <mc:Choice Requires="a14">
            <p:sp>
              <p:nvSpPr>
                <p:cNvPr id="133" name="TextBox 132">
                  <a:extLst>
                    <a:ext uri="{FF2B5EF4-FFF2-40B4-BE49-F238E27FC236}">
                      <a16:creationId xmlns:a16="http://schemas.microsoft.com/office/drawing/2014/main" id="{00CE5151-8BF8-6846-A275-280A36F89108}"/>
                    </a:ext>
                  </a:extLst>
                </p:cNvPr>
                <p:cNvSpPr txBox="1"/>
                <p:nvPr/>
              </p:nvSpPr>
              <p:spPr>
                <a:xfrm>
                  <a:off x="285635" y="3489963"/>
                  <a:ext cx="633999" cy="369332"/>
                </a:xfrm>
                <a:prstGeom prst="rect">
                  <a:avLst/>
                </a:prstGeom>
                <a:noFill/>
              </p:spPr>
              <p:txBody>
                <a:bodyPr wrap="square" rtlCol="0">
                  <a:spAutoFit/>
                </a:bodyPr>
                <a:lstStyle/>
                <a:p>
                  <a:pPr/>
                  <a14:m>
                    <m:oMathPara xmlns:m="http://schemas.openxmlformats.org/officeDocument/2006/math">
                      <m:oMathParaPr>
                        <m:jc m:val="left"/>
                      </m:oMathParaPr>
                      <m:oMath>
                        <m:r>
                          <a:rPr lang="en-US" b="0" i="1" smtClean="0">
                            <a:latin typeface="Cambria Math" panose="02040503050406030204" pitchFamily="18" charset="0"/>
                          </a:rPr>
                          <m:t>𝐵𝐵</m:t>
                        </m:r>
                      </m:oMath>
                    </m:oMathPara>
                  </a14:m>
                  <a:endParaRPr lang="en-US" dirty="0"/>
                </a:p>
              </p:txBody>
            </p:sp>
          </mc:Choice>
          <mc:Fallback xmlns="">
            <p:sp>
              <p:nvSpPr>
                <p:cNvPr id="133" name="TextBox 132">
                  <a:extLst>
                    <a:ext uri="{FF2B5EF4-FFF2-40B4-BE49-F238E27FC236}">
                      <a16:creationId xmlns:a16="http://schemas.microsoft.com/office/drawing/2014/main" id="{00CE5151-8BF8-6846-A275-280A36F89108}"/>
                    </a:ext>
                  </a:extLst>
                </p:cNvPr>
                <p:cNvSpPr txBox="1">
                  <a:spLocks noRot="1" noChangeAspect="1" noMove="1" noResize="1" noEditPoints="1" noAdjustHandles="1" noChangeArrowheads="1" noChangeShapeType="1" noTextEdit="1"/>
                </p:cNvSpPr>
                <p:nvPr/>
              </p:nvSpPr>
              <p:spPr>
                <a:xfrm>
                  <a:off x="285635" y="3489963"/>
                  <a:ext cx="633999" cy="369332"/>
                </a:xfrm>
                <a:prstGeom prst="rect">
                  <a:avLst/>
                </a:prstGeom>
                <a:blipFill>
                  <a:blip r:embed="rId19"/>
                  <a:stretch>
                    <a:fillRect/>
                  </a:stretch>
                </a:blipFill>
              </p:spPr>
              <p:txBody>
                <a:bodyPr/>
                <a:lstStyle/>
                <a:p>
                  <a:r>
                    <a:rPr lang="en-US">
                      <a:noFill/>
                    </a:rPr>
                    <a:t> </a:t>
                  </a:r>
                </a:p>
              </p:txBody>
            </p:sp>
          </mc:Fallback>
        </mc:AlternateContent>
        <p:cxnSp>
          <p:nvCxnSpPr>
            <p:cNvPr id="188" name="Straight Connector 187">
              <a:extLst>
                <a:ext uri="{FF2B5EF4-FFF2-40B4-BE49-F238E27FC236}">
                  <a16:creationId xmlns:a16="http://schemas.microsoft.com/office/drawing/2014/main" id="{6D8EDBDF-973F-204C-9FF0-3115BC0C9CF8}"/>
                </a:ext>
              </a:extLst>
            </p:cNvPr>
            <p:cNvCxnSpPr>
              <a:cxnSpLocks/>
            </p:cNvCxnSpPr>
            <p:nvPr/>
          </p:nvCxnSpPr>
          <p:spPr>
            <a:xfrm flipV="1">
              <a:off x="2129066" y="3194162"/>
              <a:ext cx="0" cy="2583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90" name="TextBox 189">
                <a:extLst>
                  <a:ext uri="{FF2B5EF4-FFF2-40B4-BE49-F238E27FC236}">
                    <a16:creationId xmlns:a16="http://schemas.microsoft.com/office/drawing/2014/main" id="{01440ABE-E29C-CA42-B30E-A969AAD3885B}"/>
                  </a:ext>
                </a:extLst>
              </p:cNvPr>
              <p:cNvSpPr txBox="1"/>
              <p:nvPr/>
            </p:nvSpPr>
            <p:spPr>
              <a:xfrm>
                <a:off x="5665509" y="4177683"/>
                <a:ext cx="4754276" cy="1648082"/>
              </a:xfrm>
              <a:prstGeom prst="rect">
                <a:avLst/>
              </a:prstGeom>
              <a:noFill/>
            </p:spPr>
            <p:txBody>
              <a:bodyPr wrap="square" rtlCol="0">
                <a:noAutofit/>
              </a:bodyPr>
              <a:lstStyle/>
              <a:p>
                <a:pPr marL="285750" indent="-28575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𝑜</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𝑅</m:t>
                        </m:r>
                      </m:num>
                      <m:den>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𝑅</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𝑠</m:t>
                                </m:r>
                              </m:sub>
                            </m:sSub>
                          </m:e>
                        </m:d>
                        <m:r>
                          <a:rPr lang="en-US" sz="2000" b="0" i="1" smtClean="0">
                            <a:latin typeface="Cambria Math" panose="02040503050406030204" pitchFamily="18" charset="0"/>
                          </a:rPr>
                          <m:t>[1+</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4</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𝑄</m:t>
                                </m:r>
                              </m:e>
                              <m:sup>
                                <m:r>
                                  <a:rPr lang="en-US" sz="2000" b="0" i="1" smtClean="0">
                                    <a:latin typeface="Cambria Math" panose="02040503050406030204" pitchFamily="18" charset="0"/>
                                  </a:rPr>
                                  <m:t>2</m:t>
                                </m:r>
                              </m:sup>
                            </m:sSup>
                          </m:num>
                          <m:den>
                            <m:sSup>
                              <m:sSupPr>
                                <m:ctrlPr>
                                  <a:rPr lang="en-US" sz="2000" b="0" i="1" smtClean="0">
                                    <a:latin typeface="Cambria Math" panose="02040503050406030204" pitchFamily="18" charset="0"/>
                                  </a:rPr>
                                </m:ctrlPr>
                              </m:sSup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0</m:t>
                                    </m:r>
                                  </m:sub>
                                </m:sSub>
                              </m:e>
                              <m:sup>
                                <m:r>
                                  <a:rPr lang="en-US" sz="2000" b="0" i="1" smtClean="0">
                                    <a:latin typeface="Cambria Math" panose="02040503050406030204" pitchFamily="18" charset="0"/>
                                  </a:rPr>
                                  <m:t>2</m:t>
                                </m:r>
                              </m:sup>
                            </m:sSup>
                          </m:den>
                        </m:f>
                        <m:sSup>
                          <m:sSupPr>
                            <m:ctrlPr>
                              <a:rPr lang="en-US" sz="2000" b="0" i="1" smtClean="0">
                                <a:latin typeface="Cambria Math" panose="02040503050406030204" pitchFamily="18" charset="0"/>
                                <a:ea typeface="Cambria Math" panose="02040503050406030204" pitchFamily="18" charset="0"/>
                              </a:rPr>
                            </m:ctrlPr>
                          </m:sSupPr>
                          <m:e>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ea typeface="Cambria Math" panose="02040503050406030204" pitchFamily="18" charset="0"/>
                                      </a:rPr>
                                      <m:t>0</m:t>
                                    </m:r>
                                  </m:sub>
                                </m:sSub>
                              </m:e>
                            </m:d>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den>
                    </m:f>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𝑖</m:t>
                        </m:r>
                      </m:sub>
                    </m:sSub>
                  </m:oMath>
                </a14:m>
                <a:endParaRPr lang="en-US" sz="2000" dirty="0"/>
              </a:p>
              <a:p>
                <a:pPr marL="285750" indent="-285750">
                  <a:buFont typeface="Arial" panose="020B0604020202020204" pitchFamily="34" charset="0"/>
                  <a:buChar char="•"/>
                </a:pPr>
                <a14:m>
                  <m:oMath xmlns:m="http://schemas.openxmlformats.org/officeDocument/2006/math">
                    <m:r>
                      <a:rPr lang="en-US" sz="2000" b="0" i="1" smtClean="0">
                        <a:latin typeface="Cambria Math" panose="02040503050406030204" pitchFamily="18" charset="0"/>
                      </a:rPr>
                      <m:t>𝑄</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𝑅</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𝑠</m:t>
                            </m:r>
                          </m:sub>
                        </m:sSub>
                      </m:num>
                      <m:den>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rPr>
                              <m:t>0</m:t>
                            </m:r>
                          </m:sub>
                        </m:sSub>
                        <m:r>
                          <a:rPr lang="en-US" sz="2000" i="1">
                            <a:latin typeface="Cambria Math" panose="02040503050406030204" pitchFamily="18" charset="0"/>
                          </a:rPr>
                          <m:t>𝐿</m:t>
                        </m:r>
                      </m:den>
                    </m:f>
                  </m:oMath>
                </a14:m>
                <a:endParaRPr lang="en-US" sz="2000" dirty="0"/>
              </a:p>
            </p:txBody>
          </p:sp>
        </mc:Choice>
        <mc:Fallback xmlns="">
          <p:sp>
            <p:nvSpPr>
              <p:cNvPr id="190" name="TextBox 189">
                <a:extLst>
                  <a:ext uri="{FF2B5EF4-FFF2-40B4-BE49-F238E27FC236}">
                    <a16:creationId xmlns:a16="http://schemas.microsoft.com/office/drawing/2014/main" id="{01440ABE-E29C-CA42-B30E-A969AAD3885B}"/>
                  </a:ext>
                </a:extLst>
              </p:cNvPr>
              <p:cNvSpPr txBox="1">
                <a:spLocks noRot="1" noChangeAspect="1" noMove="1" noResize="1" noEditPoints="1" noAdjustHandles="1" noChangeArrowheads="1" noChangeShapeType="1" noTextEdit="1"/>
              </p:cNvSpPr>
              <p:nvPr/>
            </p:nvSpPr>
            <p:spPr>
              <a:xfrm>
                <a:off x="5665509" y="4177683"/>
                <a:ext cx="4754276" cy="1648082"/>
              </a:xfrm>
              <a:prstGeom prst="rect">
                <a:avLst/>
              </a:prstGeom>
              <a:blipFill>
                <a:blip r:embed="rId20"/>
                <a:stretch>
                  <a:fillRect l="-798"/>
                </a:stretch>
              </a:blipFill>
            </p:spPr>
            <p:txBody>
              <a:bodyPr/>
              <a:lstStyle/>
              <a:p>
                <a:r>
                  <a:rPr lang="en-US">
                    <a:noFill/>
                  </a:rPr>
                  <a:t> </a:t>
                </a:r>
              </a:p>
            </p:txBody>
          </p:sp>
        </mc:Fallback>
      </mc:AlternateContent>
    </p:spTree>
    <p:extLst>
      <p:ext uri="{BB962C8B-B14F-4D97-AF65-F5344CB8AC3E}">
        <p14:creationId xmlns:p14="http://schemas.microsoft.com/office/powerpoint/2010/main" val="274392975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728424" y="136525"/>
            <a:ext cx="10515600" cy="869909"/>
          </a:xfrm>
        </p:spPr>
        <p:txBody>
          <a:bodyPr/>
          <a:lstStyle/>
          <a:p>
            <a:pPr algn="ctr"/>
            <a:r>
              <a:rPr lang="en-US" dirty="0">
                <a:latin typeface="Calibri" panose="020F0502020204030204" pitchFamily="34" charset="0"/>
                <a:cs typeface="Calibri" panose="020F0502020204030204" pitchFamily="34" charset="0"/>
              </a:rPr>
              <a:t>More Oscillators</a:t>
            </a:r>
          </a:p>
        </p:txBody>
      </p:sp>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72</a:t>
            </a:fld>
            <a:endParaRPr lang="en-US"/>
          </a:p>
        </p:txBody>
      </p:sp>
      <p:grpSp>
        <p:nvGrpSpPr>
          <p:cNvPr id="309" name="Group 308">
            <a:extLst>
              <a:ext uri="{FF2B5EF4-FFF2-40B4-BE49-F238E27FC236}">
                <a16:creationId xmlns:a16="http://schemas.microsoft.com/office/drawing/2014/main" id="{D15224E8-7918-9E4C-A6A1-AF68E17F0CC0}"/>
              </a:ext>
            </a:extLst>
          </p:cNvPr>
          <p:cNvGrpSpPr/>
          <p:nvPr/>
        </p:nvGrpSpPr>
        <p:grpSpPr>
          <a:xfrm>
            <a:off x="242317" y="1840262"/>
            <a:ext cx="4582454" cy="3325770"/>
            <a:chOff x="254437" y="1874975"/>
            <a:chExt cx="4582454" cy="3325770"/>
          </a:xfrm>
        </p:grpSpPr>
        <p:grpSp>
          <p:nvGrpSpPr>
            <p:cNvPr id="101" name="Group 100">
              <a:extLst>
                <a:ext uri="{FF2B5EF4-FFF2-40B4-BE49-F238E27FC236}">
                  <a16:creationId xmlns:a16="http://schemas.microsoft.com/office/drawing/2014/main" id="{13BF5C60-F967-C543-A278-4DB7AB2B7EFC}"/>
                </a:ext>
              </a:extLst>
            </p:cNvPr>
            <p:cNvGrpSpPr/>
            <p:nvPr/>
          </p:nvGrpSpPr>
          <p:grpSpPr>
            <a:xfrm>
              <a:off x="3498669" y="2558038"/>
              <a:ext cx="718684" cy="1036429"/>
              <a:chOff x="2362200" y="1905000"/>
              <a:chExt cx="762000" cy="1219200"/>
            </a:xfrm>
          </p:grpSpPr>
          <p:cxnSp>
            <p:nvCxnSpPr>
              <p:cNvPr id="102" name="Straight Connector 101">
                <a:extLst>
                  <a:ext uri="{FF2B5EF4-FFF2-40B4-BE49-F238E27FC236}">
                    <a16:creationId xmlns:a16="http://schemas.microsoft.com/office/drawing/2014/main" id="{ABA75F76-F33F-5748-AF36-6C4F73095FBA}"/>
                  </a:ext>
                </a:extLst>
              </p:cNvPr>
              <p:cNvCxnSpPr/>
              <p:nvPr/>
            </p:nvCxnSpPr>
            <p:spPr bwMode="auto">
              <a:xfrm>
                <a:off x="2819400" y="2209800"/>
                <a:ext cx="0" cy="640080"/>
              </a:xfrm>
              <a:prstGeom prst="line">
                <a:avLst/>
              </a:prstGeom>
              <a:solidFill>
                <a:schemeClr val="accent1"/>
              </a:solidFill>
              <a:ln w="31750" cap="flat" cmpd="sng" algn="ctr">
                <a:solidFill>
                  <a:schemeClr val="tx1"/>
                </a:solidFill>
                <a:prstDash val="solid"/>
                <a:round/>
                <a:headEnd type="none" w="med" len="med"/>
                <a:tailEnd type="none" w="med" len="med"/>
              </a:ln>
              <a:effectLst/>
            </p:spPr>
          </p:cxnSp>
          <p:cxnSp>
            <p:nvCxnSpPr>
              <p:cNvPr id="103" name="Straight Connector 102">
                <a:extLst>
                  <a:ext uri="{FF2B5EF4-FFF2-40B4-BE49-F238E27FC236}">
                    <a16:creationId xmlns:a16="http://schemas.microsoft.com/office/drawing/2014/main" id="{DC1ED72F-C00F-7B41-AD77-0C537D574A3D}"/>
                  </a:ext>
                </a:extLst>
              </p:cNvPr>
              <p:cNvCxnSpPr/>
              <p:nvPr/>
            </p:nvCxnSpPr>
            <p:spPr bwMode="auto">
              <a:xfrm>
                <a:off x="3124200" y="1905000"/>
                <a:ext cx="0" cy="45720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04" name="Straight Connector 103">
                <a:extLst>
                  <a:ext uri="{FF2B5EF4-FFF2-40B4-BE49-F238E27FC236}">
                    <a16:creationId xmlns:a16="http://schemas.microsoft.com/office/drawing/2014/main" id="{C0ECDB13-486A-EF47-8271-0D17B48728BE}"/>
                  </a:ext>
                </a:extLst>
              </p:cNvPr>
              <p:cNvCxnSpPr>
                <a:cxnSpLocks/>
              </p:cNvCxnSpPr>
              <p:nvPr/>
            </p:nvCxnSpPr>
            <p:spPr bwMode="auto">
              <a:xfrm>
                <a:off x="2819400" y="2362200"/>
                <a:ext cx="304800"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05" name="Straight Connector 104">
                <a:extLst>
                  <a:ext uri="{FF2B5EF4-FFF2-40B4-BE49-F238E27FC236}">
                    <a16:creationId xmlns:a16="http://schemas.microsoft.com/office/drawing/2014/main" id="{933508BE-FBFB-C345-AA82-43F03256F419}"/>
                  </a:ext>
                </a:extLst>
              </p:cNvPr>
              <p:cNvCxnSpPr>
                <a:cxnSpLocks/>
              </p:cNvCxnSpPr>
              <p:nvPr/>
            </p:nvCxnSpPr>
            <p:spPr bwMode="auto">
              <a:xfrm>
                <a:off x="2819400" y="2667000"/>
                <a:ext cx="304800"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06" name="Straight Connector 105">
                <a:extLst>
                  <a:ext uri="{FF2B5EF4-FFF2-40B4-BE49-F238E27FC236}">
                    <a16:creationId xmlns:a16="http://schemas.microsoft.com/office/drawing/2014/main" id="{B059685C-4D20-FA4C-89E0-DE4E2EE34CD7}"/>
                  </a:ext>
                </a:extLst>
              </p:cNvPr>
              <p:cNvCxnSpPr/>
              <p:nvPr/>
            </p:nvCxnSpPr>
            <p:spPr bwMode="auto">
              <a:xfrm>
                <a:off x="3124200" y="2667000"/>
                <a:ext cx="0" cy="45720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07" name="Straight Arrow Connector 106">
                <a:extLst>
                  <a:ext uri="{FF2B5EF4-FFF2-40B4-BE49-F238E27FC236}">
                    <a16:creationId xmlns:a16="http://schemas.microsoft.com/office/drawing/2014/main" id="{185C05D9-504F-F84B-8522-065C7EDFAC79}"/>
                  </a:ext>
                </a:extLst>
              </p:cNvPr>
              <p:cNvCxnSpPr>
                <a:cxnSpLocks/>
              </p:cNvCxnSpPr>
              <p:nvPr/>
            </p:nvCxnSpPr>
            <p:spPr bwMode="auto">
              <a:xfrm>
                <a:off x="2362200" y="2514600"/>
                <a:ext cx="457200" cy="0"/>
              </a:xfrm>
              <a:prstGeom prst="straightConnector1">
                <a:avLst/>
              </a:prstGeom>
              <a:solidFill>
                <a:schemeClr val="accent1"/>
              </a:solidFill>
              <a:ln w="25400" cap="flat" cmpd="sng" algn="ctr">
                <a:solidFill>
                  <a:schemeClr val="tx1"/>
                </a:solidFill>
                <a:prstDash val="solid"/>
                <a:round/>
                <a:headEnd type="none" w="med" len="med"/>
                <a:tailEnd type="triangle"/>
              </a:ln>
              <a:effectLst/>
            </p:spPr>
          </p:cxnSp>
          <p:sp>
            <p:nvSpPr>
              <p:cNvPr id="108" name="TextBox 107">
                <a:extLst>
                  <a:ext uri="{FF2B5EF4-FFF2-40B4-BE49-F238E27FC236}">
                    <a16:creationId xmlns:a16="http://schemas.microsoft.com/office/drawing/2014/main" id="{46B87415-DED5-244F-ACCC-417463753E93}"/>
                  </a:ext>
                </a:extLst>
              </p:cNvPr>
              <p:cNvSpPr txBox="1"/>
              <p:nvPr/>
            </p:nvSpPr>
            <p:spPr>
              <a:xfrm>
                <a:off x="2819400" y="1905000"/>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D</a:t>
                </a:r>
              </a:p>
            </p:txBody>
          </p:sp>
          <p:sp>
            <p:nvSpPr>
              <p:cNvPr id="109" name="TextBox 108">
                <a:extLst>
                  <a:ext uri="{FF2B5EF4-FFF2-40B4-BE49-F238E27FC236}">
                    <a16:creationId xmlns:a16="http://schemas.microsoft.com/office/drawing/2014/main" id="{6608480B-BB5A-C946-8D7E-E4ECACF4EFE1}"/>
                  </a:ext>
                </a:extLst>
              </p:cNvPr>
              <p:cNvSpPr txBox="1"/>
              <p:nvPr/>
            </p:nvSpPr>
            <p:spPr>
              <a:xfrm>
                <a:off x="2819400" y="2664023"/>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S</a:t>
                </a:r>
              </a:p>
            </p:txBody>
          </p:sp>
          <p:sp>
            <p:nvSpPr>
              <p:cNvPr id="110" name="TextBox 109">
                <a:extLst>
                  <a:ext uri="{FF2B5EF4-FFF2-40B4-BE49-F238E27FC236}">
                    <a16:creationId xmlns:a16="http://schemas.microsoft.com/office/drawing/2014/main" id="{28963C0C-557A-EC4A-AD9A-39AF13A3EFAA}"/>
                  </a:ext>
                </a:extLst>
              </p:cNvPr>
              <p:cNvSpPr txBox="1"/>
              <p:nvPr/>
            </p:nvSpPr>
            <p:spPr>
              <a:xfrm>
                <a:off x="2438400" y="2206823"/>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G</a:t>
                </a:r>
              </a:p>
            </p:txBody>
          </p:sp>
        </p:grpSp>
        <p:sp>
          <p:nvSpPr>
            <p:cNvPr id="111" name="Oval 110">
              <a:extLst>
                <a:ext uri="{FF2B5EF4-FFF2-40B4-BE49-F238E27FC236}">
                  <a16:creationId xmlns:a16="http://schemas.microsoft.com/office/drawing/2014/main" id="{C3CCC191-71FF-FA4B-8F18-0E6781AE903D}"/>
                </a:ext>
              </a:extLst>
            </p:cNvPr>
            <p:cNvSpPr>
              <a:spLocks noChangeAspect="1" noChangeArrowheads="1"/>
            </p:cNvSpPr>
            <p:nvPr/>
          </p:nvSpPr>
          <p:spPr bwMode="auto">
            <a:xfrm>
              <a:off x="4178811" y="2191840"/>
              <a:ext cx="96012" cy="96012"/>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cxnSp>
          <p:nvCxnSpPr>
            <p:cNvPr id="112" name="Straight Connector 111">
              <a:extLst>
                <a:ext uri="{FF2B5EF4-FFF2-40B4-BE49-F238E27FC236}">
                  <a16:creationId xmlns:a16="http://schemas.microsoft.com/office/drawing/2014/main" id="{198C99E6-D618-D346-9F4E-F77A42C35EC7}"/>
                </a:ext>
              </a:extLst>
            </p:cNvPr>
            <p:cNvCxnSpPr>
              <a:cxnSpLocks/>
            </p:cNvCxnSpPr>
            <p:nvPr/>
          </p:nvCxnSpPr>
          <p:spPr>
            <a:xfrm>
              <a:off x="2292304" y="4541871"/>
              <a:ext cx="2431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F0421D38-CE0B-5F4B-9408-7D31E8F35C22}"/>
                </a:ext>
              </a:extLst>
            </p:cNvPr>
            <p:cNvCxnSpPr>
              <a:cxnSpLocks/>
            </p:cNvCxnSpPr>
            <p:nvPr/>
          </p:nvCxnSpPr>
          <p:spPr>
            <a:xfrm>
              <a:off x="4222303" y="2244848"/>
              <a:ext cx="0" cy="39997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DE625253-C61A-0841-95EB-535661C0465F}"/>
                </a:ext>
              </a:extLst>
            </p:cNvPr>
            <p:cNvSpPr txBox="1"/>
            <p:nvPr/>
          </p:nvSpPr>
          <p:spPr>
            <a:xfrm>
              <a:off x="4004992" y="1874975"/>
              <a:ext cx="718688" cy="338554"/>
            </a:xfrm>
            <a:prstGeom prst="rect">
              <a:avLst/>
            </a:prstGeom>
            <a:noFill/>
          </p:spPr>
          <p:txBody>
            <a:bodyPr wrap="square" rtlCol="0">
              <a:spAutoFit/>
            </a:bodyPr>
            <a:lstStyle/>
            <a:p>
              <a:r>
                <a:rPr lang="en-US" sz="1600" dirty="0"/>
                <a:t>9 V</a:t>
              </a:r>
            </a:p>
          </p:txBody>
        </p:sp>
        <p:grpSp>
          <p:nvGrpSpPr>
            <p:cNvPr id="115" name="Group 210">
              <a:extLst>
                <a:ext uri="{FF2B5EF4-FFF2-40B4-BE49-F238E27FC236}">
                  <a16:creationId xmlns:a16="http://schemas.microsoft.com/office/drawing/2014/main" id="{93D4072C-0CA2-9E4C-B875-9B7F7509091B}"/>
                </a:ext>
              </a:extLst>
            </p:cNvPr>
            <p:cNvGrpSpPr>
              <a:grpSpLocks/>
            </p:cNvGrpSpPr>
            <p:nvPr/>
          </p:nvGrpSpPr>
          <p:grpSpPr bwMode="auto">
            <a:xfrm rot="5400000">
              <a:off x="2441409" y="2689426"/>
              <a:ext cx="304800" cy="762000"/>
              <a:chOff x="3216" y="1728"/>
              <a:chExt cx="192" cy="480"/>
            </a:xfrm>
          </p:grpSpPr>
          <p:sp>
            <p:nvSpPr>
              <p:cNvPr id="116" name="Line 8">
                <a:extLst>
                  <a:ext uri="{FF2B5EF4-FFF2-40B4-BE49-F238E27FC236}">
                    <a16:creationId xmlns:a16="http://schemas.microsoft.com/office/drawing/2014/main" id="{EA1EB09D-6417-5B4F-BE53-35427226522A}"/>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 name="Line 9">
                <a:extLst>
                  <a:ext uri="{FF2B5EF4-FFF2-40B4-BE49-F238E27FC236}">
                    <a16:creationId xmlns:a16="http://schemas.microsoft.com/office/drawing/2014/main" id="{E65C6530-3185-3A46-8CAA-4B42CC2F2676}"/>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8" name="Line 10">
                <a:extLst>
                  <a:ext uri="{FF2B5EF4-FFF2-40B4-BE49-F238E27FC236}">
                    <a16:creationId xmlns:a16="http://schemas.microsoft.com/office/drawing/2014/main" id="{4E5A6479-8A66-DE46-B6E4-FADCC202FE98}"/>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 name="Line 11">
                <a:extLst>
                  <a:ext uri="{FF2B5EF4-FFF2-40B4-BE49-F238E27FC236}">
                    <a16:creationId xmlns:a16="http://schemas.microsoft.com/office/drawing/2014/main" id="{990C18D1-0966-3744-852F-00ACD4B462AE}"/>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0" name="Group 218">
              <a:extLst>
                <a:ext uri="{FF2B5EF4-FFF2-40B4-BE49-F238E27FC236}">
                  <a16:creationId xmlns:a16="http://schemas.microsoft.com/office/drawing/2014/main" id="{E59E1B09-0BDB-344B-9C11-C8C677B399ED}"/>
                </a:ext>
              </a:extLst>
            </p:cNvPr>
            <p:cNvGrpSpPr>
              <a:grpSpLocks/>
            </p:cNvGrpSpPr>
            <p:nvPr/>
          </p:nvGrpSpPr>
          <p:grpSpPr bwMode="auto">
            <a:xfrm>
              <a:off x="2947833" y="3076303"/>
              <a:ext cx="152400" cy="762000"/>
              <a:chOff x="5280" y="1200"/>
              <a:chExt cx="96" cy="480"/>
            </a:xfrm>
          </p:grpSpPr>
          <p:sp>
            <p:nvSpPr>
              <p:cNvPr id="121" name="Line 106">
                <a:extLst>
                  <a:ext uri="{FF2B5EF4-FFF2-40B4-BE49-F238E27FC236}">
                    <a16:creationId xmlns:a16="http://schemas.microsoft.com/office/drawing/2014/main" id="{8D39E53D-2D44-404C-A9F8-F0859DD3C626}"/>
                  </a:ext>
                </a:extLst>
              </p:cNvPr>
              <p:cNvSpPr>
                <a:spLocks noChangeAspect="1" noChangeShapeType="1"/>
              </p:cNvSpPr>
              <p:nvPr/>
            </p:nvSpPr>
            <p:spPr bwMode="auto">
              <a:xfrm>
                <a:off x="5328" y="1200"/>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 name="Line 107">
                <a:extLst>
                  <a:ext uri="{FF2B5EF4-FFF2-40B4-BE49-F238E27FC236}">
                    <a16:creationId xmlns:a16="http://schemas.microsoft.com/office/drawing/2014/main" id="{1F8C9C7C-5817-4D47-BAB1-4B67A032E231}"/>
                  </a:ext>
                </a:extLst>
              </p:cNvPr>
              <p:cNvSpPr>
                <a:spLocks noChangeAspect="1" noChangeShapeType="1"/>
              </p:cNvSpPr>
              <p:nvPr/>
            </p:nvSpPr>
            <p:spPr bwMode="auto">
              <a:xfrm>
                <a:off x="5280" y="1392"/>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 name="Freeform 108">
                <a:extLst>
                  <a:ext uri="{FF2B5EF4-FFF2-40B4-BE49-F238E27FC236}">
                    <a16:creationId xmlns:a16="http://schemas.microsoft.com/office/drawing/2014/main" id="{C2BDED01-6DE2-F443-B668-793C43B777D4}"/>
                  </a:ext>
                </a:extLst>
              </p:cNvPr>
              <p:cNvSpPr>
                <a:spLocks noChangeAspect="1"/>
              </p:cNvSpPr>
              <p:nvPr/>
            </p:nvSpPr>
            <p:spPr bwMode="auto">
              <a:xfrm>
                <a:off x="5280" y="1392"/>
                <a:ext cx="96" cy="96"/>
              </a:xfrm>
              <a:custGeom>
                <a:avLst/>
                <a:gdLst>
                  <a:gd name="T0" fmla="*/ 0 w 288"/>
                  <a:gd name="T1" fmla="*/ 0 h 240"/>
                  <a:gd name="T2" fmla="*/ 0 w 288"/>
                  <a:gd name="T3" fmla="*/ 1 h 240"/>
                  <a:gd name="T4" fmla="*/ 0 w 288"/>
                  <a:gd name="T5" fmla="*/ 1 h 240"/>
                  <a:gd name="T6" fmla="*/ 0 w 288"/>
                  <a:gd name="T7" fmla="*/ 0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144" y="0"/>
                    </a:moveTo>
                    <a:lnTo>
                      <a:pt x="0" y="240"/>
                    </a:lnTo>
                    <a:lnTo>
                      <a:pt x="288" y="240"/>
                    </a:lnTo>
                    <a:lnTo>
                      <a:pt x="144" y="0"/>
                    </a:lnTo>
                    <a:close/>
                  </a:path>
                </a:pathLst>
              </a:custGeom>
              <a:solidFill>
                <a:schemeClr val="tx1"/>
              </a:solidFill>
              <a:ln w="25400">
                <a:solidFill>
                  <a:schemeClr val="tx1"/>
                </a:solidFill>
                <a:round/>
                <a:headEnd/>
                <a:tailEnd/>
              </a:ln>
            </p:spPr>
            <p:txBody>
              <a:bodyPr/>
              <a:lstStyle/>
              <a:p>
                <a:endParaRPr lang="en-US"/>
              </a:p>
            </p:txBody>
          </p:sp>
          <p:sp>
            <p:nvSpPr>
              <p:cNvPr id="124" name="Line 109">
                <a:extLst>
                  <a:ext uri="{FF2B5EF4-FFF2-40B4-BE49-F238E27FC236}">
                    <a16:creationId xmlns:a16="http://schemas.microsoft.com/office/drawing/2014/main" id="{A9EB30F9-0B40-6245-A921-423F312E5085}"/>
                  </a:ext>
                </a:extLst>
              </p:cNvPr>
              <p:cNvSpPr>
                <a:spLocks noChangeAspect="1" noChangeShapeType="1"/>
              </p:cNvSpPr>
              <p:nvPr/>
            </p:nvSpPr>
            <p:spPr bwMode="auto">
              <a:xfrm>
                <a:off x="5328" y="1488"/>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125" name="Straight Connector 124">
              <a:extLst>
                <a:ext uri="{FF2B5EF4-FFF2-40B4-BE49-F238E27FC236}">
                  <a16:creationId xmlns:a16="http://schemas.microsoft.com/office/drawing/2014/main" id="{9B2530B0-2930-4E4B-B148-7D522470BF8B}"/>
                </a:ext>
              </a:extLst>
            </p:cNvPr>
            <p:cNvCxnSpPr>
              <a:cxnSpLocks/>
            </p:cNvCxnSpPr>
            <p:nvPr/>
          </p:nvCxnSpPr>
          <p:spPr>
            <a:xfrm>
              <a:off x="2954109" y="3070426"/>
              <a:ext cx="61856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27" name="Freeform 12">
              <a:extLst>
                <a:ext uri="{FF2B5EF4-FFF2-40B4-BE49-F238E27FC236}">
                  <a16:creationId xmlns:a16="http://schemas.microsoft.com/office/drawing/2014/main" id="{75DCFC21-C996-7D41-9C7E-3234B9B95382}"/>
                </a:ext>
              </a:extLst>
            </p:cNvPr>
            <p:cNvSpPr>
              <a:spLocks noChangeAspect="1"/>
            </p:cNvSpPr>
            <p:nvPr/>
          </p:nvSpPr>
          <p:spPr bwMode="auto">
            <a:xfrm>
              <a:off x="3465507" y="3088734"/>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8" name="TextBox 127">
              <a:extLst>
                <a:ext uri="{FF2B5EF4-FFF2-40B4-BE49-F238E27FC236}">
                  <a16:creationId xmlns:a16="http://schemas.microsoft.com/office/drawing/2014/main" id="{80105C94-F3A9-4741-A2C3-5F91292D4FCA}"/>
                </a:ext>
              </a:extLst>
            </p:cNvPr>
            <p:cNvSpPr txBox="1"/>
            <p:nvPr/>
          </p:nvSpPr>
          <p:spPr>
            <a:xfrm>
              <a:off x="3608579" y="3490802"/>
              <a:ext cx="718688" cy="338554"/>
            </a:xfrm>
            <a:prstGeom prst="rect">
              <a:avLst/>
            </a:prstGeom>
            <a:noFill/>
          </p:spPr>
          <p:txBody>
            <a:bodyPr wrap="square" rtlCol="0">
              <a:spAutoFit/>
            </a:bodyPr>
            <a:lstStyle/>
            <a:p>
              <a:r>
                <a:rPr lang="en-US" sz="1600" dirty="0"/>
                <a:t>1M</a:t>
              </a:r>
            </a:p>
          </p:txBody>
        </p:sp>
        <p:sp>
          <p:nvSpPr>
            <p:cNvPr id="129" name="Oval 128">
              <a:extLst>
                <a:ext uri="{FF2B5EF4-FFF2-40B4-BE49-F238E27FC236}">
                  <a16:creationId xmlns:a16="http://schemas.microsoft.com/office/drawing/2014/main" id="{0F8330A2-3F1B-B946-BABA-84A363B64E2E}"/>
                </a:ext>
              </a:extLst>
            </p:cNvPr>
            <p:cNvSpPr>
              <a:spLocks noChangeAspect="1" noChangeArrowheads="1"/>
            </p:cNvSpPr>
            <p:nvPr/>
          </p:nvSpPr>
          <p:spPr bwMode="auto">
            <a:xfrm>
              <a:off x="2958170" y="3008293"/>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30" name="Oval 129">
              <a:extLst>
                <a:ext uri="{FF2B5EF4-FFF2-40B4-BE49-F238E27FC236}">
                  <a16:creationId xmlns:a16="http://schemas.microsoft.com/office/drawing/2014/main" id="{61A0239C-8026-FE43-82F6-DC7A02FF3855}"/>
                </a:ext>
              </a:extLst>
            </p:cNvPr>
            <p:cNvSpPr>
              <a:spLocks noChangeAspect="1" noChangeArrowheads="1"/>
            </p:cNvSpPr>
            <p:nvPr/>
          </p:nvSpPr>
          <p:spPr bwMode="auto">
            <a:xfrm>
              <a:off x="4632209" y="4473291"/>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31" name="Oval 130">
              <a:extLst>
                <a:ext uri="{FF2B5EF4-FFF2-40B4-BE49-F238E27FC236}">
                  <a16:creationId xmlns:a16="http://schemas.microsoft.com/office/drawing/2014/main" id="{82A998E1-E2F1-1841-9C7F-71D8C3D2C45F}"/>
                </a:ext>
              </a:extLst>
            </p:cNvPr>
            <p:cNvSpPr>
              <a:spLocks noChangeAspect="1" noChangeArrowheads="1"/>
            </p:cNvSpPr>
            <p:nvPr/>
          </p:nvSpPr>
          <p:spPr bwMode="auto">
            <a:xfrm>
              <a:off x="3471976" y="3012644"/>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132" name="Group 222">
              <a:extLst>
                <a:ext uri="{FF2B5EF4-FFF2-40B4-BE49-F238E27FC236}">
                  <a16:creationId xmlns:a16="http://schemas.microsoft.com/office/drawing/2014/main" id="{076DB6FD-0E20-794B-9887-65B77A4C3844}"/>
                </a:ext>
              </a:extLst>
            </p:cNvPr>
            <p:cNvGrpSpPr>
              <a:grpSpLocks/>
            </p:cNvGrpSpPr>
            <p:nvPr/>
          </p:nvGrpSpPr>
          <p:grpSpPr bwMode="auto">
            <a:xfrm>
              <a:off x="3391918" y="3813912"/>
              <a:ext cx="304800" cy="381000"/>
              <a:chOff x="4272" y="3072"/>
              <a:chExt cx="192" cy="240"/>
            </a:xfrm>
          </p:grpSpPr>
          <p:sp>
            <p:nvSpPr>
              <p:cNvPr id="133" name="Line 99">
                <a:extLst>
                  <a:ext uri="{FF2B5EF4-FFF2-40B4-BE49-F238E27FC236}">
                    <a16:creationId xmlns:a16="http://schemas.microsoft.com/office/drawing/2014/main" id="{E8889C91-86D0-7A4C-B510-7C2350B4635A}"/>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 name="Line 100">
                <a:extLst>
                  <a:ext uri="{FF2B5EF4-FFF2-40B4-BE49-F238E27FC236}">
                    <a16:creationId xmlns:a16="http://schemas.microsoft.com/office/drawing/2014/main" id="{938BF0AE-3289-8B42-B769-EA9C1398CC6B}"/>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 name="Line 101">
                <a:extLst>
                  <a:ext uri="{FF2B5EF4-FFF2-40B4-BE49-F238E27FC236}">
                    <a16:creationId xmlns:a16="http://schemas.microsoft.com/office/drawing/2014/main" id="{6A538332-5B9F-C947-A5AA-4444647CE474}"/>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 name="Line 102">
                <a:extLst>
                  <a:ext uri="{FF2B5EF4-FFF2-40B4-BE49-F238E27FC236}">
                    <a16:creationId xmlns:a16="http://schemas.microsoft.com/office/drawing/2014/main" id="{C33DC159-B99E-E04B-8B38-CFED94ADB8E5}"/>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 name="Line 103">
                <a:extLst>
                  <a:ext uri="{FF2B5EF4-FFF2-40B4-BE49-F238E27FC236}">
                    <a16:creationId xmlns:a16="http://schemas.microsoft.com/office/drawing/2014/main" id="{8A70C422-277B-6D45-BBC8-E09D6F845E61}"/>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8" name="Line 104">
                <a:extLst>
                  <a:ext uri="{FF2B5EF4-FFF2-40B4-BE49-F238E27FC236}">
                    <a16:creationId xmlns:a16="http://schemas.microsoft.com/office/drawing/2014/main" id="{076C10EF-743B-AB44-BB75-E462FE6A7BF0}"/>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39" name="Group 222">
              <a:extLst>
                <a:ext uri="{FF2B5EF4-FFF2-40B4-BE49-F238E27FC236}">
                  <a16:creationId xmlns:a16="http://schemas.microsoft.com/office/drawing/2014/main" id="{4C3728CC-0A8D-C846-8EA9-CA5765620E44}"/>
                </a:ext>
              </a:extLst>
            </p:cNvPr>
            <p:cNvGrpSpPr>
              <a:grpSpLocks/>
            </p:cNvGrpSpPr>
            <p:nvPr/>
          </p:nvGrpSpPr>
          <p:grpSpPr bwMode="auto">
            <a:xfrm>
              <a:off x="2878110" y="3770367"/>
              <a:ext cx="304800" cy="381000"/>
              <a:chOff x="4272" y="3072"/>
              <a:chExt cx="192" cy="240"/>
            </a:xfrm>
          </p:grpSpPr>
          <p:sp>
            <p:nvSpPr>
              <p:cNvPr id="140" name="Line 99">
                <a:extLst>
                  <a:ext uri="{FF2B5EF4-FFF2-40B4-BE49-F238E27FC236}">
                    <a16:creationId xmlns:a16="http://schemas.microsoft.com/office/drawing/2014/main" id="{F5F1A644-C6FE-9543-B6BB-60534964FCF6}"/>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1" name="Line 100">
                <a:extLst>
                  <a:ext uri="{FF2B5EF4-FFF2-40B4-BE49-F238E27FC236}">
                    <a16:creationId xmlns:a16="http://schemas.microsoft.com/office/drawing/2014/main" id="{134DE847-5245-C743-9E84-3A8DB9E56B4A}"/>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2" name="Line 101">
                <a:extLst>
                  <a:ext uri="{FF2B5EF4-FFF2-40B4-BE49-F238E27FC236}">
                    <a16:creationId xmlns:a16="http://schemas.microsoft.com/office/drawing/2014/main" id="{E309C488-884D-EA40-8923-652951F8FCFE}"/>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 name="Line 102">
                <a:extLst>
                  <a:ext uri="{FF2B5EF4-FFF2-40B4-BE49-F238E27FC236}">
                    <a16:creationId xmlns:a16="http://schemas.microsoft.com/office/drawing/2014/main" id="{35E06FAD-FC39-EE4E-A853-825D562667E1}"/>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 name="Line 103">
                <a:extLst>
                  <a:ext uri="{FF2B5EF4-FFF2-40B4-BE49-F238E27FC236}">
                    <a16:creationId xmlns:a16="http://schemas.microsoft.com/office/drawing/2014/main" id="{8C4F1945-C6A1-2C40-8986-8C991568386D}"/>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5" name="Line 104">
                <a:extLst>
                  <a:ext uri="{FF2B5EF4-FFF2-40B4-BE49-F238E27FC236}">
                    <a16:creationId xmlns:a16="http://schemas.microsoft.com/office/drawing/2014/main" id="{C25F7FCA-36F8-224F-88C4-647FF348C29A}"/>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46" name="Group 222">
              <a:extLst>
                <a:ext uri="{FF2B5EF4-FFF2-40B4-BE49-F238E27FC236}">
                  <a16:creationId xmlns:a16="http://schemas.microsoft.com/office/drawing/2014/main" id="{DEFE86BB-27EE-0540-BE32-6A57F8B8C5B7}"/>
                </a:ext>
              </a:extLst>
            </p:cNvPr>
            <p:cNvGrpSpPr>
              <a:grpSpLocks/>
            </p:cNvGrpSpPr>
            <p:nvPr/>
          </p:nvGrpSpPr>
          <p:grpSpPr bwMode="auto">
            <a:xfrm>
              <a:off x="2077641" y="4819745"/>
              <a:ext cx="304800" cy="381000"/>
              <a:chOff x="4272" y="3072"/>
              <a:chExt cx="192" cy="240"/>
            </a:xfrm>
          </p:grpSpPr>
          <p:sp>
            <p:nvSpPr>
              <p:cNvPr id="147" name="Line 99">
                <a:extLst>
                  <a:ext uri="{FF2B5EF4-FFF2-40B4-BE49-F238E27FC236}">
                    <a16:creationId xmlns:a16="http://schemas.microsoft.com/office/drawing/2014/main" id="{F956B372-82A6-F048-93F2-1236AC74EDF1}"/>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 name="Line 100">
                <a:extLst>
                  <a:ext uri="{FF2B5EF4-FFF2-40B4-BE49-F238E27FC236}">
                    <a16:creationId xmlns:a16="http://schemas.microsoft.com/office/drawing/2014/main" id="{7D8ECBF2-BD09-5546-B1A0-0461CEB99A47}"/>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9" name="Line 101">
                <a:extLst>
                  <a:ext uri="{FF2B5EF4-FFF2-40B4-BE49-F238E27FC236}">
                    <a16:creationId xmlns:a16="http://schemas.microsoft.com/office/drawing/2014/main" id="{CD55ABC6-B3EC-9141-8D64-EF1739508F9C}"/>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 name="Line 102">
                <a:extLst>
                  <a:ext uri="{FF2B5EF4-FFF2-40B4-BE49-F238E27FC236}">
                    <a16:creationId xmlns:a16="http://schemas.microsoft.com/office/drawing/2014/main" id="{F374E8B9-A3D3-E44C-9C6A-B642BBE33FFD}"/>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1" name="Line 103">
                <a:extLst>
                  <a:ext uri="{FF2B5EF4-FFF2-40B4-BE49-F238E27FC236}">
                    <a16:creationId xmlns:a16="http://schemas.microsoft.com/office/drawing/2014/main" id="{3751AAC9-6F4C-7749-AAC5-4B38B177A77C}"/>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 name="Line 104">
                <a:extLst>
                  <a:ext uri="{FF2B5EF4-FFF2-40B4-BE49-F238E27FC236}">
                    <a16:creationId xmlns:a16="http://schemas.microsoft.com/office/drawing/2014/main" id="{2C47D789-60DF-A048-884D-23DAD9386963}"/>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53" name="TextBox 152">
              <a:extLst>
                <a:ext uri="{FF2B5EF4-FFF2-40B4-BE49-F238E27FC236}">
                  <a16:creationId xmlns:a16="http://schemas.microsoft.com/office/drawing/2014/main" id="{ACB2D1A9-5B9B-004C-9B22-AEABB99E2FA8}"/>
                </a:ext>
              </a:extLst>
            </p:cNvPr>
            <p:cNvSpPr txBox="1"/>
            <p:nvPr/>
          </p:nvSpPr>
          <p:spPr>
            <a:xfrm>
              <a:off x="4118203" y="2889524"/>
              <a:ext cx="718688" cy="338554"/>
            </a:xfrm>
            <a:prstGeom prst="rect">
              <a:avLst/>
            </a:prstGeom>
            <a:noFill/>
          </p:spPr>
          <p:txBody>
            <a:bodyPr wrap="square" rtlCol="0">
              <a:spAutoFit/>
            </a:bodyPr>
            <a:lstStyle/>
            <a:p>
              <a:r>
                <a:rPr lang="en-US" sz="1600" dirty="0"/>
                <a:t>J309</a:t>
              </a:r>
            </a:p>
          </p:txBody>
        </p:sp>
        <p:grpSp>
          <p:nvGrpSpPr>
            <p:cNvPr id="154" name="Group 210">
              <a:extLst>
                <a:ext uri="{FF2B5EF4-FFF2-40B4-BE49-F238E27FC236}">
                  <a16:creationId xmlns:a16="http://schemas.microsoft.com/office/drawing/2014/main" id="{B92A1D3D-6789-5B4A-A167-8726E8BC3BA6}"/>
                </a:ext>
              </a:extLst>
            </p:cNvPr>
            <p:cNvGrpSpPr>
              <a:grpSpLocks/>
            </p:cNvGrpSpPr>
            <p:nvPr/>
          </p:nvGrpSpPr>
          <p:grpSpPr bwMode="auto">
            <a:xfrm>
              <a:off x="1319997" y="3066398"/>
              <a:ext cx="304800" cy="762000"/>
              <a:chOff x="3216" y="1728"/>
              <a:chExt cx="192" cy="480"/>
            </a:xfrm>
          </p:grpSpPr>
          <p:sp>
            <p:nvSpPr>
              <p:cNvPr id="155" name="Line 8">
                <a:extLst>
                  <a:ext uri="{FF2B5EF4-FFF2-40B4-BE49-F238E27FC236}">
                    <a16:creationId xmlns:a16="http://schemas.microsoft.com/office/drawing/2014/main" id="{A04300E6-BD51-224A-901C-C22DCAD473F1}"/>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 name="Line 9">
                <a:extLst>
                  <a:ext uri="{FF2B5EF4-FFF2-40B4-BE49-F238E27FC236}">
                    <a16:creationId xmlns:a16="http://schemas.microsoft.com/office/drawing/2014/main" id="{8E1F5729-0BC5-0C40-B74E-055CFE9A4D2F}"/>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7" name="Line 10">
                <a:extLst>
                  <a:ext uri="{FF2B5EF4-FFF2-40B4-BE49-F238E27FC236}">
                    <a16:creationId xmlns:a16="http://schemas.microsoft.com/office/drawing/2014/main" id="{6839D7E5-49AE-8242-AB24-F3CF53BCD7C6}"/>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8" name="Line 11">
                <a:extLst>
                  <a:ext uri="{FF2B5EF4-FFF2-40B4-BE49-F238E27FC236}">
                    <a16:creationId xmlns:a16="http://schemas.microsoft.com/office/drawing/2014/main" id="{7B30CAE5-1721-FF46-8FEF-B822BB722C59}"/>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9" name="Group 222">
              <a:extLst>
                <a:ext uri="{FF2B5EF4-FFF2-40B4-BE49-F238E27FC236}">
                  <a16:creationId xmlns:a16="http://schemas.microsoft.com/office/drawing/2014/main" id="{1BD453E5-4E42-504C-95FD-C85A77FD19EB}"/>
                </a:ext>
              </a:extLst>
            </p:cNvPr>
            <p:cNvGrpSpPr>
              <a:grpSpLocks/>
            </p:cNvGrpSpPr>
            <p:nvPr/>
          </p:nvGrpSpPr>
          <p:grpSpPr bwMode="auto">
            <a:xfrm>
              <a:off x="1323150" y="3692834"/>
              <a:ext cx="304800" cy="381000"/>
              <a:chOff x="4272" y="3072"/>
              <a:chExt cx="192" cy="240"/>
            </a:xfrm>
          </p:grpSpPr>
          <p:sp>
            <p:nvSpPr>
              <p:cNvPr id="160" name="Line 99">
                <a:extLst>
                  <a:ext uri="{FF2B5EF4-FFF2-40B4-BE49-F238E27FC236}">
                    <a16:creationId xmlns:a16="http://schemas.microsoft.com/office/drawing/2014/main" id="{81B76BD8-D7CC-4445-9711-CB2C8DC6C41E}"/>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1" name="Line 100">
                <a:extLst>
                  <a:ext uri="{FF2B5EF4-FFF2-40B4-BE49-F238E27FC236}">
                    <a16:creationId xmlns:a16="http://schemas.microsoft.com/office/drawing/2014/main" id="{15B60F38-8AF1-CB44-9D3E-1788BABFE740}"/>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2" name="Line 101">
                <a:extLst>
                  <a:ext uri="{FF2B5EF4-FFF2-40B4-BE49-F238E27FC236}">
                    <a16:creationId xmlns:a16="http://schemas.microsoft.com/office/drawing/2014/main" id="{491BC384-1C75-9644-8BF9-4E8BB5F40D82}"/>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 name="Line 102">
                <a:extLst>
                  <a:ext uri="{FF2B5EF4-FFF2-40B4-BE49-F238E27FC236}">
                    <a16:creationId xmlns:a16="http://schemas.microsoft.com/office/drawing/2014/main" id="{83D26195-7D90-2743-8AEE-6070F5D90AA0}"/>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 name="Line 103">
                <a:extLst>
                  <a:ext uri="{FF2B5EF4-FFF2-40B4-BE49-F238E27FC236}">
                    <a16:creationId xmlns:a16="http://schemas.microsoft.com/office/drawing/2014/main" id="{169A9EFA-A2BD-564A-B5B7-57917E7FBC5D}"/>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5" name="Line 104">
                <a:extLst>
                  <a:ext uri="{FF2B5EF4-FFF2-40B4-BE49-F238E27FC236}">
                    <a16:creationId xmlns:a16="http://schemas.microsoft.com/office/drawing/2014/main" id="{CA08A85C-D225-7049-ADD1-1A43CEE70FEA}"/>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66" name="TextBox 165">
              <a:extLst>
                <a:ext uri="{FF2B5EF4-FFF2-40B4-BE49-F238E27FC236}">
                  <a16:creationId xmlns:a16="http://schemas.microsoft.com/office/drawing/2014/main" id="{338CA1A2-1BE7-EC4B-AED9-BB4DE2DB874F}"/>
                </a:ext>
              </a:extLst>
            </p:cNvPr>
            <p:cNvSpPr txBox="1"/>
            <p:nvPr/>
          </p:nvSpPr>
          <p:spPr>
            <a:xfrm>
              <a:off x="1500345" y="3480439"/>
              <a:ext cx="718688" cy="338554"/>
            </a:xfrm>
            <a:prstGeom prst="rect">
              <a:avLst/>
            </a:prstGeom>
            <a:noFill/>
          </p:spPr>
          <p:txBody>
            <a:bodyPr wrap="square" rtlCol="0">
              <a:spAutoFit/>
            </a:bodyPr>
            <a:lstStyle/>
            <a:p>
              <a:r>
                <a:rPr lang="en-US" sz="1600" dirty="0"/>
                <a:t>200pF</a:t>
              </a:r>
            </a:p>
          </p:txBody>
        </p:sp>
        <p:grpSp>
          <p:nvGrpSpPr>
            <p:cNvPr id="167" name="Group 210">
              <a:extLst>
                <a:ext uri="{FF2B5EF4-FFF2-40B4-BE49-F238E27FC236}">
                  <a16:creationId xmlns:a16="http://schemas.microsoft.com/office/drawing/2014/main" id="{D9FD9644-B83F-634C-86E3-D52DE826985B}"/>
                </a:ext>
              </a:extLst>
            </p:cNvPr>
            <p:cNvGrpSpPr>
              <a:grpSpLocks/>
            </p:cNvGrpSpPr>
            <p:nvPr/>
          </p:nvGrpSpPr>
          <p:grpSpPr bwMode="auto">
            <a:xfrm>
              <a:off x="923760" y="3062042"/>
              <a:ext cx="304800" cy="762000"/>
              <a:chOff x="3216" y="1728"/>
              <a:chExt cx="192" cy="480"/>
            </a:xfrm>
          </p:grpSpPr>
          <p:sp>
            <p:nvSpPr>
              <p:cNvPr id="168" name="Line 8">
                <a:extLst>
                  <a:ext uri="{FF2B5EF4-FFF2-40B4-BE49-F238E27FC236}">
                    <a16:creationId xmlns:a16="http://schemas.microsoft.com/office/drawing/2014/main" id="{1107C574-C765-144F-ADF6-7C444F4A04AF}"/>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 name="Line 9">
                <a:extLst>
                  <a:ext uri="{FF2B5EF4-FFF2-40B4-BE49-F238E27FC236}">
                    <a16:creationId xmlns:a16="http://schemas.microsoft.com/office/drawing/2014/main" id="{E63EE363-AC49-FB4A-88F7-89AA7FB0AF6D}"/>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0" name="Line 10">
                <a:extLst>
                  <a:ext uri="{FF2B5EF4-FFF2-40B4-BE49-F238E27FC236}">
                    <a16:creationId xmlns:a16="http://schemas.microsoft.com/office/drawing/2014/main" id="{27EF66DD-97AA-7540-93F7-C57FDB1F9452}"/>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1" name="Line 11">
                <a:extLst>
                  <a:ext uri="{FF2B5EF4-FFF2-40B4-BE49-F238E27FC236}">
                    <a16:creationId xmlns:a16="http://schemas.microsoft.com/office/drawing/2014/main" id="{34B57137-F07B-AE44-A4C2-415615FBF0BF}"/>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72" name="Group 222">
              <a:extLst>
                <a:ext uri="{FF2B5EF4-FFF2-40B4-BE49-F238E27FC236}">
                  <a16:creationId xmlns:a16="http://schemas.microsoft.com/office/drawing/2014/main" id="{401284F0-1A43-F548-9018-F0585A647531}"/>
                </a:ext>
              </a:extLst>
            </p:cNvPr>
            <p:cNvGrpSpPr>
              <a:grpSpLocks/>
            </p:cNvGrpSpPr>
            <p:nvPr/>
          </p:nvGrpSpPr>
          <p:grpSpPr bwMode="auto">
            <a:xfrm>
              <a:off x="926913" y="3688478"/>
              <a:ext cx="304800" cy="381000"/>
              <a:chOff x="4272" y="3072"/>
              <a:chExt cx="192" cy="240"/>
            </a:xfrm>
          </p:grpSpPr>
          <p:sp>
            <p:nvSpPr>
              <p:cNvPr id="173" name="Line 99">
                <a:extLst>
                  <a:ext uri="{FF2B5EF4-FFF2-40B4-BE49-F238E27FC236}">
                    <a16:creationId xmlns:a16="http://schemas.microsoft.com/office/drawing/2014/main" id="{78FB5DBB-56B8-AB4E-A358-A8CF4E4915C9}"/>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 name="Line 100">
                <a:extLst>
                  <a:ext uri="{FF2B5EF4-FFF2-40B4-BE49-F238E27FC236}">
                    <a16:creationId xmlns:a16="http://schemas.microsoft.com/office/drawing/2014/main" id="{608B3452-E347-FF47-8A31-119523128E95}"/>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5" name="Line 101">
                <a:extLst>
                  <a:ext uri="{FF2B5EF4-FFF2-40B4-BE49-F238E27FC236}">
                    <a16:creationId xmlns:a16="http://schemas.microsoft.com/office/drawing/2014/main" id="{066A6C65-BC6F-2E49-8B11-C01BFE4801A8}"/>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6" name="Line 102">
                <a:extLst>
                  <a:ext uri="{FF2B5EF4-FFF2-40B4-BE49-F238E27FC236}">
                    <a16:creationId xmlns:a16="http://schemas.microsoft.com/office/drawing/2014/main" id="{C15FE030-5300-374E-B41A-A83ED7099939}"/>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7" name="Line 103">
                <a:extLst>
                  <a:ext uri="{FF2B5EF4-FFF2-40B4-BE49-F238E27FC236}">
                    <a16:creationId xmlns:a16="http://schemas.microsoft.com/office/drawing/2014/main" id="{F219BCEB-1AC9-B14F-9DC2-EBA0B436C4AE}"/>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8" name="Line 104">
                <a:extLst>
                  <a:ext uri="{FF2B5EF4-FFF2-40B4-BE49-F238E27FC236}">
                    <a16:creationId xmlns:a16="http://schemas.microsoft.com/office/drawing/2014/main" id="{A1A0C10F-530B-774B-840E-98AAFC750DD8}"/>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79" name="TextBox 178">
              <a:extLst>
                <a:ext uri="{FF2B5EF4-FFF2-40B4-BE49-F238E27FC236}">
                  <a16:creationId xmlns:a16="http://schemas.microsoft.com/office/drawing/2014/main" id="{5E967BC3-4510-DB44-B62C-CEFF50C7C016}"/>
                </a:ext>
              </a:extLst>
            </p:cNvPr>
            <p:cNvSpPr txBox="1"/>
            <p:nvPr/>
          </p:nvSpPr>
          <p:spPr>
            <a:xfrm>
              <a:off x="254437" y="3236656"/>
              <a:ext cx="718688" cy="338554"/>
            </a:xfrm>
            <a:prstGeom prst="rect">
              <a:avLst/>
            </a:prstGeom>
            <a:noFill/>
          </p:spPr>
          <p:txBody>
            <a:bodyPr wrap="square" rtlCol="0">
              <a:spAutoFit/>
            </a:bodyPr>
            <a:lstStyle/>
            <a:p>
              <a:r>
                <a:rPr lang="en-US" sz="1600" dirty="0"/>
                <a:t>100pf</a:t>
              </a:r>
            </a:p>
          </p:txBody>
        </p:sp>
        <p:cxnSp>
          <p:nvCxnSpPr>
            <p:cNvPr id="180" name="Straight Connector 179">
              <a:extLst>
                <a:ext uri="{FF2B5EF4-FFF2-40B4-BE49-F238E27FC236}">
                  <a16:creationId xmlns:a16="http://schemas.microsoft.com/office/drawing/2014/main" id="{EFBBFFB3-0851-894C-ADDD-0A953CA984F1}"/>
                </a:ext>
              </a:extLst>
            </p:cNvPr>
            <p:cNvCxnSpPr>
              <a:cxnSpLocks/>
            </p:cNvCxnSpPr>
            <p:nvPr/>
          </p:nvCxnSpPr>
          <p:spPr>
            <a:xfrm>
              <a:off x="1064204" y="3063810"/>
              <a:ext cx="1166051" cy="661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2" name="TextBox 181">
              <a:extLst>
                <a:ext uri="{FF2B5EF4-FFF2-40B4-BE49-F238E27FC236}">
                  <a16:creationId xmlns:a16="http://schemas.microsoft.com/office/drawing/2014/main" id="{A0A1507C-1FF9-AA44-8D93-C42B7A33208B}"/>
                </a:ext>
              </a:extLst>
            </p:cNvPr>
            <p:cNvSpPr txBox="1"/>
            <p:nvPr/>
          </p:nvSpPr>
          <p:spPr>
            <a:xfrm>
              <a:off x="2356699" y="2579159"/>
              <a:ext cx="718688" cy="338554"/>
            </a:xfrm>
            <a:prstGeom prst="rect">
              <a:avLst/>
            </a:prstGeom>
            <a:noFill/>
          </p:spPr>
          <p:txBody>
            <a:bodyPr wrap="square" rtlCol="0">
              <a:spAutoFit/>
            </a:bodyPr>
            <a:lstStyle/>
            <a:p>
              <a:r>
                <a:rPr lang="en-US" sz="1600" dirty="0"/>
                <a:t>2.7 pf</a:t>
              </a:r>
            </a:p>
          </p:txBody>
        </p:sp>
        <p:grpSp>
          <p:nvGrpSpPr>
            <p:cNvPr id="183" name="Group 209">
              <a:extLst>
                <a:ext uri="{FF2B5EF4-FFF2-40B4-BE49-F238E27FC236}">
                  <a16:creationId xmlns:a16="http://schemas.microsoft.com/office/drawing/2014/main" id="{5A79ACD3-3CC8-F343-A787-76F58EB129C9}"/>
                </a:ext>
              </a:extLst>
            </p:cNvPr>
            <p:cNvGrpSpPr>
              <a:grpSpLocks/>
            </p:cNvGrpSpPr>
            <p:nvPr/>
          </p:nvGrpSpPr>
          <p:grpSpPr bwMode="auto">
            <a:xfrm>
              <a:off x="2149938" y="4065548"/>
              <a:ext cx="152400" cy="762000"/>
              <a:chOff x="3935" y="1728"/>
              <a:chExt cx="96" cy="480"/>
            </a:xfrm>
          </p:grpSpPr>
          <p:sp>
            <p:nvSpPr>
              <p:cNvPr id="184" name="Arc 59">
                <a:extLst>
                  <a:ext uri="{FF2B5EF4-FFF2-40B4-BE49-F238E27FC236}">
                    <a16:creationId xmlns:a16="http://schemas.microsoft.com/office/drawing/2014/main" id="{2EA520FC-5203-0449-914B-115C61CFF006}"/>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5" name="Arc 60">
                <a:extLst>
                  <a:ext uri="{FF2B5EF4-FFF2-40B4-BE49-F238E27FC236}">
                    <a16:creationId xmlns:a16="http://schemas.microsoft.com/office/drawing/2014/main" id="{D822ADFC-785D-8242-B9D8-4F4CA70483D0}"/>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6" name="Arc 61">
                <a:extLst>
                  <a:ext uri="{FF2B5EF4-FFF2-40B4-BE49-F238E27FC236}">
                    <a16:creationId xmlns:a16="http://schemas.microsoft.com/office/drawing/2014/main" id="{1481043E-C756-9446-96E8-FAE9D66BE9A9}"/>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7" name="Arc 62">
                <a:extLst>
                  <a:ext uri="{FF2B5EF4-FFF2-40B4-BE49-F238E27FC236}">
                    <a16:creationId xmlns:a16="http://schemas.microsoft.com/office/drawing/2014/main" id="{C73E8CA7-F0AB-A641-A2B7-1C30178A93E1}"/>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8" name="Line 63">
                <a:extLst>
                  <a:ext uri="{FF2B5EF4-FFF2-40B4-BE49-F238E27FC236}">
                    <a16:creationId xmlns:a16="http://schemas.microsoft.com/office/drawing/2014/main" id="{94D8BE49-B78C-4740-88C4-EBB83CB78270}"/>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9" name="Line 64">
                <a:extLst>
                  <a:ext uri="{FF2B5EF4-FFF2-40B4-BE49-F238E27FC236}">
                    <a16:creationId xmlns:a16="http://schemas.microsoft.com/office/drawing/2014/main" id="{31A41E3C-6D7E-B449-AE77-125DC71946A8}"/>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0" name="Arc 65">
                <a:extLst>
                  <a:ext uri="{FF2B5EF4-FFF2-40B4-BE49-F238E27FC236}">
                    <a16:creationId xmlns:a16="http://schemas.microsoft.com/office/drawing/2014/main" id="{8A2100BC-A8AA-6643-AE02-26EECC3BAD24}"/>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1" name="Arc 66">
                <a:extLst>
                  <a:ext uri="{FF2B5EF4-FFF2-40B4-BE49-F238E27FC236}">
                    <a16:creationId xmlns:a16="http://schemas.microsoft.com/office/drawing/2014/main" id="{1BEEB7E4-D67C-E240-8529-BB824CAE69FA}"/>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2" name="Arc 67">
                <a:extLst>
                  <a:ext uri="{FF2B5EF4-FFF2-40B4-BE49-F238E27FC236}">
                    <a16:creationId xmlns:a16="http://schemas.microsoft.com/office/drawing/2014/main" id="{6CBA96DB-8B85-4F48-A60B-6E218392B095}"/>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3" name="Arc 68">
                <a:extLst>
                  <a:ext uri="{FF2B5EF4-FFF2-40B4-BE49-F238E27FC236}">
                    <a16:creationId xmlns:a16="http://schemas.microsoft.com/office/drawing/2014/main" id="{B24F0E61-DA49-0146-ADFF-68D9FDCDBA4D}"/>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4" name="Arc 69">
                <a:extLst>
                  <a:ext uri="{FF2B5EF4-FFF2-40B4-BE49-F238E27FC236}">
                    <a16:creationId xmlns:a16="http://schemas.microsoft.com/office/drawing/2014/main" id="{79FDBB86-064B-C74E-BD84-A750C7EC7011}"/>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5" name="Arc 70">
                <a:extLst>
                  <a:ext uri="{FF2B5EF4-FFF2-40B4-BE49-F238E27FC236}">
                    <a16:creationId xmlns:a16="http://schemas.microsoft.com/office/drawing/2014/main" id="{7E8A0BC9-5A41-EB43-939B-D6089A49D78B}"/>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6" name="Arc 71">
                <a:extLst>
                  <a:ext uri="{FF2B5EF4-FFF2-40B4-BE49-F238E27FC236}">
                    <a16:creationId xmlns:a16="http://schemas.microsoft.com/office/drawing/2014/main" id="{C48E0055-72B3-9B4E-9E05-D97D8E8A8E4F}"/>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cxnSp>
          <p:nvCxnSpPr>
            <p:cNvPr id="198" name="Straight Connector 197">
              <a:extLst>
                <a:ext uri="{FF2B5EF4-FFF2-40B4-BE49-F238E27FC236}">
                  <a16:creationId xmlns:a16="http://schemas.microsoft.com/office/drawing/2014/main" id="{8ACFAC6F-C4F3-4742-B9F4-DF4D377B5410}"/>
                </a:ext>
              </a:extLst>
            </p:cNvPr>
            <p:cNvCxnSpPr>
              <a:cxnSpLocks/>
            </p:cNvCxnSpPr>
            <p:nvPr/>
          </p:nvCxnSpPr>
          <p:spPr>
            <a:xfrm>
              <a:off x="2234640" y="3069251"/>
              <a:ext cx="0" cy="105024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01" name="Oval 200">
              <a:extLst>
                <a:ext uri="{FF2B5EF4-FFF2-40B4-BE49-F238E27FC236}">
                  <a16:creationId xmlns:a16="http://schemas.microsoft.com/office/drawing/2014/main" id="{E264A918-3CE3-6447-BBAC-8772969014EA}"/>
                </a:ext>
              </a:extLst>
            </p:cNvPr>
            <p:cNvSpPr>
              <a:spLocks noChangeAspect="1" noChangeArrowheads="1"/>
            </p:cNvSpPr>
            <p:nvPr/>
          </p:nvSpPr>
          <p:spPr bwMode="auto">
            <a:xfrm>
              <a:off x="2161461" y="3006209"/>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cxnSp>
          <p:nvCxnSpPr>
            <p:cNvPr id="204" name="Straight Connector 203">
              <a:extLst>
                <a:ext uri="{FF2B5EF4-FFF2-40B4-BE49-F238E27FC236}">
                  <a16:creationId xmlns:a16="http://schemas.microsoft.com/office/drawing/2014/main" id="{00A7B189-6937-4142-8D54-5D8E3D8F7813}"/>
                </a:ext>
              </a:extLst>
            </p:cNvPr>
            <p:cNvCxnSpPr>
              <a:cxnSpLocks/>
            </p:cNvCxnSpPr>
            <p:nvPr/>
          </p:nvCxnSpPr>
          <p:spPr>
            <a:xfrm>
              <a:off x="4215840" y="3492110"/>
              <a:ext cx="0" cy="105024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05" name="Oval 204">
              <a:extLst>
                <a:ext uri="{FF2B5EF4-FFF2-40B4-BE49-F238E27FC236}">
                  <a16:creationId xmlns:a16="http://schemas.microsoft.com/office/drawing/2014/main" id="{5A571B59-75FE-FA4E-B8A7-13EA9E78EE0C}"/>
                </a:ext>
              </a:extLst>
            </p:cNvPr>
            <p:cNvSpPr>
              <a:spLocks noChangeAspect="1" noChangeArrowheads="1"/>
            </p:cNvSpPr>
            <p:nvPr/>
          </p:nvSpPr>
          <p:spPr bwMode="auto">
            <a:xfrm>
              <a:off x="4153544" y="4471143"/>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07" name="TextBox 206">
              <a:extLst>
                <a:ext uri="{FF2B5EF4-FFF2-40B4-BE49-F238E27FC236}">
                  <a16:creationId xmlns:a16="http://schemas.microsoft.com/office/drawing/2014/main" id="{67EE4E82-F1C9-9347-A940-EBFF450E0C89}"/>
                </a:ext>
              </a:extLst>
            </p:cNvPr>
            <p:cNvSpPr txBox="1"/>
            <p:nvPr/>
          </p:nvSpPr>
          <p:spPr>
            <a:xfrm>
              <a:off x="1566826" y="4301866"/>
              <a:ext cx="718688" cy="338554"/>
            </a:xfrm>
            <a:prstGeom prst="rect">
              <a:avLst/>
            </a:prstGeom>
            <a:noFill/>
          </p:spPr>
          <p:txBody>
            <a:bodyPr wrap="square" rtlCol="0">
              <a:spAutoFit/>
            </a:bodyPr>
            <a:lstStyle/>
            <a:p>
              <a:r>
                <a:rPr lang="en-US" sz="1600" dirty="0"/>
                <a:t>2uF</a:t>
              </a:r>
            </a:p>
          </p:txBody>
        </p:sp>
        <p:sp>
          <p:nvSpPr>
            <p:cNvPr id="208" name="TextBox 207">
              <a:extLst>
                <a:ext uri="{FF2B5EF4-FFF2-40B4-BE49-F238E27FC236}">
                  <a16:creationId xmlns:a16="http://schemas.microsoft.com/office/drawing/2014/main" id="{0FDE5593-7104-0546-B073-34303180873C}"/>
                </a:ext>
              </a:extLst>
            </p:cNvPr>
            <p:cNvSpPr txBox="1"/>
            <p:nvPr/>
          </p:nvSpPr>
          <p:spPr>
            <a:xfrm>
              <a:off x="2376152" y="4608703"/>
              <a:ext cx="951822" cy="584775"/>
            </a:xfrm>
            <a:prstGeom prst="rect">
              <a:avLst/>
            </a:prstGeom>
            <a:noFill/>
          </p:spPr>
          <p:txBody>
            <a:bodyPr wrap="square" rtlCol="0">
              <a:spAutoFit/>
            </a:bodyPr>
            <a:lstStyle/>
            <a:p>
              <a:r>
                <a:rPr lang="en-US" sz="1600" dirty="0"/>
                <a:t>¼ from ground</a:t>
              </a:r>
            </a:p>
          </p:txBody>
        </p:sp>
      </p:grpSp>
      <p:sp>
        <p:nvSpPr>
          <p:cNvPr id="478" name="TextBox 477">
            <a:extLst>
              <a:ext uri="{FF2B5EF4-FFF2-40B4-BE49-F238E27FC236}">
                <a16:creationId xmlns:a16="http://schemas.microsoft.com/office/drawing/2014/main" id="{8B2CC0B5-0DB9-AC47-B843-254D77FD89FA}"/>
              </a:ext>
            </a:extLst>
          </p:cNvPr>
          <p:cNvSpPr txBox="1"/>
          <p:nvPr/>
        </p:nvSpPr>
        <p:spPr>
          <a:xfrm>
            <a:off x="1026154" y="1998201"/>
            <a:ext cx="2101360" cy="338554"/>
          </a:xfrm>
          <a:prstGeom prst="rect">
            <a:avLst/>
          </a:prstGeom>
          <a:noFill/>
        </p:spPr>
        <p:txBody>
          <a:bodyPr wrap="square" rtlCol="0">
            <a:spAutoFit/>
          </a:bodyPr>
          <a:lstStyle/>
          <a:p>
            <a:r>
              <a:rPr lang="en-US" sz="1600" dirty="0"/>
              <a:t>Hartley</a:t>
            </a:r>
          </a:p>
        </p:txBody>
      </p:sp>
      <p:grpSp>
        <p:nvGrpSpPr>
          <p:cNvPr id="480" name="Group 479">
            <a:extLst>
              <a:ext uri="{FF2B5EF4-FFF2-40B4-BE49-F238E27FC236}">
                <a16:creationId xmlns:a16="http://schemas.microsoft.com/office/drawing/2014/main" id="{21DFA519-17BC-A044-8BBC-B5C85AC9C60B}"/>
              </a:ext>
            </a:extLst>
          </p:cNvPr>
          <p:cNvGrpSpPr/>
          <p:nvPr/>
        </p:nvGrpSpPr>
        <p:grpSpPr>
          <a:xfrm>
            <a:off x="4954750" y="1653696"/>
            <a:ext cx="6855391" cy="4636112"/>
            <a:chOff x="5077410" y="1225673"/>
            <a:chExt cx="6855391" cy="4636112"/>
          </a:xfrm>
        </p:grpSpPr>
        <p:grpSp>
          <p:nvGrpSpPr>
            <p:cNvPr id="209" name="Group 208">
              <a:extLst>
                <a:ext uri="{FF2B5EF4-FFF2-40B4-BE49-F238E27FC236}">
                  <a16:creationId xmlns:a16="http://schemas.microsoft.com/office/drawing/2014/main" id="{D175437A-E9E0-1E45-8042-52B02E5FCB31}"/>
                </a:ext>
              </a:extLst>
            </p:cNvPr>
            <p:cNvGrpSpPr/>
            <p:nvPr/>
          </p:nvGrpSpPr>
          <p:grpSpPr>
            <a:xfrm>
              <a:off x="9678388" y="2633155"/>
              <a:ext cx="718684" cy="1036429"/>
              <a:chOff x="2362200" y="1905000"/>
              <a:chExt cx="762000" cy="1219200"/>
            </a:xfrm>
          </p:grpSpPr>
          <p:cxnSp>
            <p:nvCxnSpPr>
              <p:cNvPr id="210" name="Straight Connector 209">
                <a:extLst>
                  <a:ext uri="{FF2B5EF4-FFF2-40B4-BE49-F238E27FC236}">
                    <a16:creationId xmlns:a16="http://schemas.microsoft.com/office/drawing/2014/main" id="{82AB9AEA-E91E-D64D-B603-3229FCCCEE19}"/>
                  </a:ext>
                </a:extLst>
              </p:cNvPr>
              <p:cNvCxnSpPr/>
              <p:nvPr/>
            </p:nvCxnSpPr>
            <p:spPr bwMode="auto">
              <a:xfrm>
                <a:off x="2819400" y="2209800"/>
                <a:ext cx="0" cy="640080"/>
              </a:xfrm>
              <a:prstGeom prst="line">
                <a:avLst/>
              </a:prstGeom>
              <a:solidFill>
                <a:schemeClr val="accent1"/>
              </a:solidFill>
              <a:ln w="31750" cap="flat" cmpd="sng" algn="ctr">
                <a:solidFill>
                  <a:schemeClr val="tx1"/>
                </a:solidFill>
                <a:prstDash val="solid"/>
                <a:round/>
                <a:headEnd type="none" w="med" len="med"/>
                <a:tailEnd type="none" w="med" len="med"/>
              </a:ln>
              <a:effectLst/>
            </p:spPr>
          </p:cxnSp>
          <p:cxnSp>
            <p:nvCxnSpPr>
              <p:cNvPr id="211" name="Straight Connector 210">
                <a:extLst>
                  <a:ext uri="{FF2B5EF4-FFF2-40B4-BE49-F238E27FC236}">
                    <a16:creationId xmlns:a16="http://schemas.microsoft.com/office/drawing/2014/main" id="{43BCEA17-1C3F-1E4C-A82D-24F79AFD9A99}"/>
                  </a:ext>
                </a:extLst>
              </p:cNvPr>
              <p:cNvCxnSpPr/>
              <p:nvPr/>
            </p:nvCxnSpPr>
            <p:spPr bwMode="auto">
              <a:xfrm>
                <a:off x="3124200" y="1905000"/>
                <a:ext cx="0" cy="45720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212" name="Straight Connector 211">
                <a:extLst>
                  <a:ext uri="{FF2B5EF4-FFF2-40B4-BE49-F238E27FC236}">
                    <a16:creationId xmlns:a16="http://schemas.microsoft.com/office/drawing/2014/main" id="{CA083F3B-A1E3-CD4B-8ECF-926D0EBFABE6}"/>
                  </a:ext>
                </a:extLst>
              </p:cNvPr>
              <p:cNvCxnSpPr>
                <a:cxnSpLocks/>
              </p:cNvCxnSpPr>
              <p:nvPr/>
            </p:nvCxnSpPr>
            <p:spPr bwMode="auto">
              <a:xfrm>
                <a:off x="2819400" y="2362200"/>
                <a:ext cx="304800"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213" name="Straight Connector 212">
                <a:extLst>
                  <a:ext uri="{FF2B5EF4-FFF2-40B4-BE49-F238E27FC236}">
                    <a16:creationId xmlns:a16="http://schemas.microsoft.com/office/drawing/2014/main" id="{F5E8EB3E-6706-304F-9C2A-68E5FD729774}"/>
                  </a:ext>
                </a:extLst>
              </p:cNvPr>
              <p:cNvCxnSpPr>
                <a:cxnSpLocks/>
              </p:cNvCxnSpPr>
              <p:nvPr/>
            </p:nvCxnSpPr>
            <p:spPr bwMode="auto">
              <a:xfrm>
                <a:off x="2819400" y="2667000"/>
                <a:ext cx="304800"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214" name="Straight Connector 213">
                <a:extLst>
                  <a:ext uri="{FF2B5EF4-FFF2-40B4-BE49-F238E27FC236}">
                    <a16:creationId xmlns:a16="http://schemas.microsoft.com/office/drawing/2014/main" id="{BC4B6626-7C8D-D043-AD70-9F29F6D98B58}"/>
                  </a:ext>
                </a:extLst>
              </p:cNvPr>
              <p:cNvCxnSpPr/>
              <p:nvPr/>
            </p:nvCxnSpPr>
            <p:spPr bwMode="auto">
              <a:xfrm>
                <a:off x="3124200" y="2667000"/>
                <a:ext cx="0" cy="45720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215" name="Straight Arrow Connector 214">
                <a:extLst>
                  <a:ext uri="{FF2B5EF4-FFF2-40B4-BE49-F238E27FC236}">
                    <a16:creationId xmlns:a16="http://schemas.microsoft.com/office/drawing/2014/main" id="{6F9778BF-F5D2-FD43-9BCC-2DDAE62D0B88}"/>
                  </a:ext>
                </a:extLst>
              </p:cNvPr>
              <p:cNvCxnSpPr>
                <a:cxnSpLocks/>
              </p:cNvCxnSpPr>
              <p:nvPr/>
            </p:nvCxnSpPr>
            <p:spPr bwMode="auto">
              <a:xfrm>
                <a:off x="2362200" y="2514600"/>
                <a:ext cx="457200" cy="0"/>
              </a:xfrm>
              <a:prstGeom prst="straightConnector1">
                <a:avLst/>
              </a:prstGeom>
              <a:solidFill>
                <a:schemeClr val="accent1"/>
              </a:solidFill>
              <a:ln w="25400" cap="flat" cmpd="sng" algn="ctr">
                <a:solidFill>
                  <a:schemeClr val="tx1"/>
                </a:solidFill>
                <a:prstDash val="solid"/>
                <a:round/>
                <a:headEnd type="none" w="med" len="med"/>
                <a:tailEnd type="triangle"/>
              </a:ln>
              <a:effectLst/>
            </p:spPr>
          </p:cxnSp>
          <p:sp>
            <p:nvSpPr>
              <p:cNvPr id="216" name="TextBox 215">
                <a:extLst>
                  <a:ext uri="{FF2B5EF4-FFF2-40B4-BE49-F238E27FC236}">
                    <a16:creationId xmlns:a16="http://schemas.microsoft.com/office/drawing/2014/main" id="{4F5D8D41-C31F-BF4C-A6CA-981C269DA858}"/>
                  </a:ext>
                </a:extLst>
              </p:cNvPr>
              <p:cNvSpPr txBox="1"/>
              <p:nvPr/>
            </p:nvSpPr>
            <p:spPr>
              <a:xfrm>
                <a:off x="2819400" y="1905000"/>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D</a:t>
                </a:r>
              </a:p>
            </p:txBody>
          </p:sp>
          <p:sp>
            <p:nvSpPr>
              <p:cNvPr id="217" name="TextBox 216">
                <a:extLst>
                  <a:ext uri="{FF2B5EF4-FFF2-40B4-BE49-F238E27FC236}">
                    <a16:creationId xmlns:a16="http://schemas.microsoft.com/office/drawing/2014/main" id="{332AE057-8F41-7D45-9FA5-5AA208BBA147}"/>
                  </a:ext>
                </a:extLst>
              </p:cNvPr>
              <p:cNvSpPr txBox="1"/>
              <p:nvPr/>
            </p:nvSpPr>
            <p:spPr>
              <a:xfrm>
                <a:off x="2819400" y="2664023"/>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S</a:t>
                </a:r>
              </a:p>
            </p:txBody>
          </p:sp>
          <p:sp>
            <p:nvSpPr>
              <p:cNvPr id="218" name="TextBox 217">
                <a:extLst>
                  <a:ext uri="{FF2B5EF4-FFF2-40B4-BE49-F238E27FC236}">
                    <a16:creationId xmlns:a16="http://schemas.microsoft.com/office/drawing/2014/main" id="{D63060F6-CF3D-6144-97ED-8C0219DA2C06}"/>
                  </a:ext>
                </a:extLst>
              </p:cNvPr>
              <p:cNvSpPr txBox="1"/>
              <p:nvPr/>
            </p:nvSpPr>
            <p:spPr>
              <a:xfrm>
                <a:off x="2438400" y="2206823"/>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G</a:t>
                </a:r>
              </a:p>
            </p:txBody>
          </p:sp>
        </p:grpSp>
        <p:cxnSp>
          <p:nvCxnSpPr>
            <p:cNvPr id="220" name="Straight Connector 219">
              <a:extLst>
                <a:ext uri="{FF2B5EF4-FFF2-40B4-BE49-F238E27FC236}">
                  <a16:creationId xmlns:a16="http://schemas.microsoft.com/office/drawing/2014/main" id="{1199CC85-2FB7-9047-BB59-AAB0AF4B3E3C}"/>
                </a:ext>
              </a:extLst>
            </p:cNvPr>
            <p:cNvCxnSpPr>
              <a:cxnSpLocks/>
            </p:cNvCxnSpPr>
            <p:nvPr/>
          </p:nvCxnSpPr>
          <p:spPr>
            <a:xfrm>
              <a:off x="7049432" y="1908732"/>
              <a:ext cx="4175578" cy="943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F64750AB-6D64-D949-BC39-6F03B93612FD}"/>
                </a:ext>
              </a:extLst>
            </p:cNvPr>
            <p:cNvCxnSpPr>
              <a:cxnSpLocks/>
            </p:cNvCxnSpPr>
            <p:nvPr/>
          </p:nvCxnSpPr>
          <p:spPr>
            <a:xfrm>
              <a:off x="10389238" y="1908732"/>
              <a:ext cx="12784" cy="8112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22" name="TextBox 221">
              <a:extLst>
                <a:ext uri="{FF2B5EF4-FFF2-40B4-BE49-F238E27FC236}">
                  <a16:creationId xmlns:a16="http://schemas.microsoft.com/office/drawing/2014/main" id="{52667624-30F8-B341-90C2-1783EC28B609}"/>
                </a:ext>
              </a:extLst>
            </p:cNvPr>
            <p:cNvSpPr txBox="1"/>
            <p:nvPr/>
          </p:nvSpPr>
          <p:spPr>
            <a:xfrm>
              <a:off x="11204692" y="1363457"/>
              <a:ext cx="718688" cy="338554"/>
            </a:xfrm>
            <a:prstGeom prst="rect">
              <a:avLst/>
            </a:prstGeom>
            <a:noFill/>
          </p:spPr>
          <p:txBody>
            <a:bodyPr wrap="square" rtlCol="0">
              <a:spAutoFit/>
            </a:bodyPr>
            <a:lstStyle/>
            <a:p>
              <a:r>
                <a:rPr lang="en-US" sz="1600" dirty="0"/>
                <a:t>9 V</a:t>
              </a:r>
            </a:p>
          </p:txBody>
        </p:sp>
        <p:grpSp>
          <p:nvGrpSpPr>
            <p:cNvPr id="228" name="Group 218">
              <a:extLst>
                <a:ext uri="{FF2B5EF4-FFF2-40B4-BE49-F238E27FC236}">
                  <a16:creationId xmlns:a16="http://schemas.microsoft.com/office/drawing/2014/main" id="{A3DB7EEF-A5D3-C548-8A43-E88DB0252BCA}"/>
                </a:ext>
              </a:extLst>
            </p:cNvPr>
            <p:cNvGrpSpPr>
              <a:grpSpLocks/>
            </p:cNvGrpSpPr>
            <p:nvPr/>
          </p:nvGrpSpPr>
          <p:grpSpPr bwMode="auto">
            <a:xfrm rot="10800000">
              <a:off x="8472335" y="3126485"/>
              <a:ext cx="152400" cy="762000"/>
              <a:chOff x="5280" y="1200"/>
              <a:chExt cx="96" cy="480"/>
            </a:xfrm>
          </p:grpSpPr>
          <p:sp>
            <p:nvSpPr>
              <p:cNvPr id="229" name="Line 106">
                <a:extLst>
                  <a:ext uri="{FF2B5EF4-FFF2-40B4-BE49-F238E27FC236}">
                    <a16:creationId xmlns:a16="http://schemas.microsoft.com/office/drawing/2014/main" id="{70CF1222-FFEF-7D4B-A8E5-40597738549E}"/>
                  </a:ext>
                </a:extLst>
              </p:cNvPr>
              <p:cNvSpPr>
                <a:spLocks noChangeAspect="1" noChangeShapeType="1"/>
              </p:cNvSpPr>
              <p:nvPr/>
            </p:nvSpPr>
            <p:spPr bwMode="auto">
              <a:xfrm>
                <a:off x="5328" y="1200"/>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0" name="Line 107">
                <a:extLst>
                  <a:ext uri="{FF2B5EF4-FFF2-40B4-BE49-F238E27FC236}">
                    <a16:creationId xmlns:a16="http://schemas.microsoft.com/office/drawing/2014/main" id="{6EC0E3F3-12BB-0046-A297-C82C3F1881A7}"/>
                  </a:ext>
                </a:extLst>
              </p:cNvPr>
              <p:cNvSpPr>
                <a:spLocks noChangeAspect="1" noChangeShapeType="1"/>
              </p:cNvSpPr>
              <p:nvPr/>
            </p:nvSpPr>
            <p:spPr bwMode="auto">
              <a:xfrm>
                <a:off x="5280" y="1392"/>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1" name="Freeform 108">
                <a:extLst>
                  <a:ext uri="{FF2B5EF4-FFF2-40B4-BE49-F238E27FC236}">
                    <a16:creationId xmlns:a16="http://schemas.microsoft.com/office/drawing/2014/main" id="{F2FC477A-A153-D14D-B846-4684F2F4B505}"/>
                  </a:ext>
                </a:extLst>
              </p:cNvPr>
              <p:cNvSpPr>
                <a:spLocks noChangeAspect="1"/>
              </p:cNvSpPr>
              <p:nvPr/>
            </p:nvSpPr>
            <p:spPr bwMode="auto">
              <a:xfrm>
                <a:off x="5280" y="1392"/>
                <a:ext cx="96" cy="96"/>
              </a:xfrm>
              <a:custGeom>
                <a:avLst/>
                <a:gdLst>
                  <a:gd name="T0" fmla="*/ 0 w 288"/>
                  <a:gd name="T1" fmla="*/ 0 h 240"/>
                  <a:gd name="T2" fmla="*/ 0 w 288"/>
                  <a:gd name="T3" fmla="*/ 1 h 240"/>
                  <a:gd name="T4" fmla="*/ 0 w 288"/>
                  <a:gd name="T5" fmla="*/ 1 h 240"/>
                  <a:gd name="T6" fmla="*/ 0 w 288"/>
                  <a:gd name="T7" fmla="*/ 0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144" y="0"/>
                    </a:moveTo>
                    <a:lnTo>
                      <a:pt x="0" y="240"/>
                    </a:lnTo>
                    <a:lnTo>
                      <a:pt x="288" y="240"/>
                    </a:lnTo>
                    <a:lnTo>
                      <a:pt x="144" y="0"/>
                    </a:lnTo>
                    <a:close/>
                  </a:path>
                </a:pathLst>
              </a:custGeom>
              <a:solidFill>
                <a:schemeClr val="tx1"/>
              </a:solidFill>
              <a:ln w="25400">
                <a:solidFill>
                  <a:schemeClr val="tx1"/>
                </a:solidFill>
                <a:round/>
                <a:headEnd/>
                <a:tailEnd/>
              </a:ln>
            </p:spPr>
            <p:txBody>
              <a:bodyPr/>
              <a:lstStyle/>
              <a:p>
                <a:endParaRPr lang="en-US"/>
              </a:p>
            </p:txBody>
          </p:sp>
          <p:sp>
            <p:nvSpPr>
              <p:cNvPr id="232" name="Line 109">
                <a:extLst>
                  <a:ext uri="{FF2B5EF4-FFF2-40B4-BE49-F238E27FC236}">
                    <a16:creationId xmlns:a16="http://schemas.microsoft.com/office/drawing/2014/main" id="{B518B1F5-F0D3-B540-986C-A0C49BB92A43}"/>
                  </a:ext>
                </a:extLst>
              </p:cNvPr>
              <p:cNvSpPr>
                <a:spLocks noChangeAspect="1" noChangeShapeType="1"/>
              </p:cNvSpPr>
              <p:nvPr/>
            </p:nvSpPr>
            <p:spPr bwMode="auto">
              <a:xfrm>
                <a:off x="5328" y="1488"/>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36" name="Oval 235">
              <a:extLst>
                <a:ext uri="{FF2B5EF4-FFF2-40B4-BE49-F238E27FC236}">
                  <a16:creationId xmlns:a16="http://schemas.microsoft.com/office/drawing/2014/main" id="{F2D60E8B-FFD2-554D-A2F6-0BFBCADFBA0D}"/>
                </a:ext>
              </a:extLst>
            </p:cNvPr>
            <p:cNvSpPr>
              <a:spLocks noChangeAspect="1" noChangeArrowheads="1"/>
            </p:cNvSpPr>
            <p:nvPr/>
          </p:nvSpPr>
          <p:spPr bwMode="auto">
            <a:xfrm>
              <a:off x="9637084" y="3913104"/>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37" name="Oval 236">
              <a:extLst>
                <a:ext uri="{FF2B5EF4-FFF2-40B4-BE49-F238E27FC236}">
                  <a16:creationId xmlns:a16="http://schemas.microsoft.com/office/drawing/2014/main" id="{05F5C7F4-CBEC-5244-ADC4-781751BDE74E}"/>
                </a:ext>
              </a:extLst>
            </p:cNvPr>
            <p:cNvSpPr>
              <a:spLocks noChangeAspect="1" noChangeArrowheads="1"/>
            </p:cNvSpPr>
            <p:nvPr/>
          </p:nvSpPr>
          <p:spPr bwMode="auto">
            <a:xfrm>
              <a:off x="7759632" y="3080214"/>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38" name="Oval 237">
              <a:extLst>
                <a:ext uri="{FF2B5EF4-FFF2-40B4-BE49-F238E27FC236}">
                  <a16:creationId xmlns:a16="http://schemas.microsoft.com/office/drawing/2014/main" id="{D81F33F1-C371-7849-86BB-737CF8139C78}"/>
                </a:ext>
              </a:extLst>
            </p:cNvPr>
            <p:cNvSpPr>
              <a:spLocks noChangeAspect="1" noChangeArrowheads="1"/>
            </p:cNvSpPr>
            <p:nvPr/>
          </p:nvSpPr>
          <p:spPr bwMode="auto">
            <a:xfrm>
              <a:off x="9651695" y="3087761"/>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246" name="Group 222">
              <a:extLst>
                <a:ext uri="{FF2B5EF4-FFF2-40B4-BE49-F238E27FC236}">
                  <a16:creationId xmlns:a16="http://schemas.microsoft.com/office/drawing/2014/main" id="{A065A159-A993-5341-8134-5BF7E6BD7629}"/>
                </a:ext>
              </a:extLst>
            </p:cNvPr>
            <p:cNvGrpSpPr>
              <a:grpSpLocks/>
            </p:cNvGrpSpPr>
            <p:nvPr/>
          </p:nvGrpSpPr>
          <p:grpSpPr bwMode="auto">
            <a:xfrm>
              <a:off x="8401007" y="3678058"/>
              <a:ext cx="304800" cy="381000"/>
              <a:chOff x="4272" y="3072"/>
              <a:chExt cx="192" cy="240"/>
            </a:xfrm>
          </p:grpSpPr>
          <p:sp>
            <p:nvSpPr>
              <p:cNvPr id="247" name="Line 99">
                <a:extLst>
                  <a:ext uri="{FF2B5EF4-FFF2-40B4-BE49-F238E27FC236}">
                    <a16:creationId xmlns:a16="http://schemas.microsoft.com/office/drawing/2014/main" id="{8DD03C1C-5071-8940-BAB9-6A0D03A71E90}"/>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8" name="Line 100">
                <a:extLst>
                  <a:ext uri="{FF2B5EF4-FFF2-40B4-BE49-F238E27FC236}">
                    <a16:creationId xmlns:a16="http://schemas.microsoft.com/office/drawing/2014/main" id="{BFE4BE24-171D-4E4F-AFBF-FF639693025F}"/>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9" name="Line 101">
                <a:extLst>
                  <a:ext uri="{FF2B5EF4-FFF2-40B4-BE49-F238E27FC236}">
                    <a16:creationId xmlns:a16="http://schemas.microsoft.com/office/drawing/2014/main" id="{4090EEFD-8117-084C-BE8F-85830238B472}"/>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0" name="Line 102">
                <a:extLst>
                  <a:ext uri="{FF2B5EF4-FFF2-40B4-BE49-F238E27FC236}">
                    <a16:creationId xmlns:a16="http://schemas.microsoft.com/office/drawing/2014/main" id="{01633942-6BA9-4544-BAFC-28BFA347C953}"/>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1" name="Line 103">
                <a:extLst>
                  <a:ext uri="{FF2B5EF4-FFF2-40B4-BE49-F238E27FC236}">
                    <a16:creationId xmlns:a16="http://schemas.microsoft.com/office/drawing/2014/main" id="{803554DC-4FFB-6445-A724-F22F5AA6F9FE}"/>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2" name="Line 104">
                <a:extLst>
                  <a:ext uri="{FF2B5EF4-FFF2-40B4-BE49-F238E27FC236}">
                    <a16:creationId xmlns:a16="http://schemas.microsoft.com/office/drawing/2014/main" id="{308491C8-EC63-004E-8CBF-33FAA4E99581}"/>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60" name="TextBox 259">
              <a:extLst>
                <a:ext uri="{FF2B5EF4-FFF2-40B4-BE49-F238E27FC236}">
                  <a16:creationId xmlns:a16="http://schemas.microsoft.com/office/drawing/2014/main" id="{C2393D9C-A612-0941-92B1-DD901AA5F70D}"/>
                </a:ext>
              </a:extLst>
            </p:cNvPr>
            <p:cNvSpPr txBox="1"/>
            <p:nvPr/>
          </p:nvSpPr>
          <p:spPr>
            <a:xfrm>
              <a:off x="10297922" y="2964641"/>
              <a:ext cx="718688" cy="338554"/>
            </a:xfrm>
            <a:prstGeom prst="rect">
              <a:avLst/>
            </a:prstGeom>
            <a:noFill/>
          </p:spPr>
          <p:txBody>
            <a:bodyPr wrap="square" rtlCol="0">
              <a:spAutoFit/>
            </a:bodyPr>
            <a:lstStyle/>
            <a:p>
              <a:r>
                <a:rPr lang="en-US" sz="1600" dirty="0"/>
                <a:t>J309</a:t>
              </a:r>
            </a:p>
          </p:txBody>
        </p:sp>
        <p:grpSp>
          <p:nvGrpSpPr>
            <p:cNvPr id="266" name="Group 222">
              <a:extLst>
                <a:ext uri="{FF2B5EF4-FFF2-40B4-BE49-F238E27FC236}">
                  <a16:creationId xmlns:a16="http://schemas.microsoft.com/office/drawing/2014/main" id="{D5AA54C5-A4EB-BA4C-8D55-6D289C1E7D19}"/>
                </a:ext>
              </a:extLst>
            </p:cNvPr>
            <p:cNvGrpSpPr>
              <a:grpSpLocks/>
            </p:cNvGrpSpPr>
            <p:nvPr/>
          </p:nvGrpSpPr>
          <p:grpSpPr bwMode="auto">
            <a:xfrm>
              <a:off x="6989075" y="3771203"/>
              <a:ext cx="304800" cy="381000"/>
              <a:chOff x="4272" y="3072"/>
              <a:chExt cx="192" cy="240"/>
            </a:xfrm>
          </p:grpSpPr>
          <p:sp>
            <p:nvSpPr>
              <p:cNvPr id="267" name="Line 99">
                <a:extLst>
                  <a:ext uri="{FF2B5EF4-FFF2-40B4-BE49-F238E27FC236}">
                    <a16:creationId xmlns:a16="http://schemas.microsoft.com/office/drawing/2014/main" id="{0C748A29-8143-5146-9A31-0D99B2E0F51E}"/>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8" name="Line 100">
                <a:extLst>
                  <a:ext uri="{FF2B5EF4-FFF2-40B4-BE49-F238E27FC236}">
                    <a16:creationId xmlns:a16="http://schemas.microsoft.com/office/drawing/2014/main" id="{899BA3E4-2FAB-6B4D-9A43-DA9F0025C347}"/>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9" name="Line 101">
                <a:extLst>
                  <a:ext uri="{FF2B5EF4-FFF2-40B4-BE49-F238E27FC236}">
                    <a16:creationId xmlns:a16="http://schemas.microsoft.com/office/drawing/2014/main" id="{842CB38D-F745-BC4B-81CC-B1C0B02B3A94}"/>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0" name="Line 102">
                <a:extLst>
                  <a:ext uri="{FF2B5EF4-FFF2-40B4-BE49-F238E27FC236}">
                    <a16:creationId xmlns:a16="http://schemas.microsoft.com/office/drawing/2014/main" id="{6D94D114-9314-C54E-B9E1-0977CAFE1EA2}"/>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1" name="Line 103">
                <a:extLst>
                  <a:ext uri="{FF2B5EF4-FFF2-40B4-BE49-F238E27FC236}">
                    <a16:creationId xmlns:a16="http://schemas.microsoft.com/office/drawing/2014/main" id="{8568C672-AB6C-2241-9536-A93EEA314873}"/>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2" name="Line 104">
                <a:extLst>
                  <a:ext uri="{FF2B5EF4-FFF2-40B4-BE49-F238E27FC236}">
                    <a16:creationId xmlns:a16="http://schemas.microsoft.com/office/drawing/2014/main" id="{BC0B9115-3584-8148-87FC-9A5919C1DC62}"/>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74" name="Group 210">
              <a:extLst>
                <a:ext uri="{FF2B5EF4-FFF2-40B4-BE49-F238E27FC236}">
                  <a16:creationId xmlns:a16="http://schemas.microsoft.com/office/drawing/2014/main" id="{830629BA-D246-4740-B2A0-EC12FDD681D3}"/>
                </a:ext>
              </a:extLst>
            </p:cNvPr>
            <p:cNvGrpSpPr>
              <a:grpSpLocks/>
            </p:cNvGrpSpPr>
            <p:nvPr/>
          </p:nvGrpSpPr>
          <p:grpSpPr bwMode="auto">
            <a:xfrm>
              <a:off x="6989075" y="3123504"/>
              <a:ext cx="304800" cy="762000"/>
              <a:chOff x="3216" y="1728"/>
              <a:chExt cx="192" cy="480"/>
            </a:xfrm>
          </p:grpSpPr>
          <p:sp>
            <p:nvSpPr>
              <p:cNvPr id="275" name="Line 8">
                <a:extLst>
                  <a:ext uri="{FF2B5EF4-FFF2-40B4-BE49-F238E27FC236}">
                    <a16:creationId xmlns:a16="http://schemas.microsoft.com/office/drawing/2014/main" id="{5879A2CA-4AE3-3F4A-A27F-4237848E0E03}"/>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 name="Line 9">
                <a:extLst>
                  <a:ext uri="{FF2B5EF4-FFF2-40B4-BE49-F238E27FC236}">
                    <a16:creationId xmlns:a16="http://schemas.microsoft.com/office/drawing/2014/main" id="{AC7DB312-D0CF-8A40-A533-8E7E6F0F9C7C}"/>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 name="Line 10">
                <a:extLst>
                  <a:ext uri="{FF2B5EF4-FFF2-40B4-BE49-F238E27FC236}">
                    <a16:creationId xmlns:a16="http://schemas.microsoft.com/office/drawing/2014/main" id="{27B6980D-DC5D-6B40-9D0F-9007FB6A36AB}"/>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 name="Line 11">
                <a:extLst>
                  <a:ext uri="{FF2B5EF4-FFF2-40B4-BE49-F238E27FC236}">
                    <a16:creationId xmlns:a16="http://schemas.microsoft.com/office/drawing/2014/main" id="{BD09EFD2-E5EF-1344-AC41-42E8F19234F2}"/>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79" name="Group 222">
              <a:extLst>
                <a:ext uri="{FF2B5EF4-FFF2-40B4-BE49-F238E27FC236}">
                  <a16:creationId xmlns:a16="http://schemas.microsoft.com/office/drawing/2014/main" id="{CAA21501-ECE6-9E45-91D0-6FC052BEAB1F}"/>
                </a:ext>
              </a:extLst>
            </p:cNvPr>
            <p:cNvGrpSpPr>
              <a:grpSpLocks/>
            </p:cNvGrpSpPr>
            <p:nvPr/>
          </p:nvGrpSpPr>
          <p:grpSpPr bwMode="auto">
            <a:xfrm>
              <a:off x="6269505" y="3699198"/>
              <a:ext cx="304800" cy="381000"/>
              <a:chOff x="4272" y="3072"/>
              <a:chExt cx="192" cy="240"/>
            </a:xfrm>
          </p:grpSpPr>
          <p:sp>
            <p:nvSpPr>
              <p:cNvPr id="280" name="Line 99">
                <a:extLst>
                  <a:ext uri="{FF2B5EF4-FFF2-40B4-BE49-F238E27FC236}">
                    <a16:creationId xmlns:a16="http://schemas.microsoft.com/office/drawing/2014/main" id="{D0EE2899-6EC3-7C41-987A-176F6D42E04D}"/>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1" name="Line 100">
                <a:extLst>
                  <a:ext uri="{FF2B5EF4-FFF2-40B4-BE49-F238E27FC236}">
                    <a16:creationId xmlns:a16="http://schemas.microsoft.com/office/drawing/2014/main" id="{3C477728-3EB4-1A44-A3F4-D35D0C060869}"/>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2" name="Line 101">
                <a:extLst>
                  <a:ext uri="{FF2B5EF4-FFF2-40B4-BE49-F238E27FC236}">
                    <a16:creationId xmlns:a16="http://schemas.microsoft.com/office/drawing/2014/main" id="{41E0992C-C4E3-294A-8260-88E9B62880FD}"/>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3" name="Line 102">
                <a:extLst>
                  <a:ext uri="{FF2B5EF4-FFF2-40B4-BE49-F238E27FC236}">
                    <a16:creationId xmlns:a16="http://schemas.microsoft.com/office/drawing/2014/main" id="{F5D6C269-A1FE-294B-B410-D929619893C1}"/>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4" name="Line 103">
                <a:extLst>
                  <a:ext uri="{FF2B5EF4-FFF2-40B4-BE49-F238E27FC236}">
                    <a16:creationId xmlns:a16="http://schemas.microsoft.com/office/drawing/2014/main" id="{0ED72638-6BE1-E14C-BC0D-55A4EBBD06AA}"/>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5" name="Line 104">
                <a:extLst>
                  <a:ext uri="{FF2B5EF4-FFF2-40B4-BE49-F238E27FC236}">
                    <a16:creationId xmlns:a16="http://schemas.microsoft.com/office/drawing/2014/main" id="{7321C852-55FD-CC4E-8DB8-A6C5485C0542}"/>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287" name="Straight Connector 286">
              <a:extLst>
                <a:ext uri="{FF2B5EF4-FFF2-40B4-BE49-F238E27FC236}">
                  <a16:creationId xmlns:a16="http://schemas.microsoft.com/office/drawing/2014/main" id="{B86458D5-B8E9-D24F-8EB3-709D511A0AE1}"/>
                </a:ext>
              </a:extLst>
            </p:cNvPr>
            <p:cNvCxnSpPr>
              <a:cxnSpLocks/>
            </p:cNvCxnSpPr>
            <p:nvPr/>
          </p:nvCxnSpPr>
          <p:spPr>
            <a:xfrm>
              <a:off x="8527728" y="3141629"/>
              <a:ext cx="1166051" cy="661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04" name="Oval 303">
              <a:extLst>
                <a:ext uri="{FF2B5EF4-FFF2-40B4-BE49-F238E27FC236}">
                  <a16:creationId xmlns:a16="http://schemas.microsoft.com/office/drawing/2014/main" id="{CA999D13-F56D-0942-AA55-1BC0174C8ED6}"/>
                </a:ext>
              </a:extLst>
            </p:cNvPr>
            <p:cNvSpPr>
              <a:spLocks noChangeAspect="1" noChangeArrowheads="1"/>
            </p:cNvSpPr>
            <p:nvPr/>
          </p:nvSpPr>
          <p:spPr bwMode="auto">
            <a:xfrm>
              <a:off x="6357832" y="1857830"/>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cxnSp>
          <p:nvCxnSpPr>
            <p:cNvPr id="305" name="Straight Connector 304">
              <a:extLst>
                <a:ext uri="{FF2B5EF4-FFF2-40B4-BE49-F238E27FC236}">
                  <a16:creationId xmlns:a16="http://schemas.microsoft.com/office/drawing/2014/main" id="{B23F4BE2-475E-4045-BD3A-2027B974DA11}"/>
                </a:ext>
              </a:extLst>
            </p:cNvPr>
            <p:cNvCxnSpPr>
              <a:cxnSpLocks/>
            </p:cNvCxnSpPr>
            <p:nvPr/>
          </p:nvCxnSpPr>
          <p:spPr>
            <a:xfrm>
              <a:off x="6427400" y="1918171"/>
              <a:ext cx="0" cy="57213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06" name="Oval 305">
              <a:extLst>
                <a:ext uri="{FF2B5EF4-FFF2-40B4-BE49-F238E27FC236}">
                  <a16:creationId xmlns:a16="http://schemas.microsoft.com/office/drawing/2014/main" id="{9EF9772D-A589-0849-AB7C-4CE86B833D66}"/>
                </a:ext>
              </a:extLst>
            </p:cNvPr>
            <p:cNvSpPr>
              <a:spLocks noChangeAspect="1" noChangeArrowheads="1"/>
            </p:cNvSpPr>
            <p:nvPr/>
          </p:nvSpPr>
          <p:spPr bwMode="auto">
            <a:xfrm>
              <a:off x="7074904" y="3078070"/>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307" name="TextBox 306">
              <a:extLst>
                <a:ext uri="{FF2B5EF4-FFF2-40B4-BE49-F238E27FC236}">
                  <a16:creationId xmlns:a16="http://schemas.microsoft.com/office/drawing/2014/main" id="{50CB6D82-3D4A-434B-9EEE-BA8698E6446A}"/>
                </a:ext>
              </a:extLst>
            </p:cNvPr>
            <p:cNvSpPr txBox="1"/>
            <p:nvPr/>
          </p:nvSpPr>
          <p:spPr>
            <a:xfrm>
              <a:off x="5748285" y="1450561"/>
              <a:ext cx="718688" cy="338554"/>
            </a:xfrm>
            <a:prstGeom prst="rect">
              <a:avLst/>
            </a:prstGeom>
            <a:noFill/>
          </p:spPr>
          <p:txBody>
            <a:bodyPr wrap="square" rtlCol="0">
              <a:spAutoFit/>
            </a:bodyPr>
            <a:lstStyle/>
            <a:p>
              <a:r>
                <a:rPr lang="en-US" sz="1600" dirty="0"/>
                <a:t>10K</a:t>
              </a:r>
            </a:p>
          </p:txBody>
        </p:sp>
        <p:sp>
          <p:nvSpPr>
            <p:cNvPr id="310" name="Freeform 12">
              <a:extLst>
                <a:ext uri="{FF2B5EF4-FFF2-40B4-BE49-F238E27FC236}">
                  <a16:creationId xmlns:a16="http://schemas.microsoft.com/office/drawing/2014/main" id="{CD57367B-1EFE-0B4D-9E98-71C5F929074D}"/>
                </a:ext>
              </a:extLst>
            </p:cNvPr>
            <p:cNvSpPr>
              <a:spLocks noChangeAspect="1"/>
            </p:cNvSpPr>
            <p:nvPr/>
          </p:nvSpPr>
          <p:spPr bwMode="auto">
            <a:xfrm rot="5400000">
              <a:off x="5929252" y="1531191"/>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11" name="Freeform 12">
              <a:extLst>
                <a:ext uri="{FF2B5EF4-FFF2-40B4-BE49-F238E27FC236}">
                  <a16:creationId xmlns:a16="http://schemas.microsoft.com/office/drawing/2014/main" id="{B7D328F8-EC20-4941-B254-099CEEAD8BEA}"/>
                </a:ext>
              </a:extLst>
            </p:cNvPr>
            <p:cNvSpPr>
              <a:spLocks noChangeAspect="1"/>
            </p:cNvSpPr>
            <p:nvPr/>
          </p:nvSpPr>
          <p:spPr bwMode="auto">
            <a:xfrm rot="5400000">
              <a:off x="6674082" y="1529043"/>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313" name="Group 218">
              <a:extLst>
                <a:ext uri="{FF2B5EF4-FFF2-40B4-BE49-F238E27FC236}">
                  <a16:creationId xmlns:a16="http://schemas.microsoft.com/office/drawing/2014/main" id="{8DCEBBD1-3264-3E40-9011-A0E41B491210}"/>
                </a:ext>
              </a:extLst>
            </p:cNvPr>
            <p:cNvGrpSpPr>
              <a:grpSpLocks/>
            </p:cNvGrpSpPr>
            <p:nvPr/>
          </p:nvGrpSpPr>
          <p:grpSpPr bwMode="auto">
            <a:xfrm>
              <a:off x="6343570" y="3110633"/>
              <a:ext cx="152400" cy="762000"/>
              <a:chOff x="5280" y="1200"/>
              <a:chExt cx="96" cy="480"/>
            </a:xfrm>
          </p:grpSpPr>
          <p:sp>
            <p:nvSpPr>
              <p:cNvPr id="314" name="Line 106">
                <a:extLst>
                  <a:ext uri="{FF2B5EF4-FFF2-40B4-BE49-F238E27FC236}">
                    <a16:creationId xmlns:a16="http://schemas.microsoft.com/office/drawing/2014/main" id="{3A7022F2-9EE9-A840-A369-A3ABDB13B705}"/>
                  </a:ext>
                </a:extLst>
              </p:cNvPr>
              <p:cNvSpPr>
                <a:spLocks noChangeAspect="1" noChangeShapeType="1"/>
              </p:cNvSpPr>
              <p:nvPr/>
            </p:nvSpPr>
            <p:spPr bwMode="auto">
              <a:xfrm>
                <a:off x="5328" y="1200"/>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5" name="Line 107">
                <a:extLst>
                  <a:ext uri="{FF2B5EF4-FFF2-40B4-BE49-F238E27FC236}">
                    <a16:creationId xmlns:a16="http://schemas.microsoft.com/office/drawing/2014/main" id="{3FC6626A-1F9F-0A43-9986-C5BA49CD72A1}"/>
                  </a:ext>
                </a:extLst>
              </p:cNvPr>
              <p:cNvSpPr>
                <a:spLocks noChangeAspect="1" noChangeShapeType="1"/>
              </p:cNvSpPr>
              <p:nvPr/>
            </p:nvSpPr>
            <p:spPr bwMode="auto">
              <a:xfrm>
                <a:off x="5280" y="1392"/>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6" name="Freeform 108">
                <a:extLst>
                  <a:ext uri="{FF2B5EF4-FFF2-40B4-BE49-F238E27FC236}">
                    <a16:creationId xmlns:a16="http://schemas.microsoft.com/office/drawing/2014/main" id="{FAF8E97E-3574-D440-8A4B-4272F6872F61}"/>
                  </a:ext>
                </a:extLst>
              </p:cNvPr>
              <p:cNvSpPr>
                <a:spLocks noChangeAspect="1"/>
              </p:cNvSpPr>
              <p:nvPr/>
            </p:nvSpPr>
            <p:spPr bwMode="auto">
              <a:xfrm>
                <a:off x="5280" y="1392"/>
                <a:ext cx="96" cy="96"/>
              </a:xfrm>
              <a:custGeom>
                <a:avLst/>
                <a:gdLst>
                  <a:gd name="T0" fmla="*/ 0 w 288"/>
                  <a:gd name="T1" fmla="*/ 0 h 240"/>
                  <a:gd name="T2" fmla="*/ 0 w 288"/>
                  <a:gd name="T3" fmla="*/ 1 h 240"/>
                  <a:gd name="T4" fmla="*/ 0 w 288"/>
                  <a:gd name="T5" fmla="*/ 1 h 240"/>
                  <a:gd name="T6" fmla="*/ 0 w 288"/>
                  <a:gd name="T7" fmla="*/ 0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144" y="0"/>
                    </a:moveTo>
                    <a:lnTo>
                      <a:pt x="0" y="240"/>
                    </a:lnTo>
                    <a:lnTo>
                      <a:pt x="288" y="240"/>
                    </a:lnTo>
                    <a:lnTo>
                      <a:pt x="144" y="0"/>
                    </a:lnTo>
                    <a:close/>
                  </a:path>
                </a:pathLst>
              </a:custGeom>
              <a:solidFill>
                <a:schemeClr val="tx1"/>
              </a:solidFill>
              <a:ln w="25400">
                <a:solidFill>
                  <a:schemeClr val="tx1"/>
                </a:solidFill>
                <a:round/>
                <a:headEnd/>
                <a:tailEnd/>
              </a:ln>
            </p:spPr>
            <p:txBody>
              <a:bodyPr/>
              <a:lstStyle/>
              <a:p>
                <a:endParaRPr lang="en-US"/>
              </a:p>
            </p:txBody>
          </p:sp>
          <p:sp>
            <p:nvSpPr>
              <p:cNvPr id="317" name="Line 109">
                <a:extLst>
                  <a:ext uri="{FF2B5EF4-FFF2-40B4-BE49-F238E27FC236}">
                    <a16:creationId xmlns:a16="http://schemas.microsoft.com/office/drawing/2014/main" id="{F7C85024-01A6-D74F-A4F9-32A34887C6B7}"/>
                  </a:ext>
                </a:extLst>
              </p:cNvPr>
              <p:cNvSpPr>
                <a:spLocks noChangeAspect="1" noChangeShapeType="1"/>
              </p:cNvSpPr>
              <p:nvPr/>
            </p:nvSpPr>
            <p:spPr bwMode="auto">
              <a:xfrm>
                <a:off x="5328" y="1488"/>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18" name="Freeform 12">
              <a:extLst>
                <a:ext uri="{FF2B5EF4-FFF2-40B4-BE49-F238E27FC236}">
                  <a16:creationId xmlns:a16="http://schemas.microsoft.com/office/drawing/2014/main" id="{C267BF94-FCD0-3245-9BD4-18AFBE790513}"/>
                </a:ext>
              </a:extLst>
            </p:cNvPr>
            <p:cNvSpPr>
              <a:spLocks noChangeAspect="1"/>
            </p:cNvSpPr>
            <p:nvPr/>
          </p:nvSpPr>
          <p:spPr bwMode="auto">
            <a:xfrm>
              <a:off x="5560474" y="1912451"/>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319" name="Group 222">
              <a:extLst>
                <a:ext uri="{FF2B5EF4-FFF2-40B4-BE49-F238E27FC236}">
                  <a16:creationId xmlns:a16="http://schemas.microsoft.com/office/drawing/2014/main" id="{C1B7646F-734D-324B-9862-916223D9B0DA}"/>
                </a:ext>
              </a:extLst>
            </p:cNvPr>
            <p:cNvGrpSpPr>
              <a:grpSpLocks/>
            </p:cNvGrpSpPr>
            <p:nvPr/>
          </p:nvGrpSpPr>
          <p:grpSpPr bwMode="auto">
            <a:xfrm>
              <a:off x="5481749" y="2640985"/>
              <a:ext cx="304800" cy="381000"/>
              <a:chOff x="4272" y="3072"/>
              <a:chExt cx="192" cy="240"/>
            </a:xfrm>
          </p:grpSpPr>
          <p:sp>
            <p:nvSpPr>
              <p:cNvPr id="320" name="Line 99">
                <a:extLst>
                  <a:ext uri="{FF2B5EF4-FFF2-40B4-BE49-F238E27FC236}">
                    <a16:creationId xmlns:a16="http://schemas.microsoft.com/office/drawing/2014/main" id="{51B18065-3BD7-2448-B897-2E049FD706E5}"/>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1" name="Line 100">
                <a:extLst>
                  <a:ext uri="{FF2B5EF4-FFF2-40B4-BE49-F238E27FC236}">
                    <a16:creationId xmlns:a16="http://schemas.microsoft.com/office/drawing/2014/main" id="{20061E7D-EF7D-2B45-9E17-7E4D79170B15}"/>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2" name="Line 101">
                <a:extLst>
                  <a:ext uri="{FF2B5EF4-FFF2-40B4-BE49-F238E27FC236}">
                    <a16:creationId xmlns:a16="http://schemas.microsoft.com/office/drawing/2014/main" id="{7764FCC9-DCDC-2442-A50A-905872E221BA}"/>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3" name="Line 102">
                <a:extLst>
                  <a:ext uri="{FF2B5EF4-FFF2-40B4-BE49-F238E27FC236}">
                    <a16:creationId xmlns:a16="http://schemas.microsoft.com/office/drawing/2014/main" id="{F6D0F44A-A149-374C-B12A-D318009159ED}"/>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4" name="Line 103">
                <a:extLst>
                  <a:ext uri="{FF2B5EF4-FFF2-40B4-BE49-F238E27FC236}">
                    <a16:creationId xmlns:a16="http://schemas.microsoft.com/office/drawing/2014/main" id="{06D74129-CF88-7F40-95FE-471ECB911484}"/>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5" name="Line 104">
                <a:extLst>
                  <a:ext uri="{FF2B5EF4-FFF2-40B4-BE49-F238E27FC236}">
                    <a16:creationId xmlns:a16="http://schemas.microsoft.com/office/drawing/2014/main" id="{C285ECDA-CDD4-AA42-9A05-F03D26076E61}"/>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26" name="Group 209">
              <a:extLst>
                <a:ext uri="{FF2B5EF4-FFF2-40B4-BE49-F238E27FC236}">
                  <a16:creationId xmlns:a16="http://schemas.microsoft.com/office/drawing/2014/main" id="{6D708696-F602-D140-8E2A-CC1566C278E9}"/>
                </a:ext>
              </a:extLst>
            </p:cNvPr>
            <p:cNvGrpSpPr>
              <a:grpSpLocks/>
            </p:cNvGrpSpPr>
            <p:nvPr/>
          </p:nvGrpSpPr>
          <p:grpSpPr bwMode="auto">
            <a:xfrm>
              <a:off x="7748211" y="3146868"/>
              <a:ext cx="152400" cy="762000"/>
              <a:chOff x="3935" y="1728"/>
              <a:chExt cx="96" cy="480"/>
            </a:xfrm>
          </p:grpSpPr>
          <p:sp>
            <p:nvSpPr>
              <p:cNvPr id="327" name="Arc 59">
                <a:extLst>
                  <a:ext uri="{FF2B5EF4-FFF2-40B4-BE49-F238E27FC236}">
                    <a16:creationId xmlns:a16="http://schemas.microsoft.com/office/drawing/2014/main" id="{61EF1220-74C2-E546-9C76-F4A253382CE3}"/>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8" name="Arc 60">
                <a:extLst>
                  <a:ext uri="{FF2B5EF4-FFF2-40B4-BE49-F238E27FC236}">
                    <a16:creationId xmlns:a16="http://schemas.microsoft.com/office/drawing/2014/main" id="{B0338D6B-B264-BC47-B06D-50938798CE11}"/>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9" name="Arc 61">
                <a:extLst>
                  <a:ext uri="{FF2B5EF4-FFF2-40B4-BE49-F238E27FC236}">
                    <a16:creationId xmlns:a16="http://schemas.microsoft.com/office/drawing/2014/main" id="{9D19ECD1-E9C8-3B4E-94A8-FB2184D0D68F}"/>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30" name="Arc 62">
                <a:extLst>
                  <a:ext uri="{FF2B5EF4-FFF2-40B4-BE49-F238E27FC236}">
                    <a16:creationId xmlns:a16="http://schemas.microsoft.com/office/drawing/2014/main" id="{4193741F-8ED0-6F44-BD13-779698E47175}"/>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31" name="Line 63">
                <a:extLst>
                  <a:ext uri="{FF2B5EF4-FFF2-40B4-BE49-F238E27FC236}">
                    <a16:creationId xmlns:a16="http://schemas.microsoft.com/office/drawing/2014/main" id="{A17CCA6D-6916-334A-B285-486C459B3227}"/>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2" name="Line 64">
                <a:extLst>
                  <a:ext uri="{FF2B5EF4-FFF2-40B4-BE49-F238E27FC236}">
                    <a16:creationId xmlns:a16="http://schemas.microsoft.com/office/drawing/2014/main" id="{ACD35C82-9CC7-C248-AA81-39D3E6F5C81A}"/>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3" name="Arc 65">
                <a:extLst>
                  <a:ext uri="{FF2B5EF4-FFF2-40B4-BE49-F238E27FC236}">
                    <a16:creationId xmlns:a16="http://schemas.microsoft.com/office/drawing/2014/main" id="{6F69442F-67BB-0048-8BFD-33E8E85DD386}"/>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34" name="Arc 66">
                <a:extLst>
                  <a:ext uri="{FF2B5EF4-FFF2-40B4-BE49-F238E27FC236}">
                    <a16:creationId xmlns:a16="http://schemas.microsoft.com/office/drawing/2014/main" id="{0EE70383-00D2-9848-B329-26033B19E18C}"/>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35" name="Arc 67">
                <a:extLst>
                  <a:ext uri="{FF2B5EF4-FFF2-40B4-BE49-F238E27FC236}">
                    <a16:creationId xmlns:a16="http://schemas.microsoft.com/office/drawing/2014/main" id="{73EE8E2B-85BF-C64D-AED4-96F6F968F64A}"/>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36" name="Arc 68">
                <a:extLst>
                  <a:ext uri="{FF2B5EF4-FFF2-40B4-BE49-F238E27FC236}">
                    <a16:creationId xmlns:a16="http://schemas.microsoft.com/office/drawing/2014/main" id="{9472867F-EEC4-C948-BECD-3EAF98D2E8BD}"/>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37" name="Arc 69">
                <a:extLst>
                  <a:ext uri="{FF2B5EF4-FFF2-40B4-BE49-F238E27FC236}">
                    <a16:creationId xmlns:a16="http://schemas.microsoft.com/office/drawing/2014/main" id="{6EFB3BED-DB2F-124E-94F4-6358C9ED637D}"/>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38" name="Arc 70">
                <a:extLst>
                  <a:ext uri="{FF2B5EF4-FFF2-40B4-BE49-F238E27FC236}">
                    <a16:creationId xmlns:a16="http://schemas.microsoft.com/office/drawing/2014/main" id="{2E0E61FE-DE9F-4445-8A8B-BBCCBA380C35}"/>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39" name="Arc 71">
                <a:extLst>
                  <a:ext uri="{FF2B5EF4-FFF2-40B4-BE49-F238E27FC236}">
                    <a16:creationId xmlns:a16="http://schemas.microsoft.com/office/drawing/2014/main" id="{975210E2-13F4-564D-B525-2F772EF423EC}"/>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340" name="Group 210">
              <a:extLst>
                <a:ext uri="{FF2B5EF4-FFF2-40B4-BE49-F238E27FC236}">
                  <a16:creationId xmlns:a16="http://schemas.microsoft.com/office/drawing/2014/main" id="{B41BFDA5-E562-C840-BAAF-46FFE51E9AD6}"/>
                </a:ext>
              </a:extLst>
            </p:cNvPr>
            <p:cNvGrpSpPr>
              <a:grpSpLocks/>
            </p:cNvGrpSpPr>
            <p:nvPr/>
          </p:nvGrpSpPr>
          <p:grpSpPr bwMode="auto">
            <a:xfrm rot="5400000">
              <a:off x="6622755" y="2762393"/>
              <a:ext cx="304800" cy="762000"/>
              <a:chOff x="3216" y="1728"/>
              <a:chExt cx="192" cy="480"/>
            </a:xfrm>
          </p:grpSpPr>
          <p:sp>
            <p:nvSpPr>
              <p:cNvPr id="341" name="Line 8">
                <a:extLst>
                  <a:ext uri="{FF2B5EF4-FFF2-40B4-BE49-F238E27FC236}">
                    <a16:creationId xmlns:a16="http://schemas.microsoft.com/office/drawing/2014/main" id="{306C10F8-D368-8B4F-B3BD-16C488848EA7}"/>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2" name="Line 9">
                <a:extLst>
                  <a:ext uri="{FF2B5EF4-FFF2-40B4-BE49-F238E27FC236}">
                    <a16:creationId xmlns:a16="http://schemas.microsoft.com/office/drawing/2014/main" id="{8868D989-9D0E-794D-B189-7F7947BFEA5C}"/>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3" name="Line 10">
                <a:extLst>
                  <a:ext uri="{FF2B5EF4-FFF2-40B4-BE49-F238E27FC236}">
                    <a16:creationId xmlns:a16="http://schemas.microsoft.com/office/drawing/2014/main" id="{3EBBB07E-33DA-2048-8CCD-0EF68533C29B}"/>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4" name="Line 11">
                <a:extLst>
                  <a:ext uri="{FF2B5EF4-FFF2-40B4-BE49-F238E27FC236}">
                    <a16:creationId xmlns:a16="http://schemas.microsoft.com/office/drawing/2014/main" id="{995A194B-DB9D-6E47-A64E-3AC46634B0FF}"/>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45" name="Oval 344">
              <a:extLst>
                <a:ext uri="{FF2B5EF4-FFF2-40B4-BE49-F238E27FC236}">
                  <a16:creationId xmlns:a16="http://schemas.microsoft.com/office/drawing/2014/main" id="{E3B07CA9-863A-214E-B225-A67AE822B11F}"/>
                </a:ext>
              </a:extLst>
            </p:cNvPr>
            <p:cNvSpPr>
              <a:spLocks noChangeAspect="1" noChangeArrowheads="1"/>
            </p:cNvSpPr>
            <p:nvPr/>
          </p:nvSpPr>
          <p:spPr bwMode="auto">
            <a:xfrm>
              <a:off x="6355684" y="3079175"/>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cxnSp>
          <p:nvCxnSpPr>
            <p:cNvPr id="346" name="Straight Connector 345">
              <a:extLst>
                <a:ext uri="{FF2B5EF4-FFF2-40B4-BE49-F238E27FC236}">
                  <a16:creationId xmlns:a16="http://schemas.microsoft.com/office/drawing/2014/main" id="{DE9B3D37-F958-6041-9A23-07AC3C2DC762}"/>
                </a:ext>
              </a:extLst>
            </p:cNvPr>
            <p:cNvCxnSpPr>
              <a:cxnSpLocks/>
              <a:endCxn id="350" idx="6"/>
            </p:cNvCxnSpPr>
            <p:nvPr/>
          </p:nvCxnSpPr>
          <p:spPr>
            <a:xfrm>
              <a:off x="6008239" y="2370664"/>
              <a:ext cx="495336" cy="221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8" name="Straight Connector 347">
              <a:extLst>
                <a:ext uri="{FF2B5EF4-FFF2-40B4-BE49-F238E27FC236}">
                  <a16:creationId xmlns:a16="http://schemas.microsoft.com/office/drawing/2014/main" id="{3BC44921-FB65-864B-BA3F-9E5E0E1F7196}"/>
                </a:ext>
              </a:extLst>
            </p:cNvPr>
            <p:cNvCxnSpPr>
              <a:cxnSpLocks/>
            </p:cNvCxnSpPr>
            <p:nvPr/>
          </p:nvCxnSpPr>
          <p:spPr>
            <a:xfrm>
              <a:off x="6005452" y="1982111"/>
              <a:ext cx="0" cy="399979"/>
            </a:xfrm>
            <a:prstGeom prst="line">
              <a:avLst/>
            </a:prstGeom>
            <a:ln w="25400">
              <a:solidFill>
                <a:schemeClr val="tx1"/>
              </a:solidFill>
              <a:headEnd type="triangle"/>
            </a:ln>
          </p:spPr>
          <p:style>
            <a:lnRef idx="1">
              <a:schemeClr val="accent1"/>
            </a:lnRef>
            <a:fillRef idx="0">
              <a:schemeClr val="accent1"/>
            </a:fillRef>
            <a:effectRef idx="0">
              <a:schemeClr val="accent1"/>
            </a:effectRef>
            <a:fontRef idx="minor">
              <a:schemeClr val="tx1"/>
            </a:fontRef>
          </p:style>
        </p:cxnSp>
        <p:sp>
          <p:nvSpPr>
            <p:cNvPr id="349" name="Freeform 12">
              <a:extLst>
                <a:ext uri="{FF2B5EF4-FFF2-40B4-BE49-F238E27FC236}">
                  <a16:creationId xmlns:a16="http://schemas.microsoft.com/office/drawing/2014/main" id="{99E0104E-4819-F945-AF3D-798D041BF20E}"/>
                </a:ext>
              </a:extLst>
            </p:cNvPr>
            <p:cNvSpPr>
              <a:spLocks noChangeAspect="1"/>
            </p:cNvSpPr>
            <p:nvPr/>
          </p:nvSpPr>
          <p:spPr bwMode="auto">
            <a:xfrm>
              <a:off x="6343940" y="2335310"/>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50" name="Oval 349">
              <a:extLst>
                <a:ext uri="{FF2B5EF4-FFF2-40B4-BE49-F238E27FC236}">
                  <a16:creationId xmlns:a16="http://schemas.microsoft.com/office/drawing/2014/main" id="{BCD2466C-918B-BD4C-B082-EEBFEF41CCA5}"/>
                </a:ext>
              </a:extLst>
            </p:cNvPr>
            <p:cNvSpPr>
              <a:spLocks noChangeAspect="1" noChangeArrowheads="1"/>
            </p:cNvSpPr>
            <p:nvPr/>
          </p:nvSpPr>
          <p:spPr bwMode="auto">
            <a:xfrm>
              <a:off x="6366415" y="2304299"/>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351" name="Group 210">
              <a:extLst>
                <a:ext uri="{FF2B5EF4-FFF2-40B4-BE49-F238E27FC236}">
                  <a16:creationId xmlns:a16="http://schemas.microsoft.com/office/drawing/2014/main" id="{6347A972-6053-6748-B126-C125564BC82D}"/>
                </a:ext>
              </a:extLst>
            </p:cNvPr>
            <p:cNvGrpSpPr>
              <a:grpSpLocks/>
            </p:cNvGrpSpPr>
            <p:nvPr/>
          </p:nvGrpSpPr>
          <p:grpSpPr bwMode="auto">
            <a:xfrm rot="5400000">
              <a:off x="8037285" y="2760245"/>
              <a:ext cx="304800" cy="762000"/>
              <a:chOff x="3216" y="1728"/>
              <a:chExt cx="192" cy="480"/>
            </a:xfrm>
          </p:grpSpPr>
          <p:sp>
            <p:nvSpPr>
              <p:cNvPr id="352" name="Line 8">
                <a:extLst>
                  <a:ext uri="{FF2B5EF4-FFF2-40B4-BE49-F238E27FC236}">
                    <a16:creationId xmlns:a16="http://schemas.microsoft.com/office/drawing/2014/main" id="{5D8435F4-A2C5-FE4A-9BD8-09490C418DB3}"/>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3" name="Line 9">
                <a:extLst>
                  <a:ext uri="{FF2B5EF4-FFF2-40B4-BE49-F238E27FC236}">
                    <a16:creationId xmlns:a16="http://schemas.microsoft.com/office/drawing/2014/main" id="{2104B7B5-4E52-2546-A379-37051976B856}"/>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4" name="Line 10">
                <a:extLst>
                  <a:ext uri="{FF2B5EF4-FFF2-40B4-BE49-F238E27FC236}">
                    <a16:creationId xmlns:a16="http://schemas.microsoft.com/office/drawing/2014/main" id="{0A4D6CE3-4CC1-A241-9986-3BDDF18B162F}"/>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5" name="Line 11">
                <a:extLst>
                  <a:ext uri="{FF2B5EF4-FFF2-40B4-BE49-F238E27FC236}">
                    <a16:creationId xmlns:a16="http://schemas.microsoft.com/office/drawing/2014/main" id="{DAC82024-194A-5640-B58D-920DEB66C0DF}"/>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56" name="Group 222">
              <a:extLst>
                <a:ext uri="{FF2B5EF4-FFF2-40B4-BE49-F238E27FC236}">
                  <a16:creationId xmlns:a16="http://schemas.microsoft.com/office/drawing/2014/main" id="{01427B83-3B62-E043-A3C2-9228D0248022}"/>
                </a:ext>
              </a:extLst>
            </p:cNvPr>
            <p:cNvGrpSpPr>
              <a:grpSpLocks/>
            </p:cNvGrpSpPr>
            <p:nvPr/>
          </p:nvGrpSpPr>
          <p:grpSpPr bwMode="auto">
            <a:xfrm>
              <a:off x="7669511" y="3859208"/>
              <a:ext cx="304800" cy="381000"/>
              <a:chOff x="4272" y="3072"/>
              <a:chExt cx="192" cy="240"/>
            </a:xfrm>
          </p:grpSpPr>
          <p:sp>
            <p:nvSpPr>
              <p:cNvPr id="357" name="Line 99">
                <a:extLst>
                  <a:ext uri="{FF2B5EF4-FFF2-40B4-BE49-F238E27FC236}">
                    <a16:creationId xmlns:a16="http://schemas.microsoft.com/office/drawing/2014/main" id="{77A443CD-8971-4048-9792-5FB78BC89315}"/>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 name="Line 100">
                <a:extLst>
                  <a:ext uri="{FF2B5EF4-FFF2-40B4-BE49-F238E27FC236}">
                    <a16:creationId xmlns:a16="http://schemas.microsoft.com/office/drawing/2014/main" id="{F2E7DB51-BD3D-5F49-AA09-A988579D1312}"/>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 name="Line 101">
                <a:extLst>
                  <a:ext uri="{FF2B5EF4-FFF2-40B4-BE49-F238E27FC236}">
                    <a16:creationId xmlns:a16="http://schemas.microsoft.com/office/drawing/2014/main" id="{E7C9B64A-FADF-114D-8EF5-41FD795A5969}"/>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0" name="Line 102">
                <a:extLst>
                  <a:ext uri="{FF2B5EF4-FFF2-40B4-BE49-F238E27FC236}">
                    <a16:creationId xmlns:a16="http://schemas.microsoft.com/office/drawing/2014/main" id="{B432BA76-D0B0-AD4B-80CF-9B597BB96A54}"/>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1" name="Line 103">
                <a:extLst>
                  <a:ext uri="{FF2B5EF4-FFF2-40B4-BE49-F238E27FC236}">
                    <a16:creationId xmlns:a16="http://schemas.microsoft.com/office/drawing/2014/main" id="{4AE69082-5842-7D44-A991-5E76EA1ED1E3}"/>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2" name="Line 104">
                <a:extLst>
                  <a:ext uri="{FF2B5EF4-FFF2-40B4-BE49-F238E27FC236}">
                    <a16:creationId xmlns:a16="http://schemas.microsoft.com/office/drawing/2014/main" id="{89542154-3E77-0C4D-BF3A-E5F003FBC5C0}"/>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363" name="Straight Connector 362">
              <a:extLst>
                <a:ext uri="{FF2B5EF4-FFF2-40B4-BE49-F238E27FC236}">
                  <a16:creationId xmlns:a16="http://schemas.microsoft.com/office/drawing/2014/main" id="{568FEAA2-CCDD-CE41-B0F9-1EC32C4432AB}"/>
                </a:ext>
              </a:extLst>
            </p:cNvPr>
            <p:cNvCxnSpPr>
              <a:cxnSpLocks/>
            </p:cNvCxnSpPr>
            <p:nvPr/>
          </p:nvCxnSpPr>
          <p:spPr>
            <a:xfrm>
              <a:off x="7131282" y="3147013"/>
              <a:ext cx="69911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65" name="Freeform 12">
              <a:extLst>
                <a:ext uri="{FF2B5EF4-FFF2-40B4-BE49-F238E27FC236}">
                  <a16:creationId xmlns:a16="http://schemas.microsoft.com/office/drawing/2014/main" id="{3EEDFFEB-19FF-B941-A662-23006FCB2E29}"/>
                </a:ext>
              </a:extLst>
            </p:cNvPr>
            <p:cNvSpPr>
              <a:spLocks noChangeAspect="1"/>
            </p:cNvSpPr>
            <p:nvPr/>
          </p:nvSpPr>
          <p:spPr bwMode="auto">
            <a:xfrm>
              <a:off x="8958354" y="3172435"/>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366" name="Group 222">
              <a:extLst>
                <a:ext uri="{FF2B5EF4-FFF2-40B4-BE49-F238E27FC236}">
                  <a16:creationId xmlns:a16="http://schemas.microsoft.com/office/drawing/2014/main" id="{E4EB1735-8B56-CE44-B901-F549F929C1EB}"/>
                </a:ext>
              </a:extLst>
            </p:cNvPr>
            <p:cNvGrpSpPr>
              <a:grpSpLocks/>
            </p:cNvGrpSpPr>
            <p:nvPr/>
          </p:nvGrpSpPr>
          <p:grpSpPr bwMode="auto">
            <a:xfrm>
              <a:off x="8879629" y="3900969"/>
              <a:ext cx="304800" cy="381000"/>
              <a:chOff x="4272" y="3072"/>
              <a:chExt cx="192" cy="240"/>
            </a:xfrm>
          </p:grpSpPr>
          <p:sp>
            <p:nvSpPr>
              <p:cNvPr id="367" name="Line 99">
                <a:extLst>
                  <a:ext uri="{FF2B5EF4-FFF2-40B4-BE49-F238E27FC236}">
                    <a16:creationId xmlns:a16="http://schemas.microsoft.com/office/drawing/2014/main" id="{504A87A7-B822-B543-B889-8D531F9F157C}"/>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 name="Line 100">
                <a:extLst>
                  <a:ext uri="{FF2B5EF4-FFF2-40B4-BE49-F238E27FC236}">
                    <a16:creationId xmlns:a16="http://schemas.microsoft.com/office/drawing/2014/main" id="{48262D91-9278-214C-AB84-F01792D30622}"/>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 name="Line 101">
                <a:extLst>
                  <a:ext uri="{FF2B5EF4-FFF2-40B4-BE49-F238E27FC236}">
                    <a16:creationId xmlns:a16="http://schemas.microsoft.com/office/drawing/2014/main" id="{24B3A52A-4B5F-5D4F-96E8-E757C6532952}"/>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 name="Line 102">
                <a:extLst>
                  <a:ext uri="{FF2B5EF4-FFF2-40B4-BE49-F238E27FC236}">
                    <a16:creationId xmlns:a16="http://schemas.microsoft.com/office/drawing/2014/main" id="{F0DD04FC-72DE-F14D-99D8-5C472AAB9F0B}"/>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1" name="Line 103">
                <a:extLst>
                  <a:ext uri="{FF2B5EF4-FFF2-40B4-BE49-F238E27FC236}">
                    <a16:creationId xmlns:a16="http://schemas.microsoft.com/office/drawing/2014/main" id="{D2E2E0EC-6757-904E-941A-E82532DF4D7D}"/>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2" name="Line 104">
                <a:extLst>
                  <a:ext uri="{FF2B5EF4-FFF2-40B4-BE49-F238E27FC236}">
                    <a16:creationId xmlns:a16="http://schemas.microsoft.com/office/drawing/2014/main" id="{B99FFC68-CD4A-CB47-BF7B-D1D3D367FF10}"/>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73" name="Group 210">
              <a:extLst>
                <a:ext uri="{FF2B5EF4-FFF2-40B4-BE49-F238E27FC236}">
                  <a16:creationId xmlns:a16="http://schemas.microsoft.com/office/drawing/2014/main" id="{9984B2A6-C8D4-1D4B-A890-928A9E459CB2}"/>
                </a:ext>
              </a:extLst>
            </p:cNvPr>
            <p:cNvGrpSpPr>
              <a:grpSpLocks/>
            </p:cNvGrpSpPr>
            <p:nvPr/>
          </p:nvGrpSpPr>
          <p:grpSpPr bwMode="auto">
            <a:xfrm>
              <a:off x="9556500" y="3224921"/>
              <a:ext cx="304800" cy="762000"/>
              <a:chOff x="3216" y="1728"/>
              <a:chExt cx="192" cy="480"/>
            </a:xfrm>
          </p:grpSpPr>
          <p:sp>
            <p:nvSpPr>
              <p:cNvPr id="374" name="Line 8">
                <a:extLst>
                  <a:ext uri="{FF2B5EF4-FFF2-40B4-BE49-F238E27FC236}">
                    <a16:creationId xmlns:a16="http://schemas.microsoft.com/office/drawing/2014/main" id="{F3058070-1B15-8A4E-8D21-12D8F000BED0}"/>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5" name="Line 9">
                <a:extLst>
                  <a:ext uri="{FF2B5EF4-FFF2-40B4-BE49-F238E27FC236}">
                    <a16:creationId xmlns:a16="http://schemas.microsoft.com/office/drawing/2014/main" id="{91D906B0-7CD7-B64B-980C-76FD4452D56C}"/>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6" name="Line 10">
                <a:extLst>
                  <a:ext uri="{FF2B5EF4-FFF2-40B4-BE49-F238E27FC236}">
                    <a16:creationId xmlns:a16="http://schemas.microsoft.com/office/drawing/2014/main" id="{3A8436F6-8A34-6F4A-9694-2545FE749516}"/>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7" name="Line 11">
                <a:extLst>
                  <a:ext uri="{FF2B5EF4-FFF2-40B4-BE49-F238E27FC236}">
                    <a16:creationId xmlns:a16="http://schemas.microsoft.com/office/drawing/2014/main" id="{1AF8AF89-D7C8-2E43-B3BD-4FC9AA04DFA6}"/>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78" name="Group 210">
              <a:extLst>
                <a:ext uri="{FF2B5EF4-FFF2-40B4-BE49-F238E27FC236}">
                  <a16:creationId xmlns:a16="http://schemas.microsoft.com/office/drawing/2014/main" id="{E047E661-7A5C-D341-BD8C-8C14FDFF85E0}"/>
                </a:ext>
              </a:extLst>
            </p:cNvPr>
            <p:cNvGrpSpPr>
              <a:grpSpLocks/>
            </p:cNvGrpSpPr>
            <p:nvPr/>
          </p:nvGrpSpPr>
          <p:grpSpPr bwMode="auto">
            <a:xfrm>
              <a:off x="9548610" y="4000141"/>
              <a:ext cx="304800" cy="762000"/>
              <a:chOff x="3216" y="1728"/>
              <a:chExt cx="192" cy="480"/>
            </a:xfrm>
          </p:grpSpPr>
          <p:sp>
            <p:nvSpPr>
              <p:cNvPr id="379" name="Line 8">
                <a:extLst>
                  <a:ext uri="{FF2B5EF4-FFF2-40B4-BE49-F238E27FC236}">
                    <a16:creationId xmlns:a16="http://schemas.microsoft.com/office/drawing/2014/main" id="{B6107FAA-B7C6-D34A-B954-16CC33AD84EE}"/>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 name="Line 9">
                <a:extLst>
                  <a:ext uri="{FF2B5EF4-FFF2-40B4-BE49-F238E27FC236}">
                    <a16:creationId xmlns:a16="http://schemas.microsoft.com/office/drawing/2014/main" id="{1B8F6BB9-2E33-7F47-8A2F-A4222A5BC209}"/>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1" name="Line 10">
                <a:extLst>
                  <a:ext uri="{FF2B5EF4-FFF2-40B4-BE49-F238E27FC236}">
                    <a16:creationId xmlns:a16="http://schemas.microsoft.com/office/drawing/2014/main" id="{E6C7D196-1033-F544-8A64-605A8AEAEBF6}"/>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2" name="Line 11">
                <a:extLst>
                  <a:ext uri="{FF2B5EF4-FFF2-40B4-BE49-F238E27FC236}">
                    <a16:creationId xmlns:a16="http://schemas.microsoft.com/office/drawing/2014/main" id="{50440473-33A7-6A4A-93C0-A09B2C8F9455}"/>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83" name="Group 222">
              <a:extLst>
                <a:ext uri="{FF2B5EF4-FFF2-40B4-BE49-F238E27FC236}">
                  <a16:creationId xmlns:a16="http://schemas.microsoft.com/office/drawing/2014/main" id="{0BA23F63-CEF6-554E-9769-E7F9927F6674}"/>
                </a:ext>
              </a:extLst>
            </p:cNvPr>
            <p:cNvGrpSpPr>
              <a:grpSpLocks/>
            </p:cNvGrpSpPr>
            <p:nvPr/>
          </p:nvGrpSpPr>
          <p:grpSpPr bwMode="auto">
            <a:xfrm>
              <a:off x="9547185" y="4645797"/>
              <a:ext cx="304800" cy="381000"/>
              <a:chOff x="4272" y="3072"/>
              <a:chExt cx="192" cy="240"/>
            </a:xfrm>
          </p:grpSpPr>
          <p:sp>
            <p:nvSpPr>
              <p:cNvPr id="384" name="Line 99">
                <a:extLst>
                  <a:ext uri="{FF2B5EF4-FFF2-40B4-BE49-F238E27FC236}">
                    <a16:creationId xmlns:a16="http://schemas.microsoft.com/office/drawing/2014/main" id="{304A98F9-746B-6C4E-972A-B3717BB4AA33}"/>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5" name="Line 100">
                <a:extLst>
                  <a:ext uri="{FF2B5EF4-FFF2-40B4-BE49-F238E27FC236}">
                    <a16:creationId xmlns:a16="http://schemas.microsoft.com/office/drawing/2014/main" id="{C117C018-84DE-5442-90E8-2CA4BDFFB3B1}"/>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6" name="Line 101">
                <a:extLst>
                  <a:ext uri="{FF2B5EF4-FFF2-40B4-BE49-F238E27FC236}">
                    <a16:creationId xmlns:a16="http://schemas.microsoft.com/office/drawing/2014/main" id="{69C89F53-EEF3-9544-81A4-4F54A6B8A234}"/>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7" name="Line 102">
                <a:extLst>
                  <a:ext uri="{FF2B5EF4-FFF2-40B4-BE49-F238E27FC236}">
                    <a16:creationId xmlns:a16="http://schemas.microsoft.com/office/drawing/2014/main" id="{C5E9A333-393E-1247-847E-2961562BD694}"/>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8" name="Line 103">
                <a:extLst>
                  <a:ext uri="{FF2B5EF4-FFF2-40B4-BE49-F238E27FC236}">
                    <a16:creationId xmlns:a16="http://schemas.microsoft.com/office/drawing/2014/main" id="{E3CA8CEF-98B2-D347-9031-3BF68CCB509D}"/>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 name="Line 104">
                <a:extLst>
                  <a:ext uri="{FF2B5EF4-FFF2-40B4-BE49-F238E27FC236}">
                    <a16:creationId xmlns:a16="http://schemas.microsoft.com/office/drawing/2014/main" id="{1FEF9DD5-8D50-7D45-B0AD-71FF30C8D629}"/>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392" name="Straight Connector 391">
              <a:extLst>
                <a:ext uri="{FF2B5EF4-FFF2-40B4-BE49-F238E27FC236}">
                  <a16:creationId xmlns:a16="http://schemas.microsoft.com/office/drawing/2014/main" id="{6613A34E-6E55-FC47-8837-58027979F085}"/>
                </a:ext>
              </a:extLst>
            </p:cNvPr>
            <p:cNvCxnSpPr>
              <a:cxnSpLocks/>
              <a:endCxn id="399" idx="1"/>
            </p:cNvCxnSpPr>
            <p:nvPr/>
          </p:nvCxnSpPr>
          <p:spPr>
            <a:xfrm>
              <a:off x="9705664" y="3981684"/>
              <a:ext cx="691582" cy="96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93" name="Oval 392">
              <a:extLst>
                <a:ext uri="{FF2B5EF4-FFF2-40B4-BE49-F238E27FC236}">
                  <a16:creationId xmlns:a16="http://schemas.microsoft.com/office/drawing/2014/main" id="{D11AA495-68EE-934D-BEC7-E96446F5E4CD}"/>
                </a:ext>
              </a:extLst>
            </p:cNvPr>
            <p:cNvSpPr>
              <a:spLocks noChangeAspect="1" noChangeArrowheads="1"/>
            </p:cNvSpPr>
            <p:nvPr/>
          </p:nvSpPr>
          <p:spPr bwMode="auto">
            <a:xfrm>
              <a:off x="10333261" y="3915199"/>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394" name="Group 209">
              <a:extLst>
                <a:ext uri="{FF2B5EF4-FFF2-40B4-BE49-F238E27FC236}">
                  <a16:creationId xmlns:a16="http://schemas.microsoft.com/office/drawing/2014/main" id="{6EE78DBB-540F-1548-8423-0D7F39140A5B}"/>
                </a:ext>
              </a:extLst>
            </p:cNvPr>
            <p:cNvGrpSpPr>
              <a:grpSpLocks/>
            </p:cNvGrpSpPr>
            <p:nvPr/>
          </p:nvGrpSpPr>
          <p:grpSpPr bwMode="auto">
            <a:xfrm>
              <a:off x="10321840" y="3981853"/>
              <a:ext cx="152400" cy="762000"/>
              <a:chOff x="3935" y="1728"/>
              <a:chExt cx="96" cy="480"/>
            </a:xfrm>
          </p:grpSpPr>
          <p:sp>
            <p:nvSpPr>
              <p:cNvPr id="395" name="Arc 59">
                <a:extLst>
                  <a:ext uri="{FF2B5EF4-FFF2-40B4-BE49-F238E27FC236}">
                    <a16:creationId xmlns:a16="http://schemas.microsoft.com/office/drawing/2014/main" id="{2B3B3A3B-4514-BC42-A268-7795F420E70E}"/>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6" name="Arc 60">
                <a:extLst>
                  <a:ext uri="{FF2B5EF4-FFF2-40B4-BE49-F238E27FC236}">
                    <a16:creationId xmlns:a16="http://schemas.microsoft.com/office/drawing/2014/main" id="{11ECFE89-1003-0246-AC22-17BAD56E2623}"/>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7" name="Arc 61">
                <a:extLst>
                  <a:ext uri="{FF2B5EF4-FFF2-40B4-BE49-F238E27FC236}">
                    <a16:creationId xmlns:a16="http://schemas.microsoft.com/office/drawing/2014/main" id="{657034CB-E2A9-7A45-B1B3-DB62C7FB9853}"/>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8" name="Arc 62">
                <a:extLst>
                  <a:ext uri="{FF2B5EF4-FFF2-40B4-BE49-F238E27FC236}">
                    <a16:creationId xmlns:a16="http://schemas.microsoft.com/office/drawing/2014/main" id="{E115FFEF-8DC6-2442-A804-2CE8680C6F8A}"/>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9" name="Line 63">
                <a:extLst>
                  <a:ext uri="{FF2B5EF4-FFF2-40B4-BE49-F238E27FC236}">
                    <a16:creationId xmlns:a16="http://schemas.microsoft.com/office/drawing/2014/main" id="{CB92C5CC-448D-AA49-86A9-C6D0ED23C319}"/>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 name="Line 64">
                <a:extLst>
                  <a:ext uri="{FF2B5EF4-FFF2-40B4-BE49-F238E27FC236}">
                    <a16:creationId xmlns:a16="http://schemas.microsoft.com/office/drawing/2014/main" id="{D053C8FA-FD8F-2D47-906D-5CC6B65AF8F9}"/>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1" name="Arc 65">
                <a:extLst>
                  <a:ext uri="{FF2B5EF4-FFF2-40B4-BE49-F238E27FC236}">
                    <a16:creationId xmlns:a16="http://schemas.microsoft.com/office/drawing/2014/main" id="{1960DC0D-E481-4F40-9EDB-D3DBBF7E2DF5}"/>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2" name="Arc 66">
                <a:extLst>
                  <a:ext uri="{FF2B5EF4-FFF2-40B4-BE49-F238E27FC236}">
                    <a16:creationId xmlns:a16="http://schemas.microsoft.com/office/drawing/2014/main" id="{8F99270F-7FD2-CE46-A8FD-A02F309198B6}"/>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3" name="Arc 67">
                <a:extLst>
                  <a:ext uri="{FF2B5EF4-FFF2-40B4-BE49-F238E27FC236}">
                    <a16:creationId xmlns:a16="http://schemas.microsoft.com/office/drawing/2014/main" id="{8E74575F-16A4-634C-89AD-030416331CEB}"/>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4" name="Arc 68">
                <a:extLst>
                  <a:ext uri="{FF2B5EF4-FFF2-40B4-BE49-F238E27FC236}">
                    <a16:creationId xmlns:a16="http://schemas.microsoft.com/office/drawing/2014/main" id="{1F404C01-F4BA-BE47-9687-FD870674177E}"/>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5" name="Arc 69">
                <a:extLst>
                  <a:ext uri="{FF2B5EF4-FFF2-40B4-BE49-F238E27FC236}">
                    <a16:creationId xmlns:a16="http://schemas.microsoft.com/office/drawing/2014/main" id="{11F74295-7E89-634C-9839-BE96FFDD65FA}"/>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6" name="Arc 70">
                <a:extLst>
                  <a:ext uri="{FF2B5EF4-FFF2-40B4-BE49-F238E27FC236}">
                    <a16:creationId xmlns:a16="http://schemas.microsoft.com/office/drawing/2014/main" id="{B04DA827-1BDA-AA4D-9F0F-A29C0383C182}"/>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7" name="Arc 71">
                <a:extLst>
                  <a:ext uri="{FF2B5EF4-FFF2-40B4-BE49-F238E27FC236}">
                    <a16:creationId xmlns:a16="http://schemas.microsoft.com/office/drawing/2014/main" id="{AE1EF500-69E6-0C47-AEE6-609CB01FEE30}"/>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408" name="Group 222">
              <a:extLst>
                <a:ext uri="{FF2B5EF4-FFF2-40B4-BE49-F238E27FC236}">
                  <a16:creationId xmlns:a16="http://schemas.microsoft.com/office/drawing/2014/main" id="{E0E8CA53-C646-2549-8DFF-EC59907D0A90}"/>
                </a:ext>
              </a:extLst>
            </p:cNvPr>
            <p:cNvGrpSpPr>
              <a:grpSpLocks/>
            </p:cNvGrpSpPr>
            <p:nvPr/>
          </p:nvGrpSpPr>
          <p:grpSpPr bwMode="auto">
            <a:xfrm>
              <a:off x="10243140" y="4694193"/>
              <a:ext cx="304800" cy="381000"/>
              <a:chOff x="4272" y="3072"/>
              <a:chExt cx="192" cy="240"/>
            </a:xfrm>
          </p:grpSpPr>
          <p:sp>
            <p:nvSpPr>
              <p:cNvPr id="409" name="Line 99">
                <a:extLst>
                  <a:ext uri="{FF2B5EF4-FFF2-40B4-BE49-F238E27FC236}">
                    <a16:creationId xmlns:a16="http://schemas.microsoft.com/office/drawing/2014/main" id="{BB60AF07-00F8-A24D-A535-A666D3E51D3F}"/>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 name="Line 100">
                <a:extLst>
                  <a:ext uri="{FF2B5EF4-FFF2-40B4-BE49-F238E27FC236}">
                    <a16:creationId xmlns:a16="http://schemas.microsoft.com/office/drawing/2014/main" id="{4387A1F6-EC37-5445-BE51-65B1D74ED81C}"/>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1" name="Line 101">
                <a:extLst>
                  <a:ext uri="{FF2B5EF4-FFF2-40B4-BE49-F238E27FC236}">
                    <a16:creationId xmlns:a16="http://schemas.microsoft.com/office/drawing/2014/main" id="{C1ECE0D8-5A32-C442-89BF-384255416450}"/>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2" name="Line 102">
                <a:extLst>
                  <a:ext uri="{FF2B5EF4-FFF2-40B4-BE49-F238E27FC236}">
                    <a16:creationId xmlns:a16="http://schemas.microsoft.com/office/drawing/2014/main" id="{6AE4B80A-0B75-4242-B394-BCCADCDD4BE7}"/>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3" name="Line 103">
                <a:extLst>
                  <a:ext uri="{FF2B5EF4-FFF2-40B4-BE49-F238E27FC236}">
                    <a16:creationId xmlns:a16="http://schemas.microsoft.com/office/drawing/2014/main" id="{C59433A1-950D-B349-B4B1-44B3394001CD}"/>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4" name="Line 104">
                <a:extLst>
                  <a:ext uri="{FF2B5EF4-FFF2-40B4-BE49-F238E27FC236}">
                    <a16:creationId xmlns:a16="http://schemas.microsoft.com/office/drawing/2014/main" id="{0AE4F12C-E06F-FF4C-8945-30920F2F422B}"/>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415" name="Straight Connector 414">
              <a:extLst>
                <a:ext uri="{FF2B5EF4-FFF2-40B4-BE49-F238E27FC236}">
                  <a16:creationId xmlns:a16="http://schemas.microsoft.com/office/drawing/2014/main" id="{68685EE8-203D-C447-A02B-93A74B72C800}"/>
                </a:ext>
              </a:extLst>
            </p:cNvPr>
            <p:cNvCxnSpPr>
              <a:cxnSpLocks/>
            </p:cNvCxnSpPr>
            <p:nvPr/>
          </p:nvCxnSpPr>
          <p:spPr>
            <a:xfrm>
              <a:off x="10401586" y="3601688"/>
              <a:ext cx="0" cy="44857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17" name="Freeform 12">
              <a:extLst>
                <a:ext uri="{FF2B5EF4-FFF2-40B4-BE49-F238E27FC236}">
                  <a16:creationId xmlns:a16="http://schemas.microsoft.com/office/drawing/2014/main" id="{8186ABF1-C18C-1549-8353-B7F7B1053EA6}"/>
                </a:ext>
              </a:extLst>
            </p:cNvPr>
            <p:cNvSpPr>
              <a:spLocks noChangeAspect="1"/>
            </p:cNvSpPr>
            <p:nvPr/>
          </p:nvSpPr>
          <p:spPr bwMode="auto">
            <a:xfrm rot="5400000">
              <a:off x="10703025" y="3600397"/>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2" name="Oval 421">
              <a:extLst>
                <a:ext uri="{FF2B5EF4-FFF2-40B4-BE49-F238E27FC236}">
                  <a16:creationId xmlns:a16="http://schemas.microsoft.com/office/drawing/2014/main" id="{1E23E756-6CB3-704F-AB5A-82D467E46267}"/>
                </a:ext>
              </a:extLst>
            </p:cNvPr>
            <p:cNvSpPr>
              <a:spLocks noChangeAspect="1" noChangeArrowheads="1"/>
            </p:cNvSpPr>
            <p:nvPr/>
          </p:nvSpPr>
          <p:spPr bwMode="auto">
            <a:xfrm>
              <a:off x="11207891" y="1849242"/>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423" name="Group 222">
              <a:extLst>
                <a:ext uri="{FF2B5EF4-FFF2-40B4-BE49-F238E27FC236}">
                  <a16:creationId xmlns:a16="http://schemas.microsoft.com/office/drawing/2014/main" id="{01D2FC9F-24DF-D14A-BEEC-FE0BF1F3E48E}"/>
                </a:ext>
              </a:extLst>
            </p:cNvPr>
            <p:cNvGrpSpPr>
              <a:grpSpLocks/>
            </p:cNvGrpSpPr>
            <p:nvPr/>
          </p:nvGrpSpPr>
          <p:grpSpPr bwMode="auto">
            <a:xfrm>
              <a:off x="10837714" y="2545565"/>
              <a:ext cx="304800" cy="381000"/>
              <a:chOff x="4272" y="3072"/>
              <a:chExt cx="192" cy="240"/>
            </a:xfrm>
          </p:grpSpPr>
          <p:sp>
            <p:nvSpPr>
              <p:cNvPr id="424" name="Line 99">
                <a:extLst>
                  <a:ext uri="{FF2B5EF4-FFF2-40B4-BE49-F238E27FC236}">
                    <a16:creationId xmlns:a16="http://schemas.microsoft.com/office/drawing/2014/main" id="{9EE2016E-0CAF-3642-B28F-B2DDD21AC9C5}"/>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5" name="Line 100">
                <a:extLst>
                  <a:ext uri="{FF2B5EF4-FFF2-40B4-BE49-F238E27FC236}">
                    <a16:creationId xmlns:a16="http://schemas.microsoft.com/office/drawing/2014/main" id="{F03BF644-1E5F-7C4E-8358-448A40342F89}"/>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6" name="Line 101">
                <a:extLst>
                  <a:ext uri="{FF2B5EF4-FFF2-40B4-BE49-F238E27FC236}">
                    <a16:creationId xmlns:a16="http://schemas.microsoft.com/office/drawing/2014/main" id="{C3F76800-82AC-0640-8B74-5A853D170C20}"/>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7" name="Line 102">
                <a:extLst>
                  <a:ext uri="{FF2B5EF4-FFF2-40B4-BE49-F238E27FC236}">
                    <a16:creationId xmlns:a16="http://schemas.microsoft.com/office/drawing/2014/main" id="{0FD71B40-EEE6-0444-88FF-DA32DF04D361}"/>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8" name="Line 103">
                <a:extLst>
                  <a:ext uri="{FF2B5EF4-FFF2-40B4-BE49-F238E27FC236}">
                    <a16:creationId xmlns:a16="http://schemas.microsoft.com/office/drawing/2014/main" id="{2842EF64-5C41-104D-8667-BAE71B56E13C}"/>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9" name="Line 104">
                <a:extLst>
                  <a:ext uri="{FF2B5EF4-FFF2-40B4-BE49-F238E27FC236}">
                    <a16:creationId xmlns:a16="http://schemas.microsoft.com/office/drawing/2014/main" id="{2CD086A2-EB39-8840-90CC-1B023D27433A}"/>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 name="Group 210">
              <a:extLst>
                <a:ext uri="{FF2B5EF4-FFF2-40B4-BE49-F238E27FC236}">
                  <a16:creationId xmlns:a16="http://schemas.microsoft.com/office/drawing/2014/main" id="{2768A34D-59AB-0C4A-A7D8-F66AA557324F}"/>
                </a:ext>
              </a:extLst>
            </p:cNvPr>
            <p:cNvGrpSpPr>
              <a:grpSpLocks/>
            </p:cNvGrpSpPr>
            <p:nvPr/>
          </p:nvGrpSpPr>
          <p:grpSpPr bwMode="auto">
            <a:xfrm>
              <a:off x="10837714" y="1897866"/>
              <a:ext cx="304800" cy="762000"/>
              <a:chOff x="3216" y="1728"/>
              <a:chExt cx="192" cy="480"/>
            </a:xfrm>
          </p:grpSpPr>
          <p:sp>
            <p:nvSpPr>
              <p:cNvPr id="431" name="Line 8">
                <a:extLst>
                  <a:ext uri="{FF2B5EF4-FFF2-40B4-BE49-F238E27FC236}">
                    <a16:creationId xmlns:a16="http://schemas.microsoft.com/office/drawing/2014/main" id="{3472814E-488C-D841-A1A6-5BED3781BF85}"/>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2" name="Line 9">
                <a:extLst>
                  <a:ext uri="{FF2B5EF4-FFF2-40B4-BE49-F238E27FC236}">
                    <a16:creationId xmlns:a16="http://schemas.microsoft.com/office/drawing/2014/main" id="{0DB09EF1-EB60-3742-AE49-465D917A0A2D}"/>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 name="Line 10">
                <a:extLst>
                  <a:ext uri="{FF2B5EF4-FFF2-40B4-BE49-F238E27FC236}">
                    <a16:creationId xmlns:a16="http://schemas.microsoft.com/office/drawing/2014/main" id="{0AFFFF5A-E42E-244C-BBEA-8248F0BCF123}"/>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 name="Line 11">
                <a:extLst>
                  <a:ext uri="{FF2B5EF4-FFF2-40B4-BE49-F238E27FC236}">
                    <a16:creationId xmlns:a16="http://schemas.microsoft.com/office/drawing/2014/main" id="{8DF5A6DE-7493-F845-88A6-5A51D8204AE0}"/>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36" name="Oval 435">
              <a:extLst>
                <a:ext uri="{FF2B5EF4-FFF2-40B4-BE49-F238E27FC236}">
                  <a16:creationId xmlns:a16="http://schemas.microsoft.com/office/drawing/2014/main" id="{B83F3895-B454-0549-89B6-DBE16492223A}"/>
                </a:ext>
              </a:extLst>
            </p:cNvPr>
            <p:cNvSpPr>
              <a:spLocks noChangeAspect="1" noChangeArrowheads="1"/>
            </p:cNvSpPr>
            <p:nvPr/>
          </p:nvSpPr>
          <p:spPr bwMode="auto">
            <a:xfrm>
              <a:off x="11141766" y="4748092"/>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437" name="Oval 436">
              <a:extLst>
                <a:ext uri="{FF2B5EF4-FFF2-40B4-BE49-F238E27FC236}">
                  <a16:creationId xmlns:a16="http://schemas.microsoft.com/office/drawing/2014/main" id="{C1F5319E-F692-464E-BA1E-458D17EC04A8}"/>
                </a:ext>
              </a:extLst>
            </p:cNvPr>
            <p:cNvSpPr>
              <a:spLocks noChangeAspect="1" noChangeArrowheads="1"/>
            </p:cNvSpPr>
            <p:nvPr/>
          </p:nvSpPr>
          <p:spPr bwMode="auto">
            <a:xfrm>
              <a:off x="11156377" y="3922749"/>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438" name="Group 210">
              <a:extLst>
                <a:ext uri="{FF2B5EF4-FFF2-40B4-BE49-F238E27FC236}">
                  <a16:creationId xmlns:a16="http://schemas.microsoft.com/office/drawing/2014/main" id="{9EF69109-7810-A24F-A89D-232DAEC7A0B0}"/>
                </a:ext>
              </a:extLst>
            </p:cNvPr>
            <p:cNvGrpSpPr>
              <a:grpSpLocks/>
            </p:cNvGrpSpPr>
            <p:nvPr/>
          </p:nvGrpSpPr>
          <p:grpSpPr bwMode="auto">
            <a:xfrm>
              <a:off x="11061182" y="4059909"/>
              <a:ext cx="304800" cy="762000"/>
              <a:chOff x="3216" y="1728"/>
              <a:chExt cx="192" cy="480"/>
            </a:xfrm>
          </p:grpSpPr>
          <p:sp>
            <p:nvSpPr>
              <p:cNvPr id="439" name="Line 8">
                <a:extLst>
                  <a:ext uri="{FF2B5EF4-FFF2-40B4-BE49-F238E27FC236}">
                    <a16:creationId xmlns:a16="http://schemas.microsoft.com/office/drawing/2014/main" id="{05B48C02-10F0-E946-913F-A4CE8D68AADC}"/>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 name="Line 9">
                <a:extLst>
                  <a:ext uri="{FF2B5EF4-FFF2-40B4-BE49-F238E27FC236}">
                    <a16:creationId xmlns:a16="http://schemas.microsoft.com/office/drawing/2014/main" id="{75E5C211-0AF2-D248-8435-FEBFBD90E605}"/>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1" name="Line 10">
                <a:extLst>
                  <a:ext uri="{FF2B5EF4-FFF2-40B4-BE49-F238E27FC236}">
                    <a16:creationId xmlns:a16="http://schemas.microsoft.com/office/drawing/2014/main" id="{0626B021-A81F-6148-9477-BAC9C770D7AB}"/>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2" name="Line 11">
                <a:extLst>
                  <a:ext uri="{FF2B5EF4-FFF2-40B4-BE49-F238E27FC236}">
                    <a16:creationId xmlns:a16="http://schemas.microsoft.com/office/drawing/2014/main" id="{E811C3D1-1CCD-4C4F-A40F-D00471F933EC}"/>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43" name="Group 210">
              <a:extLst>
                <a:ext uri="{FF2B5EF4-FFF2-40B4-BE49-F238E27FC236}">
                  <a16:creationId xmlns:a16="http://schemas.microsoft.com/office/drawing/2014/main" id="{8D21EFA9-599F-344A-9B74-69073BE71639}"/>
                </a:ext>
              </a:extLst>
            </p:cNvPr>
            <p:cNvGrpSpPr>
              <a:grpSpLocks/>
            </p:cNvGrpSpPr>
            <p:nvPr/>
          </p:nvGrpSpPr>
          <p:grpSpPr bwMode="auto">
            <a:xfrm>
              <a:off x="11053292" y="4835129"/>
              <a:ext cx="304800" cy="762000"/>
              <a:chOff x="3216" y="1728"/>
              <a:chExt cx="192" cy="480"/>
            </a:xfrm>
          </p:grpSpPr>
          <p:sp>
            <p:nvSpPr>
              <p:cNvPr id="444" name="Line 8">
                <a:extLst>
                  <a:ext uri="{FF2B5EF4-FFF2-40B4-BE49-F238E27FC236}">
                    <a16:creationId xmlns:a16="http://schemas.microsoft.com/office/drawing/2014/main" id="{27E3DFE8-8091-E347-956A-4F9E30DC5EBE}"/>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5" name="Line 9">
                <a:extLst>
                  <a:ext uri="{FF2B5EF4-FFF2-40B4-BE49-F238E27FC236}">
                    <a16:creationId xmlns:a16="http://schemas.microsoft.com/office/drawing/2014/main" id="{A75338DC-4C9E-9C47-9F24-DF494D9FDC26}"/>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6" name="Line 10">
                <a:extLst>
                  <a:ext uri="{FF2B5EF4-FFF2-40B4-BE49-F238E27FC236}">
                    <a16:creationId xmlns:a16="http://schemas.microsoft.com/office/drawing/2014/main" id="{02B3BF1A-D706-174C-9C79-FF7B27B2D481}"/>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7" name="Line 11">
                <a:extLst>
                  <a:ext uri="{FF2B5EF4-FFF2-40B4-BE49-F238E27FC236}">
                    <a16:creationId xmlns:a16="http://schemas.microsoft.com/office/drawing/2014/main" id="{D4AB0410-7A39-D44F-9362-DD6EE1C614D0}"/>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48" name="Group 222">
              <a:extLst>
                <a:ext uri="{FF2B5EF4-FFF2-40B4-BE49-F238E27FC236}">
                  <a16:creationId xmlns:a16="http://schemas.microsoft.com/office/drawing/2014/main" id="{88C227BE-9B61-6B4F-B5E4-06A3D9FE60E1}"/>
                </a:ext>
              </a:extLst>
            </p:cNvPr>
            <p:cNvGrpSpPr>
              <a:grpSpLocks/>
            </p:cNvGrpSpPr>
            <p:nvPr/>
          </p:nvGrpSpPr>
          <p:grpSpPr bwMode="auto">
            <a:xfrm>
              <a:off x="11051867" y="5480785"/>
              <a:ext cx="304800" cy="381000"/>
              <a:chOff x="4272" y="3072"/>
              <a:chExt cx="192" cy="240"/>
            </a:xfrm>
          </p:grpSpPr>
          <p:sp>
            <p:nvSpPr>
              <p:cNvPr id="449" name="Line 99">
                <a:extLst>
                  <a:ext uri="{FF2B5EF4-FFF2-40B4-BE49-F238E27FC236}">
                    <a16:creationId xmlns:a16="http://schemas.microsoft.com/office/drawing/2014/main" id="{F09DE13D-590F-D144-9CA2-16780003C392}"/>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 name="Line 100">
                <a:extLst>
                  <a:ext uri="{FF2B5EF4-FFF2-40B4-BE49-F238E27FC236}">
                    <a16:creationId xmlns:a16="http://schemas.microsoft.com/office/drawing/2014/main" id="{2AFE66A6-6C4F-2D4C-A058-8E02B08057A2}"/>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1" name="Line 101">
                <a:extLst>
                  <a:ext uri="{FF2B5EF4-FFF2-40B4-BE49-F238E27FC236}">
                    <a16:creationId xmlns:a16="http://schemas.microsoft.com/office/drawing/2014/main" id="{145C2E11-608E-4F4C-B4F3-6658A4688928}"/>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2" name="Line 102">
                <a:extLst>
                  <a:ext uri="{FF2B5EF4-FFF2-40B4-BE49-F238E27FC236}">
                    <a16:creationId xmlns:a16="http://schemas.microsoft.com/office/drawing/2014/main" id="{7896FA23-9D58-B741-A1F8-DD4D96BD3CF2}"/>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3" name="Line 103">
                <a:extLst>
                  <a:ext uri="{FF2B5EF4-FFF2-40B4-BE49-F238E27FC236}">
                    <a16:creationId xmlns:a16="http://schemas.microsoft.com/office/drawing/2014/main" id="{371FC2BC-6FC2-FD42-A65C-108398D883F5}"/>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4" name="Line 104">
                <a:extLst>
                  <a:ext uri="{FF2B5EF4-FFF2-40B4-BE49-F238E27FC236}">
                    <a16:creationId xmlns:a16="http://schemas.microsoft.com/office/drawing/2014/main" id="{6092EFD6-31F6-E94E-B5D6-9582C26506F7}"/>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55" name="TextBox 454">
              <a:extLst>
                <a:ext uri="{FF2B5EF4-FFF2-40B4-BE49-F238E27FC236}">
                  <a16:creationId xmlns:a16="http://schemas.microsoft.com/office/drawing/2014/main" id="{9AADBE75-3BE7-0641-A910-992643CCE839}"/>
                </a:ext>
              </a:extLst>
            </p:cNvPr>
            <p:cNvSpPr txBox="1"/>
            <p:nvPr/>
          </p:nvSpPr>
          <p:spPr>
            <a:xfrm>
              <a:off x="6599559" y="2641202"/>
              <a:ext cx="718688" cy="338554"/>
            </a:xfrm>
            <a:prstGeom prst="rect">
              <a:avLst/>
            </a:prstGeom>
            <a:noFill/>
          </p:spPr>
          <p:txBody>
            <a:bodyPr wrap="square" rtlCol="0">
              <a:spAutoFit/>
            </a:bodyPr>
            <a:lstStyle/>
            <a:p>
              <a:r>
                <a:rPr lang="en-US" sz="1600" dirty="0"/>
                <a:t>47pF</a:t>
              </a:r>
            </a:p>
          </p:txBody>
        </p:sp>
        <p:sp>
          <p:nvSpPr>
            <p:cNvPr id="456" name="TextBox 455">
              <a:extLst>
                <a:ext uri="{FF2B5EF4-FFF2-40B4-BE49-F238E27FC236}">
                  <a16:creationId xmlns:a16="http://schemas.microsoft.com/office/drawing/2014/main" id="{0CAC1348-4DD6-274D-BC73-EC4921A0C657}"/>
                </a:ext>
              </a:extLst>
            </p:cNvPr>
            <p:cNvSpPr txBox="1"/>
            <p:nvPr/>
          </p:nvSpPr>
          <p:spPr>
            <a:xfrm>
              <a:off x="5077410" y="2097905"/>
              <a:ext cx="718688" cy="338554"/>
            </a:xfrm>
            <a:prstGeom prst="rect">
              <a:avLst/>
            </a:prstGeom>
            <a:noFill/>
          </p:spPr>
          <p:txBody>
            <a:bodyPr wrap="square" rtlCol="0">
              <a:spAutoFit/>
            </a:bodyPr>
            <a:lstStyle/>
            <a:p>
              <a:r>
                <a:rPr lang="en-US" sz="1600" dirty="0"/>
                <a:t>510</a:t>
              </a:r>
            </a:p>
          </p:txBody>
        </p:sp>
        <p:sp>
          <p:nvSpPr>
            <p:cNvPr id="457" name="TextBox 456">
              <a:extLst>
                <a:ext uri="{FF2B5EF4-FFF2-40B4-BE49-F238E27FC236}">
                  <a16:creationId xmlns:a16="http://schemas.microsoft.com/office/drawing/2014/main" id="{67405D1D-0E75-5E45-B0E8-4470282B288B}"/>
                </a:ext>
              </a:extLst>
            </p:cNvPr>
            <p:cNvSpPr txBox="1"/>
            <p:nvPr/>
          </p:nvSpPr>
          <p:spPr>
            <a:xfrm>
              <a:off x="6493114" y="1448413"/>
              <a:ext cx="718688" cy="338554"/>
            </a:xfrm>
            <a:prstGeom prst="rect">
              <a:avLst/>
            </a:prstGeom>
            <a:noFill/>
          </p:spPr>
          <p:txBody>
            <a:bodyPr wrap="square" rtlCol="0">
              <a:spAutoFit/>
            </a:bodyPr>
            <a:lstStyle/>
            <a:p>
              <a:r>
                <a:rPr lang="en-US" sz="1600" dirty="0"/>
                <a:t>4.7K</a:t>
              </a:r>
            </a:p>
          </p:txBody>
        </p:sp>
        <p:sp>
          <p:nvSpPr>
            <p:cNvPr id="458" name="TextBox 457">
              <a:extLst>
                <a:ext uri="{FF2B5EF4-FFF2-40B4-BE49-F238E27FC236}">
                  <a16:creationId xmlns:a16="http://schemas.microsoft.com/office/drawing/2014/main" id="{6077E078-D752-2F46-A4D2-65EA35D827E8}"/>
                </a:ext>
              </a:extLst>
            </p:cNvPr>
            <p:cNvSpPr txBox="1"/>
            <p:nvPr/>
          </p:nvSpPr>
          <p:spPr>
            <a:xfrm>
              <a:off x="6454476" y="3591207"/>
              <a:ext cx="825133" cy="338554"/>
            </a:xfrm>
            <a:prstGeom prst="rect">
              <a:avLst/>
            </a:prstGeom>
            <a:noFill/>
          </p:spPr>
          <p:txBody>
            <a:bodyPr wrap="square" rtlCol="0">
              <a:spAutoFit/>
            </a:bodyPr>
            <a:lstStyle/>
            <a:p>
              <a:r>
                <a:rPr lang="en-US" sz="1600" dirty="0"/>
                <a:t>2-25pF</a:t>
              </a:r>
            </a:p>
          </p:txBody>
        </p:sp>
        <p:sp>
          <p:nvSpPr>
            <p:cNvPr id="459" name="TextBox 458">
              <a:extLst>
                <a:ext uri="{FF2B5EF4-FFF2-40B4-BE49-F238E27FC236}">
                  <a16:creationId xmlns:a16="http://schemas.microsoft.com/office/drawing/2014/main" id="{DC38831C-0D43-5E4C-BA1A-1F71BB94BEAD}"/>
                </a:ext>
              </a:extLst>
            </p:cNvPr>
            <p:cNvSpPr txBox="1"/>
            <p:nvPr/>
          </p:nvSpPr>
          <p:spPr>
            <a:xfrm>
              <a:off x="5544328" y="3363723"/>
              <a:ext cx="825133" cy="584775"/>
            </a:xfrm>
            <a:prstGeom prst="rect">
              <a:avLst/>
            </a:prstGeom>
            <a:noFill/>
          </p:spPr>
          <p:txBody>
            <a:bodyPr wrap="square" rtlCol="0">
              <a:spAutoFit/>
            </a:bodyPr>
            <a:lstStyle/>
            <a:p>
              <a:r>
                <a:rPr lang="en-US" sz="1600" dirty="0"/>
                <a:t>MVAM108</a:t>
              </a:r>
            </a:p>
          </p:txBody>
        </p:sp>
        <p:sp>
          <p:nvSpPr>
            <p:cNvPr id="460" name="TextBox 459">
              <a:extLst>
                <a:ext uri="{FF2B5EF4-FFF2-40B4-BE49-F238E27FC236}">
                  <a16:creationId xmlns:a16="http://schemas.microsoft.com/office/drawing/2014/main" id="{195F6C1A-F109-074F-8263-BB10F8F6B773}"/>
                </a:ext>
              </a:extLst>
            </p:cNvPr>
            <p:cNvSpPr txBox="1"/>
            <p:nvPr/>
          </p:nvSpPr>
          <p:spPr>
            <a:xfrm>
              <a:off x="8037787" y="2573130"/>
              <a:ext cx="718688" cy="338554"/>
            </a:xfrm>
            <a:prstGeom prst="rect">
              <a:avLst/>
            </a:prstGeom>
            <a:noFill/>
          </p:spPr>
          <p:txBody>
            <a:bodyPr wrap="square" rtlCol="0">
              <a:spAutoFit/>
            </a:bodyPr>
            <a:lstStyle/>
            <a:p>
              <a:r>
                <a:rPr lang="en-US" sz="1600" dirty="0"/>
                <a:t>47pF</a:t>
              </a:r>
            </a:p>
          </p:txBody>
        </p:sp>
        <p:sp>
          <p:nvSpPr>
            <p:cNvPr id="461" name="TextBox 460">
              <a:extLst>
                <a:ext uri="{FF2B5EF4-FFF2-40B4-BE49-F238E27FC236}">
                  <a16:creationId xmlns:a16="http://schemas.microsoft.com/office/drawing/2014/main" id="{66324ECE-DB9E-0449-9CB5-0C44A045D756}"/>
                </a:ext>
              </a:extLst>
            </p:cNvPr>
            <p:cNvSpPr txBox="1"/>
            <p:nvPr/>
          </p:nvSpPr>
          <p:spPr>
            <a:xfrm>
              <a:off x="7457644" y="3432411"/>
              <a:ext cx="528627" cy="338554"/>
            </a:xfrm>
            <a:prstGeom prst="rect">
              <a:avLst/>
            </a:prstGeom>
            <a:noFill/>
          </p:spPr>
          <p:txBody>
            <a:bodyPr wrap="square" rtlCol="0">
              <a:spAutoFit/>
            </a:bodyPr>
            <a:lstStyle/>
            <a:p>
              <a:r>
                <a:rPr lang="en-US" sz="1600" dirty="0"/>
                <a:t>L</a:t>
              </a:r>
            </a:p>
          </p:txBody>
        </p:sp>
        <p:sp>
          <p:nvSpPr>
            <p:cNvPr id="462" name="Oval 461">
              <a:extLst>
                <a:ext uri="{FF2B5EF4-FFF2-40B4-BE49-F238E27FC236}">
                  <a16:creationId xmlns:a16="http://schemas.microsoft.com/office/drawing/2014/main" id="{F1924FE1-840A-294E-B6CD-59D99E6A5205}"/>
                </a:ext>
              </a:extLst>
            </p:cNvPr>
            <p:cNvSpPr>
              <a:spLocks noChangeAspect="1" noChangeArrowheads="1"/>
            </p:cNvSpPr>
            <p:nvPr/>
          </p:nvSpPr>
          <p:spPr bwMode="auto">
            <a:xfrm>
              <a:off x="8966968" y="3085613"/>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463" name="TextBox 462">
              <a:extLst>
                <a:ext uri="{FF2B5EF4-FFF2-40B4-BE49-F238E27FC236}">
                  <a16:creationId xmlns:a16="http://schemas.microsoft.com/office/drawing/2014/main" id="{4A94012D-BD1A-A545-9271-1B5D1143EE67}"/>
                </a:ext>
              </a:extLst>
            </p:cNvPr>
            <p:cNvSpPr txBox="1"/>
            <p:nvPr/>
          </p:nvSpPr>
          <p:spPr>
            <a:xfrm>
              <a:off x="11139450" y="2184617"/>
              <a:ext cx="718688" cy="338554"/>
            </a:xfrm>
            <a:prstGeom prst="rect">
              <a:avLst/>
            </a:prstGeom>
            <a:noFill/>
          </p:spPr>
          <p:txBody>
            <a:bodyPr wrap="square" rtlCol="0">
              <a:spAutoFit/>
            </a:bodyPr>
            <a:lstStyle/>
            <a:p>
              <a:r>
                <a:rPr lang="en-US" sz="1600" dirty="0"/>
                <a:t>47nF</a:t>
              </a:r>
            </a:p>
          </p:txBody>
        </p:sp>
        <p:sp>
          <p:nvSpPr>
            <p:cNvPr id="464" name="TextBox 463">
              <a:extLst>
                <a:ext uri="{FF2B5EF4-FFF2-40B4-BE49-F238E27FC236}">
                  <a16:creationId xmlns:a16="http://schemas.microsoft.com/office/drawing/2014/main" id="{161B2E78-F7BD-4749-9497-E786BD4E4857}"/>
                </a:ext>
              </a:extLst>
            </p:cNvPr>
            <p:cNvSpPr txBox="1"/>
            <p:nvPr/>
          </p:nvSpPr>
          <p:spPr>
            <a:xfrm>
              <a:off x="9745119" y="3599376"/>
              <a:ext cx="718688" cy="338554"/>
            </a:xfrm>
            <a:prstGeom prst="rect">
              <a:avLst/>
            </a:prstGeom>
            <a:noFill/>
          </p:spPr>
          <p:txBody>
            <a:bodyPr wrap="square" rtlCol="0">
              <a:spAutoFit/>
            </a:bodyPr>
            <a:lstStyle/>
            <a:p>
              <a:r>
                <a:rPr lang="en-US" sz="1600" dirty="0"/>
                <a:t>1.2nF</a:t>
              </a:r>
            </a:p>
          </p:txBody>
        </p:sp>
        <p:sp>
          <p:nvSpPr>
            <p:cNvPr id="465" name="TextBox 464">
              <a:extLst>
                <a:ext uri="{FF2B5EF4-FFF2-40B4-BE49-F238E27FC236}">
                  <a16:creationId xmlns:a16="http://schemas.microsoft.com/office/drawing/2014/main" id="{97DB12F9-954B-8B4D-80AC-F4B6F43B3D6D}"/>
                </a:ext>
              </a:extLst>
            </p:cNvPr>
            <p:cNvSpPr txBox="1"/>
            <p:nvPr/>
          </p:nvSpPr>
          <p:spPr>
            <a:xfrm>
              <a:off x="9070167" y="4488271"/>
              <a:ext cx="718688" cy="338554"/>
            </a:xfrm>
            <a:prstGeom prst="rect">
              <a:avLst/>
            </a:prstGeom>
            <a:noFill/>
          </p:spPr>
          <p:txBody>
            <a:bodyPr wrap="square" rtlCol="0">
              <a:spAutoFit/>
            </a:bodyPr>
            <a:lstStyle/>
            <a:p>
              <a:r>
                <a:rPr lang="en-US" sz="1600" dirty="0"/>
                <a:t>1.2nF</a:t>
              </a:r>
            </a:p>
          </p:txBody>
        </p:sp>
        <p:sp>
          <p:nvSpPr>
            <p:cNvPr id="466" name="TextBox 465">
              <a:extLst>
                <a:ext uri="{FF2B5EF4-FFF2-40B4-BE49-F238E27FC236}">
                  <a16:creationId xmlns:a16="http://schemas.microsoft.com/office/drawing/2014/main" id="{B78A43A0-1C92-6043-9FF7-3935AD6D7C81}"/>
                </a:ext>
              </a:extLst>
            </p:cNvPr>
            <p:cNvSpPr txBox="1"/>
            <p:nvPr/>
          </p:nvSpPr>
          <p:spPr>
            <a:xfrm>
              <a:off x="9031530" y="3444460"/>
              <a:ext cx="718688" cy="338554"/>
            </a:xfrm>
            <a:prstGeom prst="rect">
              <a:avLst/>
            </a:prstGeom>
            <a:noFill/>
          </p:spPr>
          <p:txBody>
            <a:bodyPr wrap="square" rtlCol="0">
              <a:spAutoFit/>
            </a:bodyPr>
            <a:lstStyle/>
            <a:p>
              <a:r>
                <a:rPr lang="en-US" sz="1600" dirty="0"/>
                <a:t>47K</a:t>
              </a:r>
            </a:p>
          </p:txBody>
        </p:sp>
        <p:sp>
          <p:nvSpPr>
            <p:cNvPr id="467" name="TextBox 466">
              <a:extLst>
                <a:ext uri="{FF2B5EF4-FFF2-40B4-BE49-F238E27FC236}">
                  <a16:creationId xmlns:a16="http://schemas.microsoft.com/office/drawing/2014/main" id="{B9B7F071-ECAC-F44E-8E32-60A23A5F46DB}"/>
                </a:ext>
              </a:extLst>
            </p:cNvPr>
            <p:cNvSpPr txBox="1"/>
            <p:nvPr/>
          </p:nvSpPr>
          <p:spPr>
            <a:xfrm>
              <a:off x="10639241" y="3583981"/>
              <a:ext cx="718688" cy="338554"/>
            </a:xfrm>
            <a:prstGeom prst="rect">
              <a:avLst/>
            </a:prstGeom>
            <a:noFill/>
          </p:spPr>
          <p:txBody>
            <a:bodyPr wrap="square" rtlCol="0">
              <a:spAutoFit/>
            </a:bodyPr>
            <a:lstStyle/>
            <a:p>
              <a:r>
                <a:rPr lang="en-US" sz="1600" dirty="0"/>
                <a:t>1.8K</a:t>
              </a:r>
            </a:p>
          </p:txBody>
        </p:sp>
        <p:sp>
          <p:nvSpPr>
            <p:cNvPr id="468" name="TextBox 467">
              <a:extLst>
                <a:ext uri="{FF2B5EF4-FFF2-40B4-BE49-F238E27FC236}">
                  <a16:creationId xmlns:a16="http://schemas.microsoft.com/office/drawing/2014/main" id="{A5DDE14D-34BB-EF4D-A928-D4E8C42154B1}"/>
                </a:ext>
              </a:extLst>
            </p:cNvPr>
            <p:cNvSpPr txBox="1"/>
            <p:nvPr/>
          </p:nvSpPr>
          <p:spPr>
            <a:xfrm>
              <a:off x="10404744" y="4546698"/>
              <a:ext cx="718688" cy="338554"/>
            </a:xfrm>
            <a:prstGeom prst="rect">
              <a:avLst/>
            </a:prstGeom>
            <a:noFill/>
          </p:spPr>
          <p:txBody>
            <a:bodyPr wrap="square" rtlCol="0">
              <a:spAutoFit/>
            </a:bodyPr>
            <a:lstStyle/>
            <a:p>
              <a:r>
                <a:rPr lang="en-US" sz="1600" dirty="0"/>
                <a:t>1mH</a:t>
              </a:r>
            </a:p>
          </p:txBody>
        </p:sp>
        <p:sp>
          <p:nvSpPr>
            <p:cNvPr id="469" name="TextBox 468">
              <a:extLst>
                <a:ext uri="{FF2B5EF4-FFF2-40B4-BE49-F238E27FC236}">
                  <a16:creationId xmlns:a16="http://schemas.microsoft.com/office/drawing/2014/main" id="{F61FC8EE-E852-6549-8364-908B656C3C94}"/>
                </a:ext>
              </a:extLst>
            </p:cNvPr>
            <p:cNvSpPr txBox="1"/>
            <p:nvPr/>
          </p:nvSpPr>
          <p:spPr>
            <a:xfrm>
              <a:off x="11173494" y="5289821"/>
              <a:ext cx="718688" cy="338554"/>
            </a:xfrm>
            <a:prstGeom prst="rect">
              <a:avLst/>
            </a:prstGeom>
            <a:noFill/>
          </p:spPr>
          <p:txBody>
            <a:bodyPr wrap="square" rtlCol="0">
              <a:spAutoFit/>
            </a:bodyPr>
            <a:lstStyle/>
            <a:p>
              <a:r>
                <a:rPr lang="en-US" sz="1600" dirty="0"/>
                <a:t>150pF</a:t>
              </a:r>
            </a:p>
          </p:txBody>
        </p:sp>
        <p:sp>
          <p:nvSpPr>
            <p:cNvPr id="470" name="TextBox 469">
              <a:extLst>
                <a:ext uri="{FF2B5EF4-FFF2-40B4-BE49-F238E27FC236}">
                  <a16:creationId xmlns:a16="http://schemas.microsoft.com/office/drawing/2014/main" id="{3AA3D03D-03CD-FB43-9121-8B5AE6CB384B}"/>
                </a:ext>
              </a:extLst>
            </p:cNvPr>
            <p:cNvSpPr txBox="1"/>
            <p:nvPr/>
          </p:nvSpPr>
          <p:spPr>
            <a:xfrm>
              <a:off x="11214113" y="4465095"/>
              <a:ext cx="718688" cy="338554"/>
            </a:xfrm>
            <a:prstGeom prst="rect">
              <a:avLst/>
            </a:prstGeom>
            <a:noFill/>
          </p:spPr>
          <p:txBody>
            <a:bodyPr wrap="square" rtlCol="0">
              <a:spAutoFit/>
            </a:bodyPr>
            <a:lstStyle/>
            <a:p>
              <a:r>
                <a:rPr lang="en-US" sz="1600" dirty="0"/>
                <a:t>10nF</a:t>
              </a:r>
            </a:p>
          </p:txBody>
        </p:sp>
        <p:sp>
          <p:nvSpPr>
            <p:cNvPr id="471" name="TextBox 470">
              <a:extLst>
                <a:ext uri="{FF2B5EF4-FFF2-40B4-BE49-F238E27FC236}">
                  <a16:creationId xmlns:a16="http://schemas.microsoft.com/office/drawing/2014/main" id="{898C12C9-3BC9-EC46-8E95-8E01D9598F7D}"/>
                </a:ext>
              </a:extLst>
            </p:cNvPr>
            <p:cNvSpPr txBox="1"/>
            <p:nvPr/>
          </p:nvSpPr>
          <p:spPr>
            <a:xfrm>
              <a:off x="6750282" y="4771804"/>
              <a:ext cx="2101360" cy="584775"/>
            </a:xfrm>
            <a:prstGeom prst="rect">
              <a:avLst/>
            </a:prstGeom>
            <a:noFill/>
          </p:spPr>
          <p:txBody>
            <a:bodyPr wrap="square" rtlCol="0">
              <a:spAutoFit/>
            </a:bodyPr>
            <a:lstStyle/>
            <a:p>
              <a:r>
                <a:rPr lang="en-US" sz="1600" dirty="0"/>
                <a:t>L: 62 turns on T68-7</a:t>
              </a:r>
            </a:p>
            <a:p>
              <a:r>
                <a:rPr lang="en-US" sz="1600" dirty="0"/>
                <a:t>19uH</a:t>
              </a:r>
            </a:p>
          </p:txBody>
        </p:sp>
        <p:sp>
          <p:nvSpPr>
            <p:cNvPr id="472" name="TextBox 471">
              <a:extLst>
                <a:ext uri="{FF2B5EF4-FFF2-40B4-BE49-F238E27FC236}">
                  <a16:creationId xmlns:a16="http://schemas.microsoft.com/office/drawing/2014/main" id="{CE7CCB94-946E-DE45-8E0F-BED80FABCE96}"/>
                </a:ext>
              </a:extLst>
            </p:cNvPr>
            <p:cNvSpPr txBox="1"/>
            <p:nvPr/>
          </p:nvSpPr>
          <p:spPr>
            <a:xfrm>
              <a:off x="5876794" y="2643002"/>
              <a:ext cx="718688" cy="338554"/>
            </a:xfrm>
            <a:prstGeom prst="rect">
              <a:avLst/>
            </a:prstGeom>
            <a:noFill/>
          </p:spPr>
          <p:txBody>
            <a:bodyPr wrap="square" rtlCol="0">
              <a:spAutoFit/>
            </a:bodyPr>
            <a:lstStyle/>
            <a:p>
              <a:r>
                <a:rPr lang="en-US" sz="1600" dirty="0"/>
                <a:t>47K</a:t>
              </a:r>
            </a:p>
          </p:txBody>
        </p:sp>
        <p:cxnSp>
          <p:nvCxnSpPr>
            <p:cNvPr id="474" name="Straight Arrow Connector 473">
              <a:extLst>
                <a:ext uri="{FF2B5EF4-FFF2-40B4-BE49-F238E27FC236}">
                  <a16:creationId xmlns:a16="http://schemas.microsoft.com/office/drawing/2014/main" id="{C59E6B8F-70F8-7148-805F-1DAA716C8A28}"/>
                </a:ext>
              </a:extLst>
            </p:cNvPr>
            <p:cNvCxnSpPr/>
            <p:nvPr/>
          </p:nvCxnSpPr>
          <p:spPr>
            <a:xfrm flipV="1">
              <a:off x="7023674" y="3313737"/>
              <a:ext cx="204460" cy="36576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6" name="Straight Connector 475">
              <a:extLst>
                <a:ext uri="{FF2B5EF4-FFF2-40B4-BE49-F238E27FC236}">
                  <a16:creationId xmlns:a16="http://schemas.microsoft.com/office/drawing/2014/main" id="{B6F3F7FD-8BEE-044A-BC18-258EC2BB3626}"/>
                </a:ext>
              </a:extLst>
            </p:cNvPr>
            <p:cNvCxnSpPr/>
            <p:nvPr/>
          </p:nvCxnSpPr>
          <p:spPr>
            <a:xfrm>
              <a:off x="6331928" y="3352373"/>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79" name="TextBox 478">
              <a:extLst>
                <a:ext uri="{FF2B5EF4-FFF2-40B4-BE49-F238E27FC236}">
                  <a16:creationId xmlns:a16="http://schemas.microsoft.com/office/drawing/2014/main" id="{7A11E7AD-F1FE-7A4A-9059-44ED94CE97A7}"/>
                </a:ext>
              </a:extLst>
            </p:cNvPr>
            <p:cNvSpPr txBox="1"/>
            <p:nvPr/>
          </p:nvSpPr>
          <p:spPr>
            <a:xfrm>
              <a:off x="8323557" y="1225673"/>
              <a:ext cx="2101360" cy="338554"/>
            </a:xfrm>
            <a:prstGeom prst="rect">
              <a:avLst/>
            </a:prstGeom>
            <a:noFill/>
          </p:spPr>
          <p:txBody>
            <a:bodyPr wrap="square" rtlCol="0">
              <a:spAutoFit/>
            </a:bodyPr>
            <a:lstStyle/>
            <a:p>
              <a:r>
                <a:rPr lang="en-US" sz="1600" dirty="0" err="1"/>
                <a:t>Norcal</a:t>
              </a:r>
              <a:r>
                <a:rPr lang="en-US" sz="1600" dirty="0"/>
                <a:t> VFO</a:t>
              </a:r>
            </a:p>
          </p:txBody>
        </p:sp>
      </p:grpSp>
    </p:spTree>
    <p:extLst>
      <p:ext uri="{BB962C8B-B14F-4D97-AF65-F5344CB8AC3E}">
        <p14:creationId xmlns:p14="http://schemas.microsoft.com/office/powerpoint/2010/main" val="227462173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728424" y="136525"/>
            <a:ext cx="10515600" cy="869909"/>
          </a:xfrm>
        </p:spPr>
        <p:txBody>
          <a:bodyPr/>
          <a:lstStyle/>
          <a:p>
            <a:pPr algn="ctr"/>
            <a:r>
              <a:rPr lang="en-US" dirty="0">
                <a:latin typeface="Calibri" panose="020F0502020204030204" pitchFamily="34" charset="0"/>
                <a:cs typeface="Calibri" panose="020F0502020204030204" pitchFamily="34" charset="0"/>
              </a:rPr>
              <a:t>More Oscillators</a:t>
            </a:r>
          </a:p>
        </p:txBody>
      </p:sp>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73</a:t>
            </a:fld>
            <a:endParaRPr lang="en-US"/>
          </a:p>
        </p:txBody>
      </p:sp>
      <p:grpSp>
        <p:nvGrpSpPr>
          <p:cNvPr id="7" name="Group 6">
            <a:extLst>
              <a:ext uri="{FF2B5EF4-FFF2-40B4-BE49-F238E27FC236}">
                <a16:creationId xmlns:a16="http://schemas.microsoft.com/office/drawing/2014/main" id="{2653485A-2A84-9647-9523-F9C69E37434F}"/>
              </a:ext>
            </a:extLst>
          </p:cNvPr>
          <p:cNvGrpSpPr/>
          <p:nvPr/>
        </p:nvGrpSpPr>
        <p:grpSpPr>
          <a:xfrm>
            <a:off x="889691" y="2780233"/>
            <a:ext cx="2685586" cy="2767845"/>
            <a:chOff x="298046" y="2067409"/>
            <a:chExt cx="2685586" cy="2767845"/>
          </a:xfrm>
        </p:grpSpPr>
        <p:grpSp>
          <p:nvGrpSpPr>
            <p:cNvPr id="101" name="Group 100">
              <a:extLst>
                <a:ext uri="{FF2B5EF4-FFF2-40B4-BE49-F238E27FC236}">
                  <a16:creationId xmlns:a16="http://schemas.microsoft.com/office/drawing/2014/main" id="{13BF5C60-F967-C543-A278-4DB7AB2B7EFC}"/>
                </a:ext>
              </a:extLst>
            </p:cNvPr>
            <p:cNvGrpSpPr/>
            <p:nvPr/>
          </p:nvGrpSpPr>
          <p:grpSpPr>
            <a:xfrm>
              <a:off x="1332706" y="2449178"/>
              <a:ext cx="718684" cy="1036429"/>
              <a:chOff x="2362200" y="1905000"/>
              <a:chExt cx="762000" cy="1219200"/>
            </a:xfrm>
          </p:grpSpPr>
          <p:cxnSp>
            <p:nvCxnSpPr>
              <p:cNvPr id="102" name="Straight Connector 101">
                <a:extLst>
                  <a:ext uri="{FF2B5EF4-FFF2-40B4-BE49-F238E27FC236}">
                    <a16:creationId xmlns:a16="http://schemas.microsoft.com/office/drawing/2014/main" id="{ABA75F76-F33F-5748-AF36-6C4F73095FBA}"/>
                  </a:ext>
                </a:extLst>
              </p:cNvPr>
              <p:cNvCxnSpPr/>
              <p:nvPr/>
            </p:nvCxnSpPr>
            <p:spPr bwMode="auto">
              <a:xfrm>
                <a:off x="2819400" y="2209800"/>
                <a:ext cx="0" cy="640080"/>
              </a:xfrm>
              <a:prstGeom prst="line">
                <a:avLst/>
              </a:prstGeom>
              <a:solidFill>
                <a:schemeClr val="accent1"/>
              </a:solidFill>
              <a:ln w="31750" cap="flat" cmpd="sng" algn="ctr">
                <a:solidFill>
                  <a:schemeClr val="tx1"/>
                </a:solidFill>
                <a:prstDash val="solid"/>
                <a:round/>
                <a:headEnd type="none" w="med" len="med"/>
                <a:tailEnd type="none" w="med" len="med"/>
              </a:ln>
              <a:effectLst/>
            </p:spPr>
          </p:cxnSp>
          <p:cxnSp>
            <p:nvCxnSpPr>
              <p:cNvPr id="103" name="Straight Connector 102">
                <a:extLst>
                  <a:ext uri="{FF2B5EF4-FFF2-40B4-BE49-F238E27FC236}">
                    <a16:creationId xmlns:a16="http://schemas.microsoft.com/office/drawing/2014/main" id="{DC1ED72F-C00F-7B41-AD77-0C537D574A3D}"/>
                  </a:ext>
                </a:extLst>
              </p:cNvPr>
              <p:cNvCxnSpPr/>
              <p:nvPr/>
            </p:nvCxnSpPr>
            <p:spPr bwMode="auto">
              <a:xfrm>
                <a:off x="3124200" y="1905000"/>
                <a:ext cx="0" cy="45720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04" name="Straight Connector 103">
                <a:extLst>
                  <a:ext uri="{FF2B5EF4-FFF2-40B4-BE49-F238E27FC236}">
                    <a16:creationId xmlns:a16="http://schemas.microsoft.com/office/drawing/2014/main" id="{C0ECDB13-486A-EF47-8271-0D17B48728BE}"/>
                  </a:ext>
                </a:extLst>
              </p:cNvPr>
              <p:cNvCxnSpPr>
                <a:cxnSpLocks/>
              </p:cNvCxnSpPr>
              <p:nvPr/>
            </p:nvCxnSpPr>
            <p:spPr bwMode="auto">
              <a:xfrm>
                <a:off x="2819400" y="2362200"/>
                <a:ext cx="304800"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05" name="Straight Connector 104">
                <a:extLst>
                  <a:ext uri="{FF2B5EF4-FFF2-40B4-BE49-F238E27FC236}">
                    <a16:creationId xmlns:a16="http://schemas.microsoft.com/office/drawing/2014/main" id="{933508BE-FBFB-C345-AA82-43F03256F419}"/>
                  </a:ext>
                </a:extLst>
              </p:cNvPr>
              <p:cNvCxnSpPr>
                <a:cxnSpLocks/>
              </p:cNvCxnSpPr>
              <p:nvPr/>
            </p:nvCxnSpPr>
            <p:spPr bwMode="auto">
              <a:xfrm>
                <a:off x="2819400" y="2667000"/>
                <a:ext cx="304800"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06" name="Straight Connector 105">
                <a:extLst>
                  <a:ext uri="{FF2B5EF4-FFF2-40B4-BE49-F238E27FC236}">
                    <a16:creationId xmlns:a16="http://schemas.microsoft.com/office/drawing/2014/main" id="{B059685C-4D20-FA4C-89E0-DE4E2EE34CD7}"/>
                  </a:ext>
                </a:extLst>
              </p:cNvPr>
              <p:cNvCxnSpPr/>
              <p:nvPr/>
            </p:nvCxnSpPr>
            <p:spPr bwMode="auto">
              <a:xfrm>
                <a:off x="3124200" y="2667000"/>
                <a:ext cx="0" cy="45720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07" name="Straight Arrow Connector 106">
                <a:extLst>
                  <a:ext uri="{FF2B5EF4-FFF2-40B4-BE49-F238E27FC236}">
                    <a16:creationId xmlns:a16="http://schemas.microsoft.com/office/drawing/2014/main" id="{185C05D9-504F-F84B-8522-065C7EDFAC79}"/>
                  </a:ext>
                </a:extLst>
              </p:cNvPr>
              <p:cNvCxnSpPr>
                <a:cxnSpLocks/>
              </p:cNvCxnSpPr>
              <p:nvPr/>
            </p:nvCxnSpPr>
            <p:spPr bwMode="auto">
              <a:xfrm>
                <a:off x="2362200" y="2514600"/>
                <a:ext cx="457200" cy="0"/>
              </a:xfrm>
              <a:prstGeom prst="straightConnector1">
                <a:avLst/>
              </a:prstGeom>
              <a:solidFill>
                <a:schemeClr val="accent1"/>
              </a:solidFill>
              <a:ln w="25400" cap="flat" cmpd="sng" algn="ctr">
                <a:solidFill>
                  <a:schemeClr val="tx1"/>
                </a:solidFill>
                <a:prstDash val="solid"/>
                <a:round/>
                <a:headEnd type="none" w="med" len="med"/>
                <a:tailEnd type="triangle"/>
              </a:ln>
              <a:effectLst/>
            </p:spPr>
          </p:cxnSp>
          <p:sp>
            <p:nvSpPr>
              <p:cNvPr id="108" name="TextBox 107">
                <a:extLst>
                  <a:ext uri="{FF2B5EF4-FFF2-40B4-BE49-F238E27FC236}">
                    <a16:creationId xmlns:a16="http://schemas.microsoft.com/office/drawing/2014/main" id="{46B87415-DED5-244F-ACCC-417463753E93}"/>
                  </a:ext>
                </a:extLst>
              </p:cNvPr>
              <p:cNvSpPr txBox="1"/>
              <p:nvPr/>
            </p:nvSpPr>
            <p:spPr>
              <a:xfrm>
                <a:off x="2819400" y="1905000"/>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D</a:t>
                </a:r>
              </a:p>
            </p:txBody>
          </p:sp>
          <p:sp>
            <p:nvSpPr>
              <p:cNvPr id="109" name="TextBox 108">
                <a:extLst>
                  <a:ext uri="{FF2B5EF4-FFF2-40B4-BE49-F238E27FC236}">
                    <a16:creationId xmlns:a16="http://schemas.microsoft.com/office/drawing/2014/main" id="{6608480B-BB5A-C946-8D7E-E4ECACF4EFE1}"/>
                  </a:ext>
                </a:extLst>
              </p:cNvPr>
              <p:cNvSpPr txBox="1"/>
              <p:nvPr/>
            </p:nvSpPr>
            <p:spPr>
              <a:xfrm>
                <a:off x="2819400" y="2664023"/>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S</a:t>
                </a:r>
              </a:p>
            </p:txBody>
          </p:sp>
          <p:sp>
            <p:nvSpPr>
              <p:cNvPr id="110" name="TextBox 109">
                <a:extLst>
                  <a:ext uri="{FF2B5EF4-FFF2-40B4-BE49-F238E27FC236}">
                    <a16:creationId xmlns:a16="http://schemas.microsoft.com/office/drawing/2014/main" id="{28963C0C-557A-EC4A-AD9A-39AF13A3EFAA}"/>
                  </a:ext>
                </a:extLst>
              </p:cNvPr>
              <p:cNvSpPr txBox="1"/>
              <p:nvPr/>
            </p:nvSpPr>
            <p:spPr>
              <a:xfrm>
                <a:off x="2438400" y="2206823"/>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G</a:t>
                </a:r>
              </a:p>
            </p:txBody>
          </p:sp>
        </p:grpSp>
        <p:sp>
          <p:nvSpPr>
            <p:cNvPr id="111" name="Oval 110">
              <a:extLst>
                <a:ext uri="{FF2B5EF4-FFF2-40B4-BE49-F238E27FC236}">
                  <a16:creationId xmlns:a16="http://schemas.microsoft.com/office/drawing/2014/main" id="{C3CCC191-71FF-FA4B-8F18-0E6781AE903D}"/>
                </a:ext>
              </a:extLst>
            </p:cNvPr>
            <p:cNvSpPr>
              <a:spLocks noChangeAspect="1" noChangeArrowheads="1"/>
            </p:cNvSpPr>
            <p:nvPr/>
          </p:nvSpPr>
          <p:spPr bwMode="auto">
            <a:xfrm>
              <a:off x="2012848" y="2082980"/>
              <a:ext cx="96012" cy="96012"/>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cxnSp>
          <p:nvCxnSpPr>
            <p:cNvPr id="112" name="Straight Connector 111">
              <a:extLst>
                <a:ext uri="{FF2B5EF4-FFF2-40B4-BE49-F238E27FC236}">
                  <a16:creationId xmlns:a16="http://schemas.microsoft.com/office/drawing/2014/main" id="{198C99E6-D618-D346-9F4E-F77A42C35EC7}"/>
                </a:ext>
              </a:extLst>
            </p:cNvPr>
            <p:cNvCxnSpPr>
              <a:cxnSpLocks/>
            </p:cNvCxnSpPr>
            <p:nvPr/>
          </p:nvCxnSpPr>
          <p:spPr>
            <a:xfrm>
              <a:off x="434910" y="2985653"/>
              <a:ext cx="85245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F0421D38-CE0B-5F4B-9408-7D31E8F35C22}"/>
                </a:ext>
              </a:extLst>
            </p:cNvPr>
            <p:cNvCxnSpPr>
              <a:cxnSpLocks/>
            </p:cNvCxnSpPr>
            <p:nvPr/>
          </p:nvCxnSpPr>
          <p:spPr>
            <a:xfrm>
              <a:off x="2058023" y="2135988"/>
              <a:ext cx="0" cy="39997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0" name="Oval 129">
              <a:extLst>
                <a:ext uri="{FF2B5EF4-FFF2-40B4-BE49-F238E27FC236}">
                  <a16:creationId xmlns:a16="http://schemas.microsoft.com/office/drawing/2014/main" id="{61A0239C-8026-FE43-82F6-DC7A02FF3855}"/>
                </a:ext>
              </a:extLst>
            </p:cNvPr>
            <p:cNvSpPr>
              <a:spLocks noChangeAspect="1" noChangeArrowheads="1"/>
            </p:cNvSpPr>
            <p:nvPr/>
          </p:nvSpPr>
          <p:spPr bwMode="auto">
            <a:xfrm>
              <a:off x="1989727" y="3334125"/>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146" name="Group 222">
              <a:extLst>
                <a:ext uri="{FF2B5EF4-FFF2-40B4-BE49-F238E27FC236}">
                  <a16:creationId xmlns:a16="http://schemas.microsoft.com/office/drawing/2014/main" id="{DEFE86BB-27EE-0540-BE32-6A57F8B8C5B7}"/>
                </a:ext>
              </a:extLst>
            </p:cNvPr>
            <p:cNvGrpSpPr>
              <a:grpSpLocks/>
            </p:cNvGrpSpPr>
            <p:nvPr/>
          </p:nvGrpSpPr>
          <p:grpSpPr bwMode="auto">
            <a:xfrm>
              <a:off x="298046" y="3732090"/>
              <a:ext cx="304800" cy="381000"/>
              <a:chOff x="4272" y="3072"/>
              <a:chExt cx="192" cy="240"/>
            </a:xfrm>
          </p:grpSpPr>
          <p:sp>
            <p:nvSpPr>
              <p:cNvPr id="147" name="Line 99">
                <a:extLst>
                  <a:ext uri="{FF2B5EF4-FFF2-40B4-BE49-F238E27FC236}">
                    <a16:creationId xmlns:a16="http://schemas.microsoft.com/office/drawing/2014/main" id="{F956B372-82A6-F048-93F2-1236AC74EDF1}"/>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 name="Line 100">
                <a:extLst>
                  <a:ext uri="{FF2B5EF4-FFF2-40B4-BE49-F238E27FC236}">
                    <a16:creationId xmlns:a16="http://schemas.microsoft.com/office/drawing/2014/main" id="{7D8ECBF2-BD09-5546-B1A0-0461CEB99A47}"/>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9" name="Line 101">
                <a:extLst>
                  <a:ext uri="{FF2B5EF4-FFF2-40B4-BE49-F238E27FC236}">
                    <a16:creationId xmlns:a16="http://schemas.microsoft.com/office/drawing/2014/main" id="{CD55ABC6-B3EC-9141-8D64-EF1739508F9C}"/>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 name="Line 102">
                <a:extLst>
                  <a:ext uri="{FF2B5EF4-FFF2-40B4-BE49-F238E27FC236}">
                    <a16:creationId xmlns:a16="http://schemas.microsoft.com/office/drawing/2014/main" id="{F374E8B9-A3D3-E44C-9C6A-B642BBE33FFD}"/>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1" name="Line 103">
                <a:extLst>
                  <a:ext uri="{FF2B5EF4-FFF2-40B4-BE49-F238E27FC236}">
                    <a16:creationId xmlns:a16="http://schemas.microsoft.com/office/drawing/2014/main" id="{3751AAC9-6F4C-7749-AAC5-4B38B177A77C}"/>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 name="Line 104">
                <a:extLst>
                  <a:ext uri="{FF2B5EF4-FFF2-40B4-BE49-F238E27FC236}">
                    <a16:creationId xmlns:a16="http://schemas.microsoft.com/office/drawing/2014/main" id="{2C47D789-60DF-A048-884D-23DAD9386963}"/>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53" name="TextBox 152">
              <a:extLst>
                <a:ext uri="{FF2B5EF4-FFF2-40B4-BE49-F238E27FC236}">
                  <a16:creationId xmlns:a16="http://schemas.microsoft.com/office/drawing/2014/main" id="{ACB2D1A9-5B9B-004C-9B22-AEABB99E2FA8}"/>
                </a:ext>
              </a:extLst>
            </p:cNvPr>
            <p:cNvSpPr txBox="1"/>
            <p:nvPr/>
          </p:nvSpPr>
          <p:spPr>
            <a:xfrm>
              <a:off x="1952240" y="2780664"/>
              <a:ext cx="718688" cy="338554"/>
            </a:xfrm>
            <a:prstGeom prst="rect">
              <a:avLst/>
            </a:prstGeom>
            <a:noFill/>
          </p:spPr>
          <p:txBody>
            <a:bodyPr wrap="square" rtlCol="0">
              <a:spAutoFit/>
            </a:bodyPr>
            <a:lstStyle/>
            <a:p>
              <a:r>
                <a:rPr lang="en-US" sz="1600" dirty="0"/>
                <a:t>J309</a:t>
              </a:r>
            </a:p>
          </p:txBody>
        </p:sp>
        <p:grpSp>
          <p:nvGrpSpPr>
            <p:cNvPr id="183" name="Group 209">
              <a:extLst>
                <a:ext uri="{FF2B5EF4-FFF2-40B4-BE49-F238E27FC236}">
                  <a16:creationId xmlns:a16="http://schemas.microsoft.com/office/drawing/2014/main" id="{5A79ACD3-3CC8-F343-A787-76F58EB129C9}"/>
                </a:ext>
              </a:extLst>
            </p:cNvPr>
            <p:cNvGrpSpPr>
              <a:grpSpLocks/>
            </p:cNvGrpSpPr>
            <p:nvPr/>
          </p:nvGrpSpPr>
          <p:grpSpPr bwMode="auto">
            <a:xfrm>
              <a:off x="370343" y="2977893"/>
              <a:ext cx="152400" cy="762000"/>
              <a:chOff x="3935" y="1728"/>
              <a:chExt cx="96" cy="480"/>
            </a:xfrm>
          </p:grpSpPr>
          <p:sp>
            <p:nvSpPr>
              <p:cNvPr id="184" name="Arc 59">
                <a:extLst>
                  <a:ext uri="{FF2B5EF4-FFF2-40B4-BE49-F238E27FC236}">
                    <a16:creationId xmlns:a16="http://schemas.microsoft.com/office/drawing/2014/main" id="{2EA520FC-5203-0449-914B-115C61CFF006}"/>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5" name="Arc 60">
                <a:extLst>
                  <a:ext uri="{FF2B5EF4-FFF2-40B4-BE49-F238E27FC236}">
                    <a16:creationId xmlns:a16="http://schemas.microsoft.com/office/drawing/2014/main" id="{D822ADFC-785D-8242-B9D8-4F4CA70483D0}"/>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6" name="Arc 61">
                <a:extLst>
                  <a:ext uri="{FF2B5EF4-FFF2-40B4-BE49-F238E27FC236}">
                    <a16:creationId xmlns:a16="http://schemas.microsoft.com/office/drawing/2014/main" id="{1481043E-C756-9446-96E8-FAE9D66BE9A9}"/>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7" name="Arc 62">
                <a:extLst>
                  <a:ext uri="{FF2B5EF4-FFF2-40B4-BE49-F238E27FC236}">
                    <a16:creationId xmlns:a16="http://schemas.microsoft.com/office/drawing/2014/main" id="{C73E8CA7-F0AB-A641-A2B7-1C30178A93E1}"/>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8" name="Line 63">
                <a:extLst>
                  <a:ext uri="{FF2B5EF4-FFF2-40B4-BE49-F238E27FC236}">
                    <a16:creationId xmlns:a16="http://schemas.microsoft.com/office/drawing/2014/main" id="{94D8BE49-B78C-4740-88C4-EBB83CB78270}"/>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9" name="Line 64">
                <a:extLst>
                  <a:ext uri="{FF2B5EF4-FFF2-40B4-BE49-F238E27FC236}">
                    <a16:creationId xmlns:a16="http://schemas.microsoft.com/office/drawing/2014/main" id="{31A41E3C-6D7E-B449-AE77-125DC71946A8}"/>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0" name="Arc 65">
                <a:extLst>
                  <a:ext uri="{FF2B5EF4-FFF2-40B4-BE49-F238E27FC236}">
                    <a16:creationId xmlns:a16="http://schemas.microsoft.com/office/drawing/2014/main" id="{8A2100BC-A8AA-6643-AE02-26EECC3BAD24}"/>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1" name="Arc 66">
                <a:extLst>
                  <a:ext uri="{FF2B5EF4-FFF2-40B4-BE49-F238E27FC236}">
                    <a16:creationId xmlns:a16="http://schemas.microsoft.com/office/drawing/2014/main" id="{1BEEB7E4-D67C-E240-8529-BB824CAE69FA}"/>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2" name="Arc 67">
                <a:extLst>
                  <a:ext uri="{FF2B5EF4-FFF2-40B4-BE49-F238E27FC236}">
                    <a16:creationId xmlns:a16="http://schemas.microsoft.com/office/drawing/2014/main" id="{6CBA96DB-8B85-4F48-A60B-6E218392B095}"/>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3" name="Arc 68">
                <a:extLst>
                  <a:ext uri="{FF2B5EF4-FFF2-40B4-BE49-F238E27FC236}">
                    <a16:creationId xmlns:a16="http://schemas.microsoft.com/office/drawing/2014/main" id="{B24F0E61-DA49-0146-ADFF-68D9FDCDBA4D}"/>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4" name="Arc 69">
                <a:extLst>
                  <a:ext uri="{FF2B5EF4-FFF2-40B4-BE49-F238E27FC236}">
                    <a16:creationId xmlns:a16="http://schemas.microsoft.com/office/drawing/2014/main" id="{79FDBB86-064B-C74E-BD84-A750C7EC7011}"/>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5" name="Arc 70">
                <a:extLst>
                  <a:ext uri="{FF2B5EF4-FFF2-40B4-BE49-F238E27FC236}">
                    <a16:creationId xmlns:a16="http://schemas.microsoft.com/office/drawing/2014/main" id="{7E8A0BC9-5A41-EB43-939B-D6089A49D78B}"/>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6" name="Arc 71">
                <a:extLst>
                  <a:ext uri="{FF2B5EF4-FFF2-40B4-BE49-F238E27FC236}">
                    <a16:creationId xmlns:a16="http://schemas.microsoft.com/office/drawing/2014/main" id="{C48E0055-72B3-9B4E-9E05-D97D8E8A8E4F}"/>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cxnSp>
          <p:nvCxnSpPr>
            <p:cNvPr id="204" name="Straight Connector 203">
              <a:extLst>
                <a:ext uri="{FF2B5EF4-FFF2-40B4-BE49-F238E27FC236}">
                  <a16:creationId xmlns:a16="http://schemas.microsoft.com/office/drawing/2014/main" id="{00A7B189-6937-4142-8D54-5D8E3D8F7813}"/>
                </a:ext>
              </a:extLst>
            </p:cNvPr>
            <p:cNvCxnSpPr>
              <a:cxnSpLocks/>
            </p:cNvCxnSpPr>
            <p:nvPr/>
          </p:nvCxnSpPr>
          <p:spPr>
            <a:xfrm>
              <a:off x="2049877" y="3383250"/>
              <a:ext cx="0" cy="41649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78" name="TextBox 477">
              <a:extLst>
                <a:ext uri="{FF2B5EF4-FFF2-40B4-BE49-F238E27FC236}">
                  <a16:creationId xmlns:a16="http://schemas.microsoft.com/office/drawing/2014/main" id="{8B2CC0B5-0DB9-AC47-B843-254D77FD89FA}"/>
                </a:ext>
              </a:extLst>
            </p:cNvPr>
            <p:cNvSpPr txBox="1"/>
            <p:nvPr/>
          </p:nvSpPr>
          <p:spPr>
            <a:xfrm>
              <a:off x="319862" y="2067409"/>
              <a:ext cx="1501074" cy="338554"/>
            </a:xfrm>
            <a:prstGeom prst="rect">
              <a:avLst/>
            </a:prstGeom>
            <a:noFill/>
          </p:spPr>
          <p:txBody>
            <a:bodyPr wrap="square" rtlCol="0">
              <a:spAutoFit/>
            </a:bodyPr>
            <a:lstStyle/>
            <a:p>
              <a:r>
                <a:rPr lang="en-US" sz="1600" dirty="0"/>
                <a:t>Colpitts</a:t>
              </a:r>
            </a:p>
          </p:txBody>
        </p:sp>
        <p:sp>
          <p:nvSpPr>
            <p:cNvPr id="543" name="Oval 542">
              <a:extLst>
                <a:ext uri="{FF2B5EF4-FFF2-40B4-BE49-F238E27FC236}">
                  <a16:creationId xmlns:a16="http://schemas.microsoft.com/office/drawing/2014/main" id="{4043E603-D2C9-4544-B744-DD46E21A750A}"/>
                </a:ext>
              </a:extLst>
            </p:cNvPr>
            <p:cNvSpPr>
              <a:spLocks noChangeAspect="1" noChangeArrowheads="1"/>
            </p:cNvSpPr>
            <p:nvPr/>
          </p:nvSpPr>
          <p:spPr bwMode="auto">
            <a:xfrm>
              <a:off x="1262964" y="3721561"/>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544" name="Oval 543">
              <a:extLst>
                <a:ext uri="{FF2B5EF4-FFF2-40B4-BE49-F238E27FC236}">
                  <a16:creationId xmlns:a16="http://schemas.microsoft.com/office/drawing/2014/main" id="{549E7186-B0A0-B544-A8F8-907BEFC693C7}"/>
                </a:ext>
              </a:extLst>
            </p:cNvPr>
            <p:cNvSpPr>
              <a:spLocks noChangeAspect="1" noChangeArrowheads="1"/>
            </p:cNvSpPr>
            <p:nvPr/>
          </p:nvSpPr>
          <p:spPr bwMode="auto">
            <a:xfrm>
              <a:off x="1277575" y="2896218"/>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545" name="Group 210">
              <a:extLst>
                <a:ext uri="{FF2B5EF4-FFF2-40B4-BE49-F238E27FC236}">
                  <a16:creationId xmlns:a16="http://schemas.microsoft.com/office/drawing/2014/main" id="{CF7B8080-32A3-3B4E-B1F6-795FB89AA764}"/>
                </a:ext>
              </a:extLst>
            </p:cNvPr>
            <p:cNvGrpSpPr>
              <a:grpSpLocks/>
            </p:cNvGrpSpPr>
            <p:nvPr/>
          </p:nvGrpSpPr>
          <p:grpSpPr bwMode="auto">
            <a:xfrm>
              <a:off x="1182380" y="3033378"/>
              <a:ext cx="304800" cy="762000"/>
              <a:chOff x="3216" y="1728"/>
              <a:chExt cx="192" cy="480"/>
            </a:xfrm>
          </p:grpSpPr>
          <p:sp>
            <p:nvSpPr>
              <p:cNvPr id="546" name="Line 8">
                <a:extLst>
                  <a:ext uri="{FF2B5EF4-FFF2-40B4-BE49-F238E27FC236}">
                    <a16:creationId xmlns:a16="http://schemas.microsoft.com/office/drawing/2014/main" id="{2CA9DB17-418D-F946-9A6C-2FB1D54491E3}"/>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7" name="Line 9">
                <a:extLst>
                  <a:ext uri="{FF2B5EF4-FFF2-40B4-BE49-F238E27FC236}">
                    <a16:creationId xmlns:a16="http://schemas.microsoft.com/office/drawing/2014/main" id="{8500D6EF-10EB-D84D-89F3-A285BEB05EF9}"/>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8" name="Line 10">
                <a:extLst>
                  <a:ext uri="{FF2B5EF4-FFF2-40B4-BE49-F238E27FC236}">
                    <a16:creationId xmlns:a16="http://schemas.microsoft.com/office/drawing/2014/main" id="{09178B43-A8DE-DE42-BDAF-B6CADBE5D2B8}"/>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9" name="Line 11">
                <a:extLst>
                  <a:ext uri="{FF2B5EF4-FFF2-40B4-BE49-F238E27FC236}">
                    <a16:creationId xmlns:a16="http://schemas.microsoft.com/office/drawing/2014/main" id="{B44CDE3E-A844-424A-AF14-16DC983469D1}"/>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50" name="Group 210">
              <a:extLst>
                <a:ext uri="{FF2B5EF4-FFF2-40B4-BE49-F238E27FC236}">
                  <a16:creationId xmlns:a16="http://schemas.microsoft.com/office/drawing/2014/main" id="{BE2A2ED8-7063-BD48-9A5D-A32288D9A119}"/>
                </a:ext>
              </a:extLst>
            </p:cNvPr>
            <p:cNvGrpSpPr>
              <a:grpSpLocks/>
            </p:cNvGrpSpPr>
            <p:nvPr/>
          </p:nvGrpSpPr>
          <p:grpSpPr bwMode="auto">
            <a:xfrm>
              <a:off x="1174490" y="3808598"/>
              <a:ext cx="304800" cy="762000"/>
              <a:chOff x="3216" y="1728"/>
              <a:chExt cx="192" cy="480"/>
            </a:xfrm>
          </p:grpSpPr>
          <p:sp>
            <p:nvSpPr>
              <p:cNvPr id="551" name="Line 8">
                <a:extLst>
                  <a:ext uri="{FF2B5EF4-FFF2-40B4-BE49-F238E27FC236}">
                    <a16:creationId xmlns:a16="http://schemas.microsoft.com/office/drawing/2014/main" id="{EC078007-1562-0D43-8477-40C97FB3F021}"/>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2" name="Line 9">
                <a:extLst>
                  <a:ext uri="{FF2B5EF4-FFF2-40B4-BE49-F238E27FC236}">
                    <a16:creationId xmlns:a16="http://schemas.microsoft.com/office/drawing/2014/main" id="{E14C97D5-8400-0D4B-B41A-A705289A634E}"/>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 name="Line 10">
                <a:extLst>
                  <a:ext uri="{FF2B5EF4-FFF2-40B4-BE49-F238E27FC236}">
                    <a16:creationId xmlns:a16="http://schemas.microsoft.com/office/drawing/2014/main" id="{5CE0622A-869A-F14C-A862-1900EF030AD4}"/>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 name="Line 11">
                <a:extLst>
                  <a:ext uri="{FF2B5EF4-FFF2-40B4-BE49-F238E27FC236}">
                    <a16:creationId xmlns:a16="http://schemas.microsoft.com/office/drawing/2014/main" id="{3ABBF111-6C06-A24E-8F24-EF7EFA11EFD5}"/>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55" name="Group 222">
              <a:extLst>
                <a:ext uri="{FF2B5EF4-FFF2-40B4-BE49-F238E27FC236}">
                  <a16:creationId xmlns:a16="http://schemas.microsoft.com/office/drawing/2014/main" id="{B2209A1A-0A05-2841-B2D3-7035E1DFE51E}"/>
                </a:ext>
              </a:extLst>
            </p:cNvPr>
            <p:cNvGrpSpPr>
              <a:grpSpLocks/>
            </p:cNvGrpSpPr>
            <p:nvPr/>
          </p:nvGrpSpPr>
          <p:grpSpPr bwMode="auto">
            <a:xfrm>
              <a:off x="1173065" y="4454254"/>
              <a:ext cx="304800" cy="381000"/>
              <a:chOff x="4272" y="3072"/>
              <a:chExt cx="192" cy="240"/>
            </a:xfrm>
          </p:grpSpPr>
          <p:sp>
            <p:nvSpPr>
              <p:cNvPr id="556" name="Line 99">
                <a:extLst>
                  <a:ext uri="{FF2B5EF4-FFF2-40B4-BE49-F238E27FC236}">
                    <a16:creationId xmlns:a16="http://schemas.microsoft.com/office/drawing/2014/main" id="{DED5EB4C-7BB3-764E-9516-93590AC26312}"/>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 name="Line 100">
                <a:extLst>
                  <a:ext uri="{FF2B5EF4-FFF2-40B4-BE49-F238E27FC236}">
                    <a16:creationId xmlns:a16="http://schemas.microsoft.com/office/drawing/2014/main" id="{73F74D87-731F-4B43-9D53-D84BA6DD4EFE}"/>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 name="Line 101">
                <a:extLst>
                  <a:ext uri="{FF2B5EF4-FFF2-40B4-BE49-F238E27FC236}">
                    <a16:creationId xmlns:a16="http://schemas.microsoft.com/office/drawing/2014/main" id="{AE0862C7-5481-EA48-ACCC-2D8F932B7582}"/>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 name="Line 102">
                <a:extLst>
                  <a:ext uri="{FF2B5EF4-FFF2-40B4-BE49-F238E27FC236}">
                    <a16:creationId xmlns:a16="http://schemas.microsoft.com/office/drawing/2014/main" id="{E9FF9C29-F70C-284D-9594-137E9F76D209}"/>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 name="Line 103">
                <a:extLst>
                  <a:ext uri="{FF2B5EF4-FFF2-40B4-BE49-F238E27FC236}">
                    <a16:creationId xmlns:a16="http://schemas.microsoft.com/office/drawing/2014/main" id="{D2DE69B9-A94D-9642-928C-B9B0532398B7}"/>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1" name="Line 104">
                <a:extLst>
                  <a:ext uri="{FF2B5EF4-FFF2-40B4-BE49-F238E27FC236}">
                    <a16:creationId xmlns:a16="http://schemas.microsoft.com/office/drawing/2014/main" id="{497DDDBA-2136-CE48-8FFD-A677882B0062}"/>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564" name="Straight Connector 563">
              <a:extLst>
                <a:ext uri="{FF2B5EF4-FFF2-40B4-BE49-F238E27FC236}">
                  <a16:creationId xmlns:a16="http://schemas.microsoft.com/office/drawing/2014/main" id="{EC6EE3E7-8706-4D42-9DB1-929637FF2A31}"/>
                </a:ext>
              </a:extLst>
            </p:cNvPr>
            <p:cNvCxnSpPr>
              <a:cxnSpLocks/>
            </p:cNvCxnSpPr>
            <p:nvPr/>
          </p:nvCxnSpPr>
          <p:spPr>
            <a:xfrm>
              <a:off x="1269399" y="3790141"/>
              <a:ext cx="78694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5" name="Straight Connector 564">
              <a:extLst>
                <a:ext uri="{FF2B5EF4-FFF2-40B4-BE49-F238E27FC236}">
                  <a16:creationId xmlns:a16="http://schemas.microsoft.com/office/drawing/2014/main" id="{8708B034-2156-5D4B-87B2-D55184778F27}"/>
                </a:ext>
              </a:extLst>
            </p:cNvPr>
            <p:cNvCxnSpPr>
              <a:cxnSpLocks/>
            </p:cNvCxnSpPr>
            <p:nvPr/>
          </p:nvCxnSpPr>
          <p:spPr>
            <a:xfrm>
              <a:off x="2056340" y="2125530"/>
              <a:ext cx="78694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66" name="Group 222">
              <a:extLst>
                <a:ext uri="{FF2B5EF4-FFF2-40B4-BE49-F238E27FC236}">
                  <a16:creationId xmlns:a16="http://schemas.microsoft.com/office/drawing/2014/main" id="{239E70E3-E67E-EA4D-AAB7-33A2DBEA7C6F}"/>
                </a:ext>
              </a:extLst>
            </p:cNvPr>
            <p:cNvGrpSpPr>
              <a:grpSpLocks/>
            </p:cNvGrpSpPr>
            <p:nvPr/>
          </p:nvGrpSpPr>
          <p:grpSpPr bwMode="auto">
            <a:xfrm>
              <a:off x="2678832" y="2130715"/>
              <a:ext cx="304800" cy="381000"/>
              <a:chOff x="4272" y="3072"/>
              <a:chExt cx="192" cy="240"/>
            </a:xfrm>
          </p:grpSpPr>
          <p:sp>
            <p:nvSpPr>
              <p:cNvPr id="567" name="Line 99">
                <a:extLst>
                  <a:ext uri="{FF2B5EF4-FFF2-40B4-BE49-F238E27FC236}">
                    <a16:creationId xmlns:a16="http://schemas.microsoft.com/office/drawing/2014/main" id="{FE7620E8-D4AA-9B4C-BEA9-0913D3A0D889}"/>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8" name="Line 100">
                <a:extLst>
                  <a:ext uri="{FF2B5EF4-FFF2-40B4-BE49-F238E27FC236}">
                    <a16:creationId xmlns:a16="http://schemas.microsoft.com/office/drawing/2014/main" id="{CE27B858-A29E-2740-AC9B-69E76A389FC1}"/>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9" name="Line 101">
                <a:extLst>
                  <a:ext uri="{FF2B5EF4-FFF2-40B4-BE49-F238E27FC236}">
                    <a16:creationId xmlns:a16="http://schemas.microsoft.com/office/drawing/2014/main" id="{EAA1CD59-7B3C-C54A-A6BC-E02C8812478E}"/>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0" name="Line 102">
                <a:extLst>
                  <a:ext uri="{FF2B5EF4-FFF2-40B4-BE49-F238E27FC236}">
                    <a16:creationId xmlns:a16="http://schemas.microsoft.com/office/drawing/2014/main" id="{9F0F3F51-8FB4-3240-8D98-4E55899BCB58}"/>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1" name="Line 103">
                <a:extLst>
                  <a:ext uri="{FF2B5EF4-FFF2-40B4-BE49-F238E27FC236}">
                    <a16:creationId xmlns:a16="http://schemas.microsoft.com/office/drawing/2014/main" id="{5B7AE12F-9168-A949-BC82-9036B4CDFDA2}"/>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2" name="Line 104">
                <a:extLst>
                  <a:ext uri="{FF2B5EF4-FFF2-40B4-BE49-F238E27FC236}">
                    <a16:creationId xmlns:a16="http://schemas.microsoft.com/office/drawing/2014/main" id="{73129D43-64B6-DA46-82D8-661C68F1E9E1}"/>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9" name="Group 8">
            <a:extLst>
              <a:ext uri="{FF2B5EF4-FFF2-40B4-BE49-F238E27FC236}">
                <a16:creationId xmlns:a16="http://schemas.microsoft.com/office/drawing/2014/main" id="{D4F247C8-55C9-4741-94D1-92E2920C9EBF}"/>
              </a:ext>
            </a:extLst>
          </p:cNvPr>
          <p:cNvGrpSpPr/>
          <p:nvPr/>
        </p:nvGrpSpPr>
        <p:grpSpPr>
          <a:xfrm>
            <a:off x="4372431" y="2679249"/>
            <a:ext cx="2765702" cy="2831535"/>
            <a:chOff x="4243266" y="2192725"/>
            <a:chExt cx="2765702" cy="2831535"/>
          </a:xfrm>
        </p:grpSpPr>
        <p:grpSp>
          <p:nvGrpSpPr>
            <p:cNvPr id="228" name="Group 218">
              <a:extLst>
                <a:ext uri="{FF2B5EF4-FFF2-40B4-BE49-F238E27FC236}">
                  <a16:creationId xmlns:a16="http://schemas.microsoft.com/office/drawing/2014/main" id="{A3DB7EEF-A5D3-C548-8A43-E88DB0252BCA}"/>
                </a:ext>
              </a:extLst>
            </p:cNvPr>
            <p:cNvGrpSpPr>
              <a:grpSpLocks/>
            </p:cNvGrpSpPr>
            <p:nvPr/>
          </p:nvGrpSpPr>
          <p:grpSpPr bwMode="auto">
            <a:xfrm rot="10800000">
              <a:off x="4748602" y="3093477"/>
              <a:ext cx="152400" cy="762000"/>
              <a:chOff x="5280" y="1200"/>
              <a:chExt cx="96" cy="480"/>
            </a:xfrm>
          </p:grpSpPr>
          <p:sp>
            <p:nvSpPr>
              <p:cNvPr id="229" name="Line 106">
                <a:extLst>
                  <a:ext uri="{FF2B5EF4-FFF2-40B4-BE49-F238E27FC236}">
                    <a16:creationId xmlns:a16="http://schemas.microsoft.com/office/drawing/2014/main" id="{70CF1222-FFEF-7D4B-A8E5-40597738549E}"/>
                  </a:ext>
                </a:extLst>
              </p:cNvPr>
              <p:cNvSpPr>
                <a:spLocks noChangeAspect="1" noChangeShapeType="1"/>
              </p:cNvSpPr>
              <p:nvPr/>
            </p:nvSpPr>
            <p:spPr bwMode="auto">
              <a:xfrm>
                <a:off x="5328" y="1200"/>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0" name="Line 107">
                <a:extLst>
                  <a:ext uri="{FF2B5EF4-FFF2-40B4-BE49-F238E27FC236}">
                    <a16:creationId xmlns:a16="http://schemas.microsoft.com/office/drawing/2014/main" id="{6EC0E3F3-12BB-0046-A297-C82C3F1881A7}"/>
                  </a:ext>
                </a:extLst>
              </p:cNvPr>
              <p:cNvSpPr>
                <a:spLocks noChangeAspect="1" noChangeShapeType="1"/>
              </p:cNvSpPr>
              <p:nvPr/>
            </p:nvSpPr>
            <p:spPr bwMode="auto">
              <a:xfrm>
                <a:off x="5280" y="1392"/>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1" name="Freeform 108">
                <a:extLst>
                  <a:ext uri="{FF2B5EF4-FFF2-40B4-BE49-F238E27FC236}">
                    <a16:creationId xmlns:a16="http://schemas.microsoft.com/office/drawing/2014/main" id="{F2FC477A-A153-D14D-B846-4684F2F4B505}"/>
                  </a:ext>
                </a:extLst>
              </p:cNvPr>
              <p:cNvSpPr>
                <a:spLocks noChangeAspect="1"/>
              </p:cNvSpPr>
              <p:nvPr/>
            </p:nvSpPr>
            <p:spPr bwMode="auto">
              <a:xfrm>
                <a:off x="5280" y="1392"/>
                <a:ext cx="96" cy="96"/>
              </a:xfrm>
              <a:custGeom>
                <a:avLst/>
                <a:gdLst>
                  <a:gd name="T0" fmla="*/ 0 w 288"/>
                  <a:gd name="T1" fmla="*/ 0 h 240"/>
                  <a:gd name="T2" fmla="*/ 0 w 288"/>
                  <a:gd name="T3" fmla="*/ 1 h 240"/>
                  <a:gd name="T4" fmla="*/ 0 w 288"/>
                  <a:gd name="T5" fmla="*/ 1 h 240"/>
                  <a:gd name="T6" fmla="*/ 0 w 288"/>
                  <a:gd name="T7" fmla="*/ 0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144" y="0"/>
                    </a:moveTo>
                    <a:lnTo>
                      <a:pt x="0" y="240"/>
                    </a:lnTo>
                    <a:lnTo>
                      <a:pt x="288" y="240"/>
                    </a:lnTo>
                    <a:lnTo>
                      <a:pt x="144" y="0"/>
                    </a:lnTo>
                    <a:close/>
                  </a:path>
                </a:pathLst>
              </a:custGeom>
              <a:solidFill>
                <a:schemeClr val="tx1"/>
              </a:solidFill>
              <a:ln w="25400">
                <a:solidFill>
                  <a:schemeClr val="tx1"/>
                </a:solidFill>
                <a:round/>
                <a:headEnd/>
                <a:tailEnd/>
              </a:ln>
            </p:spPr>
            <p:txBody>
              <a:bodyPr/>
              <a:lstStyle/>
              <a:p>
                <a:endParaRPr lang="en-US"/>
              </a:p>
            </p:txBody>
          </p:sp>
          <p:sp>
            <p:nvSpPr>
              <p:cNvPr id="232" name="Line 109">
                <a:extLst>
                  <a:ext uri="{FF2B5EF4-FFF2-40B4-BE49-F238E27FC236}">
                    <a16:creationId xmlns:a16="http://schemas.microsoft.com/office/drawing/2014/main" id="{B518B1F5-F0D3-B540-986C-A0C49BB92A43}"/>
                  </a:ext>
                </a:extLst>
              </p:cNvPr>
              <p:cNvSpPr>
                <a:spLocks noChangeAspect="1" noChangeShapeType="1"/>
              </p:cNvSpPr>
              <p:nvPr/>
            </p:nvSpPr>
            <p:spPr bwMode="auto">
              <a:xfrm>
                <a:off x="5328" y="1488"/>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74" name="Group 573">
              <a:extLst>
                <a:ext uri="{FF2B5EF4-FFF2-40B4-BE49-F238E27FC236}">
                  <a16:creationId xmlns:a16="http://schemas.microsoft.com/office/drawing/2014/main" id="{8D0CCAA1-2B56-1045-8D66-9526B195F6D4}"/>
                </a:ext>
              </a:extLst>
            </p:cNvPr>
            <p:cNvGrpSpPr/>
            <p:nvPr/>
          </p:nvGrpSpPr>
          <p:grpSpPr>
            <a:xfrm>
              <a:off x="5670746" y="2601578"/>
              <a:ext cx="718684" cy="1036429"/>
              <a:chOff x="2362200" y="1905000"/>
              <a:chExt cx="762000" cy="1219200"/>
            </a:xfrm>
          </p:grpSpPr>
          <p:cxnSp>
            <p:nvCxnSpPr>
              <p:cNvPr id="575" name="Straight Connector 574">
                <a:extLst>
                  <a:ext uri="{FF2B5EF4-FFF2-40B4-BE49-F238E27FC236}">
                    <a16:creationId xmlns:a16="http://schemas.microsoft.com/office/drawing/2014/main" id="{6A0E0047-527F-0B4B-9883-57B53C74DF83}"/>
                  </a:ext>
                </a:extLst>
              </p:cNvPr>
              <p:cNvCxnSpPr/>
              <p:nvPr/>
            </p:nvCxnSpPr>
            <p:spPr bwMode="auto">
              <a:xfrm>
                <a:off x="2819400" y="2209800"/>
                <a:ext cx="0" cy="640080"/>
              </a:xfrm>
              <a:prstGeom prst="line">
                <a:avLst/>
              </a:prstGeom>
              <a:solidFill>
                <a:schemeClr val="accent1"/>
              </a:solidFill>
              <a:ln w="31750" cap="flat" cmpd="sng" algn="ctr">
                <a:solidFill>
                  <a:schemeClr val="tx1"/>
                </a:solidFill>
                <a:prstDash val="solid"/>
                <a:round/>
                <a:headEnd type="none" w="med" len="med"/>
                <a:tailEnd type="none" w="med" len="med"/>
              </a:ln>
              <a:effectLst/>
            </p:spPr>
          </p:cxnSp>
          <p:cxnSp>
            <p:nvCxnSpPr>
              <p:cNvPr id="576" name="Straight Connector 575">
                <a:extLst>
                  <a:ext uri="{FF2B5EF4-FFF2-40B4-BE49-F238E27FC236}">
                    <a16:creationId xmlns:a16="http://schemas.microsoft.com/office/drawing/2014/main" id="{D3057F8C-0DEA-CA4F-A7D3-1C957E1290D4}"/>
                  </a:ext>
                </a:extLst>
              </p:cNvPr>
              <p:cNvCxnSpPr/>
              <p:nvPr/>
            </p:nvCxnSpPr>
            <p:spPr bwMode="auto">
              <a:xfrm>
                <a:off x="3124200" y="1905000"/>
                <a:ext cx="0" cy="45720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577" name="Straight Connector 576">
                <a:extLst>
                  <a:ext uri="{FF2B5EF4-FFF2-40B4-BE49-F238E27FC236}">
                    <a16:creationId xmlns:a16="http://schemas.microsoft.com/office/drawing/2014/main" id="{B495D8C1-FBE3-D14B-9608-EE05FF50A388}"/>
                  </a:ext>
                </a:extLst>
              </p:cNvPr>
              <p:cNvCxnSpPr>
                <a:cxnSpLocks/>
              </p:cNvCxnSpPr>
              <p:nvPr/>
            </p:nvCxnSpPr>
            <p:spPr bwMode="auto">
              <a:xfrm>
                <a:off x="2819400" y="2362200"/>
                <a:ext cx="304800"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578" name="Straight Connector 577">
                <a:extLst>
                  <a:ext uri="{FF2B5EF4-FFF2-40B4-BE49-F238E27FC236}">
                    <a16:creationId xmlns:a16="http://schemas.microsoft.com/office/drawing/2014/main" id="{BEC355E9-4456-FE43-B8FB-27F6C226F105}"/>
                  </a:ext>
                </a:extLst>
              </p:cNvPr>
              <p:cNvCxnSpPr>
                <a:cxnSpLocks/>
              </p:cNvCxnSpPr>
              <p:nvPr/>
            </p:nvCxnSpPr>
            <p:spPr bwMode="auto">
              <a:xfrm>
                <a:off x="2819400" y="2667000"/>
                <a:ext cx="304800"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579" name="Straight Connector 578">
                <a:extLst>
                  <a:ext uri="{FF2B5EF4-FFF2-40B4-BE49-F238E27FC236}">
                    <a16:creationId xmlns:a16="http://schemas.microsoft.com/office/drawing/2014/main" id="{AB11C43F-E84C-754C-86B0-FFC06A4CC8CE}"/>
                  </a:ext>
                </a:extLst>
              </p:cNvPr>
              <p:cNvCxnSpPr/>
              <p:nvPr/>
            </p:nvCxnSpPr>
            <p:spPr bwMode="auto">
              <a:xfrm>
                <a:off x="3124200" y="2667000"/>
                <a:ext cx="0" cy="45720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580" name="Straight Arrow Connector 579">
                <a:extLst>
                  <a:ext uri="{FF2B5EF4-FFF2-40B4-BE49-F238E27FC236}">
                    <a16:creationId xmlns:a16="http://schemas.microsoft.com/office/drawing/2014/main" id="{AFA26329-8705-3642-A1D0-CD5BBD2E48C7}"/>
                  </a:ext>
                </a:extLst>
              </p:cNvPr>
              <p:cNvCxnSpPr>
                <a:cxnSpLocks/>
              </p:cNvCxnSpPr>
              <p:nvPr/>
            </p:nvCxnSpPr>
            <p:spPr bwMode="auto">
              <a:xfrm>
                <a:off x="2362200" y="2514600"/>
                <a:ext cx="457200" cy="0"/>
              </a:xfrm>
              <a:prstGeom prst="straightConnector1">
                <a:avLst/>
              </a:prstGeom>
              <a:solidFill>
                <a:schemeClr val="accent1"/>
              </a:solidFill>
              <a:ln w="25400" cap="flat" cmpd="sng" algn="ctr">
                <a:solidFill>
                  <a:schemeClr val="tx1"/>
                </a:solidFill>
                <a:prstDash val="solid"/>
                <a:round/>
                <a:headEnd type="none" w="med" len="med"/>
                <a:tailEnd type="triangle"/>
              </a:ln>
              <a:effectLst/>
            </p:spPr>
          </p:cxnSp>
          <p:sp>
            <p:nvSpPr>
              <p:cNvPr id="581" name="TextBox 580">
                <a:extLst>
                  <a:ext uri="{FF2B5EF4-FFF2-40B4-BE49-F238E27FC236}">
                    <a16:creationId xmlns:a16="http://schemas.microsoft.com/office/drawing/2014/main" id="{C81F0F50-BB3F-C141-8F22-93CB47CA83A3}"/>
                  </a:ext>
                </a:extLst>
              </p:cNvPr>
              <p:cNvSpPr txBox="1"/>
              <p:nvPr/>
            </p:nvSpPr>
            <p:spPr>
              <a:xfrm>
                <a:off x="2819400" y="1905000"/>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D</a:t>
                </a:r>
              </a:p>
            </p:txBody>
          </p:sp>
          <p:sp>
            <p:nvSpPr>
              <p:cNvPr id="582" name="TextBox 581">
                <a:extLst>
                  <a:ext uri="{FF2B5EF4-FFF2-40B4-BE49-F238E27FC236}">
                    <a16:creationId xmlns:a16="http://schemas.microsoft.com/office/drawing/2014/main" id="{32E918DC-324B-8442-BDB7-10820E947B37}"/>
                  </a:ext>
                </a:extLst>
              </p:cNvPr>
              <p:cNvSpPr txBox="1"/>
              <p:nvPr/>
            </p:nvSpPr>
            <p:spPr>
              <a:xfrm>
                <a:off x="2819400" y="2664023"/>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S</a:t>
                </a:r>
              </a:p>
            </p:txBody>
          </p:sp>
          <p:sp>
            <p:nvSpPr>
              <p:cNvPr id="583" name="TextBox 582">
                <a:extLst>
                  <a:ext uri="{FF2B5EF4-FFF2-40B4-BE49-F238E27FC236}">
                    <a16:creationId xmlns:a16="http://schemas.microsoft.com/office/drawing/2014/main" id="{CCD60C1F-0BB0-954B-B741-415C99D44B00}"/>
                  </a:ext>
                </a:extLst>
              </p:cNvPr>
              <p:cNvSpPr txBox="1"/>
              <p:nvPr/>
            </p:nvSpPr>
            <p:spPr>
              <a:xfrm>
                <a:off x="2438400" y="2206823"/>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G</a:t>
                </a:r>
              </a:p>
            </p:txBody>
          </p:sp>
        </p:grpSp>
        <p:sp>
          <p:nvSpPr>
            <p:cNvPr id="584" name="Oval 583">
              <a:extLst>
                <a:ext uri="{FF2B5EF4-FFF2-40B4-BE49-F238E27FC236}">
                  <a16:creationId xmlns:a16="http://schemas.microsoft.com/office/drawing/2014/main" id="{CA5EF0F0-3F89-3249-904F-DAD25137D2D8}"/>
                </a:ext>
              </a:extLst>
            </p:cNvPr>
            <p:cNvSpPr>
              <a:spLocks noChangeAspect="1" noChangeArrowheads="1"/>
            </p:cNvSpPr>
            <p:nvPr/>
          </p:nvSpPr>
          <p:spPr bwMode="auto">
            <a:xfrm>
              <a:off x="6350888" y="2235380"/>
              <a:ext cx="96012" cy="96012"/>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cxnSp>
          <p:nvCxnSpPr>
            <p:cNvPr id="585" name="Straight Connector 584">
              <a:extLst>
                <a:ext uri="{FF2B5EF4-FFF2-40B4-BE49-F238E27FC236}">
                  <a16:creationId xmlns:a16="http://schemas.microsoft.com/office/drawing/2014/main" id="{1C28CD4B-8874-F649-B1F3-956BCC021C12}"/>
                </a:ext>
              </a:extLst>
            </p:cNvPr>
            <p:cNvCxnSpPr>
              <a:cxnSpLocks/>
            </p:cNvCxnSpPr>
            <p:nvPr/>
          </p:nvCxnSpPr>
          <p:spPr>
            <a:xfrm>
              <a:off x="4382787" y="3106356"/>
              <a:ext cx="1242618" cy="593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6" name="Straight Connector 585">
              <a:extLst>
                <a:ext uri="{FF2B5EF4-FFF2-40B4-BE49-F238E27FC236}">
                  <a16:creationId xmlns:a16="http://schemas.microsoft.com/office/drawing/2014/main" id="{1E29BC6A-DBEE-0743-A945-67113C4F77C6}"/>
                </a:ext>
              </a:extLst>
            </p:cNvPr>
            <p:cNvCxnSpPr>
              <a:cxnSpLocks/>
            </p:cNvCxnSpPr>
            <p:nvPr/>
          </p:nvCxnSpPr>
          <p:spPr>
            <a:xfrm>
              <a:off x="6394380" y="2288388"/>
              <a:ext cx="0" cy="39997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87" name="Oval 586">
              <a:extLst>
                <a:ext uri="{FF2B5EF4-FFF2-40B4-BE49-F238E27FC236}">
                  <a16:creationId xmlns:a16="http://schemas.microsoft.com/office/drawing/2014/main" id="{6BAC3DF7-CF0E-F441-92DC-9961C0015ABE}"/>
                </a:ext>
              </a:extLst>
            </p:cNvPr>
            <p:cNvSpPr>
              <a:spLocks noChangeAspect="1" noChangeArrowheads="1"/>
            </p:cNvSpPr>
            <p:nvPr/>
          </p:nvSpPr>
          <p:spPr bwMode="auto">
            <a:xfrm>
              <a:off x="6327767" y="3486525"/>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588" name="Group 222">
              <a:extLst>
                <a:ext uri="{FF2B5EF4-FFF2-40B4-BE49-F238E27FC236}">
                  <a16:creationId xmlns:a16="http://schemas.microsoft.com/office/drawing/2014/main" id="{0F5171A4-EDE1-5947-9243-DE67AF123C18}"/>
                </a:ext>
              </a:extLst>
            </p:cNvPr>
            <p:cNvGrpSpPr>
              <a:grpSpLocks/>
            </p:cNvGrpSpPr>
            <p:nvPr/>
          </p:nvGrpSpPr>
          <p:grpSpPr bwMode="auto">
            <a:xfrm>
              <a:off x="4249719" y="4502674"/>
              <a:ext cx="304800" cy="381000"/>
              <a:chOff x="4272" y="3072"/>
              <a:chExt cx="192" cy="240"/>
            </a:xfrm>
          </p:grpSpPr>
          <p:sp>
            <p:nvSpPr>
              <p:cNvPr id="589" name="Line 99">
                <a:extLst>
                  <a:ext uri="{FF2B5EF4-FFF2-40B4-BE49-F238E27FC236}">
                    <a16:creationId xmlns:a16="http://schemas.microsoft.com/office/drawing/2014/main" id="{BA032F1B-3682-4F4B-966D-045F3FA46540}"/>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0" name="Line 100">
                <a:extLst>
                  <a:ext uri="{FF2B5EF4-FFF2-40B4-BE49-F238E27FC236}">
                    <a16:creationId xmlns:a16="http://schemas.microsoft.com/office/drawing/2014/main" id="{F5D8B016-8554-E743-B050-939DEDB6503E}"/>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1" name="Line 101">
                <a:extLst>
                  <a:ext uri="{FF2B5EF4-FFF2-40B4-BE49-F238E27FC236}">
                    <a16:creationId xmlns:a16="http://schemas.microsoft.com/office/drawing/2014/main" id="{510AE587-BEE2-AA4B-AF01-67E4F4512E18}"/>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2" name="Line 102">
                <a:extLst>
                  <a:ext uri="{FF2B5EF4-FFF2-40B4-BE49-F238E27FC236}">
                    <a16:creationId xmlns:a16="http://schemas.microsoft.com/office/drawing/2014/main" id="{C33BD3B3-01AB-884C-8C75-0962C61C60D1}"/>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3" name="Line 103">
                <a:extLst>
                  <a:ext uri="{FF2B5EF4-FFF2-40B4-BE49-F238E27FC236}">
                    <a16:creationId xmlns:a16="http://schemas.microsoft.com/office/drawing/2014/main" id="{6ABE9A2B-0D80-744F-B5BF-7694139BFF20}"/>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4" name="Line 104">
                <a:extLst>
                  <a:ext uri="{FF2B5EF4-FFF2-40B4-BE49-F238E27FC236}">
                    <a16:creationId xmlns:a16="http://schemas.microsoft.com/office/drawing/2014/main" id="{64975438-BBC2-C644-9951-2456FAEEEB72}"/>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95" name="TextBox 594">
              <a:extLst>
                <a:ext uri="{FF2B5EF4-FFF2-40B4-BE49-F238E27FC236}">
                  <a16:creationId xmlns:a16="http://schemas.microsoft.com/office/drawing/2014/main" id="{B307D55D-E992-1443-9BB5-98B246FC7AAA}"/>
                </a:ext>
              </a:extLst>
            </p:cNvPr>
            <p:cNvSpPr txBox="1"/>
            <p:nvPr/>
          </p:nvSpPr>
          <p:spPr>
            <a:xfrm>
              <a:off x="6290280" y="2933064"/>
              <a:ext cx="718688" cy="338554"/>
            </a:xfrm>
            <a:prstGeom prst="rect">
              <a:avLst/>
            </a:prstGeom>
            <a:noFill/>
          </p:spPr>
          <p:txBody>
            <a:bodyPr wrap="square" rtlCol="0">
              <a:spAutoFit/>
            </a:bodyPr>
            <a:lstStyle/>
            <a:p>
              <a:r>
                <a:rPr lang="en-US" sz="1600" dirty="0"/>
                <a:t>J309</a:t>
              </a:r>
            </a:p>
          </p:txBody>
        </p:sp>
        <p:grpSp>
          <p:nvGrpSpPr>
            <p:cNvPr id="596" name="Group 209">
              <a:extLst>
                <a:ext uri="{FF2B5EF4-FFF2-40B4-BE49-F238E27FC236}">
                  <a16:creationId xmlns:a16="http://schemas.microsoft.com/office/drawing/2014/main" id="{26FA1530-D089-EA4D-B395-5C158E5599F6}"/>
                </a:ext>
              </a:extLst>
            </p:cNvPr>
            <p:cNvGrpSpPr>
              <a:grpSpLocks/>
            </p:cNvGrpSpPr>
            <p:nvPr/>
          </p:nvGrpSpPr>
          <p:grpSpPr bwMode="auto">
            <a:xfrm>
              <a:off x="4322016" y="3748477"/>
              <a:ext cx="152400" cy="762000"/>
              <a:chOff x="3935" y="1728"/>
              <a:chExt cx="96" cy="480"/>
            </a:xfrm>
          </p:grpSpPr>
          <p:sp>
            <p:nvSpPr>
              <p:cNvPr id="597" name="Arc 59">
                <a:extLst>
                  <a:ext uri="{FF2B5EF4-FFF2-40B4-BE49-F238E27FC236}">
                    <a16:creationId xmlns:a16="http://schemas.microsoft.com/office/drawing/2014/main" id="{A903A6A8-ECFD-8F4B-9581-28FE2EAC0A17}"/>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98" name="Arc 60">
                <a:extLst>
                  <a:ext uri="{FF2B5EF4-FFF2-40B4-BE49-F238E27FC236}">
                    <a16:creationId xmlns:a16="http://schemas.microsoft.com/office/drawing/2014/main" id="{BAE6F5FF-F89C-B342-A7C7-A0DB9A810A44}"/>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99" name="Arc 61">
                <a:extLst>
                  <a:ext uri="{FF2B5EF4-FFF2-40B4-BE49-F238E27FC236}">
                    <a16:creationId xmlns:a16="http://schemas.microsoft.com/office/drawing/2014/main" id="{BC968D2A-FB5A-F547-B8BF-002A167C48C2}"/>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00" name="Arc 62">
                <a:extLst>
                  <a:ext uri="{FF2B5EF4-FFF2-40B4-BE49-F238E27FC236}">
                    <a16:creationId xmlns:a16="http://schemas.microsoft.com/office/drawing/2014/main" id="{2EA2ACEF-4C55-DF43-B367-E4A6FB2C6848}"/>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01" name="Line 63">
                <a:extLst>
                  <a:ext uri="{FF2B5EF4-FFF2-40B4-BE49-F238E27FC236}">
                    <a16:creationId xmlns:a16="http://schemas.microsoft.com/office/drawing/2014/main" id="{923A86B7-AECA-1849-BE74-DE7AD2786C06}"/>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2" name="Line 64">
                <a:extLst>
                  <a:ext uri="{FF2B5EF4-FFF2-40B4-BE49-F238E27FC236}">
                    <a16:creationId xmlns:a16="http://schemas.microsoft.com/office/drawing/2014/main" id="{33FC033C-EB44-2542-B8D4-9E00F23ACFDF}"/>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3" name="Arc 65">
                <a:extLst>
                  <a:ext uri="{FF2B5EF4-FFF2-40B4-BE49-F238E27FC236}">
                    <a16:creationId xmlns:a16="http://schemas.microsoft.com/office/drawing/2014/main" id="{B2201551-A157-E447-99A0-4B1CE4FA5457}"/>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04" name="Arc 66">
                <a:extLst>
                  <a:ext uri="{FF2B5EF4-FFF2-40B4-BE49-F238E27FC236}">
                    <a16:creationId xmlns:a16="http://schemas.microsoft.com/office/drawing/2014/main" id="{D4139204-B300-5A42-882F-31D56413A944}"/>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05" name="Arc 67">
                <a:extLst>
                  <a:ext uri="{FF2B5EF4-FFF2-40B4-BE49-F238E27FC236}">
                    <a16:creationId xmlns:a16="http://schemas.microsoft.com/office/drawing/2014/main" id="{7CE52C33-A84C-6241-BD6A-90FBE76DE7D3}"/>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06" name="Arc 68">
                <a:extLst>
                  <a:ext uri="{FF2B5EF4-FFF2-40B4-BE49-F238E27FC236}">
                    <a16:creationId xmlns:a16="http://schemas.microsoft.com/office/drawing/2014/main" id="{5116989F-5631-3A43-AD57-0AC93FD6D3EA}"/>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07" name="Arc 69">
                <a:extLst>
                  <a:ext uri="{FF2B5EF4-FFF2-40B4-BE49-F238E27FC236}">
                    <a16:creationId xmlns:a16="http://schemas.microsoft.com/office/drawing/2014/main" id="{E3720627-E25C-8A4A-B5DD-33920C84A468}"/>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08" name="Arc 70">
                <a:extLst>
                  <a:ext uri="{FF2B5EF4-FFF2-40B4-BE49-F238E27FC236}">
                    <a16:creationId xmlns:a16="http://schemas.microsoft.com/office/drawing/2014/main" id="{2020AD7B-BE48-2241-AEC8-59C93613180B}"/>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09" name="Arc 71">
                <a:extLst>
                  <a:ext uri="{FF2B5EF4-FFF2-40B4-BE49-F238E27FC236}">
                    <a16:creationId xmlns:a16="http://schemas.microsoft.com/office/drawing/2014/main" id="{ED7BB4E2-D27C-A342-B944-F0E99C5C0EEC}"/>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cxnSp>
          <p:nvCxnSpPr>
            <p:cNvPr id="610" name="Straight Connector 609">
              <a:extLst>
                <a:ext uri="{FF2B5EF4-FFF2-40B4-BE49-F238E27FC236}">
                  <a16:creationId xmlns:a16="http://schemas.microsoft.com/office/drawing/2014/main" id="{49F40275-DE77-F34F-A52D-8B1631EA3639}"/>
                </a:ext>
              </a:extLst>
            </p:cNvPr>
            <p:cNvCxnSpPr>
              <a:cxnSpLocks/>
            </p:cNvCxnSpPr>
            <p:nvPr/>
          </p:nvCxnSpPr>
          <p:spPr>
            <a:xfrm>
              <a:off x="6387917" y="3535650"/>
              <a:ext cx="0" cy="41649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11" name="TextBox 610">
              <a:extLst>
                <a:ext uri="{FF2B5EF4-FFF2-40B4-BE49-F238E27FC236}">
                  <a16:creationId xmlns:a16="http://schemas.microsoft.com/office/drawing/2014/main" id="{8DB348F2-7D0F-8342-B121-C782485861C8}"/>
                </a:ext>
              </a:extLst>
            </p:cNvPr>
            <p:cNvSpPr txBox="1"/>
            <p:nvPr/>
          </p:nvSpPr>
          <p:spPr>
            <a:xfrm>
              <a:off x="4608063" y="2192725"/>
              <a:ext cx="2101360" cy="338554"/>
            </a:xfrm>
            <a:prstGeom prst="rect">
              <a:avLst/>
            </a:prstGeom>
            <a:noFill/>
          </p:spPr>
          <p:txBody>
            <a:bodyPr wrap="square" rtlCol="0">
              <a:spAutoFit/>
            </a:bodyPr>
            <a:lstStyle/>
            <a:p>
              <a:r>
                <a:rPr lang="en-US" sz="1600" dirty="0"/>
                <a:t>Clapp</a:t>
              </a:r>
            </a:p>
          </p:txBody>
        </p:sp>
        <p:sp>
          <p:nvSpPr>
            <p:cNvPr id="612" name="Oval 611">
              <a:extLst>
                <a:ext uri="{FF2B5EF4-FFF2-40B4-BE49-F238E27FC236}">
                  <a16:creationId xmlns:a16="http://schemas.microsoft.com/office/drawing/2014/main" id="{610F8037-B76F-1B49-A31D-5EB9C03C5560}"/>
                </a:ext>
              </a:extLst>
            </p:cNvPr>
            <p:cNvSpPr>
              <a:spLocks noChangeAspect="1" noChangeArrowheads="1"/>
            </p:cNvSpPr>
            <p:nvPr/>
          </p:nvSpPr>
          <p:spPr bwMode="auto">
            <a:xfrm>
              <a:off x="5601004" y="3873961"/>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613" name="Oval 612">
              <a:extLst>
                <a:ext uri="{FF2B5EF4-FFF2-40B4-BE49-F238E27FC236}">
                  <a16:creationId xmlns:a16="http://schemas.microsoft.com/office/drawing/2014/main" id="{D3B36F0D-90EE-D44D-9711-E94C05789612}"/>
                </a:ext>
              </a:extLst>
            </p:cNvPr>
            <p:cNvSpPr>
              <a:spLocks noChangeAspect="1" noChangeArrowheads="1"/>
            </p:cNvSpPr>
            <p:nvPr/>
          </p:nvSpPr>
          <p:spPr bwMode="auto">
            <a:xfrm>
              <a:off x="5615615" y="3048618"/>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614" name="Group 210">
              <a:extLst>
                <a:ext uri="{FF2B5EF4-FFF2-40B4-BE49-F238E27FC236}">
                  <a16:creationId xmlns:a16="http://schemas.microsoft.com/office/drawing/2014/main" id="{31CC28C2-B7FE-6843-9433-D84D5AA72551}"/>
                </a:ext>
              </a:extLst>
            </p:cNvPr>
            <p:cNvGrpSpPr>
              <a:grpSpLocks/>
            </p:cNvGrpSpPr>
            <p:nvPr/>
          </p:nvGrpSpPr>
          <p:grpSpPr bwMode="auto">
            <a:xfrm>
              <a:off x="5520420" y="3185778"/>
              <a:ext cx="304800" cy="762000"/>
              <a:chOff x="3216" y="1728"/>
              <a:chExt cx="192" cy="480"/>
            </a:xfrm>
          </p:grpSpPr>
          <p:sp>
            <p:nvSpPr>
              <p:cNvPr id="615" name="Line 8">
                <a:extLst>
                  <a:ext uri="{FF2B5EF4-FFF2-40B4-BE49-F238E27FC236}">
                    <a16:creationId xmlns:a16="http://schemas.microsoft.com/office/drawing/2014/main" id="{19BAB673-A17B-B74C-B4D1-57ADE152D481}"/>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6" name="Line 9">
                <a:extLst>
                  <a:ext uri="{FF2B5EF4-FFF2-40B4-BE49-F238E27FC236}">
                    <a16:creationId xmlns:a16="http://schemas.microsoft.com/office/drawing/2014/main" id="{5CE6C210-20DF-CD46-8D9D-04A369C98A9C}"/>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7" name="Line 10">
                <a:extLst>
                  <a:ext uri="{FF2B5EF4-FFF2-40B4-BE49-F238E27FC236}">
                    <a16:creationId xmlns:a16="http://schemas.microsoft.com/office/drawing/2014/main" id="{C8F2A11B-3710-B04E-AD16-3FFFE1D5C1E3}"/>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8" name="Line 11">
                <a:extLst>
                  <a:ext uri="{FF2B5EF4-FFF2-40B4-BE49-F238E27FC236}">
                    <a16:creationId xmlns:a16="http://schemas.microsoft.com/office/drawing/2014/main" id="{DEB4E5A7-564B-7B4B-9565-19B2EEC657CF}"/>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19" name="Group 210">
              <a:extLst>
                <a:ext uri="{FF2B5EF4-FFF2-40B4-BE49-F238E27FC236}">
                  <a16:creationId xmlns:a16="http://schemas.microsoft.com/office/drawing/2014/main" id="{2FC9E6E8-FB22-E547-99D1-534253F2B4B6}"/>
                </a:ext>
              </a:extLst>
            </p:cNvPr>
            <p:cNvGrpSpPr>
              <a:grpSpLocks/>
            </p:cNvGrpSpPr>
            <p:nvPr/>
          </p:nvGrpSpPr>
          <p:grpSpPr bwMode="auto">
            <a:xfrm>
              <a:off x="5512530" y="3960998"/>
              <a:ext cx="304800" cy="762000"/>
              <a:chOff x="3216" y="1728"/>
              <a:chExt cx="192" cy="480"/>
            </a:xfrm>
          </p:grpSpPr>
          <p:sp>
            <p:nvSpPr>
              <p:cNvPr id="620" name="Line 8">
                <a:extLst>
                  <a:ext uri="{FF2B5EF4-FFF2-40B4-BE49-F238E27FC236}">
                    <a16:creationId xmlns:a16="http://schemas.microsoft.com/office/drawing/2014/main" id="{4133CAAE-5B96-6146-9C6F-00AAEB5B23B4}"/>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1" name="Line 9">
                <a:extLst>
                  <a:ext uri="{FF2B5EF4-FFF2-40B4-BE49-F238E27FC236}">
                    <a16:creationId xmlns:a16="http://schemas.microsoft.com/office/drawing/2014/main" id="{D72EAC51-3C24-9F4D-A224-9A0D583C6013}"/>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2" name="Line 10">
                <a:extLst>
                  <a:ext uri="{FF2B5EF4-FFF2-40B4-BE49-F238E27FC236}">
                    <a16:creationId xmlns:a16="http://schemas.microsoft.com/office/drawing/2014/main" id="{DC5FF9F8-7F6A-A049-B7E9-35A6038F7862}"/>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3" name="Line 11">
                <a:extLst>
                  <a:ext uri="{FF2B5EF4-FFF2-40B4-BE49-F238E27FC236}">
                    <a16:creationId xmlns:a16="http://schemas.microsoft.com/office/drawing/2014/main" id="{8980E641-8D9A-EA43-B72A-E0727372DC09}"/>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24" name="Group 222">
              <a:extLst>
                <a:ext uri="{FF2B5EF4-FFF2-40B4-BE49-F238E27FC236}">
                  <a16:creationId xmlns:a16="http://schemas.microsoft.com/office/drawing/2014/main" id="{82D416DE-0259-6240-90B7-D156DFFAF865}"/>
                </a:ext>
              </a:extLst>
            </p:cNvPr>
            <p:cNvGrpSpPr>
              <a:grpSpLocks/>
            </p:cNvGrpSpPr>
            <p:nvPr/>
          </p:nvGrpSpPr>
          <p:grpSpPr bwMode="auto">
            <a:xfrm>
              <a:off x="5511105" y="4606654"/>
              <a:ext cx="304800" cy="381000"/>
              <a:chOff x="4272" y="3072"/>
              <a:chExt cx="192" cy="240"/>
            </a:xfrm>
          </p:grpSpPr>
          <p:sp>
            <p:nvSpPr>
              <p:cNvPr id="625" name="Line 99">
                <a:extLst>
                  <a:ext uri="{FF2B5EF4-FFF2-40B4-BE49-F238E27FC236}">
                    <a16:creationId xmlns:a16="http://schemas.microsoft.com/office/drawing/2014/main" id="{3A44931B-5C54-9A44-8E1F-0BB845391F88}"/>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6" name="Line 100">
                <a:extLst>
                  <a:ext uri="{FF2B5EF4-FFF2-40B4-BE49-F238E27FC236}">
                    <a16:creationId xmlns:a16="http://schemas.microsoft.com/office/drawing/2014/main" id="{FA9E7B3B-4FEF-F240-880E-F1F337AA7211}"/>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7" name="Line 101">
                <a:extLst>
                  <a:ext uri="{FF2B5EF4-FFF2-40B4-BE49-F238E27FC236}">
                    <a16:creationId xmlns:a16="http://schemas.microsoft.com/office/drawing/2014/main" id="{5F609644-CECC-D041-8415-7F2802DE5CD1}"/>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8" name="Line 102">
                <a:extLst>
                  <a:ext uri="{FF2B5EF4-FFF2-40B4-BE49-F238E27FC236}">
                    <a16:creationId xmlns:a16="http://schemas.microsoft.com/office/drawing/2014/main" id="{BC42601C-F9B2-344F-8932-F0F08E756E2D}"/>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9" name="Line 103">
                <a:extLst>
                  <a:ext uri="{FF2B5EF4-FFF2-40B4-BE49-F238E27FC236}">
                    <a16:creationId xmlns:a16="http://schemas.microsoft.com/office/drawing/2014/main" id="{3D02E408-16B4-844C-8046-32238FCB54EB}"/>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0" name="Line 104">
                <a:extLst>
                  <a:ext uri="{FF2B5EF4-FFF2-40B4-BE49-F238E27FC236}">
                    <a16:creationId xmlns:a16="http://schemas.microsoft.com/office/drawing/2014/main" id="{69AA2286-603C-5240-B75A-CD60320D4C36}"/>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631" name="Straight Connector 630">
              <a:extLst>
                <a:ext uri="{FF2B5EF4-FFF2-40B4-BE49-F238E27FC236}">
                  <a16:creationId xmlns:a16="http://schemas.microsoft.com/office/drawing/2014/main" id="{4D1A742B-6AA4-F24F-8E65-C3AC10E43824}"/>
                </a:ext>
              </a:extLst>
            </p:cNvPr>
            <p:cNvCxnSpPr>
              <a:cxnSpLocks/>
            </p:cNvCxnSpPr>
            <p:nvPr/>
          </p:nvCxnSpPr>
          <p:spPr>
            <a:xfrm>
              <a:off x="5607439" y="3942541"/>
              <a:ext cx="78694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40" name="Group 210">
              <a:extLst>
                <a:ext uri="{FF2B5EF4-FFF2-40B4-BE49-F238E27FC236}">
                  <a16:creationId xmlns:a16="http://schemas.microsoft.com/office/drawing/2014/main" id="{AFA6C262-EBD1-7549-8F48-273F8A35B8BD}"/>
                </a:ext>
              </a:extLst>
            </p:cNvPr>
            <p:cNvGrpSpPr>
              <a:grpSpLocks/>
            </p:cNvGrpSpPr>
            <p:nvPr/>
          </p:nvGrpSpPr>
          <p:grpSpPr bwMode="auto">
            <a:xfrm>
              <a:off x="4243266" y="3093477"/>
              <a:ext cx="304800" cy="762000"/>
              <a:chOff x="3216" y="1728"/>
              <a:chExt cx="192" cy="480"/>
            </a:xfrm>
          </p:grpSpPr>
          <p:sp>
            <p:nvSpPr>
              <p:cNvPr id="641" name="Line 8">
                <a:extLst>
                  <a:ext uri="{FF2B5EF4-FFF2-40B4-BE49-F238E27FC236}">
                    <a16:creationId xmlns:a16="http://schemas.microsoft.com/office/drawing/2014/main" id="{D15F0381-9691-8442-8463-F8F6BB9B29A6}"/>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2" name="Line 9">
                <a:extLst>
                  <a:ext uri="{FF2B5EF4-FFF2-40B4-BE49-F238E27FC236}">
                    <a16:creationId xmlns:a16="http://schemas.microsoft.com/office/drawing/2014/main" id="{1E09172F-D106-CF4D-A943-A5E988218960}"/>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3" name="Line 10">
                <a:extLst>
                  <a:ext uri="{FF2B5EF4-FFF2-40B4-BE49-F238E27FC236}">
                    <a16:creationId xmlns:a16="http://schemas.microsoft.com/office/drawing/2014/main" id="{B139A506-7FF2-EB44-88B6-7B9D2E007B7C}"/>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4" name="Line 11">
                <a:extLst>
                  <a:ext uri="{FF2B5EF4-FFF2-40B4-BE49-F238E27FC236}">
                    <a16:creationId xmlns:a16="http://schemas.microsoft.com/office/drawing/2014/main" id="{1936FEAC-5DD0-1C42-881F-475B82A1F91E}"/>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45" name="Freeform 644">
              <a:extLst>
                <a:ext uri="{FF2B5EF4-FFF2-40B4-BE49-F238E27FC236}">
                  <a16:creationId xmlns:a16="http://schemas.microsoft.com/office/drawing/2014/main" id="{F07A30E6-5D89-574D-8AAF-CB9BE7C6582F}"/>
                </a:ext>
              </a:extLst>
            </p:cNvPr>
            <p:cNvSpPr>
              <a:spLocks noChangeAspect="1"/>
            </p:cNvSpPr>
            <p:nvPr/>
          </p:nvSpPr>
          <p:spPr bwMode="auto">
            <a:xfrm>
              <a:off x="5043374" y="3092673"/>
              <a:ext cx="165855" cy="836239"/>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646" name="Group 222">
              <a:extLst>
                <a:ext uri="{FF2B5EF4-FFF2-40B4-BE49-F238E27FC236}">
                  <a16:creationId xmlns:a16="http://schemas.microsoft.com/office/drawing/2014/main" id="{505E5217-2EC3-AB43-9AFC-15187E72A318}"/>
                </a:ext>
              </a:extLst>
            </p:cNvPr>
            <p:cNvGrpSpPr>
              <a:grpSpLocks/>
            </p:cNvGrpSpPr>
            <p:nvPr/>
          </p:nvGrpSpPr>
          <p:grpSpPr bwMode="auto">
            <a:xfrm>
              <a:off x="4672639" y="3784667"/>
              <a:ext cx="304800" cy="381000"/>
              <a:chOff x="4272" y="3072"/>
              <a:chExt cx="192" cy="240"/>
            </a:xfrm>
          </p:grpSpPr>
          <p:sp>
            <p:nvSpPr>
              <p:cNvPr id="647" name="Line 99">
                <a:extLst>
                  <a:ext uri="{FF2B5EF4-FFF2-40B4-BE49-F238E27FC236}">
                    <a16:creationId xmlns:a16="http://schemas.microsoft.com/office/drawing/2014/main" id="{25C5A320-ECC0-0146-9094-A5BC4B41E540}"/>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8" name="Line 100">
                <a:extLst>
                  <a:ext uri="{FF2B5EF4-FFF2-40B4-BE49-F238E27FC236}">
                    <a16:creationId xmlns:a16="http://schemas.microsoft.com/office/drawing/2014/main" id="{534F6C92-6E38-4946-B093-E717E002B750}"/>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9" name="Line 101">
                <a:extLst>
                  <a:ext uri="{FF2B5EF4-FFF2-40B4-BE49-F238E27FC236}">
                    <a16:creationId xmlns:a16="http://schemas.microsoft.com/office/drawing/2014/main" id="{D2775073-CC97-0F4E-9970-67E0F3882566}"/>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0" name="Line 102">
                <a:extLst>
                  <a:ext uri="{FF2B5EF4-FFF2-40B4-BE49-F238E27FC236}">
                    <a16:creationId xmlns:a16="http://schemas.microsoft.com/office/drawing/2014/main" id="{E903DB31-8633-D04C-AF49-81F91E2C24F4}"/>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1" name="Line 103">
                <a:extLst>
                  <a:ext uri="{FF2B5EF4-FFF2-40B4-BE49-F238E27FC236}">
                    <a16:creationId xmlns:a16="http://schemas.microsoft.com/office/drawing/2014/main" id="{F82C79B7-F2F9-024F-A5C1-8262C5254838}"/>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2" name="Line 104">
                <a:extLst>
                  <a:ext uri="{FF2B5EF4-FFF2-40B4-BE49-F238E27FC236}">
                    <a16:creationId xmlns:a16="http://schemas.microsoft.com/office/drawing/2014/main" id="{0BF2FFFC-628B-7541-8E1D-F5C631169B1F}"/>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53" name="Group 222">
              <a:extLst>
                <a:ext uri="{FF2B5EF4-FFF2-40B4-BE49-F238E27FC236}">
                  <a16:creationId xmlns:a16="http://schemas.microsoft.com/office/drawing/2014/main" id="{2138FF19-3F4F-694A-8B34-935F8083B0D4}"/>
                </a:ext>
              </a:extLst>
            </p:cNvPr>
            <p:cNvGrpSpPr>
              <a:grpSpLocks/>
            </p:cNvGrpSpPr>
            <p:nvPr/>
          </p:nvGrpSpPr>
          <p:grpSpPr bwMode="auto">
            <a:xfrm>
              <a:off x="4979587" y="3872672"/>
              <a:ext cx="304800" cy="381000"/>
              <a:chOff x="4272" y="3072"/>
              <a:chExt cx="192" cy="240"/>
            </a:xfrm>
          </p:grpSpPr>
          <p:sp>
            <p:nvSpPr>
              <p:cNvPr id="654" name="Line 99">
                <a:extLst>
                  <a:ext uri="{FF2B5EF4-FFF2-40B4-BE49-F238E27FC236}">
                    <a16:creationId xmlns:a16="http://schemas.microsoft.com/office/drawing/2014/main" id="{623CF8C0-FBE9-7C40-9CB7-C09E3BA4F4D2}"/>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 name="Line 100">
                <a:extLst>
                  <a:ext uri="{FF2B5EF4-FFF2-40B4-BE49-F238E27FC236}">
                    <a16:creationId xmlns:a16="http://schemas.microsoft.com/office/drawing/2014/main" id="{D42189A0-F21B-6240-88EC-A835F62DDE48}"/>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6" name="Line 101">
                <a:extLst>
                  <a:ext uri="{FF2B5EF4-FFF2-40B4-BE49-F238E27FC236}">
                    <a16:creationId xmlns:a16="http://schemas.microsoft.com/office/drawing/2014/main" id="{1DACA46B-98FA-A34E-A134-EE1F2055D9A4}"/>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7" name="Line 102">
                <a:extLst>
                  <a:ext uri="{FF2B5EF4-FFF2-40B4-BE49-F238E27FC236}">
                    <a16:creationId xmlns:a16="http://schemas.microsoft.com/office/drawing/2014/main" id="{28BD45DD-C6F9-964E-8E66-A02D0FF35D64}"/>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8" name="Line 103">
                <a:extLst>
                  <a:ext uri="{FF2B5EF4-FFF2-40B4-BE49-F238E27FC236}">
                    <a16:creationId xmlns:a16="http://schemas.microsoft.com/office/drawing/2014/main" id="{94EB9F7B-3895-DE42-BA1A-7F9AF68F3E89}"/>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9" name="Line 104">
                <a:extLst>
                  <a:ext uri="{FF2B5EF4-FFF2-40B4-BE49-F238E27FC236}">
                    <a16:creationId xmlns:a16="http://schemas.microsoft.com/office/drawing/2014/main" id="{C15E00B4-C790-B644-ADA4-05FB0F64D7B7}"/>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60" name="Freeform 659">
              <a:extLst>
                <a:ext uri="{FF2B5EF4-FFF2-40B4-BE49-F238E27FC236}">
                  <a16:creationId xmlns:a16="http://schemas.microsoft.com/office/drawing/2014/main" id="{B3443033-AC0D-2A46-8CF4-33F73FB73331}"/>
                </a:ext>
              </a:extLst>
            </p:cNvPr>
            <p:cNvSpPr>
              <a:spLocks noChangeAspect="1"/>
            </p:cNvSpPr>
            <p:nvPr/>
          </p:nvSpPr>
          <p:spPr bwMode="auto">
            <a:xfrm>
              <a:off x="6303356" y="3863261"/>
              <a:ext cx="165855" cy="836239"/>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661" name="Group 222">
              <a:extLst>
                <a:ext uri="{FF2B5EF4-FFF2-40B4-BE49-F238E27FC236}">
                  <a16:creationId xmlns:a16="http://schemas.microsoft.com/office/drawing/2014/main" id="{DC1A4462-600E-CC46-B35A-04F86F0030CC}"/>
                </a:ext>
              </a:extLst>
            </p:cNvPr>
            <p:cNvGrpSpPr>
              <a:grpSpLocks/>
            </p:cNvGrpSpPr>
            <p:nvPr/>
          </p:nvGrpSpPr>
          <p:grpSpPr bwMode="auto">
            <a:xfrm>
              <a:off x="6239569" y="4643260"/>
              <a:ext cx="304800" cy="381000"/>
              <a:chOff x="4272" y="3072"/>
              <a:chExt cx="192" cy="240"/>
            </a:xfrm>
          </p:grpSpPr>
          <p:sp>
            <p:nvSpPr>
              <p:cNvPr id="662" name="Line 99">
                <a:extLst>
                  <a:ext uri="{FF2B5EF4-FFF2-40B4-BE49-F238E27FC236}">
                    <a16:creationId xmlns:a16="http://schemas.microsoft.com/office/drawing/2014/main" id="{8E6C9BFA-44CD-BA48-9E41-569D855840FE}"/>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3" name="Line 100">
                <a:extLst>
                  <a:ext uri="{FF2B5EF4-FFF2-40B4-BE49-F238E27FC236}">
                    <a16:creationId xmlns:a16="http://schemas.microsoft.com/office/drawing/2014/main" id="{70B6A987-3957-C343-8AD0-2CF81CE9C1D2}"/>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4" name="Line 101">
                <a:extLst>
                  <a:ext uri="{FF2B5EF4-FFF2-40B4-BE49-F238E27FC236}">
                    <a16:creationId xmlns:a16="http://schemas.microsoft.com/office/drawing/2014/main" id="{D074455E-640B-2F49-AC9C-818D6D9A3ECD}"/>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 name="Line 102">
                <a:extLst>
                  <a:ext uri="{FF2B5EF4-FFF2-40B4-BE49-F238E27FC236}">
                    <a16:creationId xmlns:a16="http://schemas.microsoft.com/office/drawing/2014/main" id="{EB6A86CA-B4CB-BE41-AAB9-05018AB69177}"/>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6" name="Line 103">
                <a:extLst>
                  <a:ext uri="{FF2B5EF4-FFF2-40B4-BE49-F238E27FC236}">
                    <a16:creationId xmlns:a16="http://schemas.microsoft.com/office/drawing/2014/main" id="{6C07C713-A7D4-7149-B3C7-3ECD74163A83}"/>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7" name="Line 104">
                <a:extLst>
                  <a:ext uri="{FF2B5EF4-FFF2-40B4-BE49-F238E27FC236}">
                    <a16:creationId xmlns:a16="http://schemas.microsoft.com/office/drawing/2014/main" id="{5A862C65-34C4-7444-8F1B-DD66155CC4C5}"/>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68" name="Oval 667">
              <a:extLst>
                <a:ext uri="{FF2B5EF4-FFF2-40B4-BE49-F238E27FC236}">
                  <a16:creationId xmlns:a16="http://schemas.microsoft.com/office/drawing/2014/main" id="{89D50375-12FD-6D4E-81B0-89933F3C184C}"/>
                </a:ext>
              </a:extLst>
            </p:cNvPr>
            <p:cNvSpPr>
              <a:spLocks noChangeAspect="1" noChangeArrowheads="1"/>
            </p:cNvSpPr>
            <p:nvPr/>
          </p:nvSpPr>
          <p:spPr bwMode="auto">
            <a:xfrm>
              <a:off x="6325619" y="3857868"/>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3" name="Group 2">
            <a:extLst>
              <a:ext uri="{FF2B5EF4-FFF2-40B4-BE49-F238E27FC236}">
                <a16:creationId xmlns:a16="http://schemas.microsoft.com/office/drawing/2014/main" id="{5BAAEE55-4C48-DD4F-BD36-37D9120EB776}"/>
              </a:ext>
            </a:extLst>
          </p:cNvPr>
          <p:cNvGrpSpPr/>
          <p:nvPr/>
        </p:nvGrpSpPr>
        <p:grpSpPr>
          <a:xfrm>
            <a:off x="7510834" y="1994200"/>
            <a:ext cx="4069468" cy="4055948"/>
            <a:chOff x="7767682" y="1639870"/>
            <a:chExt cx="4069468" cy="4055948"/>
          </a:xfrm>
        </p:grpSpPr>
        <p:sp>
          <p:nvSpPr>
            <p:cNvPr id="481" name="TextBox 480">
              <a:extLst>
                <a:ext uri="{FF2B5EF4-FFF2-40B4-BE49-F238E27FC236}">
                  <a16:creationId xmlns:a16="http://schemas.microsoft.com/office/drawing/2014/main" id="{F5C58CBF-C859-5541-9819-299845070B9A}"/>
                </a:ext>
              </a:extLst>
            </p:cNvPr>
            <p:cNvSpPr txBox="1"/>
            <p:nvPr/>
          </p:nvSpPr>
          <p:spPr>
            <a:xfrm flipH="1">
              <a:off x="10570671" y="1639870"/>
              <a:ext cx="571748"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9V</a:t>
              </a:r>
              <a:endParaRPr lang="en-US" sz="1400" dirty="0">
                <a:solidFill>
                  <a:srgbClr val="000000"/>
                </a:solidFill>
                <a:latin typeface="Calibri"/>
                <a:ea typeface="Calibri"/>
                <a:cs typeface="Calibri"/>
                <a:sym typeface="Calibri"/>
              </a:endParaRPr>
            </a:p>
          </p:txBody>
        </p:sp>
        <p:grpSp>
          <p:nvGrpSpPr>
            <p:cNvPr id="483" name="Group 478">
              <a:extLst>
                <a:ext uri="{FF2B5EF4-FFF2-40B4-BE49-F238E27FC236}">
                  <a16:creationId xmlns:a16="http://schemas.microsoft.com/office/drawing/2014/main" id="{F560B425-1942-8E4F-91C3-58ED0E9C09BB}"/>
                </a:ext>
              </a:extLst>
            </p:cNvPr>
            <p:cNvGrpSpPr>
              <a:grpSpLocks/>
            </p:cNvGrpSpPr>
            <p:nvPr/>
          </p:nvGrpSpPr>
          <p:grpSpPr bwMode="auto">
            <a:xfrm flipH="1">
              <a:off x="10213934" y="3555870"/>
              <a:ext cx="437080" cy="668991"/>
              <a:chOff x="4656" y="1344"/>
              <a:chExt cx="192" cy="384"/>
            </a:xfrm>
          </p:grpSpPr>
          <p:sp>
            <p:nvSpPr>
              <p:cNvPr id="523" name="Freeform 522">
                <a:extLst>
                  <a:ext uri="{FF2B5EF4-FFF2-40B4-BE49-F238E27FC236}">
                    <a16:creationId xmlns:a16="http://schemas.microsoft.com/office/drawing/2014/main" id="{93C557CC-C7D2-F249-8E52-8D1B9E4A149A}"/>
                  </a:ext>
                </a:extLst>
              </p:cNvPr>
              <p:cNvSpPr>
                <a:spLocks noChangeAspect="1"/>
              </p:cNvSpPr>
              <p:nvPr/>
            </p:nvSpPr>
            <p:spPr bwMode="auto">
              <a:xfrm>
                <a:off x="4656" y="1344"/>
                <a:ext cx="99" cy="384"/>
              </a:xfrm>
              <a:custGeom>
                <a:avLst/>
                <a:gdLst/>
                <a:ahLst/>
                <a:cxnLst>
                  <a:cxn ang="0">
                    <a:pos x="0" y="0"/>
                  </a:cxn>
                  <a:cxn ang="0">
                    <a:pos x="0" y="192"/>
                  </a:cxn>
                  <a:cxn ang="0">
                    <a:pos x="192" y="288"/>
                  </a:cxn>
                  <a:cxn ang="0">
                    <a:pos x="192" y="480"/>
                  </a:cxn>
                  <a:cxn ang="0">
                    <a:pos x="0" y="576"/>
                  </a:cxn>
                  <a:cxn ang="0">
                    <a:pos x="0" y="768"/>
                  </a:cxn>
                </a:cxnLst>
                <a:rect l="0" t="0" r="r" b="b"/>
                <a:pathLst>
                  <a:path w="192" h="768">
                    <a:moveTo>
                      <a:pt x="0" y="0"/>
                    </a:moveTo>
                    <a:lnTo>
                      <a:pt x="0" y="192"/>
                    </a:lnTo>
                    <a:lnTo>
                      <a:pt x="192" y="288"/>
                    </a:lnTo>
                    <a:lnTo>
                      <a:pt x="192" y="480"/>
                    </a:lnTo>
                    <a:lnTo>
                      <a:pt x="0" y="576"/>
                    </a:lnTo>
                    <a:lnTo>
                      <a:pt x="0" y="768"/>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524" name="Line 36">
                <a:extLst>
                  <a:ext uri="{FF2B5EF4-FFF2-40B4-BE49-F238E27FC236}">
                    <a16:creationId xmlns:a16="http://schemas.microsoft.com/office/drawing/2014/main" id="{91BCBE8F-CACC-724D-9461-66CE23E8C10C}"/>
                  </a:ext>
                </a:extLst>
              </p:cNvPr>
              <p:cNvSpPr>
                <a:spLocks noChangeAspect="1" noChangeShapeType="1"/>
              </p:cNvSpPr>
              <p:nvPr/>
            </p:nvSpPr>
            <p:spPr bwMode="auto">
              <a:xfrm>
                <a:off x="4755" y="1440"/>
                <a:ext cx="0" cy="192"/>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525" name="Line 37">
                <a:extLst>
                  <a:ext uri="{FF2B5EF4-FFF2-40B4-BE49-F238E27FC236}">
                    <a16:creationId xmlns:a16="http://schemas.microsoft.com/office/drawing/2014/main" id="{2146A595-3A5E-7543-9B6C-2040622F542E}"/>
                  </a:ext>
                </a:extLst>
              </p:cNvPr>
              <p:cNvSpPr>
                <a:spLocks noChangeAspect="1" noChangeShapeType="1"/>
              </p:cNvSpPr>
              <p:nvPr/>
            </p:nvSpPr>
            <p:spPr bwMode="auto">
              <a:xfrm>
                <a:off x="4755" y="1536"/>
                <a:ext cx="93"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526" name="Freeform 525">
                <a:extLst>
                  <a:ext uri="{FF2B5EF4-FFF2-40B4-BE49-F238E27FC236}">
                    <a16:creationId xmlns:a16="http://schemas.microsoft.com/office/drawing/2014/main" id="{C441896A-7402-FA4F-8F1F-C71EFE146384}"/>
                  </a:ext>
                </a:extLst>
              </p:cNvPr>
              <p:cNvSpPr>
                <a:spLocks noChangeAspect="1"/>
              </p:cNvSpPr>
              <p:nvPr/>
            </p:nvSpPr>
            <p:spPr bwMode="auto">
              <a:xfrm rot="20040000">
                <a:off x="4656" y="1597"/>
                <a:ext cx="48" cy="48"/>
              </a:xfrm>
              <a:custGeom>
                <a:avLst/>
                <a:gdLst/>
                <a:ahLst/>
                <a:cxnLst>
                  <a:cxn ang="0">
                    <a:pos x="0" y="48"/>
                  </a:cxn>
                  <a:cxn ang="0">
                    <a:pos x="96" y="0"/>
                  </a:cxn>
                  <a:cxn ang="0">
                    <a:pos x="96" y="96"/>
                  </a:cxn>
                  <a:cxn ang="0">
                    <a:pos x="0" y="48"/>
                  </a:cxn>
                </a:cxnLst>
                <a:rect l="0" t="0" r="r" b="b"/>
                <a:pathLst>
                  <a:path w="96" h="96">
                    <a:moveTo>
                      <a:pt x="0" y="48"/>
                    </a:moveTo>
                    <a:lnTo>
                      <a:pt x="96" y="0"/>
                    </a:lnTo>
                    <a:lnTo>
                      <a:pt x="96" y="96"/>
                    </a:lnTo>
                    <a:lnTo>
                      <a:pt x="0" y="48"/>
                    </a:lnTo>
                    <a:close/>
                  </a:path>
                </a:pathLst>
              </a:custGeom>
              <a:solidFill>
                <a:schemeClr val="tx1"/>
              </a:solidFill>
              <a:ln w="25400" cmpd="sng">
                <a:solidFill>
                  <a:schemeClr val="tx1"/>
                </a:solidFill>
                <a:round/>
                <a:headEnd/>
                <a:tailEnd/>
              </a:ln>
              <a:effectLst/>
            </p:spPr>
            <p:txBody>
              <a:bodyPr>
                <a:prstTxWarp prst="textNoShape">
                  <a:avLst/>
                </a:prstTxWarp>
              </a:bodyPr>
              <a:lstStyle/>
              <a:p>
                <a:endParaRPr lang="en-US" sz="1200"/>
              </a:p>
            </p:txBody>
          </p:sp>
        </p:grpSp>
        <p:sp>
          <p:nvSpPr>
            <p:cNvPr id="573" name="TextBox 572">
              <a:extLst>
                <a:ext uri="{FF2B5EF4-FFF2-40B4-BE49-F238E27FC236}">
                  <a16:creationId xmlns:a16="http://schemas.microsoft.com/office/drawing/2014/main" id="{0E1A3FED-8333-7547-A766-AED1F94EEF8A}"/>
                </a:ext>
              </a:extLst>
            </p:cNvPr>
            <p:cNvSpPr txBox="1"/>
            <p:nvPr/>
          </p:nvSpPr>
          <p:spPr>
            <a:xfrm>
              <a:off x="11118462" y="3125167"/>
              <a:ext cx="718688" cy="338554"/>
            </a:xfrm>
            <a:prstGeom prst="rect">
              <a:avLst/>
            </a:prstGeom>
            <a:noFill/>
          </p:spPr>
          <p:txBody>
            <a:bodyPr wrap="square" rtlCol="0">
              <a:spAutoFit/>
            </a:bodyPr>
            <a:lstStyle/>
            <a:p>
              <a:r>
                <a:rPr lang="en-US" sz="1600" dirty="0"/>
                <a:t>out</a:t>
              </a:r>
            </a:p>
          </p:txBody>
        </p:sp>
        <p:cxnSp>
          <p:nvCxnSpPr>
            <p:cNvPr id="673" name="Straight Connector 672">
              <a:extLst>
                <a:ext uri="{FF2B5EF4-FFF2-40B4-BE49-F238E27FC236}">
                  <a16:creationId xmlns:a16="http://schemas.microsoft.com/office/drawing/2014/main" id="{7F4011F7-290A-8D42-8AFF-1280792123AB}"/>
                </a:ext>
              </a:extLst>
            </p:cNvPr>
            <p:cNvCxnSpPr>
              <a:cxnSpLocks/>
            </p:cNvCxnSpPr>
            <p:nvPr/>
          </p:nvCxnSpPr>
          <p:spPr>
            <a:xfrm>
              <a:off x="8951257" y="2850470"/>
              <a:ext cx="1708525" cy="942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75" name="Oval 674">
              <a:extLst>
                <a:ext uri="{FF2B5EF4-FFF2-40B4-BE49-F238E27FC236}">
                  <a16:creationId xmlns:a16="http://schemas.microsoft.com/office/drawing/2014/main" id="{9FDFB0CD-9F33-F644-9422-E69184A26C1D}"/>
                </a:ext>
              </a:extLst>
            </p:cNvPr>
            <p:cNvSpPr>
              <a:spLocks noChangeAspect="1" noChangeArrowheads="1"/>
            </p:cNvSpPr>
            <p:nvPr/>
          </p:nvSpPr>
          <p:spPr bwMode="auto">
            <a:xfrm>
              <a:off x="10579514" y="4158083"/>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cxnSp>
          <p:nvCxnSpPr>
            <p:cNvPr id="679" name="Straight Connector 678">
              <a:extLst>
                <a:ext uri="{FF2B5EF4-FFF2-40B4-BE49-F238E27FC236}">
                  <a16:creationId xmlns:a16="http://schemas.microsoft.com/office/drawing/2014/main" id="{F6BE9394-1DC7-0F4D-80A9-0B1A16190CAD}"/>
                </a:ext>
              </a:extLst>
            </p:cNvPr>
            <p:cNvCxnSpPr>
              <a:cxnSpLocks/>
            </p:cNvCxnSpPr>
            <p:nvPr/>
          </p:nvCxnSpPr>
          <p:spPr>
            <a:xfrm>
              <a:off x="10651826" y="4223742"/>
              <a:ext cx="0" cy="41649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80" name="TextBox 679">
              <a:extLst>
                <a:ext uri="{FF2B5EF4-FFF2-40B4-BE49-F238E27FC236}">
                  <a16:creationId xmlns:a16="http://schemas.microsoft.com/office/drawing/2014/main" id="{97514FDD-ABC8-3C40-9103-D9038B0FFED4}"/>
                </a:ext>
              </a:extLst>
            </p:cNvPr>
            <p:cNvSpPr txBox="1"/>
            <p:nvPr/>
          </p:nvSpPr>
          <p:spPr>
            <a:xfrm>
              <a:off x="7922608" y="2327111"/>
              <a:ext cx="2101360" cy="338554"/>
            </a:xfrm>
            <a:prstGeom prst="rect">
              <a:avLst/>
            </a:prstGeom>
            <a:noFill/>
          </p:spPr>
          <p:txBody>
            <a:bodyPr wrap="square" rtlCol="0">
              <a:spAutoFit/>
            </a:bodyPr>
            <a:lstStyle/>
            <a:p>
              <a:r>
                <a:rPr lang="en-US" sz="1600" dirty="0"/>
                <a:t>Crystal Clapp</a:t>
              </a:r>
            </a:p>
          </p:txBody>
        </p:sp>
        <p:sp>
          <p:nvSpPr>
            <p:cNvPr id="681" name="Oval 680">
              <a:extLst>
                <a:ext uri="{FF2B5EF4-FFF2-40B4-BE49-F238E27FC236}">
                  <a16:creationId xmlns:a16="http://schemas.microsoft.com/office/drawing/2014/main" id="{BA6EA559-F108-7C42-AAA0-D825731CB112}"/>
                </a:ext>
              </a:extLst>
            </p:cNvPr>
            <p:cNvSpPr>
              <a:spLocks noChangeAspect="1" noChangeArrowheads="1"/>
            </p:cNvSpPr>
            <p:nvPr/>
          </p:nvSpPr>
          <p:spPr bwMode="auto">
            <a:xfrm>
              <a:off x="9852751" y="4545519"/>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682" name="Oval 681">
              <a:extLst>
                <a:ext uri="{FF2B5EF4-FFF2-40B4-BE49-F238E27FC236}">
                  <a16:creationId xmlns:a16="http://schemas.microsoft.com/office/drawing/2014/main" id="{9AFED0DA-1EA2-E345-AA43-766904DDBECE}"/>
                </a:ext>
              </a:extLst>
            </p:cNvPr>
            <p:cNvSpPr>
              <a:spLocks noChangeAspect="1" noChangeArrowheads="1"/>
            </p:cNvSpPr>
            <p:nvPr/>
          </p:nvSpPr>
          <p:spPr bwMode="auto">
            <a:xfrm>
              <a:off x="9841604" y="3823208"/>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683" name="Group 210">
              <a:extLst>
                <a:ext uri="{FF2B5EF4-FFF2-40B4-BE49-F238E27FC236}">
                  <a16:creationId xmlns:a16="http://schemas.microsoft.com/office/drawing/2014/main" id="{61D39B91-41BE-D74C-A244-47998053DC83}"/>
                </a:ext>
              </a:extLst>
            </p:cNvPr>
            <p:cNvGrpSpPr>
              <a:grpSpLocks/>
            </p:cNvGrpSpPr>
            <p:nvPr/>
          </p:nvGrpSpPr>
          <p:grpSpPr bwMode="auto">
            <a:xfrm>
              <a:off x="9772167" y="3934610"/>
              <a:ext cx="304800" cy="762000"/>
              <a:chOff x="3216" y="1728"/>
              <a:chExt cx="192" cy="480"/>
            </a:xfrm>
          </p:grpSpPr>
          <p:sp>
            <p:nvSpPr>
              <p:cNvPr id="726" name="Line 8">
                <a:extLst>
                  <a:ext uri="{FF2B5EF4-FFF2-40B4-BE49-F238E27FC236}">
                    <a16:creationId xmlns:a16="http://schemas.microsoft.com/office/drawing/2014/main" id="{B5A7D464-5F75-D946-AEB3-8D29DDA17233}"/>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 name="Line 9">
                <a:extLst>
                  <a:ext uri="{FF2B5EF4-FFF2-40B4-BE49-F238E27FC236}">
                    <a16:creationId xmlns:a16="http://schemas.microsoft.com/office/drawing/2014/main" id="{7BE00166-0D35-E743-9A0D-C7815F471A54}"/>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8" name="Line 10">
                <a:extLst>
                  <a:ext uri="{FF2B5EF4-FFF2-40B4-BE49-F238E27FC236}">
                    <a16:creationId xmlns:a16="http://schemas.microsoft.com/office/drawing/2014/main" id="{6FA56F0C-4A22-DE44-BC61-5623F3541E29}"/>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9" name="Line 11">
                <a:extLst>
                  <a:ext uri="{FF2B5EF4-FFF2-40B4-BE49-F238E27FC236}">
                    <a16:creationId xmlns:a16="http://schemas.microsoft.com/office/drawing/2014/main" id="{66504DFB-F771-BC4E-985D-232A518827F3}"/>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84" name="Group 210">
              <a:extLst>
                <a:ext uri="{FF2B5EF4-FFF2-40B4-BE49-F238E27FC236}">
                  <a16:creationId xmlns:a16="http://schemas.microsoft.com/office/drawing/2014/main" id="{DF2B1648-43ED-A142-9382-E67972A959F6}"/>
                </a:ext>
              </a:extLst>
            </p:cNvPr>
            <p:cNvGrpSpPr>
              <a:grpSpLocks/>
            </p:cNvGrpSpPr>
            <p:nvPr/>
          </p:nvGrpSpPr>
          <p:grpSpPr bwMode="auto">
            <a:xfrm>
              <a:off x="9764277" y="4555282"/>
              <a:ext cx="304800" cy="762000"/>
              <a:chOff x="3216" y="1728"/>
              <a:chExt cx="192" cy="480"/>
            </a:xfrm>
          </p:grpSpPr>
          <p:sp>
            <p:nvSpPr>
              <p:cNvPr id="722" name="Line 8">
                <a:extLst>
                  <a:ext uri="{FF2B5EF4-FFF2-40B4-BE49-F238E27FC236}">
                    <a16:creationId xmlns:a16="http://schemas.microsoft.com/office/drawing/2014/main" id="{10EA7429-BECF-1446-BFDA-9BB4F73BCB34}"/>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3" name="Line 9">
                <a:extLst>
                  <a:ext uri="{FF2B5EF4-FFF2-40B4-BE49-F238E27FC236}">
                    <a16:creationId xmlns:a16="http://schemas.microsoft.com/office/drawing/2014/main" id="{CC916E4F-0DB3-0642-82E1-EE22A31F763D}"/>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4" name="Line 10">
                <a:extLst>
                  <a:ext uri="{FF2B5EF4-FFF2-40B4-BE49-F238E27FC236}">
                    <a16:creationId xmlns:a16="http://schemas.microsoft.com/office/drawing/2014/main" id="{345BCD01-D3D1-5A46-9751-71B05FF91B4D}"/>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5" name="Line 11">
                <a:extLst>
                  <a:ext uri="{FF2B5EF4-FFF2-40B4-BE49-F238E27FC236}">
                    <a16:creationId xmlns:a16="http://schemas.microsoft.com/office/drawing/2014/main" id="{DA77193E-FF1C-134C-A0D7-1403016F8205}"/>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85" name="Group 222">
              <a:extLst>
                <a:ext uri="{FF2B5EF4-FFF2-40B4-BE49-F238E27FC236}">
                  <a16:creationId xmlns:a16="http://schemas.microsoft.com/office/drawing/2014/main" id="{7D022E26-95C8-2C4D-97F0-919ACBE4A503}"/>
                </a:ext>
              </a:extLst>
            </p:cNvPr>
            <p:cNvGrpSpPr>
              <a:grpSpLocks/>
            </p:cNvGrpSpPr>
            <p:nvPr/>
          </p:nvGrpSpPr>
          <p:grpSpPr bwMode="auto">
            <a:xfrm>
              <a:off x="9762852" y="5162301"/>
              <a:ext cx="304800" cy="381000"/>
              <a:chOff x="4272" y="3072"/>
              <a:chExt cx="192" cy="240"/>
            </a:xfrm>
          </p:grpSpPr>
          <p:sp>
            <p:nvSpPr>
              <p:cNvPr id="716" name="Line 99">
                <a:extLst>
                  <a:ext uri="{FF2B5EF4-FFF2-40B4-BE49-F238E27FC236}">
                    <a16:creationId xmlns:a16="http://schemas.microsoft.com/office/drawing/2014/main" id="{9AAC79CB-B2FA-D04E-828F-F36D0E096974}"/>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 name="Line 100">
                <a:extLst>
                  <a:ext uri="{FF2B5EF4-FFF2-40B4-BE49-F238E27FC236}">
                    <a16:creationId xmlns:a16="http://schemas.microsoft.com/office/drawing/2014/main" id="{231C4569-075A-C84B-B863-E9C511F2A97B}"/>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8" name="Line 101">
                <a:extLst>
                  <a:ext uri="{FF2B5EF4-FFF2-40B4-BE49-F238E27FC236}">
                    <a16:creationId xmlns:a16="http://schemas.microsoft.com/office/drawing/2014/main" id="{E62FE311-1F9E-3540-8637-922EF572C8CC}"/>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9" name="Line 102">
                <a:extLst>
                  <a:ext uri="{FF2B5EF4-FFF2-40B4-BE49-F238E27FC236}">
                    <a16:creationId xmlns:a16="http://schemas.microsoft.com/office/drawing/2014/main" id="{E27D377D-63AE-724C-B057-06E42B96693A}"/>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0" name="Line 103">
                <a:extLst>
                  <a:ext uri="{FF2B5EF4-FFF2-40B4-BE49-F238E27FC236}">
                    <a16:creationId xmlns:a16="http://schemas.microsoft.com/office/drawing/2014/main" id="{C0458B8C-09CE-7D4C-AEBD-46BA82062AB8}"/>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1" name="Line 104">
                <a:extLst>
                  <a:ext uri="{FF2B5EF4-FFF2-40B4-BE49-F238E27FC236}">
                    <a16:creationId xmlns:a16="http://schemas.microsoft.com/office/drawing/2014/main" id="{4B7CC635-6883-8449-AC6D-229747C8D723}"/>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686" name="Straight Connector 685">
              <a:extLst>
                <a:ext uri="{FF2B5EF4-FFF2-40B4-BE49-F238E27FC236}">
                  <a16:creationId xmlns:a16="http://schemas.microsoft.com/office/drawing/2014/main" id="{66B4435F-13D8-1945-846B-B484BB7F858E}"/>
                </a:ext>
              </a:extLst>
            </p:cNvPr>
            <p:cNvCxnSpPr>
              <a:cxnSpLocks/>
            </p:cNvCxnSpPr>
            <p:nvPr/>
          </p:nvCxnSpPr>
          <p:spPr>
            <a:xfrm>
              <a:off x="9859186" y="4614099"/>
              <a:ext cx="78694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87" name="Group 210">
              <a:extLst>
                <a:ext uri="{FF2B5EF4-FFF2-40B4-BE49-F238E27FC236}">
                  <a16:creationId xmlns:a16="http://schemas.microsoft.com/office/drawing/2014/main" id="{B538BCA2-9066-0B4D-B7EB-394950435983}"/>
                </a:ext>
              </a:extLst>
            </p:cNvPr>
            <p:cNvGrpSpPr>
              <a:grpSpLocks/>
            </p:cNvGrpSpPr>
            <p:nvPr/>
          </p:nvGrpSpPr>
          <p:grpSpPr bwMode="auto">
            <a:xfrm>
              <a:off x="9435174" y="2832663"/>
              <a:ext cx="304800" cy="762000"/>
              <a:chOff x="3216" y="1728"/>
              <a:chExt cx="192" cy="480"/>
            </a:xfrm>
          </p:grpSpPr>
          <p:sp>
            <p:nvSpPr>
              <p:cNvPr id="712" name="Line 8">
                <a:extLst>
                  <a:ext uri="{FF2B5EF4-FFF2-40B4-BE49-F238E27FC236}">
                    <a16:creationId xmlns:a16="http://schemas.microsoft.com/office/drawing/2014/main" id="{6C77E5EE-3079-4944-9BA3-D2D355A4AB18}"/>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3" name="Line 9">
                <a:extLst>
                  <a:ext uri="{FF2B5EF4-FFF2-40B4-BE49-F238E27FC236}">
                    <a16:creationId xmlns:a16="http://schemas.microsoft.com/office/drawing/2014/main" id="{B50DD889-2ABC-704E-92F2-D95035108911}"/>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4" name="Line 10">
                <a:extLst>
                  <a:ext uri="{FF2B5EF4-FFF2-40B4-BE49-F238E27FC236}">
                    <a16:creationId xmlns:a16="http://schemas.microsoft.com/office/drawing/2014/main" id="{8E62A679-E34B-974F-8FA4-C6F322B2432F}"/>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5" name="Line 11">
                <a:extLst>
                  <a:ext uri="{FF2B5EF4-FFF2-40B4-BE49-F238E27FC236}">
                    <a16:creationId xmlns:a16="http://schemas.microsoft.com/office/drawing/2014/main" id="{21AB4D70-3BE4-A645-837B-ADF452B1C374}"/>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88" name="Freeform 687">
              <a:extLst>
                <a:ext uri="{FF2B5EF4-FFF2-40B4-BE49-F238E27FC236}">
                  <a16:creationId xmlns:a16="http://schemas.microsoft.com/office/drawing/2014/main" id="{626390E8-7AB6-DC48-957D-21129B3D8076}"/>
                </a:ext>
              </a:extLst>
            </p:cNvPr>
            <p:cNvSpPr>
              <a:spLocks noChangeAspect="1"/>
            </p:cNvSpPr>
            <p:nvPr/>
          </p:nvSpPr>
          <p:spPr bwMode="auto">
            <a:xfrm>
              <a:off x="8895880" y="2862712"/>
              <a:ext cx="165855" cy="836239"/>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690" name="Group 222">
              <a:extLst>
                <a:ext uri="{FF2B5EF4-FFF2-40B4-BE49-F238E27FC236}">
                  <a16:creationId xmlns:a16="http://schemas.microsoft.com/office/drawing/2014/main" id="{D03060DD-E039-4747-8CAA-AA5E4D61F30C}"/>
                </a:ext>
              </a:extLst>
            </p:cNvPr>
            <p:cNvGrpSpPr>
              <a:grpSpLocks/>
            </p:cNvGrpSpPr>
            <p:nvPr/>
          </p:nvGrpSpPr>
          <p:grpSpPr bwMode="auto">
            <a:xfrm>
              <a:off x="9442517" y="3388249"/>
              <a:ext cx="304800" cy="381000"/>
              <a:chOff x="4272" y="3072"/>
              <a:chExt cx="192" cy="240"/>
            </a:xfrm>
          </p:grpSpPr>
          <p:sp>
            <p:nvSpPr>
              <p:cNvPr id="700" name="Line 99">
                <a:extLst>
                  <a:ext uri="{FF2B5EF4-FFF2-40B4-BE49-F238E27FC236}">
                    <a16:creationId xmlns:a16="http://schemas.microsoft.com/office/drawing/2014/main" id="{8128633A-DE98-AD4C-BF69-A3D99BA17E0F}"/>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1" name="Line 100">
                <a:extLst>
                  <a:ext uri="{FF2B5EF4-FFF2-40B4-BE49-F238E27FC236}">
                    <a16:creationId xmlns:a16="http://schemas.microsoft.com/office/drawing/2014/main" id="{C4334777-5B43-BA45-AA95-44CFEB7728B5}"/>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2" name="Line 101">
                <a:extLst>
                  <a:ext uri="{FF2B5EF4-FFF2-40B4-BE49-F238E27FC236}">
                    <a16:creationId xmlns:a16="http://schemas.microsoft.com/office/drawing/2014/main" id="{5CE7AE29-434B-EF4C-84E2-30E3E32342D2}"/>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3" name="Line 102">
                <a:extLst>
                  <a:ext uri="{FF2B5EF4-FFF2-40B4-BE49-F238E27FC236}">
                    <a16:creationId xmlns:a16="http://schemas.microsoft.com/office/drawing/2014/main" id="{159311E8-DA8D-CC40-8B85-89C30494A072}"/>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4" name="Line 103">
                <a:extLst>
                  <a:ext uri="{FF2B5EF4-FFF2-40B4-BE49-F238E27FC236}">
                    <a16:creationId xmlns:a16="http://schemas.microsoft.com/office/drawing/2014/main" id="{263BA02C-316D-264F-8CE6-DAD485694763}"/>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5" name="Line 104">
                <a:extLst>
                  <a:ext uri="{FF2B5EF4-FFF2-40B4-BE49-F238E27FC236}">
                    <a16:creationId xmlns:a16="http://schemas.microsoft.com/office/drawing/2014/main" id="{EEC1C355-BA50-DC45-A5B9-336D291730F0}"/>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91" name="Freeform 690">
              <a:extLst>
                <a:ext uri="{FF2B5EF4-FFF2-40B4-BE49-F238E27FC236}">
                  <a16:creationId xmlns:a16="http://schemas.microsoft.com/office/drawing/2014/main" id="{13DF603D-8DC2-324A-8CB8-E0CE17B3B07C}"/>
                </a:ext>
              </a:extLst>
            </p:cNvPr>
            <p:cNvSpPr>
              <a:spLocks noChangeAspect="1"/>
            </p:cNvSpPr>
            <p:nvPr/>
          </p:nvSpPr>
          <p:spPr bwMode="auto">
            <a:xfrm>
              <a:off x="10555103" y="4534819"/>
              <a:ext cx="165855" cy="836239"/>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692" name="Group 222">
              <a:extLst>
                <a:ext uri="{FF2B5EF4-FFF2-40B4-BE49-F238E27FC236}">
                  <a16:creationId xmlns:a16="http://schemas.microsoft.com/office/drawing/2014/main" id="{3EAE7021-7A20-164A-B23E-6209BEA0292D}"/>
                </a:ext>
              </a:extLst>
            </p:cNvPr>
            <p:cNvGrpSpPr>
              <a:grpSpLocks/>
            </p:cNvGrpSpPr>
            <p:nvPr/>
          </p:nvGrpSpPr>
          <p:grpSpPr bwMode="auto">
            <a:xfrm>
              <a:off x="10491316" y="5314818"/>
              <a:ext cx="304800" cy="381000"/>
              <a:chOff x="4272" y="3072"/>
              <a:chExt cx="192" cy="240"/>
            </a:xfrm>
          </p:grpSpPr>
          <p:sp>
            <p:nvSpPr>
              <p:cNvPr id="694" name="Line 99">
                <a:extLst>
                  <a:ext uri="{FF2B5EF4-FFF2-40B4-BE49-F238E27FC236}">
                    <a16:creationId xmlns:a16="http://schemas.microsoft.com/office/drawing/2014/main" id="{03B28F80-E06A-134E-B508-8AA240CB7527}"/>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5" name="Line 100">
                <a:extLst>
                  <a:ext uri="{FF2B5EF4-FFF2-40B4-BE49-F238E27FC236}">
                    <a16:creationId xmlns:a16="http://schemas.microsoft.com/office/drawing/2014/main" id="{46295122-8D12-4743-B0AC-C127999AFEDD}"/>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 name="Line 101">
                <a:extLst>
                  <a:ext uri="{FF2B5EF4-FFF2-40B4-BE49-F238E27FC236}">
                    <a16:creationId xmlns:a16="http://schemas.microsoft.com/office/drawing/2014/main" id="{C88FECEA-4528-DC44-8D30-D07E1C4C46D6}"/>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 name="Line 102">
                <a:extLst>
                  <a:ext uri="{FF2B5EF4-FFF2-40B4-BE49-F238E27FC236}">
                    <a16:creationId xmlns:a16="http://schemas.microsoft.com/office/drawing/2014/main" id="{AB457583-AD0E-C649-9022-B63EF8A1978C}"/>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8" name="Line 103">
                <a:extLst>
                  <a:ext uri="{FF2B5EF4-FFF2-40B4-BE49-F238E27FC236}">
                    <a16:creationId xmlns:a16="http://schemas.microsoft.com/office/drawing/2014/main" id="{D5E9A508-0C5C-3143-9541-4B9EAF97BFA2}"/>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9" name="Line 104">
                <a:extLst>
                  <a:ext uri="{FF2B5EF4-FFF2-40B4-BE49-F238E27FC236}">
                    <a16:creationId xmlns:a16="http://schemas.microsoft.com/office/drawing/2014/main" id="{C867C164-C1AA-444E-A41D-84F82A869E6E}"/>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93" name="Oval 692">
              <a:extLst>
                <a:ext uri="{FF2B5EF4-FFF2-40B4-BE49-F238E27FC236}">
                  <a16:creationId xmlns:a16="http://schemas.microsoft.com/office/drawing/2014/main" id="{565CA1B9-11EB-B344-9030-75344BDDD9C5}"/>
                </a:ext>
              </a:extLst>
            </p:cNvPr>
            <p:cNvSpPr>
              <a:spLocks noChangeAspect="1" noChangeArrowheads="1"/>
            </p:cNvSpPr>
            <p:nvPr/>
          </p:nvSpPr>
          <p:spPr bwMode="auto">
            <a:xfrm>
              <a:off x="10577366" y="4529426"/>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762" name="Freeform 761">
              <a:extLst>
                <a:ext uri="{FF2B5EF4-FFF2-40B4-BE49-F238E27FC236}">
                  <a16:creationId xmlns:a16="http://schemas.microsoft.com/office/drawing/2014/main" id="{4D17F137-D285-D247-8FF1-71D59B47DA8D}"/>
                </a:ext>
              </a:extLst>
            </p:cNvPr>
            <p:cNvSpPr>
              <a:spLocks noChangeAspect="1"/>
            </p:cNvSpPr>
            <p:nvPr/>
          </p:nvSpPr>
          <p:spPr bwMode="auto">
            <a:xfrm>
              <a:off x="10565165" y="2080935"/>
              <a:ext cx="165855" cy="836239"/>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63" name="Oval 762">
              <a:extLst>
                <a:ext uri="{FF2B5EF4-FFF2-40B4-BE49-F238E27FC236}">
                  <a16:creationId xmlns:a16="http://schemas.microsoft.com/office/drawing/2014/main" id="{7A539C5A-57A0-A040-A057-D9BE97414C38}"/>
                </a:ext>
              </a:extLst>
            </p:cNvPr>
            <p:cNvSpPr>
              <a:spLocks noChangeAspect="1" noChangeArrowheads="1"/>
            </p:cNvSpPr>
            <p:nvPr/>
          </p:nvSpPr>
          <p:spPr bwMode="auto">
            <a:xfrm>
              <a:off x="8912179" y="3821058"/>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764" name="Group 210">
              <a:extLst>
                <a:ext uri="{FF2B5EF4-FFF2-40B4-BE49-F238E27FC236}">
                  <a16:creationId xmlns:a16="http://schemas.microsoft.com/office/drawing/2014/main" id="{25CD1232-52C3-6049-AB4D-3022768BCA15}"/>
                </a:ext>
              </a:extLst>
            </p:cNvPr>
            <p:cNvGrpSpPr>
              <a:grpSpLocks/>
            </p:cNvGrpSpPr>
            <p:nvPr/>
          </p:nvGrpSpPr>
          <p:grpSpPr bwMode="auto">
            <a:xfrm rot="5400000">
              <a:off x="10667733" y="3158786"/>
              <a:ext cx="304800" cy="762000"/>
              <a:chOff x="3216" y="1728"/>
              <a:chExt cx="192" cy="480"/>
            </a:xfrm>
          </p:grpSpPr>
          <p:sp>
            <p:nvSpPr>
              <p:cNvPr id="765" name="Line 8">
                <a:extLst>
                  <a:ext uri="{FF2B5EF4-FFF2-40B4-BE49-F238E27FC236}">
                    <a16:creationId xmlns:a16="http://schemas.microsoft.com/office/drawing/2014/main" id="{17D2E54B-D4FB-5149-B8D5-6C6D219A0623}"/>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6" name="Line 9">
                <a:extLst>
                  <a:ext uri="{FF2B5EF4-FFF2-40B4-BE49-F238E27FC236}">
                    <a16:creationId xmlns:a16="http://schemas.microsoft.com/office/drawing/2014/main" id="{7711B630-2258-7C4B-BC2E-B5E356C05D4C}"/>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7" name="Line 10">
                <a:extLst>
                  <a:ext uri="{FF2B5EF4-FFF2-40B4-BE49-F238E27FC236}">
                    <a16:creationId xmlns:a16="http://schemas.microsoft.com/office/drawing/2014/main" id="{D15D2165-2069-B44D-A8C2-DD345C6421E6}"/>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 name="Line 11">
                <a:extLst>
                  <a:ext uri="{FF2B5EF4-FFF2-40B4-BE49-F238E27FC236}">
                    <a16:creationId xmlns:a16="http://schemas.microsoft.com/office/drawing/2014/main" id="{2C603981-4805-BC48-9EDE-C2634DB6A8FD}"/>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74" name="Oval 773">
              <a:extLst>
                <a:ext uri="{FF2B5EF4-FFF2-40B4-BE49-F238E27FC236}">
                  <a16:creationId xmlns:a16="http://schemas.microsoft.com/office/drawing/2014/main" id="{70E419B7-018E-8D4B-A26F-A12B8E14BE98}"/>
                </a:ext>
              </a:extLst>
            </p:cNvPr>
            <p:cNvSpPr>
              <a:spLocks noChangeAspect="1" noChangeArrowheads="1"/>
            </p:cNvSpPr>
            <p:nvPr/>
          </p:nvSpPr>
          <p:spPr bwMode="auto">
            <a:xfrm>
              <a:off x="10585838" y="2039086"/>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775" name="Oval 774">
              <a:extLst>
                <a:ext uri="{FF2B5EF4-FFF2-40B4-BE49-F238E27FC236}">
                  <a16:creationId xmlns:a16="http://schemas.microsoft.com/office/drawing/2014/main" id="{FB1EFC25-E2D7-2944-8EAA-4B041685E418}"/>
                </a:ext>
              </a:extLst>
            </p:cNvPr>
            <p:cNvSpPr>
              <a:spLocks noChangeAspect="1" noChangeArrowheads="1"/>
            </p:cNvSpPr>
            <p:nvPr/>
          </p:nvSpPr>
          <p:spPr bwMode="auto">
            <a:xfrm>
              <a:off x="11091473" y="3478692"/>
              <a:ext cx="137160" cy="137160"/>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776" name="Freeform 775">
              <a:extLst>
                <a:ext uri="{FF2B5EF4-FFF2-40B4-BE49-F238E27FC236}">
                  <a16:creationId xmlns:a16="http://schemas.microsoft.com/office/drawing/2014/main" id="{81060E42-0075-1340-BDCE-7C993D5EAC9D}"/>
                </a:ext>
              </a:extLst>
            </p:cNvPr>
            <p:cNvSpPr>
              <a:spLocks noChangeAspect="1"/>
            </p:cNvSpPr>
            <p:nvPr/>
          </p:nvSpPr>
          <p:spPr bwMode="auto">
            <a:xfrm>
              <a:off x="8893731" y="3877995"/>
              <a:ext cx="165855" cy="836239"/>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777" name="Straight Connector 776">
              <a:extLst>
                <a:ext uri="{FF2B5EF4-FFF2-40B4-BE49-F238E27FC236}">
                  <a16:creationId xmlns:a16="http://schemas.microsoft.com/office/drawing/2014/main" id="{5DFA8A91-170B-384B-AA70-571DB5E1CD9D}"/>
                </a:ext>
              </a:extLst>
            </p:cNvPr>
            <p:cNvCxnSpPr>
              <a:cxnSpLocks/>
            </p:cNvCxnSpPr>
            <p:nvPr/>
          </p:nvCxnSpPr>
          <p:spPr>
            <a:xfrm>
              <a:off x="8178882" y="3875590"/>
              <a:ext cx="2047814" cy="1407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8" name="Straight Connector 777">
              <a:extLst>
                <a:ext uri="{FF2B5EF4-FFF2-40B4-BE49-F238E27FC236}">
                  <a16:creationId xmlns:a16="http://schemas.microsoft.com/office/drawing/2014/main" id="{F66DC287-06DC-7848-8639-8AF76E6364D3}"/>
                </a:ext>
              </a:extLst>
            </p:cNvPr>
            <p:cNvCxnSpPr>
              <a:cxnSpLocks/>
            </p:cNvCxnSpPr>
            <p:nvPr/>
          </p:nvCxnSpPr>
          <p:spPr>
            <a:xfrm>
              <a:off x="8976144" y="3522482"/>
              <a:ext cx="0" cy="41649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79" name="Group 222">
              <a:extLst>
                <a:ext uri="{FF2B5EF4-FFF2-40B4-BE49-F238E27FC236}">
                  <a16:creationId xmlns:a16="http://schemas.microsoft.com/office/drawing/2014/main" id="{6666A75C-EB63-884F-B758-16430D440B30}"/>
                </a:ext>
              </a:extLst>
            </p:cNvPr>
            <p:cNvGrpSpPr>
              <a:grpSpLocks/>
            </p:cNvGrpSpPr>
            <p:nvPr/>
          </p:nvGrpSpPr>
          <p:grpSpPr bwMode="auto">
            <a:xfrm>
              <a:off x="8820891" y="4670264"/>
              <a:ext cx="304800" cy="381000"/>
              <a:chOff x="4272" y="3072"/>
              <a:chExt cx="192" cy="240"/>
            </a:xfrm>
          </p:grpSpPr>
          <p:sp>
            <p:nvSpPr>
              <p:cNvPr id="780" name="Line 99">
                <a:extLst>
                  <a:ext uri="{FF2B5EF4-FFF2-40B4-BE49-F238E27FC236}">
                    <a16:creationId xmlns:a16="http://schemas.microsoft.com/office/drawing/2014/main" id="{7E02A6A5-2388-6E4D-A8D1-11CA1FEFD082}"/>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1" name="Line 100">
                <a:extLst>
                  <a:ext uri="{FF2B5EF4-FFF2-40B4-BE49-F238E27FC236}">
                    <a16:creationId xmlns:a16="http://schemas.microsoft.com/office/drawing/2014/main" id="{994B9549-1830-C043-891A-300A1958C41E}"/>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2" name="Line 101">
                <a:extLst>
                  <a:ext uri="{FF2B5EF4-FFF2-40B4-BE49-F238E27FC236}">
                    <a16:creationId xmlns:a16="http://schemas.microsoft.com/office/drawing/2014/main" id="{77941200-B924-EE4D-BCFC-269F442EA54A}"/>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3" name="Line 102">
                <a:extLst>
                  <a:ext uri="{FF2B5EF4-FFF2-40B4-BE49-F238E27FC236}">
                    <a16:creationId xmlns:a16="http://schemas.microsoft.com/office/drawing/2014/main" id="{770D124D-3769-9940-845D-C1C4AD048501}"/>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4" name="Line 103">
                <a:extLst>
                  <a:ext uri="{FF2B5EF4-FFF2-40B4-BE49-F238E27FC236}">
                    <a16:creationId xmlns:a16="http://schemas.microsoft.com/office/drawing/2014/main" id="{C3E52D73-668A-DF4F-9C2F-C894E0890B66}"/>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5" name="Line 104">
                <a:extLst>
                  <a:ext uri="{FF2B5EF4-FFF2-40B4-BE49-F238E27FC236}">
                    <a16:creationId xmlns:a16="http://schemas.microsoft.com/office/drawing/2014/main" id="{7A51883B-86CF-A444-8D21-FB2EBB1379F7}"/>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786" name="Straight Connector 785">
              <a:extLst>
                <a:ext uri="{FF2B5EF4-FFF2-40B4-BE49-F238E27FC236}">
                  <a16:creationId xmlns:a16="http://schemas.microsoft.com/office/drawing/2014/main" id="{E9BFF097-88EB-5C40-9603-88674CDD5383}"/>
                </a:ext>
              </a:extLst>
            </p:cNvPr>
            <p:cNvCxnSpPr>
              <a:cxnSpLocks/>
            </p:cNvCxnSpPr>
            <p:nvPr/>
          </p:nvCxnSpPr>
          <p:spPr>
            <a:xfrm>
              <a:off x="10649680" y="2777758"/>
              <a:ext cx="0" cy="90024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88" name="Group 221">
              <a:extLst>
                <a:ext uri="{FF2B5EF4-FFF2-40B4-BE49-F238E27FC236}">
                  <a16:creationId xmlns:a16="http://schemas.microsoft.com/office/drawing/2014/main" id="{688EA5DF-16B8-5E4A-9026-46176A54E23D}"/>
                </a:ext>
              </a:extLst>
            </p:cNvPr>
            <p:cNvGrpSpPr>
              <a:grpSpLocks/>
            </p:cNvGrpSpPr>
            <p:nvPr/>
          </p:nvGrpSpPr>
          <p:grpSpPr bwMode="auto">
            <a:xfrm>
              <a:off x="7923407" y="3884301"/>
              <a:ext cx="549275" cy="1004887"/>
              <a:chOff x="2189" y="1066"/>
              <a:chExt cx="346" cy="633"/>
            </a:xfrm>
          </p:grpSpPr>
          <p:sp>
            <p:nvSpPr>
              <p:cNvPr id="790" name="Line 222">
                <a:extLst>
                  <a:ext uri="{FF2B5EF4-FFF2-40B4-BE49-F238E27FC236}">
                    <a16:creationId xmlns:a16="http://schemas.microsoft.com/office/drawing/2014/main" id="{017CA61F-EF4A-1F40-BEB4-B5180382EC36}"/>
                  </a:ext>
                </a:extLst>
              </p:cNvPr>
              <p:cNvSpPr>
                <a:spLocks noChangeShapeType="1"/>
              </p:cNvSpPr>
              <p:nvPr/>
            </p:nvSpPr>
            <p:spPr bwMode="auto">
              <a:xfrm>
                <a:off x="2189" y="1296"/>
                <a:ext cx="34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1" name="Line 223">
                <a:extLst>
                  <a:ext uri="{FF2B5EF4-FFF2-40B4-BE49-F238E27FC236}">
                    <a16:creationId xmlns:a16="http://schemas.microsoft.com/office/drawing/2014/main" id="{73B6683D-5E9B-8249-BE97-BDFD4767B8BF}"/>
                  </a:ext>
                </a:extLst>
              </p:cNvPr>
              <p:cNvSpPr>
                <a:spLocks noChangeShapeType="1"/>
              </p:cNvSpPr>
              <p:nvPr/>
            </p:nvSpPr>
            <p:spPr bwMode="auto">
              <a:xfrm>
                <a:off x="2362" y="1066"/>
                <a:ext cx="0" cy="23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2" name="Line 224">
                <a:extLst>
                  <a:ext uri="{FF2B5EF4-FFF2-40B4-BE49-F238E27FC236}">
                    <a16:creationId xmlns:a16="http://schemas.microsoft.com/office/drawing/2014/main" id="{67C410CA-521D-1B40-9B69-4A640E544C15}"/>
                  </a:ext>
                </a:extLst>
              </p:cNvPr>
              <p:cNvSpPr>
                <a:spLocks noChangeShapeType="1"/>
              </p:cNvSpPr>
              <p:nvPr/>
            </p:nvSpPr>
            <p:spPr bwMode="auto">
              <a:xfrm>
                <a:off x="2362" y="1469"/>
                <a:ext cx="0" cy="23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3" name="Line 225">
                <a:extLst>
                  <a:ext uri="{FF2B5EF4-FFF2-40B4-BE49-F238E27FC236}">
                    <a16:creationId xmlns:a16="http://schemas.microsoft.com/office/drawing/2014/main" id="{65492310-86A3-4943-A8DA-51D673006191}"/>
                  </a:ext>
                </a:extLst>
              </p:cNvPr>
              <p:cNvSpPr>
                <a:spLocks noChangeShapeType="1"/>
              </p:cNvSpPr>
              <p:nvPr/>
            </p:nvSpPr>
            <p:spPr bwMode="auto">
              <a:xfrm>
                <a:off x="2189" y="1469"/>
                <a:ext cx="34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5" name="Rectangle 227">
                <a:extLst>
                  <a:ext uri="{FF2B5EF4-FFF2-40B4-BE49-F238E27FC236}">
                    <a16:creationId xmlns:a16="http://schemas.microsoft.com/office/drawing/2014/main" id="{B544E67A-D7B5-5F4D-8D6C-D28F7FBB3AC6}"/>
                  </a:ext>
                </a:extLst>
              </p:cNvPr>
              <p:cNvSpPr>
                <a:spLocks noChangeArrowheads="1"/>
              </p:cNvSpPr>
              <p:nvPr/>
            </p:nvSpPr>
            <p:spPr bwMode="auto">
              <a:xfrm>
                <a:off x="2189" y="1354"/>
                <a:ext cx="345" cy="5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789" name="Freeform 341">
              <a:extLst>
                <a:ext uri="{FF2B5EF4-FFF2-40B4-BE49-F238E27FC236}">
                  <a16:creationId xmlns:a16="http://schemas.microsoft.com/office/drawing/2014/main" id="{683E6358-B3D1-F141-94E6-4BA02567D259}"/>
                </a:ext>
              </a:extLst>
            </p:cNvPr>
            <p:cNvSpPr>
              <a:spLocks/>
            </p:cNvSpPr>
            <p:nvPr/>
          </p:nvSpPr>
          <p:spPr bwMode="auto">
            <a:xfrm>
              <a:off x="7767682" y="2532597"/>
              <a:ext cx="285400" cy="836239"/>
            </a:xfrm>
            <a:custGeom>
              <a:avLst/>
              <a:gdLst>
                <a:gd name="T0" fmla="*/ 173 w 345"/>
                <a:gd name="T1" fmla="*/ 0 h 633"/>
                <a:gd name="T2" fmla="*/ 0 w 345"/>
                <a:gd name="T3" fmla="*/ 230 h 633"/>
                <a:gd name="T4" fmla="*/ 173 w 345"/>
                <a:gd name="T5" fmla="*/ 633 h 633"/>
                <a:gd name="T6" fmla="*/ 345 w 345"/>
                <a:gd name="T7" fmla="*/ 230 h 633"/>
                <a:gd name="T8" fmla="*/ 173 w 345"/>
                <a:gd name="T9" fmla="*/ 0 h 633"/>
                <a:gd name="T10" fmla="*/ 0 60000 65536"/>
                <a:gd name="T11" fmla="*/ 0 60000 65536"/>
                <a:gd name="T12" fmla="*/ 0 60000 65536"/>
                <a:gd name="T13" fmla="*/ 0 60000 65536"/>
                <a:gd name="T14" fmla="*/ 0 60000 65536"/>
                <a:gd name="T15" fmla="*/ 0 w 345"/>
                <a:gd name="T16" fmla="*/ 0 h 633"/>
                <a:gd name="T17" fmla="*/ 345 w 345"/>
                <a:gd name="T18" fmla="*/ 633 h 633"/>
              </a:gdLst>
              <a:ahLst/>
              <a:cxnLst>
                <a:cxn ang="T10">
                  <a:pos x="T0" y="T1"/>
                </a:cxn>
                <a:cxn ang="T11">
                  <a:pos x="T2" y="T3"/>
                </a:cxn>
                <a:cxn ang="T12">
                  <a:pos x="T4" y="T5"/>
                </a:cxn>
                <a:cxn ang="T13">
                  <a:pos x="T6" y="T7"/>
                </a:cxn>
                <a:cxn ang="T14">
                  <a:pos x="T8" y="T9"/>
                </a:cxn>
              </a:cxnLst>
              <a:rect l="T15" t="T16" r="T17" b="T18"/>
              <a:pathLst>
                <a:path w="345" h="633">
                  <a:moveTo>
                    <a:pt x="173" y="0"/>
                  </a:moveTo>
                  <a:lnTo>
                    <a:pt x="0" y="230"/>
                  </a:lnTo>
                  <a:lnTo>
                    <a:pt x="173" y="633"/>
                  </a:lnTo>
                  <a:lnTo>
                    <a:pt x="345" y="230"/>
                  </a:lnTo>
                  <a:lnTo>
                    <a:pt x="173"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nvGrpSpPr>
            <p:cNvPr id="796" name="Group 222">
              <a:extLst>
                <a:ext uri="{FF2B5EF4-FFF2-40B4-BE49-F238E27FC236}">
                  <a16:creationId xmlns:a16="http://schemas.microsoft.com/office/drawing/2014/main" id="{E8F00C2A-A8B8-2E49-9056-7E01656ADFA2}"/>
                </a:ext>
              </a:extLst>
            </p:cNvPr>
            <p:cNvGrpSpPr>
              <a:grpSpLocks/>
            </p:cNvGrpSpPr>
            <p:nvPr/>
          </p:nvGrpSpPr>
          <p:grpSpPr bwMode="auto">
            <a:xfrm>
              <a:off x="8046013" y="4784027"/>
              <a:ext cx="304800" cy="381000"/>
              <a:chOff x="4272" y="3072"/>
              <a:chExt cx="192" cy="240"/>
            </a:xfrm>
          </p:grpSpPr>
          <p:sp>
            <p:nvSpPr>
              <p:cNvPr id="797" name="Line 99">
                <a:extLst>
                  <a:ext uri="{FF2B5EF4-FFF2-40B4-BE49-F238E27FC236}">
                    <a16:creationId xmlns:a16="http://schemas.microsoft.com/office/drawing/2014/main" id="{C2C7D89D-3A45-DD49-8A1C-A1A1A2B2961F}"/>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8" name="Line 100">
                <a:extLst>
                  <a:ext uri="{FF2B5EF4-FFF2-40B4-BE49-F238E27FC236}">
                    <a16:creationId xmlns:a16="http://schemas.microsoft.com/office/drawing/2014/main" id="{2DE3C5F6-04F5-0642-A181-C591F12B6E86}"/>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 name="Line 101">
                <a:extLst>
                  <a:ext uri="{FF2B5EF4-FFF2-40B4-BE49-F238E27FC236}">
                    <a16:creationId xmlns:a16="http://schemas.microsoft.com/office/drawing/2014/main" id="{8BDC9F6F-E43E-3546-9E75-ADFF2FDC52A6}"/>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0" name="Line 102">
                <a:extLst>
                  <a:ext uri="{FF2B5EF4-FFF2-40B4-BE49-F238E27FC236}">
                    <a16:creationId xmlns:a16="http://schemas.microsoft.com/office/drawing/2014/main" id="{4E9B2609-AF1C-3C45-8143-45C209BFCF34}"/>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1" name="Line 103">
                <a:extLst>
                  <a:ext uri="{FF2B5EF4-FFF2-40B4-BE49-F238E27FC236}">
                    <a16:creationId xmlns:a16="http://schemas.microsoft.com/office/drawing/2014/main" id="{E214876B-065F-174F-92C9-EE799337041E}"/>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2" name="Line 104">
                <a:extLst>
                  <a:ext uri="{FF2B5EF4-FFF2-40B4-BE49-F238E27FC236}">
                    <a16:creationId xmlns:a16="http://schemas.microsoft.com/office/drawing/2014/main" id="{BFB512F2-B9D3-1444-8E32-FF06583CB928}"/>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803" name="Straight Connector 802">
              <a:extLst>
                <a:ext uri="{FF2B5EF4-FFF2-40B4-BE49-F238E27FC236}">
                  <a16:creationId xmlns:a16="http://schemas.microsoft.com/office/drawing/2014/main" id="{BBCFD950-3C63-D040-AE05-5DACBF6F82F3}"/>
                </a:ext>
              </a:extLst>
            </p:cNvPr>
            <p:cNvCxnSpPr>
              <a:cxnSpLocks/>
            </p:cNvCxnSpPr>
            <p:nvPr/>
          </p:nvCxnSpPr>
          <p:spPr>
            <a:xfrm>
              <a:off x="9907754" y="3539786"/>
              <a:ext cx="78694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4" name="Straight Connector 803">
              <a:extLst>
                <a:ext uri="{FF2B5EF4-FFF2-40B4-BE49-F238E27FC236}">
                  <a16:creationId xmlns:a16="http://schemas.microsoft.com/office/drawing/2014/main" id="{4FDE9F6A-2B91-654A-8593-0F2C377A185F}"/>
                </a:ext>
              </a:extLst>
            </p:cNvPr>
            <p:cNvCxnSpPr>
              <a:cxnSpLocks/>
            </p:cNvCxnSpPr>
            <p:nvPr/>
          </p:nvCxnSpPr>
          <p:spPr>
            <a:xfrm>
              <a:off x="9916302" y="3535360"/>
              <a:ext cx="0" cy="41649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05" name="TextBox 804">
              <a:extLst>
                <a:ext uri="{FF2B5EF4-FFF2-40B4-BE49-F238E27FC236}">
                  <a16:creationId xmlns:a16="http://schemas.microsoft.com/office/drawing/2014/main" id="{710AE6D9-D2FA-4E4E-8B8C-2A610921053F}"/>
                </a:ext>
              </a:extLst>
            </p:cNvPr>
            <p:cNvSpPr txBox="1"/>
            <p:nvPr/>
          </p:nvSpPr>
          <p:spPr>
            <a:xfrm>
              <a:off x="10752793" y="2285789"/>
              <a:ext cx="718688" cy="338554"/>
            </a:xfrm>
            <a:prstGeom prst="rect">
              <a:avLst/>
            </a:prstGeom>
            <a:noFill/>
          </p:spPr>
          <p:txBody>
            <a:bodyPr wrap="square" rtlCol="0">
              <a:spAutoFit/>
            </a:bodyPr>
            <a:lstStyle/>
            <a:p>
              <a:r>
                <a:rPr lang="en-US" sz="1600" dirty="0"/>
                <a:t>68</a:t>
              </a:r>
            </a:p>
          </p:txBody>
        </p:sp>
        <p:sp>
          <p:nvSpPr>
            <p:cNvPr id="806" name="TextBox 805">
              <a:extLst>
                <a:ext uri="{FF2B5EF4-FFF2-40B4-BE49-F238E27FC236}">
                  <a16:creationId xmlns:a16="http://schemas.microsoft.com/office/drawing/2014/main" id="{B1F4EEC7-E70E-7240-93EC-29F52BEFA038}"/>
                </a:ext>
              </a:extLst>
            </p:cNvPr>
            <p:cNvSpPr txBox="1"/>
            <p:nvPr/>
          </p:nvSpPr>
          <p:spPr>
            <a:xfrm>
              <a:off x="9694787" y="2978006"/>
              <a:ext cx="718688" cy="338554"/>
            </a:xfrm>
            <a:prstGeom prst="rect">
              <a:avLst/>
            </a:prstGeom>
            <a:noFill/>
          </p:spPr>
          <p:txBody>
            <a:bodyPr wrap="square" rtlCol="0">
              <a:spAutoFit/>
            </a:bodyPr>
            <a:lstStyle/>
            <a:p>
              <a:r>
                <a:rPr lang="en-US" sz="1600" dirty="0"/>
                <a:t>.01</a:t>
              </a:r>
            </a:p>
          </p:txBody>
        </p:sp>
        <p:sp>
          <p:nvSpPr>
            <p:cNvPr id="807" name="TextBox 806">
              <a:extLst>
                <a:ext uri="{FF2B5EF4-FFF2-40B4-BE49-F238E27FC236}">
                  <a16:creationId xmlns:a16="http://schemas.microsoft.com/office/drawing/2014/main" id="{E28EAE5B-F53D-B24C-8F4D-C9042AD92870}"/>
                </a:ext>
              </a:extLst>
            </p:cNvPr>
            <p:cNvSpPr txBox="1"/>
            <p:nvPr/>
          </p:nvSpPr>
          <p:spPr>
            <a:xfrm>
              <a:off x="9083173" y="4018214"/>
              <a:ext cx="718688" cy="338554"/>
            </a:xfrm>
            <a:prstGeom prst="rect">
              <a:avLst/>
            </a:prstGeom>
            <a:noFill/>
          </p:spPr>
          <p:txBody>
            <a:bodyPr wrap="square" rtlCol="0">
              <a:spAutoFit/>
            </a:bodyPr>
            <a:lstStyle/>
            <a:p>
              <a:r>
                <a:rPr lang="en-US" sz="1600" dirty="0"/>
                <a:t>10K</a:t>
              </a:r>
            </a:p>
          </p:txBody>
        </p:sp>
        <p:sp>
          <p:nvSpPr>
            <p:cNvPr id="808" name="TextBox 807">
              <a:extLst>
                <a:ext uri="{FF2B5EF4-FFF2-40B4-BE49-F238E27FC236}">
                  <a16:creationId xmlns:a16="http://schemas.microsoft.com/office/drawing/2014/main" id="{E2C096E2-6007-C844-8577-36BD26896D84}"/>
                </a:ext>
              </a:extLst>
            </p:cNvPr>
            <p:cNvSpPr txBox="1"/>
            <p:nvPr/>
          </p:nvSpPr>
          <p:spPr>
            <a:xfrm>
              <a:off x="8398808" y="3207151"/>
              <a:ext cx="718688" cy="338554"/>
            </a:xfrm>
            <a:prstGeom prst="rect">
              <a:avLst/>
            </a:prstGeom>
            <a:noFill/>
          </p:spPr>
          <p:txBody>
            <a:bodyPr wrap="square" rtlCol="0">
              <a:spAutoFit/>
            </a:bodyPr>
            <a:lstStyle/>
            <a:p>
              <a:r>
                <a:rPr lang="en-US" sz="1600" dirty="0"/>
                <a:t>10K</a:t>
              </a:r>
            </a:p>
          </p:txBody>
        </p:sp>
        <p:sp>
          <p:nvSpPr>
            <p:cNvPr id="809" name="TextBox 808">
              <a:extLst>
                <a:ext uri="{FF2B5EF4-FFF2-40B4-BE49-F238E27FC236}">
                  <a16:creationId xmlns:a16="http://schemas.microsoft.com/office/drawing/2014/main" id="{B350960F-D714-D04F-AA29-2C341192EEB5}"/>
                </a:ext>
              </a:extLst>
            </p:cNvPr>
            <p:cNvSpPr txBox="1"/>
            <p:nvPr/>
          </p:nvSpPr>
          <p:spPr>
            <a:xfrm>
              <a:off x="9369414" y="4302623"/>
              <a:ext cx="718688" cy="338554"/>
            </a:xfrm>
            <a:prstGeom prst="rect">
              <a:avLst/>
            </a:prstGeom>
            <a:noFill/>
          </p:spPr>
          <p:txBody>
            <a:bodyPr wrap="square" rtlCol="0">
              <a:spAutoFit/>
            </a:bodyPr>
            <a:lstStyle/>
            <a:p>
              <a:r>
                <a:rPr lang="en-US" sz="1600" dirty="0"/>
                <a:t>390</a:t>
              </a:r>
            </a:p>
          </p:txBody>
        </p:sp>
        <p:sp>
          <p:nvSpPr>
            <p:cNvPr id="810" name="TextBox 809">
              <a:extLst>
                <a:ext uri="{FF2B5EF4-FFF2-40B4-BE49-F238E27FC236}">
                  <a16:creationId xmlns:a16="http://schemas.microsoft.com/office/drawing/2014/main" id="{CF376913-7EA4-8B4B-B6CB-DA1FCF2707A3}"/>
                </a:ext>
              </a:extLst>
            </p:cNvPr>
            <p:cNvSpPr txBox="1"/>
            <p:nvPr/>
          </p:nvSpPr>
          <p:spPr>
            <a:xfrm>
              <a:off x="9418782" y="4931542"/>
              <a:ext cx="718688" cy="338554"/>
            </a:xfrm>
            <a:prstGeom prst="rect">
              <a:avLst/>
            </a:prstGeom>
            <a:noFill/>
          </p:spPr>
          <p:txBody>
            <a:bodyPr wrap="square" rtlCol="0">
              <a:spAutoFit/>
            </a:bodyPr>
            <a:lstStyle/>
            <a:p>
              <a:r>
                <a:rPr lang="en-US" sz="1600" dirty="0"/>
                <a:t>390</a:t>
              </a:r>
            </a:p>
          </p:txBody>
        </p:sp>
        <p:sp>
          <p:nvSpPr>
            <p:cNvPr id="811" name="TextBox 810">
              <a:extLst>
                <a:ext uri="{FF2B5EF4-FFF2-40B4-BE49-F238E27FC236}">
                  <a16:creationId xmlns:a16="http://schemas.microsoft.com/office/drawing/2014/main" id="{5AF53C49-F136-3142-BF31-90C778425F59}"/>
                </a:ext>
              </a:extLst>
            </p:cNvPr>
            <p:cNvSpPr txBox="1"/>
            <p:nvPr/>
          </p:nvSpPr>
          <p:spPr>
            <a:xfrm>
              <a:off x="10750951" y="2993923"/>
              <a:ext cx="718688" cy="338554"/>
            </a:xfrm>
            <a:prstGeom prst="rect">
              <a:avLst/>
            </a:prstGeom>
            <a:noFill/>
          </p:spPr>
          <p:txBody>
            <a:bodyPr wrap="square" rtlCol="0">
              <a:spAutoFit/>
            </a:bodyPr>
            <a:lstStyle/>
            <a:p>
              <a:r>
                <a:rPr lang="en-US" sz="1600" dirty="0"/>
                <a:t>100</a:t>
              </a:r>
            </a:p>
          </p:txBody>
        </p:sp>
        <p:sp>
          <p:nvSpPr>
            <p:cNvPr id="812" name="TextBox 811">
              <a:extLst>
                <a:ext uri="{FF2B5EF4-FFF2-40B4-BE49-F238E27FC236}">
                  <a16:creationId xmlns:a16="http://schemas.microsoft.com/office/drawing/2014/main" id="{A144039F-352E-5840-9972-A66305C1E22D}"/>
                </a:ext>
              </a:extLst>
            </p:cNvPr>
            <p:cNvSpPr txBox="1"/>
            <p:nvPr/>
          </p:nvSpPr>
          <p:spPr>
            <a:xfrm>
              <a:off x="10748803" y="4769059"/>
              <a:ext cx="718688" cy="338554"/>
            </a:xfrm>
            <a:prstGeom prst="rect">
              <a:avLst/>
            </a:prstGeom>
            <a:noFill/>
          </p:spPr>
          <p:txBody>
            <a:bodyPr wrap="square" rtlCol="0">
              <a:spAutoFit/>
            </a:bodyPr>
            <a:lstStyle/>
            <a:p>
              <a:r>
                <a:rPr lang="en-US" sz="1600" dirty="0"/>
                <a:t>2.2K</a:t>
              </a:r>
            </a:p>
          </p:txBody>
        </p:sp>
        <p:sp>
          <p:nvSpPr>
            <p:cNvPr id="813" name="TextBox 812">
              <a:extLst>
                <a:ext uri="{FF2B5EF4-FFF2-40B4-BE49-F238E27FC236}">
                  <a16:creationId xmlns:a16="http://schemas.microsoft.com/office/drawing/2014/main" id="{3C575C21-E894-DF42-B4A4-6C88E7BAFBCD}"/>
                </a:ext>
              </a:extLst>
            </p:cNvPr>
            <p:cNvSpPr txBox="1"/>
            <p:nvPr/>
          </p:nvSpPr>
          <p:spPr>
            <a:xfrm>
              <a:off x="8139892" y="4557455"/>
              <a:ext cx="718688" cy="338554"/>
            </a:xfrm>
            <a:prstGeom prst="rect">
              <a:avLst/>
            </a:prstGeom>
            <a:noFill/>
          </p:spPr>
          <p:txBody>
            <a:bodyPr wrap="square" rtlCol="0">
              <a:spAutoFit/>
            </a:bodyPr>
            <a:lstStyle/>
            <a:p>
              <a:r>
                <a:rPr lang="en-US" sz="1600" dirty="0"/>
                <a:t>7MHz</a:t>
              </a:r>
            </a:p>
          </p:txBody>
        </p:sp>
      </p:grpSp>
    </p:spTree>
    <p:extLst>
      <p:ext uri="{BB962C8B-B14F-4D97-AF65-F5344CB8AC3E}">
        <p14:creationId xmlns:p14="http://schemas.microsoft.com/office/powerpoint/2010/main" val="73184083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155731"/>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GPS</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4EE796B-9DCB-DE41-AEA4-31CBF97794EF}"/>
                  </a:ext>
                </a:extLst>
              </p:cNvPr>
              <p:cNvSpPr txBox="1"/>
              <p:nvPr/>
            </p:nvSpPr>
            <p:spPr>
              <a:xfrm>
                <a:off x="424069" y="1204689"/>
                <a:ext cx="11343862" cy="519894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342900" indent="-342900" defTabSz="457200"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Space Segment</a:t>
                </a:r>
              </a:p>
              <a:p>
                <a:pPr marL="800100" lvl="1" indent="-342900" defTabSz="457200"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31 operating satellites (Current generation: block IIIA – 2018)</a:t>
                </a:r>
              </a:p>
              <a:p>
                <a:pPr marL="800100" lvl="1" indent="-342900" defTabSz="457200"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12 hour MEO (21000km) orbits, 8-12 satellites in view</a:t>
                </a:r>
              </a:p>
              <a:p>
                <a:pPr marL="800100" lvl="1" indent="-342900" defTabSz="457200"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Transmitter power: 44.8* W, </a:t>
                </a: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𝐺</m:t>
                        </m:r>
                      </m:e>
                      <m:sub>
                        <m:r>
                          <a:rPr lang="en-US" sz="2000" b="0" i="1" smtClean="0">
                            <a:solidFill>
                              <a:srgbClr val="000000"/>
                            </a:solidFill>
                            <a:latin typeface="Cambria Math" panose="02040503050406030204" pitchFamily="18" charset="0"/>
                            <a:ea typeface="Cambria Math" panose="02040503050406030204" pitchFamily="18" charset="0"/>
                            <a:sym typeface="Calibri"/>
                          </a:rPr>
                          <m:t>𝑡</m:t>
                        </m:r>
                      </m:sub>
                    </m:sSub>
                    <m:r>
                      <a:rPr lang="en-US" sz="2000" b="0" i="1" smtClean="0">
                        <a:solidFill>
                          <a:srgbClr val="000000"/>
                        </a:solidFill>
                        <a:latin typeface="Cambria Math" panose="02040503050406030204" pitchFamily="18" charset="0"/>
                        <a:ea typeface="Cambria Math" panose="02040503050406030204" pitchFamily="18" charset="0"/>
                        <a:sym typeface="Calibri"/>
                      </a:rPr>
                      <m:t>=12</m:t>
                    </m:r>
                    <m:r>
                      <a:rPr lang="en-US" sz="2000" b="0" i="1" smtClean="0">
                        <a:solidFill>
                          <a:srgbClr val="000000"/>
                        </a:solidFill>
                        <a:latin typeface="Cambria Math" panose="02040503050406030204" pitchFamily="18" charset="0"/>
                        <a:ea typeface="Cambria Math" panose="02040503050406030204" pitchFamily="18" charset="0"/>
                        <a:sym typeface="Calibri"/>
                      </a:rPr>
                      <m:t>𝑑𝐵𝑖</m:t>
                    </m:r>
                  </m:oMath>
                </a14:m>
                <a:r>
                  <a:rPr lang="en-US" sz="2000" dirty="0">
                    <a:solidFill>
                      <a:srgbClr val="000000"/>
                    </a:solidFill>
                    <a:ea typeface="Cambria Math" panose="02040503050406030204" pitchFamily="18" charset="0"/>
                    <a:sym typeface="Calibri"/>
                  </a:rPr>
                  <a:t>.  Clocks accurate to better than 10ns (no leap seconds).</a:t>
                </a:r>
              </a:p>
              <a:p>
                <a:pPr marL="342900" indent="-342900" defTabSz="457200"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Control segment master at </a:t>
                </a:r>
                <a:r>
                  <a:rPr lang="en-US" sz="2000" dirty="0"/>
                  <a:t>Schriever AFB (plus alternative master, 4 ground antennas and 6 ground stations).   Ephemeris updates daily.</a:t>
                </a:r>
              </a:p>
              <a:p>
                <a:pPr marL="342900" indent="-342900" defTabSz="457200"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User segment</a:t>
                </a:r>
              </a:p>
              <a:p>
                <a:pPr marL="800100" lvl="1" indent="-342900" defTabSz="457200"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Two bands:  L1 (1575.42 MHz [2.046MHz BW]) civilian and military, L2 (1227.6MHz)], military only</a:t>
                </a:r>
              </a:p>
              <a:p>
                <a:pPr marL="800100" lvl="1" indent="-342900" defTabSz="457200"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Two signals: C/A (civilian) and P(Y) (military). C/A signal is Direct Sequence Spread Spectrum </a:t>
                </a:r>
              </a:p>
              <a:p>
                <a:pPr marL="800100" lvl="1" indent="-342900" defTabSz="457200"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Satellite identified by PRN (1-32). </a:t>
                </a:r>
              </a:p>
              <a:p>
                <a:pPr marL="800100" lvl="1" indent="-342900" defTabSz="457200"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L1 signal: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sym typeface="Calibri"/>
                      </a:rPr>
                      <m:t>𝑠</m:t>
                    </m:r>
                    <m:d>
                      <m:dPr>
                        <m:ctrlPr>
                          <a:rPr lang="en-US" sz="2000" b="0" i="1" smtClean="0">
                            <a:solidFill>
                              <a:srgbClr val="000000"/>
                            </a:solidFill>
                            <a:latin typeface="Cambria Math" panose="02040503050406030204" pitchFamily="18" charset="0"/>
                            <a:ea typeface="Cambria Math" panose="02040503050406030204" pitchFamily="18" charset="0"/>
                            <a:sym typeface="Calibri"/>
                          </a:rPr>
                        </m:ctrlPr>
                      </m:dPr>
                      <m:e>
                        <m:r>
                          <a:rPr lang="en-US" sz="2000" b="0" i="1" smtClean="0">
                            <a:solidFill>
                              <a:srgbClr val="000000"/>
                            </a:solidFill>
                            <a:latin typeface="Cambria Math" panose="02040503050406030204" pitchFamily="18" charset="0"/>
                            <a:ea typeface="Cambria Math" panose="02040503050406030204" pitchFamily="18" charset="0"/>
                            <a:sym typeface="Calibri"/>
                          </a:rPr>
                          <m:t>𝑡</m:t>
                        </m:r>
                      </m:e>
                    </m:d>
                    <m:r>
                      <a:rPr lang="en-US" sz="2000" b="0" i="1" smtClean="0">
                        <a:solidFill>
                          <a:srgbClr val="000000"/>
                        </a:solidFill>
                        <a:latin typeface="Cambria Math" panose="02040503050406030204" pitchFamily="18" charset="0"/>
                        <a:ea typeface="Cambria Math" panose="02040503050406030204" pitchFamily="18" charset="0"/>
                        <a:sym typeface="Calibri"/>
                      </a:rPr>
                      <m:t>= </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𝐴</m:t>
                        </m:r>
                      </m:e>
                      <m:sub>
                        <m:r>
                          <a:rPr lang="en-US" sz="2000" b="0" i="1" smtClean="0">
                            <a:solidFill>
                              <a:srgbClr val="000000"/>
                            </a:solidFill>
                            <a:latin typeface="Cambria Math" panose="02040503050406030204" pitchFamily="18" charset="0"/>
                            <a:ea typeface="Cambria Math" panose="02040503050406030204" pitchFamily="18" charset="0"/>
                            <a:sym typeface="Calibri"/>
                          </a:rPr>
                          <m:t>𝑐</m:t>
                        </m:r>
                      </m:sub>
                    </m:sSub>
                    <m:r>
                      <a:rPr lang="en-US" sz="2000" b="0" i="1" smtClean="0">
                        <a:solidFill>
                          <a:srgbClr val="000000"/>
                        </a:solidFill>
                        <a:latin typeface="Cambria Math" panose="02040503050406030204" pitchFamily="18" charset="0"/>
                        <a:ea typeface="Cambria Math" panose="02040503050406030204" pitchFamily="18" charset="0"/>
                        <a:sym typeface="Calibri"/>
                      </a:rPr>
                      <m:t>𝐶</m:t>
                    </m:r>
                    <m:d>
                      <m:dPr>
                        <m:ctrlPr>
                          <a:rPr lang="en-US" sz="2000" b="0" i="1" smtClean="0">
                            <a:solidFill>
                              <a:srgbClr val="000000"/>
                            </a:solidFill>
                            <a:latin typeface="Cambria Math" panose="02040503050406030204" pitchFamily="18" charset="0"/>
                            <a:ea typeface="Cambria Math" panose="02040503050406030204" pitchFamily="18" charset="0"/>
                            <a:sym typeface="Calibri"/>
                          </a:rPr>
                        </m:ctrlPr>
                      </m:dPr>
                      <m:e>
                        <m:r>
                          <a:rPr lang="en-US" sz="2000" b="0" i="1" smtClean="0">
                            <a:solidFill>
                              <a:srgbClr val="000000"/>
                            </a:solidFill>
                            <a:latin typeface="Cambria Math" panose="02040503050406030204" pitchFamily="18" charset="0"/>
                            <a:ea typeface="Cambria Math" panose="02040503050406030204" pitchFamily="18" charset="0"/>
                            <a:sym typeface="Calibri"/>
                          </a:rPr>
                          <m:t>𝑡</m:t>
                        </m:r>
                      </m:e>
                    </m:d>
                    <m:r>
                      <a:rPr lang="en-US" sz="2000" b="0" i="1" smtClean="0">
                        <a:solidFill>
                          <a:srgbClr val="000000"/>
                        </a:solidFill>
                        <a:latin typeface="Cambria Math" panose="02040503050406030204" pitchFamily="18" charset="0"/>
                        <a:ea typeface="Cambria Math" panose="02040503050406030204" pitchFamily="18" charset="0"/>
                        <a:sym typeface="Calibri"/>
                      </a:rPr>
                      <m:t>𝐷</m:t>
                    </m:r>
                    <m:d>
                      <m:dPr>
                        <m:ctrlPr>
                          <a:rPr lang="en-US" sz="2000" b="0" i="1" smtClean="0">
                            <a:solidFill>
                              <a:srgbClr val="000000"/>
                            </a:solidFill>
                            <a:latin typeface="Cambria Math" panose="02040503050406030204" pitchFamily="18" charset="0"/>
                            <a:ea typeface="Cambria Math" panose="02040503050406030204" pitchFamily="18" charset="0"/>
                            <a:sym typeface="Calibri"/>
                          </a:rPr>
                        </m:ctrlPr>
                      </m:dPr>
                      <m:e>
                        <m:r>
                          <a:rPr lang="en-US" sz="2000" b="0" i="1" smtClean="0">
                            <a:solidFill>
                              <a:srgbClr val="000000"/>
                            </a:solidFill>
                            <a:latin typeface="Cambria Math" panose="02040503050406030204" pitchFamily="18" charset="0"/>
                            <a:ea typeface="Cambria Math" panose="02040503050406030204" pitchFamily="18" charset="0"/>
                            <a:sym typeface="Calibri"/>
                          </a:rPr>
                          <m:t>𝑡</m:t>
                        </m:r>
                      </m:e>
                    </m:d>
                    <m:func>
                      <m:funcPr>
                        <m:ctrlPr>
                          <a:rPr lang="en-US" sz="2000" b="0" i="0" smtClean="0">
                            <a:solidFill>
                              <a:srgbClr val="000000"/>
                            </a:solidFill>
                            <a:latin typeface="Cambria Math" panose="02040503050406030204" pitchFamily="18" charset="0"/>
                            <a:ea typeface="Cambria Math" panose="02040503050406030204" pitchFamily="18" charset="0"/>
                            <a:sym typeface="Calibri"/>
                          </a:rPr>
                        </m:ctrlPr>
                      </m:funcPr>
                      <m:fName>
                        <m:r>
                          <m:rPr>
                            <m:sty m:val="p"/>
                          </m:rPr>
                          <a:rPr lang="en-US" sz="2000" b="0" i="0" smtClean="0">
                            <a:solidFill>
                              <a:srgbClr val="000000"/>
                            </a:solidFill>
                            <a:latin typeface="Cambria Math" panose="02040503050406030204" pitchFamily="18" charset="0"/>
                            <a:ea typeface="Cambria Math" panose="02040503050406030204" pitchFamily="18" charset="0"/>
                            <a:sym typeface="Calibri"/>
                          </a:rPr>
                          <m:t>cos</m:t>
                        </m:r>
                      </m:fName>
                      <m:e>
                        <m:d>
                          <m:dPr>
                            <m:ctrlPr>
                              <a:rPr lang="en-US" sz="2000" b="0" i="1" smtClean="0">
                                <a:solidFill>
                                  <a:srgbClr val="000000"/>
                                </a:solidFill>
                                <a:latin typeface="Cambria Math" panose="02040503050406030204" pitchFamily="18" charset="0"/>
                                <a:ea typeface="Cambria Math" panose="02040503050406030204" pitchFamily="18" charset="0"/>
                                <a:sym typeface="Calibri"/>
                              </a:rPr>
                            </m:ctrlPr>
                          </m:dPr>
                          <m:e>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𝜔</m:t>
                                </m:r>
                              </m:e>
                              <m:sub>
                                <m:r>
                                  <a:rPr lang="en-US" sz="2000" b="0" i="1" smtClean="0">
                                    <a:solidFill>
                                      <a:srgbClr val="000000"/>
                                    </a:solidFill>
                                    <a:latin typeface="Cambria Math" panose="02040503050406030204" pitchFamily="18" charset="0"/>
                                    <a:ea typeface="Cambria Math" panose="02040503050406030204" pitchFamily="18" charset="0"/>
                                    <a:sym typeface="Calibri"/>
                                  </a:rPr>
                                  <m:t>𝑐</m:t>
                                </m:r>
                              </m:sub>
                            </m:sSub>
                            <m:r>
                              <a:rPr lang="en-US" sz="2000" b="0" i="1" smtClean="0">
                                <a:solidFill>
                                  <a:srgbClr val="000000"/>
                                </a:solidFill>
                                <a:latin typeface="Cambria Math" panose="02040503050406030204" pitchFamily="18" charset="0"/>
                                <a:ea typeface="Cambria Math" panose="02040503050406030204" pitchFamily="18" charset="0"/>
                                <a:sym typeface="Calibri"/>
                              </a:rPr>
                              <m:t>𝑡</m:t>
                            </m:r>
                            <m:r>
                              <a:rPr lang="en-US" sz="2000"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𝜃</m:t>
                                </m:r>
                              </m:e>
                              <m:sub>
                                <m:r>
                                  <a:rPr lang="en-US" sz="2000" b="0" i="1" smtClean="0">
                                    <a:solidFill>
                                      <a:srgbClr val="000000"/>
                                    </a:solidFill>
                                    <a:latin typeface="Cambria Math" panose="02040503050406030204" pitchFamily="18" charset="0"/>
                                    <a:ea typeface="Cambria Math" panose="02040503050406030204" pitchFamily="18" charset="0"/>
                                    <a:sym typeface="Calibri"/>
                                  </a:rPr>
                                  <m:t>1</m:t>
                                </m:r>
                              </m:sub>
                            </m:sSub>
                          </m:e>
                        </m:d>
                      </m:e>
                    </m:func>
                    <m:r>
                      <a:rPr lang="en-US" sz="2000"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𝐴</m:t>
                        </m:r>
                      </m:e>
                      <m:sub>
                        <m:r>
                          <a:rPr lang="en-US" sz="2000" b="0" i="1" smtClean="0">
                            <a:solidFill>
                              <a:srgbClr val="000000"/>
                            </a:solidFill>
                            <a:latin typeface="Cambria Math" panose="02040503050406030204" pitchFamily="18" charset="0"/>
                            <a:ea typeface="Cambria Math" panose="02040503050406030204" pitchFamily="18" charset="0"/>
                            <a:sym typeface="Calibri"/>
                          </a:rPr>
                          <m:t>𝑝</m:t>
                        </m:r>
                      </m:sub>
                    </m:sSub>
                    <m:r>
                      <a:rPr lang="en-US" sz="2000" b="0" i="1" smtClean="0">
                        <a:solidFill>
                          <a:srgbClr val="000000"/>
                        </a:solidFill>
                        <a:latin typeface="Cambria Math" panose="02040503050406030204" pitchFamily="18" charset="0"/>
                        <a:ea typeface="Cambria Math" panose="02040503050406030204" pitchFamily="18" charset="0"/>
                        <a:sym typeface="Calibri"/>
                      </a:rPr>
                      <m:t>𝑃</m:t>
                    </m:r>
                    <m:d>
                      <m:dPr>
                        <m:ctrlPr>
                          <a:rPr lang="en-US" sz="2000" i="1">
                            <a:solidFill>
                              <a:srgbClr val="000000"/>
                            </a:solidFill>
                            <a:latin typeface="Cambria Math" panose="02040503050406030204" pitchFamily="18" charset="0"/>
                            <a:ea typeface="Cambria Math" panose="02040503050406030204" pitchFamily="18" charset="0"/>
                            <a:sym typeface="Calibri"/>
                          </a:rPr>
                        </m:ctrlPr>
                      </m:dPr>
                      <m:e>
                        <m:r>
                          <a:rPr lang="en-US" sz="2000" i="1">
                            <a:solidFill>
                              <a:srgbClr val="000000"/>
                            </a:solidFill>
                            <a:latin typeface="Cambria Math" panose="02040503050406030204" pitchFamily="18" charset="0"/>
                            <a:ea typeface="Cambria Math" panose="02040503050406030204" pitchFamily="18" charset="0"/>
                            <a:sym typeface="Calibri"/>
                          </a:rPr>
                          <m:t>𝑡</m:t>
                        </m:r>
                      </m:e>
                    </m:d>
                    <m:r>
                      <a:rPr lang="en-US" sz="2000" i="1">
                        <a:solidFill>
                          <a:srgbClr val="000000"/>
                        </a:solidFill>
                        <a:latin typeface="Cambria Math" panose="02040503050406030204" pitchFamily="18" charset="0"/>
                        <a:ea typeface="Cambria Math" panose="02040503050406030204" pitchFamily="18" charset="0"/>
                        <a:sym typeface="Calibri"/>
                      </a:rPr>
                      <m:t>𝐷</m:t>
                    </m:r>
                    <m:d>
                      <m:dPr>
                        <m:ctrlPr>
                          <a:rPr lang="en-US" sz="2000" i="1">
                            <a:solidFill>
                              <a:srgbClr val="000000"/>
                            </a:solidFill>
                            <a:latin typeface="Cambria Math" panose="02040503050406030204" pitchFamily="18" charset="0"/>
                            <a:ea typeface="Cambria Math" panose="02040503050406030204" pitchFamily="18" charset="0"/>
                            <a:sym typeface="Calibri"/>
                          </a:rPr>
                        </m:ctrlPr>
                      </m:dPr>
                      <m:e>
                        <m:r>
                          <a:rPr lang="en-US" sz="2000" i="1">
                            <a:solidFill>
                              <a:srgbClr val="000000"/>
                            </a:solidFill>
                            <a:latin typeface="Cambria Math" panose="02040503050406030204" pitchFamily="18" charset="0"/>
                            <a:ea typeface="Cambria Math" panose="02040503050406030204" pitchFamily="18" charset="0"/>
                            <a:sym typeface="Calibri"/>
                          </a:rPr>
                          <m:t>𝑡</m:t>
                        </m:r>
                      </m:e>
                    </m:d>
                    <m:func>
                      <m:funcPr>
                        <m:ctrlPr>
                          <a:rPr lang="en-US" sz="2000" b="0" i="0" smtClean="0">
                            <a:solidFill>
                              <a:srgbClr val="000000"/>
                            </a:solidFill>
                            <a:latin typeface="Cambria Math" panose="02040503050406030204" pitchFamily="18" charset="0"/>
                            <a:ea typeface="Cambria Math" panose="02040503050406030204" pitchFamily="18" charset="0"/>
                            <a:sym typeface="Calibri"/>
                          </a:rPr>
                        </m:ctrlPr>
                      </m:funcPr>
                      <m:fName>
                        <m:r>
                          <m:rPr>
                            <m:sty m:val="p"/>
                          </m:rPr>
                          <a:rPr lang="en-US" sz="2000" b="0" i="0" smtClean="0">
                            <a:solidFill>
                              <a:srgbClr val="000000"/>
                            </a:solidFill>
                            <a:latin typeface="Cambria Math" panose="02040503050406030204" pitchFamily="18" charset="0"/>
                            <a:ea typeface="Cambria Math" panose="02040503050406030204" pitchFamily="18" charset="0"/>
                            <a:sym typeface="Calibri"/>
                          </a:rPr>
                          <m:t>sin</m:t>
                        </m:r>
                      </m:fName>
                      <m:e>
                        <m:d>
                          <m:dPr>
                            <m:ctrlPr>
                              <a:rPr lang="en-US" sz="2000" i="1">
                                <a:solidFill>
                                  <a:srgbClr val="000000"/>
                                </a:solidFill>
                                <a:latin typeface="Cambria Math" panose="02040503050406030204" pitchFamily="18" charset="0"/>
                                <a:ea typeface="Cambria Math" panose="02040503050406030204" pitchFamily="18" charset="0"/>
                                <a:sym typeface="Calibri"/>
                              </a:rPr>
                            </m:ctrlPr>
                          </m:dPr>
                          <m:e>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𝜔</m:t>
                                </m:r>
                              </m:e>
                              <m:sub>
                                <m:r>
                                  <a:rPr lang="en-US" sz="2000" i="1">
                                    <a:solidFill>
                                      <a:srgbClr val="000000"/>
                                    </a:solidFill>
                                    <a:latin typeface="Cambria Math" panose="02040503050406030204" pitchFamily="18" charset="0"/>
                                    <a:ea typeface="Cambria Math" panose="02040503050406030204" pitchFamily="18" charset="0"/>
                                    <a:sym typeface="Calibri"/>
                                  </a:rPr>
                                  <m:t>𝑐</m:t>
                                </m:r>
                              </m:sub>
                            </m:sSub>
                            <m:r>
                              <a:rPr lang="en-US" sz="2000" i="1">
                                <a:solidFill>
                                  <a:srgbClr val="000000"/>
                                </a:solidFill>
                                <a:latin typeface="Cambria Math" panose="02040503050406030204" pitchFamily="18" charset="0"/>
                                <a:ea typeface="Cambria Math" panose="02040503050406030204" pitchFamily="18" charset="0"/>
                                <a:sym typeface="Calibri"/>
                              </a:rPr>
                              <m:t>𝑡</m:t>
                            </m:r>
                            <m:r>
                              <a:rPr lang="en-US" sz="2000" i="1">
                                <a:solidFill>
                                  <a:srgbClr val="000000"/>
                                </a:solidFill>
                                <a:latin typeface="Cambria Math" panose="02040503050406030204" pitchFamily="18" charset="0"/>
                                <a:ea typeface="Cambria Math" panose="02040503050406030204" pitchFamily="18" charset="0"/>
                                <a:sym typeface="Calibri"/>
                              </a:rPr>
                              <m:t>+</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𝜃</m:t>
                                </m:r>
                              </m:e>
                              <m:sub>
                                <m:r>
                                  <a:rPr lang="en-US" sz="2000" b="0" i="1" smtClean="0">
                                    <a:solidFill>
                                      <a:srgbClr val="000000"/>
                                    </a:solidFill>
                                    <a:latin typeface="Cambria Math" panose="02040503050406030204" pitchFamily="18" charset="0"/>
                                    <a:ea typeface="Cambria Math" panose="02040503050406030204" pitchFamily="18" charset="0"/>
                                    <a:sym typeface="Calibri"/>
                                  </a:rPr>
                                  <m:t>2</m:t>
                                </m:r>
                              </m:sub>
                            </m:sSub>
                          </m:e>
                        </m:d>
                      </m:e>
                    </m:func>
                  </m:oMath>
                </a14:m>
                <a:endParaRPr lang="en-US" sz="2000" dirty="0">
                  <a:solidFill>
                    <a:srgbClr val="000000"/>
                  </a:solidFill>
                  <a:ea typeface="Cambria Math" panose="02040503050406030204" pitchFamily="18" charset="0"/>
                  <a:sym typeface="Calibri"/>
                </a:endParaRPr>
              </a:p>
              <a:p>
                <a:pPr marL="1257300" lvl="2" indent="-342900" defTabSz="457200" hangingPunct="0">
                  <a:buFont typeface="Arial" panose="020B0604020202020204" pitchFamily="34" charset="0"/>
                  <a:buChar char="•"/>
                </a:pP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sym typeface="Calibri"/>
                      </a:rPr>
                      <m:t>𝐶</m:t>
                    </m:r>
                    <m:d>
                      <m:dPr>
                        <m:ctrlPr>
                          <a:rPr lang="en-US" sz="2000" i="1">
                            <a:solidFill>
                              <a:srgbClr val="000000"/>
                            </a:solidFill>
                            <a:latin typeface="Cambria Math" panose="02040503050406030204" pitchFamily="18" charset="0"/>
                            <a:ea typeface="Cambria Math" panose="02040503050406030204" pitchFamily="18" charset="0"/>
                            <a:sym typeface="Calibri"/>
                          </a:rPr>
                        </m:ctrlPr>
                      </m:dPr>
                      <m:e>
                        <m:r>
                          <a:rPr lang="en-US" sz="2000" i="1">
                            <a:solidFill>
                              <a:srgbClr val="000000"/>
                            </a:solidFill>
                            <a:latin typeface="Cambria Math" panose="02040503050406030204" pitchFamily="18" charset="0"/>
                            <a:ea typeface="Cambria Math" panose="02040503050406030204" pitchFamily="18" charset="0"/>
                            <a:sym typeface="Calibri"/>
                          </a:rPr>
                          <m:t>𝑡</m:t>
                        </m:r>
                      </m:e>
                    </m:d>
                  </m:oMath>
                </a14:m>
                <a:r>
                  <a:rPr lang="en-US" sz="2000" dirty="0">
                    <a:solidFill>
                      <a:srgbClr val="000000"/>
                    </a:solidFill>
                    <a:ea typeface="Cambria Math" panose="02040503050406030204" pitchFamily="18" charset="0"/>
                    <a:sym typeface="Calibri"/>
                  </a:rPr>
                  <a:t> - coarse ranging code</a:t>
                </a:r>
              </a:p>
              <a:p>
                <a:pPr marL="1257300" lvl="2" indent="-342900" defTabSz="457200" hangingPunct="0">
                  <a:buFont typeface="Arial" panose="020B0604020202020204" pitchFamily="34" charset="0"/>
                  <a:buChar char="•"/>
                </a:pP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sym typeface="Calibri"/>
                      </a:rPr>
                      <m:t>𝐷</m:t>
                    </m:r>
                    <m:d>
                      <m:dPr>
                        <m:ctrlPr>
                          <a:rPr lang="en-US" sz="2000" i="1">
                            <a:solidFill>
                              <a:srgbClr val="000000"/>
                            </a:solidFill>
                            <a:latin typeface="Cambria Math" panose="02040503050406030204" pitchFamily="18" charset="0"/>
                            <a:ea typeface="Cambria Math" panose="02040503050406030204" pitchFamily="18" charset="0"/>
                            <a:sym typeface="Calibri"/>
                          </a:rPr>
                        </m:ctrlPr>
                      </m:dPr>
                      <m:e>
                        <m:r>
                          <a:rPr lang="en-US" sz="2000" i="1">
                            <a:solidFill>
                              <a:srgbClr val="000000"/>
                            </a:solidFill>
                            <a:latin typeface="Cambria Math" panose="02040503050406030204" pitchFamily="18" charset="0"/>
                            <a:ea typeface="Cambria Math" panose="02040503050406030204" pitchFamily="18" charset="0"/>
                            <a:sym typeface="Calibri"/>
                          </a:rPr>
                          <m:t>𝑡</m:t>
                        </m:r>
                      </m:e>
                    </m:d>
                  </m:oMath>
                </a14:m>
                <a:r>
                  <a:rPr lang="en-US" sz="2000" dirty="0">
                    <a:solidFill>
                      <a:srgbClr val="000000"/>
                    </a:solidFill>
                    <a:ea typeface="Cambria Math" panose="02040503050406030204" pitchFamily="18" charset="0"/>
                    <a:sym typeface="Calibri"/>
                  </a:rPr>
                  <a:t> - navigation signal </a:t>
                </a:r>
                <a:r>
                  <a:rPr lang="en-US" dirty="0"/>
                  <a:t>consists of (clock, ephemeris, almanac corrections) 37,500 bits.  50 bps transmission.</a:t>
                </a:r>
                <a:endParaRPr lang="en-US" sz="2000" dirty="0">
                  <a:solidFill>
                    <a:srgbClr val="000000"/>
                  </a:solidFill>
                  <a:ea typeface="Cambria Math" panose="02040503050406030204" pitchFamily="18" charset="0"/>
                  <a:sym typeface="Calibri"/>
                </a:endParaRPr>
              </a:p>
              <a:p>
                <a:pPr marL="1257300" lvl="2" indent="-342900" defTabSz="457200" hangingPunct="0">
                  <a:buFont typeface="Arial" panose="020B0604020202020204" pitchFamily="34" charset="0"/>
                  <a:buChar char="•"/>
                </a:pP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sym typeface="Calibri"/>
                      </a:rPr>
                      <m:t>𝑃</m:t>
                    </m:r>
                    <m:d>
                      <m:dPr>
                        <m:ctrlPr>
                          <a:rPr lang="en-US" sz="2000" i="1">
                            <a:solidFill>
                              <a:srgbClr val="000000"/>
                            </a:solidFill>
                            <a:latin typeface="Cambria Math" panose="02040503050406030204" pitchFamily="18" charset="0"/>
                            <a:ea typeface="Cambria Math" panose="02040503050406030204" pitchFamily="18" charset="0"/>
                            <a:sym typeface="Calibri"/>
                          </a:rPr>
                        </m:ctrlPr>
                      </m:dPr>
                      <m:e>
                        <m:r>
                          <a:rPr lang="en-US" sz="2000" i="1">
                            <a:solidFill>
                              <a:srgbClr val="000000"/>
                            </a:solidFill>
                            <a:latin typeface="Cambria Math" panose="02040503050406030204" pitchFamily="18" charset="0"/>
                            <a:ea typeface="Cambria Math" panose="02040503050406030204" pitchFamily="18" charset="0"/>
                            <a:sym typeface="Calibri"/>
                          </a:rPr>
                          <m:t>𝑡</m:t>
                        </m:r>
                      </m:e>
                    </m:d>
                  </m:oMath>
                </a14:m>
                <a:r>
                  <a:rPr lang="en-US" sz="2000" dirty="0">
                    <a:solidFill>
                      <a:srgbClr val="000000"/>
                    </a:solidFill>
                    <a:ea typeface="Cambria Math" panose="02040503050406030204" pitchFamily="18" charset="0"/>
                    <a:sym typeface="Calibri"/>
                  </a:rPr>
                  <a:t> - precision ranging (Y is encrypted)</a:t>
                </a:r>
              </a:p>
              <a:p>
                <a:pPr defTabSz="457200" latinLnBrk="1" hangingPunct="0"/>
                <a:r>
                  <a:rPr lang="en-US" sz="2000" b="1" dirty="0">
                    <a:solidFill>
                      <a:srgbClr val="000000"/>
                    </a:solidFill>
                    <a:latin typeface="Calibri"/>
                    <a:ea typeface="Cambria Math" panose="02040503050406030204" pitchFamily="18" charset="0"/>
                    <a:sym typeface="Calibri"/>
                  </a:rPr>
                  <a:t>* </a:t>
                </a:r>
                <a:r>
                  <a:rPr lang="en-US" sz="2000" dirty="0">
                    <a:solidFill>
                      <a:srgbClr val="000000"/>
                    </a:solidFill>
                    <a:latin typeface="Calibri"/>
                    <a:ea typeface="Cambria Math" panose="02040503050406030204" pitchFamily="18" charset="0"/>
                    <a:sym typeface="Calibri"/>
                  </a:rPr>
                  <a:t>This is total transmitter power, 22 W devoted to ranging code.  Newer satellites have higher power and can surge power </a:t>
                </a:r>
                <a:endParaRPr lang="en-US" sz="2000" b="1" dirty="0">
                  <a:solidFill>
                    <a:srgbClr val="000000"/>
                  </a:solidFill>
                  <a:latin typeface="Calibri"/>
                  <a:ea typeface="Cambria Math" panose="02040503050406030204" pitchFamily="18" charset="0"/>
                  <a:sym typeface="Calibri"/>
                </a:endParaRPr>
              </a:p>
            </p:txBody>
          </p:sp>
        </mc:Choice>
        <mc:Fallback xmlns="">
          <p:sp>
            <p:nvSpPr>
              <p:cNvPr id="15" name="TextBox 14">
                <a:extLst>
                  <a:ext uri="{FF2B5EF4-FFF2-40B4-BE49-F238E27FC236}">
                    <a16:creationId xmlns:a16="http://schemas.microsoft.com/office/drawing/2014/main" id="{34EE796B-9DCB-DE41-AEA4-31CBF97794EF}"/>
                  </a:ext>
                </a:extLst>
              </p:cNvPr>
              <p:cNvSpPr txBox="1">
                <a:spLocks noRot="1" noChangeAspect="1" noMove="1" noResize="1" noEditPoints="1" noAdjustHandles="1" noChangeArrowheads="1" noChangeShapeType="1" noTextEdit="1"/>
              </p:cNvSpPr>
              <p:nvPr/>
            </p:nvSpPr>
            <p:spPr>
              <a:xfrm>
                <a:off x="424069" y="1204689"/>
                <a:ext cx="11343862" cy="5198945"/>
              </a:xfrm>
              <a:prstGeom prst="rect">
                <a:avLst/>
              </a:prstGeom>
              <a:blipFill>
                <a:blip r:embed="rId3"/>
                <a:stretch>
                  <a:fillRect l="-1007" t="-732" r="-895" b="-3171"/>
                </a:stretch>
              </a:blipFill>
              <a:ln w="12700" cap="flat">
                <a:noFill/>
                <a:miter lim="400000"/>
              </a:ln>
              <a:effectLst/>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938784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74</a:t>
            </a:fld>
            <a:endParaRPr lang="en-US" dirty="0">
              <a:solidFill>
                <a:schemeClr val="tx1"/>
              </a:solidFill>
            </a:endParaRPr>
          </a:p>
        </p:txBody>
      </p:sp>
    </p:spTree>
    <p:extLst>
      <p:ext uri="{BB962C8B-B14F-4D97-AF65-F5344CB8AC3E}">
        <p14:creationId xmlns:p14="http://schemas.microsoft.com/office/powerpoint/2010/main" val="172662763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208178" y="252020"/>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Some data and rough calculations</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4EE796B-9DCB-DE41-AEA4-31CBF97794EF}"/>
                  </a:ext>
                </a:extLst>
              </p:cNvPr>
              <p:cNvSpPr txBox="1"/>
              <p:nvPr/>
            </p:nvSpPr>
            <p:spPr>
              <a:xfrm>
                <a:off x="608968" y="1747547"/>
                <a:ext cx="10042010" cy="408899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342900" indent="-342900" defTabSz="457200" hangingPunct="0">
                  <a:buFont typeface="Arial" panose="020B0604020202020204" pitchFamily="34" charset="0"/>
                  <a:buChar char="•"/>
                </a:pPr>
                <a14:m>
                  <m:oMath xmlns:m="http://schemas.openxmlformats.org/officeDocument/2006/math">
                    <m:r>
                      <m:rPr>
                        <m:sty m:val="p"/>
                      </m:rPr>
                      <a:rPr lang="en-US" sz="2000" b="0" i="0" smtClean="0">
                        <a:solidFill>
                          <a:srgbClr val="000000"/>
                        </a:solidFill>
                        <a:latin typeface="Cambria Math" panose="02040503050406030204" pitchFamily="18" charset="0"/>
                        <a:ea typeface="Cambria Math" panose="02040503050406030204" pitchFamily="18" charset="0"/>
                        <a:sym typeface="Calibri"/>
                      </a:rPr>
                      <m:t>N</m:t>
                    </m:r>
                    <m:r>
                      <a:rPr lang="en-US" sz="2000" b="0" i="0" smtClean="0">
                        <a:solidFill>
                          <a:srgbClr val="000000"/>
                        </a:solidFill>
                        <a:latin typeface="Cambria Math" panose="02040503050406030204" pitchFamily="18" charset="0"/>
                        <a:ea typeface="Cambria Math" panose="02040503050406030204" pitchFamily="18" charset="0"/>
                        <a:sym typeface="Calibri"/>
                      </a:rPr>
                      <m:t>=</m:t>
                    </m:r>
                    <m:r>
                      <m:rPr>
                        <m:sty m:val="p"/>
                      </m:rPr>
                      <a:rPr lang="en-US" sz="2000" b="0" i="0" smtClean="0">
                        <a:solidFill>
                          <a:srgbClr val="000000"/>
                        </a:solidFill>
                        <a:latin typeface="Cambria Math" panose="02040503050406030204" pitchFamily="18" charset="0"/>
                        <a:ea typeface="Cambria Math" panose="02040503050406030204" pitchFamily="18" charset="0"/>
                        <a:sym typeface="Calibri"/>
                      </a:rPr>
                      <m:t>kTB</m:t>
                    </m:r>
                    <m:r>
                      <a:rPr lang="en-US" sz="2000" b="0" i="0" smtClean="0">
                        <a:solidFill>
                          <a:srgbClr val="000000"/>
                        </a:solidFill>
                        <a:latin typeface="Cambria Math" panose="02040503050406030204" pitchFamily="18" charset="0"/>
                        <a:ea typeface="Cambria Math" panose="02040503050406030204" pitchFamily="18" charset="0"/>
                        <a:sym typeface="Calibri"/>
                      </a:rPr>
                      <m:t>, </m:t>
                    </m:r>
                    <m:r>
                      <m:rPr>
                        <m:sty m:val="p"/>
                      </m:rPr>
                      <a:rPr lang="en-US" sz="2000" b="0" i="0" smtClean="0">
                        <a:solidFill>
                          <a:srgbClr val="000000"/>
                        </a:solidFill>
                        <a:latin typeface="Cambria Math" panose="02040503050406030204" pitchFamily="18" charset="0"/>
                        <a:ea typeface="Cambria Math" panose="02040503050406030204" pitchFamily="18" charset="0"/>
                        <a:sym typeface="Calibri"/>
                      </a:rPr>
                      <m:t>k</m:t>
                    </m:r>
                    <m:r>
                      <a:rPr lang="en-US" sz="2000" b="0" i="0" smtClean="0">
                        <a:solidFill>
                          <a:srgbClr val="000000"/>
                        </a:solidFill>
                        <a:latin typeface="Cambria Math" panose="02040503050406030204" pitchFamily="18" charset="0"/>
                        <a:ea typeface="Cambria Math" panose="02040503050406030204" pitchFamily="18" charset="0"/>
                        <a:sym typeface="Calibri"/>
                      </a:rPr>
                      <m:t>=1.38×</m:t>
                    </m:r>
                    <m:sSup>
                      <m:sSup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pPr>
                      <m:e>
                        <m:r>
                          <a:rPr lang="en-US" sz="2000" b="0" i="1" smtClean="0">
                            <a:solidFill>
                              <a:srgbClr val="000000"/>
                            </a:solidFill>
                            <a:latin typeface="Cambria Math" panose="02040503050406030204" pitchFamily="18" charset="0"/>
                            <a:ea typeface="Cambria Math" panose="02040503050406030204" pitchFamily="18" charset="0"/>
                            <a:sym typeface="Calibri"/>
                          </a:rPr>
                          <m:t>10</m:t>
                        </m:r>
                      </m:e>
                      <m:sup>
                        <m:r>
                          <a:rPr lang="en-US" sz="2000" b="0" i="1" smtClean="0">
                            <a:solidFill>
                              <a:srgbClr val="000000"/>
                            </a:solidFill>
                            <a:latin typeface="Cambria Math" panose="02040503050406030204" pitchFamily="18" charset="0"/>
                            <a:ea typeface="Cambria Math" panose="02040503050406030204" pitchFamily="18" charset="0"/>
                            <a:sym typeface="Calibri"/>
                          </a:rPr>
                          <m:t>−23</m:t>
                        </m:r>
                      </m:sup>
                    </m:sSup>
                    <m:r>
                      <a:rPr lang="en-US" sz="2000" b="0" i="1" smtClean="0">
                        <a:solidFill>
                          <a:srgbClr val="000000"/>
                        </a:solidFill>
                        <a:latin typeface="Cambria Math" panose="02040503050406030204" pitchFamily="18" charset="0"/>
                        <a:ea typeface="Cambria Math" panose="02040503050406030204" pitchFamily="18" charset="0"/>
                        <a:sym typeface="Calibri"/>
                      </a:rPr>
                      <m:t> </m:t>
                    </m:r>
                    <m:r>
                      <a:rPr lang="en-US" sz="2000" b="0" i="1" smtClean="0">
                        <a:solidFill>
                          <a:srgbClr val="000000"/>
                        </a:solidFill>
                        <a:latin typeface="Cambria Math" panose="02040503050406030204" pitchFamily="18" charset="0"/>
                        <a:ea typeface="Cambria Math" panose="02040503050406030204" pitchFamily="18" charset="0"/>
                        <a:sym typeface="Calibri"/>
                      </a:rPr>
                      <m:t>𝐽</m:t>
                    </m:r>
                    <m:r>
                      <a:rPr lang="en-US" sz="2000" b="0" i="1" smtClean="0">
                        <a:solidFill>
                          <a:srgbClr val="000000"/>
                        </a:solidFill>
                        <a:latin typeface="Cambria Math" panose="02040503050406030204" pitchFamily="18" charset="0"/>
                        <a:ea typeface="Cambria Math" panose="02040503050406030204" pitchFamily="18" charset="0"/>
                        <a:sym typeface="Calibri"/>
                      </a:rPr>
                      <m:t>/</m:t>
                    </m:r>
                    <m:r>
                      <a:rPr lang="en-US" sz="2000" b="0" i="1" smtClean="0">
                        <a:solidFill>
                          <a:srgbClr val="000000"/>
                        </a:solidFill>
                        <a:latin typeface="Cambria Math" panose="02040503050406030204" pitchFamily="18" charset="0"/>
                        <a:ea typeface="Cambria Math" panose="02040503050406030204" pitchFamily="18" charset="0"/>
                        <a:sym typeface="Calibri"/>
                      </a:rPr>
                      <m:t>𝐾</m:t>
                    </m:r>
                  </m:oMath>
                </a14:m>
                <a:r>
                  <a:rPr lang="en-US" sz="2000" dirty="0">
                    <a:solidFill>
                      <a:srgbClr val="000000"/>
                    </a:solidFill>
                    <a:latin typeface="Calibri"/>
                    <a:ea typeface="Cambria Math" panose="02040503050406030204" pitchFamily="18" charset="0"/>
                    <a:sym typeface="Calibri"/>
                  </a:rPr>
                  <a:t>.  BW: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sym typeface="Calibri"/>
                      </a:rPr>
                      <m:t>2.046</m:t>
                    </m:r>
                    <m:r>
                      <a:rPr lang="en-US" sz="2000" b="0" i="1" smtClean="0">
                        <a:solidFill>
                          <a:srgbClr val="000000"/>
                        </a:solidFill>
                        <a:latin typeface="Cambria Math" panose="02040503050406030204" pitchFamily="18" charset="0"/>
                        <a:ea typeface="Cambria Math" panose="02040503050406030204" pitchFamily="18" charset="0"/>
                        <a:sym typeface="Calibri"/>
                      </a:rPr>
                      <m:t>𝑀𝐻𝑧</m:t>
                    </m:r>
                  </m:oMath>
                </a14:m>
                <a:endParaRPr lang="en-US" sz="2000" b="0" dirty="0">
                  <a:solidFill>
                    <a:srgbClr val="000000"/>
                  </a:solidFill>
                  <a:latin typeface="Calibri"/>
                  <a:ea typeface="Cambria Math" panose="02040503050406030204" pitchFamily="18" charset="0"/>
                  <a:sym typeface="Calibri"/>
                </a:endParaRPr>
              </a:p>
              <a:p>
                <a:pPr marL="342900" indent="-342900" defTabSz="457200" hangingPunct="0">
                  <a:buFont typeface="Arial" panose="020B0604020202020204" pitchFamily="34" charset="0"/>
                  <a:buChar char="•"/>
                </a:pPr>
                <a:r>
                  <a:rPr lang="en-US" sz="2000" dirty="0">
                    <a:solidFill>
                      <a:srgbClr val="000000"/>
                    </a:solidFill>
                    <a:latin typeface="Calibri"/>
                    <a:ea typeface="Cambria Math" panose="02040503050406030204" pitchFamily="18" charset="0"/>
                    <a:sym typeface="Calibri"/>
                  </a:rPr>
                  <a:t>For comparison:  laptop emission noise density is capped at </a:t>
                </a:r>
                <a14:m>
                  <m:oMath xmlns:m="http://schemas.openxmlformats.org/officeDocument/2006/math">
                    <m:sSup>
                      <m:sSup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pPr>
                      <m:e>
                        <m:r>
                          <a:rPr lang="en-US" sz="2000" b="0" i="1" smtClean="0">
                            <a:solidFill>
                              <a:srgbClr val="000000"/>
                            </a:solidFill>
                            <a:latin typeface="Cambria Math" panose="02040503050406030204" pitchFamily="18" charset="0"/>
                            <a:ea typeface="Cambria Math" panose="02040503050406030204" pitchFamily="18" charset="0"/>
                            <a:sym typeface="Calibri"/>
                          </a:rPr>
                          <m:t>10</m:t>
                        </m:r>
                      </m:e>
                      <m:sup>
                        <m:r>
                          <a:rPr lang="en-US" sz="2000" b="0" i="1" smtClean="0">
                            <a:solidFill>
                              <a:srgbClr val="000000"/>
                            </a:solidFill>
                            <a:latin typeface="Cambria Math" panose="02040503050406030204" pitchFamily="18" charset="0"/>
                            <a:ea typeface="Cambria Math" panose="02040503050406030204" pitchFamily="18" charset="0"/>
                            <a:sym typeface="Calibri"/>
                          </a:rPr>
                          <m:t>−7</m:t>
                        </m:r>
                      </m:sup>
                    </m:sSup>
                    <m:f>
                      <m:fPr>
                        <m:ctrlPr>
                          <a:rPr lang="en-US" sz="2000" b="0" i="1" smtClean="0">
                            <a:solidFill>
                              <a:srgbClr val="000000"/>
                            </a:solidFill>
                            <a:latin typeface="Cambria Math" panose="02040503050406030204" pitchFamily="18" charset="0"/>
                            <a:ea typeface="Cambria Math" panose="02040503050406030204" pitchFamily="18" charset="0"/>
                            <a:sym typeface="Calibri"/>
                          </a:rPr>
                        </m:ctrlPr>
                      </m:fPr>
                      <m:num>
                        <m:r>
                          <a:rPr lang="en-US" sz="2000" b="0" i="1" smtClean="0">
                            <a:solidFill>
                              <a:srgbClr val="000000"/>
                            </a:solidFill>
                            <a:latin typeface="Cambria Math" panose="02040503050406030204" pitchFamily="18" charset="0"/>
                            <a:ea typeface="Cambria Math" panose="02040503050406030204" pitchFamily="18" charset="0"/>
                            <a:sym typeface="Calibri"/>
                          </a:rPr>
                          <m:t>𝑊</m:t>
                        </m:r>
                      </m:num>
                      <m:den>
                        <m:r>
                          <a:rPr lang="en-US" sz="2000" b="0" i="1" smtClean="0">
                            <a:solidFill>
                              <a:srgbClr val="000000"/>
                            </a:solidFill>
                            <a:latin typeface="Cambria Math" panose="02040503050406030204" pitchFamily="18" charset="0"/>
                            <a:ea typeface="Cambria Math" panose="02040503050406030204" pitchFamily="18" charset="0"/>
                            <a:sym typeface="Calibri"/>
                          </a:rPr>
                          <m:t>𝑀𝐻𝑧</m:t>
                        </m:r>
                      </m:den>
                    </m:f>
                  </m:oMath>
                </a14:m>
                <a:endParaRPr lang="en-US" sz="2000" b="0" dirty="0">
                  <a:solidFill>
                    <a:srgbClr val="000000"/>
                  </a:solidFill>
                  <a:latin typeface="Calibri"/>
                  <a:ea typeface="Cambria Math" panose="02040503050406030204" pitchFamily="18" charset="0"/>
                  <a:sym typeface="Calibri"/>
                </a:endParaRPr>
              </a:p>
              <a:p>
                <a:pPr marL="342900" indent="-342900" defTabSz="457200" hangingPunct="0">
                  <a:buFont typeface="Arial" panose="020B0604020202020204" pitchFamily="34" charset="0"/>
                  <a:buChar char="•"/>
                </a:pPr>
                <a:r>
                  <a:rPr lang="en-US" sz="2000" dirty="0">
                    <a:solidFill>
                      <a:srgbClr val="000000"/>
                    </a:solidFill>
                    <a:latin typeface="Calibri"/>
                    <a:ea typeface="Cambria Math" panose="02040503050406030204" pitchFamily="18" charset="0"/>
                    <a:sym typeface="Calibri"/>
                  </a:rPr>
                  <a:t>Noise:</a:t>
                </a:r>
                <a14:m>
                  <m:oMath xmlns:m="http://schemas.openxmlformats.org/officeDocument/2006/math">
                    <m:r>
                      <a:rPr lang="en-US" sz="2000" b="0" i="0" smtClean="0">
                        <a:solidFill>
                          <a:srgbClr val="000000"/>
                        </a:solidFill>
                        <a:latin typeface="Cambria Math" panose="02040503050406030204" pitchFamily="18" charset="0"/>
                        <a:ea typeface="Cambria Math" panose="02040503050406030204" pitchFamily="18" charset="0"/>
                        <a:sym typeface="Calibri"/>
                      </a:rPr>
                      <m:t> </m:t>
                    </m:r>
                    <m:r>
                      <a:rPr lang="en-US" sz="2000">
                        <a:solidFill>
                          <a:srgbClr val="000000"/>
                        </a:solidFill>
                        <a:latin typeface="Cambria Math" panose="02040503050406030204" pitchFamily="18" charset="0"/>
                        <a:ea typeface="Cambria Math" panose="02040503050406030204" pitchFamily="18" charset="0"/>
                        <a:sym typeface="Calibri"/>
                      </a:rPr>
                      <m:t>1.38</m:t>
                    </m:r>
                    <m:r>
                      <a:rPr lang="en-US" sz="2000" i="1">
                        <a:solidFill>
                          <a:srgbClr val="000000"/>
                        </a:solidFill>
                        <a:latin typeface="Cambria Math" panose="02040503050406030204" pitchFamily="18" charset="0"/>
                        <a:ea typeface="Cambria Math" panose="02040503050406030204" pitchFamily="18" charset="0"/>
                        <a:sym typeface="Calibri"/>
                      </a:rPr>
                      <m:t>×</m:t>
                    </m:r>
                    <m:sSup>
                      <m:sSupPr>
                        <m:ctrlPr>
                          <a:rPr lang="en-US" sz="2000" i="1">
                            <a:solidFill>
                              <a:srgbClr val="000000"/>
                            </a:solidFill>
                            <a:latin typeface="Cambria Math" panose="02040503050406030204" pitchFamily="18" charset="0"/>
                            <a:ea typeface="Cambria Math" panose="02040503050406030204" pitchFamily="18" charset="0"/>
                            <a:sym typeface="Calibri"/>
                          </a:rPr>
                        </m:ctrlPr>
                      </m:sSupPr>
                      <m:e>
                        <m:r>
                          <a:rPr lang="en-US" sz="2000" i="1">
                            <a:solidFill>
                              <a:srgbClr val="000000"/>
                            </a:solidFill>
                            <a:latin typeface="Cambria Math" panose="02040503050406030204" pitchFamily="18" charset="0"/>
                            <a:ea typeface="Cambria Math" panose="02040503050406030204" pitchFamily="18" charset="0"/>
                            <a:sym typeface="Calibri"/>
                          </a:rPr>
                          <m:t>10</m:t>
                        </m:r>
                      </m:e>
                      <m:sup>
                        <m:r>
                          <a:rPr lang="en-US" sz="2000" i="1">
                            <a:solidFill>
                              <a:srgbClr val="000000"/>
                            </a:solidFill>
                            <a:latin typeface="Cambria Math" panose="02040503050406030204" pitchFamily="18" charset="0"/>
                            <a:ea typeface="Cambria Math" panose="02040503050406030204" pitchFamily="18" charset="0"/>
                            <a:sym typeface="Calibri"/>
                          </a:rPr>
                          <m:t>−23</m:t>
                        </m:r>
                      </m:sup>
                    </m:sSup>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r>
                          <a:rPr lang="en-US" sz="2000" i="1">
                            <a:solidFill>
                              <a:srgbClr val="000000"/>
                            </a:solidFill>
                            <a:latin typeface="Cambria Math" panose="02040503050406030204" pitchFamily="18" charset="0"/>
                            <a:ea typeface="Cambria Math" panose="02040503050406030204" pitchFamily="18" charset="0"/>
                            <a:sym typeface="Calibri"/>
                          </a:rPr>
                          <m:t>𝐽</m:t>
                        </m:r>
                      </m:num>
                      <m:den>
                        <m:r>
                          <a:rPr lang="en-US" sz="2000" i="1">
                            <a:solidFill>
                              <a:srgbClr val="000000"/>
                            </a:solidFill>
                            <a:latin typeface="Cambria Math" panose="02040503050406030204" pitchFamily="18" charset="0"/>
                            <a:ea typeface="Cambria Math" panose="02040503050406030204" pitchFamily="18" charset="0"/>
                            <a:sym typeface="Calibri"/>
                          </a:rPr>
                          <m:t>𝐾</m:t>
                        </m:r>
                      </m:den>
                    </m:f>
                    <m:r>
                      <a:rPr lang="en-US" sz="2000" i="1" smtClean="0">
                        <a:solidFill>
                          <a:srgbClr val="000000"/>
                        </a:solidFill>
                        <a:latin typeface="Cambria Math" panose="02040503050406030204" pitchFamily="18" charset="0"/>
                        <a:ea typeface="Cambria Math" panose="02040503050406030204" pitchFamily="18" charset="0"/>
                        <a:sym typeface="Calibri"/>
                      </a:rPr>
                      <m:t>×</m:t>
                    </m:r>
                    <m:r>
                      <a:rPr lang="en-US" sz="2000" b="0" i="1" smtClean="0">
                        <a:solidFill>
                          <a:srgbClr val="000000"/>
                        </a:solidFill>
                        <a:latin typeface="Cambria Math" panose="02040503050406030204" pitchFamily="18" charset="0"/>
                        <a:ea typeface="Cambria Math" panose="02040503050406030204" pitchFamily="18" charset="0"/>
                        <a:sym typeface="Calibri"/>
                      </a:rPr>
                      <m:t>100×2×</m:t>
                    </m:r>
                    <m:sSup>
                      <m:sSup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pPr>
                      <m:e>
                        <m:r>
                          <a:rPr lang="en-US" sz="2000" b="0" i="1" smtClean="0">
                            <a:solidFill>
                              <a:srgbClr val="000000"/>
                            </a:solidFill>
                            <a:latin typeface="Cambria Math" panose="02040503050406030204" pitchFamily="18" charset="0"/>
                            <a:ea typeface="Cambria Math" panose="02040503050406030204" pitchFamily="18" charset="0"/>
                            <a:sym typeface="Calibri"/>
                          </a:rPr>
                          <m:t>10</m:t>
                        </m:r>
                      </m:e>
                      <m:sup>
                        <m:r>
                          <a:rPr lang="en-US" sz="2000" b="0" i="1" smtClean="0">
                            <a:solidFill>
                              <a:srgbClr val="000000"/>
                            </a:solidFill>
                            <a:latin typeface="Cambria Math" panose="02040503050406030204" pitchFamily="18" charset="0"/>
                            <a:ea typeface="Cambria Math" panose="02040503050406030204" pitchFamily="18" charset="0"/>
                            <a:sym typeface="Calibri"/>
                          </a:rPr>
                          <m:t>6</m:t>
                        </m:r>
                      </m:sup>
                    </m:sSup>
                    <m:r>
                      <a:rPr lang="en-US" sz="2000" b="0" i="1" smtClean="0">
                        <a:solidFill>
                          <a:srgbClr val="000000"/>
                        </a:solidFill>
                        <a:latin typeface="Cambria Math" panose="02040503050406030204" pitchFamily="18" charset="0"/>
                        <a:ea typeface="Cambria Math" panose="02040503050406030204" pitchFamily="18" charset="0"/>
                        <a:sym typeface="Calibri"/>
                      </a:rPr>
                      <m:t>=2.76 ×</m:t>
                    </m:r>
                    <m:sSup>
                      <m:sSup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pPr>
                      <m:e>
                        <m:r>
                          <a:rPr lang="en-US" sz="2000" b="0" i="1" smtClean="0">
                            <a:solidFill>
                              <a:srgbClr val="000000"/>
                            </a:solidFill>
                            <a:latin typeface="Cambria Math" panose="02040503050406030204" pitchFamily="18" charset="0"/>
                            <a:ea typeface="Cambria Math" panose="02040503050406030204" pitchFamily="18" charset="0"/>
                            <a:sym typeface="Calibri"/>
                          </a:rPr>
                          <m:t>10</m:t>
                        </m:r>
                      </m:e>
                      <m:sup>
                        <m:r>
                          <a:rPr lang="en-US" sz="2000" b="0" i="1" smtClean="0">
                            <a:solidFill>
                              <a:srgbClr val="000000"/>
                            </a:solidFill>
                            <a:latin typeface="Cambria Math" panose="02040503050406030204" pitchFamily="18" charset="0"/>
                            <a:ea typeface="Cambria Math" panose="02040503050406030204" pitchFamily="18" charset="0"/>
                            <a:sym typeface="Calibri"/>
                          </a:rPr>
                          <m:t>−15</m:t>
                        </m:r>
                      </m:sup>
                    </m:sSup>
                    <m:r>
                      <a:rPr lang="en-US" sz="2000" b="0" i="1" smtClean="0">
                        <a:solidFill>
                          <a:srgbClr val="000000"/>
                        </a:solidFill>
                        <a:latin typeface="Cambria Math" panose="02040503050406030204" pitchFamily="18" charset="0"/>
                        <a:ea typeface="Cambria Math" panose="02040503050406030204" pitchFamily="18" charset="0"/>
                        <a:sym typeface="Calibri"/>
                      </a:rPr>
                      <m:t>𝑊</m:t>
                    </m:r>
                    <m:r>
                      <a:rPr lang="en-US" sz="2000" b="0" i="0" smtClean="0">
                        <a:solidFill>
                          <a:srgbClr val="000000"/>
                        </a:solidFill>
                        <a:latin typeface="Cambria Math" panose="02040503050406030204" pitchFamily="18" charset="0"/>
                        <a:ea typeface="Cambria Math" panose="02040503050406030204" pitchFamily="18" charset="0"/>
                        <a:sym typeface="Calibri"/>
                      </a:rPr>
                      <m:t>,</m:t>
                    </m:r>
                  </m:oMath>
                </a14:m>
                <a:r>
                  <a:rPr lang="en-US" sz="2000" b="0" dirty="0">
                    <a:solidFill>
                      <a:srgbClr val="000000"/>
                    </a:solidFill>
                    <a:latin typeface="Calibri"/>
                    <a:ea typeface="Cambria Math" panose="02040503050406030204" pitchFamily="18" charset="0"/>
                    <a:sym typeface="Calibri"/>
                  </a:rPr>
                  <a:t> (</a:t>
                </a:r>
                <a14:m>
                  <m:oMath xmlns:m="http://schemas.openxmlformats.org/officeDocument/2006/math">
                    <m:r>
                      <a:rPr lang="en-US" sz="2000" b="0" i="1" dirty="0" smtClean="0">
                        <a:solidFill>
                          <a:srgbClr val="000000"/>
                        </a:solidFill>
                        <a:latin typeface="Cambria Math" panose="02040503050406030204" pitchFamily="18" charset="0"/>
                        <a:ea typeface="Cambria Math" panose="02040503050406030204" pitchFamily="18" charset="0"/>
                        <a:sym typeface="Calibri"/>
                      </a:rPr>
                      <m:t>−145.6 </m:t>
                    </m:r>
                    <m:r>
                      <a:rPr lang="en-US" sz="2000" b="0" i="1" dirty="0" smtClean="0">
                        <a:solidFill>
                          <a:srgbClr val="000000"/>
                        </a:solidFill>
                        <a:latin typeface="Cambria Math" panose="02040503050406030204" pitchFamily="18" charset="0"/>
                        <a:ea typeface="Cambria Math" panose="02040503050406030204" pitchFamily="18" charset="0"/>
                        <a:sym typeface="Calibri"/>
                      </a:rPr>
                      <m:t>𝑑𝐵</m:t>
                    </m:r>
                  </m:oMath>
                </a14:m>
                <a:r>
                  <a:rPr lang="en-US" sz="2000" b="0" dirty="0">
                    <a:solidFill>
                      <a:srgbClr val="000000"/>
                    </a:solidFill>
                    <a:latin typeface="Calibri"/>
                    <a:ea typeface="Cambria Math" panose="02040503050406030204" pitchFamily="18" charset="0"/>
                    <a:sym typeface="Calibri"/>
                  </a:rPr>
                  <a:t>)</a:t>
                </a:r>
              </a:p>
              <a:p>
                <a:pPr marL="342900" indent="-342900" defTabSz="457200" hangingPunct="0">
                  <a:buFont typeface="Arial" panose="020B0604020202020204" pitchFamily="34" charset="0"/>
                  <a:buChar char="•"/>
                </a:pPr>
                <a:r>
                  <a:rPr lang="en-US" sz="2000" dirty="0">
                    <a:solidFill>
                      <a:srgbClr val="000000"/>
                    </a:solidFill>
                    <a:latin typeface="Calibri"/>
                    <a:ea typeface="Cambria Math" panose="02040503050406030204" pitchFamily="18" charset="0"/>
                    <a:sym typeface="Calibri"/>
                  </a:rPr>
                  <a:t>Free space loss (@100K): </a:t>
                </a: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𝑃</m:t>
                        </m:r>
                      </m:e>
                      <m:sub>
                        <m:r>
                          <a:rPr lang="en-US" sz="2000" b="0" i="1" smtClean="0">
                            <a:solidFill>
                              <a:srgbClr val="000000"/>
                            </a:solidFill>
                            <a:latin typeface="Cambria Math" panose="02040503050406030204" pitchFamily="18" charset="0"/>
                            <a:ea typeface="Cambria Math" panose="02040503050406030204" pitchFamily="18" charset="0"/>
                            <a:sym typeface="Calibri"/>
                          </a:rPr>
                          <m:t>𝑟</m:t>
                        </m:r>
                      </m:sub>
                    </m:sSub>
                    <m:r>
                      <a:rPr lang="en-US" sz="2000" b="0" i="1" smtClean="0">
                        <a:solidFill>
                          <a:srgbClr val="000000"/>
                        </a:solidFill>
                        <a:latin typeface="Cambria Math" panose="02040503050406030204" pitchFamily="18" charset="0"/>
                        <a:ea typeface="Cambria Math" panose="02040503050406030204" pitchFamily="18" charset="0"/>
                        <a:sym typeface="Calibri"/>
                      </a:rPr>
                      <m:t>=</m:t>
                    </m:r>
                    <m:f>
                      <m:fPr>
                        <m:ctrlPr>
                          <a:rPr lang="en-US" sz="2000" b="0" i="1" smtClean="0">
                            <a:solidFill>
                              <a:srgbClr val="000000"/>
                            </a:solidFill>
                            <a:latin typeface="Cambria Math" panose="02040503050406030204" pitchFamily="18" charset="0"/>
                            <a:ea typeface="Cambria Math" panose="02040503050406030204" pitchFamily="18" charset="0"/>
                            <a:sym typeface="Calibri"/>
                          </a:rPr>
                        </m:ctrlPr>
                      </m:fPr>
                      <m:num>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𝑃</m:t>
                            </m:r>
                          </m:e>
                          <m:sub>
                            <m:r>
                              <a:rPr lang="en-US" sz="2000" b="0" i="1" smtClean="0">
                                <a:solidFill>
                                  <a:srgbClr val="000000"/>
                                </a:solidFill>
                                <a:latin typeface="Cambria Math" panose="02040503050406030204" pitchFamily="18" charset="0"/>
                                <a:ea typeface="Cambria Math" panose="02040503050406030204" pitchFamily="18" charset="0"/>
                                <a:sym typeface="Calibri"/>
                              </a:rPr>
                              <m:t>𝑡</m:t>
                            </m:r>
                          </m:sub>
                        </m:sSub>
                        <m:r>
                          <a:rPr lang="en-US" sz="2000" b="0" i="1" smtClean="0">
                            <a:solidFill>
                              <a:srgbClr val="000000"/>
                            </a:solidFill>
                            <a:latin typeface="Cambria Math" panose="02040503050406030204" pitchFamily="18" charset="0"/>
                            <a:ea typeface="Cambria Math" panose="02040503050406030204" pitchFamily="18" charset="0"/>
                            <a:sym typeface="Calibri"/>
                          </a:rPr>
                          <m:t>𝐺𝐴</m:t>
                        </m:r>
                      </m:num>
                      <m:den>
                        <m:r>
                          <a:rPr lang="en-US" sz="2000" b="0" i="1" smtClean="0">
                            <a:solidFill>
                              <a:srgbClr val="000000"/>
                            </a:solidFill>
                            <a:latin typeface="Cambria Math" panose="02040503050406030204" pitchFamily="18" charset="0"/>
                            <a:ea typeface="Cambria Math" panose="02040503050406030204" pitchFamily="18" charset="0"/>
                            <a:sym typeface="Calibri"/>
                          </a:rPr>
                          <m:t>4</m:t>
                        </m:r>
                        <m:r>
                          <a:rPr lang="en-US" sz="2000" b="0" i="1" smtClean="0">
                            <a:solidFill>
                              <a:srgbClr val="000000"/>
                            </a:solidFill>
                            <a:latin typeface="Cambria Math" panose="02040503050406030204" pitchFamily="18" charset="0"/>
                            <a:ea typeface="Cambria Math" panose="02040503050406030204" pitchFamily="18" charset="0"/>
                            <a:sym typeface="Calibri"/>
                          </a:rPr>
                          <m:t>𝜋</m:t>
                        </m:r>
                        <m:sSup>
                          <m:sSup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pPr>
                          <m:e>
                            <m:r>
                              <a:rPr lang="en-US" sz="2000" b="0" i="1" smtClean="0">
                                <a:solidFill>
                                  <a:srgbClr val="000000"/>
                                </a:solidFill>
                                <a:latin typeface="Cambria Math" panose="02040503050406030204" pitchFamily="18" charset="0"/>
                                <a:ea typeface="Cambria Math" panose="02040503050406030204" pitchFamily="18" charset="0"/>
                                <a:sym typeface="Calibri"/>
                              </a:rPr>
                              <m:t>𝑟</m:t>
                            </m:r>
                          </m:e>
                          <m:sup>
                            <m:r>
                              <a:rPr lang="en-US" sz="2000" b="0" i="1" smtClean="0">
                                <a:solidFill>
                                  <a:srgbClr val="000000"/>
                                </a:solidFill>
                                <a:latin typeface="Cambria Math" panose="02040503050406030204" pitchFamily="18" charset="0"/>
                                <a:ea typeface="Cambria Math" panose="02040503050406030204" pitchFamily="18" charset="0"/>
                                <a:sym typeface="Calibri"/>
                              </a:rPr>
                              <m:t>2</m:t>
                            </m:r>
                          </m:sup>
                        </m:sSup>
                      </m:den>
                    </m:f>
                    <m:r>
                      <a:rPr lang="en-US" sz="2000" b="0" i="0" smtClean="0">
                        <a:solidFill>
                          <a:srgbClr val="000000"/>
                        </a:solidFill>
                        <a:latin typeface="Cambria Math" panose="02040503050406030204" pitchFamily="18" charset="0"/>
                        <a:ea typeface="Cambria Math" panose="02040503050406030204" pitchFamily="18" charset="0"/>
                        <a:sym typeface="Calibri"/>
                      </a:rPr>
                      <m:t>.</m:t>
                    </m:r>
                  </m:oMath>
                </a14:m>
                <a:r>
                  <a:rPr lang="en-US" sz="2000" dirty="0">
                    <a:solidFill>
                      <a:srgbClr val="000000"/>
                    </a:solidFill>
                    <a:latin typeface="Calibri"/>
                    <a:ea typeface="Cambria Math" panose="02040503050406030204" pitchFamily="18" charset="0"/>
                    <a:sym typeface="Calibri"/>
                  </a:rPr>
                  <a:t> </a:t>
                </a:r>
                <a14:m>
                  <m:oMath xmlns:m="http://schemas.openxmlformats.org/officeDocument/2006/math">
                    <m:nary>
                      <m:naryPr>
                        <m:limLoc m:val="undOvr"/>
                        <m:subHide m:val="on"/>
                        <m:supHide m:val="on"/>
                        <m:ctrlPr>
                          <a:rPr lang="en-US" sz="2000" i="1" dirty="0" smtClean="0">
                            <a:solidFill>
                              <a:srgbClr val="000000"/>
                            </a:solidFill>
                            <a:latin typeface="Cambria Math" panose="02040503050406030204" pitchFamily="18" charset="0"/>
                            <a:ea typeface="Cambria Math" panose="02040503050406030204" pitchFamily="18" charset="0"/>
                            <a:sym typeface="Calibri"/>
                          </a:rPr>
                        </m:ctrlPr>
                      </m:naryPr>
                      <m:sub/>
                      <m:sup/>
                      <m:e>
                        <m:r>
                          <a:rPr lang="en-US" sz="2000" b="0" i="1" dirty="0" smtClean="0">
                            <a:solidFill>
                              <a:srgbClr val="000000"/>
                            </a:solidFill>
                            <a:latin typeface="Cambria Math" panose="02040503050406030204" pitchFamily="18" charset="0"/>
                            <a:ea typeface="Cambria Math" panose="02040503050406030204" pitchFamily="18" charset="0"/>
                            <a:sym typeface="Calibri"/>
                          </a:rPr>
                          <m:t>𝐴𝑑</m:t>
                        </m:r>
                        <m:r>
                          <m:rPr>
                            <m:sty m:val="p"/>
                          </m:rPr>
                          <a:rPr lang="el-GR" sz="2000" b="0" i="1" dirty="0" smtClean="0">
                            <a:solidFill>
                              <a:srgbClr val="000000"/>
                            </a:solidFill>
                            <a:latin typeface="Cambria Math" panose="02040503050406030204" pitchFamily="18" charset="0"/>
                            <a:ea typeface="Cambria Math" panose="02040503050406030204" pitchFamily="18" charset="0"/>
                            <a:sym typeface="Calibri"/>
                          </a:rPr>
                          <m:t>Ω</m:t>
                        </m:r>
                      </m:e>
                    </m:nary>
                    <m:r>
                      <a:rPr lang="en-US" sz="2000" b="0" i="1" dirty="0" smtClean="0">
                        <a:solidFill>
                          <a:srgbClr val="000000"/>
                        </a:solidFill>
                        <a:latin typeface="Cambria Math" panose="02040503050406030204" pitchFamily="18" charset="0"/>
                        <a:ea typeface="Cambria Math" panose="02040503050406030204" pitchFamily="18" charset="0"/>
                        <a:sym typeface="Calibri"/>
                      </a:rPr>
                      <m:t>=</m:t>
                    </m:r>
                    <m:sSup>
                      <m:sSupPr>
                        <m:ctrlPr>
                          <a:rPr lang="en-US" sz="2000" b="0" i="1" dirty="0" smtClean="0">
                            <a:solidFill>
                              <a:srgbClr val="000000"/>
                            </a:solidFill>
                            <a:latin typeface="Cambria Math" panose="02040503050406030204" pitchFamily="18" charset="0"/>
                            <a:ea typeface="Cambria Math" panose="02040503050406030204" pitchFamily="18" charset="0"/>
                            <a:sym typeface="Calibri"/>
                          </a:rPr>
                        </m:ctrlPr>
                      </m:sSupPr>
                      <m:e>
                        <m:r>
                          <a:rPr lang="en-US" sz="2000" b="0" i="1" dirty="0" smtClean="0">
                            <a:solidFill>
                              <a:srgbClr val="000000"/>
                            </a:solidFill>
                            <a:latin typeface="Cambria Math" panose="02040503050406030204" pitchFamily="18" charset="0"/>
                            <a:ea typeface="Cambria Math" panose="02040503050406030204" pitchFamily="18" charset="0"/>
                            <a:sym typeface="Calibri"/>
                          </a:rPr>
                          <m:t>𝜆</m:t>
                        </m:r>
                      </m:e>
                      <m:sup>
                        <m:r>
                          <a:rPr lang="en-US" sz="2000" b="0" i="1" dirty="0" smtClean="0">
                            <a:solidFill>
                              <a:srgbClr val="000000"/>
                            </a:solidFill>
                            <a:latin typeface="Cambria Math" panose="02040503050406030204" pitchFamily="18" charset="0"/>
                            <a:ea typeface="Cambria Math" panose="02040503050406030204" pitchFamily="18" charset="0"/>
                            <a:sym typeface="Calibri"/>
                          </a:rPr>
                          <m:t>2</m:t>
                        </m:r>
                      </m:sup>
                    </m:sSup>
                    <m:r>
                      <a:rPr lang="en-US" sz="2000" b="0" i="0" dirty="0" smtClean="0">
                        <a:solidFill>
                          <a:srgbClr val="000000"/>
                        </a:solidFill>
                        <a:latin typeface="Cambria Math" panose="02040503050406030204" pitchFamily="18" charset="0"/>
                        <a:ea typeface="Cambria Math" panose="02040503050406030204" pitchFamily="18" charset="0"/>
                        <a:sym typeface="Calibri"/>
                      </a:rPr>
                      <m:t>.</m:t>
                    </m:r>
                  </m:oMath>
                </a14:m>
                <a:r>
                  <a:rPr lang="en-US" sz="2000" dirty="0">
                    <a:solidFill>
                      <a:srgbClr val="000000"/>
                    </a:solidFill>
                    <a:latin typeface="Calibri"/>
                    <a:ea typeface="Cambria Math" panose="02040503050406030204" pitchFamily="18" charset="0"/>
                    <a:sym typeface="Calibri"/>
                  </a:rPr>
                  <a:t>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𝑃</m:t>
                        </m:r>
                      </m:e>
                      <m:sub>
                        <m:r>
                          <a:rPr lang="en-US" sz="2000" i="1">
                            <a:solidFill>
                              <a:srgbClr val="000000"/>
                            </a:solidFill>
                            <a:latin typeface="Cambria Math" panose="02040503050406030204" pitchFamily="18" charset="0"/>
                            <a:ea typeface="Cambria Math" panose="02040503050406030204" pitchFamily="18" charset="0"/>
                            <a:sym typeface="Calibri"/>
                          </a:rPr>
                          <m:t>𝑟</m:t>
                        </m:r>
                      </m:sub>
                    </m:sSub>
                    <m:r>
                      <a:rPr lang="en-US" sz="2000" i="1">
                        <a:solidFill>
                          <a:srgbClr val="000000"/>
                        </a:solidFill>
                        <a:latin typeface="Cambria Math" panose="02040503050406030204" pitchFamily="18" charset="0"/>
                        <a:ea typeface="Cambria Math" panose="02040503050406030204" pitchFamily="18" charset="0"/>
                        <a:sym typeface="Calibri"/>
                      </a:rPr>
                      <m:t>=</m:t>
                    </m:r>
                    <m:f>
                      <m:fPr>
                        <m:ctrlPr>
                          <a:rPr lang="en-US" sz="2000" b="0" i="1" smtClean="0">
                            <a:solidFill>
                              <a:srgbClr val="000000"/>
                            </a:solidFill>
                            <a:latin typeface="Cambria Math" panose="02040503050406030204" pitchFamily="18" charset="0"/>
                            <a:ea typeface="Cambria Math" panose="02040503050406030204" pitchFamily="18" charset="0"/>
                            <a:sym typeface="Calibri"/>
                          </a:rPr>
                        </m:ctrlPr>
                      </m:fPr>
                      <m:num>
                        <m:r>
                          <a:rPr lang="en-US" sz="2000" b="0" i="1" smtClean="0">
                            <a:solidFill>
                              <a:srgbClr val="000000"/>
                            </a:solidFill>
                            <a:latin typeface="Cambria Math" panose="02040503050406030204" pitchFamily="18" charset="0"/>
                            <a:ea typeface="Cambria Math" panose="02040503050406030204" pitchFamily="18" charset="0"/>
                            <a:sym typeface="Calibri"/>
                          </a:rPr>
                          <m:t>(44.7)</m:t>
                        </m:r>
                        <m:sSup>
                          <m:sSup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pPr>
                          <m:e>
                            <m:r>
                              <a:rPr lang="en-US" sz="2000" b="0" i="1" smtClean="0">
                                <a:solidFill>
                                  <a:srgbClr val="000000"/>
                                </a:solidFill>
                                <a:latin typeface="Cambria Math" panose="02040503050406030204" pitchFamily="18" charset="0"/>
                                <a:ea typeface="Cambria Math" panose="02040503050406030204" pitchFamily="18" charset="0"/>
                                <a:sym typeface="Calibri"/>
                              </a:rPr>
                              <m:t>10</m:t>
                            </m:r>
                          </m:e>
                          <m:sup>
                            <m:r>
                              <a:rPr lang="en-US" sz="2000" b="0" i="1" smtClean="0">
                                <a:solidFill>
                                  <a:srgbClr val="000000"/>
                                </a:solidFill>
                                <a:latin typeface="Cambria Math" panose="02040503050406030204" pitchFamily="18" charset="0"/>
                                <a:ea typeface="Cambria Math" panose="02040503050406030204" pitchFamily="18" charset="0"/>
                                <a:sym typeface="Calibri"/>
                              </a:rPr>
                              <m:t>1.24</m:t>
                            </m:r>
                          </m:sup>
                        </m:sSup>
                      </m:num>
                      <m:den>
                        <m:r>
                          <a:rPr lang="en-US" sz="2000" i="1">
                            <a:solidFill>
                              <a:srgbClr val="000000"/>
                            </a:solidFill>
                            <a:latin typeface="Cambria Math" panose="02040503050406030204" pitchFamily="18" charset="0"/>
                            <a:ea typeface="Cambria Math" panose="02040503050406030204" pitchFamily="18" charset="0"/>
                            <a:sym typeface="Calibri"/>
                          </a:rPr>
                          <m:t>4</m:t>
                        </m:r>
                        <m:r>
                          <a:rPr lang="en-US" sz="2000" i="1">
                            <a:solidFill>
                              <a:srgbClr val="000000"/>
                            </a:solidFill>
                            <a:latin typeface="Cambria Math" panose="02040503050406030204" pitchFamily="18" charset="0"/>
                            <a:ea typeface="Cambria Math" panose="02040503050406030204" pitchFamily="18" charset="0"/>
                            <a:sym typeface="Calibri"/>
                          </a:rPr>
                          <m:t>𝜋</m:t>
                        </m:r>
                        <m:sSup>
                          <m:sSup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pPr>
                          <m:e>
                            <m:r>
                              <a:rPr lang="en-US" sz="2000" b="0" i="1" smtClean="0">
                                <a:solidFill>
                                  <a:srgbClr val="000000"/>
                                </a:solidFill>
                                <a:latin typeface="Cambria Math" panose="02040503050406030204" pitchFamily="18" charset="0"/>
                                <a:ea typeface="Cambria Math" panose="02040503050406030204" pitchFamily="18" charset="0"/>
                                <a:sym typeface="Calibri"/>
                              </a:rPr>
                              <m:t>(21×</m:t>
                            </m:r>
                            <m:sSup>
                              <m:sSup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pPr>
                              <m:e>
                                <m:r>
                                  <a:rPr lang="en-US" sz="2000" b="0" i="1" smtClean="0">
                                    <a:solidFill>
                                      <a:srgbClr val="000000"/>
                                    </a:solidFill>
                                    <a:latin typeface="Cambria Math" panose="02040503050406030204" pitchFamily="18" charset="0"/>
                                    <a:ea typeface="Cambria Math" panose="02040503050406030204" pitchFamily="18" charset="0"/>
                                    <a:sym typeface="Calibri"/>
                                  </a:rPr>
                                  <m:t>10</m:t>
                                </m:r>
                              </m:e>
                              <m:sup>
                                <m:r>
                                  <a:rPr lang="en-US" sz="2000" b="0" i="1" smtClean="0">
                                    <a:solidFill>
                                      <a:srgbClr val="000000"/>
                                    </a:solidFill>
                                    <a:latin typeface="Cambria Math" panose="02040503050406030204" pitchFamily="18" charset="0"/>
                                    <a:ea typeface="Cambria Math" panose="02040503050406030204" pitchFamily="18" charset="0"/>
                                    <a:sym typeface="Calibri"/>
                                  </a:rPr>
                                  <m:t>6</m:t>
                                </m:r>
                              </m:sup>
                            </m:sSup>
                            <m:r>
                              <a:rPr lang="en-US" sz="2000" b="0" i="1" smtClean="0">
                                <a:solidFill>
                                  <a:srgbClr val="000000"/>
                                </a:solidFill>
                                <a:latin typeface="Cambria Math" panose="02040503050406030204" pitchFamily="18" charset="0"/>
                                <a:ea typeface="Cambria Math" panose="02040503050406030204" pitchFamily="18" charset="0"/>
                                <a:sym typeface="Calibri"/>
                              </a:rPr>
                              <m:t>)</m:t>
                            </m:r>
                          </m:e>
                          <m:sup>
                            <m:r>
                              <a:rPr lang="en-US" sz="2000" i="1">
                                <a:solidFill>
                                  <a:srgbClr val="000000"/>
                                </a:solidFill>
                                <a:latin typeface="Cambria Math" panose="02040503050406030204" pitchFamily="18" charset="0"/>
                                <a:ea typeface="Cambria Math" panose="02040503050406030204" pitchFamily="18" charset="0"/>
                                <a:sym typeface="Calibri"/>
                              </a:rPr>
                              <m:t>2</m:t>
                            </m:r>
                          </m:sup>
                        </m:sSup>
                      </m:den>
                    </m:f>
                    <m:r>
                      <a:rPr lang="en-US" sz="2000" dirty="0">
                        <a:solidFill>
                          <a:srgbClr val="000000"/>
                        </a:solidFill>
                        <a:latin typeface="Cambria Math" panose="02040503050406030204" pitchFamily="18" charset="0"/>
                        <a:ea typeface="Cambria Math" panose="02040503050406030204" pitchFamily="18" charset="0"/>
                        <a:sym typeface="Calibri"/>
                      </a:rPr>
                      <m:t>×</m:t>
                    </m:r>
                    <m:f>
                      <m:fPr>
                        <m:ctrlPr>
                          <a:rPr lang="en-US" sz="2000" b="0" i="1" dirty="0" smtClean="0">
                            <a:solidFill>
                              <a:srgbClr val="000000"/>
                            </a:solidFill>
                            <a:latin typeface="Cambria Math" panose="02040503050406030204" pitchFamily="18" charset="0"/>
                            <a:ea typeface="Cambria Math" panose="02040503050406030204" pitchFamily="18" charset="0"/>
                            <a:sym typeface="Calibri"/>
                          </a:rPr>
                        </m:ctrlPr>
                      </m:fPr>
                      <m:num>
                        <m:r>
                          <a:rPr lang="en-US" sz="2000" b="0" i="1" dirty="0" smtClean="0">
                            <a:solidFill>
                              <a:srgbClr val="000000"/>
                            </a:solidFill>
                            <a:latin typeface="Cambria Math" panose="02040503050406030204" pitchFamily="18" charset="0"/>
                            <a:ea typeface="Cambria Math" panose="02040503050406030204" pitchFamily="18" charset="0"/>
                            <a:sym typeface="Calibri"/>
                          </a:rPr>
                          <m:t>3×</m:t>
                        </m:r>
                        <m:sSup>
                          <m:sSupPr>
                            <m:ctrlPr>
                              <a:rPr lang="en-US" sz="2000" b="0" i="1" dirty="0" smtClean="0">
                                <a:solidFill>
                                  <a:srgbClr val="000000"/>
                                </a:solidFill>
                                <a:latin typeface="Cambria Math" panose="02040503050406030204" pitchFamily="18" charset="0"/>
                                <a:ea typeface="Cambria Math" panose="02040503050406030204" pitchFamily="18" charset="0"/>
                                <a:sym typeface="Calibri"/>
                              </a:rPr>
                            </m:ctrlPr>
                          </m:sSupPr>
                          <m:e>
                            <m:r>
                              <a:rPr lang="en-US" sz="2000" b="0" i="1" dirty="0" smtClean="0">
                                <a:solidFill>
                                  <a:srgbClr val="000000"/>
                                </a:solidFill>
                                <a:latin typeface="Cambria Math" panose="02040503050406030204" pitchFamily="18" charset="0"/>
                                <a:ea typeface="Cambria Math" panose="02040503050406030204" pitchFamily="18" charset="0"/>
                                <a:sym typeface="Calibri"/>
                              </a:rPr>
                              <m:t>10</m:t>
                            </m:r>
                          </m:e>
                          <m:sup>
                            <m:r>
                              <a:rPr lang="en-US" sz="2000" b="0" i="1" dirty="0" smtClean="0">
                                <a:solidFill>
                                  <a:srgbClr val="000000"/>
                                </a:solidFill>
                                <a:latin typeface="Cambria Math" panose="02040503050406030204" pitchFamily="18" charset="0"/>
                                <a:ea typeface="Cambria Math" panose="02040503050406030204" pitchFamily="18" charset="0"/>
                                <a:sym typeface="Calibri"/>
                              </a:rPr>
                              <m:t>8</m:t>
                            </m:r>
                          </m:sup>
                        </m:sSup>
                      </m:num>
                      <m:den>
                        <m:r>
                          <a:rPr lang="en-US" sz="2000" b="0" i="1" dirty="0" smtClean="0">
                            <a:solidFill>
                              <a:srgbClr val="000000"/>
                            </a:solidFill>
                            <a:latin typeface="Cambria Math" panose="02040503050406030204" pitchFamily="18" charset="0"/>
                            <a:ea typeface="Cambria Math" panose="02040503050406030204" pitchFamily="18" charset="0"/>
                            <a:sym typeface="Calibri"/>
                          </a:rPr>
                          <m:t>1.575×</m:t>
                        </m:r>
                        <m:sSup>
                          <m:sSupPr>
                            <m:ctrlPr>
                              <a:rPr lang="en-US" sz="2000" b="0" i="1" dirty="0" smtClean="0">
                                <a:solidFill>
                                  <a:srgbClr val="000000"/>
                                </a:solidFill>
                                <a:latin typeface="Cambria Math" panose="02040503050406030204" pitchFamily="18" charset="0"/>
                                <a:ea typeface="Cambria Math" panose="02040503050406030204" pitchFamily="18" charset="0"/>
                                <a:sym typeface="Calibri"/>
                              </a:rPr>
                            </m:ctrlPr>
                          </m:sSupPr>
                          <m:e>
                            <m:r>
                              <a:rPr lang="en-US" sz="2000" b="0" i="1" dirty="0" smtClean="0">
                                <a:solidFill>
                                  <a:srgbClr val="000000"/>
                                </a:solidFill>
                                <a:latin typeface="Cambria Math" panose="02040503050406030204" pitchFamily="18" charset="0"/>
                                <a:ea typeface="Cambria Math" panose="02040503050406030204" pitchFamily="18" charset="0"/>
                                <a:sym typeface="Calibri"/>
                              </a:rPr>
                              <m:t>10</m:t>
                            </m:r>
                          </m:e>
                          <m:sup>
                            <m:r>
                              <a:rPr lang="en-US" sz="2000" b="0" i="1" dirty="0" smtClean="0">
                                <a:solidFill>
                                  <a:srgbClr val="000000"/>
                                </a:solidFill>
                                <a:latin typeface="Cambria Math" panose="02040503050406030204" pitchFamily="18" charset="0"/>
                                <a:ea typeface="Cambria Math" panose="02040503050406030204" pitchFamily="18" charset="0"/>
                                <a:sym typeface="Calibri"/>
                              </a:rPr>
                              <m:t>9</m:t>
                            </m:r>
                          </m:sup>
                        </m:sSup>
                      </m:den>
                    </m:f>
                    <m:r>
                      <a:rPr lang="en-US" sz="2000" b="0" i="1" dirty="0" smtClean="0">
                        <a:solidFill>
                          <a:srgbClr val="000000"/>
                        </a:solidFill>
                        <a:latin typeface="Cambria Math" panose="02040503050406030204" pitchFamily="18" charset="0"/>
                        <a:ea typeface="Cambria Math" panose="02040503050406030204" pitchFamily="18" charset="0"/>
                        <a:sym typeface="Calibri"/>
                      </a:rPr>
                      <m:t>=4×</m:t>
                    </m:r>
                    <m:sSup>
                      <m:sSupPr>
                        <m:ctrlPr>
                          <a:rPr lang="en-US" sz="2000" b="0" i="1" dirty="0" smtClean="0">
                            <a:solidFill>
                              <a:srgbClr val="000000"/>
                            </a:solidFill>
                            <a:latin typeface="Cambria Math" panose="02040503050406030204" pitchFamily="18" charset="0"/>
                            <a:ea typeface="Cambria Math" panose="02040503050406030204" pitchFamily="18" charset="0"/>
                            <a:sym typeface="Calibri"/>
                          </a:rPr>
                        </m:ctrlPr>
                      </m:sSupPr>
                      <m:e>
                        <m:r>
                          <a:rPr lang="en-US" sz="2000" b="0" i="1" dirty="0" smtClean="0">
                            <a:solidFill>
                              <a:srgbClr val="000000"/>
                            </a:solidFill>
                            <a:latin typeface="Cambria Math" panose="02040503050406030204" pitchFamily="18" charset="0"/>
                            <a:ea typeface="Cambria Math" panose="02040503050406030204" pitchFamily="18" charset="0"/>
                            <a:sym typeface="Calibri"/>
                          </a:rPr>
                          <m:t>10</m:t>
                        </m:r>
                      </m:e>
                      <m:sup>
                        <m:r>
                          <a:rPr lang="en-US" sz="2000" b="0" i="1" dirty="0" smtClean="0">
                            <a:solidFill>
                              <a:srgbClr val="000000"/>
                            </a:solidFill>
                            <a:latin typeface="Cambria Math" panose="02040503050406030204" pitchFamily="18" charset="0"/>
                            <a:ea typeface="Cambria Math" panose="02040503050406030204" pitchFamily="18" charset="0"/>
                            <a:sym typeface="Calibri"/>
                          </a:rPr>
                          <m:t>−15</m:t>
                        </m:r>
                      </m:sup>
                    </m:sSup>
                    <m:r>
                      <a:rPr lang="en-US" sz="2000" b="0" i="1" dirty="0" smtClean="0">
                        <a:solidFill>
                          <a:srgbClr val="000000"/>
                        </a:solidFill>
                        <a:latin typeface="Cambria Math" panose="02040503050406030204" pitchFamily="18" charset="0"/>
                        <a:ea typeface="Cambria Math" panose="02040503050406030204" pitchFamily="18" charset="0"/>
                        <a:sym typeface="Calibri"/>
                      </a:rPr>
                      <m:t>𝑊</m:t>
                    </m:r>
                  </m:oMath>
                </a14:m>
                <a:r>
                  <a:rPr lang="en-US" sz="2000" dirty="0">
                    <a:solidFill>
                      <a:srgbClr val="000000"/>
                    </a:solidFill>
                    <a:latin typeface="Calibri"/>
                    <a:ea typeface="Cambria Math" panose="02040503050406030204" pitchFamily="18" charset="0"/>
                    <a:sym typeface="Calibri"/>
                  </a:rPr>
                  <a:t>(</a:t>
                </a:r>
                <a14:m>
                  <m:oMath xmlns:m="http://schemas.openxmlformats.org/officeDocument/2006/math">
                    <m:r>
                      <a:rPr lang="en-US" sz="2000" b="0" i="1" dirty="0" smtClean="0">
                        <a:solidFill>
                          <a:srgbClr val="000000"/>
                        </a:solidFill>
                        <a:latin typeface="Cambria Math" panose="02040503050406030204" pitchFamily="18" charset="0"/>
                        <a:ea typeface="Cambria Math" panose="02040503050406030204" pitchFamily="18" charset="0"/>
                        <a:sym typeface="Calibri"/>
                      </a:rPr>
                      <m:t>−144</m:t>
                    </m:r>
                    <m:r>
                      <a:rPr lang="en-US" sz="2000" b="0" i="1" dirty="0" smtClean="0">
                        <a:solidFill>
                          <a:srgbClr val="000000"/>
                        </a:solidFill>
                        <a:latin typeface="Cambria Math" panose="02040503050406030204" pitchFamily="18" charset="0"/>
                        <a:ea typeface="Cambria Math" panose="02040503050406030204" pitchFamily="18" charset="0"/>
                        <a:sym typeface="Calibri"/>
                      </a:rPr>
                      <m:t>𝑑𝐵</m:t>
                    </m:r>
                  </m:oMath>
                </a14:m>
                <a:r>
                  <a:rPr lang="en-US" sz="2000" dirty="0">
                    <a:solidFill>
                      <a:srgbClr val="000000"/>
                    </a:solidFill>
                    <a:latin typeface="Calibri"/>
                    <a:ea typeface="Cambria Math" panose="02040503050406030204" pitchFamily="18" charset="0"/>
                    <a:sym typeface="Calibri"/>
                  </a:rPr>
                  <a:t>)</a:t>
                </a:r>
              </a:p>
              <a:p>
                <a:pPr marL="342900" indent="-342900" defTabSz="457200" hangingPunct="0">
                  <a:buFont typeface="Arial" panose="020B0604020202020204" pitchFamily="34" charset="0"/>
                  <a:buChar char="•"/>
                </a:pPr>
                <a:r>
                  <a:rPr lang="en-US" sz="2000" dirty="0">
                    <a:solidFill>
                      <a:srgbClr val="000000"/>
                    </a:solidFill>
                    <a:latin typeface="Calibri"/>
                    <a:ea typeface="Cambria Math" panose="02040503050406030204" pitchFamily="18" charset="0"/>
                    <a:sym typeface="Calibri"/>
                  </a:rPr>
                  <a:t>Final SNR: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sym typeface="Calibri"/>
                      </a:rPr>
                      <m:t>−144+145.6+43=44.6</m:t>
                    </m:r>
                    <m:r>
                      <a:rPr lang="en-US" sz="2000" b="0" i="1" smtClean="0">
                        <a:solidFill>
                          <a:srgbClr val="000000"/>
                        </a:solidFill>
                        <a:latin typeface="Cambria Math" panose="02040503050406030204" pitchFamily="18" charset="0"/>
                        <a:ea typeface="Cambria Math" panose="02040503050406030204" pitchFamily="18" charset="0"/>
                        <a:sym typeface="Calibri"/>
                      </a:rPr>
                      <m:t>𝑑𝐵</m:t>
                    </m:r>
                    <m:r>
                      <a:rPr lang="en-US" sz="2000" b="0" i="0" smtClean="0">
                        <a:solidFill>
                          <a:srgbClr val="000000"/>
                        </a:solidFill>
                        <a:latin typeface="Cambria Math" panose="02040503050406030204" pitchFamily="18" charset="0"/>
                        <a:ea typeface="Cambria Math" panose="02040503050406030204" pitchFamily="18" charset="0"/>
                        <a:sym typeface="Calibri"/>
                      </a:rPr>
                      <m:t>.</m:t>
                    </m:r>
                  </m:oMath>
                </a14:m>
                <a:r>
                  <a:rPr lang="en-US" sz="2000" dirty="0">
                    <a:solidFill>
                      <a:srgbClr val="000000"/>
                    </a:solidFill>
                    <a:latin typeface="Calibri"/>
                    <a:ea typeface="Cambria Math" panose="02040503050406030204" pitchFamily="18" charset="0"/>
                    <a:sym typeface="Calibri"/>
                  </a:rPr>
                  <a:t>  </a:t>
                </a:r>
              </a:p>
              <a:p>
                <a:pPr marL="800100" lvl="1" indent="-342900" defTabSz="457200" hangingPunct="0">
                  <a:buFont typeface="Arial" panose="020B0604020202020204" pitchFamily="34" charset="0"/>
                  <a:buChar char="•"/>
                </a:pPr>
                <a:r>
                  <a:rPr lang="en-US" sz="2000" dirty="0">
                    <a:solidFill>
                      <a:srgbClr val="000000"/>
                    </a:solidFill>
                    <a:latin typeface="Calibri"/>
                    <a:ea typeface="Cambria Math" panose="02040503050406030204" pitchFamily="18" charset="0"/>
                    <a:sym typeface="Calibri"/>
                  </a:rPr>
                  <a:t>Lower in practice since satellite not directly overhead, and there are shadowing and multipath losses. In addition, we have receiver loss (and receiver antenna gain) so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𝑃</m:t>
                        </m:r>
                      </m:e>
                      <m:sub>
                        <m:r>
                          <a:rPr lang="en-US" sz="2000" i="1">
                            <a:solidFill>
                              <a:srgbClr val="000000"/>
                            </a:solidFill>
                            <a:latin typeface="Cambria Math" panose="02040503050406030204" pitchFamily="18" charset="0"/>
                            <a:ea typeface="Cambria Math" panose="02040503050406030204" pitchFamily="18" charset="0"/>
                            <a:sym typeface="Calibri"/>
                          </a:rPr>
                          <m:t>𝑟</m:t>
                        </m:r>
                      </m:sub>
                    </m:sSub>
                  </m:oMath>
                </a14:m>
                <a:r>
                  <a:rPr lang="en-US" sz="2000" b="0" dirty="0">
                    <a:solidFill>
                      <a:srgbClr val="000000"/>
                    </a:solidFill>
                    <a:ea typeface="Cambria Math" panose="02040503050406030204" pitchFamily="18" charset="0"/>
                    <a:sym typeface="Calibri"/>
                  </a:rPr>
                  <a:t> could be as small as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sym typeface="Calibri"/>
                      </a:rPr>
                      <m:t>−170</m:t>
                    </m:r>
                    <m:r>
                      <a:rPr lang="en-US" sz="2000" b="0" i="1" smtClean="0">
                        <a:solidFill>
                          <a:srgbClr val="000000"/>
                        </a:solidFill>
                        <a:latin typeface="Cambria Math" panose="02040503050406030204" pitchFamily="18" charset="0"/>
                        <a:ea typeface="Cambria Math" panose="02040503050406030204" pitchFamily="18" charset="0"/>
                        <a:sym typeface="Calibri"/>
                      </a:rPr>
                      <m:t>𝑑𝐵</m:t>
                    </m:r>
                  </m:oMath>
                </a14:m>
                <a:r>
                  <a:rPr lang="en-US" sz="2000" dirty="0">
                    <a:solidFill>
                      <a:srgbClr val="000000"/>
                    </a:solidFill>
                    <a:latin typeface="Calibri"/>
                    <a:ea typeface="Cambria Math" panose="02040503050406030204" pitchFamily="18" charset="0"/>
                    <a:sym typeface="Calibri"/>
                  </a:rPr>
                  <a:t> and final SNR is approximately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sym typeface="Calibri"/>
                      </a:rPr>
                      <m:t>−170+144+43=17</m:t>
                    </m:r>
                    <m:r>
                      <a:rPr lang="en-US" sz="2000" b="0" i="1" smtClean="0">
                        <a:solidFill>
                          <a:srgbClr val="000000"/>
                        </a:solidFill>
                        <a:latin typeface="Cambria Math" panose="02040503050406030204" pitchFamily="18" charset="0"/>
                        <a:ea typeface="Cambria Math" panose="02040503050406030204" pitchFamily="18" charset="0"/>
                        <a:sym typeface="Calibri"/>
                      </a:rPr>
                      <m:t>𝑑𝐵</m:t>
                    </m:r>
                  </m:oMath>
                </a14:m>
                <a:endParaRPr lang="en-US" sz="2000" dirty="0">
                  <a:solidFill>
                    <a:srgbClr val="000000"/>
                  </a:solidFill>
                  <a:latin typeface="Calibri"/>
                  <a:ea typeface="Cambria Math" panose="02040503050406030204" pitchFamily="18" charset="0"/>
                  <a:sym typeface="Calibri"/>
                </a:endParaRPr>
              </a:p>
              <a:p>
                <a:pPr marL="342900" indent="-342900" defTabSz="457200"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Receiver modeled at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𝐺</m:t>
                        </m:r>
                      </m:e>
                      <m:sub>
                        <m:r>
                          <a:rPr lang="en-US" sz="2000" i="1">
                            <a:solidFill>
                              <a:srgbClr val="000000"/>
                            </a:solidFill>
                            <a:latin typeface="Cambria Math" panose="02040503050406030204" pitchFamily="18" charset="0"/>
                            <a:ea typeface="Cambria Math" panose="02040503050406030204" pitchFamily="18" charset="0"/>
                            <a:sym typeface="Calibri"/>
                          </a:rPr>
                          <m:t>𝑟</m:t>
                        </m:r>
                      </m:sub>
                    </m:sSub>
                    <m:r>
                      <a:rPr lang="en-US" sz="2000" i="1">
                        <a:solidFill>
                          <a:srgbClr val="000000"/>
                        </a:solidFill>
                        <a:latin typeface="Cambria Math" panose="02040503050406030204" pitchFamily="18" charset="0"/>
                        <a:ea typeface="Cambria Math" panose="02040503050406030204" pitchFamily="18" charset="0"/>
                        <a:sym typeface="Calibri"/>
                      </a:rPr>
                      <m:t>=2</m:t>
                    </m:r>
                    <m:r>
                      <a:rPr lang="en-US" sz="2000" i="1">
                        <a:solidFill>
                          <a:srgbClr val="000000"/>
                        </a:solidFill>
                        <a:latin typeface="Cambria Math" panose="02040503050406030204" pitchFamily="18" charset="0"/>
                        <a:ea typeface="Cambria Math" panose="02040503050406030204" pitchFamily="18" charset="0"/>
                        <a:sym typeface="Calibri"/>
                      </a:rPr>
                      <m:t>𝑑𝐵𝑖</m:t>
                    </m:r>
                  </m:oMath>
                </a14:m>
                <a:endParaRPr lang="en-US" sz="2000" dirty="0">
                  <a:solidFill>
                    <a:srgbClr val="000000"/>
                  </a:solidFill>
                  <a:ea typeface="Cambria Math" panose="02040503050406030204" pitchFamily="18" charset="0"/>
                  <a:sym typeface="Calibri"/>
                </a:endParaRPr>
              </a:p>
              <a:p>
                <a:pPr defTabSz="457200" hangingPunct="0"/>
                <a:endParaRPr lang="en-US" sz="2000" dirty="0">
                  <a:solidFill>
                    <a:srgbClr val="000000"/>
                  </a:solidFill>
                  <a:latin typeface="Calibri"/>
                  <a:ea typeface="Cambria Math" panose="02040503050406030204" pitchFamily="18" charset="0"/>
                  <a:sym typeface="Calibri"/>
                </a:endParaRPr>
              </a:p>
            </p:txBody>
          </p:sp>
        </mc:Choice>
        <mc:Fallback xmlns="">
          <p:sp>
            <p:nvSpPr>
              <p:cNvPr id="15" name="TextBox 14">
                <a:extLst>
                  <a:ext uri="{FF2B5EF4-FFF2-40B4-BE49-F238E27FC236}">
                    <a16:creationId xmlns:a16="http://schemas.microsoft.com/office/drawing/2014/main" id="{34EE796B-9DCB-DE41-AEA4-31CBF97794EF}"/>
                  </a:ext>
                </a:extLst>
              </p:cNvPr>
              <p:cNvSpPr txBox="1">
                <a:spLocks noRot="1" noChangeAspect="1" noMove="1" noResize="1" noEditPoints="1" noAdjustHandles="1" noChangeArrowheads="1" noChangeShapeType="1" noTextEdit="1"/>
              </p:cNvSpPr>
              <p:nvPr/>
            </p:nvSpPr>
            <p:spPr>
              <a:xfrm>
                <a:off x="608968" y="1747547"/>
                <a:ext cx="10042010" cy="4088992"/>
              </a:xfrm>
              <a:prstGeom prst="rect">
                <a:avLst/>
              </a:prstGeom>
              <a:blipFill>
                <a:blip r:embed="rId3"/>
                <a:stretch>
                  <a:fillRect l="-1011" t="-929"/>
                </a:stretch>
              </a:blipFill>
              <a:ln w="12700" cap="flat">
                <a:noFill/>
                <a:miter lim="400000"/>
              </a:ln>
              <a:effectLst/>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9502140" y="6424125"/>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75</a:t>
            </a:fld>
            <a:endParaRPr lang="en-US" dirty="0">
              <a:solidFill>
                <a:schemeClr val="tx1"/>
              </a:solidFill>
            </a:endParaRPr>
          </a:p>
        </p:txBody>
      </p:sp>
    </p:spTree>
    <p:extLst>
      <p:ext uri="{BB962C8B-B14F-4D97-AF65-F5344CB8AC3E}">
        <p14:creationId xmlns:p14="http://schemas.microsoft.com/office/powerpoint/2010/main" val="137121277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253898" y="136034"/>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More refined calculations</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4EE796B-9DCB-DE41-AEA4-31CBF97794EF}"/>
                  </a:ext>
                </a:extLst>
              </p:cNvPr>
              <p:cNvSpPr txBox="1"/>
              <p:nvPr/>
            </p:nvSpPr>
            <p:spPr>
              <a:xfrm>
                <a:off x="917894" y="1912061"/>
                <a:ext cx="10356212" cy="43740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342900" indent="-342900" defTabSz="457200"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Sat power: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sym typeface="Calibri"/>
                      </a:rPr>
                      <m:t>13.4</m:t>
                    </m:r>
                    <m:r>
                      <a:rPr lang="en-US" sz="2000" b="0" i="1" smtClean="0">
                        <a:solidFill>
                          <a:srgbClr val="000000"/>
                        </a:solidFill>
                        <a:latin typeface="Cambria Math" panose="02040503050406030204" pitchFamily="18" charset="0"/>
                        <a:ea typeface="Cambria Math" panose="02040503050406030204" pitchFamily="18" charset="0"/>
                        <a:sym typeface="Calibri"/>
                      </a:rPr>
                      <m:t>𝑑𝐵𝑊</m:t>
                    </m:r>
                    <m:r>
                      <a:rPr lang="en-US" sz="2000" b="0" i="1" smtClean="0">
                        <a:solidFill>
                          <a:srgbClr val="000000"/>
                        </a:solidFill>
                        <a:latin typeface="Cambria Math" panose="02040503050406030204" pitchFamily="18" charset="0"/>
                        <a:ea typeface="Cambria Math" panose="02040503050406030204" pitchFamily="18" charset="0"/>
                        <a:sym typeface="Calibri"/>
                      </a:rPr>
                      <m:t> </m:t>
                    </m:r>
                    <m:d>
                      <m:dPr>
                        <m:ctrlPr>
                          <a:rPr lang="en-US" sz="2000" b="0" i="1" smtClean="0">
                            <a:solidFill>
                              <a:srgbClr val="000000"/>
                            </a:solidFill>
                            <a:latin typeface="Cambria Math" panose="02040503050406030204" pitchFamily="18" charset="0"/>
                            <a:ea typeface="Cambria Math" panose="02040503050406030204" pitchFamily="18" charset="0"/>
                            <a:sym typeface="Calibri"/>
                          </a:rPr>
                        </m:ctrlPr>
                      </m:dPr>
                      <m:e>
                        <m:r>
                          <a:rPr lang="en-US" sz="2000" b="0" i="1" smtClean="0">
                            <a:solidFill>
                              <a:srgbClr val="000000"/>
                            </a:solidFill>
                            <a:latin typeface="Cambria Math" panose="02040503050406030204" pitchFamily="18" charset="0"/>
                            <a:ea typeface="Cambria Math" panose="02040503050406030204" pitchFamily="18" charset="0"/>
                            <a:sym typeface="Calibri"/>
                          </a:rPr>
                          <m:t>21.7</m:t>
                        </m:r>
                        <m:r>
                          <a:rPr lang="en-US" sz="2000" b="0" i="1" smtClean="0">
                            <a:solidFill>
                              <a:srgbClr val="000000"/>
                            </a:solidFill>
                            <a:latin typeface="Cambria Math" panose="02040503050406030204" pitchFamily="18" charset="0"/>
                            <a:ea typeface="Cambria Math" panose="02040503050406030204" pitchFamily="18" charset="0"/>
                            <a:sym typeface="Calibri"/>
                          </a:rPr>
                          <m:t>𝑊</m:t>
                        </m:r>
                      </m:e>
                    </m:d>
                  </m:oMath>
                </a14:m>
                <a:endParaRPr lang="en-US" sz="2000" b="0" dirty="0">
                  <a:solidFill>
                    <a:srgbClr val="000000"/>
                  </a:solidFill>
                  <a:ea typeface="Cambria Math" panose="02040503050406030204" pitchFamily="18" charset="0"/>
                  <a:sym typeface="Calibri"/>
                </a:endParaRPr>
              </a:p>
              <a:p>
                <a:pPr marL="342900" indent="-342900" defTabSz="457200" hangingPunct="0">
                  <a:buFont typeface="Arial" panose="020B0604020202020204" pitchFamily="34" charset="0"/>
                  <a:buChar char="•"/>
                </a:pPr>
                <a:r>
                  <a:rPr lang="en-US" sz="2000" dirty="0">
                    <a:solidFill>
                      <a:srgbClr val="000000"/>
                    </a:solidFill>
                    <a:latin typeface="Calibri"/>
                    <a:ea typeface="Cambria Math" panose="02040503050406030204" pitchFamily="18" charset="0"/>
                    <a:sym typeface="Calibri"/>
                  </a:rPr>
                  <a:t>Sat Antenna gain: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sym typeface="Calibri"/>
                      </a:rPr>
                      <m:t>13.4 </m:t>
                    </m:r>
                    <m:r>
                      <a:rPr lang="en-US" sz="2000" b="0" i="1" smtClean="0">
                        <a:solidFill>
                          <a:srgbClr val="000000"/>
                        </a:solidFill>
                        <a:latin typeface="Cambria Math" panose="02040503050406030204" pitchFamily="18" charset="0"/>
                        <a:ea typeface="Cambria Math" panose="02040503050406030204" pitchFamily="18" charset="0"/>
                        <a:sym typeface="Calibri"/>
                      </a:rPr>
                      <m:t>𝑑𝐵𝑊</m:t>
                    </m:r>
                  </m:oMath>
                </a14:m>
                <a:endParaRPr lang="en-US" sz="2000" dirty="0">
                  <a:solidFill>
                    <a:srgbClr val="000000"/>
                  </a:solidFill>
                  <a:latin typeface="Calibri"/>
                  <a:ea typeface="Cambria Math" panose="02040503050406030204" pitchFamily="18" charset="0"/>
                  <a:sym typeface="Calibri"/>
                </a:endParaRPr>
              </a:p>
              <a:p>
                <a:pPr marL="342900" indent="-342900" defTabSz="457200" hangingPunct="0">
                  <a:buFont typeface="Arial" panose="020B0604020202020204" pitchFamily="34" charset="0"/>
                  <a:buChar char="•"/>
                </a:pPr>
                <a:r>
                  <a:rPr lang="en-US" sz="2000" dirty="0">
                    <a:solidFill>
                      <a:srgbClr val="000000"/>
                    </a:solidFill>
                    <a:latin typeface="Calibri"/>
                    <a:ea typeface="Cambria Math" panose="02040503050406030204" pitchFamily="18" charset="0"/>
                    <a:sym typeface="Calibri"/>
                  </a:rPr>
                  <a:t>EIRP: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sym typeface="Calibri"/>
                      </a:rPr>
                      <m:t>26.8 </m:t>
                    </m:r>
                    <m:r>
                      <a:rPr lang="en-US" sz="2000" b="0" i="1" smtClean="0">
                        <a:solidFill>
                          <a:srgbClr val="000000"/>
                        </a:solidFill>
                        <a:latin typeface="Cambria Math" panose="02040503050406030204" pitchFamily="18" charset="0"/>
                        <a:ea typeface="Cambria Math" panose="02040503050406030204" pitchFamily="18" charset="0"/>
                        <a:sym typeface="Calibri"/>
                      </a:rPr>
                      <m:t>𝑑𝐵𝑊</m:t>
                    </m:r>
                  </m:oMath>
                </a14:m>
                <a:endParaRPr lang="en-US" sz="2000" dirty="0">
                  <a:solidFill>
                    <a:srgbClr val="000000"/>
                  </a:solidFill>
                  <a:latin typeface="Calibri"/>
                  <a:ea typeface="Cambria Math" panose="02040503050406030204" pitchFamily="18" charset="0"/>
                  <a:sym typeface="Calibri"/>
                </a:endParaRPr>
              </a:p>
              <a:p>
                <a:pPr marL="342900" indent="-342900" defTabSz="457200" hangingPunct="0">
                  <a:buFont typeface="Arial" panose="020B0604020202020204" pitchFamily="34" charset="0"/>
                  <a:buChar char="•"/>
                </a:pPr>
                <a:r>
                  <a:rPr lang="en-US" sz="2000" dirty="0">
                    <a:solidFill>
                      <a:srgbClr val="000000"/>
                    </a:solidFill>
                    <a:latin typeface="Calibri"/>
                    <a:ea typeface="Cambria Math" panose="02040503050406030204" pitchFamily="18" charset="0"/>
                    <a:sym typeface="Calibri"/>
                  </a:rPr>
                  <a:t>Polarization loss: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sym typeface="Calibri"/>
                      </a:rPr>
                      <m:t>−3.4 </m:t>
                    </m:r>
                    <m:r>
                      <a:rPr lang="en-US" sz="2000" b="0" i="1" smtClean="0">
                        <a:solidFill>
                          <a:srgbClr val="000000"/>
                        </a:solidFill>
                        <a:latin typeface="Cambria Math" panose="02040503050406030204" pitchFamily="18" charset="0"/>
                        <a:ea typeface="Cambria Math" panose="02040503050406030204" pitchFamily="18" charset="0"/>
                        <a:sym typeface="Calibri"/>
                      </a:rPr>
                      <m:t>𝑑𝐵𝑊</m:t>
                    </m:r>
                  </m:oMath>
                </a14:m>
                <a:endParaRPr lang="en-US" sz="2000" dirty="0">
                  <a:solidFill>
                    <a:srgbClr val="000000"/>
                  </a:solidFill>
                  <a:latin typeface="Calibri"/>
                  <a:ea typeface="Cambria Math" panose="02040503050406030204" pitchFamily="18" charset="0"/>
                  <a:sym typeface="Calibri"/>
                </a:endParaRPr>
              </a:p>
              <a:p>
                <a:pPr marL="342900" indent="-342900" defTabSz="457200" hangingPunct="0">
                  <a:buFont typeface="Arial" panose="020B0604020202020204" pitchFamily="34" charset="0"/>
                  <a:buChar char="•"/>
                </a:pPr>
                <a:r>
                  <a:rPr lang="en-US" sz="2000" dirty="0">
                    <a:solidFill>
                      <a:srgbClr val="000000"/>
                    </a:solidFill>
                    <a:latin typeface="Calibri"/>
                    <a:ea typeface="Cambria Math" panose="02040503050406030204" pitchFamily="18" charset="0"/>
                    <a:sym typeface="Calibri"/>
                  </a:rPr>
                  <a:t>Space loss: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sym typeface="Calibri"/>
                      </a:rPr>
                      <m:t>−184.4 </m:t>
                    </m:r>
                    <m:r>
                      <a:rPr lang="en-US" sz="2000" b="0" i="1" smtClean="0">
                        <a:solidFill>
                          <a:srgbClr val="000000"/>
                        </a:solidFill>
                        <a:latin typeface="Cambria Math" panose="02040503050406030204" pitchFamily="18" charset="0"/>
                        <a:ea typeface="Cambria Math" panose="02040503050406030204" pitchFamily="18" charset="0"/>
                        <a:sym typeface="Calibri"/>
                      </a:rPr>
                      <m:t>𝑑𝐵𝑊</m:t>
                    </m:r>
                  </m:oMath>
                </a14:m>
                <a:endParaRPr lang="en-US" sz="2000" dirty="0">
                  <a:solidFill>
                    <a:srgbClr val="000000"/>
                  </a:solidFill>
                  <a:latin typeface="Calibri"/>
                  <a:ea typeface="Cambria Math" panose="02040503050406030204" pitchFamily="18" charset="0"/>
                  <a:sym typeface="Calibri"/>
                </a:endParaRPr>
              </a:p>
              <a:p>
                <a:pPr marL="342900" indent="-342900" defTabSz="457200" hangingPunct="0">
                  <a:buFont typeface="Arial" panose="020B0604020202020204" pitchFamily="34" charset="0"/>
                  <a:buChar char="•"/>
                </a:pPr>
                <a:r>
                  <a:rPr lang="en-US" sz="2000" dirty="0" err="1">
                    <a:solidFill>
                      <a:srgbClr val="000000"/>
                    </a:solidFill>
                    <a:latin typeface="Calibri"/>
                    <a:ea typeface="Cambria Math" panose="02040503050406030204" pitchFamily="18" charset="0"/>
                    <a:sym typeface="Calibri"/>
                  </a:rPr>
                  <a:t>Atmo</a:t>
                </a:r>
                <a:r>
                  <a:rPr lang="en-US" sz="2000" dirty="0">
                    <a:solidFill>
                      <a:srgbClr val="000000"/>
                    </a:solidFill>
                    <a:latin typeface="Calibri"/>
                    <a:ea typeface="Cambria Math" panose="02040503050406030204" pitchFamily="18" charset="0"/>
                    <a:sym typeface="Calibri"/>
                  </a:rPr>
                  <a:t> loss: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sym typeface="Calibri"/>
                      </a:rPr>
                      <m:t>−2 </m:t>
                    </m:r>
                    <m:r>
                      <a:rPr lang="en-US" sz="2000" b="0" i="1" smtClean="0">
                        <a:solidFill>
                          <a:srgbClr val="000000"/>
                        </a:solidFill>
                        <a:latin typeface="Cambria Math" panose="02040503050406030204" pitchFamily="18" charset="0"/>
                        <a:ea typeface="Cambria Math" panose="02040503050406030204" pitchFamily="18" charset="0"/>
                        <a:sym typeface="Calibri"/>
                      </a:rPr>
                      <m:t>𝑑𝐵𝑊</m:t>
                    </m:r>
                  </m:oMath>
                </a14:m>
                <a:endParaRPr lang="en-US" sz="2000" dirty="0">
                  <a:solidFill>
                    <a:srgbClr val="000000"/>
                  </a:solidFill>
                  <a:latin typeface="Calibri"/>
                  <a:ea typeface="Cambria Math" panose="02040503050406030204" pitchFamily="18" charset="0"/>
                  <a:sym typeface="Calibri"/>
                </a:endParaRPr>
              </a:p>
              <a:p>
                <a:pPr marL="342900" indent="-342900" defTabSz="457200" hangingPunct="0">
                  <a:buFont typeface="Arial" panose="020B0604020202020204" pitchFamily="34" charset="0"/>
                  <a:buChar char="•"/>
                </a:pPr>
                <a:r>
                  <a:rPr lang="en-US" sz="2000" dirty="0">
                    <a:solidFill>
                      <a:srgbClr val="000000"/>
                    </a:solidFill>
                    <a:latin typeface="Calibri"/>
                    <a:ea typeface="Cambria Math" panose="02040503050406030204" pitchFamily="18" charset="0"/>
                    <a:sym typeface="Calibri"/>
                  </a:rPr>
                  <a:t>Receiver Antenna gain: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sym typeface="Calibri"/>
                      </a:rPr>
                      <m:t>3 </m:t>
                    </m:r>
                    <m:r>
                      <a:rPr lang="en-US" sz="2000" b="0" i="1" smtClean="0">
                        <a:solidFill>
                          <a:srgbClr val="000000"/>
                        </a:solidFill>
                        <a:latin typeface="Cambria Math" panose="02040503050406030204" pitchFamily="18" charset="0"/>
                        <a:ea typeface="Cambria Math" panose="02040503050406030204" pitchFamily="18" charset="0"/>
                        <a:sym typeface="Calibri"/>
                      </a:rPr>
                      <m:t>𝑑𝐵𝑊</m:t>
                    </m:r>
                  </m:oMath>
                </a14:m>
                <a:endParaRPr lang="en-US" sz="2000" dirty="0">
                  <a:solidFill>
                    <a:srgbClr val="000000"/>
                  </a:solidFill>
                  <a:latin typeface="Calibri"/>
                  <a:ea typeface="Cambria Math" panose="02040503050406030204" pitchFamily="18" charset="0"/>
                  <a:sym typeface="Calibri"/>
                </a:endParaRPr>
              </a:p>
              <a:p>
                <a:pPr marL="342900" indent="-342900" defTabSz="457200" hangingPunct="0">
                  <a:buFont typeface="Arial" panose="020B0604020202020204" pitchFamily="34" charset="0"/>
                  <a:buChar char="•"/>
                </a:pPr>
                <a:r>
                  <a:rPr lang="en-US" sz="2000" dirty="0">
                    <a:solidFill>
                      <a:srgbClr val="000000"/>
                    </a:solidFill>
                    <a:latin typeface="Calibri"/>
                    <a:ea typeface="Cambria Math" panose="02040503050406030204" pitchFamily="18" charset="0"/>
                    <a:sym typeface="Calibri"/>
                  </a:rPr>
                  <a:t>Total signal power at antenna base: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sym typeface="Calibri"/>
                      </a:rPr>
                      <m:t>−160 </m:t>
                    </m:r>
                    <m:r>
                      <a:rPr lang="en-US" sz="2000" b="0" i="1" smtClean="0">
                        <a:solidFill>
                          <a:srgbClr val="000000"/>
                        </a:solidFill>
                        <a:latin typeface="Cambria Math" panose="02040503050406030204" pitchFamily="18" charset="0"/>
                        <a:ea typeface="Cambria Math" panose="02040503050406030204" pitchFamily="18" charset="0"/>
                        <a:sym typeface="Calibri"/>
                      </a:rPr>
                      <m:t>𝑑𝐵𝑊</m:t>
                    </m:r>
                  </m:oMath>
                </a14:m>
                <a:endParaRPr lang="en-US" sz="2000" dirty="0">
                  <a:solidFill>
                    <a:srgbClr val="000000"/>
                  </a:solidFill>
                  <a:latin typeface="Calibri"/>
                  <a:ea typeface="Cambria Math" panose="02040503050406030204" pitchFamily="18" charset="0"/>
                  <a:sym typeface="Calibri"/>
                </a:endParaRPr>
              </a:p>
              <a:p>
                <a:pPr marL="342900" indent="-342900" defTabSz="457200" hangingPunct="0">
                  <a:buFont typeface="Arial" panose="020B0604020202020204" pitchFamily="34" charset="0"/>
                  <a:buChar char="•"/>
                </a:pPr>
                <a:r>
                  <a:rPr lang="en-US" sz="2000" dirty="0">
                    <a:solidFill>
                      <a:srgbClr val="000000"/>
                    </a:solidFill>
                    <a:latin typeface="Calibri"/>
                    <a:ea typeface="Cambria Math" panose="02040503050406030204" pitchFamily="18" charset="0"/>
                    <a:sym typeface="Calibri"/>
                  </a:rPr>
                  <a:t>Correlated signal strength is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sym typeface="Calibri"/>
                      </a:rPr>
                      <m:t>−147</m:t>
                    </m:r>
                    <m:r>
                      <a:rPr lang="en-US" sz="2000" b="0" i="1" smtClean="0">
                        <a:solidFill>
                          <a:srgbClr val="000000"/>
                        </a:solidFill>
                        <a:latin typeface="Cambria Math" panose="02040503050406030204" pitchFamily="18" charset="0"/>
                        <a:ea typeface="Cambria Math" panose="02040503050406030204" pitchFamily="18" charset="0"/>
                        <a:sym typeface="Calibri"/>
                      </a:rPr>
                      <m:t>𝑑𝐵𝑊</m:t>
                    </m:r>
                  </m:oMath>
                </a14:m>
                <a:endParaRPr lang="en-US" sz="2000" dirty="0">
                  <a:solidFill>
                    <a:srgbClr val="000000"/>
                  </a:solidFill>
                  <a:latin typeface="Calibri"/>
                  <a:ea typeface="Cambria Math" panose="02040503050406030204" pitchFamily="18" charset="0"/>
                  <a:sym typeface="Calibri"/>
                </a:endParaRPr>
              </a:p>
              <a:p>
                <a:pPr marL="342900" indent="-342900" defTabSz="457200" hangingPunct="0">
                  <a:buFont typeface="Arial" panose="020B0604020202020204" pitchFamily="34" charset="0"/>
                  <a:buChar char="•"/>
                </a:pPr>
                <a:r>
                  <a:rPr lang="en-US" sz="2000" dirty="0">
                    <a:solidFill>
                      <a:srgbClr val="000000"/>
                    </a:solidFill>
                    <a:latin typeface="Calibri"/>
                    <a:ea typeface="Cambria Math" panose="02040503050406030204" pitchFamily="18" charset="0"/>
                    <a:sym typeface="Calibri"/>
                  </a:rPr>
                  <a:t>Thermal noise: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sym typeface="Calibri"/>
                      </a:rPr>
                      <m:t>−174</m:t>
                    </m:r>
                    <m:r>
                      <a:rPr lang="en-US" sz="2000" b="0" i="1" smtClean="0">
                        <a:solidFill>
                          <a:srgbClr val="000000"/>
                        </a:solidFill>
                        <a:latin typeface="Cambria Math" panose="02040503050406030204" pitchFamily="18" charset="0"/>
                        <a:ea typeface="Cambria Math" panose="02040503050406030204" pitchFamily="18" charset="0"/>
                        <a:sym typeface="Calibri"/>
                      </a:rPr>
                      <m:t>𝑑𝐵𝑊</m:t>
                    </m:r>
                  </m:oMath>
                </a14:m>
                <a:endParaRPr lang="en-US" sz="2000" dirty="0">
                  <a:solidFill>
                    <a:srgbClr val="000000"/>
                  </a:solidFill>
                  <a:latin typeface="Calibri"/>
                  <a:ea typeface="Cambria Math" panose="02040503050406030204" pitchFamily="18" charset="0"/>
                  <a:sym typeface="Calibri"/>
                </a:endParaRPr>
              </a:p>
              <a:p>
                <a:pPr marL="342900" indent="-342900" defTabSz="457200" hangingPunct="0">
                  <a:buFont typeface="Arial" panose="020B0604020202020204" pitchFamily="34" charset="0"/>
                  <a:buChar char="•"/>
                </a:pPr>
                <a:r>
                  <a:rPr lang="en-US" sz="2000" dirty="0">
                    <a:solidFill>
                      <a:srgbClr val="000000"/>
                    </a:solidFill>
                    <a:latin typeface="Calibri"/>
                    <a:ea typeface="Cambria Math" panose="02040503050406030204" pitchFamily="18" charset="0"/>
                    <a:sym typeface="Calibri"/>
                  </a:rPr>
                  <a:t>Noise Figure: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sym typeface="Calibri"/>
                      </a:rPr>
                      <m:t>𝐹</m:t>
                    </m:r>
                    <m:r>
                      <a:rPr lang="en-US" sz="2000" b="0" i="1" smtClean="0">
                        <a:solidFill>
                          <a:srgbClr val="000000"/>
                        </a:solidFill>
                        <a:latin typeface="Cambria Math" panose="02040503050406030204" pitchFamily="18" charset="0"/>
                        <a:ea typeface="Cambria Math" panose="02040503050406030204" pitchFamily="18" charset="0"/>
                        <a:sym typeface="Calibri"/>
                      </a:rPr>
                      <m:t>= </m:t>
                    </m:r>
                    <m:f>
                      <m:fPr>
                        <m:ctrlPr>
                          <a:rPr lang="en-US" sz="2000" b="0" i="1" smtClean="0">
                            <a:solidFill>
                              <a:srgbClr val="000000"/>
                            </a:solidFill>
                            <a:latin typeface="Cambria Math" panose="02040503050406030204" pitchFamily="18" charset="0"/>
                            <a:ea typeface="Cambria Math" panose="02040503050406030204" pitchFamily="18" charset="0"/>
                            <a:sym typeface="Calibri"/>
                          </a:rPr>
                        </m:ctrlPr>
                      </m:fPr>
                      <m:num>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𝑆𝑁𝑅</m:t>
                            </m:r>
                          </m:e>
                          <m:sub>
                            <m:r>
                              <a:rPr lang="en-US" sz="2000" b="0" i="1" smtClean="0">
                                <a:solidFill>
                                  <a:srgbClr val="000000"/>
                                </a:solidFill>
                                <a:latin typeface="Cambria Math" panose="02040503050406030204" pitchFamily="18" charset="0"/>
                                <a:ea typeface="Cambria Math" panose="02040503050406030204" pitchFamily="18" charset="0"/>
                                <a:sym typeface="Calibri"/>
                              </a:rPr>
                              <m:t>𝑖𝑑𝑒𝑎𝑙</m:t>
                            </m:r>
                          </m:sub>
                        </m:sSub>
                      </m:num>
                      <m:den>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𝑆𝑁𝑅</m:t>
                            </m:r>
                          </m:e>
                          <m:sub>
                            <m:r>
                              <a:rPr lang="en-US" sz="2000" b="0" i="1" smtClean="0">
                                <a:solidFill>
                                  <a:srgbClr val="000000"/>
                                </a:solidFill>
                                <a:latin typeface="Cambria Math" panose="02040503050406030204" pitchFamily="18" charset="0"/>
                                <a:ea typeface="Cambria Math" panose="02040503050406030204" pitchFamily="18" charset="0"/>
                                <a:sym typeface="Calibri"/>
                              </a:rPr>
                              <m:t>𝑜𝑢𝑡</m:t>
                            </m:r>
                          </m:sub>
                        </m:sSub>
                      </m:den>
                    </m:f>
                  </m:oMath>
                </a14:m>
                <a:r>
                  <a:rPr lang="en-US" sz="2000" dirty="0">
                    <a:solidFill>
                      <a:srgbClr val="000000"/>
                    </a:solidFill>
                    <a:latin typeface="Calibri"/>
                    <a:ea typeface="Cambria Math" panose="02040503050406030204" pitchFamily="18" charset="0"/>
                    <a:sym typeface="Calibri"/>
                  </a:rPr>
                  <a:t> .  Good LNA at GPS frequency has noise figure of </a:t>
                </a: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sym typeface="Calibri"/>
                      </a:rPr>
                      <m:t>2</m:t>
                    </m:r>
                    <m:r>
                      <a:rPr lang="en-US" sz="2000" b="0" i="1" smtClean="0">
                        <a:solidFill>
                          <a:srgbClr val="000000"/>
                        </a:solidFill>
                        <a:latin typeface="Cambria Math" panose="02040503050406030204" pitchFamily="18" charset="0"/>
                        <a:ea typeface="Cambria Math" panose="02040503050406030204" pitchFamily="18" charset="0"/>
                        <a:sym typeface="Calibri"/>
                      </a:rPr>
                      <m:t>.3</m:t>
                    </m:r>
                    <m:r>
                      <a:rPr lang="en-US" sz="2000" b="0" i="1" smtClean="0">
                        <a:solidFill>
                          <a:srgbClr val="000000"/>
                        </a:solidFill>
                        <a:latin typeface="Cambria Math" panose="02040503050406030204" pitchFamily="18" charset="0"/>
                        <a:ea typeface="Cambria Math" panose="02040503050406030204" pitchFamily="18" charset="0"/>
                        <a:sym typeface="Calibri"/>
                      </a:rPr>
                      <m:t>𝑑𝐵𝑊</m:t>
                    </m:r>
                  </m:oMath>
                </a14:m>
                <a:endParaRPr lang="en-US" sz="2000" b="0" dirty="0">
                  <a:solidFill>
                    <a:srgbClr val="000000"/>
                  </a:solidFill>
                  <a:latin typeface="Calibri"/>
                  <a:ea typeface="Cambria Math" panose="02040503050406030204" pitchFamily="18" charset="0"/>
                  <a:sym typeface="Calibri"/>
                </a:endParaRPr>
              </a:p>
              <a:p>
                <a:pPr marL="342900" indent="-342900" defTabSz="457200" hangingPunct="0">
                  <a:buFont typeface="Arial" panose="020B0604020202020204" pitchFamily="34" charset="0"/>
                  <a:buChar char="•"/>
                </a:pPr>
                <a:r>
                  <a:rPr lang="en-US" sz="2000" dirty="0">
                    <a:solidFill>
                      <a:srgbClr val="000000"/>
                    </a:solidFill>
                    <a:latin typeface="Calibri"/>
                    <a:ea typeface="Cambria Math" panose="02040503050406030204" pitchFamily="18" charset="0"/>
                    <a:sym typeface="Calibri"/>
                  </a:rPr>
                  <a:t>Compression point: when amp becomes non-linear.</a:t>
                </a:r>
              </a:p>
            </p:txBody>
          </p:sp>
        </mc:Choice>
        <mc:Fallback xmlns="">
          <p:sp>
            <p:nvSpPr>
              <p:cNvPr id="15" name="TextBox 14">
                <a:extLst>
                  <a:ext uri="{FF2B5EF4-FFF2-40B4-BE49-F238E27FC236}">
                    <a16:creationId xmlns:a16="http://schemas.microsoft.com/office/drawing/2014/main" id="{34EE796B-9DCB-DE41-AEA4-31CBF97794EF}"/>
                  </a:ext>
                </a:extLst>
              </p:cNvPr>
              <p:cNvSpPr txBox="1">
                <a:spLocks noRot="1" noChangeAspect="1" noMove="1" noResize="1" noEditPoints="1" noAdjustHandles="1" noChangeArrowheads="1" noChangeShapeType="1" noTextEdit="1"/>
              </p:cNvSpPr>
              <p:nvPr/>
            </p:nvSpPr>
            <p:spPr>
              <a:xfrm>
                <a:off x="917894" y="1912061"/>
                <a:ext cx="10356212" cy="4374052"/>
              </a:xfrm>
              <a:prstGeom prst="rect">
                <a:avLst/>
              </a:prstGeom>
              <a:blipFill>
                <a:blip r:embed="rId3"/>
                <a:stretch>
                  <a:fillRect l="-980" t="-870"/>
                </a:stretch>
              </a:blipFill>
              <a:ln w="12700" cap="flat">
                <a:noFill/>
                <a:miter lim="400000"/>
              </a:ln>
              <a:effectLst/>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9444990" y="62861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76</a:t>
            </a:fld>
            <a:endParaRPr lang="en-US" dirty="0">
              <a:solidFill>
                <a:schemeClr val="tx1"/>
              </a:solidFill>
            </a:endParaRPr>
          </a:p>
        </p:txBody>
      </p:sp>
    </p:spTree>
    <p:extLst>
      <p:ext uri="{BB962C8B-B14F-4D97-AF65-F5344CB8AC3E}">
        <p14:creationId xmlns:p14="http://schemas.microsoft.com/office/powerpoint/2010/main" val="332382294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155731"/>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Signal Structure</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9376410" y="629754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77</a:t>
            </a:fld>
            <a:endParaRPr lang="en-US" dirty="0">
              <a:solidFill>
                <a:schemeClr val="tx1"/>
              </a:solidFill>
            </a:endParaRPr>
          </a:p>
        </p:txBody>
      </p:sp>
      <p:pic>
        <p:nvPicPr>
          <p:cNvPr id="6" name="Picture 2" descr="Gen. Shelton in the News Again on GPS/LightSquared | SpectrumTalk - The MSS  Blog">
            <a:extLst>
              <a:ext uri="{FF2B5EF4-FFF2-40B4-BE49-F238E27FC236}">
                <a16:creationId xmlns:a16="http://schemas.microsoft.com/office/drawing/2014/main" id="{677E4272-1464-EE49-86C2-969A57F6312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64500" y="1847124"/>
            <a:ext cx="5408459" cy="4216764"/>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7" name="Picture 2" descr="Transmission of GPS Signals - GPS">
            <a:extLst>
              <a:ext uri="{FF2B5EF4-FFF2-40B4-BE49-F238E27FC236}">
                <a16:creationId xmlns:a16="http://schemas.microsoft.com/office/drawing/2014/main" id="{D74B2E4A-4D63-8744-B0BA-082190A178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06339" y="2264861"/>
            <a:ext cx="5817721" cy="3871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227062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265713"/>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GPS spectrum neighborhood</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9581321" y="6364780"/>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78</a:t>
            </a:fld>
            <a:endParaRPr lang="en-US" dirty="0">
              <a:solidFill>
                <a:schemeClr val="tx1"/>
              </a:solidFill>
            </a:endParaRPr>
          </a:p>
        </p:txBody>
      </p:sp>
      <p:pic>
        <p:nvPicPr>
          <p:cNvPr id="1025" name="Picture 1" descr="page2image30272896">
            <a:extLst>
              <a:ext uri="{FF2B5EF4-FFF2-40B4-BE49-F238E27FC236}">
                <a16:creationId xmlns:a16="http://schemas.microsoft.com/office/drawing/2014/main" id="{7177748B-48CD-F148-993A-6F0DD71C84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599" y="2201305"/>
            <a:ext cx="10681252" cy="36215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664919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155731"/>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Signal Summary</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6553200" y="6404292"/>
            <a:ext cx="2133600" cy="269241"/>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pPr lvl="0"/>
              <a:t>79</a:t>
            </a:fld>
            <a:endParaRPr lang="en-US"/>
          </a:p>
        </p:txBody>
      </p:sp>
      <p:pic>
        <p:nvPicPr>
          <p:cNvPr id="2052" name="Picture 4" descr="GPS Signal Plan - Navipedia">
            <a:extLst>
              <a:ext uri="{FF2B5EF4-FFF2-40B4-BE49-F238E27FC236}">
                <a16:creationId xmlns:a16="http://schemas.microsoft.com/office/drawing/2014/main" id="{5BAD19A1-FD40-184E-BCEF-89EED175F0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6130" y="1063399"/>
            <a:ext cx="6889685" cy="54755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421429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218921" y="267491"/>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L1 Signal Structure</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4EE796B-9DCB-DE41-AEA4-31CBF97794EF}"/>
                  </a:ext>
                </a:extLst>
              </p:cNvPr>
              <p:cNvSpPr txBox="1"/>
              <p:nvPr/>
            </p:nvSpPr>
            <p:spPr>
              <a:xfrm>
                <a:off x="497904" y="2022128"/>
                <a:ext cx="11250408" cy="40929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342900" indent="-342900" defTabSz="457200"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𝑠</m:t>
                        </m:r>
                      </m:e>
                      <m:sub>
                        <m:r>
                          <a:rPr lang="en-US" sz="2000" i="1">
                            <a:solidFill>
                              <a:srgbClr val="000000"/>
                            </a:solidFill>
                            <a:latin typeface="Cambria Math" panose="02040503050406030204" pitchFamily="18" charset="0"/>
                            <a:ea typeface="Cambria Math" panose="02040503050406030204" pitchFamily="18" charset="0"/>
                            <a:sym typeface="Calibri"/>
                          </a:rPr>
                          <m:t>𝑚</m:t>
                        </m:r>
                      </m:sub>
                    </m:sSub>
                    <m:d>
                      <m:dPr>
                        <m:ctrlPr>
                          <a:rPr lang="en-US" sz="2000" i="1">
                            <a:solidFill>
                              <a:srgbClr val="000000"/>
                            </a:solidFill>
                            <a:latin typeface="Cambria Math" panose="02040503050406030204" pitchFamily="18" charset="0"/>
                            <a:ea typeface="Cambria Math" panose="02040503050406030204" pitchFamily="18" charset="0"/>
                            <a:sym typeface="Calibri"/>
                          </a:rPr>
                        </m:ctrlPr>
                      </m:dPr>
                      <m:e>
                        <m:r>
                          <a:rPr lang="en-US" sz="2000" i="1">
                            <a:solidFill>
                              <a:srgbClr val="000000"/>
                            </a:solidFill>
                            <a:latin typeface="Cambria Math" panose="02040503050406030204" pitchFamily="18" charset="0"/>
                            <a:ea typeface="Cambria Math" panose="02040503050406030204" pitchFamily="18" charset="0"/>
                            <a:sym typeface="Calibri"/>
                          </a:rPr>
                          <m:t>𝑡</m:t>
                        </m:r>
                      </m:e>
                    </m:d>
                    <m:r>
                      <a:rPr lang="en-US" sz="2000" b="0" i="0" smtClean="0">
                        <a:solidFill>
                          <a:srgbClr val="000000"/>
                        </a:solidFill>
                        <a:latin typeface="Cambria Math" panose="02040503050406030204" pitchFamily="18" charset="0"/>
                        <a:ea typeface="Cambria Math" panose="02040503050406030204" pitchFamily="18" charset="0"/>
                        <a:sym typeface="Calibri"/>
                      </a:rPr>
                      <m:t>=</m:t>
                    </m:r>
                    <m:r>
                      <a:rPr lang="en-US" sz="2000" i="1">
                        <a:solidFill>
                          <a:srgbClr val="000000"/>
                        </a:solidFill>
                        <a:latin typeface="Cambria Math" panose="02040503050406030204" pitchFamily="18" charset="0"/>
                        <a:ea typeface="Cambria Math" panose="02040503050406030204" pitchFamily="18" charset="0"/>
                        <a:sym typeface="Calibri"/>
                      </a:rPr>
                      <m:t>𝐶</m:t>
                    </m:r>
                    <m:d>
                      <m:dPr>
                        <m:ctrlPr>
                          <a:rPr lang="en-US" sz="2000" i="1">
                            <a:solidFill>
                              <a:srgbClr val="000000"/>
                            </a:solidFill>
                            <a:latin typeface="Cambria Math" panose="02040503050406030204" pitchFamily="18" charset="0"/>
                            <a:ea typeface="Cambria Math" panose="02040503050406030204" pitchFamily="18" charset="0"/>
                            <a:sym typeface="Calibri"/>
                          </a:rPr>
                        </m:ctrlPr>
                      </m:dPr>
                      <m:e>
                        <m:r>
                          <a:rPr lang="en-US" sz="2000" i="1">
                            <a:solidFill>
                              <a:srgbClr val="000000"/>
                            </a:solidFill>
                            <a:latin typeface="Cambria Math" panose="02040503050406030204" pitchFamily="18" charset="0"/>
                            <a:ea typeface="Cambria Math" panose="02040503050406030204" pitchFamily="18" charset="0"/>
                            <a:sym typeface="Calibri"/>
                          </a:rPr>
                          <m:t>𝑡</m:t>
                        </m:r>
                      </m:e>
                    </m:d>
                    <m:r>
                      <a:rPr lang="en-US" sz="2000" i="1" smtClean="0">
                        <a:solidFill>
                          <a:srgbClr val="000000"/>
                        </a:solidFill>
                        <a:latin typeface="Cambria Math" panose="02040503050406030204" pitchFamily="18" charset="0"/>
                        <a:ea typeface="Cambria Math" panose="02040503050406030204" pitchFamily="18" charset="0"/>
                        <a:sym typeface="Calibri"/>
                      </a:rPr>
                      <m:t>⊕</m:t>
                    </m:r>
                    <m:r>
                      <a:rPr lang="en-US" sz="2000" i="1">
                        <a:solidFill>
                          <a:srgbClr val="000000"/>
                        </a:solidFill>
                        <a:latin typeface="Cambria Math" panose="02040503050406030204" pitchFamily="18" charset="0"/>
                        <a:ea typeface="Cambria Math" panose="02040503050406030204" pitchFamily="18" charset="0"/>
                        <a:sym typeface="Calibri"/>
                      </a:rPr>
                      <m:t>𝐷</m:t>
                    </m:r>
                    <m:d>
                      <m:dPr>
                        <m:ctrlPr>
                          <a:rPr lang="en-US" sz="2000" i="1">
                            <a:solidFill>
                              <a:srgbClr val="000000"/>
                            </a:solidFill>
                            <a:latin typeface="Cambria Math" panose="02040503050406030204" pitchFamily="18" charset="0"/>
                            <a:ea typeface="Cambria Math" panose="02040503050406030204" pitchFamily="18" charset="0"/>
                            <a:sym typeface="Calibri"/>
                          </a:rPr>
                        </m:ctrlPr>
                      </m:dPr>
                      <m:e>
                        <m:r>
                          <a:rPr lang="en-US" sz="2000" i="1">
                            <a:solidFill>
                              <a:srgbClr val="000000"/>
                            </a:solidFill>
                            <a:latin typeface="Cambria Math" panose="02040503050406030204" pitchFamily="18" charset="0"/>
                            <a:ea typeface="Cambria Math" panose="02040503050406030204" pitchFamily="18" charset="0"/>
                            <a:sym typeface="Calibri"/>
                          </a:rPr>
                          <m:t>𝑡</m:t>
                        </m:r>
                      </m:e>
                    </m:d>
                  </m:oMath>
                </a14:m>
                <a:r>
                  <a:rPr lang="en-US" sz="2000" dirty="0">
                    <a:solidFill>
                      <a:srgbClr val="000000"/>
                    </a:solidFill>
                    <a:latin typeface="Cambria Math" panose="02040503050406030204" pitchFamily="18" charset="0"/>
                    <a:ea typeface="Cambria Math" panose="02040503050406030204" pitchFamily="18" charset="0"/>
                    <a:sym typeface="Calibri"/>
                  </a:rPr>
                  <a:t>.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sym typeface="Calibri"/>
                      </a:rPr>
                      <m:t>𝑠</m:t>
                    </m:r>
                    <m:d>
                      <m:dPr>
                        <m:ctrlPr>
                          <a:rPr lang="en-US" sz="2000" b="0" i="1" smtClean="0">
                            <a:solidFill>
                              <a:srgbClr val="000000"/>
                            </a:solidFill>
                            <a:latin typeface="Cambria Math" panose="02040503050406030204" pitchFamily="18" charset="0"/>
                            <a:ea typeface="Cambria Math" panose="02040503050406030204" pitchFamily="18" charset="0"/>
                            <a:sym typeface="Calibri"/>
                          </a:rPr>
                        </m:ctrlPr>
                      </m:dPr>
                      <m:e>
                        <m:r>
                          <a:rPr lang="en-US" sz="2000" b="0" i="1" smtClean="0">
                            <a:solidFill>
                              <a:srgbClr val="000000"/>
                            </a:solidFill>
                            <a:latin typeface="Cambria Math" panose="02040503050406030204" pitchFamily="18" charset="0"/>
                            <a:ea typeface="Cambria Math" panose="02040503050406030204" pitchFamily="18" charset="0"/>
                            <a:sym typeface="Calibri"/>
                          </a:rPr>
                          <m:t>𝑡</m:t>
                        </m:r>
                      </m:e>
                    </m:d>
                    <m:r>
                      <a:rPr lang="en-US" sz="2000"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sz="2000" i="1" smtClean="0">
                            <a:solidFill>
                              <a:srgbClr val="000000"/>
                            </a:solidFill>
                            <a:latin typeface="Cambria Math" panose="02040503050406030204" pitchFamily="18" charset="0"/>
                            <a:ea typeface="Cambria Math" panose="02040503050406030204" pitchFamily="18" charset="0"/>
                            <a:sym typeface="Calibri"/>
                          </a:rPr>
                        </m:ctrlPr>
                      </m:sSubPr>
                      <m:e>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𝐴</m:t>
                            </m:r>
                          </m:e>
                          <m:sub>
                            <m:r>
                              <a:rPr lang="en-US" sz="2000" b="0" i="1" smtClean="0">
                                <a:solidFill>
                                  <a:srgbClr val="000000"/>
                                </a:solidFill>
                                <a:latin typeface="Cambria Math" panose="02040503050406030204" pitchFamily="18" charset="0"/>
                                <a:ea typeface="Cambria Math" panose="02040503050406030204" pitchFamily="18" charset="0"/>
                                <a:sym typeface="Calibri"/>
                              </a:rPr>
                              <m:t>𝑐</m:t>
                            </m:r>
                          </m:sub>
                        </m:sSub>
                        <m:r>
                          <a:rPr lang="en-US" sz="2000" i="1">
                            <a:solidFill>
                              <a:srgbClr val="000000"/>
                            </a:solidFill>
                            <a:latin typeface="Cambria Math" panose="02040503050406030204" pitchFamily="18" charset="0"/>
                            <a:ea typeface="Cambria Math" panose="02040503050406030204" pitchFamily="18" charset="0"/>
                            <a:sym typeface="Calibri"/>
                          </a:rPr>
                          <m:t>𝑠</m:t>
                        </m:r>
                      </m:e>
                      <m:sub>
                        <m:r>
                          <a:rPr lang="en-US" sz="2000" i="1">
                            <a:solidFill>
                              <a:srgbClr val="000000"/>
                            </a:solidFill>
                            <a:latin typeface="Cambria Math" panose="02040503050406030204" pitchFamily="18" charset="0"/>
                            <a:ea typeface="Cambria Math" panose="02040503050406030204" pitchFamily="18" charset="0"/>
                            <a:sym typeface="Calibri"/>
                          </a:rPr>
                          <m:t>𝑚</m:t>
                        </m:r>
                      </m:sub>
                    </m:sSub>
                    <m:d>
                      <m:dPr>
                        <m:ctrlPr>
                          <a:rPr lang="en-US" sz="2000" i="1">
                            <a:solidFill>
                              <a:srgbClr val="000000"/>
                            </a:solidFill>
                            <a:latin typeface="Cambria Math" panose="02040503050406030204" pitchFamily="18" charset="0"/>
                            <a:ea typeface="Cambria Math" panose="02040503050406030204" pitchFamily="18" charset="0"/>
                            <a:sym typeface="Calibri"/>
                          </a:rPr>
                        </m:ctrlPr>
                      </m:dPr>
                      <m:e>
                        <m:r>
                          <a:rPr lang="en-US" sz="2000" i="1">
                            <a:solidFill>
                              <a:srgbClr val="000000"/>
                            </a:solidFill>
                            <a:latin typeface="Cambria Math" panose="02040503050406030204" pitchFamily="18" charset="0"/>
                            <a:ea typeface="Cambria Math" panose="02040503050406030204" pitchFamily="18" charset="0"/>
                            <a:sym typeface="Calibri"/>
                          </a:rPr>
                          <m:t>𝑡</m:t>
                        </m:r>
                      </m:e>
                    </m:d>
                    <m:r>
                      <m:rPr>
                        <m:sty m:val="p"/>
                      </m:rPr>
                      <a:rPr lang="en-US" sz="2000" b="0" i="0" smtClean="0">
                        <a:solidFill>
                          <a:srgbClr val="000000"/>
                        </a:solidFill>
                        <a:latin typeface="Cambria Math" panose="02040503050406030204" pitchFamily="18" charset="0"/>
                        <a:ea typeface="Cambria Math" panose="02040503050406030204" pitchFamily="18" charset="0"/>
                        <a:sym typeface="Calibri"/>
                      </a:rPr>
                      <m:t>cos</m:t>
                    </m:r>
                    <m:r>
                      <a:rPr lang="en-US" sz="2000"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𝜔</m:t>
                        </m:r>
                      </m:e>
                      <m:sub>
                        <m:r>
                          <a:rPr lang="en-US" sz="2000" b="0" i="1" smtClean="0">
                            <a:solidFill>
                              <a:srgbClr val="000000"/>
                            </a:solidFill>
                            <a:latin typeface="Cambria Math" panose="02040503050406030204" pitchFamily="18" charset="0"/>
                            <a:ea typeface="Cambria Math" panose="02040503050406030204" pitchFamily="18" charset="0"/>
                            <a:sym typeface="Calibri"/>
                          </a:rPr>
                          <m:t>𝑐</m:t>
                        </m:r>
                      </m:sub>
                    </m:sSub>
                    <m:r>
                      <a:rPr lang="en-US" sz="2000" b="0" i="1" smtClean="0">
                        <a:solidFill>
                          <a:srgbClr val="000000"/>
                        </a:solidFill>
                        <a:latin typeface="Cambria Math" panose="02040503050406030204" pitchFamily="18" charset="0"/>
                        <a:ea typeface="Cambria Math" panose="02040503050406030204" pitchFamily="18" charset="0"/>
                        <a:sym typeface="Calibri"/>
                      </a:rPr>
                      <m:t>𝑡</m:t>
                    </m:r>
                    <m:r>
                      <a:rPr lang="en-US" sz="2000"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𝜃</m:t>
                        </m:r>
                      </m:e>
                      <m:sub>
                        <m:r>
                          <a:rPr lang="en-US" sz="2000" b="0" i="1" smtClean="0">
                            <a:solidFill>
                              <a:srgbClr val="000000"/>
                            </a:solidFill>
                            <a:latin typeface="Cambria Math" panose="02040503050406030204" pitchFamily="18" charset="0"/>
                            <a:ea typeface="Cambria Math" panose="02040503050406030204" pitchFamily="18" charset="0"/>
                            <a:sym typeface="Calibri"/>
                          </a:rPr>
                          <m:t>1</m:t>
                        </m:r>
                      </m:sub>
                    </m:sSub>
                    <m:r>
                      <a:rPr lang="en-US" sz="2000" b="0" i="1" smtClean="0">
                        <a:solidFill>
                          <a:srgbClr val="000000"/>
                        </a:solidFill>
                        <a:latin typeface="Cambria Math" panose="02040503050406030204" pitchFamily="18" charset="0"/>
                        <a:ea typeface="Cambria Math" panose="02040503050406030204" pitchFamily="18" charset="0"/>
                        <a:sym typeface="Calibri"/>
                      </a:rPr>
                      <m:t>)</m:t>
                    </m:r>
                  </m:oMath>
                </a14:m>
                <a:r>
                  <a:rPr lang="en-US" sz="2000" dirty="0">
                    <a:solidFill>
                      <a:srgbClr val="000000"/>
                    </a:solidFill>
                    <a:latin typeface="Cambria Math" panose="02040503050406030204" pitchFamily="18" charset="0"/>
                    <a:ea typeface="Cambria Math" panose="02040503050406030204" pitchFamily="18" charset="0"/>
                    <a:sym typeface="Calibri"/>
                  </a:rPr>
                  <a:t> [</a:t>
                </a:r>
                <a:r>
                  <a:rPr lang="en-US" sz="2000" dirty="0" err="1">
                    <a:solidFill>
                      <a:srgbClr val="000000"/>
                    </a:solidFill>
                    <a:latin typeface="Cambria Math" panose="02040503050406030204" pitchFamily="18" charset="0"/>
                    <a:ea typeface="Cambria Math" panose="02040503050406030204" pitchFamily="18" charset="0"/>
                    <a:sym typeface="Calibri"/>
                  </a:rPr>
                  <a:t>bspk</a:t>
                </a:r>
                <a:r>
                  <a:rPr lang="en-US" sz="2000" dirty="0">
                    <a:solidFill>
                      <a:srgbClr val="000000"/>
                    </a:solidFill>
                    <a:latin typeface="Cambria Math" panose="02040503050406030204" pitchFamily="18" charset="0"/>
                    <a:ea typeface="Cambria Math" panose="02040503050406030204" pitchFamily="18" charset="0"/>
                    <a:sym typeface="Calibri"/>
                  </a:rPr>
                  <a:t>]</a:t>
                </a:r>
              </a:p>
              <a:p>
                <a:pPr marL="800100" lvl="1" indent="-342900" defTabSz="457200" hangingPunct="0">
                  <a:buFont typeface="Arial" panose="020B0604020202020204" pitchFamily="34" charset="0"/>
                  <a:buChar char="•"/>
                </a:pPr>
                <a:r>
                  <a:rPr lang="en-US" sz="2000" dirty="0"/>
                  <a:t>D(t) - 50 bps transmission (20ms).</a:t>
                </a:r>
              </a:p>
              <a:p>
                <a:pPr marL="800100" lvl="1" indent="-342900" defTabSz="457200"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C(t) – 1 Mbps</a:t>
                </a:r>
                <a:r>
                  <a:rPr lang="en-US" sz="2400" dirty="0">
                    <a:solidFill>
                      <a:srgbClr val="000000"/>
                    </a:solidFill>
                    <a:ea typeface="Cambria Math" panose="02040503050406030204" pitchFamily="18" charset="0"/>
                    <a:sym typeface="Calibri"/>
                  </a:rPr>
                  <a:t> </a:t>
                </a:r>
                <a:r>
                  <a:rPr lang="en-US" sz="2000" dirty="0">
                    <a:solidFill>
                      <a:srgbClr val="000000"/>
                    </a:solidFill>
                    <a:latin typeface="Calibri"/>
                    <a:ea typeface="Cambria Math" panose="02040503050406030204" pitchFamily="18" charset="0"/>
                    <a:sym typeface="Calibri"/>
                  </a:rPr>
                  <a:t>chipping rate.  300 meters, </a:t>
                </a: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sym typeface="Calibri"/>
                      </a:rPr>
                      <m:t>1</m:t>
                    </m:r>
                    <m:r>
                      <a:rPr lang="en-US" sz="2000" i="1">
                        <a:solidFill>
                          <a:srgbClr val="000000"/>
                        </a:solidFill>
                        <a:latin typeface="Cambria Math" panose="02040503050406030204" pitchFamily="18" charset="0"/>
                        <a:ea typeface="Cambria Math" panose="02040503050406030204" pitchFamily="18" charset="0"/>
                        <a:sym typeface="Calibri"/>
                      </a:rPr>
                      <m:t>𝜇</m:t>
                    </m:r>
                    <m:r>
                      <a:rPr lang="en-US" sz="2000" i="1">
                        <a:solidFill>
                          <a:srgbClr val="000000"/>
                        </a:solidFill>
                        <a:latin typeface="Cambria Math" panose="02040503050406030204" pitchFamily="18" charset="0"/>
                        <a:ea typeface="Cambria Math" panose="02040503050406030204" pitchFamily="18" charset="0"/>
                        <a:sym typeface="Calibri"/>
                      </a:rPr>
                      <m:t>𝑠</m:t>
                    </m:r>
                    <m:r>
                      <a:rPr lang="en-US" sz="2000" b="0" i="1" smtClean="0">
                        <a:solidFill>
                          <a:srgbClr val="000000"/>
                        </a:solidFill>
                        <a:latin typeface="Cambria Math" panose="02040503050406030204" pitchFamily="18" charset="0"/>
                        <a:ea typeface="Cambria Math" panose="02040503050406030204" pitchFamily="18" charset="0"/>
                        <a:sym typeface="Calibri"/>
                      </a:rPr>
                      <m:t>/</m:t>
                    </m:r>
                    <m:r>
                      <a:rPr lang="en-US" sz="2000" b="0" i="1" smtClean="0">
                        <a:solidFill>
                          <a:srgbClr val="000000"/>
                        </a:solidFill>
                        <a:latin typeface="Cambria Math" panose="02040503050406030204" pitchFamily="18" charset="0"/>
                        <a:ea typeface="Cambria Math" panose="02040503050406030204" pitchFamily="18" charset="0"/>
                        <a:sym typeface="Calibri"/>
                      </a:rPr>
                      <m:t>𝑐ℎ𝑖𝑝</m:t>
                    </m:r>
                  </m:oMath>
                </a14:m>
                <a:r>
                  <a:rPr lang="en-US" sz="2000" dirty="0">
                    <a:solidFill>
                      <a:srgbClr val="000000"/>
                    </a:solidFill>
                    <a:ea typeface="Cambria Math" panose="02040503050406030204" pitchFamily="18" charset="0"/>
                    <a:sym typeface="Calibri"/>
                  </a:rPr>
                  <a:t>.  Chipping code repeats 20 times for single navigation bit.</a:t>
                </a:r>
              </a:p>
              <a:p>
                <a:pPr marL="342900" indent="-342900" defTabSz="457200"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C/A code is generated from two Gold codes and the PRN identifier (5 bits).</a:t>
                </a:r>
              </a:p>
              <a:p>
                <a:pPr marL="800100" lvl="1" indent="-342900" defTabSz="457200"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𝑔</m:t>
                        </m:r>
                      </m:e>
                      <m:sub>
                        <m:r>
                          <a:rPr lang="en-US" sz="2000" b="0" i="1" smtClean="0">
                            <a:solidFill>
                              <a:srgbClr val="000000"/>
                            </a:solidFill>
                            <a:latin typeface="Cambria Math" panose="02040503050406030204" pitchFamily="18" charset="0"/>
                            <a:ea typeface="Cambria Math" panose="02040503050406030204" pitchFamily="18" charset="0"/>
                            <a:sym typeface="Calibri"/>
                          </a:rPr>
                          <m:t>1</m:t>
                        </m:r>
                      </m:sub>
                    </m:sSub>
                    <m:d>
                      <m:dPr>
                        <m:ctrlPr>
                          <a:rPr lang="en-US" sz="2000" b="0" i="1" smtClean="0">
                            <a:solidFill>
                              <a:srgbClr val="000000"/>
                            </a:solidFill>
                            <a:latin typeface="Cambria Math" panose="02040503050406030204" pitchFamily="18" charset="0"/>
                            <a:ea typeface="Cambria Math" panose="02040503050406030204" pitchFamily="18" charset="0"/>
                            <a:sym typeface="Calibri"/>
                          </a:rPr>
                        </m:ctrlPr>
                      </m:dPr>
                      <m:e>
                        <m:r>
                          <a:rPr lang="en-US" sz="2000" b="0" i="1" smtClean="0">
                            <a:solidFill>
                              <a:srgbClr val="000000"/>
                            </a:solidFill>
                            <a:latin typeface="Cambria Math" panose="02040503050406030204" pitchFamily="18" charset="0"/>
                            <a:ea typeface="Cambria Math" panose="02040503050406030204" pitchFamily="18" charset="0"/>
                            <a:sym typeface="Calibri"/>
                          </a:rPr>
                          <m:t>𝑥</m:t>
                        </m:r>
                      </m:e>
                    </m:d>
                    <m:r>
                      <a:rPr lang="en-US" sz="2000" b="0" i="1" smtClean="0">
                        <a:solidFill>
                          <a:srgbClr val="000000"/>
                        </a:solidFill>
                        <a:latin typeface="Cambria Math" panose="02040503050406030204" pitchFamily="18" charset="0"/>
                        <a:ea typeface="Cambria Math" panose="02040503050406030204" pitchFamily="18" charset="0"/>
                        <a:sym typeface="Calibri"/>
                      </a:rPr>
                      <m:t>=</m:t>
                    </m:r>
                    <m:r>
                      <a:rPr lang="en-US" sz="2000" b="0" i="0" smtClean="0">
                        <a:solidFill>
                          <a:srgbClr val="000000"/>
                        </a:solidFill>
                        <a:latin typeface="Cambria Math" panose="02040503050406030204" pitchFamily="18" charset="0"/>
                        <a:ea typeface="Cambria Math" panose="02040503050406030204" pitchFamily="18" charset="0"/>
                        <a:sym typeface="Calibri"/>
                      </a:rPr>
                      <m:t>1+ </m:t>
                    </m:r>
                    <m:sSup>
                      <m:sSup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pPr>
                      <m:e>
                        <m:r>
                          <a:rPr lang="en-US" sz="2000" b="0" i="1" smtClean="0">
                            <a:solidFill>
                              <a:srgbClr val="000000"/>
                            </a:solidFill>
                            <a:latin typeface="Cambria Math" panose="02040503050406030204" pitchFamily="18" charset="0"/>
                            <a:ea typeface="Cambria Math" panose="02040503050406030204" pitchFamily="18" charset="0"/>
                            <a:sym typeface="Calibri"/>
                          </a:rPr>
                          <m:t>𝑥</m:t>
                        </m:r>
                      </m:e>
                      <m:sup>
                        <m:r>
                          <a:rPr lang="en-US" sz="2000" b="0" i="1" smtClean="0">
                            <a:solidFill>
                              <a:srgbClr val="000000"/>
                            </a:solidFill>
                            <a:latin typeface="Cambria Math" panose="02040503050406030204" pitchFamily="18" charset="0"/>
                            <a:ea typeface="Cambria Math" panose="02040503050406030204" pitchFamily="18" charset="0"/>
                            <a:sym typeface="Calibri"/>
                          </a:rPr>
                          <m:t>3</m:t>
                        </m:r>
                      </m:sup>
                    </m:sSup>
                    <m:r>
                      <a:rPr lang="en-US" sz="2000" b="0" i="1" smtClean="0">
                        <a:solidFill>
                          <a:srgbClr val="000000"/>
                        </a:solidFill>
                        <a:latin typeface="Cambria Math" panose="02040503050406030204" pitchFamily="18" charset="0"/>
                        <a:ea typeface="Cambria Math" panose="02040503050406030204" pitchFamily="18" charset="0"/>
                        <a:sym typeface="Calibri"/>
                      </a:rPr>
                      <m:t>+</m:t>
                    </m:r>
                    <m:sSup>
                      <m:sSup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pPr>
                      <m:e>
                        <m:r>
                          <a:rPr lang="en-US" sz="2000" b="0" i="1" smtClean="0">
                            <a:solidFill>
                              <a:srgbClr val="000000"/>
                            </a:solidFill>
                            <a:latin typeface="Cambria Math" panose="02040503050406030204" pitchFamily="18" charset="0"/>
                            <a:ea typeface="Cambria Math" panose="02040503050406030204" pitchFamily="18" charset="0"/>
                            <a:sym typeface="Calibri"/>
                          </a:rPr>
                          <m:t>𝑥</m:t>
                        </m:r>
                      </m:e>
                      <m:sup>
                        <m:r>
                          <a:rPr lang="en-US" sz="2000" b="0" i="1" smtClean="0">
                            <a:solidFill>
                              <a:srgbClr val="000000"/>
                            </a:solidFill>
                            <a:latin typeface="Cambria Math" panose="02040503050406030204" pitchFamily="18" charset="0"/>
                            <a:ea typeface="Cambria Math" panose="02040503050406030204" pitchFamily="18" charset="0"/>
                            <a:sym typeface="Calibri"/>
                          </a:rPr>
                          <m:t>10</m:t>
                        </m:r>
                      </m:sup>
                    </m:sSup>
                  </m:oMath>
                </a14:m>
                <a:r>
                  <a:rPr lang="en-US" sz="2000" dirty="0">
                    <a:solidFill>
                      <a:srgbClr val="000000"/>
                    </a:solidFill>
                    <a:ea typeface="Cambria Math" panose="02040503050406030204" pitchFamily="18" charset="0"/>
                    <a:sym typeface="Calibri"/>
                  </a:rPr>
                  <a:t>,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𝑔</m:t>
                        </m:r>
                      </m:e>
                      <m:sub>
                        <m:r>
                          <a:rPr lang="en-US" sz="2000" b="0" i="1" smtClean="0">
                            <a:solidFill>
                              <a:srgbClr val="000000"/>
                            </a:solidFill>
                            <a:latin typeface="Cambria Math" panose="02040503050406030204" pitchFamily="18" charset="0"/>
                            <a:ea typeface="Cambria Math" panose="02040503050406030204" pitchFamily="18" charset="0"/>
                            <a:sym typeface="Calibri"/>
                          </a:rPr>
                          <m:t>2</m:t>
                        </m:r>
                      </m:sub>
                    </m:sSub>
                    <m:d>
                      <m:dPr>
                        <m:ctrlPr>
                          <a:rPr lang="en-US" sz="2000" i="1">
                            <a:solidFill>
                              <a:srgbClr val="000000"/>
                            </a:solidFill>
                            <a:latin typeface="Cambria Math" panose="02040503050406030204" pitchFamily="18" charset="0"/>
                            <a:ea typeface="Cambria Math" panose="02040503050406030204" pitchFamily="18" charset="0"/>
                            <a:sym typeface="Calibri"/>
                          </a:rPr>
                        </m:ctrlPr>
                      </m:dPr>
                      <m:e>
                        <m:r>
                          <a:rPr lang="en-US" sz="2000" i="1">
                            <a:solidFill>
                              <a:srgbClr val="000000"/>
                            </a:solidFill>
                            <a:latin typeface="Cambria Math" panose="02040503050406030204" pitchFamily="18" charset="0"/>
                            <a:ea typeface="Cambria Math" panose="02040503050406030204" pitchFamily="18" charset="0"/>
                            <a:sym typeface="Calibri"/>
                          </a:rPr>
                          <m:t>𝑥</m:t>
                        </m:r>
                      </m:e>
                    </m:d>
                    <m:r>
                      <a:rPr lang="en-US" sz="2000" i="1">
                        <a:solidFill>
                          <a:srgbClr val="000000"/>
                        </a:solidFill>
                        <a:latin typeface="Cambria Math" panose="02040503050406030204" pitchFamily="18" charset="0"/>
                        <a:ea typeface="Cambria Math" panose="02040503050406030204" pitchFamily="18" charset="0"/>
                        <a:sym typeface="Calibri"/>
                      </a:rPr>
                      <m:t>=</m:t>
                    </m:r>
                    <m:r>
                      <a:rPr lang="en-US" sz="2000">
                        <a:solidFill>
                          <a:srgbClr val="000000"/>
                        </a:solidFill>
                        <a:latin typeface="Cambria Math" panose="02040503050406030204" pitchFamily="18" charset="0"/>
                        <a:ea typeface="Cambria Math" panose="02040503050406030204" pitchFamily="18" charset="0"/>
                        <a:sym typeface="Calibri"/>
                      </a:rPr>
                      <m:t>1+</m:t>
                    </m:r>
                    <m:sSup>
                      <m:sSupPr>
                        <m:ctrlPr>
                          <a:rPr lang="en-US" sz="2000" i="1">
                            <a:solidFill>
                              <a:srgbClr val="000000"/>
                            </a:solidFill>
                            <a:latin typeface="Cambria Math" panose="02040503050406030204" pitchFamily="18" charset="0"/>
                            <a:ea typeface="Cambria Math" panose="02040503050406030204" pitchFamily="18" charset="0"/>
                            <a:sym typeface="Calibri"/>
                          </a:rPr>
                        </m:ctrlPr>
                      </m:sSupPr>
                      <m:e>
                        <m:r>
                          <a:rPr lang="en-US" sz="2000" i="1">
                            <a:solidFill>
                              <a:srgbClr val="000000"/>
                            </a:solidFill>
                            <a:latin typeface="Cambria Math" panose="02040503050406030204" pitchFamily="18" charset="0"/>
                            <a:ea typeface="Cambria Math" panose="02040503050406030204" pitchFamily="18" charset="0"/>
                            <a:sym typeface="Calibri"/>
                          </a:rPr>
                          <m:t>𝑥</m:t>
                        </m:r>
                      </m:e>
                      <m:sup>
                        <m:r>
                          <a:rPr lang="en-US" sz="2000" b="0" i="1" smtClean="0">
                            <a:solidFill>
                              <a:srgbClr val="000000"/>
                            </a:solidFill>
                            <a:latin typeface="Cambria Math" panose="02040503050406030204" pitchFamily="18" charset="0"/>
                            <a:ea typeface="Cambria Math" panose="02040503050406030204" pitchFamily="18" charset="0"/>
                            <a:sym typeface="Calibri"/>
                          </a:rPr>
                          <m:t>2</m:t>
                        </m:r>
                      </m:sup>
                    </m:sSup>
                    <m:r>
                      <a:rPr lang="en-US" sz="2000" i="1">
                        <a:solidFill>
                          <a:srgbClr val="000000"/>
                        </a:solidFill>
                        <a:latin typeface="Cambria Math" panose="02040503050406030204" pitchFamily="18" charset="0"/>
                        <a:ea typeface="Cambria Math" panose="02040503050406030204" pitchFamily="18" charset="0"/>
                        <a:sym typeface="Calibri"/>
                      </a:rPr>
                      <m:t>+</m:t>
                    </m:r>
                    <m:sSup>
                      <m:sSupPr>
                        <m:ctrlPr>
                          <a:rPr lang="en-US" sz="2000" i="1">
                            <a:solidFill>
                              <a:srgbClr val="000000"/>
                            </a:solidFill>
                            <a:latin typeface="Cambria Math" panose="02040503050406030204" pitchFamily="18" charset="0"/>
                            <a:ea typeface="Cambria Math" panose="02040503050406030204" pitchFamily="18" charset="0"/>
                            <a:sym typeface="Calibri"/>
                          </a:rPr>
                        </m:ctrlPr>
                      </m:sSupPr>
                      <m:e>
                        <m:r>
                          <a:rPr lang="en-US" sz="2000" i="1">
                            <a:solidFill>
                              <a:srgbClr val="000000"/>
                            </a:solidFill>
                            <a:latin typeface="Cambria Math" panose="02040503050406030204" pitchFamily="18" charset="0"/>
                            <a:ea typeface="Cambria Math" panose="02040503050406030204" pitchFamily="18" charset="0"/>
                            <a:sym typeface="Calibri"/>
                          </a:rPr>
                          <m:t>𝑥</m:t>
                        </m:r>
                      </m:e>
                      <m:sup>
                        <m:r>
                          <a:rPr lang="en-US" sz="2000" i="1">
                            <a:solidFill>
                              <a:srgbClr val="000000"/>
                            </a:solidFill>
                            <a:latin typeface="Cambria Math" panose="02040503050406030204" pitchFamily="18" charset="0"/>
                            <a:ea typeface="Cambria Math" panose="02040503050406030204" pitchFamily="18" charset="0"/>
                            <a:sym typeface="Calibri"/>
                          </a:rPr>
                          <m:t>3</m:t>
                        </m:r>
                      </m:sup>
                    </m:sSup>
                    <m:r>
                      <a:rPr lang="en-US" sz="2000" i="1">
                        <a:solidFill>
                          <a:srgbClr val="000000"/>
                        </a:solidFill>
                        <a:latin typeface="Cambria Math" panose="02040503050406030204" pitchFamily="18" charset="0"/>
                        <a:ea typeface="Cambria Math" panose="02040503050406030204" pitchFamily="18" charset="0"/>
                        <a:sym typeface="Calibri"/>
                      </a:rPr>
                      <m:t>+</m:t>
                    </m:r>
                    <m:sSup>
                      <m:sSupPr>
                        <m:ctrlPr>
                          <a:rPr lang="en-US" sz="2000" i="1">
                            <a:solidFill>
                              <a:srgbClr val="000000"/>
                            </a:solidFill>
                            <a:latin typeface="Cambria Math" panose="02040503050406030204" pitchFamily="18" charset="0"/>
                            <a:ea typeface="Cambria Math" panose="02040503050406030204" pitchFamily="18" charset="0"/>
                            <a:sym typeface="Calibri"/>
                          </a:rPr>
                        </m:ctrlPr>
                      </m:sSupPr>
                      <m:e>
                        <m:r>
                          <a:rPr lang="en-US" sz="2000" i="1">
                            <a:solidFill>
                              <a:srgbClr val="000000"/>
                            </a:solidFill>
                            <a:latin typeface="Cambria Math" panose="02040503050406030204" pitchFamily="18" charset="0"/>
                            <a:ea typeface="Cambria Math" panose="02040503050406030204" pitchFamily="18" charset="0"/>
                            <a:sym typeface="Calibri"/>
                          </a:rPr>
                          <m:t>𝑥</m:t>
                        </m:r>
                      </m:e>
                      <m:sup>
                        <m:r>
                          <a:rPr lang="en-US" sz="2000" b="0" i="1" smtClean="0">
                            <a:solidFill>
                              <a:srgbClr val="000000"/>
                            </a:solidFill>
                            <a:latin typeface="Cambria Math" panose="02040503050406030204" pitchFamily="18" charset="0"/>
                            <a:ea typeface="Cambria Math" panose="02040503050406030204" pitchFamily="18" charset="0"/>
                            <a:sym typeface="Calibri"/>
                          </a:rPr>
                          <m:t>8</m:t>
                        </m:r>
                      </m:sup>
                    </m:sSup>
                    <m:r>
                      <a:rPr lang="en-US" sz="2000" i="1">
                        <a:solidFill>
                          <a:srgbClr val="000000"/>
                        </a:solidFill>
                        <a:latin typeface="Cambria Math" panose="02040503050406030204" pitchFamily="18" charset="0"/>
                        <a:ea typeface="Cambria Math" panose="02040503050406030204" pitchFamily="18" charset="0"/>
                        <a:sym typeface="Calibri"/>
                      </a:rPr>
                      <m:t>+</m:t>
                    </m:r>
                    <m:sSup>
                      <m:sSupPr>
                        <m:ctrlPr>
                          <a:rPr lang="en-US" sz="2000" i="1">
                            <a:solidFill>
                              <a:srgbClr val="000000"/>
                            </a:solidFill>
                            <a:latin typeface="Cambria Math" panose="02040503050406030204" pitchFamily="18" charset="0"/>
                            <a:ea typeface="Cambria Math" panose="02040503050406030204" pitchFamily="18" charset="0"/>
                            <a:sym typeface="Calibri"/>
                          </a:rPr>
                        </m:ctrlPr>
                      </m:sSupPr>
                      <m:e>
                        <m:r>
                          <a:rPr lang="en-US" sz="2000" i="1">
                            <a:solidFill>
                              <a:srgbClr val="000000"/>
                            </a:solidFill>
                            <a:latin typeface="Cambria Math" panose="02040503050406030204" pitchFamily="18" charset="0"/>
                            <a:ea typeface="Cambria Math" panose="02040503050406030204" pitchFamily="18" charset="0"/>
                            <a:sym typeface="Calibri"/>
                          </a:rPr>
                          <m:t>𝑥</m:t>
                        </m:r>
                      </m:e>
                      <m:sup>
                        <m:r>
                          <a:rPr lang="en-US" sz="2000" b="0" i="1" smtClean="0">
                            <a:solidFill>
                              <a:srgbClr val="000000"/>
                            </a:solidFill>
                            <a:latin typeface="Cambria Math" panose="02040503050406030204" pitchFamily="18" charset="0"/>
                            <a:ea typeface="Cambria Math" panose="02040503050406030204" pitchFamily="18" charset="0"/>
                            <a:sym typeface="Calibri"/>
                          </a:rPr>
                          <m:t>9</m:t>
                        </m:r>
                      </m:sup>
                    </m:sSup>
                    <m:r>
                      <a:rPr lang="en-US" sz="2000" i="1">
                        <a:solidFill>
                          <a:srgbClr val="000000"/>
                        </a:solidFill>
                        <a:latin typeface="Cambria Math" panose="02040503050406030204" pitchFamily="18" charset="0"/>
                        <a:ea typeface="Cambria Math" panose="02040503050406030204" pitchFamily="18" charset="0"/>
                        <a:sym typeface="Calibri"/>
                      </a:rPr>
                      <m:t>+</m:t>
                    </m:r>
                    <m:sSup>
                      <m:sSupPr>
                        <m:ctrlPr>
                          <a:rPr lang="en-US" sz="2000" i="1">
                            <a:solidFill>
                              <a:srgbClr val="000000"/>
                            </a:solidFill>
                            <a:latin typeface="Cambria Math" panose="02040503050406030204" pitchFamily="18" charset="0"/>
                            <a:ea typeface="Cambria Math" panose="02040503050406030204" pitchFamily="18" charset="0"/>
                            <a:sym typeface="Calibri"/>
                          </a:rPr>
                        </m:ctrlPr>
                      </m:sSupPr>
                      <m:e>
                        <m:r>
                          <a:rPr lang="en-US" sz="2000" i="1">
                            <a:solidFill>
                              <a:srgbClr val="000000"/>
                            </a:solidFill>
                            <a:latin typeface="Cambria Math" panose="02040503050406030204" pitchFamily="18" charset="0"/>
                            <a:ea typeface="Cambria Math" panose="02040503050406030204" pitchFamily="18" charset="0"/>
                            <a:sym typeface="Calibri"/>
                          </a:rPr>
                          <m:t>𝑥</m:t>
                        </m:r>
                      </m:e>
                      <m:sup>
                        <m:r>
                          <a:rPr lang="en-US" sz="2000" i="1">
                            <a:solidFill>
                              <a:srgbClr val="000000"/>
                            </a:solidFill>
                            <a:latin typeface="Cambria Math" panose="02040503050406030204" pitchFamily="18" charset="0"/>
                            <a:ea typeface="Cambria Math" panose="02040503050406030204" pitchFamily="18" charset="0"/>
                            <a:sym typeface="Calibri"/>
                          </a:rPr>
                          <m:t>10</m:t>
                        </m:r>
                      </m:sup>
                    </m:sSup>
                  </m:oMath>
                </a14:m>
                <a:endParaRPr lang="en-US" sz="2000" dirty="0">
                  <a:solidFill>
                    <a:srgbClr val="000000"/>
                  </a:solidFill>
                  <a:ea typeface="Cambria Math" panose="02040503050406030204" pitchFamily="18" charset="0"/>
                  <a:sym typeface="Calibri"/>
                </a:endParaRPr>
              </a:p>
              <a:p>
                <a:pPr marL="800100" lvl="1" indent="-342900" defTabSz="457200"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Phase selector takes PRN and uses it to select bits of the second Gold code.</a:t>
                </a:r>
              </a:p>
              <a:p>
                <a:pPr marL="342900" indent="-342900" defTabSz="457200" hangingPunct="0">
                  <a:buFont typeface="Arial" panose="020B0604020202020204" pitchFamily="34" charset="0"/>
                  <a:buChar char="•"/>
                </a:pPr>
                <a:endParaRPr lang="en-US" sz="2000" dirty="0">
                  <a:solidFill>
                    <a:srgbClr val="000000"/>
                  </a:solidFill>
                  <a:ea typeface="Cambria Math" panose="02040503050406030204" pitchFamily="18" charset="0"/>
                  <a:sym typeface="Calibri"/>
                </a:endParaRPr>
              </a:p>
              <a:p>
                <a:pPr marL="342900" indent="-342900" defTabSz="457200"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Signal Characteristics</a:t>
                </a:r>
              </a:p>
              <a:p>
                <a:pPr marL="800100" lvl="1" indent="-342900" defTabSz="457200"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Received power: -130dBm, Noise power: -111dBm</a:t>
                </a:r>
              </a:p>
              <a:p>
                <a:pPr marL="800100" lvl="1" indent="-342900" defTabSz="457200"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Spread spectrum contributes 43 dB to processing.  Want SNR greater than 14 dB</a:t>
                </a:r>
              </a:p>
              <a:p>
                <a:pPr marL="800100" lvl="1" indent="-342900" defTabSz="457200"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SNR for C/A: -20dB</a:t>
                </a:r>
              </a:p>
              <a:p>
                <a:pPr defTabSz="457200" latinLnBrk="1" hangingPunct="0"/>
                <a:endParaRPr lang="en-US" sz="2000" dirty="0">
                  <a:solidFill>
                    <a:srgbClr val="000000"/>
                  </a:solidFill>
                  <a:ea typeface="Cambria Math" panose="02040503050406030204" pitchFamily="18" charset="0"/>
                  <a:sym typeface="Calibri"/>
                </a:endParaRPr>
              </a:p>
            </p:txBody>
          </p:sp>
        </mc:Choice>
        <mc:Fallback xmlns="">
          <p:sp>
            <p:nvSpPr>
              <p:cNvPr id="15" name="TextBox 14">
                <a:extLst>
                  <a:ext uri="{FF2B5EF4-FFF2-40B4-BE49-F238E27FC236}">
                    <a16:creationId xmlns:a16="http://schemas.microsoft.com/office/drawing/2014/main" id="{34EE796B-9DCB-DE41-AEA4-31CBF97794EF}"/>
                  </a:ext>
                </a:extLst>
              </p:cNvPr>
              <p:cNvSpPr txBox="1">
                <a:spLocks noRot="1" noChangeAspect="1" noMove="1" noResize="1" noEditPoints="1" noAdjustHandles="1" noChangeArrowheads="1" noChangeShapeType="1" noTextEdit="1"/>
              </p:cNvSpPr>
              <p:nvPr/>
            </p:nvSpPr>
            <p:spPr>
              <a:xfrm>
                <a:off x="497904" y="2022128"/>
                <a:ext cx="11250408" cy="4092918"/>
              </a:xfrm>
              <a:prstGeom prst="rect">
                <a:avLst/>
              </a:prstGeom>
              <a:blipFill>
                <a:blip r:embed="rId3"/>
                <a:stretch>
                  <a:fillRect l="-903" t="-929"/>
                </a:stretch>
              </a:blipFill>
              <a:ln w="12700" cap="flat">
                <a:noFill/>
                <a:miter lim="400000"/>
              </a:ln>
              <a:effectLst/>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937641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80</a:t>
            </a:fld>
            <a:endParaRPr lang="en-US" dirty="0">
              <a:solidFill>
                <a:schemeClr val="tx1"/>
              </a:solidFill>
            </a:endParaRPr>
          </a:p>
        </p:txBody>
      </p:sp>
    </p:spTree>
    <p:extLst>
      <p:ext uri="{BB962C8B-B14F-4D97-AF65-F5344CB8AC3E}">
        <p14:creationId xmlns:p14="http://schemas.microsoft.com/office/powerpoint/2010/main" val="219636711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224311"/>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Acquisition, tracking and navigation</a:t>
            </a:r>
          </a:p>
        </p:txBody>
      </p:sp>
      <p:sp>
        <p:nvSpPr>
          <p:cNvPr id="15" name="TextBox 14">
            <a:extLst>
              <a:ext uri="{FF2B5EF4-FFF2-40B4-BE49-F238E27FC236}">
                <a16:creationId xmlns:a16="http://schemas.microsoft.com/office/drawing/2014/main" id="{34EE796B-9DCB-DE41-AEA4-31CBF97794EF}"/>
              </a:ext>
            </a:extLst>
          </p:cNvPr>
          <p:cNvSpPr txBox="1"/>
          <p:nvPr/>
        </p:nvSpPr>
        <p:spPr>
          <a:xfrm>
            <a:off x="644453" y="2258780"/>
            <a:ext cx="10611543" cy="393213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342900" indent="-342900" defTabSz="457200" hangingPunct="0">
              <a:buFont typeface="Arial" panose="020B0604020202020204" pitchFamily="34" charset="0"/>
              <a:buChar char="•"/>
            </a:pPr>
            <a:r>
              <a:rPr lang="en-US" sz="2000" dirty="0">
                <a:solidFill>
                  <a:srgbClr val="000000"/>
                </a:solidFill>
                <a:latin typeface="Calibri" panose="020F0502020204030204" pitchFamily="34" charset="0"/>
                <a:ea typeface="Cambria Math" panose="02040503050406030204" pitchFamily="18" charset="0"/>
                <a:cs typeface="Calibri" panose="020F0502020204030204" pitchFamily="34" charset="0"/>
                <a:sym typeface="Calibri"/>
              </a:rPr>
              <a:t>Acquisition</a:t>
            </a:r>
          </a:p>
          <a:p>
            <a:pPr marL="800100" lvl="1" indent="-342900" defTabSz="457200" hangingPunct="0">
              <a:buFont typeface="Arial" panose="020B0604020202020204" pitchFamily="34" charset="0"/>
              <a:buChar char="•"/>
            </a:pPr>
            <a:r>
              <a:rPr lang="en-US" sz="2000" dirty="0">
                <a:solidFill>
                  <a:srgbClr val="000000"/>
                </a:solidFill>
                <a:latin typeface="Calibri" panose="020F0502020204030204" pitchFamily="34" charset="0"/>
                <a:ea typeface="Cambria Math" panose="02040503050406030204" pitchFamily="18" charset="0"/>
                <a:cs typeface="Calibri" panose="020F0502020204030204" pitchFamily="34" charset="0"/>
                <a:sym typeface="Calibri"/>
              </a:rPr>
              <a:t>Receiver generates known C/A code and attempts to correlate with signal.</a:t>
            </a:r>
          </a:p>
          <a:p>
            <a:pPr marL="800100" lvl="1" indent="-342900" defTabSz="457200" hangingPunct="0">
              <a:buFont typeface="Arial" panose="020B0604020202020204" pitchFamily="34" charset="0"/>
              <a:buChar char="•"/>
            </a:pPr>
            <a:r>
              <a:rPr lang="en-US" sz="2000" dirty="0">
                <a:solidFill>
                  <a:srgbClr val="000000"/>
                </a:solidFill>
                <a:latin typeface="Calibri" panose="020F0502020204030204" pitchFamily="34" charset="0"/>
                <a:ea typeface="Cambria Math" panose="02040503050406030204" pitchFamily="18" charset="0"/>
                <a:cs typeface="Calibri" panose="020F0502020204030204" pitchFamily="34" charset="0"/>
                <a:sym typeface="Calibri"/>
              </a:rPr>
              <a:t>To generate C/A code, receiver needs to know which satellite it’s attempting to acquire to determine code</a:t>
            </a:r>
          </a:p>
          <a:p>
            <a:pPr marL="342900" indent="-342900" defTabSz="457200" hangingPunct="0">
              <a:buFont typeface="Arial" panose="020B0604020202020204" pitchFamily="34" charset="0"/>
              <a:buChar char="•"/>
            </a:pPr>
            <a:r>
              <a:rPr lang="en-US" sz="2000" dirty="0">
                <a:solidFill>
                  <a:srgbClr val="000000"/>
                </a:solidFill>
                <a:latin typeface="Calibri" panose="020F0502020204030204" pitchFamily="34" charset="0"/>
                <a:ea typeface="Cambria Math" panose="02040503050406030204" pitchFamily="18" charset="0"/>
                <a:cs typeface="Calibri" panose="020F0502020204030204" pitchFamily="34" charset="0"/>
                <a:sym typeface="Calibri"/>
              </a:rPr>
              <a:t>Tracking via delay loop to maintain C/A code alignment</a:t>
            </a:r>
          </a:p>
          <a:p>
            <a:pPr marL="342900" indent="-342900" defTabSz="457200" hangingPunct="0">
              <a:buFont typeface="Arial" panose="020B0604020202020204" pitchFamily="34" charset="0"/>
              <a:buChar char="•"/>
            </a:pPr>
            <a:r>
              <a:rPr lang="en-US" sz="2000" dirty="0">
                <a:latin typeface="Calibri" panose="020F0502020204030204" pitchFamily="34" charset="0"/>
                <a:cs typeface="Calibri" panose="020F0502020204030204" pitchFamily="34" charset="0"/>
              </a:rPr>
              <a:t>The Navigation Message includes the Ephemeris parameters, the Time parameters and Clock Corrections, the Service Parameters with satellite health information, Ionospheric parameters model, and the Almanacs, allowing the computation of the position of ”all satellites in the constellation”. The ephemeris and clocks parameters are usually updated every two hours, while the almanac is updated at least every six days.</a:t>
            </a:r>
          </a:p>
          <a:p>
            <a:pPr marL="342900" indent="-342900" defTabSz="457200" latinLnBrk="1" hangingPunct="0">
              <a:buFont typeface="Arial" panose="020B0604020202020204" pitchFamily="34" charset="0"/>
              <a:buChar char="•"/>
            </a:pPr>
            <a:endParaRPr lang="en-US" sz="2000" dirty="0">
              <a:solidFill>
                <a:srgbClr val="000000"/>
              </a:solidFill>
              <a:latin typeface="Calibri"/>
              <a:ea typeface="Cambria Math" panose="02040503050406030204" pitchFamily="18" charset="0"/>
              <a:sym typeface="Calibri"/>
            </a:endParaRP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936498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81</a:t>
            </a:fld>
            <a:endParaRPr lang="en-US" dirty="0">
              <a:solidFill>
                <a:schemeClr val="tx1"/>
              </a:solidFill>
            </a:endParaRPr>
          </a:p>
        </p:txBody>
      </p:sp>
    </p:spTree>
    <p:extLst>
      <p:ext uri="{BB962C8B-B14F-4D97-AF65-F5344CB8AC3E}">
        <p14:creationId xmlns:p14="http://schemas.microsoft.com/office/powerpoint/2010/main" val="110238929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155731"/>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Navigation Message</a:t>
            </a:r>
          </a:p>
        </p:txBody>
      </p:sp>
      <p:sp>
        <p:nvSpPr>
          <p:cNvPr id="15" name="TextBox 14">
            <a:extLst>
              <a:ext uri="{FF2B5EF4-FFF2-40B4-BE49-F238E27FC236}">
                <a16:creationId xmlns:a16="http://schemas.microsoft.com/office/drawing/2014/main" id="{34EE796B-9DCB-DE41-AEA4-31CBF97794EF}"/>
              </a:ext>
            </a:extLst>
          </p:cNvPr>
          <p:cNvSpPr txBox="1"/>
          <p:nvPr/>
        </p:nvSpPr>
        <p:spPr>
          <a:xfrm>
            <a:off x="356260" y="1452925"/>
            <a:ext cx="11418036" cy="513423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285750" indent="-285750">
              <a:buFont typeface="Arial" panose="020B0604020202020204" pitchFamily="34" charset="0"/>
              <a:buChar char="•"/>
            </a:pPr>
            <a:r>
              <a:rPr lang="en-US" sz="2000" dirty="0"/>
              <a:t>The navigation message contains 25 pages (’frames’) of 30 seconds each. Entire message takes 12.5 minutes to be transmitted. Every frame is subdivided into 5 sub-frames of 6 seconds each; every sub-frame consists of 10 words, with 30 bits per word. </a:t>
            </a:r>
          </a:p>
          <a:p>
            <a:pPr marL="285750" indent="-285750">
              <a:buFont typeface="Arial" panose="020B0604020202020204" pitchFamily="34" charset="0"/>
              <a:buChar char="•"/>
            </a:pPr>
            <a:r>
              <a:rPr lang="en-US" sz="2000" dirty="0"/>
              <a:t>Every sub-frame starts with the telemetry word (TLM), needed for synchronism. Next, the transference word (HOW) which provides time information (seconds of the GPS week), allowing the receiver to acquire the week-long P(Y)-code segment. </a:t>
            </a:r>
          </a:p>
          <a:p>
            <a:pPr marL="742950" lvl="1" indent="-285750">
              <a:buFont typeface="Arial" panose="020B0604020202020204" pitchFamily="34" charset="0"/>
              <a:buChar char="•"/>
            </a:pPr>
            <a:r>
              <a:rPr lang="en-US" sz="2000" dirty="0"/>
              <a:t>Sub-frame 1: contains information the satellite clock. It also has information about satellite health condition.</a:t>
            </a:r>
          </a:p>
          <a:p>
            <a:pPr marL="742950" lvl="1" indent="-285750">
              <a:buFont typeface="Arial" panose="020B0604020202020204" pitchFamily="34" charset="0"/>
              <a:buChar char="•"/>
            </a:pPr>
            <a:r>
              <a:rPr lang="en-US" sz="2000" dirty="0"/>
              <a:t>Sub-frames 2 and 3: contain satellite ephemeris.</a:t>
            </a:r>
          </a:p>
          <a:p>
            <a:pPr marL="742950" lvl="1" indent="-285750">
              <a:buFont typeface="Arial" panose="020B0604020202020204" pitchFamily="34" charset="0"/>
              <a:buChar char="•"/>
            </a:pPr>
            <a:r>
              <a:rPr lang="en-US" sz="2000" dirty="0"/>
              <a:t>Sub-frame 4: provides ionospheric model parameters, UTC information (Universal Coordinate Time), part of the almanac, and indications whether the Anti-Spoofing, A/S, is activated.</a:t>
            </a:r>
          </a:p>
          <a:p>
            <a:pPr marL="742950" lvl="1" indent="-285750">
              <a:buFont typeface="Arial" panose="020B0604020202020204" pitchFamily="34" charset="0"/>
              <a:buChar char="•"/>
            </a:pPr>
            <a:r>
              <a:rPr lang="en-US" sz="2000" dirty="0"/>
              <a:t>Sub-frame 5: contains data from the almanac and the constellation status. It allows to quickly identify the satellite from which the signal comes. A total of 25 frames are needed to complete the almanac.</a:t>
            </a:r>
          </a:p>
          <a:p>
            <a:pPr marL="742950" lvl="1" indent="-285750">
              <a:buFont typeface="Arial" panose="020B0604020202020204" pitchFamily="34" charset="0"/>
              <a:buChar char="•"/>
            </a:pPr>
            <a:r>
              <a:rPr lang="en-US" sz="2000" b="1" dirty="0"/>
              <a:t>Sub-frames 1, 2 and 3 are transmitted with each frame. </a:t>
            </a:r>
            <a:r>
              <a:rPr lang="en-US" sz="2000" dirty="0"/>
              <a:t>The content of sub-frames 4 and 5 is common for all satellites. So, the almanac data for all in orbit satellites can be obtained from a single tracked satellite.</a:t>
            </a:r>
          </a:p>
          <a:p>
            <a:pPr marL="342900" indent="-342900" defTabSz="457200" hangingPunct="0">
              <a:buFont typeface="Arial" panose="020B0604020202020204" pitchFamily="34" charset="0"/>
              <a:buChar char="•"/>
            </a:pPr>
            <a:endParaRPr lang="en-US" sz="2000" dirty="0">
              <a:solidFill>
                <a:srgbClr val="000000"/>
              </a:solidFill>
              <a:latin typeface="Calibri" panose="020F0502020204030204" pitchFamily="34" charset="0"/>
              <a:ea typeface="Cambria Math" panose="02040503050406030204" pitchFamily="18" charset="0"/>
              <a:cs typeface="Calibri" panose="020F0502020204030204" pitchFamily="34" charset="0"/>
              <a:sym typeface="Calibri"/>
            </a:endParaRPr>
          </a:p>
          <a:p>
            <a:pPr marL="342900" indent="-342900" defTabSz="457200" latinLnBrk="1" hangingPunct="0">
              <a:buFont typeface="Arial" panose="020B0604020202020204" pitchFamily="34" charset="0"/>
              <a:buChar char="•"/>
            </a:pPr>
            <a:endParaRPr lang="en-US" sz="2000" dirty="0">
              <a:solidFill>
                <a:srgbClr val="000000"/>
              </a:solidFill>
              <a:latin typeface="Calibri"/>
              <a:ea typeface="Cambria Math" panose="02040503050406030204" pitchFamily="18" charset="0"/>
              <a:sym typeface="Calibri"/>
            </a:endParaRP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9353550" y="6384896"/>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82</a:t>
            </a:fld>
            <a:endParaRPr lang="en-US" dirty="0">
              <a:solidFill>
                <a:schemeClr val="tx1"/>
              </a:solidFill>
            </a:endParaRPr>
          </a:p>
        </p:txBody>
      </p:sp>
    </p:spTree>
    <p:extLst>
      <p:ext uri="{BB962C8B-B14F-4D97-AF65-F5344CB8AC3E}">
        <p14:creationId xmlns:p14="http://schemas.microsoft.com/office/powerpoint/2010/main" val="58115569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155731"/>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Processing and Accuracy</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4EE796B-9DCB-DE41-AEA4-31CBF97794EF}"/>
                  </a:ext>
                </a:extLst>
              </p:cNvPr>
              <p:cNvSpPr txBox="1"/>
              <p:nvPr/>
            </p:nvSpPr>
            <p:spPr>
              <a:xfrm>
                <a:off x="294309" y="1457215"/>
                <a:ext cx="11529391" cy="522406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342900" indent="-342900" defTabSz="457200" hangingPunct="0">
                  <a:buFont typeface="Arial" panose="020B0604020202020204" pitchFamily="34" charset="0"/>
                  <a:buChar char="•"/>
                </a:pPr>
                <a:r>
                  <a:rPr lang="en-US" dirty="0">
                    <a:solidFill>
                      <a:srgbClr val="000000"/>
                    </a:solidFill>
                    <a:ea typeface="Cambria Math" panose="02040503050406030204" pitchFamily="18" charset="0"/>
                    <a:sym typeface="Calibri"/>
                  </a:rPr>
                  <a:t>For satellite k:  </a:t>
                </a:r>
                <a14:m>
                  <m:oMath xmlns:m="http://schemas.openxmlformats.org/officeDocument/2006/math">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𝑑</m:t>
                        </m:r>
                      </m:e>
                      <m:sub>
                        <m:r>
                          <a:rPr lang="en-US" b="0" i="1" smtClean="0">
                            <a:solidFill>
                              <a:srgbClr val="000000"/>
                            </a:solidFill>
                            <a:latin typeface="Cambria Math" panose="02040503050406030204" pitchFamily="18" charset="0"/>
                            <a:ea typeface="Cambria Math" panose="02040503050406030204" pitchFamily="18" charset="0"/>
                            <a:sym typeface="Calibri"/>
                          </a:rPr>
                          <m:t>𝑘</m:t>
                        </m:r>
                      </m:sub>
                    </m:sSub>
                    <m:r>
                      <a:rPr lang="en-US" b="0" i="1" smtClean="0">
                        <a:solidFill>
                          <a:srgbClr val="000000"/>
                        </a:solidFill>
                        <a:latin typeface="Cambria Math" panose="02040503050406030204" pitchFamily="18" charset="0"/>
                        <a:ea typeface="Cambria Math" panose="02040503050406030204" pitchFamily="18" charset="0"/>
                        <a:sym typeface="Calibri"/>
                      </a:rPr>
                      <m:t>=</m:t>
                    </m:r>
                    <m:rad>
                      <m:radPr>
                        <m:degHide m:val="on"/>
                        <m:ctrlPr>
                          <a:rPr lang="en-US" b="0" i="1" smtClean="0">
                            <a:solidFill>
                              <a:srgbClr val="000000"/>
                            </a:solidFill>
                            <a:latin typeface="Cambria Math" panose="02040503050406030204" pitchFamily="18" charset="0"/>
                            <a:ea typeface="Cambria Math" panose="02040503050406030204" pitchFamily="18" charset="0"/>
                            <a:sym typeface="Calibri"/>
                          </a:rPr>
                        </m:ctrlPr>
                      </m:radPr>
                      <m:deg/>
                      <m:e>
                        <m:sSup>
                          <m:sSupPr>
                            <m:ctrlPr>
                              <a:rPr lang="en-US" b="0" i="1" smtClean="0">
                                <a:solidFill>
                                  <a:srgbClr val="000000"/>
                                </a:solidFill>
                                <a:latin typeface="Cambria Math" panose="02040503050406030204" pitchFamily="18" charset="0"/>
                                <a:ea typeface="Cambria Math" panose="02040503050406030204" pitchFamily="18" charset="0"/>
                                <a:sym typeface="Calibri"/>
                              </a:rPr>
                            </m:ctrlPr>
                          </m:sSupPr>
                          <m:e>
                            <m:r>
                              <a:rPr lang="en-US"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𝑥</m:t>
                                </m:r>
                              </m:e>
                              <m:sub>
                                <m:r>
                                  <a:rPr lang="en-US" b="0" i="1" smtClean="0">
                                    <a:solidFill>
                                      <a:srgbClr val="000000"/>
                                    </a:solidFill>
                                    <a:latin typeface="Cambria Math" panose="02040503050406030204" pitchFamily="18" charset="0"/>
                                    <a:ea typeface="Cambria Math" panose="02040503050406030204" pitchFamily="18" charset="0"/>
                                    <a:sym typeface="Calibri"/>
                                  </a:rPr>
                                  <m:t>𝑘</m:t>
                                </m:r>
                              </m:sub>
                            </m:sSub>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𝑥</m:t>
                            </m:r>
                            <m:r>
                              <a:rPr lang="en-US" b="0" i="1" smtClean="0">
                                <a:solidFill>
                                  <a:srgbClr val="000000"/>
                                </a:solidFill>
                                <a:latin typeface="Cambria Math" panose="02040503050406030204" pitchFamily="18" charset="0"/>
                                <a:ea typeface="Cambria Math" panose="02040503050406030204" pitchFamily="18" charset="0"/>
                                <a:sym typeface="Calibri"/>
                              </a:rPr>
                              <m:t>)</m:t>
                            </m:r>
                          </m:e>
                          <m:sup>
                            <m:r>
                              <a:rPr lang="en-US" b="0" i="1" smtClean="0">
                                <a:solidFill>
                                  <a:srgbClr val="000000"/>
                                </a:solidFill>
                                <a:latin typeface="Cambria Math" panose="02040503050406030204" pitchFamily="18" charset="0"/>
                                <a:ea typeface="Cambria Math" panose="02040503050406030204" pitchFamily="18" charset="0"/>
                                <a:sym typeface="Calibri"/>
                              </a:rPr>
                              <m:t>2</m:t>
                            </m:r>
                          </m:sup>
                        </m:sSup>
                        <m:r>
                          <a:rPr lang="en-US" b="0" i="1" smtClean="0">
                            <a:solidFill>
                              <a:srgbClr val="000000"/>
                            </a:solidFill>
                            <a:latin typeface="Cambria Math" panose="02040503050406030204" pitchFamily="18" charset="0"/>
                            <a:ea typeface="Cambria Math" panose="02040503050406030204" pitchFamily="18" charset="0"/>
                            <a:sym typeface="Calibri"/>
                          </a:rPr>
                          <m:t>+</m:t>
                        </m:r>
                        <m:sSup>
                          <m:sSupPr>
                            <m:ctrlPr>
                              <a:rPr lang="en-US" i="1">
                                <a:solidFill>
                                  <a:srgbClr val="000000"/>
                                </a:solidFill>
                                <a:latin typeface="Cambria Math" panose="02040503050406030204" pitchFamily="18" charset="0"/>
                                <a:ea typeface="Cambria Math" panose="02040503050406030204" pitchFamily="18" charset="0"/>
                                <a:sym typeface="Calibri"/>
                              </a:rPr>
                            </m:ctrlPr>
                          </m:sSupPr>
                          <m:e>
                            <m:r>
                              <a:rPr lang="en-US" i="1">
                                <a:solidFill>
                                  <a:srgbClr val="000000"/>
                                </a:solidFill>
                                <a:latin typeface="Cambria Math" panose="02040503050406030204" pitchFamily="18" charset="0"/>
                                <a:ea typeface="Cambria Math" panose="02040503050406030204" pitchFamily="18" charset="0"/>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𝑦</m:t>
                                </m:r>
                              </m:e>
                              <m:sub>
                                <m:r>
                                  <a:rPr lang="en-US" b="0" i="1" smtClean="0">
                                    <a:solidFill>
                                      <a:srgbClr val="000000"/>
                                    </a:solidFill>
                                    <a:latin typeface="Cambria Math" panose="02040503050406030204" pitchFamily="18" charset="0"/>
                                    <a:ea typeface="Cambria Math" panose="02040503050406030204" pitchFamily="18" charset="0"/>
                                    <a:sym typeface="Calibri"/>
                                  </a:rPr>
                                  <m:t>𝑘</m:t>
                                </m:r>
                              </m:sub>
                            </m:sSub>
                            <m:r>
                              <a:rPr lang="en-US" i="1">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𝑦</m:t>
                            </m:r>
                            <m:r>
                              <a:rPr lang="en-US" i="1">
                                <a:solidFill>
                                  <a:srgbClr val="000000"/>
                                </a:solidFill>
                                <a:latin typeface="Cambria Math" panose="02040503050406030204" pitchFamily="18" charset="0"/>
                                <a:ea typeface="Cambria Math" panose="02040503050406030204" pitchFamily="18" charset="0"/>
                                <a:sym typeface="Calibri"/>
                              </a:rPr>
                              <m:t>)</m:t>
                            </m:r>
                          </m:e>
                          <m:sup>
                            <m:r>
                              <a:rPr lang="en-US" i="1">
                                <a:solidFill>
                                  <a:srgbClr val="000000"/>
                                </a:solidFill>
                                <a:latin typeface="Cambria Math" panose="02040503050406030204" pitchFamily="18" charset="0"/>
                                <a:ea typeface="Cambria Math" panose="02040503050406030204" pitchFamily="18" charset="0"/>
                                <a:sym typeface="Calibri"/>
                              </a:rPr>
                              <m:t>2</m:t>
                            </m:r>
                          </m:sup>
                        </m:sSup>
                        <m:r>
                          <a:rPr lang="en-US" b="0" i="1" smtClean="0">
                            <a:solidFill>
                              <a:srgbClr val="000000"/>
                            </a:solidFill>
                            <a:latin typeface="Cambria Math" panose="02040503050406030204" pitchFamily="18" charset="0"/>
                            <a:ea typeface="Cambria Math" panose="02040503050406030204" pitchFamily="18" charset="0"/>
                            <a:sym typeface="Calibri"/>
                          </a:rPr>
                          <m:t>+</m:t>
                        </m:r>
                        <m:sSup>
                          <m:sSupPr>
                            <m:ctrlPr>
                              <a:rPr lang="en-US" i="1">
                                <a:solidFill>
                                  <a:srgbClr val="000000"/>
                                </a:solidFill>
                                <a:latin typeface="Cambria Math" panose="02040503050406030204" pitchFamily="18" charset="0"/>
                                <a:ea typeface="Cambria Math" panose="02040503050406030204" pitchFamily="18" charset="0"/>
                                <a:sym typeface="Calibri"/>
                              </a:rPr>
                            </m:ctrlPr>
                          </m:sSupPr>
                          <m:e>
                            <m:r>
                              <a:rPr lang="en-US" i="1">
                                <a:solidFill>
                                  <a:srgbClr val="000000"/>
                                </a:solidFill>
                                <a:latin typeface="Cambria Math" panose="02040503050406030204" pitchFamily="18" charset="0"/>
                                <a:ea typeface="Cambria Math" panose="02040503050406030204" pitchFamily="18" charset="0"/>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𝑧</m:t>
                                </m:r>
                              </m:e>
                              <m:sub>
                                <m:r>
                                  <a:rPr lang="en-US" b="0" i="1" smtClean="0">
                                    <a:solidFill>
                                      <a:srgbClr val="000000"/>
                                    </a:solidFill>
                                    <a:latin typeface="Cambria Math" panose="02040503050406030204" pitchFamily="18" charset="0"/>
                                    <a:ea typeface="Cambria Math" panose="02040503050406030204" pitchFamily="18" charset="0"/>
                                    <a:sym typeface="Calibri"/>
                                  </a:rPr>
                                  <m:t>𝑘</m:t>
                                </m:r>
                              </m:sub>
                            </m:sSub>
                            <m:r>
                              <a:rPr lang="en-US" i="1">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𝑧</m:t>
                            </m:r>
                            <m:r>
                              <a:rPr lang="en-US" i="1">
                                <a:solidFill>
                                  <a:srgbClr val="000000"/>
                                </a:solidFill>
                                <a:latin typeface="Cambria Math" panose="02040503050406030204" pitchFamily="18" charset="0"/>
                                <a:ea typeface="Cambria Math" panose="02040503050406030204" pitchFamily="18" charset="0"/>
                                <a:sym typeface="Calibri"/>
                              </a:rPr>
                              <m:t>)</m:t>
                            </m:r>
                          </m:e>
                          <m:sup>
                            <m:r>
                              <a:rPr lang="en-US" i="1">
                                <a:solidFill>
                                  <a:srgbClr val="000000"/>
                                </a:solidFill>
                                <a:latin typeface="Cambria Math" panose="02040503050406030204" pitchFamily="18" charset="0"/>
                                <a:ea typeface="Cambria Math" panose="02040503050406030204" pitchFamily="18" charset="0"/>
                                <a:sym typeface="Calibri"/>
                              </a:rPr>
                              <m:t>2</m:t>
                            </m:r>
                          </m:sup>
                        </m:sSup>
                      </m:e>
                    </m:rad>
                  </m:oMath>
                </a14:m>
                <a:endParaRPr lang="en-US" dirty="0">
                  <a:solidFill>
                    <a:srgbClr val="000000"/>
                  </a:solidFill>
                  <a:ea typeface="Cambria Math" panose="02040503050406030204" pitchFamily="18" charset="0"/>
                  <a:sym typeface="Calibri"/>
                </a:endParaRPr>
              </a:p>
              <a:p>
                <a:pPr marL="800100" lvl="1" indent="-342900" defTabSz="457200" hangingPunct="0">
                  <a:buFont typeface="Arial" panose="020B0604020202020204" pitchFamily="34" charset="0"/>
                  <a:buChar char="•"/>
                </a:pPr>
                <a:r>
                  <a:rPr lang="en-US" dirty="0">
                    <a:solidFill>
                      <a:srgbClr val="000000"/>
                    </a:solidFill>
                    <a:ea typeface="Cambria Math" panose="02040503050406030204" pitchFamily="18" charset="0"/>
                    <a:sym typeface="Calibri"/>
                  </a:rPr>
                  <a:t>Need to account for skew between satellite clocks and receiver clock.  Four satellites required.  </a:t>
                </a:r>
              </a:p>
              <a:p>
                <a:pPr marL="342900" indent="-342900" defTabSz="457200" hangingPunct="0">
                  <a:buFont typeface="Arial" panose="020B0604020202020204" pitchFamily="34" charset="0"/>
                  <a:buChar char="•"/>
                </a:pPr>
                <a:r>
                  <a:rPr lang="en-US" dirty="0">
                    <a:solidFill>
                      <a:srgbClr val="000000"/>
                    </a:solidFill>
                    <a:ea typeface="Cambria Math" panose="02040503050406030204" pitchFamily="18" charset="0"/>
                    <a:sym typeface="Calibri"/>
                  </a:rPr>
                  <a:t>Direct calculation</a:t>
                </a:r>
              </a:p>
              <a:p>
                <a:pPr marL="800100" lvl="1" indent="-342900" defTabSz="457200" hangingPunct="0">
                  <a:buFont typeface="Arial" panose="020B0604020202020204" pitchFamily="34" charset="0"/>
                  <a:buChar char="•"/>
                </a:pPr>
                <a14:m>
                  <m:oMath xmlns:m="http://schemas.openxmlformats.org/officeDocument/2006/math">
                    <m:r>
                      <a:rPr lang="en-US" b="0" i="1" smtClean="0">
                        <a:solidFill>
                          <a:srgbClr val="000000"/>
                        </a:solidFill>
                        <a:latin typeface="Cambria Math" panose="02040503050406030204" pitchFamily="18" charset="0"/>
                        <a:ea typeface="Cambria Math" panose="02040503050406030204" pitchFamily="18" charset="0"/>
                        <a:sym typeface="Calibri"/>
                      </a:rPr>
                      <m:t>𝑏</m:t>
                    </m:r>
                  </m:oMath>
                </a14:m>
                <a:r>
                  <a:rPr lang="en-US" dirty="0">
                    <a:solidFill>
                      <a:srgbClr val="000000"/>
                    </a:solidFill>
                    <a:ea typeface="Cambria Math" panose="02040503050406030204" pitchFamily="18" charset="0"/>
                    <a:sym typeface="Calibri"/>
                  </a:rPr>
                  <a:t> is the clock bias. </a:t>
                </a:r>
                <a14:m>
                  <m:oMath xmlns:m="http://schemas.openxmlformats.org/officeDocument/2006/math">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𝑠</m:t>
                        </m:r>
                      </m:e>
                      <m:sub>
                        <m:r>
                          <a:rPr lang="en-US" b="0" i="1" smtClean="0">
                            <a:solidFill>
                              <a:srgbClr val="000000"/>
                            </a:solidFill>
                            <a:latin typeface="Cambria Math" panose="02040503050406030204" pitchFamily="18" charset="0"/>
                            <a:ea typeface="Cambria Math" panose="02040503050406030204" pitchFamily="18" charset="0"/>
                            <a:sym typeface="Calibri"/>
                          </a:rPr>
                          <m:t>𝑖</m:t>
                        </m:r>
                      </m:sub>
                    </m:sSub>
                  </m:oMath>
                </a14:m>
                <a:r>
                  <a:rPr lang="en-US" dirty="0">
                    <a:solidFill>
                      <a:srgbClr val="000000"/>
                    </a:solidFill>
                    <a:ea typeface="Cambria Math" panose="02040503050406030204" pitchFamily="18" charset="0"/>
                    <a:sym typeface="Calibri"/>
                  </a:rPr>
                  <a:t> is </a:t>
                </a:r>
                <a:r>
                  <a:rPr lang="en-US" dirty="0" err="1">
                    <a:solidFill>
                      <a:srgbClr val="000000"/>
                    </a:solidFill>
                    <a:ea typeface="Cambria Math" panose="02040503050406030204" pitchFamily="18" charset="0"/>
                    <a:sym typeface="Calibri"/>
                  </a:rPr>
                  <a:t>i</a:t>
                </a:r>
                <a:r>
                  <a:rPr lang="en-US" baseline="30000" dirty="0" err="1">
                    <a:solidFill>
                      <a:srgbClr val="000000"/>
                    </a:solidFill>
                    <a:ea typeface="Cambria Math" panose="02040503050406030204" pitchFamily="18" charset="0"/>
                    <a:sym typeface="Calibri"/>
                  </a:rPr>
                  <a:t>th</a:t>
                </a:r>
                <a:r>
                  <a:rPr lang="en-US" dirty="0">
                    <a:solidFill>
                      <a:srgbClr val="000000"/>
                    </a:solidFill>
                    <a:ea typeface="Cambria Math" panose="02040503050406030204" pitchFamily="18" charset="0"/>
                    <a:sym typeface="Calibri"/>
                  </a:rPr>
                  <a:t> satellite time. </a:t>
                </a:r>
                <a14:m>
                  <m:oMath xmlns:m="http://schemas.openxmlformats.org/officeDocument/2006/math">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𝑡</m:t>
                        </m:r>
                      </m:e>
                      <m:sub>
                        <m:r>
                          <a:rPr lang="en-US" b="0" i="1" smtClean="0">
                            <a:solidFill>
                              <a:srgbClr val="000000"/>
                            </a:solidFill>
                            <a:latin typeface="Cambria Math" panose="02040503050406030204" pitchFamily="18" charset="0"/>
                            <a:ea typeface="Cambria Math" panose="02040503050406030204" pitchFamily="18" charset="0"/>
                            <a:sym typeface="Calibri"/>
                          </a:rPr>
                          <m:t>𝑖</m:t>
                        </m:r>
                      </m:sub>
                    </m:sSub>
                  </m:oMath>
                </a14:m>
                <a:r>
                  <a:rPr lang="en-US" dirty="0">
                    <a:solidFill>
                      <a:srgbClr val="000000"/>
                    </a:solidFill>
                    <a:ea typeface="Cambria Math" panose="02040503050406030204" pitchFamily="18" charset="0"/>
                    <a:sym typeface="Calibri"/>
                  </a:rPr>
                  <a:t> is actual reception time.  </a:t>
                </a:r>
                <a14:m>
                  <m:oMath xmlns:m="http://schemas.openxmlformats.org/officeDocument/2006/math">
                    <m:acc>
                      <m:accPr>
                        <m:chr m:val="̂"/>
                        <m:ctrlPr>
                          <a:rPr lang="en-US" i="1" smtClean="0">
                            <a:solidFill>
                              <a:srgbClr val="000000"/>
                            </a:solidFill>
                            <a:latin typeface="Cambria Math" panose="02040503050406030204" pitchFamily="18" charset="0"/>
                            <a:ea typeface="Cambria Math" panose="02040503050406030204" pitchFamily="18" charset="0"/>
                            <a:sym typeface="Calibri"/>
                          </a:rPr>
                        </m:ctrlPr>
                      </m:accPr>
                      <m:e>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𝑡</m:t>
                            </m:r>
                          </m:e>
                          <m:sub>
                            <m:r>
                              <a:rPr lang="en-US" b="0" i="1" smtClean="0">
                                <a:solidFill>
                                  <a:srgbClr val="000000"/>
                                </a:solidFill>
                                <a:latin typeface="Cambria Math" panose="02040503050406030204" pitchFamily="18" charset="0"/>
                                <a:ea typeface="Cambria Math" panose="02040503050406030204" pitchFamily="18" charset="0"/>
                                <a:sym typeface="Calibri"/>
                              </a:rPr>
                              <m:t>𝑖</m:t>
                            </m:r>
                          </m:sub>
                        </m:sSub>
                      </m:e>
                    </m:acc>
                  </m:oMath>
                </a14:m>
                <a:r>
                  <a:rPr lang="en-US" dirty="0">
                    <a:solidFill>
                      <a:srgbClr val="000000"/>
                    </a:solidFill>
                    <a:ea typeface="Cambria Math" panose="02040503050406030204" pitchFamily="18" charset="0"/>
                    <a:sym typeface="Calibri"/>
                  </a:rPr>
                  <a:t> is receiver reception time.</a:t>
                </a:r>
              </a:p>
              <a:p>
                <a:pPr marL="800100" lvl="1" indent="-342900" defTabSz="457200"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𝑑</m:t>
                        </m:r>
                      </m:e>
                      <m:sub>
                        <m:r>
                          <a:rPr lang="en-US" b="0" i="1" smtClean="0">
                            <a:solidFill>
                              <a:srgbClr val="000000"/>
                            </a:solidFill>
                            <a:latin typeface="Cambria Math" panose="02040503050406030204" pitchFamily="18" charset="0"/>
                            <a:ea typeface="Cambria Math" panose="02040503050406030204" pitchFamily="18" charset="0"/>
                            <a:sym typeface="Calibri"/>
                          </a:rPr>
                          <m:t>𝑖</m:t>
                        </m:r>
                      </m:sub>
                    </m:sSub>
                    <m:r>
                      <a:rPr lang="en-US" b="0" i="1" smtClean="0">
                        <a:solidFill>
                          <a:srgbClr val="000000"/>
                        </a:solidFill>
                        <a:latin typeface="Cambria Math" panose="02040503050406030204" pitchFamily="18" charset="0"/>
                        <a:ea typeface="Cambria Math" panose="02040503050406030204" pitchFamily="18" charset="0"/>
                        <a:sym typeface="Calibri"/>
                      </a:rPr>
                      <m:t>=</m:t>
                    </m:r>
                    <m:d>
                      <m:dPr>
                        <m:ctrlPr>
                          <a:rPr lang="en-US" i="1">
                            <a:solidFill>
                              <a:srgbClr val="000000"/>
                            </a:solidFill>
                            <a:latin typeface="Cambria Math" panose="02040503050406030204" pitchFamily="18" charset="0"/>
                            <a:ea typeface="Cambria Math" panose="02040503050406030204" pitchFamily="18" charset="0"/>
                            <a:sym typeface="Calibri"/>
                          </a:rPr>
                        </m:ctrlPr>
                      </m:dPr>
                      <m:e>
                        <m:acc>
                          <m:accPr>
                            <m:chr m:val="̂"/>
                            <m:ctrlPr>
                              <a:rPr lang="en-US" i="1">
                                <a:solidFill>
                                  <a:srgbClr val="000000"/>
                                </a:solidFill>
                                <a:latin typeface="Cambria Math" panose="02040503050406030204" pitchFamily="18" charset="0"/>
                                <a:ea typeface="Cambria Math" panose="02040503050406030204" pitchFamily="18" charset="0"/>
                                <a:sym typeface="Calibri"/>
                              </a:rPr>
                            </m:ctrlPr>
                          </m:accPr>
                          <m:e>
                            <m:sSub>
                              <m:sSubPr>
                                <m:ctrlPr>
                                  <a:rPr lang="en-US" i="1">
                                    <a:solidFill>
                                      <a:srgbClr val="000000"/>
                                    </a:solidFill>
                                    <a:latin typeface="Cambria Math" panose="02040503050406030204" pitchFamily="18" charset="0"/>
                                    <a:ea typeface="Cambria Math" panose="02040503050406030204" pitchFamily="18" charset="0"/>
                                    <a:sym typeface="Calibri"/>
                                  </a:rPr>
                                </m:ctrlPr>
                              </m:sSubPr>
                              <m:e>
                                <m:r>
                                  <a:rPr lang="en-US" i="1">
                                    <a:solidFill>
                                      <a:srgbClr val="000000"/>
                                    </a:solidFill>
                                    <a:latin typeface="Cambria Math" panose="02040503050406030204" pitchFamily="18" charset="0"/>
                                    <a:ea typeface="Cambria Math" panose="02040503050406030204" pitchFamily="18" charset="0"/>
                                    <a:sym typeface="Calibri"/>
                                  </a:rPr>
                                  <m:t>𝑡</m:t>
                                </m:r>
                              </m:e>
                              <m:sub>
                                <m:r>
                                  <a:rPr lang="en-US" i="1">
                                    <a:solidFill>
                                      <a:srgbClr val="000000"/>
                                    </a:solidFill>
                                    <a:latin typeface="Cambria Math" panose="02040503050406030204" pitchFamily="18" charset="0"/>
                                    <a:ea typeface="Cambria Math" panose="02040503050406030204" pitchFamily="18" charset="0"/>
                                    <a:sym typeface="Calibri"/>
                                  </a:rPr>
                                  <m:t>𝑖</m:t>
                                </m:r>
                              </m:sub>
                            </m:sSub>
                          </m:e>
                        </m:acc>
                        <m:r>
                          <a:rPr lang="en-US" b="0" i="0" smtClean="0">
                            <a:solidFill>
                              <a:srgbClr val="000000"/>
                            </a:solidFill>
                            <a:latin typeface="Cambria Math" panose="02040503050406030204" pitchFamily="18" charset="0"/>
                            <a:ea typeface="Cambria Math" panose="02040503050406030204" pitchFamily="18" charset="0"/>
                            <a:sym typeface="Calibri"/>
                          </a:rPr>
                          <m:t>−</m:t>
                        </m:r>
                        <m:r>
                          <m:rPr>
                            <m:sty m:val="p"/>
                          </m:rPr>
                          <a:rPr lang="en-US" b="0" i="0" smtClean="0">
                            <a:solidFill>
                              <a:srgbClr val="000000"/>
                            </a:solidFill>
                            <a:latin typeface="Cambria Math" panose="02040503050406030204" pitchFamily="18" charset="0"/>
                            <a:ea typeface="Cambria Math" panose="02040503050406030204" pitchFamily="18" charset="0"/>
                            <a:sym typeface="Calibri"/>
                          </a:rPr>
                          <m:t>b</m:t>
                        </m:r>
                        <m:r>
                          <a:rPr lang="en-US" b="0" i="0" smtClean="0">
                            <a:solidFill>
                              <a:srgbClr val="000000"/>
                            </a:solidFill>
                            <a:latin typeface="Cambria Math" panose="02040503050406030204" pitchFamily="18" charset="0"/>
                            <a:ea typeface="Cambria Math" panose="02040503050406030204" pitchFamily="18" charset="0"/>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𝑠</m:t>
                            </m:r>
                          </m:e>
                          <m:sub>
                            <m:r>
                              <a:rPr lang="en-US" b="0" i="1" smtClean="0">
                                <a:solidFill>
                                  <a:srgbClr val="000000"/>
                                </a:solidFill>
                                <a:latin typeface="Cambria Math" panose="02040503050406030204" pitchFamily="18" charset="0"/>
                                <a:ea typeface="Cambria Math" panose="02040503050406030204" pitchFamily="18" charset="0"/>
                                <a:sym typeface="Calibri"/>
                              </a:rPr>
                              <m:t>𝑖</m:t>
                            </m:r>
                          </m:sub>
                        </m:sSub>
                      </m:e>
                    </m:d>
                    <m:r>
                      <m:rPr>
                        <m:sty m:val="p"/>
                      </m:rPr>
                      <a:rPr lang="en-US" b="0" i="0" smtClean="0">
                        <a:solidFill>
                          <a:srgbClr val="000000"/>
                        </a:solidFill>
                        <a:latin typeface="Cambria Math" panose="02040503050406030204" pitchFamily="18" charset="0"/>
                        <a:ea typeface="Cambria Math" panose="02040503050406030204" pitchFamily="18" charset="0"/>
                        <a:sym typeface="Calibri"/>
                      </a:rPr>
                      <m:t>c</m:t>
                    </m:r>
                  </m:oMath>
                </a14:m>
                <a:r>
                  <a:rPr lang="en-US" dirty="0">
                    <a:solidFill>
                      <a:srgbClr val="000000"/>
                    </a:solidFill>
                    <a:ea typeface="Cambria Math" panose="02040503050406030204" pitchFamily="18" charset="0"/>
                    <a:sym typeface="Calibri"/>
                  </a:rPr>
                  <a:t>, </a:t>
                </a:r>
                <a14:m>
                  <m:oMath xmlns:m="http://schemas.openxmlformats.org/officeDocument/2006/math">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𝑝</m:t>
                        </m:r>
                      </m:e>
                      <m:sub>
                        <m:r>
                          <a:rPr lang="en-US" b="0" i="1" smtClean="0">
                            <a:solidFill>
                              <a:srgbClr val="000000"/>
                            </a:solidFill>
                            <a:latin typeface="Cambria Math" panose="02040503050406030204" pitchFamily="18" charset="0"/>
                            <a:ea typeface="Cambria Math" panose="02040503050406030204" pitchFamily="18" charset="0"/>
                            <a:sym typeface="Calibri"/>
                          </a:rPr>
                          <m:t>𝑖</m:t>
                        </m:r>
                      </m:sub>
                    </m:sSub>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𝑏𝑐</m:t>
                    </m:r>
                    <m:r>
                      <a:rPr lang="en-US"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𝑑</m:t>
                        </m:r>
                      </m:e>
                      <m:sub>
                        <m:r>
                          <a:rPr lang="en-US" b="0" i="1" smtClean="0">
                            <a:solidFill>
                              <a:srgbClr val="000000"/>
                            </a:solidFill>
                            <a:latin typeface="Cambria Math" panose="02040503050406030204" pitchFamily="18" charset="0"/>
                            <a:ea typeface="Cambria Math" panose="02040503050406030204" pitchFamily="18" charset="0"/>
                            <a:sym typeface="Calibri"/>
                          </a:rPr>
                          <m:t>𝑖</m:t>
                        </m:r>
                      </m:sub>
                    </m:sSub>
                  </m:oMath>
                </a14:m>
                <a:endParaRPr lang="en-US" dirty="0">
                  <a:solidFill>
                    <a:srgbClr val="000000"/>
                  </a:solidFill>
                  <a:ea typeface="Cambria Math" panose="02040503050406030204" pitchFamily="18" charset="0"/>
                  <a:sym typeface="Calibri"/>
                </a:endParaRPr>
              </a:p>
              <a:p>
                <a:pPr marL="800100" lvl="1" indent="-342900" defTabSz="457200" hangingPunct="0">
                  <a:buFont typeface="Arial" panose="020B0604020202020204" pitchFamily="34" charset="0"/>
                  <a:buChar char="•"/>
                </a:pPr>
                <a:r>
                  <a:rPr lang="en-US" dirty="0">
                    <a:solidFill>
                      <a:srgbClr val="000000"/>
                    </a:solidFill>
                    <a:ea typeface="Cambria Math" panose="02040503050406030204" pitchFamily="18" charset="0"/>
                    <a:sym typeface="Calibri"/>
                  </a:rPr>
                  <a:t>Solve equations for variables </a:t>
                </a:r>
                <a14:m>
                  <m:oMath xmlns:m="http://schemas.openxmlformats.org/officeDocument/2006/math">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𝑥</m:t>
                    </m:r>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𝑦</m:t>
                    </m:r>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𝑧</m:t>
                    </m:r>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𝑏</m:t>
                    </m:r>
                    <m:r>
                      <a:rPr lang="en-US" b="0" i="1" smtClean="0">
                        <a:solidFill>
                          <a:srgbClr val="000000"/>
                        </a:solidFill>
                        <a:latin typeface="Cambria Math" panose="02040503050406030204" pitchFamily="18" charset="0"/>
                        <a:ea typeface="Cambria Math" panose="02040503050406030204" pitchFamily="18" charset="0"/>
                        <a:sym typeface="Calibri"/>
                      </a:rPr>
                      <m:t>)</m:t>
                    </m:r>
                  </m:oMath>
                </a14:m>
                <a:endParaRPr lang="en-US" dirty="0">
                  <a:solidFill>
                    <a:srgbClr val="000000"/>
                  </a:solidFill>
                  <a:ea typeface="Cambria Math" panose="02040503050406030204" pitchFamily="18" charset="0"/>
                  <a:sym typeface="Calibri"/>
                </a:endParaRPr>
              </a:p>
              <a:p>
                <a:pPr marL="342900" indent="-342900" defTabSz="457200" hangingPunct="0">
                  <a:buFont typeface="Arial" panose="020B0604020202020204" pitchFamily="34" charset="0"/>
                  <a:buChar char="•"/>
                </a:pPr>
                <a:r>
                  <a:rPr lang="en-US" dirty="0">
                    <a:solidFill>
                      <a:srgbClr val="000000"/>
                    </a:solidFill>
                    <a:ea typeface="Cambria Math" panose="02040503050406030204" pitchFamily="18" charset="0"/>
                    <a:sym typeface="Calibri"/>
                  </a:rPr>
                  <a:t>Least squares: </a:t>
                </a:r>
                <a14:m>
                  <m:oMath xmlns:m="http://schemas.openxmlformats.org/officeDocument/2006/math">
                    <m:d>
                      <m:dPr>
                        <m:ctrlPr>
                          <a:rPr lang="en-US" b="0" i="1" smtClean="0">
                            <a:solidFill>
                              <a:srgbClr val="000000"/>
                            </a:solidFill>
                            <a:latin typeface="Cambria Math" panose="02040503050406030204" pitchFamily="18" charset="0"/>
                            <a:ea typeface="Cambria Math" panose="02040503050406030204" pitchFamily="18" charset="0"/>
                            <a:sym typeface="Calibri"/>
                          </a:rPr>
                        </m:ctrlPr>
                      </m:dPr>
                      <m:e>
                        <m:acc>
                          <m:accPr>
                            <m:chr m:val="̂"/>
                            <m:ctrlPr>
                              <a:rPr lang="en-US" b="0" i="1" smtClean="0">
                                <a:solidFill>
                                  <a:srgbClr val="000000"/>
                                </a:solidFill>
                                <a:latin typeface="Cambria Math" panose="02040503050406030204" pitchFamily="18" charset="0"/>
                                <a:ea typeface="Cambria Math" panose="02040503050406030204" pitchFamily="18" charset="0"/>
                                <a:sym typeface="Calibri"/>
                              </a:rPr>
                            </m:ctrlPr>
                          </m:accPr>
                          <m:e>
                            <m:r>
                              <a:rPr lang="en-US" b="0" i="1" smtClean="0">
                                <a:solidFill>
                                  <a:srgbClr val="000000"/>
                                </a:solidFill>
                                <a:latin typeface="Cambria Math" panose="02040503050406030204" pitchFamily="18" charset="0"/>
                                <a:ea typeface="Cambria Math" panose="02040503050406030204" pitchFamily="18" charset="0"/>
                                <a:sym typeface="Calibri"/>
                              </a:rPr>
                              <m:t>𝑥</m:t>
                            </m:r>
                          </m:e>
                        </m:acc>
                        <m:r>
                          <a:rPr lang="en-US" b="0" i="1" smtClean="0">
                            <a:solidFill>
                              <a:srgbClr val="000000"/>
                            </a:solidFill>
                            <a:latin typeface="Cambria Math" panose="02040503050406030204" pitchFamily="18" charset="0"/>
                            <a:ea typeface="Cambria Math" panose="02040503050406030204" pitchFamily="18" charset="0"/>
                            <a:sym typeface="Calibri"/>
                          </a:rPr>
                          <m:t>,</m:t>
                        </m:r>
                        <m:acc>
                          <m:accPr>
                            <m:chr m:val="̂"/>
                            <m:ctrlPr>
                              <a:rPr lang="en-US" b="0" i="1" smtClean="0">
                                <a:solidFill>
                                  <a:srgbClr val="000000"/>
                                </a:solidFill>
                                <a:latin typeface="Cambria Math" panose="02040503050406030204" pitchFamily="18" charset="0"/>
                                <a:ea typeface="Cambria Math" panose="02040503050406030204" pitchFamily="18" charset="0"/>
                                <a:sym typeface="Calibri"/>
                              </a:rPr>
                            </m:ctrlPr>
                          </m:accPr>
                          <m:e>
                            <m:r>
                              <a:rPr lang="en-US" b="0" i="1" smtClean="0">
                                <a:solidFill>
                                  <a:srgbClr val="000000"/>
                                </a:solidFill>
                                <a:latin typeface="Cambria Math" panose="02040503050406030204" pitchFamily="18" charset="0"/>
                                <a:ea typeface="Cambria Math" panose="02040503050406030204" pitchFamily="18" charset="0"/>
                                <a:sym typeface="Calibri"/>
                              </a:rPr>
                              <m:t>𝑦</m:t>
                            </m:r>
                          </m:e>
                        </m:acc>
                        <m:r>
                          <a:rPr lang="en-US" b="0" i="1" smtClean="0">
                            <a:solidFill>
                              <a:srgbClr val="000000"/>
                            </a:solidFill>
                            <a:latin typeface="Cambria Math" panose="02040503050406030204" pitchFamily="18" charset="0"/>
                            <a:ea typeface="Cambria Math" panose="02040503050406030204" pitchFamily="18" charset="0"/>
                            <a:sym typeface="Calibri"/>
                          </a:rPr>
                          <m:t>, </m:t>
                        </m:r>
                        <m:acc>
                          <m:accPr>
                            <m:chr m:val="̂"/>
                            <m:ctrlPr>
                              <a:rPr lang="en-US" b="0" i="1" smtClean="0">
                                <a:solidFill>
                                  <a:srgbClr val="000000"/>
                                </a:solidFill>
                                <a:latin typeface="Cambria Math" panose="02040503050406030204" pitchFamily="18" charset="0"/>
                                <a:ea typeface="Cambria Math" panose="02040503050406030204" pitchFamily="18" charset="0"/>
                                <a:sym typeface="Calibri"/>
                              </a:rPr>
                            </m:ctrlPr>
                          </m:accPr>
                          <m:e>
                            <m:r>
                              <a:rPr lang="en-US" b="0" i="1" smtClean="0">
                                <a:solidFill>
                                  <a:srgbClr val="000000"/>
                                </a:solidFill>
                                <a:latin typeface="Cambria Math" panose="02040503050406030204" pitchFamily="18" charset="0"/>
                                <a:ea typeface="Cambria Math" panose="02040503050406030204" pitchFamily="18" charset="0"/>
                                <a:sym typeface="Calibri"/>
                              </a:rPr>
                              <m:t>𝑧</m:t>
                            </m:r>
                          </m:e>
                        </m:acc>
                        <m:r>
                          <a:rPr lang="en-US" b="0" i="1" smtClean="0">
                            <a:solidFill>
                              <a:srgbClr val="000000"/>
                            </a:solidFill>
                            <a:latin typeface="Cambria Math" panose="02040503050406030204" pitchFamily="18" charset="0"/>
                            <a:ea typeface="Cambria Math" panose="02040503050406030204" pitchFamily="18" charset="0"/>
                            <a:sym typeface="Calibri"/>
                          </a:rPr>
                          <m:t>,</m:t>
                        </m:r>
                        <m:acc>
                          <m:accPr>
                            <m:chr m:val="̂"/>
                            <m:ctrlPr>
                              <a:rPr lang="en-US" b="0" i="1" smtClean="0">
                                <a:solidFill>
                                  <a:srgbClr val="000000"/>
                                </a:solidFill>
                                <a:latin typeface="Cambria Math" panose="02040503050406030204" pitchFamily="18" charset="0"/>
                                <a:ea typeface="Cambria Math" panose="02040503050406030204" pitchFamily="18" charset="0"/>
                                <a:sym typeface="Calibri"/>
                              </a:rPr>
                            </m:ctrlPr>
                          </m:accPr>
                          <m:e>
                            <m:r>
                              <a:rPr lang="en-US" b="0" i="1" smtClean="0">
                                <a:solidFill>
                                  <a:srgbClr val="000000"/>
                                </a:solidFill>
                                <a:latin typeface="Cambria Math" panose="02040503050406030204" pitchFamily="18" charset="0"/>
                                <a:ea typeface="Cambria Math" panose="02040503050406030204" pitchFamily="18" charset="0"/>
                                <a:sym typeface="Calibri"/>
                              </a:rPr>
                              <m:t>𝑏</m:t>
                            </m:r>
                          </m:e>
                        </m:acc>
                      </m:e>
                    </m:d>
                    <m:r>
                      <a:rPr lang="en-US" b="0" i="0" smtClean="0">
                        <a:solidFill>
                          <a:srgbClr val="000000"/>
                        </a:solidFill>
                        <a:latin typeface="Cambria Math" panose="02040503050406030204" pitchFamily="18" charset="0"/>
                        <a:ea typeface="Cambria Math" panose="02040503050406030204" pitchFamily="18" charset="0"/>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𝑎𝑟𝑔𝑚𝑖𝑛</m:t>
                        </m:r>
                      </m:e>
                      <m:sub>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𝑥</m:t>
                        </m:r>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𝑦</m:t>
                        </m:r>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𝑧</m:t>
                        </m:r>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𝑏</m:t>
                        </m:r>
                        <m:r>
                          <a:rPr lang="en-US" b="0" i="1" smtClean="0">
                            <a:solidFill>
                              <a:srgbClr val="000000"/>
                            </a:solidFill>
                            <a:latin typeface="Cambria Math" panose="02040503050406030204" pitchFamily="18" charset="0"/>
                            <a:ea typeface="Cambria Math" panose="02040503050406030204" pitchFamily="18" charset="0"/>
                            <a:sym typeface="Calibri"/>
                          </a:rPr>
                          <m:t>)</m:t>
                        </m:r>
                      </m:sub>
                    </m:sSub>
                    <m:rad>
                      <m:radPr>
                        <m:degHide m:val="on"/>
                        <m:ctrlPr>
                          <a:rPr lang="en-US" b="0" i="1" smtClean="0">
                            <a:solidFill>
                              <a:srgbClr val="000000"/>
                            </a:solidFill>
                            <a:latin typeface="Cambria Math" panose="02040503050406030204" pitchFamily="18" charset="0"/>
                            <a:ea typeface="Cambria Math" panose="02040503050406030204" pitchFamily="18" charset="0"/>
                            <a:sym typeface="Calibri"/>
                          </a:rPr>
                        </m:ctrlPr>
                      </m:radPr>
                      <m:deg/>
                      <m:e>
                        <m:sSup>
                          <m:sSupPr>
                            <m:ctrlPr>
                              <a:rPr lang="en-US" b="0" i="1" smtClean="0">
                                <a:solidFill>
                                  <a:srgbClr val="000000"/>
                                </a:solidFill>
                                <a:latin typeface="Cambria Math" panose="02040503050406030204" pitchFamily="18" charset="0"/>
                                <a:ea typeface="Cambria Math" panose="02040503050406030204" pitchFamily="18" charset="0"/>
                                <a:sym typeface="Calibri"/>
                              </a:rPr>
                            </m:ctrlPr>
                          </m:sSupPr>
                          <m:e>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𝑥</m:t>
                            </m:r>
                            <m:r>
                              <a:rPr lang="en-US"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𝑥</m:t>
                                </m:r>
                              </m:e>
                              <m:sub>
                                <m:r>
                                  <a:rPr lang="en-US" b="0" i="1" smtClean="0">
                                    <a:solidFill>
                                      <a:srgbClr val="000000"/>
                                    </a:solidFill>
                                    <a:latin typeface="Cambria Math" panose="02040503050406030204" pitchFamily="18" charset="0"/>
                                    <a:ea typeface="Cambria Math" panose="02040503050406030204" pitchFamily="18" charset="0"/>
                                    <a:sym typeface="Calibri"/>
                                  </a:rPr>
                                  <m:t>𝑖</m:t>
                                </m:r>
                              </m:sub>
                            </m:sSub>
                            <m:r>
                              <a:rPr lang="en-US" b="0" i="1" smtClean="0">
                                <a:solidFill>
                                  <a:srgbClr val="000000"/>
                                </a:solidFill>
                                <a:latin typeface="Cambria Math" panose="02040503050406030204" pitchFamily="18" charset="0"/>
                                <a:ea typeface="Cambria Math" panose="02040503050406030204" pitchFamily="18" charset="0"/>
                                <a:sym typeface="Calibri"/>
                              </a:rPr>
                              <m:t>)</m:t>
                            </m:r>
                          </m:e>
                          <m:sup>
                            <m:r>
                              <a:rPr lang="en-US" b="0" i="1" smtClean="0">
                                <a:solidFill>
                                  <a:srgbClr val="000000"/>
                                </a:solidFill>
                                <a:latin typeface="Cambria Math" panose="02040503050406030204" pitchFamily="18" charset="0"/>
                                <a:ea typeface="Cambria Math" panose="02040503050406030204" pitchFamily="18" charset="0"/>
                                <a:sym typeface="Calibri"/>
                              </a:rPr>
                              <m:t>2</m:t>
                            </m:r>
                          </m:sup>
                        </m:sSup>
                        <m:r>
                          <a:rPr lang="en-US" b="0" i="1" smtClean="0">
                            <a:solidFill>
                              <a:srgbClr val="000000"/>
                            </a:solidFill>
                            <a:latin typeface="Cambria Math" panose="02040503050406030204" pitchFamily="18" charset="0"/>
                            <a:ea typeface="Cambria Math" panose="02040503050406030204" pitchFamily="18" charset="0"/>
                            <a:sym typeface="Calibri"/>
                          </a:rPr>
                          <m:t>+</m:t>
                        </m:r>
                        <m:sSup>
                          <m:sSupPr>
                            <m:ctrlPr>
                              <a:rPr lang="en-US" b="0" i="1" smtClean="0">
                                <a:solidFill>
                                  <a:srgbClr val="000000"/>
                                </a:solidFill>
                                <a:latin typeface="Cambria Math" panose="02040503050406030204" pitchFamily="18" charset="0"/>
                                <a:ea typeface="Cambria Math" panose="02040503050406030204" pitchFamily="18" charset="0"/>
                                <a:sym typeface="Calibri"/>
                              </a:rPr>
                            </m:ctrlPr>
                          </m:sSupPr>
                          <m:e>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𝑦</m:t>
                            </m:r>
                            <m:r>
                              <a:rPr lang="en-US" i="1">
                                <a:solidFill>
                                  <a:srgbClr val="000000"/>
                                </a:solidFill>
                                <a:latin typeface="Cambria Math" panose="02040503050406030204" pitchFamily="18" charset="0"/>
                                <a:ea typeface="Cambria Math" panose="02040503050406030204" pitchFamily="18" charset="0"/>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𝑦</m:t>
                                </m:r>
                              </m:e>
                              <m:sub>
                                <m:r>
                                  <a:rPr lang="en-US" i="1">
                                    <a:solidFill>
                                      <a:srgbClr val="000000"/>
                                    </a:solidFill>
                                    <a:latin typeface="Cambria Math" panose="02040503050406030204" pitchFamily="18" charset="0"/>
                                    <a:ea typeface="Cambria Math" panose="02040503050406030204" pitchFamily="18" charset="0"/>
                                    <a:sym typeface="Calibri"/>
                                  </a:rPr>
                                  <m:t>𝑖</m:t>
                                </m:r>
                              </m:sub>
                            </m:sSub>
                            <m:r>
                              <a:rPr lang="en-US" b="0" i="1" smtClean="0">
                                <a:solidFill>
                                  <a:srgbClr val="000000"/>
                                </a:solidFill>
                                <a:latin typeface="Cambria Math" panose="02040503050406030204" pitchFamily="18" charset="0"/>
                                <a:ea typeface="Cambria Math" panose="02040503050406030204" pitchFamily="18" charset="0"/>
                                <a:sym typeface="Calibri"/>
                              </a:rPr>
                              <m:t>)</m:t>
                            </m:r>
                          </m:e>
                          <m:sup>
                            <m:r>
                              <a:rPr lang="en-US" b="0" i="1" smtClean="0">
                                <a:solidFill>
                                  <a:srgbClr val="000000"/>
                                </a:solidFill>
                                <a:latin typeface="Cambria Math" panose="02040503050406030204" pitchFamily="18" charset="0"/>
                                <a:ea typeface="Cambria Math" panose="02040503050406030204" pitchFamily="18" charset="0"/>
                                <a:sym typeface="Calibri"/>
                              </a:rPr>
                              <m:t>2</m:t>
                            </m:r>
                          </m:sup>
                        </m:sSup>
                        <m:r>
                          <a:rPr lang="en-US" b="0" i="1" smtClean="0">
                            <a:solidFill>
                              <a:srgbClr val="000000"/>
                            </a:solidFill>
                            <a:latin typeface="Cambria Math" panose="02040503050406030204" pitchFamily="18" charset="0"/>
                            <a:ea typeface="Cambria Math" panose="02040503050406030204" pitchFamily="18" charset="0"/>
                            <a:sym typeface="Calibri"/>
                          </a:rPr>
                          <m:t>+</m:t>
                        </m:r>
                        <m:sSup>
                          <m:sSupPr>
                            <m:ctrlPr>
                              <a:rPr lang="en-US" b="0" i="1" smtClean="0">
                                <a:solidFill>
                                  <a:srgbClr val="000000"/>
                                </a:solidFill>
                                <a:latin typeface="Cambria Math" panose="02040503050406030204" pitchFamily="18" charset="0"/>
                                <a:ea typeface="Cambria Math" panose="02040503050406030204" pitchFamily="18" charset="0"/>
                                <a:sym typeface="Calibri"/>
                              </a:rPr>
                            </m:ctrlPr>
                          </m:sSupPr>
                          <m:e>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𝑧</m:t>
                            </m:r>
                            <m:r>
                              <a:rPr lang="en-US" i="1">
                                <a:solidFill>
                                  <a:srgbClr val="000000"/>
                                </a:solidFill>
                                <a:latin typeface="Cambria Math" panose="02040503050406030204" pitchFamily="18" charset="0"/>
                                <a:ea typeface="Cambria Math" panose="02040503050406030204" pitchFamily="18" charset="0"/>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𝑧</m:t>
                                </m:r>
                              </m:e>
                              <m:sub>
                                <m:r>
                                  <a:rPr lang="en-US" i="1">
                                    <a:solidFill>
                                      <a:srgbClr val="000000"/>
                                    </a:solidFill>
                                    <a:latin typeface="Cambria Math" panose="02040503050406030204" pitchFamily="18" charset="0"/>
                                    <a:ea typeface="Cambria Math" panose="02040503050406030204" pitchFamily="18" charset="0"/>
                                    <a:sym typeface="Calibri"/>
                                  </a:rPr>
                                  <m:t>𝑖</m:t>
                                </m:r>
                              </m:sub>
                            </m:sSub>
                            <m:r>
                              <a:rPr lang="en-US" b="0" i="1" smtClean="0">
                                <a:solidFill>
                                  <a:srgbClr val="000000"/>
                                </a:solidFill>
                                <a:latin typeface="Cambria Math" panose="02040503050406030204" pitchFamily="18" charset="0"/>
                                <a:ea typeface="Cambria Math" panose="02040503050406030204" pitchFamily="18" charset="0"/>
                                <a:sym typeface="Calibri"/>
                              </a:rPr>
                              <m:t>)</m:t>
                            </m:r>
                          </m:e>
                          <m:sup>
                            <m:r>
                              <a:rPr lang="en-US" b="0" i="1" smtClean="0">
                                <a:solidFill>
                                  <a:srgbClr val="000000"/>
                                </a:solidFill>
                                <a:latin typeface="Cambria Math" panose="02040503050406030204" pitchFamily="18" charset="0"/>
                                <a:ea typeface="Cambria Math" panose="02040503050406030204" pitchFamily="18" charset="0"/>
                                <a:sym typeface="Calibri"/>
                              </a:rPr>
                              <m:t>2</m:t>
                            </m:r>
                          </m:sup>
                        </m:sSup>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𝑏𝑐</m:t>
                        </m:r>
                        <m:r>
                          <a:rPr lang="en-US"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𝑝</m:t>
                            </m:r>
                          </m:e>
                          <m:sub>
                            <m:r>
                              <a:rPr lang="en-US" b="0" i="1" smtClean="0">
                                <a:solidFill>
                                  <a:srgbClr val="000000"/>
                                </a:solidFill>
                                <a:latin typeface="Cambria Math" panose="02040503050406030204" pitchFamily="18" charset="0"/>
                                <a:ea typeface="Cambria Math" panose="02040503050406030204" pitchFamily="18" charset="0"/>
                                <a:sym typeface="Calibri"/>
                              </a:rPr>
                              <m:t>𝑖</m:t>
                            </m:r>
                          </m:sub>
                        </m:sSub>
                      </m:e>
                    </m:rad>
                  </m:oMath>
                </a14:m>
                <a:endParaRPr lang="en-US" dirty="0">
                  <a:solidFill>
                    <a:srgbClr val="000000"/>
                  </a:solidFill>
                  <a:ea typeface="Cambria Math" panose="02040503050406030204" pitchFamily="18" charset="0"/>
                  <a:sym typeface="Calibri"/>
                </a:endParaRPr>
              </a:p>
              <a:p>
                <a:pPr marL="342900" indent="-342900" defTabSz="457200" hangingPunct="0">
                  <a:buFont typeface="Arial" panose="020B0604020202020204" pitchFamily="34" charset="0"/>
                  <a:buChar char="•"/>
                </a:pPr>
                <a:r>
                  <a:rPr lang="en-US" i="1" dirty="0"/>
                  <a:t>Carrier-Phase Enhancement</a:t>
                </a:r>
                <a:r>
                  <a:rPr lang="en-US" dirty="0"/>
                  <a:t> .</a:t>
                </a:r>
              </a:p>
              <a:p>
                <a:pPr marL="800100" lvl="1" indent="-342900" defTabSz="457200" hangingPunct="0">
                  <a:buFont typeface="Arial" panose="020B0604020202020204" pitchFamily="34" charset="0"/>
                  <a:buChar char="•"/>
                </a:pPr>
                <a:r>
                  <a:rPr lang="en-US" dirty="0"/>
                  <a:t>Receiver mixes self generated carrier with received carrier.  Low frequency beat is a measure of Doppler and hence relative speed of SV to receiver.</a:t>
                </a:r>
              </a:p>
              <a:p>
                <a:pPr marL="800100" lvl="1" indent="-342900" defTabSz="457200" hangingPunct="0">
                  <a:buFont typeface="Arial" panose="020B0604020202020204" pitchFamily="34" charset="0"/>
                  <a:buChar char="•"/>
                </a:pPr>
                <a:r>
                  <a:rPr lang="en-US" dirty="0"/>
                  <a:t>Corrects timing errors caused by non-zero PRN pulse transition using the L1 carrier wave, which has a period about one-thousandth of the C/A Gold code bit providing an additional clock. </a:t>
                </a:r>
              </a:p>
              <a:p>
                <a:pPr marL="800100" lvl="1" indent="-342900" defTabSz="457200" hangingPunct="0">
                  <a:buFont typeface="Arial" panose="020B0604020202020204" pitchFamily="34" charset="0"/>
                  <a:buChar char="•"/>
                </a:pPr>
                <a:r>
                  <a:rPr lang="en-US" dirty="0"/>
                  <a:t>The phase difference error in the normal GPS amounts to 2–3 m error. Carrier-Phase Enhancement reduces this to 3 cm (1.2 in). </a:t>
                </a:r>
              </a:p>
              <a:p>
                <a:pPr marL="800100" lvl="1" indent="-342900" defTabSz="457200" hangingPunct="0">
                  <a:buFont typeface="Arial" panose="020B0604020202020204" pitchFamily="34" charset="0"/>
                  <a:buChar char="•"/>
                </a:pP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𝜑</m:t>
                        </m:r>
                      </m:num>
                      <m:den>
                        <m:r>
                          <a:rPr lang="en-US" b="0" i="1" smtClean="0">
                            <a:latin typeface="Cambria Math" panose="02040503050406030204" pitchFamily="18" charset="0"/>
                          </a:rPr>
                          <m:t>𝑑𝑡</m:t>
                        </m:r>
                      </m:den>
                    </m:f>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oMath>
                </a14:m>
                <a:r>
                  <a:rPr lang="en-US" dirty="0"/>
                  <a:t>  </a:t>
                </a:r>
              </a:p>
              <a:p>
                <a:pPr marL="800100" lvl="1" indent="-342900" defTabSz="457200" hangingPunct="0">
                  <a:buFont typeface="Arial" panose="020B0604020202020204" pitchFamily="34" charset="0"/>
                  <a:buChar char="•"/>
                </a:pP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𝐴</m:t>
                        </m:r>
                      </m:e>
                      <m:sub>
                        <m:r>
                          <a:rPr lang="en-US" b="0" i="1" dirty="0" smtClean="0">
                            <a:latin typeface="Cambria Math" panose="02040503050406030204" pitchFamily="18" charset="0"/>
                          </a:rPr>
                          <m:t>𝑖𝑑𝑒𝑎𝑙</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𝐴</m:t>
                        </m:r>
                      </m:e>
                      <m:sub>
                        <m:r>
                          <a:rPr lang="en-US" b="0" i="1" dirty="0" smtClean="0">
                            <a:latin typeface="Cambria Math" panose="02040503050406030204" pitchFamily="18" charset="0"/>
                          </a:rPr>
                          <m:t>0</m:t>
                        </m:r>
                      </m:sub>
                    </m:sSub>
                    <m:func>
                      <m:funcPr>
                        <m:ctrlPr>
                          <a:rPr lang="en-US" b="0" i="0" dirty="0" smtClean="0">
                            <a:latin typeface="Cambria Math" panose="02040503050406030204" pitchFamily="18" charset="0"/>
                          </a:rPr>
                        </m:ctrlPr>
                      </m:funcPr>
                      <m:fName>
                        <m:r>
                          <m:rPr>
                            <m:sty m:val="p"/>
                          </m:rPr>
                          <a:rPr lang="en-US" b="0" i="0" dirty="0" smtClean="0">
                            <a:latin typeface="Cambria Math" panose="02040503050406030204" pitchFamily="18" charset="0"/>
                          </a:rPr>
                          <m:t>sin</m:t>
                        </m:r>
                      </m:fName>
                      <m:e>
                        <m:d>
                          <m:dPr>
                            <m:ctrlPr>
                              <a:rPr lang="en-US" b="0" i="1" dirty="0" smtClean="0">
                                <a:latin typeface="Cambria Math" panose="02040503050406030204" pitchFamily="18" charset="0"/>
                              </a:rPr>
                            </m:ctrlPr>
                          </m:dPr>
                          <m:e>
                            <m:r>
                              <a:rPr lang="en-US" b="0" i="1" dirty="0" smtClean="0">
                                <a:latin typeface="Cambria Math" panose="02040503050406030204" pitchFamily="18" charset="0"/>
                              </a:rPr>
                              <m:t>2</m:t>
                            </m:r>
                            <m:r>
                              <a:rPr lang="en-US" b="0" i="1" dirty="0" smtClean="0">
                                <a:latin typeface="Cambria Math" panose="02040503050406030204" pitchFamily="18" charset="0"/>
                                <a:ea typeface="Cambria Math" panose="02040503050406030204" pitchFamily="18" charset="0"/>
                              </a:rPr>
                              <m:t>𝜋</m:t>
                            </m:r>
                            <m:d>
                              <m:dPr>
                                <m:begChr m:val="["/>
                                <m:endChr m:val="]"/>
                                <m:ctrlPr>
                                  <a:rPr lang="en-US" b="0" i="1" dirty="0" smtClean="0">
                                    <a:latin typeface="Cambria Math" panose="02040503050406030204" pitchFamily="18" charset="0"/>
                                    <a:ea typeface="Cambria Math" panose="02040503050406030204" pitchFamily="18" charset="0"/>
                                  </a:rPr>
                                </m:ctrlPr>
                              </m:dPr>
                              <m:e>
                                <m:sSub>
                                  <m:sSubPr>
                                    <m:ctrlPr>
                                      <a:rPr lang="en-US" b="0" i="1" dirty="0" smtClean="0">
                                        <a:latin typeface="Cambria Math" panose="02040503050406030204" pitchFamily="18" charset="0"/>
                                        <a:ea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𝑓</m:t>
                                    </m:r>
                                  </m:e>
                                  <m:sub>
                                    <m:r>
                                      <a:rPr lang="en-US" b="0" i="1" dirty="0" smtClean="0">
                                        <a:latin typeface="Cambria Math" panose="02040503050406030204" pitchFamily="18" charset="0"/>
                                        <a:ea typeface="Cambria Math" panose="02040503050406030204" pitchFamily="18" charset="0"/>
                                      </a:rPr>
                                      <m:t>0</m:t>
                                    </m:r>
                                  </m:sub>
                                </m:sSub>
                                <m:r>
                                  <a:rPr lang="en-US" b="0" i="1" dirty="0" smtClean="0">
                                    <a:latin typeface="Cambria Math" panose="02040503050406030204" pitchFamily="18" charset="0"/>
                                    <a:ea typeface="Cambria Math" panose="02040503050406030204" pitchFamily="18" charset="0"/>
                                  </a:rPr>
                                  <m:t>+</m:t>
                                </m:r>
                                <m:sSub>
                                  <m:sSubPr>
                                    <m:ctrlPr>
                                      <a:rPr lang="en-US" b="0" i="1" dirty="0" smtClean="0">
                                        <a:latin typeface="Cambria Math" panose="02040503050406030204" pitchFamily="18" charset="0"/>
                                        <a:ea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𝜑</m:t>
                                    </m:r>
                                  </m:e>
                                  <m:sub>
                                    <m:r>
                                      <a:rPr lang="en-US" b="0" i="1" dirty="0" smtClean="0">
                                        <a:latin typeface="Cambria Math" panose="02040503050406030204" pitchFamily="18" charset="0"/>
                                        <a:ea typeface="Cambria Math" panose="02040503050406030204" pitchFamily="18" charset="0"/>
                                      </a:rPr>
                                      <m:t>0</m:t>
                                    </m:r>
                                  </m:sub>
                                </m:sSub>
                              </m:e>
                            </m:d>
                          </m:e>
                        </m:d>
                      </m:e>
                    </m:func>
                    <m:r>
                      <a:rPr lang="en-US" b="0" i="1" dirty="0" smtClean="0">
                        <a:latin typeface="Cambria Math" panose="02040503050406030204" pitchFamily="18" charset="0"/>
                        <a:ea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𝐴</m:t>
                        </m:r>
                      </m:e>
                      <m:sub>
                        <m:r>
                          <a:rPr lang="en-US" i="1" dirty="0">
                            <a:latin typeface="Cambria Math" panose="02040503050406030204" pitchFamily="18" charset="0"/>
                          </a:rPr>
                          <m:t>0</m:t>
                        </m:r>
                      </m:sub>
                    </m:sSub>
                    <m:func>
                      <m:funcPr>
                        <m:ctrlPr>
                          <a:rPr lang="en-US" dirty="0">
                            <a:latin typeface="Cambria Math" panose="02040503050406030204" pitchFamily="18" charset="0"/>
                          </a:rPr>
                        </m:ctrlPr>
                      </m:funcPr>
                      <m:fName>
                        <m:r>
                          <m:rPr>
                            <m:sty m:val="p"/>
                          </m:rPr>
                          <a:rPr lang="en-US" dirty="0">
                            <a:latin typeface="Cambria Math" panose="02040503050406030204" pitchFamily="18" charset="0"/>
                          </a:rPr>
                          <m:t>sin</m:t>
                        </m:r>
                      </m:fName>
                      <m:e>
                        <m:d>
                          <m:dPr>
                            <m:ctrlPr>
                              <a:rPr lang="en-US" i="1" dirty="0">
                                <a:latin typeface="Cambria Math" panose="02040503050406030204" pitchFamily="18" charset="0"/>
                              </a:rPr>
                            </m:ctrlPr>
                          </m:dPr>
                          <m:e>
                            <m:r>
                              <a:rPr lang="en-US" i="1" dirty="0">
                                <a:latin typeface="Cambria Math" panose="02040503050406030204" pitchFamily="18" charset="0"/>
                              </a:rPr>
                              <m:t>2</m:t>
                            </m:r>
                            <m:r>
                              <a:rPr lang="en-US" i="1" dirty="0">
                                <a:latin typeface="Cambria Math" panose="02040503050406030204" pitchFamily="18" charset="0"/>
                                <a:ea typeface="Cambria Math" panose="02040503050406030204" pitchFamily="18" charset="0"/>
                              </a:rPr>
                              <m:t>𝜋</m:t>
                            </m:r>
                            <m:sSub>
                              <m:sSubPr>
                                <m:ctrlPr>
                                  <a:rPr lang="en-US" b="0" i="1" dirty="0" smtClean="0">
                                    <a:latin typeface="Cambria Math" panose="02040503050406030204" pitchFamily="18" charset="0"/>
                                    <a:ea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𝑓</m:t>
                                </m:r>
                              </m:e>
                              <m:sub>
                                <m:r>
                                  <a:rPr lang="en-US" b="0" i="1" dirty="0" smtClean="0">
                                    <a:latin typeface="Cambria Math" panose="02040503050406030204" pitchFamily="18" charset="0"/>
                                    <a:ea typeface="Cambria Math" panose="02040503050406030204" pitchFamily="18" charset="0"/>
                                  </a:rPr>
                                  <m:t>0</m:t>
                                </m:r>
                              </m:sub>
                            </m:sSub>
                          </m:e>
                        </m:d>
                      </m:e>
                    </m:func>
                    <m:func>
                      <m:funcPr>
                        <m:ctrlPr>
                          <a:rPr lang="en-US" b="0" i="0" dirty="0" smtClean="0">
                            <a:latin typeface="Cambria Math" panose="02040503050406030204" pitchFamily="18" charset="0"/>
                          </a:rPr>
                        </m:ctrlPr>
                      </m:funcPr>
                      <m:fName>
                        <m:r>
                          <m:rPr>
                            <m:sty m:val="p"/>
                          </m:rPr>
                          <a:rPr lang="en-US" b="0" i="0" dirty="0" smtClean="0">
                            <a:latin typeface="Cambria Math" panose="02040503050406030204" pitchFamily="18" charset="0"/>
                          </a:rPr>
                          <m:t>cos</m:t>
                        </m:r>
                      </m:fName>
                      <m:e>
                        <m:d>
                          <m:dPr>
                            <m:ctrlPr>
                              <a:rPr lang="en-US" i="1" dirty="0">
                                <a:latin typeface="Cambria Math" panose="02040503050406030204" pitchFamily="18" charset="0"/>
                              </a:rPr>
                            </m:ctrlPr>
                          </m:dPr>
                          <m:e>
                            <m:r>
                              <a:rPr lang="en-US" i="1" dirty="0">
                                <a:latin typeface="Cambria Math" panose="02040503050406030204" pitchFamily="18" charset="0"/>
                              </a:rPr>
                              <m:t>2</m:t>
                            </m:r>
                            <m:r>
                              <a:rPr lang="en-US" i="1" dirty="0">
                                <a:latin typeface="Cambria Math" panose="02040503050406030204" pitchFamily="18" charset="0"/>
                                <a:ea typeface="Cambria Math" panose="02040503050406030204" pitchFamily="18" charset="0"/>
                              </a:rPr>
                              <m:t>𝜋</m:t>
                            </m:r>
                            <m:sSub>
                              <m:sSubPr>
                                <m:ctrlPr>
                                  <a:rPr lang="en-US" i="1" dirty="0" smtClean="0">
                                    <a:latin typeface="Cambria Math" panose="02040503050406030204" pitchFamily="18" charset="0"/>
                                    <a:ea typeface="Cambria Math" panose="02040503050406030204" pitchFamily="18" charset="0"/>
                                  </a:rPr>
                                </m:ctrlPr>
                              </m:sSubPr>
                              <m:e>
                                <m:r>
                                  <a:rPr lang="en-US" i="1" dirty="0" smtClean="0">
                                    <a:latin typeface="Cambria Math" panose="02040503050406030204" pitchFamily="18" charset="0"/>
                                    <a:ea typeface="Cambria Math" panose="02040503050406030204" pitchFamily="18" charset="0"/>
                                  </a:rPr>
                                  <m:t>𝜑</m:t>
                                </m:r>
                              </m:e>
                              <m:sub>
                                <m:r>
                                  <a:rPr lang="en-US" b="0" i="1" dirty="0" smtClean="0">
                                    <a:latin typeface="Cambria Math" panose="02040503050406030204" pitchFamily="18" charset="0"/>
                                    <a:ea typeface="Cambria Math" panose="02040503050406030204" pitchFamily="18" charset="0"/>
                                  </a:rPr>
                                  <m:t>0</m:t>
                                </m:r>
                              </m:sub>
                            </m:sSub>
                          </m:e>
                        </m:d>
                      </m:e>
                    </m:func>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m:t>
                        </m:r>
                        <m:r>
                          <a:rPr lang="en-US" i="1" dirty="0">
                            <a:latin typeface="Cambria Math" panose="02040503050406030204" pitchFamily="18" charset="0"/>
                          </a:rPr>
                          <m:t>𝐴</m:t>
                        </m:r>
                      </m:e>
                      <m:sub>
                        <m:r>
                          <a:rPr lang="en-US" i="1" dirty="0">
                            <a:latin typeface="Cambria Math" panose="02040503050406030204" pitchFamily="18" charset="0"/>
                          </a:rPr>
                          <m:t>0</m:t>
                        </m:r>
                      </m:sub>
                    </m:sSub>
                    <m:func>
                      <m:funcPr>
                        <m:ctrlPr>
                          <a:rPr lang="en-US" b="0" i="0" dirty="0" smtClean="0">
                            <a:latin typeface="Cambria Math" panose="02040503050406030204" pitchFamily="18" charset="0"/>
                          </a:rPr>
                        </m:ctrlPr>
                      </m:funcPr>
                      <m:fName>
                        <m:r>
                          <m:rPr>
                            <m:sty m:val="p"/>
                          </m:rPr>
                          <a:rPr lang="en-US" b="0" i="0" dirty="0" smtClean="0">
                            <a:latin typeface="Cambria Math" panose="02040503050406030204" pitchFamily="18" charset="0"/>
                          </a:rPr>
                          <m:t>cos</m:t>
                        </m:r>
                      </m:fName>
                      <m:e>
                        <m:d>
                          <m:dPr>
                            <m:ctrlPr>
                              <a:rPr lang="en-US" i="1" dirty="0">
                                <a:latin typeface="Cambria Math" panose="02040503050406030204" pitchFamily="18" charset="0"/>
                              </a:rPr>
                            </m:ctrlPr>
                          </m:dPr>
                          <m:e>
                            <m:r>
                              <a:rPr lang="en-US" i="1" dirty="0">
                                <a:latin typeface="Cambria Math" panose="02040503050406030204" pitchFamily="18" charset="0"/>
                              </a:rPr>
                              <m:t>2</m:t>
                            </m:r>
                            <m:r>
                              <a:rPr lang="en-US" i="1" dirty="0">
                                <a:latin typeface="Cambria Math" panose="02040503050406030204" pitchFamily="18" charset="0"/>
                                <a:ea typeface="Cambria Math" panose="02040503050406030204" pitchFamily="18" charset="0"/>
                              </a:rPr>
                              <m:t>𝜋</m:t>
                            </m:r>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𝑓</m:t>
                                </m:r>
                              </m:e>
                              <m:sub>
                                <m:r>
                                  <a:rPr lang="en-US" i="1" dirty="0">
                                    <a:latin typeface="Cambria Math" panose="02040503050406030204" pitchFamily="18" charset="0"/>
                                    <a:ea typeface="Cambria Math" panose="02040503050406030204" pitchFamily="18" charset="0"/>
                                  </a:rPr>
                                  <m:t>0</m:t>
                                </m:r>
                              </m:sub>
                            </m:sSub>
                          </m:e>
                        </m:d>
                      </m:e>
                    </m:func>
                    <m:sSub>
                      <m:sSubPr>
                        <m:ctrlPr>
                          <a:rPr lang="en-US" i="1" dirty="0">
                            <a:latin typeface="Cambria Math" panose="02040503050406030204" pitchFamily="18" charset="0"/>
                          </a:rPr>
                        </m:ctrlPr>
                      </m:sSubPr>
                      <m:e>
                        <m:r>
                          <a:rPr lang="en-US" i="1" dirty="0">
                            <a:latin typeface="Cambria Math" panose="02040503050406030204" pitchFamily="18" charset="0"/>
                          </a:rPr>
                          <m:t>𝐴</m:t>
                        </m:r>
                      </m:e>
                      <m:sub>
                        <m:r>
                          <a:rPr lang="en-US" i="1" dirty="0">
                            <a:latin typeface="Cambria Math" panose="02040503050406030204" pitchFamily="18" charset="0"/>
                          </a:rPr>
                          <m:t>0</m:t>
                        </m:r>
                      </m:sub>
                    </m:sSub>
                    <m:func>
                      <m:funcPr>
                        <m:ctrlPr>
                          <a:rPr lang="en-US" dirty="0">
                            <a:latin typeface="Cambria Math" panose="02040503050406030204" pitchFamily="18" charset="0"/>
                          </a:rPr>
                        </m:ctrlPr>
                      </m:funcPr>
                      <m:fName>
                        <m:r>
                          <m:rPr>
                            <m:sty m:val="p"/>
                          </m:rPr>
                          <a:rPr lang="en-US" dirty="0">
                            <a:latin typeface="Cambria Math" panose="02040503050406030204" pitchFamily="18" charset="0"/>
                          </a:rPr>
                          <m:t>sin</m:t>
                        </m:r>
                      </m:fName>
                      <m:e>
                        <m:d>
                          <m:dPr>
                            <m:ctrlPr>
                              <a:rPr lang="en-US" i="1" dirty="0">
                                <a:latin typeface="Cambria Math" panose="02040503050406030204" pitchFamily="18" charset="0"/>
                              </a:rPr>
                            </m:ctrlPr>
                          </m:dPr>
                          <m:e>
                            <m:r>
                              <a:rPr lang="en-US" i="1" dirty="0">
                                <a:latin typeface="Cambria Math" panose="02040503050406030204" pitchFamily="18" charset="0"/>
                              </a:rPr>
                              <m:t>2</m:t>
                            </m:r>
                            <m:r>
                              <a:rPr lang="en-US" i="1" dirty="0">
                                <a:latin typeface="Cambria Math" panose="02040503050406030204" pitchFamily="18" charset="0"/>
                                <a:ea typeface="Cambria Math" panose="02040503050406030204" pitchFamily="18" charset="0"/>
                              </a:rPr>
                              <m:t>𝜋</m:t>
                            </m:r>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𝜑</m:t>
                                </m:r>
                              </m:e>
                              <m:sub>
                                <m:r>
                                  <a:rPr lang="en-US" i="1" dirty="0">
                                    <a:latin typeface="Cambria Math" panose="02040503050406030204" pitchFamily="18" charset="0"/>
                                    <a:ea typeface="Cambria Math" panose="02040503050406030204" pitchFamily="18" charset="0"/>
                                  </a:rPr>
                                  <m:t>0</m:t>
                                </m:r>
                              </m:sub>
                            </m:sSub>
                          </m:e>
                        </m:d>
                        <m:r>
                          <a:rPr lang="en-US" b="0" i="1" dirty="0" smtClean="0">
                            <a:latin typeface="Cambria Math" panose="02040503050406030204" pitchFamily="18" charset="0"/>
                            <a:ea typeface="Cambria Math" panose="02040503050406030204" pitchFamily="18" charset="0"/>
                          </a:rPr>
                          <m:t>=</m:t>
                        </m:r>
                        <m:sSup>
                          <m:sSupPr>
                            <m:ctrlPr>
                              <a:rPr lang="en-US" b="0" i="1" dirty="0" smtClean="0">
                                <a:latin typeface="Cambria Math" panose="02040503050406030204" pitchFamily="18" charset="0"/>
                                <a:ea typeface="Cambria Math" panose="02040503050406030204" pitchFamily="18" charset="0"/>
                              </a:rPr>
                            </m:ctrlPr>
                          </m:sSupPr>
                          <m:e>
                            <m:sSub>
                              <m:sSubPr>
                                <m:ctrlPr>
                                  <a:rPr lang="en-US" b="0" i="1" dirty="0" smtClean="0">
                                    <a:latin typeface="Cambria Math" panose="02040503050406030204" pitchFamily="18" charset="0"/>
                                    <a:ea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𝐴</m:t>
                                </m:r>
                              </m:e>
                              <m:sub>
                                <m:r>
                                  <a:rPr lang="en-US" b="0" i="1" dirty="0" smtClean="0">
                                    <a:latin typeface="Cambria Math" panose="02040503050406030204" pitchFamily="18" charset="0"/>
                                    <a:ea typeface="Cambria Math" panose="02040503050406030204" pitchFamily="18" charset="0"/>
                                  </a:rPr>
                                  <m:t>0</m:t>
                                </m:r>
                              </m:sub>
                            </m:sSub>
                          </m:e>
                          <m:sup>
                            <m:r>
                              <a:rPr lang="en-US" b="0" i="1" dirty="0" smtClean="0">
                                <a:latin typeface="Cambria Math" panose="02040503050406030204" pitchFamily="18" charset="0"/>
                                <a:ea typeface="Cambria Math" panose="02040503050406030204" pitchFamily="18" charset="0"/>
                              </a:rPr>
                              <m:t>𝑆</m:t>
                            </m:r>
                          </m:sup>
                        </m:sSup>
                      </m:e>
                    </m:func>
                    <m:func>
                      <m:funcPr>
                        <m:ctrlPr>
                          <a:rPr lang="en-US" b="0" i="0" dirty="0" smtClean="0">
                            <a:latin typeface="Cambria Math" panose="02040503050406030204" pitchFamily="18" charset="0"/>
                            <a:ea typeface="Cambria Math" panose="02040503050406030204" pitchFamily="18" charset="0"/>
                          </a:rPr>
                        </m:ctrlPr>
                      </m:funcPr>
                      <m:fName>
                        <m:r>
                          <m:rPr>
                            <m:sty m:val="p"/>
                          </m:rPr>
                          <a:rPr lang="en-US" b="0" i="0" dirty="0" smtClean="0">
                            <a:latin typeface="Cambria Math" panose="02040503050406030204" pitchFamily="18" charset="0"/>
                            <a:ea typeface="Cambria Math" panose="02040503050406030204" pitchFamily="18" charset="0"/>
                          </a:rPr>
                          <m:t>sin</m:t>
                        </m:r>
                      </m:fName>
                      <m:e>
                        <m:d>
                          <m:dPr>
                            <m:ctrlPr>
                              <a:rPr lang="en-US" b="0" i="1" dirty="0" smtClean="0">
                                <a:latin typeface="Cambria Math" panose="02040503050406030204" pitchFamily="18" charset="0"/>
                                <a:ea typeface="Cambria Math" panose="02040503050406030204" pitchFamily="18" charset="0"/>
                              </a:rPr>
                            </m:ctrlPr>
                          </m:dPr>
                          <m:e>
                            <m:sSub>
                              <m:sSubPr>
                                <m:ctrlPr>
                                  <a:rPr lang="en-US" b="0" i="1" dirty="0" smtClean="0">
                                    <a:latin typeface="Cambria Math" panose="02040503050406030204" pitchFamily="18" charset="0"/>
                                    <a:ea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𝜔</m:t>
                                </m:r>
                              </m:e>
                              <m:sub>
                                <m:r>
                                  <a:rPr lang="en-US" b="0" i="1" dirty="0" smtClean="0">
                                    <a:latin typeface="Cambria Math" panose="02040503050406030204" pitchFamily="18" charset="0"/>
                                    <a:ea typeface="Cambria Math" panose="02040503050406030204" pitchFamily="18" charset="0"/>
                                  </a:rPr>
                                  <m:t>0</m:t>
                                </m:r>
                              </m:sub>
                            </m:sSub>
                            <m:r>
                              <a:rPr lang="en-US" b="0" i="1" dirty="0" smtClean="0">
                                <a:latin typeface="Cambria Math" panose="02040503050406030204" pitchFamily="18" charset="0"/>
                                <a:ea typeface="Cambria Math" panose="02040503050406030204" pitchFamily="18" charset="0"/>
                              </a:rPr>
                              <m:t>𝑡</m:t>
                            </m:r>
                          </m:e>
                        </m:d>
                      </m:e>
                    </m:func>
                    <m:r>
                      <a:rPr lang="en-US" b="0" i="1" dirty="0" smtClean="0">
                        <a:latin typeface="Cambria Math" panose="02040503050406030204" pitchFamily="18" charset="0"/>
                        <a:ea typeface="Cambria Math" panose="02040503050406030204" pitchFamily="18" charset="0"/>
                      </a:rPr>
                      <m:t>+</m:t>
                    </m:r>
                    <m:func>
                      <m:funcPr>
                        <m:ctrlPr>
                          <a:rPr lang="en-US" i="1" dirty="0">
                            <a:latin typeface="Cambria Math" panose="02040503050406030204" pitchFamily="18" charset="0"/>
                            <a:ea typeface="Cambria Math" panose="02040503050406030204" pitchFamily="18" charset="0"/>
                          </a:rPr>
                        </m:ctrlPr>
                      </m:funcPr>
                      <m:fName>
                        <m:sSup>
                          <m:sSupPr>
                            <m:ctrlPr>
                              <a:rPr lang="en-US" i="1" dirty="0">
                                <a:latin typeface="Cambria Math" panose="02040503050406030204" pitchFamily="18" charset="0"/>
                                <a:ea typeface="Cambria Math" panose="02040503050406030204" pitchFamily="18" charset="0"/>
                              </a:rPr>
                            </m:ctrlPr>
                          </m:sSupPr>
                          <m:e>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𝐴</m:t>
                                </m:r>
                              </m:e>
                              <m:sub>
                                <m:r>
                                  <a:rPr lang="en-US" i="1" dirty="0">
                                    <a:latin typeface="Cambria Math" panose="02040503050406030204" pitchFamily="18" charset="0"/>
                                    <a:ea typeface="Cambria Math" panose="02040503050406030204" pitchFamily="18" charset="0"/>
                                  </a:rPr>
                                  <m:t>0</m:t>
                                </m:r>
                              </m:sub>
                            </m:sSub>
                          </m:e>
                          <m:sup>
                            <m:r>
                              <a:rPr lang="en-US" b="0" i="1" dirty="0" smtClean="0">
                                <a:latin typeface="Cambria Math" panose="02040503050406030204" pitchFamily="18" charset="0"/>
                                <a:ea typeface="Cambria Math" panose="02040503050406030204" pitchFamily="18" charset="0"/>
                              </a:rPr>
                              <m:t>𝐶</m:t>
                            </m:r>
                          </m:sup>
                        </m:sSup>
                        <m:r>
                          <m:rPr>
                            <m:sty m:val="p"/>
                          </m:rPr>
                          <a:rPr lang="en-US" b="0" i="0" dirty="0" smtClean="0">
                            <a:latin typeface="Cambria Math" panose="02040503050406030204" pitchFamily="18" charset="0"/>
                            <a:ea typeface="Cambria Math" panose="02040503050406030204" pitchFamily="18" charset="0"/>
                          </a:rPr>
                          <m:t>cos</m:t>
                        </m:r>
                      </m:fName>
                      <m:e>
                        <m:d>
                          <m:dPr>
                            <m:ctrlPr>
                              <a:rPr lang="en-US" i="1" dirty="0">
                                <a:latin typeface="Cambria Math" panose="02040503050406030204" pitchFamily="18" charset="0"/>
                                <a:ea typeface="Cambria Math" panose="02040503050406030204" pitchFamily="18" charset="0"/>
                              </a:rPr>
                            </m:ctrlPr>
                          </m:dPr>
                          <m:e>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𝜔</m:t>
                                </m:r>
                              </m:e>
                              <m:sub>
                                <m:r>
                                  <a:rPr lang="en-US" i="1" dirty="0">
                                    <a:latin typeface="Cambria Math" panose="02040503050406030204" pitchFamily="18" charset="0"/>
                                    <a:ea typeface="Cambria Math" panose="02040503050406030204" pitchFamily="18" charset="0"/>
                                  </a:rPr>
                                  <m:t>0</m:t>
                                </m:r>
                              </m:sub>
                            </m:sSub>
                            <m:r>
                              <a:rPr lang="en-US" i="1" dirty="0">
                                <a:latin typeface="Cambria Math" panose="02040503050406030204" pitchFamily="18" charset="0"/>
                                <a:ea typeface="Cambria Math" panose="02040503050406030204" pitchFamily="18" charset="0"/>
                              </a:rPr>
                              <m:t>𝑡</m:t>
                            </m:r>
                          </m:e>
                        </m:d>
                      </m:e>
                    </m:func>
                  </m:oMath>
                </a14:m>
                <a:endParaRPr lang="en-US" dirty="0"/>
              </a:p>
              <a:p>
                <a:pPr marL="800100" lvl="1" indent="-342900" defTabSz="457200" hangingPunct="0">
                  <a:buFont typeface="Arial" panose="020B0604020202020204" pitchFamily="34" charset="0"/>
                  <a:buChar char="•"/>
                </a:pPr>
                <a:endParaRPr lang="en-US" sz="2000" dirty="0">
                  <a:solidFill>
                    <a:srgbClr val="000000"/>
                  </a:solidFill>
                  <a:ea typeface="Cambria Math" panose="02040503050406030204" pitchFamily="18" charset="0"/>
                  <a:sym typeface="Calibri"/>
                </a:endParaRPr>
              </a:p>
              <a:p>
                <a:pPr marL="342900" indent="-342900" defTabSz="457200" latinLnBrk="1" hangingPunct="0">
                  <a:buFont typeface="Arial" panose="020B0604020202020204" pitchFamily="34" charset="0"/>
                  <a:buChar char="•"/>
                </a:pPr>
                <a:endParaRPr lang="en-US" sz="2000" dirty="0">
                  <a:solidFill>
                    <a:srgbClr val="000000"/>
                  </a:solidFill>
                  <a:latin typeface="Calibri"/>
                  <a:ea typeface="Cambria Math" panose="02040503050406030204" pitchFamily="18" charset="0"/>
                  <a:sym typeface="Calibri"/>
                </a:endParaRPr>
              </a:p>
            </p:txBody>
          </p:sp>
        </mc:Choice>
        <mc:Fallback xmlns="">
          <p:sp>
            <p:nvSpPr>
              <p:cNvPr id="15" name="TextBox 14">
                <a:extLst>
                  <a:ext uri="{FF2B5EF4-FFF2-40B4-BE49-F238E27FC236}">
                    <a16:creationId xmlns:a16="http://schemas.microsoft.com/office/drawing/2014/main" id="{34EE796B-9DCB-DE41-AEA4-31CBF97794EF}"/>
                  </a:ext>
                </a:extLst>
              </p:cNvPr>
              <p:cNvSpPr txBox="1">
                <a:spLocks noRot="1" noChangeAspect="1" noMove="1" noResize="1" noEditPoints="1" noAdjustHandles="1" noChangeArrowheads="1" noChangeShapeType="1" noTextEdit="1"/>
              </p:cNvSpPr>
              <p:nvPr/>
            </p:nvSpPr>
            <p:spPr>
              <a:xfrm>
                <a:off x="294309" y="1457215"/>
                <a:ext cx="11529391" cy="5224068"/>
              </a:xfrm>
              <a:prstGeom prst="rect">
                <a:avLst/>
              </a:prstGeom>
              <a:blipFill>
                <a:blip r:embed="rId3"/>
                <a:stretch>
                  <a:fillRect l="-770" r="-550"/>
                </a:stretch>
              </a:blipFill>
              <a:ln w="12700" cap="flat">
                <a:noFill/>
                <a:miter lim="400000"/>
              </a:ln>
              <a:effectLst/>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9690100" y="6404284"/>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83</a:t>
            </a:fld>
            <a:endParaRPr lang="en-US" dirty="0">
              <a:solidFill>
                <a:schemeClr val="tx1"/>
              </a:solidFill>
            </a:endParaRPr>
          </a:p>
        </p:txBody>
      </p:sp>
    </p:spTree>
    <p:extLst>
      <p:ext uri="{BB962C8B-B14F-4D97-AF65-F5344CB8AC3E}">
        <p14:creationId xmlns:p14="http://schemas.microsoft.com/office/powerpoint/2010/main" val="375183891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155731"/>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Carrier phase differencing</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6553200" y="6404292"/>
            <a:ext cx="2133600" cy="269241"/>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pPr lvl="0"/>
              <a:t>84</a:t>
            </a:fld>
            <a:endParaRPr lang="en-US"/>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A2FCE3B-0E7F-494A-9FDA-31CC9846FDF1}"/>
                  </a:ext>
                </a:extLst>
              </p:cNvPr>
              <p:cNvSpPr txBox="1"/>
              <p:nvPr/>
            </p:nvSpPr>
            <p:spPr>
              <a:xfrm>
                <a:off x="444513" y="1846906"/>
                <a:ext cx="8285967" cy="4268142"/>
              </a:xfrm>
              <a:prstGeom prst="rect">
                <a:avLst/>
              </a:prstGeom>
              <a:noFill/>
            </p:spPr>
            <p:txBody>
              <a:bodyPr wrap="square" rtlCol="0">
                <a:noAutofit/>
              </a:bodyPr>
              <a:lstStyle/>
              <a:p>
                <a:pPr marL="285750" indent="-285750">
                  <a:buFont typeface="Arial" panose="020B0604020202020204" pitchFamily="34" charset="0"/>
                  <a:buChar char="•"/>
                </a:pPr>
                <a14:m>
                  <m:oMath xmlns:m="http://schemas.openxmlformats.org/officeDocument/2006/math">
                    <m:r>
                      <a:rPr lang="en-US" sz="200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𝑟</m:t>
                    </m:r>
                    <m:r>
                      <a:rPr lang="en-US" sz="2000" b="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𝑑</m:t>
                    </m:r>
                    <m:func>
                      <m:funcPr>
                        <m:ctrlPr>
                          <a:rPr lang="en-US" sz="2000" b="0" i="0" dirty="0" smtClean="0">
                            <a:latin typeface="Cambria Math" panose="02040503050406030204" pitchFamily="18" charset="0"/>
                            <a:ea typeface="Cambria Math" panose="02040503050406030204" pitchFamily="18" charset="0"/>
                          </a:rPr>
                        </m:ctrlPr>
                      </m:funcPr>
                      <m:fName>
                        <m:r>
                          <m:rPr>
                            <m:sty m:val="p"/>
                          </m:rPr>
                          <a:rPr lang="en-US" sz="2000" b="0" i="0" dirty="0" smtClean="0">
                            <a:latin typeface="Cambria Math" panose="02040503050406030204" pitchFamily="18" charset="0"/>
                            <a:ea typeface="Cambria Math" panose="02040503050406030204" pitchFamily="18" charset="0"/>
                          </a:rPr>
                          <m:t>cos</m:t>
                        </m:r>
                      </m:fName>
                      <m:e>
                        <m:d>
                          <m:dPr>
                            <m:ctrlPr>
                              <a:rPr lang="en-US" sz="2000" b="0" i="1" dirty="0" smtClean="0">
                                <a:latin typeface="Cambria Math" panose="02040503050406030204" pitchFamily="18" charset="0"/>
                                <a:ea typeface="Cambria Math" panose="02040503050406030204" pitchFamily="18" charset="0"/>
                              </a:rPr>
                            </m:ctrlPr>
                          </m:dPr>
                          <m:e>
                            <m:sSub>
                              <m:sSubPr>
                                <m:ctrlPr>
                                  <a:rPr lang="en-US" sz="2000" b="0" i="1" dirty="0" smtClean="0">
                                    <a:latin typeface="Cambria Math" panose="02040503050406030204" pitchFamily="18" charset="0"/>
                                    <a:ea typeface="Cambria Math" panose="02040503050406030204" pitchFamily="18" charset="0"/>
                                  </a:rPr>
                                </m:ctrlPr>
                              </m:sSubPr>
                              <m:e>
                                <m:r>
                                  <a:rPr lang="en-US" sz="2000" b="0" i="1" dirty="0" smtClean="0">
                                    <a:latin typeface="Cambria Math" panose="02040503050406030204" pitchFamily="18" charset="0"/>
                                    <a:ea typeface="Cambria Math" panose="02040503050406030204" pitchFamily="18" charset="0"/>
                                  </a:rPr>
                                  <m:t>𝜃</m:t>
                                </m:r>
                              </m:e>
                              <m:sub>
                                <m:r>
                                  <a:rPr lang="en-US" sz="2000" b="0" i="1" dirty="0" smtClean="0">
                                    <a:latin typeface="Cambria Math" panose="02040503050406030204" pitchFamily="18" charset="0"/>
                                    <a:ea typeface="Cambria Math" panose="02040503050406030204" pitchFamily="18" charset="0"/>
                                  </a:rPr>
                                  <m:t>0</m:t>
                                </m:r>
                              </m:sub>
                            </m:sSub>
                          </m:e>
                        </m:d>
                      </m:e>
                    </m:func>
                  </m:oMath>
                </a14:m>
                <a:endParaRPr lang="en-US" sz="2000" b="0" dirty="0">
                  <a:ea typeface="Cambria Math" panose="02040503050406030204" pitchFamily="18" charset="0"/>
                </a:endParaRPr>
              </a:p>
              <a:p>
                <a:pPr marL="285750" indent="-285750">
                  <a:buFont typeface="Arial" panose="020B0604020202020204" pitchFamily="34" charset="0"/>
                  <a:buChar char="•"/>
                </a:pPr>
                <a:r>
                  <a:rPr lang="en-US" sz="2000" dirty="0"/>
                  <a:t>Wave arrives at B first.  Arrives at A with phase delay </a:t>
                </a: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𝜙</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r>
                      <a:rPr lang="en-US" sz="2000" b="0" i="0" smtClean="0">
                        <a:latin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𝜙</m:t>
                        </m:r>
                      </m:e>
                      <m:sub>
                        <m:r>
                          <a:rPr lang="en-US" sz="2000" i="1">
                            <a:latin typeface="Cambria Math" panose="02040503050406030204" pitchFamily="18" charset="0"/>
                          </a:rPr>
                          <m:t>0</m:t>
                        </m:r>
                      </m:sub>
                    </m:sSub>
                    <m:r>
                      <a:rPr lang="en-US" sz="2000" b="0" i="1" smtClean="0">
                        <a:latin typeface="Cambria Math" panose="02040503050406030204" pitchFamily="18" charset="0"/>
                        <a:ea typeface="Cambria Math" panose="02040503050406030204" pitchFamily="18" charset="0"/>
                      </a:rPr>
                      <m:t>⇃+</m:t>
                    </m:r>
                    <m:sSub>
                      <m:sSubPr>
                        <m:ctrlPr>
                          <a:rPr lang="el-GR" sz="2000" b="0" i="1" smtClean="0">
                            <a:latin typeface="Cambria Math" panose="02040503050406030204" pitchFamily="18" charset="0"/>
                            <a:ea typeface="Cambria Math" panose="02040503050406030204" pitchFamily="18" charset="0"/>
                          </a:rPr>
                        </m:ctrlPr>
                      </m:sSubPr>
                      <m:e>
                        <m:r>
                          <m:rPr>
                            <m:sty m:val="p"/>
                          </m:rPr>
                          <a:rPr lang="el-GR" sz="2000" b="0" i="1" smtClean="0">
                            <a:latin typeface="Cambria Math" panose="02040503050406030204" pitchFamily="18" charset="0"/>
                            <a:ea typeface="Cambria Math" panose="02040503050406030204" pitchFamily="18" charset="0"/>
                          </a:rPr>
                          <m:t>Δ</m:t>
                        </m:r>
                      </m:e>
                      <m:sub>
                        <m:r>
                          <a:rPr lang="en-US" sz="2000" b="0" i="1" smtClean="0">
                            <a:latin typeface="Cambria Math" panose="02040503050406030204" pitchFamily="18" charset="0"/>
                            <a:ea typeface="Cambria Math" panose="02040503050406030204" pitchFamily="18" charset="0"/>
                          </a:rPr>
                          <m:t>0</m:t>
                        </m:r>
                      </m:sub>
                    </m:sSub>
                  </m:oMath>
                </a14:m>
                <a:r>
                  <a:rPr lang="en-US" sz="2000" dirty="0"/>
                  <a:t>, so</a:t>
                </a:r>
              </a:p>
              <a:p>
                <a:pPr marL="285750" indent="-285750">
                  <a:buFont typeface="Arial" panose="020B0604020202020204" pitchFamily="34" charset="0"/>
                  <a:buChar char="•"/>
                </a:pPr>
                <a14:m>
                  <m:oMath xmlns:m="http://schemas.openxmlformats.org/officeDocument/2006/math">
                    <m:r>
                      <a:rPr lang="en-US" sz="2000" i="1" dirty="0">
                        <a:latin typeface="Cambria Math" panose="02040503050406030204" pitchFamily="18" charset="0"/>
                        <a:ea typeface="Cambria Math" panose="02040503050406030204" pitchFamily="18" charset="0"/>
                      </a:rPr>
                      <m:t>𝑑</m:t>
                    </m:r>
                    <m:func>
                      <m:funcPr>
                        <m:ctrlPr>
                          <a:rPr lang="en-US" sz="2000" dirty="0">
                            <a:latin typeface="Cambria Math" panose="02040503050406030204" pitchFamily="18" charset="0"/>
                            <a:ea typeface="Cambria Math" panose="02040503050406030204" pitchFamily="18" charset="0"/>
                          </a:rPr>
                        </m:ctrlPr>
                      </m:funcPr>
                      <m:fName>
                        <m:r>
                          <m:rPr>
                            <m:sty m:val="p"/>
                          </m:rPr>
                          <a:rPr lang="en-US" sz="2000" dirty="0">
                            <a:latin typeface="Cambria Math" panose="02040503050406030204" pitchFamily="18" charset="0"/>
                            <a:ea typeface="Cambria Math" panose="02040503050406030204" pitchFamily="18" charset="0"/>
                          </a:rPr>
                          <m:t>cos</m:t>
                        </m:r>
                      </m:fName>
                      <m:e>
                        <m:d>
                          <m:dPr>
                            <m:ctrlPr>
                              <a:rPr lang="en-US" sz="2000" i="1" dirty="0">
                                <a:latin typeface="Cambria Math" panose="02040503050406030204" pitchFamily="18" charset="0"/>
                                <a:ea typeface="Cambria Math" panose="02040503050406030204" pitchFamily="18" charset="0"/>
                              </a:rPr>
                            </m:ctrlPr>
                          </m:dPr>
                          <m:e>
                            <m:sSub>
                              <m:sSubPr>
                                <m:ctrlPr>
                                  <a:rPr lang="en-US" sz="2000" i="1" dirty="0">
                                    <a:latin typeface="Cambria Math" panose="02040503050406030204" pitchFamily="18" charset="0"/>
                                    <a:ea typeface="Cambria Math" panose="02040503050406030204" pitchFamily="18" charset="0"/>
                                  </a:rPr>
                                </m:ctrlPr>
                              </m:sSubPr>
                              <m:e>
                                <m:r>
                                  <a:rPr lang="en-US" sz="2000" i="1" dirty="0">
                                    <a:latin typeface="Cambria Math" panose="02040503050406030204" pitchFamily="18" charset="0"/>
                                    <a:ea typeface="Cambria Math" panose="02040503050406030204" pitchFamily="18" charset="0"/>
                                  </a:rPr>
                                  <m:t>𝜃</m:t>
                                </m:r>
                              </m:e>
                              <m:sub>
                                <m:r>
                                  <a:rPr lang="en-US" sz="2000" i="1" dirty="0">
                                    <a:latin typeface="Cambria Math" panose="02040503050406030204" pitchFamily="18" charset="0"/>
                                    <a:ea typeface="Cambria Math" panose="02040503050406030204" pitchFamily="18" charset="0"/>
                                  </a:rPr>
                                  <m:t>0</m:t>
                                </m:r>
                              </m:sub>
                            </m:sSub>
                          </m:e>
                        </m:d>
                      </m:e>
                    </m:func>
                    <m:r>
                      <a:rPr lang="en-US" sz="2000" b="0" i="1" dirty="0" smtClean="0">
                        <a:latin typeface="Cambria Math" panose="02040503050406030204" pitchFamily="18" charset="0"/>
                        <a:ea typeface="Cambria Math" panose="02040503050406030204" pitchFamily="18" charset="0"/>
                      </a:rPr>
                      <m:t>= </m:t>
                    </m:r>
                    <m:r>
                      <a:rPr lang="en-US" sz="2000" b="0" i="1" dirty="0" smtClean="0">
                        <a:latin typeface="Cambria Math" panose="02040503050406030204" pitchFamily="18" charset="0"/>
                        <a:ea typeface="Cambria Math" panose="02040503050406030204" pitchFamily="18" charset="0"/>
                      </a:rPr>
                      <m:t>𝜆</m:t>
                    </m:r>
                    <m:r>
                      <a:rPr lang="en-US" sz="2000" b="0" i="1" dirty="0"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𝜙</m:t>
                        </m:r>
                      </m:e>
                      <m:sub>
                        <m:r>
                          <a:rPr lang="en-US" sz="2000" i="1">
                            <a:latin typeface="Cambria Math" panose="02040503050406030204" pitchFamily="18" charset="0"/>
                          </a:rPr>
                          <m:t>0</m:t>
                        </m:r>
                      </m:sub>
                    </m:sSub>
                    <m:r>
                      <a:rPr lang="en-US" sz="2000" b="0" i="0" smtClean="0">
                        <a:latin typeface="Cambria Math" panose="02040503050406030204" pitchFamily="18" charset="0"/>
                      </a:rPr>
                      <m:t>)</m:t>
                    </m:r>
                  </m:oMath>
                </a14:m>
                <a:endParaRPr lang="en-US" sz="2000" dirty="0"/>
              </a:p>
              <a:p>
                <a:pPr marL="285750" indent="-285750">
                  <a:buFont typeface="Arial" panose="020B0604020202020204" pitchFamily="34" charset="0"/>
                  <a:buChar char="•"/>
                </a:pPr>
                <a:r>
                  <a:rPr lang="en-US" sz="2000" dirty="0"/>
                  <a:t>Satellite moves in time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𝑡</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 </m:t>
                    </m:r>
                  </m:oMath>
                </a14:m>
                <a:r>
                  <a:rPr lang="en-US" sz="2000" dirty="0"/>
                  <a:t>changing angle to </a:t>
                </a:r>
                <a14:m>
                  <m:oMath xmlns:m="http://schemas.openxmlformats.org/officeDocument/2006/math">
                    <m:sSub>
                      <m:sSubPr>
                        <m:ctrlPr>
                          <a:rPr lang="en-US" sz="2000" i="1" dirty="0">
                            <a:latin typeface="Cambria Math" panose="02040503050406030204" pitchFamily="18" charset="0"/>
                            <a:ea typeface="Cambria Math" panose="02040503050406030204" pitchFamily="18" charset="0"/>
                          </a:rPr>
                        </m:ctrlPr>
                      </m:sSubPr>
                      <m:e>
                        <m:r>
                          <a:rPr lang="en-US" sz="2000" i="1" dirty="0">
                            <a:latin typeface="Cambria Math" panose="02040503050406030204" pitchFamily="18" charset="0"/>
                            <a:ea typeface="Cambria Math" panose="02040503050406030204" pitchFamily="18" charset="0"/>
                          </a:rPr>
                          <m:t>𝜃</m:t>
                        </m:r>
                      </m:e>
                      <m:sub>
                        <m:r>
                          <a:rPr lang="en-US" sz="2000" b="0" i="1" dirty="0" smtClean="0">
                            <a:latin typeface="Cambria Math" panose="02040503050406030204" pitchFamily="18" charset="0"/>
                            <a:ea typeface="Cambria Math" panose="02040503050406030204" pitchFamily="18" charset="0"/>
                          </a:rPr>
                          <m:t>1</m:t>
                        </m:r>
                      </m:sub>
                    </m:sSub>
                  </m:oMath>
                </a14:m>
                <a:endParaRPr lang="en-US" sz="2000" dirty="0"/>
              </a:p>
              <a:p>
                <a:pPr marL="285750" indent="-285750">
                  <a:buFont typeface="Arial" panose="020B0604020202020204" pitchFamily="34" charset="0"/>
                  <a:buChar char="•"/>
                </a:pPr>
                <a:r>
                  <a:rPr lang="en-US" sz="2000" dirty="0"/>
                  <a:t>Suppose</a:t>
                </a:r>
                <a14:m>
                  <m:oMath xmlns:m="http://schemas.openxmlformats.org/officeDocument/2006/math">
                    <m:r>
                      <a:rPr lang="en-US" sz="2000" i="1" dirty="0" smtClean="0">
                        <a:latin typeface="Cambria Math" panose="02040503050406030204" pitchFamily="18" charset="0"/>
                      </a:rPr>
                      <m:t> </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𝜙</m:t>
                        </m:r>
                      </m:e>
                      <m:sub>
                        <m:r>
                          <a:rPr lang="en-US" sz="2000" i="1">
                            <a:latin typeface="Cambria Math" panose="02040503050406030204" pitchFamily="18" charset="0"/>
                          </a:rPr>
                          <m:t>0</m:t>
                        </m:r>
                      </m:sub>
                    </m:sSub>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m:t>
                    </m:r>
                    <m:r>
                      <a:rPr lang="en-US" sz="2000">
                        <a:latin typeface="Cambria Math" panose="02040503050406030204" pitchFamily="18" charset="0"/>
                      </a:rPr>
                      <m:t> </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𝜙</m:t>
                        </m:r>
                      </m:e>
                      <m:sub>
                        <m:r>
                          <a:rPr lang="en-US" sz="2000" b="0" i="1" smtClean="0">
                            <a:latin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𝑁</m:t>
                    </m:r>
                  </m:oMath>
                </a14:m>
                <a:r>
                  <a:rPr lang="en-US" sz="2000" dirty="0"/>
                  <a:t>, and put </a:t>
                </a:r>
                <a14:m>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𝑑</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𝑑</m:t>
                        </m:r>
                      </m:num>
                      <m:den>
                        <m:r>
                          <a:rPr lang="en-US" sz="2000" b="0" i="1" smtClean="0">
                            <a:latin typeface="Cambria Math" panose="02040503050406030204" pitchFamily="18" charset="0"/>
                            <a:ea typeface="Cambria Math" panose="02040503050406030204" pitchFamily="18" charset="0"/>
                          </a:rPr>
                          <m:t>𝜆</m:t>
                        </m:r>
                      </m:den>
                    </m:f>
                  </m:oMath>
                </a14:m>
                <a:r>
                  <a:rPr lang="en-US" sz="2000" dirty="0"/>
                  <a:t> </a:t>
                </a:r>
              </a:p>
              <a:p>
                <a:pPr marL="742950" lvl="1" indent="-285750">
                  <a:buFont typeface="Arial" panose="020B0604020202020204" pitchFamily="34" charset="0"/>
                  <a:buChar char="•"/>
                </a:pPr>
                <a14:m>
                  <m:oMath xmlns:m="http://schemas.openxmlformats.org/officeDocument/2006/math">
                    <m:sSup>
                      <m:sSupPr>
                        <m:ctrlPr>
                          <a:rPr lang="en-US" sz="2000" b="0" i="1" dirty="0" smtClean="0">
                            <a:latin typeface="Cambria Math" panose="02040503050406030204" pitchFamily="18" charset="0"/>
                            <a:ea typeface="Cambria Math" panose="02040503050406030204" pitchFamily="18" charset="0"/>
                          </a:rPr>
                        </m:ctrlPr>
                      </m:sSupPr>
                      <m:e>
                        <m:r>
                          <a:rPr lang="en-US" sz="2000" b="0" i="1" dirty="0" smtClean="0">
                            <a:latin typeface="Cambria Math" panose="02040503050406030204" pitchFamily="18" charset="0"/>
                            <a:ea typeface="Cambria Math" panose="02040503050406030204" pitchFamily="18" charset="0"/>
                          </a:rPr>
                          <m:t>𝑑</m:t>
                        </m:r>
                      </m:e>
                      <m:sup>
                        <m:r>
                          <a:rPr lang="en-US" sz="2000" b="0" i="1" dirty="0" smtClean="0">
                            <a:latin typeface="Cambria Math" panose="02040503050406030204" pitchFamily="18" charset="0"/>
                            <a:ea typeface="Cambria Math" panose="02040503050406030204" pitchFamily="18" charset="0"/>
                          </a:rPr>
                          <m:t>′</m:t>
                        </m:r>
                      </m:sup>
                    </m:sSup>
                    <m:func>
                      <m:funcPr>
                        <m:ctrlPr>
                          <a:rPr lang="en-US" sz="2000" dirty="0">
                            <a:latin typeface="Cambria Math" panose="02040503050406030204" pitchFamily="18" charset="0"/>
                            <a:ea typeface="Cambria Math" panose="02040503050406030204" pitchFamily="18" charset="0"/>
                          </a:rPr>
                        </m:ctrlPr>
                      </m:funcPr>
                      <m:fName>
                        <m:r>
                          <m:rPr>
                            <m:sty m:val="p"/>
                          </m:rPr>
                          <a:rPr lang="en-US" sz="2000" dirty="0">
                            <a:latin typeface="Cambria Math" panose="02040503050406030204" pitchFamily="18" charset="0"/>
                            <a:ea typeface="Cambria Math" panose="02040503050406030204" pitchFamily="18" charset="0"/>
                          </a:rPr>
                          <m:t>cos</m:t>
                        </m:r>
                      </m:fName>
                      <m:e>
                        <m:d>
                          <m:dPr>
                            <m:ctrlPr>
                              <a:rPr lang="en-US" sz="2000" i="1" dirty="0">
                                <a:latin typeface="Cambria Math" panose="02040503050406030204" pitchFamily="18" charset="0"/>
                                <a:ea typeface="Cambria Math" panose="02040503050406030204" pitchFamily="18" charset="0"/>
                              </a:rPr>
                            </m:ctrlPr>
                          </m:dPr>
                          <m:e>
                            <m:sSub>
                              <m:sSubPr>
                                <m:ctrlPr>
                                  <a:rPr lang="en-US" sz="2000" i="1" dirty="0">
                                    <a:latin typeface="Cambria Math" panose="02040503050406030204" pitchFamily="18" charset="0"/>
                                    <a:ea typeface="Cambria Math" panose="02040503050406030204" pitchFamily="18" charset="0"/>
                                  </a:rPr>
                                </m:ctrlPr>
                              </m:sSubPr>
                              <m:e>
                                <m:r>
                                  <a:rPr lang="en-US" sz="2000" i="1" dirty="0">
                                    <a:latin typeface="Cambria Math" panose="02040503050406030204" pitchFamily="18" charset="0"/>
                                    <a:ea typeface="Cambria Math" panose="02040503050406030204" pitchFamily="18" charset="0"/>
                                  </a:rPr>
                                  <m:t>𝜃</m:t>
                                </m:r>
                              </m:e>
                              <m:sub>
                                <m:r>
                                  <a:rPr lang="en-US" sz="2000" i="1" dirty="0">
                                    <a:latin typeface="Cambria Math" panose="02040503050406030204" pitchFamily="18" charset="0"/>
                                    <a:ea typeface="Cambria Math" panose="02040503050406030204" pitchFamily="18" charset="0"/>
                                  </a:rPr>
                                  <m:t>0</m:t>
                                </m:r>
                              </m:sub>
                            </m:sSub>
                          </m:e>
                        </m:d>
                        <m:r>
                          <a:rPr lang="en-US" sz="2000" b="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𝑁</m:t>
                        </m:r>
                      </m:e>
                    </m:func>
                    <m:r>
                      <a:rPr lang="en-US" sz="2000" i="1" dirty="0">
                        <a:latin typeface="Cambria Math" panose="02040503050406030204" pitchFamily="18" charset="0"/>
                        <a:ea typeface="Cambria Math" panose="02040503050406030204" pitchFamily="18" charset="0"/>
                      </a:rPr>
                      <m:t>= </m:t>
                    </m:r>
                    <m:sSub>
                      <m:sSubPr>
                        <m:ctrlPr>
                          <a:rPr lang="el-GR" sz="2000" i="1" smtClean="0">
                            <a:latin typeface="Cambria Math" panose="02040503050406030204" pitchFamily="18" charset="0"/>
                            <a:ea typeface="Cambria Math" panose="02040503050406030204" pitchFamily="18" charset="0"/>
                          </a:rPr>
                        </m:ctrlPr>
                      </m:sSubPr>
                      <m:e>
                        <m:r>
                          <m:rPr>
                            <m:sty m:val="p"/>
                          </m:rPr>
                          <a:rPr lang="el-GR" sz="2000" i="1" smtClean="0">
                            <a:latin typeface="Cambria Math" panose="02040503050406030204" pitchFamily="18" charset="0"/>
                            <a:ea typeface="Cambria Math" panose="02040503050406030204" pitchFamily="18" charset="0"/>
                          </a:rPr>
                          <m:t>Δ</m:t>
                        </m:r>
                      </m:e>
                      <m:sub>
                        <m:r>
                          <a:rPr lang="en-US" sz="2000" i="1">
                            <a:latin typeface="Cambria Math" panose="02040503050406030204" pitchFamily="18" charset="0"/>
                          </a:rPr>
                          <m:t>0</m:t>
                        </m:r>
                      </m:sub>
                    </m:sSub>
                  </m:oMath>
                </a14:m>
                <a:endParaRPr lang="en-US" sz="2000" dirty="0"/>
              </a:p>
              <a:p>
                <a:pPr marL="742950" lvl="1" indent="-285750">
                  <a:buFont typeface="Arial" panose="020B0604020202020204" pitchFamily="34" charset="0"/>
                  <a:buChar char="•"/>
                </a:pPr>
                <a14:m>
                  <m:oMath xmlns:m="http://schemas.openxmlformats.org/officeDocument/2006/math">
                    <m:sSup>
                      <m:sSupPr>
                        <m:ctrlPr>
                          <a:rPr lang="en-US" sz="2000" i="1" dirty="0">
                            <a:latin typeface="Cambria Math" panose="02040503050406030204" pitchFamily="18" charset="0"/>
                            <a:ea typeface="Cambria Math" panose="02040503050406030204" pitchFamily="18" charset="0"/>
                          </a:rPr>
                        </m:ctrlPr>
                      </m:sSupPr>
                      <m:e>
                        <m:r>
                          <a:rPr lang="en-US" sz="2000" i="1" dirty="0">
                            <a:latin typeface="Cambria Math" panose="02040503050406030204" pitchFamily="18" charset="0"/>
                            <a:ea typeface="Cambria Math" panose="02040503050406030204" pitchFamily="18" charset="0"/>
                          </a:rPr>
                          <m:t>𝑑</m:t>
                        </m:r>
                      </m:e>
                      <m:sup>
                        <m:r>
                          <a:rPr lang="en-US" sz="2000" i="1" dirty="0">
                            <a:latin typeface="Cambria Math" panose="02040503050406030204" pitchFamily="18" charset="0"/>
                            <a:ea typeface="Cambria Math" panose="02040503050406030204" pitchFamily="18" charset="0"/>
                          </a:rPr>
                          <m:t>′</m:t>
                        </m:r>
                      </m:sup>
                    </m:sSup>
                    <m:func>
                      <m:funcPr>
                        <m:ctrlPr>
                          <a:rPr lang="en-US" sz="2000" dirty="0">
                            <a:latin typeface="Cambria Math" panose="02040503050406030204" pitchFamily="18" charset="0"/>
                            <a:ea typeface="Cambria Math" panose="02040503050406030204" pitchFamily="18" charset="0"/>
                          </a:rPr>
                        </m:ctrlPr>
                      </m:funcPr>
                      <m:fName>
                        <m:r>
                          <m:rPr>
                            <m:sty m:val="p"/>
                          </m:rPr>
                          <a:rPr lang="en-US" sz="2000" dirty="0">
                            <a:latin typeface="Cambria Math" panose="02040503050406030204" pitchFamily="18" charset="0"/>
                            <a:ea typeface="Cambria Math" panose="02040503050406030204" pitchFamily="18" charset="0"/>
                          </a:rPr>
                          <m:t>cos</m:t>
                        </m:r>
                      </m:fName>
                      <m:e>
                        <m:d>
                          <m:dPr>
                            <m:ctrlPr>
                              <a:rPr lang="en-US" sz="2000" i="1" dirty="0">
                                <a:latin typeface="Cambria Math" panose="02040503050406030204" pitchFamily="18" charset="0"/>
                                <a:ea typeface="Cambria Math" panose="02040503050406030204" pitchFamily="18" charset="0"/>
                              </a:rPr>
                            </m:ctrlPr>
                          </m:dPr>
                          <m:e>
                            <m:sSub>
                              <m:sSubPr>
                                <m:ctrlPr>
                                  <a:rPr lang="en-US" sz="2000" i="1" dirty="0">
                                    <a:latin typeface="Cambria Math" panose="02040503050406030204" pitchFamily="18" charset="0"/>
                                    <a:ea typeface="Cambria Math" panose="02040503050406030204" pitchFamily="18" charset="0"/>
                                  </a:rPr>
                                </m:ctrlPr>
                              </m:sSubPr>
                              <m:e>
                                <m:r>
                                  <a:rPr lang="en-US" sz="2000" i="1" dirty="0">
                                    <a:latin typeface="Cambria Math" panose="02040503050406030204" pitchFamily="18" charset="0"/>
                                    <a:ea typeface="Cambria Math" panose="02040503050406030204" pitchFamily="18" charset="0"/>
                                  </a:rPr>
                                  <m:t>𝜃</m:t>
                                </m:r>
                              </m:e>
                              <m:sub>
                                <m:r>
                                  <a:rPr lang="en-US" sz="2000" b="0" i="1" dirty="0" smtClean="0">
                                    <a:latin typeface="Cambria Math" panose="02040503050406030204" pitchFamily="18" charset="0"/>
                                    <a:ea typeface="Cambria Math" panose="02040503050406030204" pitchFamily="18" charset="0"/>
                                  </a:rPr>
                                  <m:t>1</m:t>
                                </m:r>
                              </m:sub>
                            </m:sSub>
                          </m:e>
                        </m:d>
                        <m:r>
                          <a:rPr lang="en-US" sz="2000" i="1" dirty="0">
                            <a:latin typeface="Cambria Math" panose="02040503050406030204" pitchFamily="18" charset="0"/>
                            <a:ea typeface="Cambria Math" panose="02040503050406030204" pitchFamily="18" charset="0"/>
                          </a:rPr>
                          <m:t>−</m:t>
                        </m:r>
                        <m:r>
                          <a:rPr lang="en-US" sz="2000" i="1" dirty="0">
                            <a:latin typeface="Cambria Math" panose="02040503050406030204" pitchFamily="18" charset="0"/>
                            <a:ea typeface="Cambria Math" panose="02040503050406030204" pitchFamily="18" charset="0"/>
                          </a:rPr>
                          <m:t>𝑁</m:t>
                        </m:r>
                      </m:e>
                    </m:func>
                    <m:r>
                      <a:rPr lang="en-US" sz="2000" i="1" dirty="0">
                        <a:latin typeface="Cambria Math" panose="02040503050406030204" pitchFamily="18" charset="0"/>
                        <a:ea typeface="Cambria Math" panose="02040503050406030204" pitchFamily="18" charset="0"/>
                      </a:rPr>
                      <m:t>= </m:t>
                    </m:r>
                    <m:sSub>
                      <m:sSubPr>
                        <m:ctrlPr>
                          <a:rPr lang="el-GR" sz="2000" i="1">
                            <a:latin typeface="Cambria Math" panose="02040503050406030204" pitchFamily="18" charset="0"/>
                            <a:ea typeface="Cambria Math" panose="02040503050406030204" pitchFamily="18" charset="0"/>
                          </a:rPr>
                        </m:ctrlPr>
                      </m:sSubPr>
                      <m:e>
                        <m:r>
                          <m:rPr>
                            <m:sty m:val="p"/>
                          </m:rPr>
                          <a:rPr lang="el-GR" sz="2000" i="1">
                            <a:latin typeface="Cambria Math" panose="02040503050406030204" pitchFamily="18" charset="0"/>
                            <a:ea typeface="Cambria Math" panose="02040503050406030204" pitchFamily="18" charset="0"/>
                          </a:rPr>
                          <m:t>Δ</m:t>
                        </m:r>
                      </m:e>
                      <m:sub>
                        <m:r>
                          <a:rPr lang="en-US" sz="2000" b="0" i="1" smtClean="0">
                            <a:latin typeface="Cambria Math" panose="02040503050406030204" pitchFamily="18" charset="0"/>
                          </a:rPr>
                          <m:t>1</m:t>
                        </m:r>
                      </m:sub>
                    </m:sSub>
                  </m:oMath>
                </a14:m>
                <a:endParaRPr lang="en-US" sz="2000" dirty="0"/>
              </a:p>
              <a:p>
                <a:pPr marL="285750" indent="-285750">
                  <a:buFont typeface="Arial" panose="020B0604020202020204" pitchFamily="34" charset="0"/>
                  <a:buChar char="•"/>
                </a:pPr>
                <a:r>
                  <a:rPr lang="en-US" sz="2000" dirty="0"/>
                  <a:t>We can solve for </a:t>
                </a:r>
                <a14:m>
                  <m:oMath xmlns:m="http://schemas.openxmlformats.org/officeDocument/2006/math">
                    <m:r>
                      <a:rPr lang="en-US" sz="2000" b="0" i="1" smtClean="0">
                        <a:latin typeface="Cambria Math" panose="02040503050406030204" pitchFamily="18" charset="0"/>
                      </a:rPr>
                      <m:t>𝑁</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𝑑</m:t>
                        </m:r>
                      </m:e>
                      <m:sup>
                        <m:r>
                          <a:rPr lang="en-US" sz="2000" b="0" i="1" smtClean="0">
                            <a:latin typeface="Cambria Math" panose="02040503050406030204" pitchFamily="18" charset="0"/>
                          </a:rPr>
                          <m:t>′</m:t>
                        </m:r>
                      </m:sup>
                    </m:sSup>
                  </m:oMath>
                </a14:m>
                <a:endParaRPr lang="en-US" sz="2000" dirty="0"/>
              </a:p>
              <a:p>
                <a:pPr marL="285750" indent="-285750">
                  <a:buFont typeface="Arial" panose="020B0604020202020204" pitchFamily="34" charset="0"/>
                  <a:buChar char="•"/>
                </a:pPr>
                <a:r>
                  <a:rPr lang="en-US" sz="2000" dirty="0"/>
                  <a:t>Now, </a:t>
                </a:r>
                <a14:m>
                  <m:oMath xmlns:m="http://schemas.openxmlformats.org/officeDocument/2006/math">
                    <m:r>
                      <a:rPr lang="en-US" sz="2000" i="1" smtClean="0">
                        <a:latin typeface="Cambria Math" panose="02040503050406030204" pitchFamily="18" charset="0"/>
                        <a:ea typeface="Cambria Math" panose="02040503050406030204" pitchFamily="18" charset="0"/>
                      </a:rPr>
                      <m:t>𝜙</m:t>
                    </m:r>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𝜆</m:t>
                        </m:r>
                      </m:e>
                      <m:sup>
                        <m:r>
                          <a:rPr lang="en-US" sz="2000" b="0" i="1" smtClean="0">
                            <a:latin typeface="Cambria Math" panose="02040503050406030204" pitchFamily="18" charset="0"/>
                            <a:ea typeface="Cambria Math" panose="02040503050406030204" pitchFamily="18" charset="0"/>
                          </a:rPr>
                          <m:t>−1</m:t>
                        </m:r>
                      </m:sup>
                    </m:sSup>
                    <m:d>
                      <m:dPr>
                        <m:begChr m:val="["/>
                        <m:endChr m:val="]"/>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𝑟</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𝐼</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𝑇</m:t>
                        </m:r>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𝑓</m:t>
                    </m:r>
                    <m:r>
                      <a:rPr lang="en-US" sz="2000" b="0" i="1" smtClean="0">
                        <a:latin typeface="Cambria Math" panose="02040503050406030204" pitchFamily="18" charset="0"/>
                        <a:ea typeface="Cambria Math" panose="02040503050406030204" pitchFamily="18" charset="0"/>
                      </a:rPr>
                      <m:t>∙</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𝛿</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𝑡</m:t>
                            </m:r>
                          </m:e>
                          <m:sub>
                            <m:r>
                              <a:rPr lang="en-US" sz="2000" b="0" i="1" smtClean="0">
                                <a:latin typeface="Cambria Math" panose="02040503050406030204" pitchFamily="18" charset="0"/>
                                <a:ea typeface="Cambria Math" panose="02040503050406030204" pitchFamily="18" charset="0"/>
                              </a:rPr>
                              <m:t>𝑢</m:t>
                            </m:r>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𝛿</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𝑡</m:t>
                            </m:r>
                          </m:e>
                          <m:sup>
                            <m:r>
                              <a:rPr lang="en-US" sz="2000" b="0" i="1" smtClean="0">
                                <a:latin typeface="Cambria Math" panose="02040503050406030204" pitchFamily="18" charset="0"/>
                                <a:ea typeface="Cambria Math" panose="02040503050406030204" pitchFamily="18" charset="0"/>
                              </a:rPr>
                              <m:t>𝑠</m:t>
                            </m:r>
                          </m:sup>
                        </m:sSup>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𝑁</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𝜖</m:t>
                        </m:r>
                      </m:e>
                      <m:sub>
                        <m:r>
                          <a:rPr lang="en-US" sz="2000" b="0" i="1" smtClean="0">
                            <a:latin typeface="Cambria Math" panose="02040503050406030204" pitchFamily="18" charset="0"/>
                            <a:ea typeface="Cambria Math" panose="02040503050406030204" pitchFamily="18" charset="0"/>
                          </a:rPr>
                          <m:t>𝜙</m:t>
                        </m:r>
                      </m:sub>
                    </m:sSub>
                  </m:oMath>
                </a14:m>
                <a:endParaRPr lang="en-US" sz="2000" dirty="0"/>
              </a:p>
              <a:p>
                <a:pPr marL="285750" indent="-285750">
                  <a:buFont typeface="Arial" panose="020B0604020202020204" pitchFamily="34" charset="0"/>
                  <a:buChar char="•"/>
                </a:pPr>
                <a:r>
                  <a:rPr lang="en-US" sz="2000" dirty="0"/>
                  <a:t>I is ionospheric delay, T is tropospheric delay which we can estimate.</a:t>
                </a:r>
              </a:p>
              <a:p>
                <a:pPr marL="285750" indent="-285750">
                  <a:buFont typeface="Arial" panose="020B0604020202020204" pitchFamily="34" charset="0"/>
                  <a:buChar char="•"/>
                </a:pP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𝜖</m:t>
                        </m:r>
                      </m:e>
                      <m:sub>
                        <m:r>
                          <a:rPr lang="en-US" sz="2000" i="1" smtClean="0">
                            <a:latin typeface="Cambria Math" panose="02040503050406030204" pitchFamily="18" charset="0"/>
                            <a:ea typeface="Cambria Math" panose="02040503050406030204" pitchFamily="18" charset="0"/>
                          </a:rPr>
                          <m:t>𝜙</m:t>
                        </m:r>
                      </m:sub>
                    </m:sSub>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.025 </m:t>
                    </m:r>
                    <m:r>
                      <a:rPr lang="en-US" sz="2000" b="0" i="1" smtClean="0">
                        <a:latin typeface="Cambria Math" panose="02040503050406030204" pitchFamily="18" charset="0"/>
                        <a:ea typeface="Cambria Math" panose="02040503050406030204" pitchFamily="18" charset="0"/>
                      </a:rPr>
                      <m:t>𝑐𝑦𝑐𝑙𝑒𝑠</m:t>
                    </m:r>
                  </m:oMath>
                </a14:m>
                <a:r>
                  <a:rPr lang="en-US" sz="2000" dirty="0"/>
                  <a:t> (5mm), so we can recover </a:t>
                </a:r>
                <a14:m>
                  <m:oMath xmlns:m="http://schemas.openxmlformats.org/officeDocument/2006/math">
                    <m:r>
                      <a:rPr lang="en-US" sz="2000" b="0" i="1" smtClean="0">
                        <a:latin typeface="Cambria Math" panose="02040503050406030204" pitchFamily="18" charset="0"/>
                      </a:rPr>
                      <m:t>𝑟</m:t>
                    </m:r>
                  </m:oMath>
                </a14:m>
                <a:r>
                  <a:rPr lang="en-US" sz="2000" dirty="0"/>
                  <a:t> to mm precision</a:t>
                </a:r>
              </a:p>
              <a:p>
                <a:pPr marL="285750" indent="-285750">
                  <a:buFont typeface="Arial" panose="020B0604020202020204" pitchFamily="34" charset="0"/>
                  <a:buChar char="•"/>
                </a:pPr>
                <a:r>
                  <a:rPr lang="en-US" sz="2000" dirty="0"/>
                  <a:t>Used in Differential GPS</a:t>
                </a:r>
              </a:p>
              <a:p>
                <a:pPr marL="285750" indent="-285750">
                  <a:buFont typeface="Arial" panose="020B0604020202020204" pitchFamily="34" charset="0"/>
                  <a:buChar char="•"/>
                </a:pPr>
                <a:endParaRPr lang="en-US" dirty="0"/>
              </a:p>
            </p:txBody>
          </p:sp>
        </mc:Choice>
        <mc:Fallback xmlns="">
          <p:sp>
            <p:nvSpPr>
              <p:cNvPr id="14" name="TextBox 13">
                <a:extLst>
                  <a:ext uri="{FF2B5EF4-FFF2-40B4-BE49-F238E27FC236}">
                    <a16:creationId xmlns:a16="http://schemas.microsoft.com/office/drawing/2014/main" id="{0A2FCE3B-0E7F-494A-9FDA-31CC9846FDF1}"/>
                  </a:ext>
                </a:extLst>
              </p:cNvPr>
              <p:cNvSpPr txBox="1">
                <a:spLocks noRot="1" noChangeAspect="1" noMove="1" noResize="1" noEditPoints="1" noAdjustHandles="1" noChangeArrowheads="1" noChangeShapeType="1" noTextEdit="1"/>
              </p:cNvSpPr>
              <p:nvPr/>
            </p:nvSpPr>
            <p:spPr>
              <a:xfrm>
                <a:off x="444513" y="1846906"/>
                <a:ext cx="8285967" cy="4268142"/>
              </a:xfrm>
              <a:prstGeom prst="rect">
                <a:avLst/>
              </a:prstGeom>
              <a:blipFill>
                <a:blip r:embed="rId3"/>
                <a:stretch>
                  <a:fillRect l="-613" t="-297"/>
                </a:stretch>
              </a:blipFill>
            </p:spPr>
            <p:txBody>
              <a:bodyPr/>
              <a:lstStyle/>
              <a:p>
                <a:r>
                  <a:rPr lang="en-US">
                    <a:noFill/>
                  </a:rPr>
                  <a:t> </a:t>
                </a:r>
              </a:p>
            </p:txBody>
          </p:sp>
        </mc:Fallback>
      </mc:AlternateContent>
      <p:grpSp>
        <p:nvGrpSpPr>
          <p:cNvPr id="2" name="Group 1">
            <a:extLst>
              <a:ext uri="{FF2B5EF4-FFF2-40B4-BE49-F238E27FC236}">
                <a16:creationId xmlns:a16="http://schemas.microsoft.com/office/drawing/2014/main" id="{9C035AAF-714A-7D43-9F98-B6F40F746DFA}"/>
              </a:ext>
            </a:extLst>
          </p:cNvPr>
          <p:cNvGrpSpPr/>
          <p:nvPr/>
        </p:nvGrpSpPr>
        <p:grpSpPr>
          <a:xfrm>
            <a:off x="7993853" y="2371716"/>
            <a:ext cx="4064000" cy="3279166"/>
            <a:chOff x="5998826" y="2246783"/>
            <a:chExt cx="6038675" cy="4265885"/>
          </a:xfrm>
        </p:grpSpPr>
        <p:pic>
          <p:nvPicPr>
            <p:cNvPr id="1026" name="Picture 2" descr="Gps Logo png download - 512*512 - Free Transparent Satellite png Download.  - CleanPNG / KissPNG">
              <a:extLst>
                <a:ext uri="{FF2B5EF4-FFF2-40B4-BE49-F238E27FC236}">
                  <a16:creationId xmlns:a16="http://schemas.microsoft.com/office/drawing/2014/main" id="{435C71D9-DC23-E846-8EC0-70A1D75655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49878" y="2471569"/>
              <a:ext cx="968725" cy="559708"/>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Connector 3">
              <a:extLst>
                <a:ext uri="{FF2B5EF4-FFF2-40B4-BE49-F238E27FC236}">
                  <a16:creationId xmlns:a16="http://schemas.microsoft.com/office/drawing/2014/main" id="{8D5148A3-0A0C-EF4C-986B-85EE80AE9B18}"/>
                </a:ext>
              </a:extLst>
            </p:cNvPr>
            <p:cNvCxnSpPr/>
            <p:nvPr/>
          </p:nvCxnSpPr>
          <p:spPr>
            <a:xfrm>
              <a:off x="6131253" y="6109379"/>
              <a:ext cx="312879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9316506-E12B-1445-AFCA-1F6C617161C1}"/>
                </a:ext>
              </a:extLst>
            </p:cNvPr>
            <p:cNvCxnSpPr>
              <a:cxnSpLocks/>
            </p:cNvCxnSpPr>
            <p:nvPr/>
          </p:nvCxnSpPr>
          <p:spPr>
            <a:xfrm flipV="1">
              <a:off x="9260043" y="3328601"/>
              <a:ext cx="2777458" cy="278077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06AEE54-537D-E348-B3D4-CED48DAEE47C}"/>
                </a:ext>
              </a:extLst>
            </p:cNvPr>
            <p:cNvCxnSpPr>
              <a:cxnSpLocks noChangeAspect="1"/>
            </p:cNvCxnSpPr>
            <p:nvPr/>
          </p:nvCxnSpPr>
          <p:spPr>
            <a:xfrm flipV="1">
              <a:off x="6144362" y="2246783"/>
              <a:ext cx="3858374" cy="386159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34C140C-96D4-5D45-B01E-B3D6ED5E8C4D}"/>
                </a:ext>
              </a:extLst>
            </p:cNvPr>
            <p:cNvCxnSpPr>
              <a:cxnSpLocks/>
            </p:cNvCxnSpPr>
            <p:nvPr/>
          </p:nvCxnSpPr>
          <p:spPr>
            <a:xfrm flipH="1" flipV="1">
              <a:off x="7575368" y="4609576"/>
              <a:ext cx="1697784" cy="149980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E4FBDDF-AEE4-2441-B0DB-9A18B3B7151B}"/>
                    </a:ext>
                  </a:extLst>
                </p:cNvPr>
                <p:cNvSpPr txBox="1"/>
                <p:nvPr/>
              </p:nvSpPr>
              <p:spPr>
                <a:xfrm>
                  <a:off x="7403917" y="6143336"/>
                  <a:ext cx="342902" cy="369332"/>
                </a:xfrm>
                <a:prstGeom prst="rect">
                  <a:avLst/>
                </a:prstGeom>
                <a:noFill/>
              </p:spPr>
              <p:txBody>
                <a:bodyPr wrap="square" rtlCol="0">
                  <a:spAutoFit/>
                </a:bodyPr>
                <a:lstStyle/>
                <a:p>
                  <a:pPr/>
                  <a14:m>
                    <m:oMathPara xmlns:m="http://schemas.openxmlformats.org/officeDocument/2006/math">
                      <m:oMath>
                        <m:r>
                          <a:rPr lang="en-US" b="0" i="1" smtClean="0">
                            <a:latin typeface="Cambria Math" panose="02040503050406030204" pitchFamily="18" charset="0"/>
                          </a:rPr>
                          <m:t>𝑑</m:t>
                        </m:r>
                      </m:oMath>
                    </m:oMathPara>
                  </a14:m>
                  <a:endParaRPr lang="en-US" dirty="0"/>
                </a:p>
              </p:txBody>
            </p:sp>
          </mc:Choice>
          <mc:Fallback xmlns="">
            <p:sp>
              <p:nvSpPr>
                <p:cNvPr id="10" name="TextBox 9">
                  <a:extLst>
                    <a:ext uri="{FF2B5EF4-FFF2-40B4-BE49-F238E27FC236}">
                      <a16:creationId xmlns:a16="http://schemas.microsoft.com/office/drawing/2014/main" id="{AE4FBDDF-AEE4-2441-B0DB-9A18B3B7151B}"/>
                    </a:ext>
                  </a:extLst>
                </p:cNvPr>
                <p:cNvSpPr txBox="1">
                  <a:spLocks noRot="1" noChangeAspect="1" noMove="1" noResize="1" noEditPoints="1" noAdjustHandles="1" noChangeArrowheads="1" noChangeShapeType="1" noTextEdit="1"/>
                </p:cNvSpPr>
                <p:nvPr/>
              </p:nvSpPr>
              <p:spPr>
                <a:xfrm>
                  <a:off x="7403917" y="6143336"/>
                  <a:ext cx="342902" cy="369332"/>
                </a:xfrm>
                <a:prstGeom prst="rect">
                  <a:avLst/>
                </a:prstGeom>
                <a:blipFill>
                  <a:blip r:embed="rId8"/>
                  <a:stretch>
                    <a:fillRect r="-31579" b="-208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0ADF735-C9FE-854F-80A7-898531294F03}"/>
                    </a:ext>
                  </a:extLst>
                </p:cNvPr>
                <p:cNvSpPr txBox="1"/>
                <p:nvPr/>
              </p:nvSpPr>
              <p:spPr>
                <a:xfrm>
                  <a:off x="6611846" y="5660041"/>
                  <a:ext cx="342902"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0</m:t>
                            </m:r>
                          </m:sub>
                        </m:sSub>
                      </m:oMath>
                    </m:oMathPara>
                  </a14:m>
                  <a:endParaRPr lang="en-US" dirty="0"/>
                </a:p>
              </p:txBody>
            </p:sp>
          </mc:Choice>
          <mc:Fallback xmlns="">
            <p:sp>
              <p:nvSpPr>
                <p:cNvPr id="17" name="TextBox 16">
                  <a:extLst>
                    <a:ext uri="{FF2B5EF4-FFF2-40B4-BE49-F238E27FC236}">
                      <a16:creationId xmlns:a16="http://schemas.microsoft.com/office/drawing/2014/main" id="{A0ADF735-C9FE-854F-80A7-898531294F03}"/>
                    </a:ext>
                  </a:extLst>
                </p:cNvPr>
                <p:cNvSpPr txBox="1">
                  <a:spLocks noRot="1" noChangeAspect="1" noMove="1" noResize="1" noEditPoints="1" noAdjustHandles="1" noChangeArrowheads="1" noChangeShapeType="1" noTextEdit="1"/>
                </p:cNvSpPr>
                <p:nvPr/>
              </p:nvSpPr>
              <p:spPr>
                <a:xfrm>
                  <a:off x="6611846" y="5660041"/>
                  <a:ext cx="342902" cy="369332"/>
                </a:xfrm>
                <a:prstGeom prst="rect">
                  <a:avLst/>
                </a:prstGeom>
                <a:blipFill>
                  <a:blip r:embed="rId9"/>
                  <a:stretch>
                    <a:fillRect r="-57895" b="-260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7D79D56-5C94-2547-B025-B5C97AC9ACC1}"/>
                    </a:ext>
                  </a:extLst>
                </p:cNvPr>
                <p:cNvSpPr txBox="1"/>
                <p:nvPr/>
              </p:nvSpPr>
              <p:spPr>
                <a:xfrm>
                  <a:off x="6144362" y="4835413"/>
                  <a:ext cx="724792" cy="369332"/>
                </a:xfrm>
                <a:prstGeom prst="rect">
                  <a:avLst/>
                </a:prstGeom>
                <a:noFill/>
              </p:spPr>
              <p:txBody>
                <a:bodyPr wrap="square" rtlCol="0">
                  <a:spAutoFit/>
                </a:bodyPr>
                <a:lstStyle/>
                <a:p>
                  <a:pPr/>
                  <a14:m>
                    <m:oMathPara xmlns:m="http://schemas.openxmlformats.org/officeDocument/2006/math">
                      <m:oMath>
                        <m:r>
                          <m:rPr>
                            <m:sty m:val="p"/>
                          </m:rPr>
                          <a:rPr lang="el-GR" b="0" i="1" smtClean="0">
                            <a:latin typeface="Cambria Math" panose="02040503050406030204" pitchFamily="18" charset="0"/>
                            <a:ea typeface="Cambria Math" panose="02040503050406030204" pitchFamily="18" charset="0"/>
                          </a:rPr>
                          <m:t>Δ</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0</m:t>
                            </m:r>
                          </m:sub>
                        </m:sSub>
                      </m:oMath>
                    </m:oMathPara>
                  </a14:m>
                  <a:endParaRPr lang="en-US" dirty="0"/>
                </a:p>
              </p:txBody>
            </p:sp>
          </mc:Choice>
          <mc:Fallback xmlns="">
            <p:sp>
              <p:nvSpPr>
                <p:cNvPr id="20" name="TextBox 19">
                  <a:extLst>
                    <a:ext uri="{FF2B5EF4-FFF2-40B4-BE49-F238E27FC236}">
                      <a16:creationId xmlns:a16="http://schemas.microsoft.com/office/drawing/2014/main" id="{67D79D56-5C94-2547-B025-B5C97AC9ACC1}"/>
                    </a:ext>
                  </a:extLst>
                </p:cNvPr>
                <p:cNvSpPr txBox="1">
                  <a:spLocks noRot="1" noChangeAspect="1" noMove="1" noResize="1" noEditPoints="1" noAdjustHandles="1" noChangeArrowheads="1" noChangeShapeType="1" noTextEdit="1"/>
                </p:cNvSpPr>
                <p:nvPr/>
              </p:nvSpPr>
              <p:spPr>
                <a:xfrm>
                  <a:off x="6144362" y="4835413"/>
                  <a:ext cx="724792" cy="369332"/>
                </a:xfrm>
                <a:prstGeom prst="rect">
                  <a:avLst/>
                </a:prstGeom>
                <a:blipFill>
                  <a:blip r:embed="rId10"/>
                  <a:stretch>
                    <a:fillRect b="-260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C5EAAA7-6CBC-9045-930B-9D3243A53CFD}"/>
                    </a:ext>
                  </a:extLst>
                </p:cNvPr>
                <p:cNvSpPr txBox="1"/>
                <p:nvPr/>
              </p:nvSpPr>
              <p:spPr>
                <a:xfrm>
                  <a:off x="5998826" y="6104819"/>
                  <a:ext cx="342902" cy="369332"/>
                </a:xfrm>
                <a:prstGeom prst="rect">
                  <a:avLst/>
                </a:prstGeom>
                <a:noFill/>
              </p:spPr>
              <p:txBody>
                <a:bodyPr wrap="square" rtlCol="0">
                  <a:spAutoFit/>
                </a:bodyPr>
                <a:lstStyle/>
                <a:p>
                  <a:pPr/>
                  <a14:m>
                    <m:oMathPara xmlns:m="http://schemas.openxmlformats.org/officeDocument/2006/math">
                      <m:oMath>
                        <m:r>
                          <a:rPr lang="en-US" b="0" i="1" smtClean="0">
                            <a:latin typeface="Cambria Math" panose="02040503050406030204" pitchFamily="18" charset="0"/>
                          </a:rPr>
                          <m:t>𝐴</m:t>
                        </m:r>
                      </m:oMath>
                    </m:oMathPara>
                  </a14:m>
                  <a:endParaRPr lang="en-US" dirty="0"/>
                </a:p>
              </p:txBody>
            </p:sp>
          </mc:Choice>
          <mc:Fallback xmlns="">
            <p:sp>
              <p:nvSpPr>
                <p:cNvPr id="21" name="TextBox 20">
                  <a:extLst>
                    <a:ext uri="{FF2B5EF4-FFF2-40B4-BE49-F238E27FC236}">
                      <a16:creationId xmlns:a16="http://schemas.microsoft.com/office/drawing/2014/main" id="{0C5EAAA7-6CBC-9045-930B-9D3243A53CFD}"/>
                    </a:ext>
                  </a:extLst>
                </p:cNvPr>
                <p:cNvSpPr txBox="1">
                  <a:spLocks noRot="1" noChangeAspect="1" noMove="1" noResize="1" noEditPoints="1" noAdjustHandles="1" noChangeArrowheads="1" noChangeShapeType="1" noTextEdit="1"/>
                </p:cNvSpPr>
                <p:nvPr/>
              </p:nvSpPr>
              <p:spPr>
                <a:xfrm>
                  <a:off x="5998826" y="6104819"/>
                  <a:ext cx="342902" cy="369332"/>
                </a:xfrm>
                <a:prstGeom prst="rect">
                  <a:avLst/>
                </a:prstGeom>
                <a:blipFill>
                  <a:blip r:embed="rId11"/>
                  <a:stretch>
                    <a:fillRect r="-38889" b="-217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C3F8873-D24F-E947-BB46-50D14482E9A9}"/>
                    </a:ext>
                  </a:extLst>
                </p:cNvPr>
                <p:cNvSpPr txBox="1"/>
                <p:nvPr/>
              </p:nvSpPr>
              <p:spPr>
                <a:xfrm>
                  <a:off x="9125543" y="6136641"/>
                  <a:ext cx="342902" cy="369332"/>
                </a:xfrm>
                <a:prstGeom prst="rect">
                  <a:avLst/>
                </a:prstGeom>
                <a:noFill/>
              </p:spPr>
              <p:txBody>
                <a:bodyPr wrap="square" rtlCol="0">
                  <a:spAutoFit/>
                </a:bodyPr>
                <a:lstStyle/>
                <a:p>
                  <a:pPr/>
                  <a14:m>
                    <m:oMathPara xmlns:m="http://schemas.openxmlformats.org/officeDocument/2006/math">
                      <m:oMath>
                        <m:r>
                          <a:rPr lang="en-US" b="0" i="1" smtClean="0">
                            <a:latin typeface="Cambria Math" panose="02040503050406030204" pitchFamily="18" charset="0"/>
                          </a:rPr>
                          <m:t>𝐵</m:t>
                        </m:r>
                      </m:oMath>
                    </m:oMathPara>
                  </a14:m>
                  <a:endParaRPr lang="en-US" dirty="0"/>
                </a:p>
              </p:txBody>
            </p:sp>
          </mc:Choice>
          <mc:Fallback xmlns="">
            <p:sp>
              <p:nvSpPr>
                <p:cNvPr id="22" name="TextBox 21">
                  <a:extLst>
                    <a:ext uri="{FF2B5EF4-FFF2-40B4-BE49-F238E27FC236}">
                      <a16:creationId xmlns:a16="http://schemas.microsoft.com/office/drawing/2014/main" id="{9C3F8873-D24F-E947-BB46-50D14482E9A9}"/>
                    </a:ext>
                  </a:extLst>
                </p:cNvPr>
                <p:cNvSpPr txBox="1">
                  <a:spLocks noRot="1" noChangeAspect="1" noMove="1" noResize="1" noEditPoints="1" noAdjustHandles="1" noChangeArrowheads="1" noChangeShapeType="1" noTextEdit="1"/>
                </p:cNvSpPr>
                <p:nvPr/>
              </p:nvSpPr>
              <p:spPr>
                <a:xfrm>
                  <a:off x="9125543" y="6136641"/>
                  <a:ext cx="342902" cy="369332"/>
                </a:xfrm>
                <a:prstGeom prst="rect">
                  <a:avLst/>
                </a:prstGeom>
                <a:blipFill>
                  <a:blip r:embed="rId12"/>
                  <a:stretch>
                    <a:fillRect r="-30000" b="-21739"/>
                  </a:stretch>
                </a:blipFill>
              </p:spPr>
              <p:txBody>
                <a:bodyPr/>
                <a:lstStyle/>
                <a:p>
                  <a:r>
                    <a:rPr lang="en-US">
                      <a:noFill/>
                    </a:rPr>
                    <a:t> </a:t>
                  </a:r>
                </a:p>
              </p:txBody>
            </p:sp>
          </mc:Fallback>
        </mc:AlternateContent>
      </p:grpSp>
      <p:sp>
        <p:nvSpPr>
          <p:cNvPr id="5" name="Slide Number Placeholder 2">
            <a:extLst>
              <a:ext uri="{FF2B5EF4-FFF2-40B4-BE49-F238E27FC236}">
                <a16:creationId xmlns:a16="http://schemas.microsoft.com/office/drawing/2014/main" id="{4C302354-2418-A963-33D3-CC90D10196D3}"/>
              </a:ext>
            </a:extLst>
          </p:cNvPr>
          <p:cNvSpPr txBox="1">
            <a:spLocks/>
          </p:cNvSpPr>
          <p:nvPr/>
        </p:nvSpPr>
        <p:spPr>
          <a:xfrm>
            <a:off x="9479280" y="6265792"/>
            <a:ext cx="2133600" cy="276999"/>
          </a:xfrm>
          <a:prstGeom prst="rect">
            <a:avLst/>
          </a:prstGeom>
          <a:ln w="12700">
            <a:miter lim="400000"/>
          </a:ln>
        </p:spPr>
        <p:txBody>
          <a:bodyPr lIns="45719" rIns="45719" anchor="ctr">
            <a:spAutoFit/>
          </a:bodyPr>
          <a:lstStyle>
            <a:defPPr>
              <a:defRPr lang="en-US"/>
            </a:defPPr>
            <a:lvl1pPr marL="0" algn="r" defTabSz="457200" rtl="0" eaLnBrk="1" latinLnBrk="0" hangingPunct="1">
              <a:defRPr sz="1200" kern="1200">
                <a:solidFill>
                  <a:srgbClr val="888888"/>
                </a:solidFill>
                <a:latin typeface="Calibri"/>
                <a:ea typeface="Calibri"/>
                <a:cs typeface="Calibri"/>
                <a:sym typeface="Calibri"/>
              </a:defRPr>
            </a:lvl1pPr>
            <a:lvl2pPr marL="457200" indent="457200" algn="l" defTabSz="457200" rtl="0" eaLnBrk="1" latinLnBrk="0" hangingPunct="1">
              <a:defRPr sz="1800" kern="1200">
                <a:solidFill>
                  <a:schemeClr val="tx1"/>
                </a:solidFill>
                <a:latin typeface="Calibri"/>
                <a:ea typeface="Calibri"/>
                <a:cs typeface="Calibri"/>
                <a:sym typeface="Calibri"/>
              </a:defRPr>
            </a:lvl2pPr>
            <a:lvl3pPr marL="914400" indent="914400" algn="l" defTabSz="457200" rtl="0" eaLnBrk="1" latinLnBrk="0" hangingPunct="1">
              <a:defRPr sz="1800" kern="1200">
                <a:solidFill>
                  <a:schemeClr val="tx1"/>
                </a:solidFill>
                <a:latin typeface="Calibri"/>
                <a:ea typeface="Calibri"/>
                <a:cs typeface="Calibri"/>
                <a:sym typeface="Calibri"/>
              </a:defRPr>
            </a:lvl3pPr>
            <a:lvl4pPr marL="1371600" indent="1371600" algn="l" defTabSz="457200" rtl="0" eaLnBrk="1" latinLnBrk="0" hangingPunct="1">
              <a:defRPr sz="1800" kern="1200">
                <a:solidFill>
                  <a:schemeClr val="tx1"/>
                </a:solidFill>
                <a:latin typeface="Calibri"/>
                <a:ea typeface="Calibri"/>
                <a:cs typeface="Calibri"/>
                <a:sym typeface="Calibri"/>
              </a:defRPr>
            </a:lvl4pPr>
            <a:lvl5pPr marL="1828800" indent="1828800" algn="l" defTabSz="457200" rtl="0" eaLnBrk="1" latinLnBrk="0" hangingPunct="1">
              <a:defRPr sz="1800" kern="1200">
                <a:solidFill>
                  <a:schemeClr val="tx1"/>
                </a:solidFill>
                <a:latin typeface="Calibri"/>
                <a:ea typeface="Calibri"/>
                <a:cs typeface="Calibri"/>
                <a:sym typeface="Calibri"/>
              </a:defRPr>
            </a:lvl5pPr>
            <a:lvl6pPr marL="2286000" indent="2286000" algn="l" defTabSz="457200" rtl="0" eaLnBrk="1" latinLnBrk="0" hangingPunct="1">
              <a:defRPr sz="1800" kern="1200">
                <a:solidFill>
                  <a:schemeClr val="tx1"/>
                </a:solidFill>
                <a:latin typeface="Calibri"/>
                <a:ea typeface="Calibri"/>
                <a:cs typeface="Calibri"/>
                <a:sym typeface="Calibri"/>
              </a:defRPr>
            </a:lvl6pPr>
            <a:lvl7pPr marL="2743200" indent="2743200" algn="l" defTabSz="457200" rtl="0" eaLnBrk="1" latinLnBrk="0" hangingPunct="1">
              <a:defRPr sz="1800" kern="1200">
                <a:solidFill>
                  <a:schemeClr val="tx1"/>
                </a:solidFill>
                <a:latin typeface="Calibri"/>
                <a:ea typeface="Calibri"/>
                <a:cs typeface="Calibri"/>
                <a:sym typeface="Calibri"/>
              </a:defRPr>
            </a:lvl7pPr>
            <a:lvl8pPr marL="3200400" indent="3200400" algn="l" defTabSz="457200" rtl="0" eaLnBrk="1" latinLnBrk="0" hangingPunct="1">
              <a:defRPr sz="1800" kern="1200">
                <a:solidFill>
                  <a:schemeClr val="tx1"/>
                </a:solidFill>
                <a:latin typeface="Calibri"/>
                <a:ea typeface="Calibri"/>
                <a:cs typeface="Calibri"/>
                <a:sym typeface="Calibri"/>
              </a:defRPr>
            </a:lvl8pPr>
            <a:lvl9pPr marL="3657600" indent="3657600" algn="l" defTabSz="457200" rtl="0" eaLnBrk="1" latinLnBrk="0" hangingPunct="1">
              <a:defRPr sz="1800" kern="1200">
                <a:solidFill>
                  <a:schemeClr val="tx1"/>
                </a:solidFill>
                <a:latin typeface="Calibri"/>
                <a:ea typeface="Calibri"/>
                <a:cs typeface="Calibri"/>
                <a:sym typeface="Calibri"/>
              </a:defRPr>
            </a:lvl9pPr>
          </a:lstStyle>
          <a:p>
            <a:fld id="{86CB4B4D-7CA3-9044-876B-883B54F8677D}" type="slidenum">
              <a:rPr lang="en-US" smtClean="0">
                <a:solidFill>
                  <a:schemeClr val="tx1"/>
                </a:solidFill>
              </a:rPr>
              <a:pPr/>
              <a:t>84</a:t>
            </a:fld>
            <a:endParaRPr lang="en-US" dirty="0">
              <a:solidFill>
                <a:schemeClr val="tx1"/>
              </a:solidFill>
            </a:endParaRPr>
          </a:p>
        </p:txBody>
      </p:sp>
    </p:spTree>
    <p:extLst>
      <p:ext uri="{BB962C8B-B14F-4D97-AF65-F5344CB8AC3E}">
        <p14:creationId xmlns:p14="http://schemas.microsoft.com/office/powerpoint/2010/main" val="4790407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405730" y="217989"/>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GPS receiver</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9894496" y="6391137"/>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85</a:t>
            </a:fld>
            <a:endParaRPr lang="en-US" dirty="0">
              <a:solidFill>
                <a:schemeClr val="tx1"/>
              </a:solidFill>
            </a:endParaRPr>
          </a:p>
        </p:txBody>
      </p:sp>
      <p:grpSp>
        <p:nvGrpSpPr>
          <p:cNvPr id="21" name="Group 20">
            <a:extLst>
              <a:ext uri="{FF2B5EF4-FFF2-40B4-BE49-F238E27FC236}">
                <a16:creationId xmlns:a16="http://schemas.microsoft.com/office/drawing/2014/main" id="{BC981A4C-1273-C146-9225-AC027FFF3B90}"/>
              </a:ext>
            </a:extLst>
          </p:cNvPr>
          <p:cNvGrpSpPr/>
          <p:nvPr/>
        </p:nvGrpSpPr>
        <p:grpSpPr>
          <a:xfrm>
            <a:off x="1053100" y="1712450"/>
            <a:ext cx="9827060" cy="4246846"/>
            <a:chOff x="1215246" y="1328615"/>
            <a:chExt cx="9827060" cy="4246846"/>
          </a:xfrm>
        </p:grpSpPr>
        <p:grpSp>
          <p:nvGrpSpPr>
            <p:cNvPr id="7" name="Group 333">
              <a:extLst>
                <a:ext uri="{FF2B5EF4-FFF2-40B4-BE49-F238E27FC236}">
                  <a16:creationId xmlns:a16="http://schemas.microsoft.com/office/drawing/2014/main" id="{F00D0483-ED56-BB4E-BA78-C229AF58A4F7}"/>
                </a:ext>
              </a:extLst>
            </p:cNvPr>
            <p:cNvGrpSpPr>
              <a:grpSpLocks/>
            </p:cNvGrpSpPr>
            <p:nvPr/>
          </p:nvGrpSpPr>
          <p:grpSpPr bwMode="auto">
            <a:xfrm>
              <a:off x="1419484" y="1328615"/>
              <a:ext cx="365125" cy="365125"/>
              <a:chOff x="3341" y="1296"/>
              <a:chExt cx="230" cy="230"/>
            </a:xfrm>
          </p:grpSpPr>
          <p:grpSp>
            <p:nvGrpSpPr>
              <p:cNvPr id="8" name="Group 237">
                <a:extLst>
                  <a:ext uri="{FF2B5EF4-FFF2-40B4-BE49-F238E27FC236}">
                    <a16:creationId xmlns:a16="http://schemas.microsoft.com/office/drawing/2014/main" id="{55D46DE3-8D5A-3940-9AF0-B7D3F771A318}"/>
                  </a:ext>
                </a:extLst>
              </p:cNvPr>
              <p:cNvGrpSpPr>
                <a:grpSpLocks/>
              </p:cNvGrpSpPr>
              <p:nvPr/>
            </p:nvGrpSpPr>
            <p:grpSpPr bwMode="auto">
              <a:xfrm>
                <a:off x="3341" y="1296"/>
                <a:ext cx="230" cy="230"/>
                <a:chOff x="4608" y="2045"/>
                <a:chExt cx="230" cy="230"/>
              </a:xfrm>
            </p:grpSpPr>
            <p:sp>
              <p:nvSpPr>
                <p:cNvPr id="11" name="Freeform 238">
                  <a:extLst>
                    <a:ext uri="{FF2B5EF4-FFF2-40B4-BE49-F238E27FC236}">
                      <a16:creationId xmlns:a16="http://schemas.microsoft.com/office/drawing/2014/main" id="{2BFAF026-380A-924D-925D-49324875CFF6}"/>
                    </a:ext>
                  </a:extLst>
                </p:cNvPr>
                <p:cNvSpPr>
                  <a:spLocks/>
                </p:cNvSpPr>
                <p:nvPr/>
              </p:nvSpPr>
              <p:spPr bwMode="auto">
                <a:xfrm>
                  <a:off x="4608" y="2045"/>
                  <a:ext cx="230" cy="115"/>
                </a:xfrm>
                <a:custGeom>
                  <a:avLst/>
                  <a:gdLst>
                    <a:gd name="T0" fmla="*/ 0 w 230"/>
                    <a:gd name="T1" fmla="*/ 0 h 115"/>
                    <a:gd name="T2" fmla="*/ 115 w 230"/>
                    <a:gd name="T3" fmla="*/ 115 h 115"/>
                    <a:gd name="T4" fmla="*/ 230 w 230"/>
                    <a:gd name="T5" fmla="*/ 0 h 115"/>
                    <a:gd name="T6" fmla="*/ 0 w 230"/>
                    <a:gd name="T7" fmla="*/ 0 h 115"/>
                    <a:gd name="T8" fmla="*/ 0 60000 65536"/>
                    <a:gd name="T9" fmla="*/ 0 60000 65536"/>
                    <a:gd name="T10" fmla="*/ 0 60000 65536"/>
                    <a:gd name="T11" fmla="*/ 0 60000 65536"/>
                    <a:gd name="T12" fmla="*/ 0 w 230"/>
                    <a:gd name="T13" fmla="*/ 0 h 115"/>
                    <a:gd name="T14" fmla="*/ 230 w 230"/>
                    <a:gd name="T15" fmla="*/ 115 h 115"/>
                  </a:gdLst>
                  <a:ahLst/>
                  <a:cxnLst>
                    <a:cxn ang="T8">
                      <a:pos x="T0" y="T1"/>
                    </a:cxn>
                    <a:cxn ang="T9">
                      <a:pos x="T2" y="T3"/>
                    </a:cxn>
                    <a:cxn ang="T10">
                      <a:pos x="T4" y="T5"/>
                    </a:cxn>
                    <a:cxn ang="T11">
                      <a:pos x="T6" y="T7"/>
                    </a:cxn>
                  </a:cxnLst>
                  <a:rect l="T12" t="T13" r="T14" b="T15"/>
                  <a:pathLst>
                    <a:path w="230" h="115">
                      <a:moveTo>
                        <a:pt x="0" y="0"/>
                      </a:moveTo>
                      <a:lnTo>
                        <a:pt x="115" y="115"/>
                      </a:lnTo>
                      <a:lnTo>
                        <a:pt x="230" y="0"/>
                      </a:lnTo>
                      <a:lnTo>
                        <a:pt x="0"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12" name="Line 239">
                  <a:extLst>
                    <a:ext uri="{FF2B5EF4-FFF2-40B4-BE49-F238E27FC236}">
                      <a16:creationId xmlns:a16="http://schemas.microsoft.com/office/drawing/2014/main" id="{457C69A5-BED6-A442-9460-54BBCEECE521}"/>
                    </a:ext>
                  </a:extLst>
                </p:cNvPr>
                <p:cNvSpPr>
                  <a:spLocks noChangeShapeType="1"/>
                </p:cNvSpPr>
                <p:nvPr/>
              </p:nvSpPr>
              <p:spPr bwMode="auto">
                <a:xfrm>
                  <a:off x="4723" y="2045"/>
                  <a:ext cx="0" cy="23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0" name="Freeform 332">
                <a:extLst>
                  <a:ext uri="{FF2B5EF4-FFF2-40B4-BE49-F238E27FC236}">
                    <a16:creationId xmlns:a16="http://schemas.microsoft.com/office/drawing/2014/main" id="{D2A0D278-E847-4E4D-BC0D-24DFB724E89F}"/>
                  </a:ext>
                </a:extLst>
              </p:cNvPr>
              <p:cNvSpPr>
                <a:spLocks/>
              </p:cNvSpPr>
              <p:nvPr/>
            </p:nvSpPr>
            <p:spPr bwMode="auto">
              <a:xfrm>
                <a:off x="3341" y="1296"/>
                <a:ext cx="230" cy="230"/>
              </a:xfrm>
              <a:custGeom>
                <a:avLst/>
                <a:gdLst>
                  <a:gd name="T0" fmla="*/ 0 w 230"/>
                  <a:gd name="T1" fmla="*/ 0 h 230"/>
                  <a:gd name="T2" fmla="*/ 115 w 230"/>
                  <a:gd name="T3" fmla="*/ 230 h 230"/>
                  <a:gd name="T4" fmla="*/ 230 w 230"/>
                  <a:gd name="T5" fmla="*/ 0 h 230"/>
                  <a:gd name="T6" fmla="*/ 0 w 230"/>
                  <a:gd name="T7" fmla="*/ 0 h 230"/>
                  <a:gd name="T8" fmla="*/ 0 60000 65536"/>
                  <a:gd name="T9" fmla="*/ 0 60000 65536"/>
                  <a:gd name="T10" fmla="*/ 0 60000 65536"/>
                  <a:gd name="T11" fmla="*/ 0 60000 65536"/>
                  <a:gd name="T12" fmla="*/ 0 w 230"/>
                  <a:gd name="T13" fmla="*/ 0 h 230"/>
                  <a:gd name="T14" fmla="*/ 230 w 230"/>
                  <a:gd name="T15" fmla="*/ 230 h 230"/>
                </a:gdLst>
                <a:ahLst/>
                <a:cxnLst>
                  <a:cxn ang="T8">
                    <a:pos x="T0" y="T1"/>
                  </a:cxn>
                  <a:cxn ang="T9">
                    <a:pos x="T2" y="T3"/>
                  </a:cxn>
                  <a:cxn ang="T10">
                    <a:pos x="T4" y="T5"/>
                  </a:cxn>
                  <a:cxn ang="T11">
                    <a:pos x="T6" y="T7"/>
                  </a:cxn>
                </a:cxnLst>
                <a:rect l="T12" t="T13" r="T14" b="T15"/>
                <a:pathLst>
                  <a:path w="230" h="230">
                    <a:moveTo>
                      <a:pt x="0" y="0"/>
                    </a:moveTo>
                    <a:lnTo>
                      <a:pt x="115" y="230"/>
                    </a:lnTo>
                    <a:lnTo>
                      <a:pt x="230" y="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grpSp>
          <p:nvGrpSpPr>
            <p:cNvPr id="13" name="Group 373">
              <a:extLst>
                <a:ext uri="{FF2B5EF4-FFF2-40B4-BE49-F238E27FC236}">
                  <a16:creationId xmlns:a16="http://schemas.microsoft.com/office/drawing/2014/main" id="{3C714222-5848-3B4B-A241-FCE53C43E20B}"/>
                </a:ext>
              </a:extLst>
            </p:cNvPr>
            <p:cNvGrpSpPr>
              <a:grpSpLocks/>
            </p:cNvGrpSpPr>
            <p:nvPr/>
          </p:nvGrpSpPr>
          <p:grpSpPr bwMode="auto">
            <a:xfrm>
              <a:off x="3730949" y="3175800"/>
              <a:ext cx="914400" cy="731838"/>
              <a:chOff x="2131" y="3542"/>
              <a:chExt cx="576" cy="461"/>
            </a:xfrm>
          </p:grpSpPr>
          <p:sp>
            <p:nvSpPr>
              <p:cNvPr id="14" name="Oval 364">
                <a:extLst>
                  <a:ext uri="{FF2B5EF4-FFF2-40B4-BE49-F238E27FC236}">
                    <a16:creationId xmlns:a16="http://schemas.microsoft.com/office/drawing/2014/main" id="{EF990BDD-4CB3-3A45-8836-642E7ACCF237}"/>
                  </a:ext>
                </a:extLst>
              </p:cNvPr>
              <p:cNvSpPr>
                <a:spLocks noChangeArrowheads="1"/>
              </p:cNvSpPr>
              <p:nvPr/>
            </p:nvSpPr>
            <p:spPr bwMode="auto">
              <a:xfrm>
                <a:off x="2246" y="3657"/>
                <a:ext cx="346" cy="346"/>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9" name="Text Box 368">
                <a:extLst>
                  <a:ext uri="{FF2B5EF4-FFF2-40B4-BE49-F238E27FC236}">
                    <a16:creationId xmlns:a16="http://schemas.microsoft.com/office/drawing/2014/main" id="{20E3C0EE-AE6B-9E43-AD5B-47C0208E8951}"/>
                  </a:ext>
                </a:extLst>
              </p:cNvPr>
              <p:cNvSpPr txBox="1">
                <a:spLocks noChangeArrowheads="1"/>
              </p:cNvSpPr>
              <p:nvPr/>
            </p:nvSpPr>
            <p:spPr bwMode="auto">
              <a:xfrm>
                <a:off x="2311" y="3693"/>
                <a:ext cx="28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2000" dirty="0">
                    <a:latin typeface="+mn-lt"/>
                  </a:rPr>
                  <a:t>X</a:t>
                </a:r>
              </a:p>
            </p:txBody>
          </p:sp>
          <p:sp>
            <p:nvSpPr>
              <p:cNvPr id="20" name="Freeform 371">
                <a:extLst>
                  <a:ext uri="{FF2B5EF4-FFF2-40B4-BE49-F238E27FC236}">
                    <a16:creationId xmlns:a16="http://schemas.microsoft.com/office/drawing/2014/main" id="{CA8FC56F-AA10-D740-A4A2-1D78242FF070}"/>
                  </a:ext>
                </a:extLst>
              </p:cNvPr>
              <p:cNvSpPr>
                <a:spLocks/>
              </p:cNvSpPr>
              <p:nvPr/>
            </p:nvSpPr>
            <p:spPr bwMode="auto">
              <a:xfrm>
                <a:off x="2131" y="3542"/>
                <a:ext cx="576" cy="288"/>
              </a:xfrm>
              <a:custGeom>
                <a:avLst/>
                <a:gdLst>
                  <a:gd name="T0" fmla="*/ 0 w 576"/>
                  <a:gd name="T1" fmla="*/ 288 h 288"/>
                  <a:gd name="T2" fmla="*/ 288 w 576"/>
                  <a:gd name="T3" fmla="*/ 0 h 288"/>
                  <a:gd name="T4" fmla="*/ 576 w 576"/>
                  <a:gd name="T5" fmla="*/ 288 h 288"/>
                  <a:gd name="T6" fmla="*/ 0 w 576"/>
                  <a:gd name="T7" fmla="*/ 288 h 288"/>
                  <a:gd name="T8" fmla="*/ 0 60000 65536"/>
                  <a:gd name="T9" fmla="*/ 0 60000 65536"/>
                  <a:gd name="T10" fmla="*/ 0 60000 65536"/>
                  <a:gd name="T11" fmla="*/ 0 60000 65536"/>
                  <a:gd name="T12" fmla="*/ 0 w 576"/>
                  <a:gd name="T13" fmla="*/ 0 h 288"/>
                  <a:gd name="T14" fmla="*/ 576 w 576"/>
                  <a:gd name="T15" fmla="*/ 288 h 288"/>
                </a:gdLst>
                <a:ahLst/>
                <a:cxnLst>
                  <a:cxn ang="T8">
                    <a:pos x="T0" y="T1"/>
                  </a:cxn>
                  <a:cxn ang="T9">
                    <a:pos x="T2" y="T3"/>
                  </a:cxn>
                  <a:cxn ang="T10">
                    <a:pos x="T4" y="T5"/>
                  </a:cxn>
                  <a:cxn ang="T11">
                    <a:pos x="T6" y="T7"/>
                  </a:cxn>
                </a:cxnLst>
                <a:rect l="T12" t="T13" r="T14" b="T15"/>
                <a:pathLst>
                  <a:path w="576" h="288">
                    <a:moveTo>
                      <a:pt x="0" y="288"/>
                    </a:moveTo>
                    <a:lnTo>
                      <a:pt x="288" y="0"/>
                    </a:lnTo>
                    <a:lnTo>
                      <a:pt x="576" y="288"/>
                    </a:lnTo>
                    <a:lnTo>
                      <a:pt x="0" y="288"/>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sp>
          <p:nvSpPr>
            <p:cNvPr id="4" name="Rectangle 3">
              <a:extLst>
                <a:ext uri="{FF2B5EF4-FFF2-40B4-BE49-F238E27FC236}">
                  <a16:creationId xmlns:a16="http://schemas.microsoft.com/office/drawing/2014/main" id="{7298C6E7-5675-7245-8625-15B78B3999E4}"/>
                </a:ext>
              </a:extLst>
            </p:cNvPr>
            <p:cNvSpPr/>
            <p:nvPr/>
          </p:nvSpPr>
          <p:spPr>
            <a:xfrm>
              <a:off x="6264039" y="3242093"/>
              <a:ext cx="1184555" cy="736136"/>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98A4670-9304-574F-B4CB-AFFE50FAB717}"/>
                </a:ext>
              </a:extLst>
            </p:cNvPr>
            <p:cNvSpPr txBox="1"/>
            <p:nvPr/>
          </p:nvSpPr>
          <p:spPr>
            <a:xfrm>
              <a:off x="6482248" y="3436444"/>
              <a:ext cx="966355" cy="369332"/>
            </a:xfrm>
            <a:prstGeom prst="rect">
              <a:avLst/>
            </a:prstGeom>
            <a:noFill/>
          </p:spPr>
          <p:txBody>
            <a:bodyPr wrap="square" rtlCol="0">
              <a:spAutoFit/>
            </a:bodyPr>
            <a:lstStyle/>
            <a:p>
              <a:r>
                <a:rPr lang="en-US" dirty="0"/>
                <a:t>A/D</a:t>
              </a:r>
            </a:p>
          </p:txBody>
        </p:sp>
        <p:sp>
          <p:nvSpPr>
            <p:cNvPr id="24" name="Rectangle 23">
              <a:extLst>
                <a:ext uri="{FF2B5EF4-FFF2-40B4-BE49-F238E27FC236}">
                  <a16:creationId xmlns:a16="http://schemas.microsoft.com/office/drawing/2014/main" id="{4AD0D762-FF83-F245-B4C5-E5F232D6B8D0}"/>
                </a:ext>
              </a:extLst>
            </p:cNvPr>
            <p:cNvSpPr/>
            <p:nvPr/>
          </p:nvSpPr>
          <p:spPr>
            <a:xfrm>
              <a:off x="1215246" y="3231209"/>
              <a:ext cx="895831" cy="736136"/>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8597663F-3C9D-0A4D-8BAC-0EEFFD5DD121}"/>
                </a:ext>
              </a:extLst>
            </p:cNvPr>
            <p:cNvSpPr txBox="1"/>
            <p:nvPr/>
          </p:nvSpPr>
          <p:spPr>
            <a:xfrm>
              <a:off x="1329544" y="3425560"/>
              <a:ext cx="966355" cy="369332"/>
            </a:xfrm>
            <a:prstGeom prst="rect">
              <a:avLst/>
            </a:prstGeom>
            <a:noFill/>
          </p:spPr>
          <p:txBody>
            <a:bodyPr wrap="square" rtlCol="0">
              <a:spAutoFit/>
            </a:bodyPr>
            <a:lstStyle/>
            <a:p>
              <a:r>
                <a:rPr lang="en-US" dirty="0"/>
                <a:t>LNA</a:t>
              </a:r>
            </a:p>
          </p:txBody>
        </p:sp>
        <p:cxnSp>
          <p:nvCxnSpPr>
            <p:cNvPr id="26" name="Straight Connector 25">
              <a:extLst>
                <a:ext uri="{FF2B5EF4-FFF2-40B4-BE49-F238E27FC236}">
                  <a16:creationId xmlns:a16="http://schemas.microsoft.com/office/drawing/2014/main" id="{C6D92AEA-966F-E84F-B621-7C319C1E1290}"/>
                </a:ext>
              </a:extLst>
            </p:cNvPr>
            <p:cNvCxnSpPr>
              <a:cxnSpLocks/>
            </p:cNvCxnSpPr>
            <p:nvPr/>
          </p:nvCxnSpPr>
          <p:spPr>
            <a:xfrm flipV="1">
              <a:off x="1602048" y="1511178"/>
              <a:ext cx="0" cy="1720031"/>
            </a:xfrm>
            <a:prstGeom prst="line">
              <a:avLst/>
            </a:prstGeom>
            <a:ln w="2540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276B952-9F5E-024E-9EC6-77E3C49901AB}"/>
                </a:ext>
              </a:extLst>
            </p:cNvPr>
            <p:cNvCxnSpPr>
              <a:cxnSpLocks/>
            </p:cNvCxnSpPr>
            <p:nvPr/>
          </p:nvCxnSpPr>
          <p:spPr>
            <a:xfrm flipV="1">
              <a:off x="10327993" y="4072961"/>
              <a:ext cx="1" cy="787014"/>
            </a:xfrm>
            <a:prstGeom prst="line">
              <a:avLst/>
            </a:prstGeom>
            <a:ln w="2540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D0D8280-75C9-4341-8AA1-8791EFAF0C4B}"/>
                </a:ext>
              </a:extLst>
            </p:cNvPr>
            <p:cNvCxnSpPr>
              <a:cxnSpLocks/>
            </p:cNvCxnSpPr>
            <p:nvPr/>
          </p:nvCxnSpPr>
          <p:spPr>
            <a:xfrm flipH="1">
              <a:off x="2111077" y="3592859"/>
              <a:ext cx="472635" cy="0"/>
            </a:xfrm>
            <a:prstGeom prst="line">
              <a:avLst/>
            </a:prstGeom>
            <a:ln w="25400">
              <a:solidFill>
                <a:schemeClr val="tx1"/>
              </a:solidFill>
              <a:headEnd type="triangle"/>
            </a:ln>
          </p:spPr>
          <p:style>
            <a:lnRef idx="1">
              <a:schemeClr val="accent1"/>
            </a:lnRef>
            <a:fillRef idx="0">
              <a:schemeClr val="accent1"/>
            </a:fillRef>
            <a:effectRef idx="0">
              <a:schemeClr val="accent1"/>
            </a:effectRef>
            <a:fontRef idx="minor">
              <a:schemeClr val="tx1"/>
            </a:fontRef>
          </p:style>
        </p:cxnSp>
        <p:grpSp>
          <p:nvGrpSpPr>
            <p:cNvPr id="33" name="Group 207">
              <a:extLst>
                <a:ext uri="{FF2B5EF4-FFF2-40B4-BE49-F238E27FC236}">
                  <a16:creationId xmlns:a16="http://schemas.microsoft.com/office/drawing/2014/main" id="{89B57D29-00C2-D949-93C7-D380B4C4DFCF}"/>
                </a:ext>
              </a:extLst>
            </p:cNvPr>
            <p:cNvGrpSpPr>
              <a:grpSpLocks/>
            </p:cNvGrpSpPr>
            <p:nvPr/>
          </p:nvGrpSpPr>
          <p:grpSpPr bwMode="auto">
            <a:xfrm>
              <a:off x="3915573" y="2266904"/>
              <a:ext cx="602013" cy="635159"/>
              <a:chOff x="4560" y="2544"/>
              <a:chExt cx="192" cy="192"/>
            </a:xfrm>
          </p:grpSpPr>
          <p:sp>
            <p:nvSpPr>
              <p:cNvPr id="34" name="Oval 111">
                <a:extLst>
                  <a:ext uri="{FF2B5EF4-FFF2-40B4-BE49-F238E27FC236}">
                    <a16:creationId xmlns:a16="http://schemas.microsoft.com/office/drawing/2014/main" id="{286A46B0-E2C0-414C-B66D-006E87C4B698}"/>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grpSp>
            <p:nvGrpSpPr>
              <p:cNvPr id="40" name="Group 117">
                <a:extLst>
                  <a:ext uri="{FF2B5EF4-FFF2-40B4-BE49-F238E27FC236}">
                    <a16:creationId xmlns:a16="http://schemas.microsoft.com/office/drawing/2014/main" id="{0E25FCBA-8A87-1C41-8B9E-30EC763C27F6}"/>
                  </a:ext>
                </a:extLst>
              </p:cNvPr>
              <p:cNvGrpSpPr>
                <a:grpSpLocks noChangeAspect="1"/>
              </p:cNvGrpSpPr>
              <p:nvPr/>
            </p:nvGrpSpPr>
            <p:grpSpPr bwMode="auto">
              <a:xfrm>
                <a:off x="4608" y="2592"/>
                <a:ext cx="96" cy="96"/>
                <a:chOff x="2929" y="3217"/>
                <a:chExt cx="383" cy="191"/>
              </a:xfrm>
            </p:grpSpPr>
            <p:sp>
              <p:nvSpPr>
                <p:cNvPr id="41" name="Arc 118">
                  <a:extLst>
                    <a:ext uri="{FF2B5EF4-FFF2-40B4-BE49-F238E27FC236}">
                      <a16:creationId xmlns:a16="http://schemas.microsoft.com/office/drawing/2014/main" id="{C6DB9D6C-0EB1-234C-84D9-95F9BED988D9}"/>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2" name="Arc 119">
                  <a:extLst>
                    <a:ext uri="{FF2B5EF4-FFF2-40B4-BE49-F238E27FC236}">
                      <a16:creationId xmlns:a16="http://schemas.microsoft.com/office/drawing/2014/main" id="{D26169B9-F12D-B045-BD73-D26A5FE17FE0}"/>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cxnSp>
          <p:nvCxnSpPr>
            <p:cNvPr id="51" name="Straight Connector 50">
              <a:extLst>
                <a:ext uri="{FF2B5EF4-FFF2-40B4-BE49-F238E27FC236}">
                  <a16:creationId xmlns:a16="http://schemas.microsoft.com/office/drawing/2014/main" id="{FA655D17-DEDC-4449-AE71-A9C2DA7D9B3C}"/>
                </a:ext>
              </a:extLst>
            </p:cNvPr>
            <p:cNvCxnSpPr>
              <a:cxnSpLocks/>
            </p:cNvCxnSpPr>
            <p:nvPr/>
          </p:nvCxnSpPr>
          <p:spPr>
            <a:xfrm flipV="1">
              <a:off x="4228854" y="2901536"/>
              <a:ext cx="2" cy="482768"/>
            </a:xfrm>
            <a:prstGeom prst="line">
              <a:avLst/>
            </a:prstGeom>
            <a:ln w="25400">
              <a:solidFill>
                <a:schemeClr val="tx1"/>
              </a:solidFill>
              <a:head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BA2C58FF-0ED1-864F-90C1-7494DE0D4947}"/>
                </a:ext>
              </a:extLst>
            </p:cNvPr>
            <p:cNvSpPr txBox="1"/>
            <p:nvPr/>
          </p:nvSpPr>
          <p:spPr>
            <a:xfrm>
              <a:off x="4408871" y="3024283"/>
              <a:ext cx="486888" cy="369332"/>
            </a:xfrm>
            <a:prstGeom prst="rect">
              <a:avLst/>
            </a:prstGeom>
            <a:noFill/>
          </p:spPr>
          <p:txBody>
            <a:bodyPr wrap="square" rtlCol="0">
              <a:spAutoFit/>
            </a:bodyPr>
            <a:lstStyle/>
            <a:p>
              <a:r>
                <a:rPr lang="en-US" dirty="0"/>
                <a:t>IF</a:t>
              </a:r>
            </a:p>
          </p:txBody>
        </p:sp>
        <p:sp>
          <p:nvSpPr>
            <p:cNvPr id="54" name="Rectangle 53">
              <a:extLst>
                <a:ext uri="{FF2B5EF4-FFF2-40B4-BE49-F238E27FC236}">
                  <a16:creationId xmlns:a16="http://schemas.microsoft.com/office/drawing/2014/main" id="{48AB640F-A4DA-194D-B111-27064ECDE92D}"/>
                </a:ext>
              </a:extLst>
            </p:cNvPr>
            <p:cNvSpPr/>
            <p:nvPr/>
          </p:nvSpPr>
          <p:spPr>
            <a:xfrm>
              <a:off x="7919908" y="3263868"/>
              <a:ext cx="1184555" cy="736136"/>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16531079-C806-5B49-8A96-FA9EEE9723C2}"/>
                </a:ext>
              </a:extLst>
            </p:cNvPr>
            <p:cNvSpPr txBox="1"/>
            <p:nvPr/>
          </p:nvSpPr>
          <p:spPr>
            <a:xfrm>
              <a:off x="8029007" y="3319308"/>
              <a:ext cx="966355" cy="646331"/>
            </a:xfrm>
            <a:prstGeom prst="rect">
              <a:avLst/>
            </a:prstGeom>
            <a:noFill/>
          </p:spPr>
          <p:txBody>
            <a:bodyPr wrap="square" rtlCol="0">
              <a:spAutoFit/>
            </a:bodyPr>
            <a:lstStyle/>
            <a:p>
              <a:r>
                <a:rPr lang="en-US" dirty="0"/>
                <a:t>Phase rotation</a:t>
              </a:r>
            </a:p>
          </p:txBody>
        </p:sp>
        <p:sp>
          <p:nvSpPr>
            <p:cNvPr id="57" name="Rectangle 56">
              <a:extLst>
                <a:ext uri="{FF2B5EF4-FFF2-40B4-BE49-F238E27FC236}">
                  <a16:creationId xmlns:a16="http://schemas.microsoft.com/office/drawing/2014/main" id="{CF044DA9-74DE-5C4C-913E-CA598AB142BD}"/>
                </a:ext>
              </a:extLst>
            </p:cNvPr>
            <p:cNvSpPr/>
            <p:nvPr/>
          </p:nvSpPr>
          <p:spPr>
            <a:xfrm>
              <a:off x="9736513" y="3333136"/>
              <a:ext cx="1184555" cy="736136"/>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75C89358-DD2C-9744-82D0-2DF76519541C}"/>
                </a:ext>
              </a:extLst>
            </p:cNvPr>
            <p:cNvSpPr txBox="1"/>
            <p:nvPr/>
          </p:nvSpPr>
          <p:spPr>
            <a:xfrm>
              <a:off x="9735718" y="3459826"/>
              <a:ext cx="1184555" cy="369332"/>
            </a:xfrm>
            <a:prstGeom prst="rect">
              <a:avLst/>
            </a:prstGeom>
            <a:noFill/>
          </p:spPr>
          <p:txBody>
            <a:bodyPr wrap="square" rtlCol="0">
              <a:spAutoFit/>
            </a:bodyPr>
            <a:lstStyle/>
            <a:p>
              <a:pPr algn="ctr"/>
              <a:r>
                <a:rPr lang="en-US" dirty="0"/>
                <a:t>Correlator</a:t>
              </a:r>
            </a:p>
          </p:txBody>
        </p:sp>
        <p:sp>
          <p:nvSpPr>
            <p:cNvPr id="59" name="Rectangle 58">
              <a:extLst>
                <a:ext uri="{FF2B5EF4-FFF2-40B4-BE49-F238E27FC236}">
                  <a16:creationId xmlns:a16="http://schemas.microsoft.com/office/drawing/2014/main" id="{5237315C-677F-E046-9D63-74469E4800FE}"/>
                </a:ext>
              </a:extLst>
            </p:cNvPr>
            <p:cNvSpPr/>
            <p:nvPr/>
          </p:nvSpPr>
          <p:spPr>
            <a:xfrm>
              <a:off x="9639533" y="4839325"/>
              <a:ext cx="1402773" cy="736136"/>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DAEEA52D-562A-4A42-9FAB-976B487D3CC4}"/>
                </a:ext>
              </a:extLst>
            </p:cNvPr>
            <p:cNvSpPr txBox="1"/>
            <p:nvPr/>
          </p:nvSpPr>
          <p:spPr>
            <a:xfrm>
              <a:off x="9638738" y="4966015"/>
              <a:ext cx="1402773" cy="369332"/>
            </a:xfrm>
            <a:prstGeom prst="rect">
              <a:avLst/>
            </a:prstGeom>
            <a:noFill/>
          </p:spPr>
          <p:txBody>
            <a:bodyPr wrap="square" rtlCol="0">
              <a:spAutoFit/>
            </a:bodyPr>
            <a:lstStyle/>
            <a:p>
              <a:r>
                <a:rPr lang="en-US" dirty="0"/>
                <a:t>Accumulator</a:t>
              </a:r>
            </a:p>
          </p:txBody>
        </p:sp>
        <p:sp>
          <p:nvSpPr>
            <p:cNvPr id="61" name="Rectangle 60">
              <a:extLst>
                <a:ext uri="{FF2B5EF4-FFF2-40B4-BE49-F238E27FC236}">
                  <a16:creationId xmlns:a16="http://schemas.microsoft.com/office/drawing/2014/main" id="{550BFC0F-87CD-F64F-B361-2731435064C5}"/>
                </a:ext>
              </a:extLst>
            </p:cNvPr>
            <p:cNvSpPr/>
            <p:nvPr/>
          </p:nvSpPr>
          <p:spPr>
            <a:xfrm>
              <a:off x="9746407" y="1989248"/>
              <a:ext cx="1184555" cy="736136"/>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DF7C701C-6B9E-EC48-9E47-11D1ED7E9D7B}"/>
                </a:ext>
              </a:extLst>
            </p:cNvPr>
            <p:cNvSpPr txBox="1"/>
            <p:nvPr/>
          </p:nvSpPr>
          <p:spPr>
            <a:xfrm>
              <a:off x="9745612" y="2080313"/>
              <a:ext cx="1184555" cy="646331"/>
            </a:xfrm>
            <a:prstGeom prst="rect">
              <a:avLst/>
            </a:prstGeom>
            <a:noFill/>
          </p:spPr>
          <p:txBody>
            <a:bodyPr wrap="square" rtlCol="0">
              <a:spAutoFit/>
            </a:bodyPr>
            <a:lstStyle/>
            <a:p>
              <a:pPr algn="ctr"/>
              <a:r>
                <a:rPr lang="en-US" dirty="0"/>
                <a:t>Code</a:t>
              </a:r>
            </a:p>
            <a:p>
              <a:pPr algn="ctr"/>
              <a:r>
                <a:rPr lang="en-US" dirty="0"/>
                <a:t>NCO</a:t>
              </a:r>
            </a:p>
          </p:txBody>
        </p:sp>
        <p:cxnSp>
          <p:nvCxnSpPr>
            <p:cNvPr id="64" name="Straight Connector 63">
              <a:extLst>
                <a:ext uri="{FF2B5EF4-FFF2-40B4-BE49-F238E27FC236}">
                  <a16:creationId xmlns:a16="http://schemas.microsoft.com/office/drawing/2014/main" id="{1B14E73E-A5BF-904F-8183-EAC21C3E9BD3}"/>
                </a:ext>
              </a:extLst>
            </p:cNvPr>
            <p:cNvCxnSpPr>
              <a:cxnSpLocks/>
            </p:cNvCxnSpPr>
            <p:nvPr/>
          </p:nvCxnSpPr>
          <p:spPr>
            <a:xfrm flipH="1">
              <a:off x="9112100" y="3652804"/>
              <a:ext cx="601642" cy="0"/>
            </a:xfrm>
            <a:prstGeom prst="line">
              <a:avLst/>
            </a:prstGeom>
            <a:ln w="2540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C5D8B9FE-11DB-CF4A-9F40-37EBE9D39E6F}"/>
                </a:ext>
              </a:extLst>
            </p:cNvPr>
            <p:cNvCxnSpPr>
              <a:cxnSpLocks/>
            </p:cNvCxnSpPr>
            <p:nvPr/>
          </p:nvCxnSpPr>
          <p:spPr>
            <a:xfrm flipH="1" flipV="1">
              <a:off x="7448594" y="3630546"/>
              <a:ext cx="483294" cy="1390"/>
            </a:xfrm>
            <a:prstGeom prst="line">
              <a:avLst/>
            </a:prstGeom>
            <a:ln w="2540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605A9C4B-80B7-7A49-91FF-119686701815}"/>
                </a:ext>
              </a:extLst>
            </p:cNvPr>
            <p:cNvCxnSpPr>
              <a:cxnSpLocks/>
            </p:cNvCxnSpPr>
            <p:nvPr/>
          </p:nvCxnSpPr>
          <p:spPr>
            <a:xfrm flipV="1">
              <a:off x="10327994" y="2709721"/>
              <a:ext cx="1" cy="648480"/>
            </a:xfrm>
            <a:prstGeom prst="line">
              <a:avLst/>
            </a:prstGeom>
            <a:ln w="25400">
              <a:solidFill>
                <a:schemeClr val="tx1"/>
              </a:solidFill>
              <a:headEnd type="triangl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E5C6688F-4ECF-D148-B323-CE90E1185784}"/>
                </a:ext>
              </a:extLst>
            </p:cNvPr>
            <p:cNvSpPr/>
            <p:nvPr/>
          </p:nvSpPr>
          <p:spPr>
            <a:xfrm>
              <a:off x="2558494" y="3256013"/>
              <a:ext cx="895831" cy="736136"/>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0491A15B-BEFD-744C-ACDE-D6450F6EFA08}"/>
                </a:ext>
              </a:extLst>
            </p:cNvPr>
            <p:cNvSpPr txBox="1"/>
            <p:nvPr/>
          </p:nvSpPr>
          <p:spPr>
            <a:xfrm>
              <a:off x="2672792" y="3450364"/>
              <a:ext cx="966355" cy="369332"/>
            </a:xfrm>
            <a:prstGeom prst="rect">
              <a:avLst/>
            </a:prstGeom>
            <a:noFill/>
          </p:spPr>
          <p:txBody>
            <a:bodyPr wrap="square" rtlCol="0">
              <a:spAutoFit/>
            </a:bodyPr>
            <a:lstStyle/>
            <a:p>
              <a:r>
                <a:rPr lang="en-US" dirty="0"/>
                <a:t>BPF</a:t>
              </a:r>
            </a:p>
          </p:txBody>
        </p:sp>
        <p:cxnSp>
          <p:nvCxnSpPr>
            <p:cNvPr id="45" name="Straight Connector 44">
              <a:extLst>
                <a:ext uri="{FF2B5EF4-FFF2-40B4-BE49-F238E27FC236}">
                  <a16:creationId xmlns:a16="http://schemas.microsoft.com/office/drawing/2014/main" id="{11A734E8-F0C8-EA4D-B6D3-660AEA479C18}"/>
                </a:ext>
              </a:extLst>
            </p:cNvPr>
            <p:cNvCxnSpPr>
              <a:cxnSpLocks/>
            </p:cNvCxnSpPr>
            <p:nvPr/>
          </p:nvCxnSpPr>
          <p:spPr>
            <a:xfrm flipH="1">
              <a:off x="3454325" y="3617663"/>
              <a:ext cx="472635" cy="0"/>
            </a:xfrm>
            <a:prstGeom prst="line">
              <a:avLst/>
            </a:prstGeom>
            <a:ln w="2540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3736493-9207-E34D-B564-52812FA559D4}"/>
                </a:ext>
              </a:extLst>
            </p:cNvPr>
            <p:cNvCxnSpPr>
              <a:cxnSpLocks/>
            </p:cNvCxnSpPr>
            <p:nvPr/>
          </p:nvCxnSpPr>
          <p:spPr>
            <a:xfrm flipH="1">
              <a:off x="4453789" y="3585766"/>
              <a:ext cx="472635" cy="0"/>
            </a:xfrm>
            <a:prstGeom prst="line">
              <a:avLst/>
            </a:prstGeom>
            <a:ln w="25400">
              <a:solidFill>
                <a:schemeClr val="tx1"/>
              </a:solidFill>
              <a:headEnd type="triangle"/>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00174A85-1886-C54C-8DE0-6B668BC3D417}"/>
                </a:ext>
              </a:extLst>
            </p:cNvPr>
            <p:cNvSpPr/>
            <p:nvPr/>
          </p:nvSpPr>
          <p:spPr>
            <a:xfrm>
              <a:off x="4901206" y="3248920"/>
              <a:ext cx="895831" cy="736136"/>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5B111AF4-79C9-B848-9140-9113EA5D373F}"/>
                </a:ext>
              </a:extLst>
            </p:cNvPr>
            <p:cNvSpPr txBox="1"/>
            <p:nvPr/>
          </p:nvSpPr>
          <p:spPr>
            <a:xfrm>
              <a:off x="5015504" y="3443271"/>
              <a:ext cx="966355" cy="369332"/>
            </a:xfrm>
            <a:prstGeom prst="rect">
              <a:avLst/>
            </a:prstGeom>
            <a:noFill/>
          </p:spPr>
          <p:txBody>
            <a:bodyPr wrap="square" rtlCol="0">
              <a:spAutoFit/>
            </a:bodyPr>
            <a:lstStyle/>
            <a:p>
              <a:r>
                <a:rPr lang="en-US" dirty="0"/>
                <a:t>BPF</a:t>
              </a:r>
            </a:p>
          </p:txBody>
        </p:sp>
        <p:cxnSp>
          <p:nvCxnSpPr>
            <p:cNvPr id="49" name="Straight Connector 48">
              <a:extLst>
                <a:ext uri="{FF2B5EF4-FFF2-40B4-BE49-F238E27FC236}">
                  <a16:creationId xmlns:a16="http://schemas.microsoft.com/office/drawing/2014/main" id="{524C4FC3-78DC-4947-9404-4B3C940D6127}"/>
                </a:ext>
              </a:extLst>
            </p:cNvPr>
            <p:cNvCxnSpPr>
              <a:cxnSpLocks/>
            </p:cNvCxnSpPr>
            <p:nvPr/>
          </p:nvCxnSpPr>
          <p:spPr>
            <a:xfrm flipH="1">
              <a:off x="5797037" y="3610570"/>
              <a:ext cx="472635" cy="0"/>
            </a:xfrm>
            <a:prstGeom prst="line">
              <a:avLst/>
            </a:prstGeom>
            <a:ln w="25400">
              <a:solidFill>
                <a:schemeClr val="tx1"/>
              </a:solidFill>
              <a:head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BBCE5FA7-D42D-A04B-8DB4-8BA1ECC5913F}"/>
                </a:ext>
              </a:extLst>
            </p:cNvPr>
            <p:cNvSpPr txBox="1"/>
            <p:nvPr/>
          </p:nvSpPr>
          <p:spPr>
            <a:xfrm>
              <a:off x="4561271" y="2363883"/>
              <a:ext cx="486888" cy="369332"/>
            </a:xfrm>
            <a:prstGeom prst="rect">
              <a:avLst/>
            </a:prstGeom>
            <a:noFill/>
          </p:spPr>
          <p:txBody>
            <a:bodyPr wrap="square" rtlCol="0">
              <a:spAutoFit/>
            </a:bodyPr>
            <a:lstStyle/>
            <a:p>
              <a:r>
                <a:rPr lang="en-US" dirty="0"/>
                <a:t>LO</a:t>
              </a:r>
            </a:p>
          </p:txBody>
        </p:sp>
        <p:sp>
          <p:nvSpPr>
            <p:cNvPr id="67" name="TextBox 66">
              <a:extLst>
                <a:ext uri="{FF2B5EF4-FFF2-40B4-BE49-F238E27FC236}">
                  <a16:creationId xmlns:a16="http://schemas.microsoft.com/office/drawing/2014/main" id="{23AA81B6-5B31-1441-83AE-CA293D0BCBC7}"/>
                </a:ext>
              </a:extLst>
            </p:cNvPr>
            <p:cNvSpPr txBox="1"/>
            <p:nvPr/>
          </p:nvSpPr>
          <p:spPr>
            <a:xfrm>
              <a:off x="1836166" y="1407831"/>
              <a:ext cx="2303607" cy="369332"/>
            </a:xfrm>
            <a:prstGeom prst="rect">
              <a:avLst/>
            </a:prstGeom>
            <a:noFill/>
          </p:spPr>
          <p:txBody>
            <a:bodyPr wrap="square" rtlCol="0">
              <a:spAutoFit/>
            </a:bodyPr>
            <a:lstStyle/>
            <a:p>
              <a:r>
                <a:rPr lang="en-US" dirty="0"/>
                <a:t>Directional antenna</a:t>
              </a:r>
            </a:p>
          </p:txBody>
        </p:sp>
      </p:grpSp>
    </p:spTree>
    <p:extLst>
      <p:ext uri="{BB962C8B-B14F-4D97-AF65-F5344CB8AC3E}">
        <p14:creationId xmlns:p14="http://schemas.microsoft.com/office/powerpoint/2010/main" val="427118087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155731"/>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More careful estimates*</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6553200" y="6404292"/>
            <a:ext cx="2133600" cy="269241"/>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pPr lvl="0"/>
              <a:t>86</a:t>
            </a:fld>
            <a:endParaRPr lang="en-US"/>
          </a:p>
        </p:txBody>
      </p:sp>
      <p:sp>
        <p:nvSpPr>
          <p:cNvPr id="2" name="TextBox 1">
            <a:extLst>
              <a:ext uri="{FF2B5EF4-FFF2-40B4-BE49-F238E27FC236}">
                <a16:creationId xmlns:a16="http://schemas.microsoft.com/office/drawing/2014/main" id="{C68884D3-1A23-404C-9EAC-9D27AD0F9E30}"/>
              </a:ext>
            </a:extLst>
          </p:cNvPr>
          <p:cNvSpPr txBox="1"/>
          <p:nvPr/>
        </p:nvSpPr>
        <p:spPr>
          <a:xfrm>
            <a:off x="892629" y="6161314"/>
            <a:ext cx="3200400" cy="369332"/>
          </a:xfrm>
          <a:prstGeom prst="rect">
            <a:avLst/>
          </a:prstGeom>
          <a:noFill/>
        </p:spPr>
        <p:txBody>
          <a:bodyPr wrap="square" rtlCol="0">
            <a:spAutoFit/>
          </a:bodyPr>
          <a:lstStyle/>
          <a:p>
            <a:r>
              <a:rPr lang="en-US" dirty="0"/>
              <a:t>*</a:t>
            </a:r>
            <a:r>
              <a:rPr lang="en-US" dirty="0" err="1"/>
              <a:t>Misra</a:t>
            </a:r>
            <a:r>
              <a:rPr lang="en-US" dirty="0"/>
              <a:t> and </a:t>
            </a:r>
            <a:r>
              <a:rPr lang="en-US" dirty="0" err="1"/>
              <a:t>Enge</a:t>
            </a:r>
            <a:r>
              <a:rPr lang="en-US" dirty="0"/>
              <a:t>, GPS</a:t>
            </a:r>
          </a:p>
        </p:txBody>
      </p:sp>
      <p:graphicFrame>
        <p:nvGraphicFramePr>
          <p:cNvPr id="5" name="Table 5">
            <a:extLst>
              <a:ext uri="{FF2B5EF4-FFF2-40B4-BE49-F238E27FC236}">
                <a16:creationId xmlns:a16="http://schemas.microsoft.com/office/drawing/2014/main" id="{55B5F31B-BBA8-2041-8231-15AC3C99D4D6}"/>
              </a:ext>
            </a:extLst>
          </p:cNvPr>
          <p:cNvGraphicFramePr>
            <a:graphicFrameLocks noGrp="1"/>
          </p:cNvGraphicFramePr>
          <p:nvPr/>
        </p:nvGraphicFramePr>
        <p:xfrm>
          <a:off x="1672771" y="2181372"/>
          <a:ext cx="8128000" cy="32359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662848483"/>
                    </a:ext>
                  </a:extLst>
                </a:gridCol>
                <a:gridCol w="2032000">
                  <a:extLst>
                    <a:ext uri="{9D8B030D-6E8A-4147-A177-3AD203B41FA5}">
                      <a16:colId xmlns:a16="http://schemas.microsoft.com/office/drawing/2014/main" val="282670941"/>
                    </a:ext>
                  </a:extLst>
                </a:gridCol>
                <a:gridCol w="2032000">
                  <a:extLst>
                    <a:ext uri="{9D8B030D-6E8A-4147-A177-3AD203B41FA5}">
                      <a16:colId xmlns:a16="http://schemas.microsoft.com/office/drawing/2014/main" val="2577105980"/>
                    </a:ext>
                  </a:extLst>
                </a:gridCol>
                <a:gridCol w="2032000">
                  <a:extLst>
                    <a:ext uri="{9D8B030D-6E8A-4147-A177-3AD203B41FA5}">
                      <a16:colId xmlns:a16="http://schemas.microsoft.com/office/drawing/2014/main" val="572072408"/>
                    </a:ext>
                  </a:extLst>
                </a:gridCol>
              </a:tblGrid>
              <a:tr h="370840">
                <a:tc>
                  <a:txBody>
                    <a:bodyPr/>
                    <a:lstStyle/>
                    <a:p>
                      <a:r>
                        <a:rPr lang="en-US" dirty="0"/>
                        <a:t>Elevation</a:t>
                      </a:r>
                    </a:p>
                  </a:txBody>
                  <a:tcPr/>
                </a:tc>
                <a:tc>
                  <a:txBody>
                    <a:bodyPr/>
                    <a:lstStyle/>
                    <a:p>
                      <a:r>
                        <a:rPr lang="en-US" dirty="0"/>
                        <a:t>5</a:t>
                      </a:r>
                      <a:r>
                        <a:rPr lang="en-US" baseline="30000" dirty="0"/>
                        <a:t>o</a:t>
                      </a:r>
                    </a:p>
                  </a:txBody>
                  <a:tcPr/>
                </a:tc>
                <a:tc>
                  <a:txBody>
                    <a:bodyPr/>
                    <a:lstStyle/>
                    <a:p>
                      <a:r>
                        <a:rPr lang="en-US" dirty="0"/>
                        <a:t>40</a:t>
                      </a:r>
                      <a:r>
                        <a:rPr lang="en-US" baseline="30000" dirty="0"/>
                        <a:t>o</a:t>
                      </a:r>
                    </a:p>
                  </a:txBody>
                  <a:tcPr/>
                </a:tc>
                <a:tc>
                  <a:txBody>
                    <a:bodyPr/>
                    <a:lstStyle/>
                    <a:p>
                      <a:r>
                        <a:rPr lang="en-US" dirty="0"/>
                        <a:t>90</a:t>
                      </a:r>
                      <a:r>
                        <a:rPr lang="en-US" baseline="30000" dirty="0"/>
                        <a:t>o</a:t>
                      </a:r>
                    </a:p>
                  </a:txBody>
                  <a:tcPr/>
                </a:tc>
                <a:extLst>
                  <a:ext uri="{0D108BD9-81ED-4DB2-BD59-A6C34878D82A}">
                    <a16:rowId xmlns:a16="http://schemas.microsoft.com/office/drawing/2014/main" val="155402349"/>
                  </a:ext>
                </a:extLst>
              </a:tr>
              <a:tr h="370840">
                <a:tc>
                  <a:txBody>
                    <a:bodyPr/>
                    <a:lstStyle/>
                    <a:p>
                      <a:r>
                        <a:rPr lang="en-US" dirty="0"/>
                        <a:t>Power at sat input</a:t>
                      </a:r>
                    </a:p>
                  </a:txBody>
                  <a:tcPr/>
                </a:tc>
                <a:tc>
                  <a:txBody>
                    <a:bodyPr/>
                    <a:lstStyle/>
                    <a:p>
                      <a:r>
                        <a:rPr lang="en-US" dirty="0"/>
                        <a:t>14.3dB</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14.3dB</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14.3dB</a:t>
                      </a:r>
                    </a:p>
                  </a:txBody>
                  <a:tcPr/>
                </a:tc>
                <a:extLst>
                  <a:ext uri="{0D108BD9-81ED-4DB2-BD59-A6C34878D82A}">
                    <a16:rowId xmlns:a16="http://schemas.microsoft.com/office/drawing/2014/main" val="155378683"/>
                  </a:ext>
                </a:extLst>
              </a:tr>
              <a:tr h="370840">
                <a:tc>
                  <a:txBody>
                    <a:bodyPr/>
                    <a:lstStyle/>
                    <a:p>
                      <a:r>
                        <a:rPr lang="en-US" dirty="0"/>
                        <a:t>Sat antenna gain</a:t>
                      </a:r>
                    </a:p>
                  </a:txBody>
                  <a:tcPr/>
                </a:tc>
                <a:tc>
                  <a:txBody>
                    <a:bodyPr/>
                    <a:lstStyle/>
                    <a:p>
                      <a:r>
                        <a:rPr lang="en-US" dirty="0"/>
                        <a:t>12.1dB</a:t>
                      </a:r>
                    </a:p>
                  </a:txBody>
                  <a:tcPr/>
                </a:tc>
                <a:tc>
                  <a:txBody>
                    <a:bodyPr/>
                    <a:lstStyle/>
                    <a:p>
                      <a:r>
                        <a:rPr lang="en-US" dirty="0"/>
                        <a:t>12.9dB</a:t>
                      </a:r>
                    </a:p>
                  </a:txBody>
                  <a:tcPr/>
                </a:tc>
                <a:tc>
                  <a:txBody>
                    <a:bodyPr/>
                    <a:lstStyle/>
                    <a:p>
                      <a:r>
                        <a:rPr lang="en-US" dirty="0"/>
                        <a:t>10.2dB</a:t>
                      </a:r>
                    </a:p>
                  </a:txBody>
                  <a:tcPr/>
                </a:tc>
                <a:extLst>
                  <a:ext uri="{0D108BD9-81ED-4DB2-BD59-A6C34878D82A}">
                    <a16:rowId xmlns:a16="http://schemas.microsoft.com/office/drawing/2014/main" val="3369000109"/>
                  </a:ext>
                </a:extLst>
              </a:tr>
              <a:tr h="370840">
                <a:tc>
                  <a:txBody>
                    <a:bodyPr/>
                    <a:lstStyle/>
                    <a:p>
                      <a:r>
                        <a:rPr lang="en-US" dirty="0"/>
                        <a:t>EIRP</a:t>
                      </a:r>
                    </a:p>
                  </a:txBody>
                  <a:tcPr/>
                </a:tc>
                <a:tc>
                  <a:txBody>
                    <a:bodyPr/>
                    <a:lstStyle/>
                    <a:p>
                      <a:r>
                        <a:rPr lang="en-US" dirty="0"/>
                        <a:t>26.4dB</a:t>
                      </a:r>
                    </a:p>
                  </a:txBody>
                  <a:tcPr/>
                </a:tc>
                <a:tc>
                  <a:txBody>
                    <a:bodyPr/>
                    <a:lstStyle/>
                    <a:p>
                      <a:r>
                        <a:rPr lang="en-US" dirty="0"/>
                        <a:t>27</a:t>
                      </a:r>
                      <a:r>
                        <a:rPr lang="en-US" u="none" dirty="0"/>
                        <a:t>.2dB</a:t>
                      </a:r>
                    </a:p>
                  </a:txBody>
                  <a:tcPr/>
                </a:tc>
                <a:tc>
                  <a:txBody>
                    <a:bodyPr/>
                    <a:lstStyle/>
                    <a:p>
                      <a:r>
                        <a:rPr lang="en-US" dirty="0"/>
                        <a:t>24.5dB</a:t>
                      </a:r>
                    </a:p>
                  </a:txBody>
                  <a:tcPr/>
                </a:tc>
                <a:extLst>
                  <a:ext uri="{0D108BD9-81ED-4DB2-BD59-A6C34878D82A}">
                    <a16:rowId xmlns:a16="http://schemas.microsoft.com/office/drawing/2014/main" val="3450691831"/>
                  </a:ext>
                </a:extLst>
              </a:tr>
              <a:tr h="370840">
                <a:tc>
                  <a:txBody>
                    <a:bodyPr/>
                    <a:lstStyle/>
                    <a:p>
                      <a:r>
                        <a:rPr lang="en-US" dirty="0"/>
                        <a:t>Range</a:t>
                      </a:r>
                    </a:p>
                  </a:txBody>
                  <a:tcPr/>
                </a:tc>
                <a:tc>
                  <a:txBody>
                    <a:bodyPr/>
                    <a:lstStyle/>
                    <a:p>
                      <a:r>
                        <a:rPr lang="en-US" dirty="0"/>
                        <a:t>25240km</a:t>
                      </a:r>
                    </a:p>
                  </a:txBody>
                  <a:tcPr/>
                </a:tc>
                <a:tc>
                  <a:txBody>
                    <a:bodyPr/>
                    <a:lstStyle/>
                    <a:p>
                      <a:r>
                        <a:rPr lang="en-US" dirty="0"/>
                        <a:t>22020km</a:t>
                      </a:r>
                    </a:p>
                  </a:txBody>
                  <a:tcPr/>
                </a:tc>
                <a:tc>
                  <a:txBody>
                    <a:bodyPr/>
                    <a:lstStyle/>
                    <a:p>
                      <a:r>
                        <a:rPr lang="en-US" dirty="0"/>
                        <a:t>20190km</a:t>
                      </a:r>
                    </a:p>
                  </a:txBody>
                  <a:tcPr/>
                </a:tc>
                <a:extLst>
                  <a:ext uri="{0D108BD9-81ED-4DB2-BD59-A6C34878D82A}">
                    <a16:rowId xmlns:a16="http://schemas.microsoft.com/office/drawing/2014/main" val="1424917482"/>
                  </a:ext>
                </a:extLst>
              </a:tr>
              <a:tr h="370840">
                <a:tc>
                  <a:txBody>
                    <a:bodyPr/>
                    <a:lstStyle/>
                    <a:p>
                      <a:r>
                        <a:rPr lang="en-US" dirty="0"/>
                        <a:t>Path loss</a:t>
                      </a:r>
                    </a:p>
                  </a:txBody>
                  <a:tcPr/>
                </a:tc>
                <a:tc>
                  <a:txBody>
                    <a:bodyPr/>
                    <a:lstStyle/>
                    <a:p>
                      <a:r>
                        <a:rPr lang="en-US" dirty="0"/>
                        <a:t>-159 dB/m</a:t>
                      </a:r>
                      <a:r>
                        <a:rPr lang="en-US" baseline="30000"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-157.8 dB/m</a:t>
                      </a:r>
                      <a:r>
                        <a:rPr lang="en-US" baseline="30000"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-157.1 dB/m</a:t>
                      </a:r>
                      <a:r>
                        <a:rPr lang="en-US" baseline="30000" dirty="0"/>
                        <a:t>2</a:t>
                      </a:r>
                    </a:p>
                  </a:txBody>
                  <a:tcPr/>
                </a:tc>
                <a:extLst>
                  <a:ext uri="{0D108BD9-81ED-4DB2-BD59-A6C34878D82A}">
                    <a16:rowId xmlns:a16="http://schemas.microsoft.com/office/drawing/2014/main" val="963032461"/>
                  </a:ext>
                </a:extLst>
              </a:tr>
              <a:tr h="370840">
                <a:tc>
                  <a:txBody>
                    <a:bodyPr/>
                    <a:lstStyle/>
                    <a:p>
                      <a:r>
                        <a:rPr lang="en-US" dirty="0" err="1"/>
                        <a:t>Atmo</a:t>
                      </a:r>
                      <a:r>
                        <a:rPr lang="en-US" dirty="0"/>
                        <a:t> loss</a:t>
                      </a:r>
                    </a:p>
                  </a:txBody>
                  <a:tcPr/>
                </a:tc>
                <a:tc>
                  <a:txBody>
                    <a:bodyPr/>
                    <a:lstStyle/>
                    <a:p>
                      <a:r>
                        <a:rPr lang="en-US" dirty="0"/>
                        <a:t>.5dB</a:t>
                      </a:r>
                    </a:p>
                  </a:txBody>
                  <a:tcPr/>
                </a:tc>
                <a:tc>
                  <a:txBody>
                    <a:bodyPr/>
                    <a:lstStyle/>
                    <a:p>
                      <a:r>
                        <a:rPr lang="en-US" dirty="0"/>
                        <a:t>.5dB</a:t>
                      </a:r>
                    </a:p>
                  </a:txBody>
                  <a:tcPr/>
                </a:tc>
                <a:tc>
                  <a:txBody>
                    <a:bodyPr/>
                    <a:lstStyle/>
                    <a:p>
                      <a:r>
                        <a:rPr lang="en-US" dirty="0"/>
                        <a:t>.5dB</a:t>
                      </a:r>
                    </a:p>
                  </a:txBody>
                  <a:tcPr/>
                </a:tc>
                <a:extLst>
                  <a:ext uri="{0D108BD9-81ED-4DB2-BD59-A6C34878D82A}">
                    <a16:rowId xmlns:a16="http://schemas.microsoft.com/office/drawing/2014/main" val="4010914712"/>
                  </a:ext>
                </a:extLst>
              </a:tr>
              <a:tr h="370840">
                <a:tc>
                  <a:txBody>
                    <a:bodyPr/>
                    <a:lstStyle/>
                    <a:p>
                      <a:r>
                        <a:rPr lang="en-US" dirty="0"/>
                        <a:t>Received power</a:t>
                      </a:r>
                    </a:p>
                    <a:p>
                      <a:r>
                        <a:rPr lang="en-US" dirty="0"/>
                        <a:t>density</a:t>
                      </a:r>
                    </a:p>
                  </a:txBody>
                  <a:tcPr/>
                </a:tc>
                <a:tc>
                  <a:txBody>
                    <a:bodyPr/>
                    <a:lstStyle/>
                    <a:p>
                      <a:r>
                        <a:rPr lang="en-US" dirty="0"/>
                        <a:t>-133.1dB/m</a:t>
                      </a:r>
                      <a:r>
                        <a:rPr lang="en-US" baseline="30000"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-131.1dB/m</a:t>
                      </a:r>
                      <a:r>
                        <a:rPr lang="en-US" baseline="30000" dirty="0"/>
                        <a:t>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7.8x10</a:t>
                      </a:r>
                      <a:r>
                        <a:rPr lang="en-US" baseline="30000" dirty="0"/>
                        <a:t>-14</a:t>
                      </a:r>
                      <a:r>
                        <a:rPr lang="en-US" baseline="0" dirty="0"/>
                        <a:t> W/m</a:t>
                      </a:r>
                      <a:r>
                        <a:rPr lang="en-US" baseline="30000"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-133.1dB/m</a:t>
                      </a:r>
                      <a:r>
                        <a:rPr lang="en-US" baseline="30000" dirty="0"/>
                        <a:t>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4.9x10</a:t>
                      </a:r>
                      <a:r>
                        <a:rPr lang="en-US" baseline="30000" dirty="0"/>
                        <a:t>-14</a:t>
                      </a:r>
                      <a:r>
                        <a:rPr lang="en-US" baseline="0" dirty="0"/>
                        <a:t> W/m</a:t>
                      </a:r>
                      <a:r>
                        <a:rPr lang="en-US" baseline="30000" dirty="0"/>
                        <a:t>2</a:t>
                      </a:r>
                      <a:endParaRPr lang="en-US" baseline="0" dirty="0"/>
                    </a:p>
                  </a:txBody>
                  <a:tcPr/>
                </a:tc>
                <a:extLst>
                  <a:ext uri="{0D108BD9-81ED-4DB2-BD59-A6C34878D82A}">
                    <a16:rowId xmlns:a16="http://schemas.microsoft.com/office/drawing/2014/main" val="1320824937"/>
                  </a:ext>
                </a:extLst>
              </a:tr>
            </a:tbl>
          </a:graphicData>
        </a:graphic>
      </p:graphicFrame>
    </p:spTree>
    <p:extLst>
      <p:ext uri="{BB962C8B-B14F-4D97-AF65-F5344CB8AC3E}">
        <p14:creationId xmlns:p14="http://schemas.microsoft.com/office/powerpoint/2010/main" val="149497500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155731"/>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More careful estimates*</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9581321" y="6267132"/>
            <a:ext cx="2133600" cy="274320"/>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87</a:t>
            </a:fld>
            <a:endParaRPr lang="en-US" dirty="0">
              <a:solidFill>
                <a:schemeClr val="tx1"/>
              </a:solidFill>
            </a:endParaRPr>
          </a:p>
        </p:txBody>
      </p:sp>
      <p:sp>
        <p:nvSpPr>
          <p:cNvPr id="2" name="TextBox 1">
            <a:extLst>
              <a:ext uri="{FF2B5EF4-FFF2-40B4-BE49-F238E27FC236}">
                <a16:creationId xmlns:a16="http://schemas.microsoft.com/office/drawing/2014/main" id="{C68884D3-1A23-404C-9EAC-9D27AD0F9E30}"/>
              </a:ext>
            </a:extLst>
          </p:cNvPr>
          <p:cNvSpPr txBox="1"/>
          <p:nvPr/>
        </p:nvSpPr>
        <p:spPr>
          <a:xfrm>
            <a:off x="892629" y="6161314"/>
            <a:ext cx="3200400" cy="369332"/>
          </a:xfrm>
          <a:prstGeom prst="rect">
            <a:avLst/>
          </a:prstGeom>
          <a:noFill/>
        </p:spPr>
        <p:txBody>
          <a:bodyPr wrap="square" rtlCol="0">
            <a:spAutoFit/>
          </a:bodyPr>
          <a:lstStyle/>
          <a:p>
            <a:r>
              <a:rPr lang="en-US" dirty="0"/>
              <a:t>*</a:t>
            </a:r>
            <a:r>
              <a:rPr lang="en-US" dirty="0" err="1"/>
              <a:t>Misra</a:t>
            </a:r>
            <a:r>
              <a:rPr lang="en-US" dirty="0"/>
              <a:t> and </a:t>
            </a:r>
            <a:r>
              <a:rPr lang="en-US" dirty="0" err="1"/>
              <a:t>Enge</a:t>
            </a:r>
            <a:r>
              <a:rPr lang="en-US" dirty="0"/>
              <a:t>, GPS</a:t>
            </a:r>
          </a:p>
        </p:txBody>
      </p:sp>
      <p:graphicFrame>
        <p:nvGraphicFramePr>
          <p:cNvPr id="5" name="Table 5">
            <a:extLst>
              <a:ext uri="{FF2B5EF4-FFF2-40B4-BE49-F238E27FC236}">
                <a16:creationId xmlns:a16="http://schemas.microsoft.com/office/drawing/2014/main" id="{55B5F31B-BBA8-2041-8231-15AC3C99D4D6}"/>
              </a:ext>
            </a:extLst>
          </p:cNvPr>
          <p:cNvGraphicFramePr>
            <a:graphicFrameLocks noGrp="1"/>
          </p:cNvGraphicFramePr>
          <p:nvPr>
            <p:extLst>
              <p:ext uri="{D42A27DB-BD31-4B8C-83A1-F6EECF244321}">
                <p14:modId xmlns:p14="http://schemas.microsoft.com/office/powerpoint/2010/main" val="2258966350"/>
              </p:ext>
            </p:extLst>
          </p:nvPr>
        </p:nvGraphicFramePr>
        <p:xfrm>
          <a:off x="2314448" y="2013732"/>
          <a:ext cx="7274088" cy="3302000"/>
        </p:xfrm>
        <a:graphic>
          <a:graphicData uri="http://schemas.openxmlformats.org/drawingml/2006/table">
            <a:tbl>
              <a:tblPr firstRow="1" bandRow="1">
                <a:tableStyleId>{5C22544A-7EE6-4342-B048-85BDC9FD1C3A}</a:tableStyleId>
              </a:tblPr>
              <a:tblGrid>
                <a:gridCol w="1818522">
                  <a:extLst>
                    <a:ext uri="{9D8B030D-6E8A-4147-A177-3AD203B41FA5}">
                      <a16:colId xmlns:a16="http://schemas.microsoft.com/office/drawing/2014/main" val="2662848483"/>
                    </a:ext>
                  </a:extLst>
                </a:gridCol>
                <a:gridCol w="1818522">
                  <a:extLst>
                    <a:ext uri="{9D8B030D-6E8A-4147-A177-3AD203B41FA5}">
                      <a16:colId xmlns:a16="http://schemas.microsoft.com/office/drawing/2014/main" val="282670941"/>
                    </a:ext>
                  </a:extLst>
                </a:gridCol>
                <a:gridCol w="1818522">
                  <a:extLst>
                    <a:ext uri="{9D8B030D-6E8A-4147-A177-3AD203B41FA5}">
                      <a16:colId xmlns:a16="http://schemas.microsoft.com/office/drawing/2014/main" val="2577105980"/>
                    </a:ext>
                  </a:extLst>
                </a:gridCol>
                <a:gridCol w="1818522">
                  <a:extLst>
                    <a:ext uri="{9D8B030D-6E8A-4147-A177-3AD203B41FA5}">
                      <a16:colId xmlns:a16="http://schemas.microsoft.com/office/drawing/2014/main" val="572072408"/>
                    </a:ext>
                  </a:extLst>
                </a:gridCol>
              </a:tblGrid>
              <a:tr h="370840">
                <a:tc>
                  <a:txBody>
                    <a:bodyPr/>
                    <a:lstStyle/>
                    <a:p>
                      <a:r>
                        <a:rPr lang="en-US" dirty="0"/>
                        <a:t>Elevation</a:t>
                      </a:r>
                    </a:p>
                  </a:txBody>
                  <a:tcPr/>
                </a:tc>
                <a:tc>
                  <a:txBody>
                    <a:bodyPr/>
                    <a:lstStyle/>
                    <a:p>
                      <a:r>
                        <a:rPr lang="en-US" dirty="0"/>
                        <a:t>5</a:t>
                      </a:r>
                      <a:r>
                        <a:rPr lang="en-US" baseline="30000" dirty="0"/>
                        <a:t>o</a:t>
                      </a:r>
                    </a:p>
                  </a:txBody>
                  <a:tcPr/>
                </a:tc>
                <a:tc>
                  <a:txBody>
                    <a:bodyPr/>
                    <a:lstStyle/>
                    <a:p>
                      <a:r>
                        <a:rPr lang="en-US" dirty="0"/>
                        <a:t>40</a:t>
                      </a:r>
                      <a:r>
                        <a:rPr lang="en-US" baseline="30000" dirty="0"/>
                        <a:t>o</a:t>
                      </a:r>
                    </a:p>
                  </a:txBody>
                  <a:tcPr/>
                </a:tc>
                <a:tc>
                  <a:txBody>
                    <a:bodyPr/>
                    <a:lstStyle/>
                    <a:p>
                      <a:r>
                        <a:rPr lang="en-US" dirty="0"/>
                        <a:t>90</a:t>
                      </a:r>
                      <a:r>
                        <a:rPr lang="en-US" baseline="30000" dirty="0"/>
                        <a:t>o</a:t>
                      </a:r>
                    </a:p>
                  </a:txBody>
                  <a:tcPr/>
                </a:tc>
                <a:extLst>
                  <a:ext uri="{0D108BD9-81ED-4DB2-BD59-A6C34878D82A}">
                    <a16:rowId xmlns:a16="http://schemas.microsoft.com/office/drawing/2014/main" val="155402349"/>
                  </a:ext>
                </a:extLst>
              </a:tr>
              <a:tr h="370840">
                <a:tc>
                  <a:txBody>
                    <a:bodyPr/>
                    <a:lstStyle/>
                    <a:p>
                      <a:r>
                        <a:rPr lang="en-US" dirty="0"/>
                        <a:t>Received power density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4.9x10</a:t>
                      </a:r>
                      <a:r>
                        <a:rPr lang="en-US" baseline="30000" dirty="0"/>
                        <a:t>-14</a:t>
                      </a:r>
                      <a:r>
                        <a:rPr lang="en-US" dirty="0"/>
                        <a:t>W/m</a:t>
                      </a:r>
                      <a:r>
                        <a:rPr lang="en-US" baseline="30000"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7.8x10</a:t>
                      </a:r>
                      <a:r>
                        <a:rPr lang="en-US" baseline="30000" dirty="0"/>
                        <a:t>-14</a:t>
                      </a:r>
                      <a:r>
                        <a:rPr lang="en-US" dirty="0"/>
                        <a:t>W/m</a:t>
                      </a:r>
                      <a:r>
                        <a:rPr lang="en-US" baseline="30000"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4.9x10</a:t>
                      </a:r>
                      <a:r>
                        <a:rPr lang="en-US" baseline="30000" dirty="0"/>
                        <a:t>-14</a:t>
                      </a:r>
                      <a:r>
                        <a:rPr lang="en-US" dirty="0"/>
                        <a:t>W/m</a:t>
                      </a:r>
                      <a:r>
                        <a:rPr lang="en-US" baseline="30000" dirty="0"/>
                        <a:t>2</a:t>
                      </a:r>
                    </a:p>
                  </a:txBody>
                  <a:tcPr/>
                </a:tc>
                <a:extLst>
                  <a:ext uri="{0D108BD9-81ED-4DB2-BD59-A6C34878D82A}">
                    <a16:rowId xmlns:a16="http://schemas.microsoft.com/office/drawing/2014/main" val="155378683"/>
                  </a:ext>
                </a:extLst>
              </a:tr>
              <a:tr h="370840">
                <a:tc>
                  <a:txBody>
                    <a:bodyPr/>
                    <a:lstStyle/>
                    <a:p>
                      <a:r>
                        <a:rPr lang="en-US" dirty="0"/>
                        <a:t>Effective area of receiver</a:t>
                      </a:r>
                    </a:p>
                  </a:txBody>
                  <a:tcPr/>
                </a:tc>
                <a:tc>
                  <a:txBody>
                    <a:bodyPr/>
                    <a:lstStyle/>
                    <a:p>
                      <a:r>
                        <a:rPr lang="en-US" dirty="0"/>
                        <a:t>2.7 x 10</a:t>
                      </a:r>
                      <a:r>
                        <a:rPr lang="en-US" baseline="30000" dirty="0"/>
                        <a:t>-3</a:t>
                      </a:r>
                      <a:r>
                        <a:rPr lang="en-US" dirty="0"/>
                        <a:t>m</a:t>
                      </a:r>
                      <a:r>
                        <a:rPr lang="en-US" baseline="30000" dirty="0"/>
                        <a:t>2</a:t>
                      </a:r>
                    </a:p>
                    <a:p>
                      <a:r>
                        <a:rPr lang="en-US" baseline="0" dirty="0"/>
                        <a:t>-24.5dBm</a:t>
                      </a:r>
                      <a:r>
                        <a:rPr lang="en-US" baseline="30000" dirty="0"/>
                        <a:t>2</a:t>
                      </a:r>
                    </a:p>
                  </a:txBody>
                  <a:tcPr/>
                </a:tc>
                <a:tc>
                  <a:txBody>
                    <a:bodyPr/>
                    <a:lstStyle/>
                    <a:p>
                      <a:r>
                        <a:rPr lang="en-US" dirty="0"/>
                        <a:t>2.7 x 10</a:t>
                      </a:r>
                      <a:r>
                        <a:rPr lang="en-US" baseline="30000" dirty="0"/>
                        <a:t>-3</a:t>
                      </a:r>
                      <a:r>
                        <a:rPr lang="en-US" dirty="0"/>
                        <a:t>m</a:t>
                      </a:r>
                      <a:r>
                        <a:rPr lang="en-US" baseline="30000"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2.7 x 10</a:t>
                      </a:r>
                      <a:r>
                        <a:rPr lang="en-US" baseline="30000" dirty="0"/>
                        <a:t>-3</a:t>
                      </a:r>
                      <a:r>
                        <a:rPr lang="en-US" dirty="0"/>
                        <a:t>m</a:t>
                      </a:r>
                      <a:r>
                        <a:rPr lang="en-US" baseline="30000" dirty="0"/>
                        <a:t>2</a:t>
                      </a:r>
                    </a:p>
                    <a:p>
                      <a:endParaRPr lang="en-US" dirty="0"/>
                    </a:p>
                  </a:txBody>
                  <a:tcPr/>
                </a:tc>
                <a:extLst>
                  <a:ext uri="{0D108BD9-81ED-4DB2-BD59-A6C34878D82A}">
                    <a16:rowId xmlns:a16="http://schemas.microsoft.com/office/drawing/2014/main" val="3369000109"/>
                  </a:ext>
                </a:extLst>
              </a:tr>
              <a:tr h="370840">
                <a:tc>
                  <a:txBody>
                    <a:bodyPr/>
                    <a:lstStyle/>
                    <a:p>
                      <a:r>
                        <a:rPr lang="en-US" dirty="0"/>
                        <a:t>Isotropic receiver power</a:t>
                      </a:r>
                    </a:p>
                  </a:txBody>
                  <a:tcPr/>
                </a:tc>
                <a:tc>
                  <a:txBody>
                    <a:bodyPr/>
                    <a:lstStyle/>
                    <a:p>
                      <a:r>
                        <a:rPr lang="en-US" dirty="0"/>
                        <a:t>-158.5 dB</a:t>
                      </a:r>
                    </a:p>
                  </a:txBody>
                  <a:tcPr/>
                </a:tc>
                <a:tc>
                  <a:txBody>
                    <a:bodyPr/>
                    <a:lstStyle/>
                    <a:p>
                      <a:r>
                        <a:rPr lang="en-US" dirty="0"/>
                        <a:t>-156.5dB</a:t>
                      </a:r>
                      <a:endParaRPr lang="en-US" u="none" dirty="0"/>
                    </a:p>
                  </a:txBody>
                  <a:tcPr/>
                </a:tc>
                <a:tc>
                  <a:txBody>
                    <a:bodyPr/>
                    <a:lstStyle/>
                    <a:p>
                      <a:r>
                        <a:rPr lang="en-US" dirty="0"/>
                        <a:t>-158.5dB</a:t>
                      </a:r>
                    </a:p>
                  </a:txBody>
                  <a:tcPr/>
                </a:tc>
                <a:extLst>
                  <a:ext uri="{0D108BD9-81ED-4DB2-BD59-A6C34878D82A}">
                    <a16:rowId xmlns:a16="http://schemas.microsoft.com/office/drawing/2014/main" val="3450691831"/>
                  </a:ext>
                </a:extLst>
              </a:tr>
              <a:tr h="370840">
                <a:tc>
                  <a:txBody>
                    <a:bodyPr/>
                    <a:lstStyle/>
                    <a:p>
                      <a:r>
                        <a:rPr lang="en-US" dirty="0"/>
                        <a:t>G</a:t>
                      </a:r>
                      <a:r>
                        <a:rPr lang="en-US" baseline="-25000" dirty="0"/>
                        <a:t>r</a:t>
                      </a:r>
                    </a:p>
                  </a:txBody>
                  <a:tcPr/>
                </a:tc>
                <a:tc>
                  <a:txBody>
                    <a:bodyPr/>
                    <a:lstStyle/>
                    <a:p>
                      <a:r>
                        <a:rPr lang="en-US" dirty="0"/>
                        <a:t>-4 </a:t>
                      </a:r>
                      <a:r>
                        <a:rPr lang="en-US" dirty="0" err="1"/>
                        <a:t>dBic</a:t>
                      </a:r>
                      <a:endParaRPr lang="en-US" dirty="0"/>
                    </a:p>
                  </a:txBody>
                  <a:tcPr/>
                </a:tc>
                <a:tc>
                  <a:txBody>
                    <a:bodyPr/>
                    <a:lstStyle/>
                    <a:p>
                      <a:r>
                        <a:rPr lang="en-US" dirty="0"/>
                        <a:t>2 </a:t>
                      </a:r>
                      <a:r>
                        <a:rPr lang="en-US" dirty="0" err="1"/>
                        <a:t>dBic</a:t>
                      </a:r>
                      <a:endParaRPr lang="en-US" dirty="0"/>
                    </a:p>
                  </a:txBody>
                  <a:tcPr/>
                </a:tc>
                <a:tc>
                  <a:txBody>
                    <a:bodyPr/>
                    <a:lstStyle/>
                    <a:p>
                      <a:r>
                        <a:rPr lang="en-US" dirty="0"/>
                        <a:t>4dBoc</a:t>
                      </a:r>
                    </a:p>
                  </a:txBody>
                  <a:tcPr/>
                </a:tc>
                <a:extLst>
                  <a:ext uri="{0D108BD9-81ED-4DB2-BD59-A6C34878D82A}">
                    <a16:rowId xmlns:a16="http://schemas.microsoft.com/office/drawing/2014/main" val="1424917482"/>
                  </a:ext>
                </a:extLst>
              </a:tr>
              <a:tr h="370840">
                <a:tc>
                  <a:txBody>
                    <a:bodyPr/>
                    <a:lstStyle/>
                    <a:p>
                      <a:r>
                        <a:rPr lang="en-US" dirty="0"/>
                        <a:t>C/A received power</a:t>
                      </a:r>
                    </a:p>
                  </a:txBody>
                  <a:tcPr/>
                </a:tc>
                <a:tc>
                  <a:txBody>
                    <a:bodyPr/>
                    <a:lstStyle/>
                    <a:p>
                      <a:r>
                        <a:rPr lang="en-US" dirty="0"/>
                        <a:t>-162.5dB</a:t>
                      </a:r>
                      <a:endParaRPr lang="en-US" baseline="30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-154.5dB</a:t>
                      </a:r>
                      <a:endParaRPr lang="en-US" baseline="30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-154.5dB</a:t>
                      </a:r>
                      <a:endParaRPr lang="en-US" baseline="30000" dirty="0"/>
                    </a:p>
                  </a:txBody>
                  <a:tcPr/>
                </a:tc>
                <a:extLst>
                  <a:ext uri="{0D108BD9-81ED-4DB2-BD59-A6C34878D82A}">
                    <a16:rowId xmlns:a16="http://schemas.microsoft.com/office/drawing/2014/main" val="963032461"/>
                  </a:ext>
                </a:extLst>
              </a:tr>
            </a:tbl>
          </a:graphicData>
        </a:graphic>
      </p:graphicFrame>
    </p:spTree>
    <p:extLst>
      <p:ext uri="{BB962C8B-B14F-4D97-AF65-F5344CB8AC3E}">
        <p14:creationId xmlns:p14="http://schemas.microsoft.com/office/powerpoint/2010/main" val="239436398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106327"/>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More careful estimates*</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6553200" y="6404292"/>
            <a:ext cx="2133600" cy="269241"/>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pPr lvl="0"/>
              <a:t>88</a:t>
            </a:fld>
            <a:endParaRPr lang="en-US" dirty="0"/>
          </a:p>
        </p:txBody>
      </p:sp>
      <p:sp>
        <p:nvSpPr>
          <p:cNvPr id="2" name="TextBox 1">
            <a:extLst>
              <a:ext uri="{FF2B5EF4-FFF2-40B4-BE49-F238E27FC236}">
                <a16:creationId xmlns:a16="http://schemas.microsoft.com/office/drawing/2014/main" id="{C68884D3-1A23-404C-9EAC-9D27AD0F9E30}"/>
              </a:ext>
            </a:extLst>
          </p:cNvPr>
          <p:cNvSpPr txBox="1"/>
          <p:nvPr/>
        </p:nvSpPr>
        <p:spPr>
          <a:xfrm>
            <a:off x="185530" y="6304201"/>
            <a:ext cx="3200400" cy="369332"/>
          </a:xfrm>
          <a:prstGeom prst="rect">
            <a:avLst/>
          </a:prstGeom>
          <a:noFill/>
        </p:spPr>
        <p:txBody>
          <a:bodyPr wrap="square" rtlCol="0">
            <a:spAutoFit/>
          </a:bodyPr>
          <a:lstStyle/>
          <a:p>
            <a:r>
              <a:rPr lang="en-US" dirty="0"/>
              <a:t>*</a:t>
            </a:r>
            <a:r>
              <a:rPr lang="en-US" dirty="0" err="1"/>
              <a:t>Misra</a:t>
            </a:r>
            <a:r>
              <a:rPr lang="en-US" dirty="0"/>
              <a:t> and </a:t>
            </a:r>
            <a:r>
              <a:rPr lang="en-US" dirty="0" err="1"/>
              <a:t>Enge</a:t>
            </a:r>
            <a:r>
              <a:rPr lang="en-US" dirty="0"/>
              <a:t>, GPS</a:t>
            </a:r>
          </a:p>
        </p:txBody>
      </p:sp>
      <p:graphicFrame>
        <p:nvGraphicFramePr>
          <p:cNvPr id="5" name="Table 5">
            <a:extLst>
              <a:ext uri="{FF2B5EF4-FFF2-40B4-BE49-F238E27FC236}">
                <a16:creationId xmlns:a16="http://schemas.microsoft.com/office/drawing/2014/main" id="{55B5F31B-BBA8-2041-8231-15AC3C99D4D6}"/>
              </a:ext>
            </a:extLst>
          </p:cNvPr>
          <p:cNvGraphicFramePr>
            <a:graphicFrameLocks noGrp="1"/>
          </p:cNvGraphicFramePr>
          <p:nvPr/>
        </p:nvGraphicFramePr>
        <p:xfrm>
          <a:off x="6860086" y="1055789"/>
          <a:ext cx="5092100" cy="1483360"/>
        </p:xfrm>
        <a:graphic>
          <a:graphicData uri="http://schemas.openxmlformats.org/drawingml/2006/table">
            <a:tbl>
              <a:tblPr firstRow="1" bandRow="1">
                <a:tableStyleId>{5C22544A-7EE6-4342-B048-85BDC9FD1C3A}</a:tableStyleId>
              </a:tblPr>
              <a:tblGrid>
                <a:gridCol w="1375579">
                  <a:extLst>
                    <a:ext uri="{9D8B030D-6E8A-4147-A177-3AD203B41FA5}">
                      <a16:colId xmlns:a16="http://schemas.microsoft.com/office/drawing/2014/main" val="2662848483"/>
                    </a:ext>
                  </a:extLst>
                </a:gridCol>
                <a:gridCol w="1375579">
                  <a:extLst>
                    <a:ext uri="{9D8B030D-6E8A-4147-A177-3AD203B41FA5}">
                      <a16:colId xmlns:a16="http://schemas.microsoft.com/office/drawing/2014/main" val="282670941"/>
                    </a:ext>
                  </a:extLst>
                </a:gridCol>
                <a:gridCol w="919890">
                  <a:extLst>
                    <a:ext uri="{9D8B030D-6E8A-4147-A177-3AD203B41FA5}">
                      <a16:colId xmlns:a16="http://schemas.microsoft.com/office/drawing/2014/main" val="2577105980"/>
                    </a:ext>
                  </a:extLst>
                </a:gridCol>
                <a:gridCol w="1421052">
                  <a:extLst>
                    <a:ext uri="{9D8B030D-6E8A-4147-A177-3AD203B41FA5}">
                      <a16:colId xmlns:a16="http://schemas.microsoft.com/office/drawing/2014/main" val="572072408"/>
                    </a:ext>
                  </a:extLst>
                </a:gridCol>
              </a:tblGrid>
              <a:tr h="370840">
                <a:tc>
                  <a:txBody>
                    <a:bodyPr/>
                    <a:lstStyle/>
                    <a:p>
                      <a:r>
                        <a:rPr lang="en-US" dirty="0"/>
                        <a:t>Elevation</a:t>
                      </a:r>
                    </a:p>
                  </a:txBody>
                  <a:tcPr/>
                </a:tc>
                <a:tc>
                  <a:txBody>
                    <a:bodyPr/>
                    <a:lstStyle/>
                    <a:p>
                      <a:r>
                        <a:rPr lang="en-US" baseline="0" dirty="0"/>
                        <a:t>Ant cable</a:t>
                      </a:r>
                    </a:p>
                  </a:txBody>
                  <a:tcPr/>
                </a:tc>
                <a:tc>
                  <a:txBody>
                    <a:bodyPr/>
                    <a:lstStyle/>
                    <a:p>
                      <a:r>
                        <a:rPr lang="en-US" dirty="0"/>
                        <a:t>LNA</a:t>
                      </a:r>
                      <a:endParaRPr lang="en-US" baseline="30000" dirty="0"/>
                    </a:p>
                  </a:txBody>
                  <a:tcPr/>
                </a:tc>
                <a:tc>
                  <a:txBody>
                    <a:bodyPr/>
                    <a:lstStyle/>
                    <a:p>
                      <a:r>
                        <a:rPr lang="en-US" dirty="0"/>
                        <a:t>cable</a:t>
                      </a:r>
                      <a:endParaRPr lang="en-US" baseline="30000" dirty="0"/>
                    </a:p>
                  </a:txBody>
                  <a:tcPr/>
                </a:tc>
                <a:extLst>
                  <a:ext uri="{0D108BD9-81ED-4DB2-BD59-A6C34878D82A}">
                    <a16:rowId xmlns:a16="http://schemas.microsoft.com/office/drawing/2014/main" val="155402349"/>
                  </a:ext>
                </a:extLst>
              </a:tr>
              <a:tr h="370840">
                <a:tc>
                  <a:txBody>
                    <a:bodyPr/>
                    <a:lstStyle/>
                    <a:p>
                      <a:r>
                        <a:rPr lang="en-US" dirty="0"/>
                        <a:t>Gain</a:t>
                      </a:r>
                    </a:p>
                  </a:txBody>
                  <a:tcPr/>
                </a:tc>
                <a:tc>
                  <a:txBody>
                    <a:bodyPr/>
                    <a:lstStyle/>
                    <a:p>
                      <a:r>
                        <a:rPr lang="en-US" dirty="0"/>
                        <a:t>-1dB</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20dB</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-10dB</a:t>
                      </a:r>
                    </a:p>
                  </a:txBody>
                  <a:tcPr/>
                </a:tc>
                <a:extLst>
                  <a:ext uri="{0D108BD9-81ED-4DB2-BD59-A6C34878D82A}">
                    <a16:rowId xmlns:a16="http://schemas.microsoft.com/office/drawing/2014/main" val="155378683"/>
                  </a:ext>
                </a:extLst>
              </a:tr>
              <a:tr h="370840">
                <a:tc>
                  <a:txBody>
                    <a:bodyPr/>
                    <a:lstStyle/>
                    <a:p>
                      <a:r>
                        <a:rPr lang="en-US" dirty="0"/>
                        <a:t>F</a:t>
                      </a:r>
                    </a:p>
                  </a:txBody>
                  <a:tcPr/>
                </a:tc>
                <a:tc>
                  <a:txBody>
                    <a:bodyPr/>
                    <a:lstStyle/>
                    <a:p>
                      <a:r>
                        <a:rPr lang="en-US" dirty="0"/>
                        <a:t>1dB</a:t>
                      </a:r>
                    </a:p>
                  </a:txBody>
                  <a:tcPr/>
                </a:tc>
                <a:tc>
                  <a:txBody>
                    <a:bodyPr/>
                    <a:lstStyle/>
                    <a:p>
                      <a:r>
                        <a:rPr lang="en-US" dirty="0"/>
                        <a:t>2-3dB</a:t>
                      </a:r>
                    </a:p>
                  </a:txBody>
                  <a:tcPr/>
                </a:tc>
                <a:tc>
                  <a:txBody>
                    <a:bodyPr/>
                    <a:lstStyle/>
                    <a:p>
                      <a:r>
                        <a:rPr lang="en-US" dirty="0"/>
                        <a:t>10dB</a:t>
                      </a:r>
                    </a:p>
                  </a:txBody>
                  <a:tcPr/>
                </a:tc>
                <a:extLst>
                  <a:ext uri="{0D108BD9-81ED-4DB2-BD59-A6C34878D82A}">
                    <a16:rowId xmlns:a16="http://schemas.microsoft.com/office/drawing/2014/main" val="3369000109"/>
                  </a:ext>
                </a:extLst>
              </a:tr>
              <a:tr h="370840">
                <a:tc>
                  <a:txBody>
                    <a:bodyPr/>
                    <a:lstStyle/>
                    <a:p>
                      <a:r>
                        <a:rPr lang="en-US" dirty="0"/>
                        <a:t>T</a:t>
                      </a:r>
                    </a:p>
                  </a:txBody>
                  <a:tcPr/>
                </a:tc>
                <a:tc>
                  <a:txBody>
                    <a:bodyPr/>
                    <a:lstStyle/>
                    <a:p>
                      <a:r>
                        <a:rPr lang="en-US" dirty="0"/>
                        <a:t>75.4</a:t>
                      </a:r>
                    </a:p>
                  </a:txBody>
                  <a:tcPr/>
                </a:tc>
                <a:tc>
                  <a:txBody>
                    <a:bodyPr/>
                    <a:lstStyle/>
                    <a:p>
                      <a:r>
                        <a:rPr lang="en-US" dirty="0"/>
                        <a:t>290</a:t>
                      </a:r>
                      <a:endParaRPr lang="en-US" u="none" dirty="0"/>
                    </a:p>
                  </a:txBody>
                  <a:tcPr/>
                </a:tc>
                <a:tc>
                  <a:txBody>
                    <a:bodyPr/>
                    <a:lstStyle/>
                    <a:p>
                      <a:r>
                        <a:rPr lang="en-US" dirty="0"/>
                        <a:t>2610</a:t>
                      </a:r>
                    </a:p>
                  </a:txBody>
                  <a:tcPr/>
                </a:tc>
                <a:extLst>
                  <a:ext uri="{0D108BD9-81ED-4DB2-BD59-A6C34878D82A}">
                    <a16:rowId xmlns:a16="http://schemas.microsoft.com/office/drawing/2014/main" val="3450691831"/>
                  </a:ext>
                </a:extLst>
              </a:tr>
            </a:tbl>
          </a:graphicData>
        </a:graphic>
      </p:graphicFrame>
      <p:sp>
        <p:nvSpPr>
          <p:cNvPr id="4" name="TextBox 3">
            <a:extLst>
              <a:ext uri="{FF2B5EF4-FFF2-40B4-BE49-F238E27FC236}">
                <a16:creationId xmlns:a16="http://schemas.microsoft.com/office/drawing/2014/main" id="{9D0A6E73-780D-154E-A0D0-79D635BA69A2}"/>
              </a:ext>
            </a:extLst>
          </p:cNvPr>
          <p:cNvSpPr txBox="1"/>
          <p:nvPr/>
        </p:nvSpPr>
        <p:spPr>
          <a:xfrm>
            <a:off x="9551488" y="578214"/>
            <a:ext cx="2407358" cy="369332"/>
          </a:xfrm>
          <a:prstGeom prst="rect">
            <a:avLst/>
          </a:prstGeom>
          <a:noFill/>
        </p:spPr>
        <p:txBody>
          <a:bodyPr wrap="square" rtlCol="0">
            <a:spAutoFit/>
          </a:bodyPr>
          <a:lstStyle/>
          <a:p>
            <a:r>
              <a:rPr lang="en-US" dirty="0"/>
              <a:t>Noise loss</a:t>
            </a:r>
          </a:p>
        </p:txBody>
      </p:sp>
      <p:graphicFrame>
        <p:nvGraphicFramePr>
          <p:cNvPr id="8" name="Table 5">
            <a:extLst>
              <a:ext uri="{FF2B5EF4-FFF2-40B4-BE49-F238E27FC236}">
                <a16:creationId xmlns:a16="http://schemas.microsoft.com/office/drawing/2014/main" id="{10AD2A41-8F55-0747-ABEF-0FB05E639A5E}"/>
              </a:ext>
            </a:extLst>
          </p:cNvPr>
          <p:cNvGraphicFramePr>
            <a:graphicFrameLocks noGrp="1"/>
          </p:cNvGraphicFramePr>
          <p:nvPr/>
        </p:nvGraphicFramePr>
        <p:xfrm>
          <a:off x="6729160" y="3071937"/>
          <a:ext cx="5248806" cy="3332355"/>
        </p:xfrm>
        <a:graphic>
          <a:graphicData uri="http://schemas.openxmlformats.org/drawingml/2006/table">
            <a:tbl>
              <a:tblPr firstRow="1" bandRow="1">
                <a:tableStyleId>{5C22544A-7EE6-4342-B048-85BDC9FD1C3A}</a:tableStyleId>
              </a:tblPr>
              <a:tblGrid>
                <a:gridCol w="1749602">
                  <a:extLst>
                    <a:ext uri="{9D8B030D-6E8A-4147-A177-3AD203B41FA5}">
                      <a16:colId xmlns:a16="http://schemas.microsoft.com/office/drawing/2014/main" val="2662848483"/>
                    </a:ext>
                  </a:extLst>
                </a:gridCol>
                <a:gridCol w="1749602">
                  <a:extLst>
                    <a:ext uri="{9D8B030D-6E8A-4147-A177-3AD203B41FA5}">
                      <a16:colId xmlns:a16="http://schemas.microsoft.com/office/drawing/2014/main" val="282670941"/>
                    </a:ext>
                  </a:extLst>
                </a:gridCol>
                <a:gridCol w="1749602">
                  <a:extLst>
                    <a:ext uri="{9D8B030D-6E8A-4147-A177-3AD203B41FA5}">
                      <a16:colId xmlns:a16="http://schemas.microsoft.com/office/drawing/2014/main" val="572072408"/>
                    </a:ext>
                  </a:extLst>
                </a:gridCol>
              </a:tblGrid>
              <a:tr h="401195">
                <a:tc>
                  <a:txBody>
                    <a:bodyPr/>
                    <a:lstStyle/>
                    <a:p>
                      <a:r>
                        <a:rPr lang="en-US" dirty="0"/>
                        <a:t>Elevation</a:t>
                      </a:r>
                    </a:p>
                  </a:txBody>
                  <a:tcPr/>
                </a:tc>
                <a:tc>
                  <a:txBody>
                    <a:bodyPr/>
                    <a:lstStyle/>
                    <a:p>
                      <a:r>
                        <a:rPr lang="en-US" dirty="0"/>
                        <a:t>5</a:t>
                      </a:r>
                      <a:r>
                        <a:rPr lang="en-US" baseline="30000" dirty="0"/>
                        <a:t>o</a:t>
                      </a:r>
                    </a:p>
                  </a:txBody>
                  <a:tcPr/>
                </a:tc>
                <a:tc>
                  <a:txBody>
                    <a:bodyPr/>
                    <a:lstStyle/>
                    <a:p>
                      <a:r>
                        <a:rPr lang="en-US" dirty="0"/>
                        <a:t>90</a:t>
                      </a:r>
                      <a:r>
                        <a:rPr lang="en-US" baseline="30000" dirty="0"/>
                        <a:t>o</a:t>
                      </a:r>
                    </a:p>
                  </a:txBody>
                  <a:tcPr/>
                </a:tc>
                <a:extLst>
                  <a:ext uri="{0D108BD9-81ED-4DB2-BD59-A6C34878D82A}">
                    <a16:rowId xmlns:a16="http://schemas.microsoft.com/office/drawing/2014/main" val="155402349"/>
                  </a:ext>
                </a:extLst>
              </a:tr>
              <a:tr h="370840">
                <a:tc>
                  <a:txBody>
                    <a:bodyPr/>
                    <a:lstStyle/>
                    <a:p>
                      <a:r>
                        <a:rPr lang="en-US" dirty="0"/>
                        <a:t>Received C/A power (C)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-162.5dB</a:t>
                      </a:r>
                      <a:endParaRPr lang="en-US" baseline="30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-154.5dB</a:t>
                      </a:r>
                    </a:p>
                  </a:txBody>
                  <a:tcPr/>
                </a:tc>
                <a:extLst>
                  <a:ext uri="{0D108BD9-81ED-4DB2-BD59-A6C34878D82A}">
                    <a16:rowId xmlns:a16="http://schemas.microsoft.com/office/drawing/2014/main" val="155378683"/>
                  </a:ext>
                </a:extLst>
              </a:tr>
              <a:tr h="370840">
                <a:tc>
                  <a:txBody>
                    <a:bodyPr/>
                    <a:lstStyle/>
                    <a:p>
                      <a:r>
                        <a:rPr lang="en-US" dirty="0"/>
                        <a:t>N</a:t>
                      </a:r>
                      <a:r>
                        <a:rPr lang="en-US" baseline="-25000" dirty="0"/>
                        <a:t>0</a:t>
                      </a:r>
                    </a:p>
                    <a:p>
                      <a:r>
                        <a:rPr lang="en-US" baseline="0" dirty="0"/>
                        <a:t> for 3dB LNA</a:t>
                      </a:r>
                    </a:p>
                  </a:txBody>
                  <a:tcPr/>
                </a:tc>
                <a:tc>
                  <a:txBody>
                    <a:bodyPr/>
                    <a:lstStyle/>
                    <a:p>
                      <a:r>
                        <a:rPr lang="en-US" dirty="0"/>
                        <a:t>-201 W/Hz</a:t>
                      </a:r>
                      <a:endParaRPr lang="en-US" baseline="30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-201W/Hz</a:t>
                      </a:r>
                      <a:endParaRPr lang="en-US" baseline="30000" dirty="0"/>
                    </a:p>
                    <a:p>
                      <a:endParaRPr lang="en-US" dirty="0"/>
                    </a:p>
                  </a:txBody>
                  <a:tcPr/>
                </a:tc>
                <a:extLst>
                  <a:ext uri="{0D108BD9-81ED-4DB2-BD59-A6C34878D82A}">
                    <a16:rowId xmlns:a16="http://schemas.microsoft.com/office/drawing/2014/main" val="3369000109"/>
                  </a:ext>
                </a:extLst>
              </a:tr>
              <a:tr h="370840">
                <a:tc>
                  <a:txBody>
                    <a:bodyPr/>
                    <a:lstStyle/>
                    <a:p>
                      <a:r>
                        <a:rPr lang="en-US" dirty="0"/>
                        <a:t>C/N</a:t>
                      </a:r>
                      <a:r>
                        <a:rPr lang="en-US" baseline="-25000" dirty="0"/>
                        <a:t>0</a:t>
                      </a:r>
                    </a:p>
                  </a:txBody>
                  <a:tcPr/>
                </a:tc>
                <a:tc>
                  <a:txBody>
                    <a:bodyPr/>
                    <a:lstStyle/>
                    <a:p>
                      <a:r>
                        <a:rPr lang="en-US" dirty="0"/>
                        <a:t>34.5 </a:t>
                      </a:r>
                      <a:r>
                        <a:rPr lang="en-US" dirty="0" err="1"/>
                        <a:t>db</a:t>
                      </a:r>
                      <a:r>
                        <a:rPr lang="en-US" dirty="0"/>
                        <a:t>-Hz</a:t>
                      </a:r>
                    </a:p>
                  </a:txBody>
                  <a:tcPr/>
                </a:tc>
                <a:tc>
                  <a:txBody>
                    <a:bodyPr/>
                    <a:lstStyle/>
                    <a:p>
                      <a:r>
                        <a:rPr lang="en-US" dirty="0"/>
                        <a:t>46.5 </a:t>
                      </a:r>
                      <a:r>
                        <a:rPr lang="en-US" dirty="0" err="1"/>
                        <a:t>dBHz</a:t>
                      </a:r>
                      <a:endParaRPr lang="en-US" dirty="0"/>
                    </a:p>
                  </a:txBody>
                  <a:tcPr/>
                </a:tc>
                <a:extLst>
                  <a:ext uri="{0D108BD9-81ED-4DB2-BD59-A6C34878D82A}">
                    <a16:rowId xmlns:a16="http://schemas.microsoft.com/office/drawing/2014/main" val="3450691831"/>
                  </a:ext>
                </a:extLst>
              </a:tr>
              <a:tr h="370840">
                <a:tc>
                  <a:txBody>
                    <a:bodyPr/>
                    <a:lstStyle/>
                    <a:p>
                      <a:r>
                        <a:rPr lang="en-US" dirty="0"/>
                        <a:t>C/</a:t>
                      </a:r>
                      <a:r>
                        <a:rPr lang="en-US" dirty="0" err="1"/>
                        <a:t>P</a:t>
                      </a:r>
                      <a:r>
                        <a:rPr lang="en-US" baseline="-25000" dirty="0" err="1"/>
                        <a:t>n</a:t>
                      </a:r>
                      <a:r>
                        <a:rPr lang="en-US" baseline="-25000" dirty="0"/>
                        <a:t> </a:t>
                      </a:r>
                    </a:p>
                    <a:p>
                      <a:r>
                        <a:rPr lang="en-US" baseline="0" dirty="0"/>
                        <a:t>20MHz</a:t>
                      </a:r>
                    </a:p>
                  </a:txBody>
                  <a:tcPr/>
                </a:tc>
                <a:tc>
                  <a:txBody>
                    <a:bodyPr/>
                    <a:lstStyle/>
                    <a:p>
                      <a:r>
                        <a:rPr lang="en-US" dirty="0"/>
                        <a:t>-34.6 dB</a:t>
                      </a:r>
                    </a:p>
                  </a:txBody>
                  <a:tcPr/>
                </a:tc>
                <a:tc>
                  <a:txBody>
                    <a:bodyPr/>
                    <a:lstStyle/>
                    <a:p>
                      <a:r>
                        <a:rPr lang="en-US" dirty="0"/>
                        <a:t>-26.5dB</a:t>
                      </a:r>
                    </a:p>
                  </a:txBody>
                  <a:tcPr/>
                </a:tc>
                <a:extLst>
                  <a:ext uri="{0D108BD9-81ED-4DB2-BD59-A6C34878D82A}">
                    <a16:rowId xmlns:a16="http://schemas.microsoft.com/office/drawing/2014/main" val="1424917482"/>
                  </a:ext>
                </a:extLst>
              </a:tr>
              <a:tr h="370840">
                <a:tc>
                  <a:txBody>
                    <a:bodyPr/>
                    <a:lstStyle/>
                    <a:p>
                      <a:r>
                        <a:rPr lang="en-US" dirty="0"/>
                        <a:t>C/</a:t>
                      </a:r>
                      <a:r>
                        <a:rPr lang="en-US" dirty="0" err="1"/>
                        <a:t>P</a:t>
                      </a:r>
                      <a:r>
                        <a:rPr lang="en-US" baseline="-25000" dirty="0" err="1"/>
                        <a:t>n</a:t>
                      </a:r>
                      <a:r>
                        <a:rPr lang="en-US" baseline="-25000" dirty="0"/>
                        <a:t> </a:t>
                      </a:r>
                    </a:p>
                    <a:p>
                      <a:r>
                        <a:rPr lang="en-US" baseline="0" dirty="0"/>
                        <a:t>2MHz</a:t>
                      </a:r>
                    </a:p>
                  </a:txBody>
                  <a:tcPr/>
                </a:tc>
                <a:tc>
                  <a:txBody>
                    <a:bodyPr/>
                    <a:lstStyle/>
                    <a:p>
                      <a:r>
                        <a:rPr lang="en-US" dirty="0"/>
                        <a:t>-24.5dB</a:t>
                      </a:r>
                      <a:endParaRPr lang="en-US" baseline="30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-16.5dB</a:t>
                      </a:r>
                      <a:endParaRPr lang="en-US" baseline="30000" dirty="0"/>
                    </a:p>
                  </a:txBody>
                  <a:tcPr/>
                </a:tc>
                <a:extLst>
                  <a:ext uri="{0D108BD9-81ED-4DB2-BD59-A6C34878D82A}">
                    <a16:rowId xmlns:a16="http://schemas.microsoft.com/office/drawing/2014/main" val="963032461"/>
                  </a:ext>
                </a:extLst>
              </a:tr>
            </a:tbl>
          </a:graphicData>
        </a:graphic>
      </p:graphicFrame>
      <p:sp>
        <p:nvSpPr>
          <p:cNvPr id="9" name="TextBox 8">
            <a:extLst>
              <a:ext uri="{FF2B5EF4-FFF2-40B4-BE49-F238E27FC236}">
                <a16:creationId xmlns:a16="http://schemas.microsoft.com/office/drawing/2014/main" id="{E77D2F38-BCD7-9B4A-9D7A-02B3BB7D2F55}"/>
              </a:ext>
            </a:extLst>
          </p:cNvPr>
          <p:cNvSpPr txBox="1"/>
          <p:nvPr/>
        </p:nvSpPr>
        <p:spPr>
          <a:xfrm>
            <a:off x="9551488" y="2620877"/>
            <a:ext cx="1636612" cy="369332"/>
          </a:xfrm>
          <a:prstGeom prst="rect">
            <a:avLst/>
          </a:prstGeom>
          <a:noFill/>
        </p:spPr>
        <p:txBody>
          <a:bodyPr wrap="square" rtlCol="0">
            <a:spAutoFit/>
          </a:bodyPr>
          <a:lstStyle/>
          <a:p>
            <a:r>
              <a:rPr lang="en-US" dirty="0"/>
              <a:t>SNR</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2E1B7AF-958A-2348-B6FC-18A2E0B49AEF}"/>
                  </a:ext>
                </a:extLst>
              </p:cNvPr>
              <p:cNvSpPr txBox="1"/>
              <p:nvPr/>
            </p:nvSpPr>
            <p:spPr>
              <a:xfrm>
                <a:off x="259889" y="1589317"/>
                <a:ext cx="6252081" cy="3701668"/>
              </a:xfrm>
              <a:prstGeom prst="rect">
                <a:avLst/>
              </a:prstGeom>
              <a:noFill/>
            </p:spPr>
            <p:txBody>
              <a:bodyPr wrap="square" rtlCol="0">
                <a:noAutofit/>
              </a:bodyPr>
              <a:lstStyle/>
              <a:p>
                <a:pPr marL="285750" indent="-285750">
                  <a:buFont typeface="Arial" panose="020B0604020202020204" pitchFamily="34" charset="0"/>
                  <a:buChar char="•"/>
                </a:pPr>
                <a14:m>
                  <m:oMath xmlns:m="http://schemas.openxmlformats.org/officeDocument/2006/math">
                    <m:r>
                      <a:rPr lang="en-US" sz="2000" b="0" i="1" smtClean="0">
                        <a:latin typeface="Cambria Math" panose="02040503050406030204" pitchFamily="18" charset="0"/>
                      </a:rPr>
                      <m:t>−162.5</m:t>
                    </m:r>
                    <m:r>
                      <a:rPr lang="en-US" sz="2000" b="0" i="1" smtClean="0">
                        <a:latin typeface="Cambria Math" panose="02040503050406030204" pitchFamily="18" charset="0"/>
                      </a:rPr>
                      <m:t>𝑑𝐵</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𝐶</m:t>
                    </m:r>
                    <m:r>
                      <a:rPr lang="en-US" sz="2000" b="0" i="1" smtClean="0">
                        <a:latin typeface="Cambria Math" panose="02040503050406030204" pitchFamily="18" charset="0"/>
                        <a:ea typeface="Cambria Math" panose="02040503050406030204" pitchFamily="18" charset="0"/>
                      </a:rPr>
                      <m:t>≤−154.5</m:t>
                    </m:r>
                    <m:r>
                      <a:rPr lang="en-US" sz="2000" b="0" i="1" smtClean="0">
                        <a:latin typeface="Cambria Math" panose="02040503050406030204" pitchFamily="18" charset="0"/>
                        <a:ea typeface="Cambria Math" panose="02040503050406030204" pitchFamily="18" charset="0"/>
                      </a:rPr>
                      <m:t>𝑑𝐵</m:t>
                    </m:r>
                  </m:oMath>
                </a14:m>
                <a:endParaRPr lang="en-US" sz="2000" dirty="0"/>
              </a:p>
              <a:p>
                <a:pPr marL="285750" indent="-28575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𝑁</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𝑁</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10</m:t>
                        </m:r>
                      </m:e>
                      <m:sup>
                        <m:r>
                          <a:rPr lang="en-US" sz="2000" b="0" i="1" smtClean="0">
                            <a:latin typeface="Cambria Math" panose="02040503050406030204" pitchFamily="18" charset="0"/>
                            <a:ea typeface="Cambria Math" panose="02040503050406030204" pitchFamily="18" charset="0"/>
                          </a:rPr>
                          <m:t>7</m:t>
                        </m:r>
                      </m:sup>
                    </m:sSup>
                    <m:r>
                      <a:rPr lang="en-US" sz="2000" b="0" i="1" smtClean="0">
                        <a:latin typeface="Cambria Math" panose="02040503050406030204" pitchFamily="18" charset="0"/>
                        <a:ea typeface="Cambria Math" panose="02040503050406030204" pitchFamily="18" charset="0"/>
                      </a:rPr>
                      <m:t>)</m:t>
                    </m:r>
                  </m:oMath>
                </a14:m>
                <a:endParaRPr lang="en-US" sz="2000" dirty="0"/>
              </a:p>
              <a:p>
                <a:pPr marL="285750" indent="-285750">
                  <a:buFont typeface="Arial" panose="020B0604020202020204" pitchFamily="34" charset="0"/>
                  <a:buChar char="•"/>
                </a:pP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𝜎</m:t>
                        </m:r>
                      </m:e>
                      <m:sub>
                        <m:r>
                          <m:rPr>
                            <m:sty m:val="p"/>
                          </m:rPr>
                          <a:rPr lang="el-GR" sz="2000" i="1" smtClean="0">
                            <a:latin typeface="Cambria Math" panose="02040503050406030204" pitchFamily="18" charset="0"/>
                            <a:ea typeface="Cambria Math" panose="02040503050406030204" pitchFamily="18" charset="0"/>
                          </a:rPr>
                          <m:t>Δ</m:t>
                        </m:r>
                        <m:r>
                          <a:rPr lang="el-GR" sz="2000" i="1" smtClean="0">
                            <a:latin typeface="Cambria Math" panose="02040503050406030204" pitchFamily="18" charset="0"/>
                            <a:ea typeface="Cambria Math" panose="02040503050406030204" pitchFamily="18" charset="0"/>
                          </a:rPr>
                          <m:t>𝜏</m:t>
                        </m:r>
                      </m:sub>
                    </m:sSub>
                    <m:r>
                      <a:rPr lang="en-US" sz="2000" b="0" i="1" smtClean="0">
                        <a:latin typeface="Cambria Math" panose="02040503050406030204" pitchFamily="18" charset="0"/>
                      </a:rPr>
                      <m:t>=</m:t>
                    </m:r>
                    <m:r>
                      <a:rPr lang="en-US" sz="2000" b="0" i="1" smtClean="0">
                        <a:latin typeface="Cambria Math" panose="02040503050406030204" pitchFamily="18" charset="0"/>
                      </a:rPr>
                      <m:t>𝑐</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𝑇</m:t>
                        </m:r>
                      </m:e>
                      <m:sub>
                        <m:r>
                          <a:rPr lang="en-US" sz="2000" b="0" i="1" smtClean="0">
                            <a:latin typeface="Cambria Math" panose="02040503050406030204" pitchFamily="18" charset="0"/>
                          </a:rPr>
                          <m:t>𝑐</m:t>
                        </m:r>
                      </m:sub>
                    </m:sSub>
                    <m:rad>
                      <m:radPr>
                        <m:degHide m:val="on"/>
                        <m:ctrlPr>
                          <a:rPr lang="en-US" sz="2000" b="0" i="1" smtClean="0">
                            <a:latin typeface="Cambria Math" panose="02040503050406030204" pitchFamily="18" charset="0"/>
                          </a:rPr>
                        </m:ctrlPr>
                      </m:radPr>
                      <m:deg/>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𝑑</m:t>
                            </m:r>
                          </m:num>
                          <m:den>
                            <m:r>
                              <a:rPr lang="en-US" sz="2000" b="0" i="1" smtClean="0">
                                <a:latin typeface="Cambria Math" panose="02040503050406030204" pitchFamily="18" charset="0"/>
                              </a:rPr>
                              <m:t>4</m:t>
                            </m:r>
                            <m:r>
                              <a:rPr lang="en-US" sz="2000" b="0" i="1" smtClean="0">
                                <a:latin typeface="Cambria Math" panose="02040503050406030204" pitchFamily="18" charset="0"/>
                              </a:rPr>
                              <m:t>𝑇</m:t>
                            </m:r>
                            <m:f>
                              <m:fPr>
                                <m:type m:val="skw"/>
                                <m:ctrlPr>
                                  <a:rPr lang="en-US" sz="2000" b="0" i="1" smtClean="0">
                                    <a:latin typeface="Cambria Math" panose="02040503050406030204" pitchFamily="18" charset="0"/>
                                  </a:rPr>
                                </m:ctrlPr>
                              </m:fPr>
                              <m:num>
                                <m:r>
                                  <a:rPr lang="en-US" sz="2000" b="0" i="1" smtClean="0">
                                    <a:latin typeface="Cambria Math" panose="02040503050406030204" pitchFamily="18" charset="0"/>
                                  </a:rPr>
                                  <m:t>𝐶</m:t>
                                </m:r>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𝑁</m:t>
                                    </m:r>
                                  </m:e>
                                  <m:sub>
                                    <m:r>
                                      <a:rPr lang="en-US" sz="2000" b="0" i="1" smtClean="0">
                                        <a:latin typeface="Cambria Math" panose="02040503050406030204" pitchFamily="18" charset="0"/>
                                      </a:rPr>
                                      <m:t>0</m:t>
                                    </m:r>
                                  </m:sub>
                                </m:sSub>
                              </m:den>
                            </m:f>
                          </m:den>
                        </m:f>
                      </m:e>
                    </m:rad>
                  </m:oMath>
                </a14:m>
                <a:r>
                  <a:rPr lang="en-US" sz="2000" dirty="0"/>
                  <a:t> where </a:t>
                </a:r>
                <a14:m>
                  <m:oMath xmlns:m="http://schemas.openxmlformats.org/officeDocument/2006/math">
                    <m:r>
                      <a:rPr lang="en-US" sz="2000" i="1" smtClean="0">
                        <a:latin typeface="Cambria Math" panose="02040503050406030204" pitchFamily="18" charset="0"/>
                        <a:ea typeface="Cambria Math" panose="02040503050406030204" pitchFamily="18" charset="0"/>
                      </a:rPr>
                      <m:t>𝜏</m:t>
                    </m:r>
                  </m:oMath>
                </a14:m>
                <a:r>
                  <a:rPr lang="en-US" sz="2000" dirty="0"/>
                  <a:t> is the noise sample interval, </a:t>
                </a:r>
                <a14:m>
                  <m:oMath xmlns:m="http://schemas.openxmlformats.org/officeDocument/2006/math">
                    <m:r>
                      <a:rPr lang="en-US" sz="2000" b="0" i="1" smtClean="0">
                        <a:latin typeface="Cambria Math" panose="02040503050406030204" pitchFamily="18" charset="0"/>
                      </a:rPr>
                      <m:t>𝑑</m:t>
                    </m:r>
                  </m:oMath>
                </a14:m>
                <a:r>
                  <a:rPr lang="en-US" sz="2000" dirty="0"/>
                  <a:t> is the correlator interval, </a:t>
                </a:r>
                <a14:m>
                  <m:oMath xmlns:m="http://schemas.openxmlformats.org/officeDocument/2006/math">
                    <m:r>
                      <a:rPr lang="en-US" sz="2000" b="0" i="1" smtClean="0">
                        <a:latin typeface="Cambria Math" panose="02040503050406030204" pitchFamily="18" charset="0"/>
                      </a:rPr>
                      <m:t>𝑇</m:t>
                    </m:r>
                  </m:oMath>
                </a14:m>
                <a:r>
                  <a:rPr lang="en-US" sz="2000" dirty="0"/>
                  <a:t> is the averaging time, </a:t>
                </a:r>
                <a14:m>
                  <m:oMath xmlns:m="http://schemas.openxmlformats.org/officeDocument/2006/math">
                    <m:r>
                      <a:rPr lang="en-US" sz="2000" b="0" i="1" smtClean="0">
                        <a:latin typeface="Cambria Math" panose="02040503050406030204" pitchFamily="18" charset="0"/>
                      </a:rPr>
                      <m:t>𝑑</m:t>
                    </m:r>
                  </m:oMath>
                </a14:m>
                <a:r>
                  <a:rPr lang="en-US" sz="2000" dirty="0"/>
                  <a:t> is measured in chips and so </a:t>
                </a:r>
                <a14:m>
                  <m:oMath xmlns:m="http://schemas.openxmlformats.org/officeDocument/2006/math">
                    <m:r>
                      <a:rPr lang="en-US" sz="2000" b="0" i="1" smtClean="0">
                        <a:latin typeface="Cambria Math" panose="02040503050406030204" pitchFamily="18" charset="0"/>
                      </a:rPr>
                      <m:t>𝑑</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𝑇</m:t>
                        </m:r>
                      </m:e>
                      <m:sub>
                        <m:r>
                          <a:rPr lang="en-US" sz="2000" b="0" i="1" smtClean="0">
                            <a:latin typeface="Cambria Math" panose="02040503050406030204" pitchFamily="18" charset="0"/>
                          </a:rPr>
                          <m:t>𝑐</m:t>
                        </m:r>
                      </m:sub>
                    </m:sSub>
                    <m:r>
                      <a:rPr lang="en-US" sz="2000" b="0" i="1" smtClean="0">
                        <a:latin typeface="Cambria Math" panose="02040503050406030204" pitchFamily="18" charset="0"/>
                      </a:rPr>
                      <m:t> </m:t>
                    </m:r>
                  </m:oMath>
                </a14:m>
                <a:r>
                  <a:rPr lang="en-US" sz="2000" dirty="0"/>
                  <a:t>is the time sampling</a:t>
                </a:r>
              </a:p>
            </p:txBody>
          </p:sp>
        </mc:Choice>
        <mc:Fallback xmlns="">
          <p:sp>
            <p:nvSpPr>
              <p:cNvPr id="6" name="TextBox 5">
                <a:extLst>
                  <a:ext uri="{FF2B5EF4-FFF2-40B4-BE49-F238E27FC236}">
                    <a16:creationId xmlns:a16="http://schemas.microsoft.com/office/drawing/2014/main" id="{42E1B7AF-958A-2348-B6FC-18A2E0B49AEF}"/>
                  </a:ext>
                </a:extLst>
              </p:cNvPr>
              <p:cNvSpPr txBox="1">
                <a:spLocks noRot="1" noChangeAspect="1" noMove="1" noResize="1" noEditPoints="1" noAdjustHandles="1" noChangeArrowheads="1" noChangeShapeType="1" noTextEdit="1"/>
              </p:cNvSpPr>
              <p:nvPr/>
            </p:nvSpPr>
            <p:spPr>
              <a:xfrm>
                <a:off x="259889" y="1589317"/>
                <a:ext cx="6252081" cy="3701668"/>
              </a:xfrm>
              <a:prstGeom prst="rect">
                <a:avLst/>
              </a:prstGeom>
              <a:blipFill>
                <a:blip r:embed="rId3"/>
                <a:stretch>
                  <a:fillRect l="-811" t="-685" r="-406"/>
                </a:stretch>
              </a:blipFill>
            </p:spPr>
            <p:txBody>
              <a:bodyPr/>
              <a:lstStyle/>
              <a:p>
                <a:r>
                  <a:rPr lang="en-US">
                    <a:noFill/>
                  </a:rPr>
                  <a:t> </a:t>
                </a:r>
              </a:p>
            </p:txBody>
          </p:sp>
        </mc:Fallback>
      </mc:AlternateContent>
    </p:spTree>
    <p:extLst>
      <p:ext uri="{BB962C8B-B14F-4D97-AF65-F5344CB8AC3E}">
        <p14:creationId xmlns:p14="http://schemas.microsoft.com/office/powerpoint/2010/main" val="295446223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247506"/>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Transforms, Convolution and Transfer</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9581321" y="6333495"/>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89</a:t>
            </a:fld>
            <a:endParaRPr lang="en-US" dirty="0">
              <a:solidFill>
                <a:schemeClr val="tx1"/>
              </a:solidFil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DF3DFE5-350B-E14D-A1FB-980B33C13519}"/>
                  </a:ext>
                </a:extLst>
              </p:cNvPr>
              <p:cNvSpPr txBox="1"/>
              <p:nvPr/>
            </p:nvSpPr>
            <p:spPr>
              <a:xfrm>
                <a:off x="687733" y="2245950"/>
                <a:ext cx="10816534" cy="3149009"/>
              </a:xfrm>
              <a:prstGeom prst="rect">
                <a:avLst/>
              </a:prstGeom>
              <a:noFill/>
            </p:spPr>
            <p:txBody>
              <a:bodyPr wrap="square" rtlCol="0">
                <a:noAutofit/>
              </a:bodyPr>
              <a:lstStyle/>
              <a:p>
                <a:pPr marL="285750" indent="-285750">
                  <a:buFont typeface="Arial" panose="020B0604020202020204" pitchFamily="34" charset="0"/>
                  <a:buChar char="•"/>
                </a:pPr>
                <a:r>
                  <a:rPr lang="en-US" sz="2000" dirty="0"/>
                  <a:t>Fourier pair: </a:t>
                </a:r>
                <a14:m>
                  <m:oMath xmlns:m="http://schemas.openxmlformats.org/officeDocument/2006/math">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𝑋</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𝜔</m:t>
                            </m:r>
                          </m:e>
                        </m:d>
                      </m:e>
                    </m:d>
                  </m:oMath>
                </a14:m>
                <a:endParaRPr lang="en-US" sz="2000" b="0" dirty="0">
                  <a:ea typeface="Cambria Math" panose="02040503050406030204" pitchFamily="18" charset="0"/>
                </a:endParaRPr>
              </a:p>
              <a:p>
                <a:pPr marL="285750" indent="-285750">
                  <a:buFont typeface="Arial" panose="020B0604020202020204" pitchFamily="34" charset="0"/>
                  <a:buChar char="•"/>
                </a:pPr>
                <a14:m>
                  <m:oMath xmlns:m="http://schemas.openxmlformats.org/officeDocument/2006/math">
                    <m:r>
                      <a:rPr lang="en-US" sz="2000" i="1" smtClean="0">
                        <a:latin typeface="Cambria Math" panose="02040503050406030204" pitchFamily="18" charset="0"/>
                        <a:ea typeface="Cambria Math" panose="02040503050406030204" pitchFamily="18" charset="0"/>
                      </a:rPr>
                      <m:t>ℱ</m:t>
                    </m:r>
                    <m:d>
                      <m:dPr>
                        <m:begChr m:val="["/>
                        <m:endChr m:val="]"/>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𝑥</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𝑡</m:t>
                            </m:r>
                          </m:e>
                        </m:d>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𝑋</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𝜔</m:t>
                        </m:r>
                      </m:e>
                    </m:d>
                    <m:r>
                      <a:rPr lang="en-US" sz="2000" b="0" i="1" smtClean="0">
                        <a:latin typeface="Cambria Math" panose="02040503050406030204" pitchFamily="18" charset="0"/>
                        <a:ea typeface="Cambria Math" panose="02040503050406030204" pitchFamily="18" charset="0"/>
                      </a:rPr>
                      <m:t>=</m:t>
                    </m:r>
                    <m:nary>
                      <m:naryPr>
                        <m:limLoc m:val="undOvr"/>
                        <m:ctrlPr>
                          <a:rPr lang="en-US" sz="2000" b="0" i="1" smtClean="0">
                            <a:latin typeface="Cambria Math" panose="02040503050406030204" pitchFamily="18" charset="0"/>
                            <a:ea typeface="Cambria Math" panose="02040503050406030204" pitchFamily="18" charset="0"/>
                          </a:rPr>
                        </m:ctrlPr>
                      </m:naryPr>
                      <m:sub>
                        <m:r>
                          <m:rPr>
                            <m:brk m:alnAt="24"/>
                          </m:rPr>
                          <a:rPr lang="en-US" sz="2000" b="0" i="1" smtClean="0">
                            <a:latin typeface="Cambria Math" panose="02040503050406030204" pitchFamily="18" charset="0"/>
                            <a:ea typeface="Cambria Math" panose="02040503050406030204" pitchFamily="18" charset="0"/>
                          </a:rPr>
                          <m:t>𝑡</m:t>
                        </m:r>
                        <m:r>
                          <a:rPr lang="en-US" sz="2000" b="0" i="1" smtClean="0">
                            <a:latin typeface="Cambria Math" panose="02040503050406030204" pitchFamily="18" charset="0"/>
                            <a:ea typeface="Cambria Math" panose="02040503050406030204" pitchFamily="18" charset="0"/>
                          </a:rPr>
                          <m:t>=−∞</m:t>
                        </m:r>
                      </m:sub>
                      <m:sup>
                        <m:r>
                          <a:rPr lang="en-US" sz="2000" b="0" i="1" smtClean="0">
                            <a:latin typeface="Cambria Math" panose="02040503050406030204" pitchFamily="18" charset="0"/>
                            <a:ea typeface="Cambria Math" panose="02040503050406030204" pitchFamily="18" charset="0"/>
                          </a:rPr>
                          <m:t>∞</m:t>
                        </m:r>
                      </m:sup>
                      <m:e>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𝑡</m:t>
                        </m:r>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𝑒</m:t>
                            </m:r>
                          </m:e>
                          <m:sup>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𝑗</m:t>
                            </m:r>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𝑡</m:t>
                            </m:r>
                          </m:sup>
                        </m:sSup>
                        <m:r>
                          <a:rPr lang="en-US" sz="2000" b="0" i="1" smtClean="0">
                            <a:latin typeface="Cambria Math" panose="02040503050406030204" pitchFamily="18" charset="0"/>
                            <a:ea typeface="Cambria Math" panose="02040503050406030204" pitchFamily="18" charset="0"/>
                          </a:rPr>
                          <m:t>𝑑𝑡</m:t>
                        </m:r>
                      </m:e>
                    </m:nary>
                  </m:oMath>
                </a14:m>
                <a:r>
                  <a:rPr lang="en-US" sz="2000" dirty="0"/>
                  <a:t> , </a:t>
                </a:r>
                <a14:m>
                  <m:oMath xmlns:m="http://schemas.openxmlformats.org/officeDocument/2006/math">
                    <m:sSup>
                      <m:sSupPr>
                        <m:ctrlPr>
                          <a:rPr lang="en-US" sz="2000" i="1" smtClean="0">
                            <a:latin typeface="Cambria Math" panose="02040503050406030204" pitchFamily="18" charset="0"/>
                            <a:ea typeface="Cambria Math" panose="02040503050406030204" pitchFamily="18" charset="0"/>
                          </a:rPr>
                        </m:ctrlPr>
                      </m:sSupPr>
                      <m:e>
                        <m:r>
                          <a:rPr lang="en-US" sz="2000" i="1" smtClean="0">
                            <a:latin typeface="Cambria Math" panose="02040503050406030204" pitchFamily="18" charset="0"/>
                            <a:ea typeface="Cambria Math" panose="02040503050406030204" pitchFamily="18" charset="0"/>
                          </a:rPr>
                          <m:t>ℱ</m:t>
                        </m:r>
                      </m:e>
                      <m:sup>
                        <m:r>
                          <a:rPr lang="en-US" sz="2000" b="0" i="1" smtClean="0">
                            <a:latin typeface="Cambria Math" panose="02040503050406030204" pitchFamily="18" charset="0"/>
                          </a:rPr>
                          <m:t>−1</m:t>
                        </m:r>
                      </m:sup>
                    </m:sSup>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𝑋</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𝜔</m:t>
                            </m:r>
                          </m:e>
                        </m:d>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𝑡</m:t>
                        </m:r>
                      </m:e>
                    </m:d>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m:t>
                        </m:r>
                      </m:num>
                      <m:den>
                        <m:r>
                          <a:rPr lang="en-US" sz="2000" b="0" i="1" smtClean="0">
                            <a:latin typeface="Cambria Math" panose="02040503050406030204" pitchFamily="18" charset="0"/>
                            <a:ea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𝜋</m:t>
                        </m:r>
                      </m:den>
                    </m:f>
                    <m:nary>
                      <m:naryPr>
                        <m:limLoc m:val="undOvr"/>
                        <m:ctrlPr>
                          <a:rPr lang="en-US" sz="2000" i="1" smtClean="0">
                            <a:latin typeface="Cambria Math" panose="02040503050406030204" pitchFamily="18" charset="0"/>
                            <a:ea typeface="Cambria Math" panose="02040503050406030204" pitchFamily="18" charset="0"/>
                          </a:rPr>
                        </m:ctrlPr>
                      </m:naryPr>
                      <m:sub>
                        <m:r>
                          <m:rPr>
                            <m:brk/>
                          </m:rPr>
                          <a:rPr lang="en-US" sz="2000" i="1" smtClean="0">
                            <a:latin typeface="Cambria Math" panose="02040503050406030204" pitchFamily="18" charset="0"/>
                            <a:ea typeface="Cambria Math" panose="02040503050406030204" pitchFamily="18" charset="0"/>
                          </a:rPr>
                          <m:t>𝜔</m:t>
                        </m:r>
                        <m:r>
                          <a:rPr lang="en-US" sz="2000" i="1">
                            <a:latin typeface="Cambria Math" panose="02040503050406030204" pitchFamily="18" charset="0"/>
                            <a:ea typeface="Cambria Math" panose="02040503050406030204" pitchFamily="18" charset="0"/>
                          </a:rPr>
                          <m:t>=−∞</m:t>
                        </m:r>
                      </m:sub>
                      <m:sup>
                        <m:r>
                          <a:rPr lang="en-US" sz="2000" i="1">
                            <a:latin typeface="Cambria Math" panose="02040503050406030204" pitchFamily="18" charset="0"/>
                            <a:ea typeface="Cambria Math" panose="02040503050406030204" pitchFamily="18" charset="0"/>
                          </a:rPr>
                          <m:t>∞</m:t>
                        </m:r>
                      </m:sup>
                      <m:e>
                        <m:r>
                          <a:rPr lang="en-US" sz="2000" b="0" i="1" smtClean="0">
                            <a:latin typeface="Cambria Math" panose="02040503050406030204" pitchFamily="18" charset="0"/>
                            <a:ea typeface="Cambria Math" panose="02040503050406030204" pitchFamily="18" charset="0"/>
                          </a:rPr>
                          <m:t>𝑋</m:t>
                        </m:r>
                        <m:r>
                          <a:rPr lang="en-US" sz="2000" i="1">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𝜔</m:t>
                        </m:r>
                        <m:r>
                          <a:rPr lang="en-US" sz="2000"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𝑒</m:t>
                            </m:r>
                          </m:e>
                          <m:sup>
                            <m:r>
                              <a:rPr lang="en-US" sz="2000" i="1">
                                <a:latin typeface="Cambria Math" panose="02040503050406030204" pitchFamily="18" charset="0"/>
                                <a:ea typeface="Cambria Math" panose="02040503050406030204" pitchFamily="18" charset="0"/>
                              </a:rPr>
                              <m:t>𝑗</m:t>
                            </m:r>
                            <m:r>
                              <a:rPr lang="en-US" sz="2000" i="1">
                                <a:latin typeface="Cambria Math" panose="02040503050406030204" pitchFamily="18" charset="0"/>
                                <a:ea typeface="Cambria Math" panose="02040503050406030204" pitchFamily="18" charset="0"/>
                              </a:rPr>
                              <m:t>𝜔</m:t>
                            </m:r>
                            <m:r>
                              <a:rPr lang="en-US" sz="2000" i="1">
                                <a:latin typeface="Cambria Math" panose="02040503050406030204" pitchFamily="18" charset="0"/>
                                <a:ea typeface="Cambria Math" panose="02040503050406030204" pitchFamily="18" charset="0"/>
                              </a:rPr>
                              <m:t>𝑡</m:t>
                            </m:r>
                          </m:sup>
                        </m:sSup>
                        <m:r>
                          <a:rPr lang="en-US" sz="2000" i="1">
                            <a:latin typeface="Cambria Math" panose="02040503050406030204" pitchFamily="18" charset="0"/>
                            <a:ea typeface="Cambria Math" panose="02040503050406030204" pitchFamily="18" charset="0"/>
                          </a:rPr>
                          <m:t>𝑑</m:t>
                        </m:r>
                        <m:r>
                          <a:rPr lang="en-US" sz="2000" i="1" smtClean="0">
                            <a:latin typeface="Cambria Math" panose="02040503050406030204" pitchFamily="18" charset="0"/>
                            <a:ea typeface="Cambria Math" panose="02040503050406030204" pitchFamily="18" charset="0"/>
                          </a:rPr>
                          <m:t>𝜔</m:t>
                        </m:r>
                      </m:e>
                    </m:nary>
                  </m:oMath>
                </a14:m>
                <a:endParaRPr lang="en-US" sz="2000" dirty="0"/>
              </a:p>
              <a:p>
                <a:pPr marL="285750" indent="-285750">
                  <a:buFont typeface="Arial" panose="020B0604020202020204" pitchFamily="34" charset="0"/>
                  <a:buChar char="•"/>
                </a:pPr>
                <a:r>
                  <a:rPr lang="en-US" sz="2000" dirty="0"/>
                  <a:t>Convolution: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nary>
                      <m:naryPr>
                        <m:limLoc m:val="undOvr"/>
                        <m:ctrlPr>
                          <a:rPr lang="en-US" sz="2000" i="1">
                            <a:latin typeface="Cambria Math" panose="02040503050406030204" pitchFamily="18" charset="0"/>
                            <a:ea typeface="Cambria Math" panose="02040503050406030204" pitchFamily="18" charset="0"/>
                          </a:rPr>
                        </m:ctrlPr>
                      </m:naryPr>
                      <m:sub>
                        <m:r>
                          <m:rPr>
                            <m:brk/>
                          </m:rPr>
                          <a:rPr lang="en-US" sz="2000" i="1">
                            <a:latin typeface="Cambria Math" panose="02040503050406030204" pitchFamily="18" charset="0"/>
                            <a:ea typeface="Cambria Math" panose="02040503050406030204" pitchFamily="18" charset="0"/>
                          </a:rPr>
                          <m:t>𝜔</m:t>
                        </m:r>
                        <m:r>
                          <a:rPr lang="en-US" sz="2000" i="1">
                            <a:latin typeface="Cambria Math" panose="02040503050406030204" pitchFamily="18" charset="0"/>
                            <a:ea typeface="Cambria Math" panose="02040503050406030204" pitchFamily="18" charset="0"/>
                          </a:rPr>
                          <m:t>=−∞</m:t>
                        </m:r>
                      </m:sub>
                      <m:sup>
                        <m:r>
                          <a:rPr lang="en-US" sz="2000" i="1">
                            <a:latin typeface="Cambria Math" panose="02040503050406030204" pitchFamily="18" charset="0"/>
                            <a:ea typeface="Cambria Math" panose="02040503050406030204" pitchFamily="18" charset="0"/>
                          </a:rPr>
                          <m:t>∞</m:t>
                        </m:r>
                      </m:sup>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𝑥</m:t>
                            </m:r>
                          </m:e>
                          <m:sub>
                            <m:r>
                              <a:rPr lang="en-US" sz="2000" b="0" i="1" smtClean="0">
                                <a:latin typeface="Cambria Math" panose="02040503050406030204" pitchFamily="18" charset="0"/>
                                <a:ea typeface="Cambria Math" panose="02040503050406030204" pitchFamily="18" charset="0"/>
                              </a:rPr>
                              <m:t>1</m:t>
                            </m:r>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𝜏</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𝑥</m:t>
                            </m:r>
                          </m:e>
                          <m:sub>
                            <m:r>
                              <a:rPr lang="en-US" sz="2000" b="0" i="1" smtClean="0">
                                <a:latin typeface="Cambria Math" panose="02040503050406030204" pitchFamily="18" charset="0"/>
                                <a:ea typeface="Cambria Math" panose="02040503050406030204" pitchFamily="18" charset="0"/>
                              </a:rPr>
                              <m:t>2</m:t>
                            </m:r>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𝑡</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𝜏</m:t>
                        </m:r>
                        <m:r>
                          <a:rPr lang="en-US" sz="2000" b="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𝑑</m:t>
                        </m:r>
                        <m:r>
                          <a:rPr lang="en-US" sz="2000" i="1" smtClean="0">
                            <a:latin typeface="Cambria Math" panose="02040503050406030204" pitchFamily="18" charset="0"/>
                            <a:ea typeface="Cambria Math" panose="02040503050406030204" pitchFamily="18" charset="0"/>
                          </a:rPr>
                          <m:t>𝜏</m:t>
                        </m:r>
                      </m:e>
                    </m:nary>
                  </m:oMath>
                </a14:m>
                <a:r>
                  <a:rPr lang="en-US" sz="2000" dirty="0"/>
                  <a:t>.  Further,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𝑋</m:t>
                        </m:r>
                      </m:e>
                      <m:sub>
                        <m:r>
                          <a:rPr lang="en-US" sz="2000" b="0" i="1" smtClean="0">
                            <a:latin typeface="Cambria Math" panose="02040503050406030204" pitchFamily="18" charset="0"/>
                            <a:ea typeface="Cambria Math" panose="02040503050406030204" pitchFamily="18" charset="0"/>
                          </a:rPr>
                          <m:t>1</m:t>
                        </m:r>
                      </m:sub>
                    </m:sSub>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𝜔</m:t>
                        </m:r>
                      </m:e>
                    </m:d>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𝑋</m:t>
                        </m:r>
                      </m:e>
                      <m:sub>
                        <m:r>
                          <a:rPr lang="en-US" sz="2000" b="0" i="1" smtClean="0">
                            <a:latin typeface="Cambria Math" panose="02040503050406030204" pitchFamily="18" charset="0"/>
                            <a:ea typeface="Cambria Math" panose="02040503050406030204" pitchFamily="18" charset="0"/>
                          </a:rPr>
                          <m:t>2</m:t>
                        </m:r>
                      </m:sub>
                    </m:sSub>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𝜔</m:t>
                        </m:r>
                      </m:e>
                    </m:d>
                  </m:oMath>
                </a14:m>
                <a:endParaRPr lang="en-US" sz="2000" b="0" dirty="0">
                  <a:ea typeface="Cambria Math" panose="02040503050406030204" pitchFamily="18" charset="0"/>
                </a:endParaRP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Transfer and response: Suppose </a:t>
                </a:r>
                <a14:m>
                  <m:oMath xmlns:m="http://schemas.openxmlformats.org/officeDocument/2006/math">
                    <m:r>
                      <a:rPr lang="en-US" sz="2000" b="0" i="1" smtClean="0">
                        <a:latin typeface="Cambria Math" panose="02040503050406030204" pitchFamily="18" charset="0"/>
                      </a:rPr>
                      <m:t>𝑦</m:t>
                    </m:r>
                    <m:r>
                      <a:rPr lang="en-US" sz="2000" b="0" i="1" smtClean="0">
                        <a:latin typeface="Cambria Math" panose="02040503050406030204" pitchFamily="18" charset="0"/>
                      </a:rPr>
                      <m:t>(</m:t>
                    </m:r>
                    <m:r>
                      <a:rPr lang="en-US" sz="2000" b="0" i="1" smtClean="0">
                        <a:latin typeface="Cambria Math" panose="02040503050406030204" pitchFamily="18" charset="0"/>
                      </a:rPr>
                      <m:t>𝑡</m:t>
                    </m:r>
                    <m:r>
                      <a:rPr lang="en-US" sz="2000" b="0" i="1" smtClean="0">
                        <a:latin typeface="Cambria Math" panose="02040503050406030204" pitchFamily="18" charset="0"/>
                      </a:rPr>
                      <m:t>)</m:t>
                    </m:r>
                  </m:oMath>
                </a14:m>
                <a:r>
                  <a:rPr lang="en-US" sz="2000" dirty="0"/>
                  <a:t> is the response to </a:t>
                </a:r>
                <a14:m>
                  <m:oMath xmlns:m="http://schemas.openxmlformats.org/officeDocument/2006/math">
                    <m:r>
                      <a:rPr lang="en-US" sz="2000" b="0" i="1" smtClean="0">
                        <a:latin typeface="Cambria Math" panose="02040503050406030204" pitchFamily="18" charset="0"/>
                      </a:rPr>
                      <m:t>𝑥</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oMath>
                </a14:m>
                <a:r>
                  <a:rPr lang="en-US" sz="2000" dirty="0"/>
                  <a:t>  Then </a:t>
                </a:r>
                <a14:m>
                  <m:oMath xmlns:m="http://schemas.openxmlformats.org/officeDocument/2006/math">
                    <m:r>
                      <a:rPr lang="en-US" sz="2000" b="0" i="1" smtClean="0">
                        <a:latin typeface="Cambria Math" panose="02040503050406030204" pitchFamily="18" charset="0"/>
                      </a:rPr>
                      <m:t>𝑦</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r>
                      <a:rPr lang="en-US" sz="2000" b="0" i="1" smtClean="0">
                        <a:latin typeface="Cambria Math" panose="02040503050406030204" pitchFamily="18" charset="0"/>
                      </a:rPr>
                      <m:t>𝑥</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r>
                      <a:rPr lang="en-US" sz="2000" b="0" i="1" smtClean="0">
                        <a:latin typeface="Cambria Math" panose="02040503050406030204" pitchFamily="18" charset="0"/>
                      </a:rPr>
                      <m:t>ℎ</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oMath>
                </a14:m>
                <a:endParaRPr lang="en-US" sz="2000" b="0" dirty="0"/>
              </a:p>
              <a:p>
                <a:pPr marL="742950" lvl="1" indent="-285750">
                  <a:buFont typeface="Arial" panose="020B0604020202020204" pitchFamily="34" charset="0"/>
                  <a:buChar char="•"/>
                </a:pPr>
                <a14:m>
                  <m:oMath xmlns:m="http://schemas.openxmlformats.org/officeDocument/2006/math">
                    <m:r>
                      <a:rPr lang="en-US" sz="2000" b="0" i="1" smtClean="0">
                        <a:latin typeface="Cambria Math" panose="02040503050406030204" pitchFamily="18" charset="0"/>
                      </a:rPr>
                      <m:t>𝑌</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𝜔</m:t>
                        </m:r>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𝑋</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𝜔</m:t>
                        </m:r>
                      </m:e>
                    </m:d>
                    <m:r>
                      <a:rPr lang="en-US" sz="2000" b="0" i="1" smtClean="0">
                        <a:latin typeface="Cambria Math" panose="02040503050406030204" pitchFamily="18" charset="0"/>
                        <a:ea typeface="Cambria Math" panose="02040503050406030204" pitchFamily="18" charset="0"/>
                      </a:rPr>
                      <m:t>𝐻</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𝜔</m:t>
                        </m:r>
                      </m:e>
                    </m:d>
                  </m:oMath>
                </a14:m>
                <a:r>
                  <a:rPr lang="en-US" sz="2000" dirty="0"/>
                  <a:t> where </a:t>
                </a:r>
                <a14:m>
                  <m:oMath xmlns:m="http://schemas.openxmlformats.org/officeDocument/2006/math">
                    <m:r>
                      <a:rPr lang="en-US" sz="2000" b="0" i="1" smtClean="0">
                        <a:latin typeface="Cambria Math" panose="02040503050406030204" pitchFamily="18" charset="0"/>
                      </a:rPr>
                      <m:t>𝐻</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𝜔</m:t>
                        </m:r>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ℱ</m:t>
                    </m:r>
                    <m:d>
                      <m:dPr>
                        <m:begChr m:val="["/>
                        <m:endChr m:val="]"/>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ℎ</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𝑡</m:t>
                            </m:r>
                          </m:e>
                        </m:d>
                      </m:e>
                    </m:d>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𝑌</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m:t>
                        </m:r>
                      </m:num>
                      <m:den>
                        <m:r>
                          <a:rPr lang="en-US" sz="2000" b="0" i="1" smtClean="0">
                            <a:latin typeface="Cambria Math" panose="02040503050406030204" pitchFamily="18" charset="0"/>
                            <a:ea typeface="Cambria Math" panose="02040503050406030204" pitchFamily="18" charset="0"/>
                          </a:rPr>
                          <m:t>𝑋</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m:t>
                        </m:r>
                      </m:den>
                    </m:f>
                  </m:oMath>
                </a14:m>
                <a:endParaRPr lang="en-US" sz="2000" dirty="0"/>
              </a:p>
              <a:p>
                <a:pPr marL="742950" lvl="1" indent="-285750">
                  <a:buFont typeface="Arial" panose="020B0604020202020204" pitchFamily="34" charset="0"/>
                  <a:buChar char="•"/>
                </a:pPr>
                <a14:m>
                  <m:oMath xmlns:m="http://schemas.openxmlformats.org/officeDocument/2006/math">
                    <m:r>
                      <a:rPr lang="en-US" sz="2000" b="0" i="1" smtClean="0">
                        <a:latin typeface="Cambria Math" panose="02040503050406030204" pitchFamily="18" charset="0"/>
                      </a:rPr>
                      <m:t>𝑦</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𝜋</m:t>
                        </m:r>
                      </m:den>
                    </m:f>
                    <m:nary>
                      <m:naryPr>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m:t>
                        </m:r>
                      </m:sub>
                      <m:sup>
                        <m:r>
                          <a:rPr lang="en-US" sz="2000" b="0" i="1" smtClean="0">
                            <a:latin typeface="Cambria Math" panose="02040503050406030204" pitchFamily="18" charset="0"/>
                            <a:ea typeface="Cambria Math" panose="02040503050406030204" pitchFamily="18" charset="0"/>
                          </a:rPr>
                          <m:t>∞</m:t>
                        </m:r>
                      </m:sup>
                      <m:e>
                        <m:r>
                          <a:rPr lang="en-US" sz="2000" b="0" i="1" smtClean="0">
                            <a:latin typeface="Cambria Math" panose="02040503050406030204" pitchFamily="18" charset="0"/>
                          </a:rPr>
                          <m:t>𝑋</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𝜔</m:t>
                            </m:r>
                          </m:e>
                        </m:d>
                        <m:r>
                          <a:rPr lang="en-US" sz="2000" b="0" i="1" smtClean="0">
                            <a:latin typeface="Cambria Math" panose="02040503050406030204" pitchFamily="18" charset="0"/>
                            <a:ea typeface="Cambria Math" panose="02040503050406030204" pitchFamily="18" charset="0"/>
                          </a:rPr>
                          <m:t>𝐻</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𝜔</m:t>
                            </m:r>
                          </m:e>
                        </m:d>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𝑒</m:t>
                            </m:r>
                          </m:e>
                          <m:sup>
                            <m:r>
                              <a:rPr lang="en-US" sz="2000" b="0" i="1" smtClean="0">
                                <a:latin typeface="Cambria Math" panose="02040503050406030204" pitchFamily="18" charset="0"/>
                                <a:ea typeface="Cambria Math" panose="02040503050406030204" pitchFamily="18" charset="0"/>
                              </a:rPr>
                              <m:t>𝑗</m:t>
                            </m:r>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𝑡</m:t>
                            </m:r>
                          </m:sup>
                        </m:sSup>
                        <m:r>
                          <a:rPr lang="en-US" sz="2000" b="0" i="1" smtClean="0">
                            <a:latin typeface="Cambria Math" panose="02040503050406030204" pitchFamily="18" charset="0"/>
                            <a:ea typeface="Cambria Math" panose="02040503050406030204" pitchFamily="18" charset="0"/>
                          </a:rPr>
                          <m:t>𝑑</m:t>
                        </m:r>
                        <m:r>
                          <a:rPr lang="en-US" sz="2000" b="0" i="1" smtClean="0">
                            <a:latin typeface="Cambria Math" panose="02040503050406030204" pitchFamily="18" charset="0"/>
                            <a:ea typeface="Cambria Math" panose="02040503050406030204" pitchFamily="18" charset="0"/>
                          </a:rPr>
                          <m:t>𝜔</m:t>
                        </m:r>
                      </m:e>
                    </m:nary>
                  </m:oMath>
                </a14:m>
                <a:endParaRPr lang="en-US" sz="2000" dirty="0"/>
              </a:p>
            </p:txBody>
          </p:sp>
        </mc:Choice>
        <mc:Fallback xmlns="">
          <p:sp>
            <p:nvSpPr>
              <p:cNvPr id="2" name="TextBox 1">
                <a:extLst>
                  <a:ext uri="{FF2B5EF4-FFF2-40B4-BE49-F238E27FC236}">
                    <a16:creationId xmlns:a16="http://schemas.microsoft.com/office/drawing/2014/main" id="{BDF3DFE5-350B-E14D-A1FB-980B33C13519}"/>
                  </a:ext>
                </a:extLst>
              </p:cNvPr>
              <p:cNvSpPr txBox="1">
                <a:spLocks noRot="1" noChangeAspect="1" noMove="1" noResize="1" noEditPoints="1" noAdjustHandles="1" noChangeArrowheads="1" noChangeShapeType="1" noTextEdit="1"/>
              </p:cNvSpPr>
              <p:nvPr/>
            </p:nvSpPr>
            <p:spPr>
              <a:xfrm>
                <a:off x="687733" y="2245950"/>
                <a:ext cx="10816534" cy="3149009"/>
              </a:xfrm>
              <a:prstGeom prst="rect">
                <a:avLst/>
              </a:prstGeom>
              <a:blipFill>
                <a:blip r:embed="rId3"/>
                <a:stretch>
                  <a:fillRect l="-587" t="-6827" b="-16064"/>
                </a:stretch>
              </a:blipFill>
            </p:spPr>
            <p:txBody>
              <a:bodyPr/>
              <a:lstStyle/>
              <a:p>
                <a:r>
                  <a:rPr lang="en-US">
                    <a:noFill/>
                  </a:rPr>
                  <a:t> </a:t>
                </a:r>
              </a:p>
            </p:txBody>
          </p:sp>
        </mc:Fallback>
      </mc:AlternateContent>
    </p:spTree>
    <p:extLst>
      <p:ext uri="{BB962C8B-B14F-4D97-AF65-F5344CB8AC3E}">
        <p14:creationId xmlns:p14="http://schemas.microsoft.com/office/powerpoint/2010/main" val="269741839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74100" y="292891"/>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Blank</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9569891" y="6426609"/>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90</a:t>
            </a:fld>
            <a:endParaRPr lang="en-US" dirty="0">
              <a:solidFill>
                <a:schemeClr val="tx1"/>
              </a:solidFill>
            </a:endParaRPr>
          </a:p>
        </p:txBody>
      </p:sp>
    </p:spTree>
    <p:extLst>
      <p:ext uri="{BB962C8B-B14F-4D97-AF65-F5344CB8AC3E}">
        <p14:creationId xmlns:p14="http://schemas.microsoft.com/office/powerpoint/2010/main" val="40705773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155731"/>
            <a:ext cx="11529391" cy="769441"/>
          </a:xfrm>
          <a:prstGeom prst="rect">
            <a:avLst/>
          </a:prstGeom>
          <a:noFill/>
        </p:spPr>
        <p:txBody>
          <a:bodyPr wrap="square" rtlCol="0">
            <a:spAutoFit/>
          </a:bodyPr>
          <a:lstStyle/>
          <a:p>
            <a:pPr algn="ctr"/>
            <a:r>
              <a:rPr lang="en-US" sz="4400" dirty="0">
                <a:latin typeface="+mj-lt"/>
              </a:rPr>
              <a:t>Signal Processing Nomenclature</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4EE796B-9DCB-DE41-AEA4-31CBF97794EF}"/>
                  </a:ext>
                </a:extLst>
              </p:cNvPr>
              <p:cNvSpPr txBox="1"/>
              <p:nvPr/>
            </p:nvSpPr>
            <p:spPr>
              <a:xfrm>
                <a:off x="765110" y="1523781"/>
                <a:ext cx="10842690" cy="466826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342900" indent="-342900" defTabSz="457200" latinLnBrk="1" hangingPunct="0">
                  <a:buFont typeface="Arial" panose="020B0604020202020204" pitchFamily="34" charset="0"/>
                  <a:buChar char="•"/>
                </a:pP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sym typeface="Calibri"/>
                      </a:rPr>
                      <m:t>𝑋</m:t>
                    </m:r>
                    <m:d>
                      <m:dPr>
                        <m:ctrlPr>
                          <a:rPr lang="en-US" sz="2000" b="0" i="1" smtClean="0">
                            <a:solidFill>
                              <a:srgbClr val="000000"/>
                            </a:solidFill>
                            <a:latin typeface="Cambria Math" panose="02040503050406030204" pitchFamily="18" charset="0"/>
                            <a:ea typeface="Cambria Math" panose="02040503050406030204" pitchFamily="18" charset="0"/>
                            <a:sym typeface="Calibri"/>
                          </a:rPr>
                        </m:ctrlPr>
                      </m:dPr>
                      <m:e>
                        <m:r>
                          <a:rPr lang="en-US" sz="2000" b="0" i="1" smtClean="0">
                            <a:solidFill>
                              <a:srgbClr val="000000"/>
                            </a:solidFill>
                            <a:latin typeface="Cambria Math" panose="02040503050406030204" pitchFamily="18" charset="0"/>
                            <a:ea typeface="Cambria Math" panose="02040503050406030204" pitchFamily="18" charset="0"/>
                            <a:sym typeface="Calibri"/>
                          </a:rPr>
                          <m:t>𝜔</m:t>
                        </m:r>
                      </m:e>
                    </m:d>
                    <m:r>
                      <a:rPr lang="en-US" sz="2000" b="0" i="1" smtClean="0">
                        <a:solidFill>
                          <a:srgbClr val="000000"/>
                        </a:solidFill>
                        <a:latin typeface="Cambria Math" panose="02040503050406030204" pitchFamily="18" charset="0"/>
                        <a:ea typeface="Cambria Math" panose="02040503050406030204" pitchFamily="18" charset="0"/>
                        <a:sym typeface="Calibri"/>
                      </a:rPr>
                      <m:t>= </m:t>
                    </m:r>
                    <m:r>
                      <a:rPr lang="en-US" sz="2000" b="0" i="1" smtClean="0">
                        <a:solidFill>
                          <a:srgbClr val="000000"/>
                        </a:solidFill>
                        <a:latin typeface="Cambria Math" panose="02040503050406030204" pitchFamily="18" charset="0"/>
                        <a:ea typeface="Cambria Math" panose="02040503050406030204" pitchFamily="18" charset="0"/>
                        <a:sym typeface="Calibri"/>
                      </a:rPr>
                      <m:t>ℱ</m:t>
                    </m:r>
                    <m:d>
                      <m:dPr>
                        <m:begChr m:val="["/>
                        <m:endChr m:val="]"/>
                        <m:ctrlPr>
                          <a:rPr lang="en-US" sz="2000" b="0" i="1" smtClean="0">
                            <a:solidFill>
                              <a:srgbClr val="000000"/>
                            </a:solidFill>
                            <a:latin typeface="Cambria Math" panose="02040503050406030204" pitchFamily="18" charset="0"/>
                            <a:ea typeface="Cambria Math" panose="02040503050406030204" pitchFamily="18" charset="0"/>
                            <a:sym typeface="Calibri"/>
                          </a:rPr>
                        </m:ctrlPr>
                      </m:dPr>
                      <m:e>
                        <m:r>
                          <a:rPr lang="en-US" sz="2000" b="0" i="1" smtClean="0">
                            <a:solidFill>
                              <a:srgbClr val="000000"/>
                            </a:solidFill>
                            <a:latin typeface="Cambria Math" panose="02040503050406030204" pitchFamily="18" charset="0"/>
                            <a:ea typeface="Cambria Math" panose="02040503050406030204" pitchFamily="18" charset="0"/>
                            <a:sym typeface="Calibri"/>
                          </a:rPr>
                          <m:t>𝑥</m:t>
                        </m:r>
                        <m:d>
                          <m:dPr>
                            <m:ctrlPr>
                              <a:rPr lang="en-US" sz="2000" b="0" i="1" smtClean="0">
                                <a:solidFill>
                                  <a:srgbClr val="000000"/>
                                </a:solidFill>
                                <a:latin typeface="Cambria Math" panose="02040503050406030204" pitchFamily="18" charset="0"/>
                                <a:ea typeface="Cambria Math" panose="02040503050406030204" pitchFamily="18" charset="0"/>
                                <a:sym typeface="Calibri"/>
                              </a:rPr>
                            </m:ctrlPr>
                          </m:dPr>
                          <m:e>
                            <m:r>
                              <a:rPr lang="en-US" sz="2000" b="0" i="1" smtClean="0">
                                <a:solidFill>
                                  <a:srgbClr val="000000"/>
                                </a:solidFill>
                                <a:latin typeface="Cambria Math" panose="02040503050406030204" pitchFamily="18" charset="0"/>
                                <a:ea typeface="Cambria Math" panose="02040503050406030204" pitchFamily="18" charset="0"/>
                                <a:sym typeface="Calibri"/>
                              </a:rPr>
                              <m:t>𝑡</m:t>
                            </m:r>
                          </m:e>
                        </m:d>
                      </m:e>
                    </m:d>
                    <m:r>
                      <a:rPr lang="en-US" sz="2000" b="0" i="1" smtClean="0">
                        <a:solidFill>
                          <a:srgbClr val="000000"/>
                        </a:solidFill>
                        <a:latin typeface="Cambria Math" panose="02040503050406030204" pitchFamily="18" charset="0"/>
                        <a:ea typeface="Cambria Math" panose="02040503050406030204" pitchFamily="18" charset="0"/>
                        <a:sym typeface="Calibri"/>
                      </a:rPr>
                      <m:t>= </m:t>
                    </m:r>
                    <m:nary>
                      <m:naryPr>
                        <m:limLoc m:val="undOvr"/>
                        <m:ctrlPr>
                          <a:rPr lang="en-US" sz="2000" b="0" i="1" smtClean="0">
                            <a:solidFill>
                              <a:srgbClr val="000000"/>
                            </a:solidFill>
                            <a:latin typeface="Cambria Math" panose="02040503050406030204" pitchFamily="18" charset="0"/>
                            <a:ea typeface="Cambria Math" panose="02040503050406030204" pitchFamily="18" charset="0"/>
                            <a:sym typeface="Calibri"/>
                          </a:rPr>
                        </m:ctrlPr>
                      </m:naryPr>
                      <m:sub>
                        <m:r>
                          <m:rPr>
                            <m:brk m:alnAt="24"/>
                          </m:rPr>
                          <a:rPr lang="en-US" sz="2000" b="0" i="1" smtClean="0">
                            <a:solidFill>
                              <a:srgbClr val="000000"/>
                            </a:solidFill>
                            <a:latin typeface="Cambria Math" panose="02040503050406030204" pitchFamily="18" charset="0"/>
                            <a:ea typeface="Cambria Math" panose="02040503050406030204" pitchFamily="18" charset="0"/>
                            <a:sym typeface="Calibri"/>
                          </a:rPr>
                          <m:t>−</m:t>
                        </m:r>
                        <m:r>
                          <a:rPr lang="en-US" sz="2000" b="0" i="1" smtClean="0">
                            <a:solidFill>
                              <a:srgbClr val="000000"/>
                            </a:solidFill>
                            <a:latin typeface="Cambria Math" panose="02040503050406030204" pitchFamily="18" charset="0"/>
                            <a:ea typeface="Cambria Math" panose="02040503050406030204" pitchFamily="18" charset="0"/>
                            <a:sym typeface="Calibri"/>
                          </a:rPr>
                          <m:t>∞</m:t>
                        </m:r>
                      </m:sub>
                      <m:sup>
                        <m:r>
                          <a:rPr lang="en-US" sz="2000" i="1">
                            <a:solidFill>
                              <a:srgbClr val="000000"/>
                            </a:solidFill>
                            <a:latin typeface="Cambria Math" panose="02040503050406030204" pitchFamily="18" charset="0"/>
                            <a:ea typeface="Cambria Math" panose="02040503050406030204" pitchFamily="18" charset="0"/>
                            <a:sym typeface="Calibri"/>
                          </a:rPr>
                          <m:t>∞</m:t>
                        </m:r>
                      </m:sup>
                      <m:e>
                        <m:r>
                          <a:rPr lang="en-US" sz="2000" b="0" i="1" smtClean="0">
                            <a:solidFill>
                              <a:srgbClr val="000000"/>
                            </a:solidFill>
                            <a:latin typeface="Cambria Math" panose="02040503050406030204" pitchFamily="18" charset="0"/>
                            <a:ea typeface="Cambria Math" panose="02040503050406030204" pitchFamily="18" charset="0"/>
                            <a:sym typeface="Calibri"/>
                          </a:rPr>
                          <m:t>𝑥</m:t>
                        </m:r>
                        <m:r>
                          <a:rPr lang="en-US" sz="2000" b="0" i="1" smtClean="0">
                            <a:solidFill>
                              <a:srgbClr val="000000"/>
                            </a:solidFill>
                            <a:latin typeface="Cambria Math" panose="02040503050406030204" pitchFamily="18" charset="0"/>
                            <a:ea typeface="Cambria Math" panose="02040503050406030204" pitchFamily="18" charset="0"/>
                            <a:sym typeface="Calibri"/>
                          </a:rPr>
                          <m:t>(</m:t>
                        </m:r>
                        <m:r>
                          <a:rPr lang="en-US" sz="2000" b="0" i="1" smtClean="0">
                            <a:solidFill>
                              <a:srgbClr val="000000"/>
                            </a:solidFill>
                            <a:latin typeface="Cambria Math" panose="02040503050406030204" pitchFamily="18" charset="0"/>
                            <a:ea typeface="Cambria Math" panose="02040503050406030204" pitchFamily="18" charset="0"/>
                            <a:sym typeface="Calibri"/>
                          </a:rPr>
                          <m:t>𝑡</m:t>
                        </m:r>
                        <m:r>
                          <a:rPr lang="en-US" sz="2000" b="0" i="1" smtClean="0">
                            <a:solidFill>
                              <a:srgbClr val="000000"/>
                            </a:solidFill>
                            <a:latin typeface="Cambria Math" panose="02040503050406030204" pitchFamily="18" charset="0"/>
                            <a:ea typeface="Cambria Math" panose="02040503050406030204" pitchFamily="18" charset="0"/>
                            <a:sym typeface="Calibri"/>
                          </a:rPr>
                          <m:t>)</m:t>
                        </m:r>
                        <m:sSup>
                          <m:sSup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pPr>
                          <m:e>
                            <m:r>
                              <a:rPr lang="en-US" sz="2000" b="0" i="1" smtClean="0">
                                <a:solidFill>
                                  <a:srgbClr val="000000"/>
                                </a:solidFill>
                                <a:latin typeface="Cambria Math" panose="02040503050406030204" pitchFamily="18" charset="0"/>
                                <a:ea typeface="Cambria Math" panose="02040503050406030204" pitchFamily="18" charset="0"/>
                                <a:sym typeface="Calibri"/>
                              </a:rPr>
                              <m:t>𝑒</m:t>
                            </m:r>
                          </m:e>
                          <m:sup>
                            <m:r>
                              <a:rPr lang="en-US" sz="2000" b="0" i="1" smtClean="0">
                                <a:solidFill>
                                  <a:srgbClr val="000000"/>
                                </a:solidFill>
                                <a:latin typeface="Cambria Math" panose="02040503050406030204" pitchFamily="18" charset="0"/>
                                <a:ea typeface="Cambria Math" panose="02040503050406030204" pitchFamily="18" charset="0"/>
                                <a:sym typeface="Calibri"/>
                              </a:rPr>
                              <m:t>−</m:t>
                            </m:r>
                            <m:r>
                              <a:rPr lang="en-US" sz="2000" b="0" i="1" smtClean="0">
                                <a:solidFill>
                                  <a:srgbClr val="000000"/>
                                </a:solidFill>
                                <a:latin typeface="Cambria Math" panose="02040503050406030204" pitchFamily="18" charset="0"/>
                                <a:ea typeface="Cambria Math" panose="02040503050406030204" pitchFamily="18" charset="0"/>
                                <a:sym typeface="Calibri"/>
                              </a:rPr>
                              <m:t>𝑗</m:t>
                            </m:r>
                            <m:r>
                              <a:rPr lang="en-US" sz="2000" b="0" i="1" smtClean="0">
                                <a:solidFill>
                                  <a:srgbClr val="000000"/>
                                </a:solidFill>
                                <a:latin typeface="Cambria Math" panose="02040503050406030204" pitchFamily="18" charset="0"/>
                                <a:ea typeface="Cambria Math" panose="02040503050406030204" pitchFamily="18" charset="0"/>
                                <a:sym typeface="Calibri"/>
                              </a:rPr>
                              <m:t>𝜔</m:t>
                            </m:r>
                            <m:r>
                              <a:rPr lang="en-US" sz="2000" b="0" i="1" smtClean="0">
                                <a:solidFill>
                                  <a:srgbClr val="000000"/>
                                </a:solidFill>
                                <a:latin typeface="Cambria Math" panose="02040503050406030204" pitchFamily="18" charset="0"/>
                                <a:ea typeface="Cambria Math" panose="02040503050406030204" pitchFamily="18" charset="0"/>
                                <a:sym typeface="Calibri"/>
                              </a:rPr>
                              <m:t>𝑡</m:t>
                            </m:r>
                          </m:sup>
                        </m:sSup>
                        <m:r>
                          <a:rPr lang="en-US" sz="2000" b="0" i="1" smtClean="0">
                            <a:solidFill>
                              <a:srgbClr val="000000"/>
                            </a:solidFill>
                            <a:latin typeface="Cambria Math" panose="02040503050406030204" pitchFamily="18" charset="0"/>
                            <a:ea typeface="Cambria Math" panose="02040503050406030204" pitchFamily="18" charset="0"/>
                            <a:sym typeface="Calibri"/>
                          </a:rPr>
                          <m:t>𝑑𝑡</m:t>
                        </m:r>
                      </m:e>
                    </m:nary>
                  </m:oMath>
                </a14:m>
                <a:r>
                  <a:rPr lang="en-US" sz="2000" dirty="0">
                    <a:solidFill>
                      <a:srgbClr val="000000"/>
                    </a:solidFill>
                    <a:ea typeface="Cambria Math" panose="02040503050406030204" pitchFamily="18" charset="0"/>
                    <a:sym typeface="Calibri"/>
                  </a:rPr>
                  <a:t>, </a:t>
                </a:r>
                <a14:m>
                  <m:oMath xmlns:m="http://schemas.openxmlformats.org/officeDocument/2006/math">
                    <m:sSup>
                      <m:sSupPr>
                        <m:ctrlPr>
                          <a:rPr lang="en-US" sz="2000" i="1" smtClean="0">
                            <a:solidFill>
                              <a:srgbClr val="000000"/>
                            </a:solidFill>
                            <a:latin typeface="Cambria Math" panose="02040503050406030204" pitchFamily="18" charset="0"/>
                            <a:ea typeface="Cambria Math" panose="02040503050406030204" pitchFamily="18" charset="0"/>
                            <a:sym typeface="Calibri"/>
                          </a:rPr>
                        </m:ctrlPr>
                      </m:sSupPr>
                      <m:e>
                        <m:r>
                          <a:rPr lang="en-US" sz="2000" i="1" smtClean="0">
                            <a:solidFill>
                              <a:srgbClr val="000000"/>
                            </a:solidFill>
                            <a:latin typeface="Cambria Math" panose="02040503050406030204" pitchFamily="18" charset="0"/>
                            <a:ea typeface="Cambria Math" panose="02040503050406030204" pitchFamily="18" charset="0"/>
                            <a:sym typeface="Calibri"/>
                          </a:rPr>
                          <m:t>ℱ</m:t>
                        </m:r>
                      </m:e>
                      <m:sup>
                        <m:r>
                          <a:rPr lang="en-US" sz="2000" b="0" i="1" smtClean="0">
                            <a:solidFill>
                              <a:srgbClr val="000000"/>
                            </a:solidFill>
                            <a:latin typeface="Cambria Math" panose="02040503050406030204" pitchFamily="18" charset="0"/>
                            <a:ea typeface="Cambria Math" panose="02040503050406030204" pitchFamily="18" charset="0"/>
                            <a:sym typeface="Calibri"/>
                          </a:rPr>
                          <m:t>−1</m:t>
                        </m:r>
                      </m:sup>
                    </m:sSup>
                    <m:d>
                      <m:dPr>
                        <m:begChr m:val="["/>
                        <m:endChr m:val="]"/>
                        <m:ctrlPr>
                          <a:rPr lang="en-US" sz="2000" b="0" i="1" smtClean="0">
                            <a:solidFill>
                              <a:srgbClr val="000000"/>
                            </a:solidFill>
                            <a:latin typeface="Cambria Math" panose="02040503050406030204" pitchFamily="18" charset="0"/>
                            <a:ea typeface="Cambria Math" panose="02040503050406030204" pitchFamily="18" charset="0"/>
                            <a:sym typeface="Calibri"/>
                          </a:rPr>
                        </m:ctrlPr>
                      </m:dPr>
                      <m:e>
                        <m:r>
                          <a:rPr lang="en-US" sz="2000" b="0" i="1" smtClean="0">
                            <a:solidFill>
                              <a:srgbClr val="000000"/>
                            </a:solidFill>
                            <a:latin typeface="Cambria Math" panose="02040503050406030204" pitchFamily="18" charset="0"/>
                            <a:ea typeface="Cambria Math" panose="02040503050406030204" pitchFamily="18" charset="0"/>
                            <a:sym typeface="Calibri"/>
                          </a:rPr>
                          <m:t>𝑋</m:t>
                        </m:r>
                        <m:d>
                          <m:dPr>
                            <m:ctrlPr>
                              <a:rPr lang="en-US" sz="2000" b="0" i="1" smtClean="0">
                                <a:solidFill>
                                  <a:srgbClr val="000000"/>
                                </a:solidFill>
                                <a:latin typeface="Cambria Math" panose="02040503050406030204" pitchFamily="18" charset="0"/>
                                <a:ea typeface="Cambria Math" panose="02040503050406030204" pitchFamily="18" charset="0"/>
                                <a:sym typeface="Calibri"/>
                              </a:rPr>
                            </m:ctrlPr>
                          </m:dPr>
                          <m:e>
                            <m:r>
                              <a:rPr lang="en-US" sz="2000" b="0" i="1" smtClean="0">
                                <a:solidFill>
                                  <a:srgbClr val="000000"/>
                                </a:solidFill>
                                <a:latin typeface="Cambria Math" panose="02040503050406030204" pitchFamily="18" charset="0"/>
                                <a:ea typeface="Cambria Math" panose="02040503050406030204" pitchFamily="18" charset="0"/>
                                <a:sym typeface="Calibri"/>
                              </a:rPr>
                              <m:t>𝜔</m:t>
                            </m:r>
                          </m:e>
                        </m:d>
                      </m:e>
                    </m:d>
                    <m:r>
                      <a:rPr lang="en-US" sz="2000" b="0" i="1" smtClean="0">
                        <a:solidFill>
                          <a:srgbClr val="000000"/>
                        </a:solidFill>
                        <a:latin typeface="Cambria Math" panose="02040503050406030204" pitchFamily="18" charset="0"/>
                        <a:ea typeface="Cambria Math" panose="02040503050406030204" pitchFamily="18" charset="0"/>
                        <a:sym typeface="Calibri"/>
                      </a:rPr>
                      <m:t>=</m:t>
                    </m:r>
                    <m:f>
                      <m:fPr>
                        <m:ctrlPr>
                          <a:rPr lang="en-US" sz="2000" b="0" i="1" smtClean="0">
                            <a:solidFill>
                              <a:srgbClr val="000000"/>
                            </a:solidFill>
                            <a:latin typeface="Cambria Math" panose="02040503050406030204" pitchFamily="18" charset="0"/>
                            <a:ea typeface="Cambria Math" panose="02040503050406030204" pitchFamily="18" charset="0"/>
                            <a:sym typeface="Calibri"/>
                          </a:rPr>
                        </m:ctrlPr>
                      </m:fPr>
                      <m:num>
                        <m:r>
                          <a:rPr lang="en-US" sz="2000" b="0" i="1" smtClean="0">
                            <a:solidFill>
                              <a:srgbClr val="000000"/>
                            </a:solidFill>
                            <a:latin typeface="Cambria Math" panose="02040503050406030204" pitchFamily="18" charset="0"/>
                            <a:ea typeface="Cambria Math" panose="02040503050406030204" pitchFamily="18" charset="0"/>
                            <a:sym typeface="Calibri"/>
                          </a:rPr>
                          <m:t>1</m:t>
                        </m:r>
                      </m:num>
                      <m:den>
                        <m:r>
                          <a:rPr lang="en-US" sz="2000" b="0" i="1" smtClean="0">
                            <a:solidFill>
                              <a:srgbClr val="000000"/>
                            </a:solidFill>
                            <a:latin typeface="Cambria Math" panose="02040503050406030204" pitchFamily="18" charset="0"/>
                            <a:ea typeface="Cambria Math" panose="02040503050406030204" pitchFamily="18" charset="0"/>
                            <a:sym typeface="Calibri"/>
                          </a:rPr>
                          <m:t>2</m:t>
                        </m:r>
                        <m:r>
                          <a:rPr lang="en-US" sz="2000" b="0" i="1" smtClean="0">
                            <a:solidFill>
                              <a:srgbClr val="000000"/>
                            </a:solidFill>
                            <a:latin typeface="Cambria Math" panose="02040503050406030204" pitchFamily="18" charset="0"/>
                            <a:ea typeface="Cambria Math" panose="02040503050406030204" pitchFamily="18" charset="0"/>
                            <a:sym typeface="Calibri"/>
                          </a:rPr>
                          <m:t>𝜋</m:t>
                        </m:r>
                      </m:den>
                    </m:f>
                    <m:nary>
                      <m:naryPr>
                        <m:limLoc m:val="undOvr"/>
                        <m:ctrlPr>
                          <a:rPr lang="en-US" sz="2000" i="1">
                            <a:solidFill>
                              <a:srgbClr val="000000"/>
                            </a:solidFill>
                            <a:latin typeface="Cambria Math" panose="02040503050406030204" pitchFamily="18" charset="0"/>
                            <a:ea typeface="Cambria Math" panose="02040503050406030204" pitchFamily="18" charset="0"/>
                            <a:sym typeface="Calibri"/>
                          </a:rPr>
                        </m:ctrlPr>
                      </m:naryPr>
                      <m:sub>
                        <m:r>
                          <m:rPr>
                            <m:brk m:alnAt="24"/>
                          </m:rPr>
                          <a:rPr lang="en-US" sz="2000" i="1">
                            <a:solidFill>
                              <a:srgbClr val="000000"/>
                            </a:solidFill>
                            <a:latin typeface="Cambria Math" panose="02040503050406030204" pitchFamily="18" charset="0"/>
                            <a:ea typeface="Cambria Math" panose="02040503050406030204" pitchFamily="18" charset="0"/>
                            <a:sym typeface="Calibri"/>
                          </a:rPr>
                          <m:t>−</m:t>
                        </m:r>
                        <m:r>
                          <a:rPr lang="en-US" sz="2000" i="1">
                            <a:solidFill>
                              <a:srgbClr val="000000"/>
                            </a:solidFill>
                            <a:latin typeface="Cambria Math" panose="02040503050406030204" pitchFamily="18" charset="0"/>
                            <a:ea typeface="Cambria Math" panose="02040503050406030204" pitchFamily="18" charset="0"/>
                            <a:sym typeface="Calibri"/>
                          </a:rPr>
                          <m:t>∞</m:t>
                        </m:r>
                      </m:sub>
                      <m:sup>
                        <m:r>
                          <a:rPr lang="en-US" sz="2000" i="1">
                            <a:solidFill>
                              <a:srgbClr val="000000"/>
                            </a:solidFill>
                            <a:latin typeface="Cambria Math" panose="02040503050406030204" pitchFamily="18" charset="0"/>
                            <a:ea typeface="Cambria Math" panose="02040503050406030204" pitchFamily="18" charset="0"/>
                            <a:sym typeface="Calibri"/>
                          </a:rPr>
                          <m:t>∞</m:t>
                        </m:r>
                      </m:sup>
                      <m:e>
                        <m:r>
                          <a:rPr lang="en-US" sz="2000" b="0" i="1" smtClean="0">
                            <a:solidFill>
                              <a:srgbClr val="000000"/>
                            </a:solidFill>
                            <a:latin typeface="Cambria Math" panose="02040503050406030204" pitchFamily="18" charset="0"/>
                            <a:ea typeface="Cambria Math" panose="02040503050406030204" pitchFamily="18" charset="0"/>
                            <a:sym typeface="Calibri"/>
                          </a:rPr>
                          <m:t>𝑋</m:t>
                        </m:r>
                        <m:r>
                          <a:rPr lang="en-US" sz="2000" i="1">
                            <a:solidFill>
                              <a:srgbClr val="000000"/>
                            </a:solidFill>
                            <a:latin typeface="Cambria Math" panose="02040503050406030204" pitchFamily="18" charset="0"/>
                            <a:ea typeface="Cambria Math" panose="02040503050406030204" pitchFamily="18" charset="0"/>
                            <a:sym typeface="Calibri"/>
                          </a:rPr>
                          <m:t>(</m:t>
                        </m:r>
                        <m:r>
                          <a:rPr lang="en-US" sz="2000" i="1" smtClean="0">
                            <a:solidFill>
                              <a:srgbClr val="000000"/>
                            </a:solidFill>
                            <a:latin typeface="Cambria Math" panose="02040503050406030204" pitchFamily="18" charset="0"/>
                            <a:ea typeface="Cambria Math" panose="02040503050406030204" pitchFamily="18" charset="0"/>
                            <a:sym typeface="Calibri"/>
                          </a:rPr>
                          <m:t>𝜔</m:t>
                        </m:r>
                        <m:r>
                          <a:rPr lang="en-US" sz="2000" i="1">
                            <a:solidFill>
                              <a:srgbClr val="000000"/>
                            </a:solidFill>
                            <a:latin typeface="Cambria Math" panose="02040503050406030204" pitchFamily="18" charset="0"/>
                            <a:ea typeface="Cambria Math" panose="02040503050406030204" pitchFamily="18" charset="0"/>
                            <a:sym typeface="Calibri"/>
                          </a:rPr>
                          <m:t>)</m:t>
                        </m:r>
                        <m:sSup>
                          <m:sSupPr>
                            <m:ctrlPr>
                              <a:rPr lang="en-US" sz="2000" i="1">
                                <a:solidFill>
                                  <a:srgbClr val="000000"/>
                                </a:solidFill>
                                <a:latin typeface="Cambria Math" panose="02040503050406030204" pitchFamily="18" charset="0"/>
                                <a:ea typeface="Cambria Math" panose="02040503050406030204" pitchFamily="18" charset="0"/>
                                <a:sym typeface="Calibri"/>
                              </a:rPr>
                            </m:ctrlPr>
                          </m:sSupPr>
                          <m:e>
                            <m:r>
                              <a:rPr lang="en-US" sz="2000" i="1">
                                <a:solidFill>
                                  <a:srgbClr val="000000"/>
                                </a:solidFill>
                                <a:latin typeface="Cambria Math" panose="02040503050406030204" pitchFamily="18" charset="0"/>
                                <a:ea typeface="Cambria Math" panose="02040503050406030204" pitchFamily="18" charset="0"/>
                                <a:sym typeface="Calibri"/>
                              </a:rPr>
                              <m:t>𝑒</m:t>
                            </m:r>
                          </m:e>
                          <m:sup>
                            <m:r>
                              <a:rPr lang="en-US" sz="2000" i="1">
                                <a:solidFill>
                                  <a:srgbClr val="000000"/>
                                </a:solidFill>
                                <a:latin typeface="Cambria Math" panose="02040503050406030204" pitchFamily="18" charset="0"/>
                                <a:ea typeface="Cambria Math" panose="02040503050406030204" pitchFamily="18" charset="0"/>
                                <a:sym typeface="Calibri"/>
                              </a:rPr>
                              <m:t>𝑗</m:t>
                            </m:r>
                            <m:r>
                              <a:rPr lang="en-US" sz="2000" i="1">
                                <a:solidFill>
                                  <a:srgbClr val="000000"/>
                                </a:solidFill>
                                <a:latin typeface="Cambria Math" panose="02040503050406030204" pitchFamily="18" charset="0"/>
                                <a:ea typeface="Cambria Math" panose="02040503050406030204" pitchFamily="18" charset="0"/>
                                <a:sym typeface="Calibri"/>
                              </a:rPr>
                              <m:t>𝜔</m:t>
                            </m:r>
                            <m:r>
                              <a:rPr lang="en-US" sz="2000" i="1">
                                <a:solidFill>
                                  <a:srgbClr val="000000"/>
                                </a:solidFill>
                                <a:latin typeface="Cambria Math" panose="02040503050406030204" pitchFamily="18" charset="0"/>
                                <a:ea typeface="Cambria Math" panose="02040503050406030204" pitchFamily="18" charset="0"/>
                                <a:sym typeface="Calibri"/>
                              </a:rPr>
                              <m:t>𝑡</m:t>
                            </m:r>
                          </m:sup>
                        </m:sSup>
                        <m:r>
                          <a:rPr lang="en-US" sz="2000" i="1">
                            <a:solidFill>
                              <a:srgbClr val="000000"/>
                            </a:solidFill>
                            <a:latin typeface="Cambria Math" panose="02040503050406030204" pitchFamily="18" charset="0"/>
                            <a:ea typeface="Cambria Math" panose="02040503050406030204" pitchFamily="18" charset="0"/>
                            <a:sym typeface="Calibri"/>
                          </a:rPr>
                          <m:t>𝑑</m:t>
                        </m:r>
                        <m:r>
                          <a:rPr lang="en-US" sz="2000" i="1" smtClean="0">
                            <a:solidFill>
                              <a:srgbClr val="000000"/>
                            </a:solidFill>
                            <a:latin typeface="Cambria Math" panose="02040503050406030204" pitchFamily="18" charset="0"/>
                            <a:ea typeface="Cambria Math" panose="02040503050406030204" pitchFamily="18" charset="0"/>
                            <a:sym typeface="Calibri"/>
                          </a:rPr>
                          <m:t>𝜔</m:t>
                        </m:r>
                      </m:e>
                    </m:nary>
                  </m:oMath>
                </a14:m>
                <a:endParaRPr lang="en-US" sz="2000" dirty="0">
                  <a:solidFill>
                    <a:srgbClr val="000000"/>
                  </a:solidFill>
                  <a:ea typeface="Cambria Math" panose="02040503050406030204" pitchFamily="18" charset="0"/>
                  <a:sym typeface="Calibri"/>
                </a:endParaRPr>
              </a:p>
              <a:p>
                <a:pPr marL="342900" indent="-342900" defTabSz="457200" latinLnBrk="1"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Output operator: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sym typeface="Calibri"/>
                      </a:rPr>
                      <m:t>𝑦</m:t>
                    </m:r>
                    <m:d>
                      <m:dPr>
                        <m:ctrlPr>
                          <a:rPr lang="en-US" sz="2000" b="0" i="1" smtClean="0">
                            <a:solidFill>
                              <a:srgbClr val="000000"/>
                            </a:solidFill>
                            <a:latin typeface="Cambria Math" panose="02040503050406030204" pitchFamily="18" charset="0"/>
                            <a:ea typeface="Cambria Math" panose="02040503050406030204" pitchFamily="18" charset="0"/>
                            <a:sym typeface="Calibri"/>
                          </a:rPr>
                        </m:ctrlPr>
                      </m:dPr>
                      <m:e>
                        <m:r>
                          <a:rPr lang="en-US" sz="2000" b="0" i="1" smtClean="0">
                            <a:solidFill>
                              <a:srgbClr val="000000"/>
                            </a:solidFill>
                            <a:latin typeface="Cambria Math" panose="02040503050406030204" pitchFamily="18" charset="0"/>
                            <a:ea typeface="Cambria Math" panose="02040503050406030204" pitchFamily="18" charset="0"/>
                            <a:sym typeface="Calibri"/>
                          </a:rPr>
                          <m:t>𝑡</m:t>
                        </m:r>
                      </m:e>
                    </m:d>
                    <m:r>
                      <a:rPr lang="en-US" sz="2000" b="0" i="1" smtClean="0">
                        <a:solidFill>
                          <a:srgbClr val="000000"/>
                        </a:solidFill>
                        <a:latin typeface="Cambria Math" panose="02040503050406030204" pitchFamily="18" charset="0"/>
                        <a:ea typeface="Cambria Math" panose="02040503050406030204" pitchFamily="18" charset="0"/>
                        <a:sym typeface="Calibri"/>
                      </a:rPr>
                      <m:t>= </m:t>
                    </m:r>
                    <m:r>
                      <a:rPr lang="en-US" sz="2000" b="0" i="1" smtClean="0">
                        <a:solidFill>
                          <a:srgbClr val="000000"/>
                        </a:solidFill>
                        <a:latin typeface="Cambria Math" panose="02040503050406030204" pitchFamily="18" charset="0"/>
                        <a:ea typeface="Cambria Math" panose="02040503050406030204" pitchFamily="18" charset="0"/>
                        <a:sym typeface="Calibri"/>
                      </a:rPr>
                      <m:t>𝒯</m:t>
                    </m:r>
                    <m:d>
                      <m:dPr>
                        <m:begChr m:val="["/>
                        <m:endChr m:val="]"/>
                        <m:ctrlPr>
                          <a:rPr lang="en-US" sz="2000" b="0" i="1" smtClean="0">
                            <a:solidFill>
                              <a:srgbClr val="000000"/>
                            </a:solidFill>
                            <a:latin typeface="Cambria Math" panose="02040503050406030204" pitchFamily="18" charset="0"/>
                            <a:ea typeface="Cambria Math" panose="02040503050406030204" pitchFamily="18" charset="0"/>
                            <a:sym typeface="Calibri"/>
                          </a:rPr>
                        </m:ctrlPr>
                      </m:dPr>
                      <m:e>
                        <m:r>
                          <a:rPr lang="en-US" sz="2000" b="0" i="1" smtClean="0">
                            <a:solidFill>
                              <a:srgbClr val="000000"/>
                            </a:solidFill>
                            <a:latin typeface="Cambria Math" panose="02040503050406030204" pitchFamily="18" charset="0"/>
                            <a:ea typeface="Cambria Math" panose="02040503050406030204" pitchFamily="18" charset="0"/>
                            <a:sym typeface="Calibri"/>
                          </a:rPr>
                          <m:t>𝑥</m:t>
                        </m:r>
                        <m:d>
                          <m:dPr>
                            <m:ctrlPr>
                              <a:rPr lang="en-US" sz="2000" b="0" i="1" smtClean="0">
                                <a:solidFill>
                                  <a:srgbClr val="000000"/>
                                </a:solidFill>
                                <a:latin typeface="Cambria Math" panose="02040503050406030204" pitchFamily="18" charset="0"/>
                                <a:ea typeface="Cambria Math" panose="02040503050406030204" pitchFamily="18" charset="0"/>
                                <a:sym typeface="Calibri"/>
                              </a:rPr>
                            </m:ctrlPr>
                          </m:dPr>
                          <m:e>
                            <m:r>
                              <a:rPr lang="en-US" sz="2000" b="0" i="1" smtClean="0">
                                <a:solidFill>
                                  <a:srgbClr val="000000"/>
                                </a:solidFill>
                                <a:latin typeface="Cambria Math" panose="02040503050406030204" pitchFamily="18" charset="0"/>
                                <a:ea typeface="Cambria Math" panose="02040503050406030204" pitchFamily="18" charset="0"/>
                                <a:sym typeface="Calibri"/>
                              </a:rPr>
                              <m:t>𝑡</m:t>
                            </m:r>
                          </m:e>
                        </m:d>
                      </m:e>
                    </m:d>
                    <m:r>
                      <a:rPr lang="en-US" sz="2000" b="0" i="1" smtClean="0">
                        <a:solidFill>
                          <a:srgbClr val="000000"/>
                        </a:solidFill>
                        <a:latin typeface="Cambria Math" panose="02040503050406030204" pitchFamily="18" charset="0"/>
                        <a:ea typeface="Cambria Math" panose="02040503050406030204" pitchFamily="18" charset="0"/>
                        <a:sym typeface="Calibri"/>
                      </a:rPr>
                      <m:t>. </m:t>
                    </m:r>
                  </m:oMath>
                </a14:m>
                <a:r>
                  <a:rPr lang="en-US" sz="2000" dirty="0">
                    <a:solidFill>
                      <a:srgbClr val="000000"/>
                    </a:solidFill>
                    <a:ea typeface="Cambria Math" panose="02040503050406030204" pitchFamily="18" charset="0"/>
                    <a:sym typeface="Calibri"/>
                  </a:rPr>
                  <a:t> LTI: </a:t>
                </a: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𝑦</m:t>
                        </m:r>
                      </m:e>
                      <m:sub>
                        <m:r>
                          <a:rPr lang="en-US" sz="2000" b="0" i="1" smtClean="0">
                            <a:solidFill>
                              <a:srgbClr val="000000"/>
                            </a:solidFill>
                            <a:latin typeface="Cambria Math" panose="02040503050406030204" pitchFamily="18" charset="0"/>
                            <a:ea typeface="Cambria Math" panose="02040503050406030204" pitchFamily="18" charset="0"/>
                            <a:sym typeface="Calibri"/>
                          </a:rPr>
                          <m:t>1</m:t>
                        </m:r>
                      </m:sub>
                    </m:sSub>
                    <m:d>
                      <m:dPr>
                        <m:ctrlPr>
                          <a:rPr lang="en-US" sz="2000" b="0" i="1" smtClean="0">
                            <a:solidFill>
                              <a:srgbClr val="000000"/>
                            </a:solidFill>
                            <a:latin typeface="Cambria Math" panose="02040503050406030204" pitchFamily="18" charset="0"/>
                            <a:ea typeface="Cambria Math" panose="02040503050406030204" pitchFamily="18" charset="0"/>
                            <a:sym typeface="Calibri"/>
                          </a:rPr>
                        </m:ctrlPr>
                      </m:dPr>
                      <m:e>
                        <m:r>
                          <a:rPr lang="en-US" sz="2000" b="0" i="1" smtClean="0">
                            <a:solidFill>
                              <a:srgbClr val="000000"/>
                            </a:solidFill>
                            <a:latin typeface="Cambria Math" panose="02040503050406030204" pitchFamily="18" charset="0"/>
                            <a:ea typeface="Cambria Math" panose="02040503050406030204" pitchFamily="18" charset="0"/>
                            <a:sym typeface="Calibri"/>
                          </a:rPr>
                          <m:t>𝑡</m:t>
                        </m:r>
                      </m:e>
                    </m:d>
                    <m:r>
                      <a:rPr lang="en-US" sz="2000"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𝑦</m:t>
                        </m:r>
                      </m:e>
                      <m:sub>
                        <m:r>
                          <a:rPr lang="en-US" sz="2000" b="0" i="1" smtClean="0">
                            <a:solidFill>
                              <a:srgbClr val="000000"/>
                            </a:solidFill>
                            <a:latin typeface="Cambria Math" panose="02040503050406030204" pitchFamily="18" charset="0"/>
                            <a:ea typeface="Cambria Math" panose="02040503050406030204" pitchFamily="18" charset="0"/>
                            <a:sym typeface="Calibri"/>
                          </a:rPr>
                          <m:t>2</m:t>
                        </m:r>
                      </m:sub>
                    </m:sSub>
                    <m:d>
                      <m:dPr>
                        <m:ctrlPr>
                          <a:rPr lang="en-US" sz="2000" b="0" i="1" smtClean="0">
                            <a:solidFill>
                              <a:srgbClr val="000000"/>
                            </a:solidFill>
                            <a:latin typeface="Cambria Math" panose="02040503050406030204" pitchFamily="18" charset="0"/>
                            <a:ea typeface="Cambria Math" panose="02040503050406030204" pitchFamily="18" charset="0"/>
                            <a:sym typeface="Calibri"/>
                          </a:rPr>
                        </m:ctrlPr>
                      </m:dPr>
                      <m:e>
                        <m:r>
                          <a:rPr lang="en-US" sz="2000" b="0" i="1" smtClean="0">
                            <a:solidFill>
                              <a:srgbClr val="000000"/>
                            </a:solidFill>
                            <a:latin typeface="Cambria Math" panose="02040503050406030204" pitchFamily="18" charset="0"/>
                            <a:ea typeface="Cambria Math" panose="02040503050406030204" pitchFamily="18" charset="0"/>
                            <a:sym typeface="Calibri"/>
                          </a:rPr>
                          <m:t>𝑡</m:t>
                        </m:r>
                      </m:e>
                    </m:d>
                    <m:r>
                      <a:rPr lang="en-US" sz="2000" i="1">
                        <a:solidFill>
                          <a:srgbClr val="000000"/>
                        </a:solidFill>
                        <a:latin typeface="Cambria Math" panose="02040503050406030204" pitchFamily="18" charset="0"/>
                        <a:ea typeface="Cambria Math" panose="02040503050406030204" pitchFamily="18" charset="0"/>
                        <a:sym typeface="Calibri"/>
                      </a:rPr>
                      <m:t>=</m:t>
                    </m:r>
                    <m:r>
                      <a:rPr lang="en-US" sz="2000" i="1">
                        <a:solidFill>
                          <a:srgbClr val="000000"/>
                        </a:solidFill>
                        <a:latin typeface="Cambria Math" panose="02040503050406030204" pitchFamily="18" charset="0"/>
                        <a:ea typeface="Cambria Math" panose="02040503050406030204" pitchFamily="18" charset="0"/>
                        <a:sym typeface="Calibri"/>
                      </a:rPr>
                      <m:t>𝒯</m:t>
                    </m:r>
                    <m:d>
                      <m:dPr>
                        <m:begChr m:val="["/>
                        <m:endChr m:val="]"/>
                        <m:ctrlPr>
                          <a:rPr lang="en-US" sz="2000" i="1" smtClean="0">
                            <a:solidFill>
                              <a:srgbClr val="000000"/>
                            </a:solidFill>
                            <a:latin typeface="Cambria Math" panose="02040503050406030204" pitchFamily="18" charset="0"/>
                            <a:ea typeface="Cambria Math" panose="02040503050406030204" pitchFamily="18" charset="0"/>
                            <a:sym typeface="Calibri"/>
                          </a:rPr>
                        </m:ctrlPr>
                      </m:dPr>
                      <m:e>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𝑥</m:t>
                            </m:r>
                          </m:e>
                          <m:sub>
                            <m:r>
                              <a:rPr lang="en-US" sz="2000" b="0" i="1" smtClean="0">
                                <a:solidFill>
                                  <a:srgbClr val="000000"/>
                                </a:solidFill>
                                <a:latin typeface="Cambria Math" panose="02040503050406030204" pitchFamily="18" charset="0"/>
                                <a:ea typeface="Cambria Math" panose="02040503050406030204" pitchFamily="18" charset="0"/>
                                <a:sym typeface="Calibri"/>
                              </a:rPr>
                              <m:t>1</m:t>
                            </m:r>
                          </m:sub>
                        </m:sSub>
                        <m:d>
                          <m:dPr>
                            <m:ctrlPr>
                              <a:rPr lang="en-US" sz="2000" i="1">
                                <a:solidFill>
                                  <a:srgbClr val="000000"/>
                                </a:solidFill>
                                <a:latin typeface="Cambria Math" panose="02040503050406030204" pitchFamily="18" charset="0"/>
                                <a:ea typeface="Cambria Math" panose="02040503050406030204" pitchFamily="18" charset="0"/>
                                <a:sym typeface="Calibri"/>
                              </a:rPr>
                            </m:ctrlPr>
                          </m:dPr>
                          <m:e>
                            <m:r>
                              <a:rPr lang="en-US" sz="2000" i="1">
                                <a:solidFill>
                                  <a:srgbClr val="000000"/>
                                </a:solidFill>
                                <a:latin typeface="Cambria Math" panose="02040503050406030204" pitchFamily="18" charset="0"/>
                                <a:ea typeface="Cambria Math" panose="02040503050406030204" pitchFamily="18" charset="0"/>
                                <a:sym typeface="Calibri"/>
                              </a:rPr>
                              <m:t>𝑡</m:t>
                            </m:r>
                          </m:e>
                        </m:d>
                        <m:r>
                          <a:rPr lang="en-US" sz="2000"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𝑥</m:t>
                            </m:r>
                          </m:e>
                          <m:sub>
                            <m:r>
                              <a:rPr lang="en-US" sz="2000" b="0" i="1" smtClean="0">
                                <a:solidFill>
                                  <a:srgbClr val="000000"/>
                                </a:solidFill>
                                <a:latin typeface="Cambria Math" panose="02040503050406030204" pitchFamily="18" charset="0"/>
                                <a:ea typeface="Cambria Math" panose="02040503050406030204" pitchFamily="18" charset="0"/>
                                <a:sym typeface="Calibri"/>
                              </a:rPr>
                              <m:t>2</m:t>
                            </m:r>
                          </m:sub>
                        </m:sSub>
                        <m:r>
                          <a:rPr lang="en-US" sz="2000" b="0" i="1" smtClean="0">
                            <a:solidFill>
                              <a:srgbClr val="000000"/>
                            </a:solidFill>
                            <a:latin typeface="Cambria Math" panose="02040503050406030204" pitchFamily="18" charset="0"/>
                            <a:ea typeface="Cambria Math" panose="02040503050406030204" pitchFamily="18" charset="0"/>
                            <a:sym typeface="Calibri"/>
                          </a:rPr>
                          <m:t>(</m:t>
                        </m:r>
                        <m:r>
                          <a:rPr lang="en-US" sz="2000" b="0" i="1" smtClean="0">
                            <a:solidFill>
                              <a:srgbClr val="000000"/>
                            </a:solidFill>
                            <a:latin typeface="Cambria Math" panose="02040503050406030204" pitchFamily="18" charset="0"/>
                            <a:ea typeface="Cambria Math" panose="02040503050406030204" pitchFamily="18" charset="0"/>
                            <a:sym typeface="Calibri"/>
                          </a:rPr>
                          <m:t>𝑡</m:t>
                        </m:r>
                        <m:r>
                          <a:rPr lang="en-US" sz="2000" b="0" i="1" smtClean="0">
                            <a:solidFill>
                              <a:srgbClr val="000000"/>
                            </a:solidFill>
                            <a:latin typeface="Cambria Math" panose="02040503050406030204" pitchFamily="18" charset="0"/>
                            <a:ea typeface="Cambria Math" panose="02040503050406030204" pitchFamily="18" charset="0"/>
                            <a:sym typeface="Calibri"/>
                          </a:rPr>
                          <m:t>)</m:t>
                        </m:r>
                      </m:e>
                    </m:d>
                  </m:oMath>
                </a14:m>
                <a:endParaRPr lang="en-US" sz="2000" dirty="0">
                  <a:solidFill>
                    <a:srgbClr val="000000"/>
                  </a:solidFill>
                  <a:ea typeface="Cambria Math" panose="02040503050406030204" pitchFamily="18" charset="0"/>
                  <a:sym typeface="Calibri"/>
                </a:endParaRPr>
              </a:p>
              <a:p>
                <a:pPr marL="342900" indent="-342900" defTabSz="457200" latinLnBrk="1"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Impulse response: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sym typeface="Calibri"/>
                      </a:rPr>
                      <m:t>ℎ</m:t>
                    </m:r>
                    <m:d>
                      <m:dPr>
                        <m:ctrlPr>
                          <a:rPr lang="en-US" sz="2000" b="0" i="1" smtClean="0">
                            <a:solidFill>
                              <a:srgbClr val="000000"/>
                            </a:solidFill>
                            <a:latin typeface="Cambria Math" panose="02040503050406030204" pitchFamily="18" charset="0"/>
                            <a:ea typeface="Cambria Math" panose="02040503050406030204" pitchFamily="18" charset="0"/>
                            <a:sym typeface="Calibri"/>
                          </a:rPr>
                        </m:ctrlPr>
                      </m:dPr>
                      <m:e>
                        <m:r>
                          <a:rPr lang="en-US" sz="2000" b="0" i="1" smtClean="0">
                            <a:solidFill>
                              <a:srgbClr val="000000"/>
                            </a:solidFill>
                            <a:latin typeface="Cambria Math" panose="02040503050406030204" pitchFamily="18" charset="0"/>
                            <a:ea typeface="Cambria Math" panose="02040503050406030204" pitchFamily="18" charset="0"/>
                            <a:sym typeface="Calibri"/>
                          </a:rPr>
                          <m:t>𝑡</m:t>
                        </m:r>
                      </m:e>
                    </m:d>
                    <m:r>
                      <a:rPr lang="en-US" sz="2000" b="0" i="1" smtClean="0">
                        <a:solidFill>
                          <a:srgbClr val="000000"/>
                        </a:solidFill>
                        <a:latin typeface="Cambria Math" panose="02040503050406030204" pitchFamily="18" charset="0"/>
                        <a:ea typeface="Cambria Math" panose="02040503050406030204" pitchFamily="18" charset="0"/>
                        <a:sym typeface="Calibri"/>
                      </a:rPr>
                      <m:t>=</m:t>
                    </m:r>
                    <m:r>
                      <a:rPr lang="en-US" sz="2000" i="1">
                        <a:solidFill>
                          <a:srgbClr val="000000"/>
                        </a:solidFill>
                        <a:latin typeface="Cambria Math" panose="02040503050406030204" pitchFamily="18" charset="0"/>
                        <a:ea typeface="Cambria Math" panose="02040503050406030204" pitchFamily="18" charset="0"/>
                        <a:sym typeface="Calibri"/>
                      </a:rPr>
                      <m:t>𝒯</m:t>
                    </m:r>
                    <m:d>
                      <m:dPr>
                        <m:begChr m:val="["/>
                        <m:endChr m:val="]"/>
                        <m:ctrlPr>
                          <a:rPr lang="en-US" sz="2000" i="1" smtClean="0">
                            <a:solidFill>
                              <a:srgbClr val="000000"/>
                            </a:solidFill>
                            <a:latin typeface="Cambria Math" panose="02040503050406030204" pitchFamily="18" charset="0"/>
                            <a:ea typeface="Cambria Math" panose="02040503050406030204" pitchFamily="18" charset="0"/>
                            <a:sym typeface="Calibri"/>
                          </a:rPr>
                        </m:ctrlPr>
                      </m:dPr>
                      <m:e>
                        <m:r>
                          <a:rPr lang="en-US" sz="2000" i="1" smtClean="0">
                            <a:solidFill>
                              <a:srgbClr val="000000"/>
                            </a:solidFill>
                            <a:latin typeface="Cambria Math" panose="02040503050406030204" pitchFamily="18" charset="0"/>
                            <a:ea typeface="Cambria Math" panose="02040503050406030204" pitchFamily="18" charset="0"/>
                            <a:sym typeface="Calibri"/>
                          </a:rPr>
                          <m:t>𝛿</m:t>
                        </m:r>
                        <m:r>
                          <a:rPr lang="en-US" sz="2000" i="1" smtClean="0">
                            <a:solidFill>
                              <a:srgbClr val="000000"/>
                            </a:solidFill>
                            <a:latin typeface="Cambria Math" panose="02040503050406030204" pitchFamily="18" charset="0"/>
                            <a:ea typeface="Cambria Math" panose="02040503050406030204" pitchFamily="18" charset="0"/>
                            <a:sym typeface="Calibri"/>
                          </a:rPr>
                          <m:t> (</m:t>
                        </m:r>
                        <m:r>
                          <a:rPr lang="en-US" sz="2000" i="1">
                            <a:solidFill>
                              <a:srgbClr val="000000"/>
                            </a:solidFill>
                            <a:latin typeface="Cambria Math" panose="02040503050406030204" pitchFamily="18" charset="0"/>
                            <a:ea typeface="Cambria Math" panose="02040503050406030204" pitchFamily="18" charset="0"/>
                            <a:sym typeface="Calibri"/>
                          </a:rPr>
                          <m:t>𝑡</m:t>
                        </m:r>
                        <m:r>
                          <a:rPr lang="en-US" sz="2000" i="1">
                            <a:solidFill>
                              <a:srgbClr val="000000"/>
                            </a:solidFill>
                            <a:latin typeface="Cambria Math" panose="02040503050406030204" pitchFamily="18" charset="0"/>
                            <a:ea typeface="Cambria Math" panose="02040503050406030204" pitchFamily="18" charset="0"/>
                            <a:sym typeface="Calibri"/>
                          </a:rPr>
                          <m:t>)</m:t>
                        </m:r>
                      </m:e>
                    </m:d>
                    <m:r>
                      <a:rPr lang="en-US" sz="2000" b="0" i="1" smtClean="0">
                        <a:solidFill>
                          <a:srgbClr val="000000"/>
                        </a:solidFill>
                        <a:latin typeface="Cambria Math" panose="02040503050406030204" pitchFamily="18" charset="0"/>
                        <a:ea typeface="Cambria Math" panose="02040503050406030204" pitchFamily="18" charset="0"/>
                        <a:sym typeface="Calibri"/>
                      </a:rPr>
                      <m:t>= </m:t>
                    </m:r>
                    <m:nary>
                      <m:naryPr>
                        <m:ctrlPr>
                          <a:rPr lang="en-US" sz="2000" b="0" i="1" smtClean="0">
                            <a:solidFill>
                              <a:srgbClr val="000000"/>
                            </a:solidFill>
                            <a:latin typeface="Cambria Math" panose="02040503050406030204" pitchFamily="18" charset="0"/>
                            <a:ea typeface="Cambria Math" panose="02040503050406030204" pitchFamily="18" charset="0"/>
                            <a:sym typeface="Calibri"/>
                          </a:rPr>
                        </m:ctrlPr>
                      </m:naryPr>
                      <m:sub>
                        <m:r>
                          <m:rPr>
                            <m:brk m:alnAt="23"/>
                          </m:rPr>
                          <a:rPr lang="en-US" sz="2000" b="0" i="1" smtClean="0">
                            <a:solidFill>
                              <a:srgbClr val="000000"/>
                            </a:solidFill>
                            <a:latin typeface="Cambria Math" panose="02040503050406030204" pitchFamily="18" charset="0"/>
                            <a:ea typeface="Cambria Math" panose="02040503050406030204" pitchFamily="18" charset="0"/>
                            <a:sym typeface="Calibri"/>
                          </a:rPr>
                          <m:t>−</m:t>
                        </m:r>
                        <m:r>
                          <a:rPr lang="en-US" sz="2000" b="0" i="1" smtClean="0">
                            <a:solidFill>
                              <a:srgbClr val="000000"/>
                            </a:solidFill>
                            <a:latin typeface="Cambria Math" panose="02040503050406030204" pitchFamily="18" charset="0"/>
                            <a:ea typeface="Cambria Math" panose="02040503050406030204" pitchFamily="18" charset="0"/>
                            <a:sym typeface="Calibri"/>
                          </a:rPr>
                          <m:t>∞</m:t>
                        </m:r>
                      </m:sub>
                      <m:sup>
                        <m:r>
                          <a:rPr lang="en-US" sz="2000" b="0" i="1" smtClean="0">
                            <a:solidFill>
                              <a:srgbClr val="000000"/>
                            </a:solidFill>
                            <a:latin typeface="Cambria Math" panose="02040503050406030204" pitchFamily="18" charset="0"/>
                            <a:ea typeface="Cambria Math" panose="02040503050406030204" pitchFamily="18" charset="0"/>
                            <a:sym typeface="Calibri"/>
                          </a:rPr>
                          <m:t>∞</m:t>
                        </m:r>
                      </m:sup>
                      <m:e>
                        <m:r>
                          <a:rPr lang="en-US" sz="2000" b="0" i="1" smtClean="0">
                            <a:solidFill>
                              <a:srgbClr val="000000"/>
                            </a:solidFill>
                            <a:latin typeface="Cambria Math" panose="02040503050406030204" pitchFamily="18" charset="0"/>
                            <a:ea typeface="Cambria Math" panose="02040503050406030204" pitchFamily="18" charset="0"/>
                            <a:sym typeface="Calibri"/>
                          </a:rPr>
                          <m:t>𝑥</m:t>
                        </m:r>
                        <m:d>
                          <m:dPr>
                            <m:ctrlPr>
                              <a:rPr lang="en-US" sz="2000" b="0" i="1" smtClean="0">
                                <a:solidFill>
                                  <a:srgbClr val="000000"/>
                                </a:solidFill>
                                <a:latin typeface="Cambria Math" panose="02040503050406030204" pitchFamily="18" charset="0"/>
                                <a:ea typeface="Cambria Math" panose="02040503050406030204" pitchFamily="18" charset="0"/>
                                <a:sym typeface="Calibri"/>
                              </a:rPr>
                            </m:ctrlPr>
                          </m:dPr>
                          <m:e>
                            <m:r>
                              <a:rPr lang="en-US" sz="2000" b="0" i="1" smtClean="0">
                                <a:solidFill>
                                  <a:srgbClr val="000000"/>
                                </a:solidFill>
                                <a:latin typeface="Cambria Math" panose="02040503050406030204" pitchFamily="18" charset="0"/>
                                <a:ea typeface="Cambria Math" panose="02040503050406030204" pitchFamily="18" charset="0"/>
                                <a:sym typeface="Calibri"/>
                              </a:rPr>
                              <m:t>𝜏</m:t>
                            </m:r>
                          </m:e>
                        </m:d>
                        <m:r>
                          <a:rPr lang="en-US" sz="2000" b="0" i="1" smtClean="0">
                            <a:solidFill>
                              <a:srgbClr val="000000"/>
                            </a:solidFill>
                            <a:latin typeface="Cambria Math" panose="02040503050406030204" pitchFamily="18" charset="0"/>
                            <a:ea typeface="Cambria Math" panose="02040503050406030204" pitchFamily="18" charset="0"/>
                            <a:sym typeface="Calibri"/>
                          </a:rPr>
                          <m:t>ℎ</m:t>
                        </m:r>
                        <m:d>
                          <m:dPr>
                            <m:ctrlPr>
                              <a:rPr lang="en-US" sz="2000" b="0" i="1" smtClean="0">
                                <a:solidFill>
                                  <a:srgbClr val="000000"/>
                                </a:solidFill>
                                <a:latin typeface="Cambria Math" panose="02040503050406030204" pitchFamily="18" charset="0"/>
                                <a:ea typeface="Cambria Math" panose="02040503050406030204" pitchFamily="18" charset="0"/>
                                <a:sym typeface="Calibri"/>
                              </a:rPr>
                            </m:ctrlPr>
                          </m:dPr>
                          <m:e>
                            <m:r>
                              <a:rPr lang="en-US" sz="2000" b="0" i="1" smtClean="0">
                                <a:solidFill>
                                  <a:srgbClr val="000000"/>
                                </a:solidFill>
                                <a:latin typeface="Cambria Math" panose="02040503050406030204" pitchFamily="18" charset="0"/>
                                <a:ea typeface="Cambria Math" panose="02040503050406030204" pitchFamily="18" charset="0"/>
                                <a:sym typeface="Calibri"/>
                              </a:rPr>
                              <m:t>𝜏</m:t>
                            </m:r>
                            <m:r>
                              <a:rPr lang="en-US" sz="2000" b="0" i="1" smtClean="0">
                                <a:solidFill>
                                  <a:srgbClr val="000000"/>
                                </a:solidFill>
                                <a:latin typeface="Cambria Math" panose="02040503050406030204" pitchFamily="18" charset="0"/>
                                <a:ea typeface="Cambria Math" panose="02040503050406030204" pitchFamily="18" charset="0"/>
                                <a:sym typeface="Calibri"/>
                              </a:rPr>
                              <m:t>−</m:t>
                            </m:r>
                            <m:r>
                              <a:rPr lang="en-US" sz="2000" b="0" i="1" smtClean="0">
                                <a:solidFill>
                                  <a:srgbClr val="000000"/>
                                </a:solidFill>
                                <a:latin typeface="Cambria Math" panose="02040503050406030204" pitchFamily="18" charset="0"/>
                                <a:ea typeface="Cambria Math" panose="02040503050406030204" pitchFamily="18" charset="0"/>
                                <a:sym typeface="Calibri"/>
                              </a:rPr>
                              <m:t>𝑡</m:t>
                            </m:r>
                          </m:e>
                        </m:d>
                        <m:r>
                          <a:rPr lang="en-US" sz="2000" b="0" i="1" smtClean="0">
                            <a:solidFill>
                              <a:srgbClr val="000000"/>
                            </a:solidFill>
                            <a:latin typeface="Cambria Math" panose="02040503050406030204" pitchFamily="18" charset="0"/>
                            <a:ea typeface="Cambria Math" panose="02040503050406030204" pitchFamily="18" charset="0"/>
                            <a:sym typeface="Calibri"/>
                          </a:rPr>
                          <m:t>𝑑</m:t>
                        </m:r>
                        <m:r>
                          <a:rPr lang="en-US" sz="2000" b="0" i="1" smtClean="0">
                            <a:solidFill>
                              <a:srgbClr val="000000"/>
                            </a:solidFill>
                            <a:latin typeface="Cambria Math" panose="02040503050406030204" pitchFamily="18" charset="0"/>
                            <a:ea typeface="Cambria Math" panose="02040503050406030204" pitchFamily="18" charset="0"/>
                            <a:sym typeface="Calibri"/>
                          </a:rPr>
                          <m:t>𝜏</m:t>
                        </m:r>
                      </m:e>
                    </m:nary>
                  </m:oMath>
                </a14:m>
                <a:endParaRPr lang="en-US" sz="2000" dirty="0">
                  <a:solidFill>
                    <a:srgbClr val="000000"/>
                  </a:solidFill>
                  <a:ea typeface="Cambria Math" panose="02040503050406030204" pitchFamily="18" charset="0"/>
                  <a:sym typeface="Calibri"/>
                </a:endParaRPr>
              </a:p>
              <a:p>
                <a:pPr marL="342900" indent="-342900" defTabSz="457200" latinLnBrk="1"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Causal signal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sym typeface="Calibri"/>
                      </a:rPr>
                      <m:t>ℎ</m:t>
                    </m:r>
                    <m:d>
                      <m:dPr>
                        <m:ctrlPr>
                          <a:rPr lang="en-US" sz="2000" b="0" i="1" smtClean="0">
                            <a:solidFill>
                              <a:srgbClr val="000000"/>
                            </a:solidFill>
                            <a:latin typeface="Cambria Math" panose="02040503050406030204" pitchFamily="18" charset="0"/>
                            <a:ea typeface="Cambria Math" panose="02040503050406030204" pitchFamily="18" charset="0"/>
                            <a:sym typeface="Calibri"/>
                          </a:rPr>
                        </m:ctrlPr>
                      </m:dPr>
                      <m:e>
                        <m:r>
                          <a:rPr lang="en-US" sz="2000" b="0" i="1" smtClean="0">
                            <a:solidFill>
                              <a:srgbClr val="000000"/>
                            </a:solidFill>
                            <a:latin typeface="Cambria Math" panose="02040503050406030204" pitchFamily="18" charset="0"/>
                            <a:ea typeface="Cambria Math" panose="02040503050406030204" pitchFamily="18" charset="0"/>
                            <a:sym typeface="Calibri"/>
                          </a:rPr>
                          <m:t>𝑡</m:t>
                        </m:r>
                      </m:e>
                    </m:d>
                    <m:r>
                      <a:rPr lang="en-US" sz="2000" b="0" i="1" smtClean="0">
                        <a:solidFill>
                          <a:srgbClr val="000000"/>
                        </a:solidFill>
                        <a:latin typeface="Cambria Math" panose="02040503050406030204" pitchFamily="18" charset="0"/>
                        <a:ea typeface="Cambria Math" panose="02040503050406030204" pitchFamily="18" charset="0"/>
                        <a:sym typeface="Calibri"/>
                      </a:rPr>
                      <m:t>=0, </m:t>
                    </m:r>
                    <m:r>
                      <a:rPr lang="en-US" sz="2000" b="0" i="1" smtClean="0">
                        <a:solidFill>
                          <a:srgbClr val="000000"/>
                        </a:solidFill>
                        <a:latin typeface="Cambria Math" panose="02040503050406030204" pitchFamily="18" charset="0"/>
                        <a:ea typeface="Cambria Math" panose="02040503050406030204" pitchFamily="18" charset="0"/>
                        <a:sym typeface="Calibri"/>
                      </a:rPr>
                      <m:t>𝑡</m:t>
                    </m:r>
                    <m:r>
                      <a:rPr lang="en-US" sz="2000" b="0" i="1" smtClean="0">
                        <a:solidFill>
                          <a:srgbClr val="000000"/>
                        </a:solidFill>
                        <a:latin typeface="Cambria Math" panose="02040503050406030204" pitchFamily="18" charset="0"/>
                        <a:ea typeface="Cambria Math" panose="02040503050406030204" pitchFamily="18" charset="0"/>
                        <a:sym typeface="Calibri"/>
                      </a:rPr>
                      <m:t>&lt;0.</m:t>
                    </m:r>
                  </m:oMath>
                </a14:m>
                <a:r>
                  <a:rPr lang="en-US" sz="2000" dirty="0">
                    <a:solidFill>
                      <a:srgbClr val="000000"/>
                    </a:solidFill>
                    <a:ea typeface="Cambria Math" panose="02040503050406030204" pitchFamily="18" charset="0"/>
                    <a:sym typeface="Calibri"/>
                  </a:rPr>
                  <a:t>  For causal signal,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sym typeface="Calibri"/>
                      </a:rPr>
                      <m:t>𝑦</m:t>
                    </m:r>
                    <m:d>
                      <m:dPr>
                        <m:ctrlPr>
                          <a:rPr lang="en-US" sz="2000" b="0" i="1" smtClean="0">
                            <a:solidFill>
                              <a:srgbClr val="000000"/>
                            </a:solidFill>
                            <a:latin typeface="Cambria Math" panose="02040503050406030204" pitchFamily="18" charset="0"/>
                            <a:ea typeface="Cambria Math" panose="02040503050406030204" pitchFamily="18" charset="0"/>
                            <a:sym typeface="Calibri"/>
                          </a:rPr>
                        </m:ctrlPr>
                      </m:dPr>
                      <m:e>
                        <m:r>
                          <a:rPr lang="en-US" sz="2000" b="0" i="1" smtClean="0">
                            <a:solidFill>
                              <a:srgbClr val="000000"/>
                            </a:solidFill>
                            <a:latin typeface="Cambria Math" panose="02040503050406030204" pitchFamily="18" charset="0"/>
                            <a:ea typeface="Cambria Math" panose="02040503050406030204" pitchFamily="18" charset="0"/>
                            <a:sym typeface="Calibri"/>
                          </a:rPr>
                          <m:t>𝑡</m:t>
                        </m:r>
                      </m:e>
                    </m:d>
                    <m:r>
                      <a:rPr lang="en-US" sz="2000" b="0" i="1" smtClean="0">
                        <a:solidFill>
                          <a:srgbClr val="000000"/>
                        </a:solidFill>
                        <a:latin typeface="Cambria Math" panose="02040503050406030204" pitchFamily="18" charset="0"/>
                        <a:ea typeface="Cambria Math" panose="02040503050406030204" pitchFamily="18" charset="0"/>
                        <a:sym typeface="Calibri"/>
                      </a:rPr>
                      <m:t>=</m:t>
                    </m:r>
                    <m:nary>
                      <m:naryPr>
                        <m:ctrlPr>
                          <a:rPr lang="en-US" sz="2000" b="0" i="1" smtClean="0">
                            <a:solidFill>
                              <a:srgbClr val="000000"/>
                            </a:solidFill>
                            <a:latin typeface="Cambria Math" panose="02040503050406030204" pitchFamily="18" charset="0"/>
                            <a:ea typeface="Cambria Math" panose="02040503050406030204" pitchFamily="18" charset="0"/>
                            <a:sym typeface="Calibri"/>
                          </a:rPr>
                        </m:ctrlPr>
                      </m:naryPr>
                      <m:sub>
                        <m:r>
                          <m:rPr>
                            <m:brk m:alnAt="23"/>
                          </m:rPr>
                          <a:rPr lang="en-US" sz="2000" b="0" i="1" smtClean="0">
                            <a:solidFill>
                              <a:srgbClr val="000000"/>
                            </a:solidFill>
                            <a:latin typeface="Cambria Math" panose="02040503050406030204" pitchFamily="18" charset="0"/>
                            <a:ea typeface="Cambria Math" panose="02040503050406030204" pitchFamily="18" charset="0"/>
                            <a:sym typeface="Calibri"/>
                          </a:rPr>
                          <m:t>−</m:t>
                        </m:r>
                        <m:r>
                          <a:rPr lang="en-US" sz="2000" b="0" i="1" smtClean="0">
                            <a:solidFill>
                              <a:srgbClr val="000000"/>
                            </a:solidFill>
                            <a:latin typeface="Cambria Math" panose="02040503050406030204" pitchFamily="18" charset="0"/>
                            <a:ea typeface="Cambria Math" panose="02040503050406030204" pitchFamily="18" charset="0"/>
                            <a:sym typeface="Calibri"/>
                          </a:rPr>
                          <m:t>∞</m:t>
                        </m:r>
                      </m:sub>
                      <m:sup>
                        <m:r>
                          <a:rPr lang="en-US" sz="2000" b="0" i="1" smtClean="0">
                            <a:solidFill>
                              <a:srgbClr val="000000"/>
                            </a:solidFill>
                            <a:latin typeface="Cambria Math" panose="02040503050406030204" pitchFamily="18" charset="0"/>
                            <a:ea typeface="Cambria Math" panose="02040503050406030204" pitchFamily="18" charset="0"/>
                            <a:sym typeface="Calibri"/>
                          </a:rPr>
                          <m:t>𝑡</m:t>
                        </m:r>
                      </m:sup>
                      <m:e>
                        <m:r>
                          <a:rPr lang="en-US" sz="2000" b="0" i="1" smtClean="0">
                            <a:solidFill>
                              <a:srgbClr val="000000"/>
                            </a:solidFill>
                            <a:latin typeface="Cambria Math" panose="02040503050406030204" pitchFamily="18" charset="0"/>
                            <a:ea typeface="Cambria Math" panose="02040503050406030204" pitchFamily="18" charset="0"/>
                            <a:sym typeface="Calibri"/>
                          </a:rPr>
                          <m:t>𝑥</m:t>
                        </m:r>
                        <m:d>
                          <m:dPr>
                            <m:ctrlPr>
                              <a:rPr lang="en-US" sz="2000" b="0" i="1" smtClean="0">
                                <a:solidFill>
                                  <a:srgbClr val="000000"/>
                                </a:solidFill>
                                <a:latin typeface="Cambria Math" panose="02040503050406030204" pitchFamily="18" charset="0"/>
                                <a:ea typeface="Cambria Math" panose="02040503050406030204" pitchFamily="18" charset="0"/>
                                <a:sym typeface="Calibri"/>
                              </a:rPr>
                            </m:ctrlPr>
                          </m:dPr>
                          <m:e>
                            <m:r>
                              <a:rPr lang="en-US" sz="2000" b="0" i="1" smtClean="0">
                                <a:solidFill>
                                  <a:srgbClr val="000000"/>
                                </a:solidFill>
                                <a:latin typeface="Cambria Math" panose="02040503050406030204" pitchFamily="18" charset="0"/>
                                <a:ea typeface="Cambria Math" panose="02040503050406030204" pitchFamily="18" charset="0"/>
                                <a:sym typeface="Calibri"/>
                              </a:rPr>
                              <m:t>𝜏</m:t>
                            </m:r>
                          </m:e>
                        </m:d>
                        <m:r>
                          <a:rPr lang="en-US" sz="2000" b="0" i="1" smtClean="0">
                            <a:solidFill>
                              <a:srgbClr val="000000"/>
                            </a:solidFill>
                            <a:latin typeface="Cambria Math" panose="02040503050406030204" pitchFamily="18" charset="0"/>
                            <a:ea typeface="Cambria Math" panose="02040503050406030204" pitchFamily="18" charset="0"/>
                            <a:sym typeface="Calibri"/>
                          </a:rPr>
                          <m:t>ℎ</m:t>
                        </m:r>
                        <m:d>
                          <m:dPr>
                            <m:ctrlPr>
                              <a:rPr lang="en-US" sz="2000" b="0" i="1" smtClean="0">
                                <a:solidFill>
                                  <a:srgbClr val="000000"/>
                                </a:solidFill>
                                <a:latin typeface="Cambria Math" panose="02040503050406030204" pitchFamily="18" charset="0"/>
                                <a:ea typeface="Cambria Math" panose="02040503050406030204" pitchFamily="18" charset="0"/>
                                <a:sym typeface="Calibri"/>
                              </a:rPr>
                            </m:ctrlPr>
                          </m:dPr>
                          <m:e>
                            <m:r>
                              <a:rPr lang="en-US" sz="2000" b="0" i="1" smtClean="0">
                                <a:solidFill>
                                  <a:srgbClr val="000000"/>
                                </a:solidFill>
                                <a:latin typeface="Cambria Math" panose="02040503050406030204" pitchFamily="18" charset="0"/>
                                <a:ea typeface="Cambria Math" panose="02040503050406030204" pitchFamily="18" charset="0"/>
                                <a:sym typeface="Calibri"/>
                              </a:rPr>
                              <m:t>𝜏</m:t>
                            </m:r>
                            <m:r>
                              <a:rPr lang="en-US" sz="2000" b="0" i="1" smtClean="0">
                                <a:solidFill>
                                  <a:srgbClr val="000000"/>
                                </a:solidFill>
                                <a:latin typeface="Cambria Math" panose="02040503050406030204" pitchFamily="18" charset="0"/>
                                <a:ea typeface="Cambria Math" panose="02040503050406030204" pitchFamily="18" charset="0"/>
                                <a:sym typeface="Calibri"/>
                              </a:rPr>
                              <m:t>−</m:t>
                            </m:r>
                            <m:r>
                              <a:rPr lang="en-US" sz="2000" b="0" i="1" smtClean="0">
                                <a:solidFill>
                                  <a:srgbClr val="000000"/>
                                </a:solidFill>
                                <a:latin typeface="Cambria Math" panose="02040503050406030204" pitchFamily="18" charset="0"/>
                                <a:ea typeface="Cambria Math" panose="02040503050406030204" pitchFamily="18" charset="0"/>
                                <a:sym typeface="Calibri"/>
                              </a:rPr>
                              <m:t>𝑡</m:t>
                            </m:r>
                          </m:e>
                        </m:d>
                        <m:r>
                          <a:rPr lang="en-US" sz="2000" b="0" i="1" smtClean="0">
                            <a:solidFill>
                              <a:srgbClr val="000000"/>
                            </a:solidFill>
                            <a:latin typeface="Cambria Math" panose="02040503050406030204" pitchFamily="18" charset="0"/>
                            <a:ea typeface="Cambria Math" panose="02040503050406030204" pitchFamily="18" charset="0"/>
                            <a:sym typeface="Calibri"/>
                          </a:rPr>
                          <m:t>𝑑</m:t>
                        </m:r>
                        <m:r>
                          <a:rPr lang="en-US" sz="2000" b="0" i="1" smtClean="0">
                            <a:solidFill>
                              <a:srgbClr val="000000"/>
                            </a:solidFill>
                            <a:latin typeface="Cambria Math" panose="02040503050406030204" pitchFamily="18" charset="0"/>
                            <a:ea typeface="Cambria Math" panose="02040503050406030204" pitchFamily="18" charset="0"/>
                            <a:sym typeface="Calibri"/>
                          </a:rPr>
                          <m:t>𝜏</m:t>
                        </m:r>
                      </m:e>
                    </m:nary>
                  </m:oMath>
                </a14:m>
                <a:endParaRPr lang="en-US" sz="2000" b="0" dirty="0">
                  <a:solidFill>
                    <a:srgbClr val="000000"/>
                  </a:solidFill>
                  <a:ea typeface="Cambria Math" panose="02040503050406030204" pitchFamily="18" charset="0"/>
                  <a:sym typeface="Calibri"/>
                </a:endParaRPr>
              </a:p>
              <a:p>
                <a:pPr marL="342900" indent="-342900" defTabSz="457200" latinLnBrk="1"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Frequency Response: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sym typeface="Calibri"/>
                      </a:rPr>
                      <m:t>𝐻</m:t>
                    </m:r>
                    <m:d>
                      <m:dPr>
                        <m:ctrlPr>
                          <a:rPr lang="en-US" sz="2000" b="0" i="1" smtClean="0">
                            <a:solidFill>
                              <a:srgbClr val="000000"/>
                            </a:solidFill>
                            <a:latin typeface="Cambria Math" panose="02040503050406030204" pitchFamily="18" charset="0"/>
                            <a:ea typeface="Cambria Math" panose="02040503050406030204" pitchFamily="18" charset="0"/>
                            <a:sym typeface="Calibri"/>
                          </a:rPr>
                        </m:ctrlPr>
                      </m:dPr>
                      <m:e>
                        <m:r>
                          <a:rPr lang="en-US" sz="2000" b="0" i="1" smtClean="0">
                            <a:solidFill>
                              <a:srgbClr val="000000"/>
                            </a:solidFill>
                            <a:latin typeface="Cambria Math" panose="02040503050406030204" pitchFamily="18" charset="0"/>
                            <a:ea typeface="Cambria Math" panose="02040503050406030204" pitchFamily="18" charset="0"/>
                            <a:sym typeface="Calibri"/>
                          </a:rPr>
                          <m:t>𝜔</m:t>
                        </m:r>
                      </m:e>
                    </m:d>
                    <m:r>
                      <a:rPr lang="en-US" sz="2000" i="1">
                        <a:solidFill>
                          <a:srgbClr val="000000"/>
                        </a:solidFill>
                        <a:latin typeface="Cambria Math" panose="02040503050406030204" pitchFamily="18" charset="0"/>
                        <a:ea typeface="Cambria Math" panose="02040503050406030204" pitchFamily="18" charset="0"/>
                        <a:sym typeface="Calibri"/>
                      </a:rPr>
                      <m:t>=</m:t>
                    </m:r>
                    <m:r>
                      <a:rPr lang="en-US" sz="2000" i="1">
                        <a:solidFill>
                          <a:srgbClr val="000000"/>
                        </a:solidFill>
                        <a:latin typeface="Cambria Math" panose="02040503050406030204" pitchFamily="18" charset="0"/>
                        <a:ea typeface="Cambria Math" panose="02040503050406030204" pitchFamily="18" charset="0"/>
                        <a:sym typeface="Calibri"/>
                      </a:rPr>
                      <m:t>ℱ</m:t>
                    </m:r>
                    <m:d>
                      <m:dPr>
                        <m:begChr m:val="["/>
                        <m:endChr m:val="]"/>
                        <m:ctrlPr>
                          <a:rPr lang="en-US" sz="2000" b="0" i="1" smtClean="0">
                            <a:solidFill>
                              <a:srgbClr val="000000"/>
                            </a:solidFill>
                            <a:latin typeface="Cambria Math" panose="02040503050406030204" pitchFamily="18" charset="0"/>
                            <a:ea typeface="Cambria Math" panose="02040503050406030204" pitchFamily="18" charset="0"/>
                            <a:sym typeface="Calibri"/>
                          </a:rPr>
                        </m:ctrlPr>
                      </m:dPr>
                      <m:e>
                        <m:r>
                          <a:rPr lang="en-US" sz="2000" b="0" i="1" smtClean="0">
                            <a:solidFill>
                              <a:srgbClr val="000000"/>
                            </a:solidFill>
                            <a:latin typeface="Cambria Math" panose="02040503050406030204" pitchFamily="18" charset="0"/>
                            <a:ea typeface="Cambria Math" panose="02040503050406030204" pitchFamily="18" charset="0"/>
                            <a:sym typeface="Calibri"/>
                          </a:rPr>
                          <m:t>ℎ</m:t>
                        </m:r>
                        <m:d>
                          <m:dPr>
                            <m:ctrlPr>
                              <a:rPr lang="en-US" sz="2000" i="1">
                                <a:solidFill>
                                  <a:srgbClr val="000000"/>
                                </a:solidFill>
                                <a:latin typeface="Cambria Math" panose="02040503050406030204" pitchFamily="18" charset="0"/>
                                <a:ea typeface="Cambria Math" panose="02040503050406030204" pitchFamily="18" charset="0"/>
                                <a:sym typeface="Calibri"/>
                              </a:rPr>
                            </m:ctrlPr>
                          </m:dPr>
                          <m:e>
                            <m:r>
                              <a:rPr lang="en-US" sz="2000" i="1">
                                <a:solidFill>
                                  <a:srgbClr val="000000"/>
                                </a:solidFill>
                                <a:latin typeface="Cambria Math" panose="02040503050406030204" pitchFamily="18" charset="0"/>
                                <a:ea typeface="Cambria Math" panose="02040503050406030204" pitchFamily="18" charset="0"/>
                                <a:sym typeface="Calibri"/>
                              </a:rPr>
                              <m:t>𝑡</m:t>
                            </m:r>
                          </m:e>
                        </m:d>
                      </m:e>
                    </m:d>
                  </m:oMath>
                </a14:m>
                <a:r>
                  <a:rPr lang="en-US" sz="2000" dirty="0">
                    <a:solidFill>
                      <a:srgbClr val="000000"/>
                    </a:solidFill>
                    <a:ea typeface="Cambria Math" panose="02040503050406030204" pitchFamily="18" charset="0"/>
                    <a:sym typeface="Calibri"/>
                  </a:rPr>
                  <a:t>.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sym typeface="Calibri"/>
                      </a:rPr>
                      <m:t>𝑌</m:t>
                    </m:r>
                    <m:d>
                      <m:dPr>
                        <m:ctrlPr>
                          <a:rPr lang="en-US" sz="2000" b="0" i="1" smtClean="0">
                            <a:solidFill>
                              <a:srgbClr val="000000"/>
                            </a:solidFill>
                            <a:latin typeface="Cambria Math" panose="02040503050406030204" pitchFamily="18" charset="0"/>
                            <a:ea typeface="Cambria Math" panose="02040503050406030204" pitchFamily="18" charset="0"/>
                            <a:sym typeface="Calibri"/>
                          </a:rPr>
                        </m:ctrlPr>
                      </m:dPr>
                      <m:e>
                        <m:r>
                          <a:rPr lang="en-US" sz="2000" b="0" i="1" smtClean="0">
                            <a:solidFill>
                              <a:srgbClr val="000000"/>
                            </a:solidFill>
                            <a:latin typeface="Cambria Math" panose="02040503050406030204" pitchFamily="18" charset="0"/>
                            <a:ea typeface="Cambria Math" panose="02040503050406030204" pitchFamily="18" charset="0"/>
                            <a:sym typeface="Calibri"/>
                          </a:rPr>
                          <m:t>𝜔</m:t>
                        </m:r>
                      </m:e>
                    </m:d>
                    <m:r>
                      <a:rPr lang="en-US" sz="2000" b="0" i="1" smtClean="0">
                        <a:solidFill>
                          <a:srgbClr val="000000"/>
                        </a:solidFill>
                        <a:latin typeface="Cambria Math" panose="02040503050406030204" pitchFamily="18" charset="0"/>
                        <a:ea typeface="Cambria Math" panose="02040503050406030204" pitchFamily="18" charset="0"/>
                        <a:sym typeface="Calibri"/>
                      </a:rPr>
                      <m:t>=</m:t>
                    </m:r>
                    <m:r>
                      <a:rPr lang="en-US" sz="2000" b="0" i="1" smtClean="0">
                        <a:solidFill>
                          <a:srgbClr val="000000"/>
                        </a:solidFill>
                        <a:latin typeface="Cambria Math" panose="02040503050406030204" pitchFamily="18" charset="0"/>
                        <a:ea typeface="Cambria Math" panose="02040503050406030204" pitchFamily="18" charset="0"/>
                        <a:sym typeface="Calibri"/>
                      </a:rPr>
                      <m:t>𝐻</m:t>
                    </m:r>
                    <m:d>
                      <m:dPr>
                        <m:ctrlPr>
                          <a:rPr lang="en-US" sz="2000" b="0" i="1" smtClean="0">
                            <a:solidFill>
                              <a:srgbClr val="000000"/>
                            </a:solidFill>
                            <a:latin typeface="Cambria Math" panose="02040503050406030204" pitchFamily="18" charset="0"/>
                            <a:ea typeface="Cambria Math" panose="02040503050406030204" pitchFamily="18" charset="0"/>
                            <a:sym typeface="Calibri"/>
                          </a:rPr>
                        </m:ctrlPr>
                      </m:dPr>
                      <m:e>
                        <m:r>
                          <a:rPr lang="en-US" sz="2000" b="0" i="1" smtClean="0">
                            <a:solidFill>
                              <a:srgbClr val="000000"/>
                            </a:solidFill>
                            <a:latin typeface="Cambria Math" panose="02040503050406030204" pitchFamily="18" charset="0"/>
                            <a:ea typeface="Cambria Math" panose="02040503050406030204" pitchFamily="18" charset="0"/>
                            <a:sym typeface="Calibri"/>
                          </a:rPr>
                          <m:t>𝜔</m:t>
                        </m:r>
                      </m:e>
                    </m:d>
                    <m:r>
                      <a:rPr lang="en-US" sz="2000" b="0" i="1" smtClean="0">
                        <a:solidFill>
                          <a:srgbClr val="000000"/>
                        </a:solidFill>
                        <a:latin typeface="Cambria Math" panose="02040503050406030204" pitchFamily="18" charset="0"/>
                        <a:ea typeface="Cambria Math" panose="02040503050406030204" pitchFamily="18" charset="0"/>
                        <a:sym typeface="Calibri"/>
                      </a:rPr>
                      <m:t>𝑋</m:t>
                    </m:r>
                    <m:r>
                      <a:rPr lang="en-US" sz="2000" b="0" i="1" smtClean="0">
                        <a:solidFill>
                          <a:srgbClr val="000000"/>
                        </a:solidFill>
                        <a:latin typeface="Cambria Math" panose="02040503050406030204" pitchFamily="18" charset="0"/>
                        <a:ea typeface="Cambria Math" panose="02040503050406030204" pitchFamily="18" charset="0"/>
                        <a:sym typeface="Calibri"/>
                      </a:rPr>
                      <m:t>(</m:t>
                    </m:r>
                    <m:r>
                      <a:rPr lang="en-US" sz="2000" b="0" i="1" smtClean="0">
                        <a:solidFill>
                          <a:srgbClr val="000000"/>
                        </a:solidFill>
                        <a:latin typeface="Cambria Math" panose="02040503050406030204" pitchFamily="18" charset="0"/>
                        <a:ea typeface="Cambria Math" panose="02040503050406030204" pitchFamily="18" charset="0"/>
                        <a:sym typeface="Calibri"/>
                      </a:rPr>
                      <m:t>𝜔</m:t>
                    </m:r>
                    <m:r>
                      <a:rPr lang="en-US" sz="2000" b="0" i="1" smtClean="0">
                        <a:solidFill>
                          <a:srgbClr val="000000"/>
                        </a:solidFill>
                        <a:latin typeface="Cambria Math" panose="02040503050406030204" pitchFamily="18" charset="0"/>
                        <a:ea typeface="Cambria Math" panose="02040503050406030204" pitchFamily="18" charset="0"/>
                        <a:sym typeface="Calibri"/>
                      </a:rPr>
                      <m:t>)</m:t>
                    </m:r>
                  </m:oMath>
                </a14:m>
                <a:endParaRPr lang="en-US" sz="2000" dirty="0">
                  <a:solidFill>
                    <a:srgbClr val="000000"/>
                  </a:solidFill>
                  <a:ea typeface="Cambria Math" panose="02040503050406030204" pitchFamily="18" charset="0"/>
                  <a:sym typeface="Calibri"/>
                </a:endParaRPr>
              </a:p>
              <a:p>
                <a:pPr marL="342900" indent="-342900" defTabSz="457200" latinLnBrk="1" hangingPunct="0">
                  <a:buFont typeface="Arial" panose="020B0604020202020204" pitchFamily="34" charset="0"/>
                  <a:buChar char="•"/>
                </a:pPr>
                <a:endParaRPr lang="en-US" sz="2000" dirty="0">
                  <a:solidFill>
                    <a:srgbClr val="000000"/>
                  </a:solidFill>
                  <a:ea typeface="Cambria Math" panose="02040503050406030204" pitchFamily="18" charset="0"/>
                  <a:sym typeface="Calibri"/>
                </a:endParaRPr>
              </a:p>
              <a:p>
                <a:pPr marL="342900" indent="-342900" defTabSz="457200" latinLnBrk="1" hangingPunct="0">
                  <a:buFont typeface="Arial" panose="020B0604020202020204" pitchFamily="34" charset="0"/>
                  <a:buChar char="•"/>
                </a:pPr>
                <a:r>
                  <a:rPr lang="en-US" sz="2000" dirty="0" err="1">
                    <a:solidFill>
                      <a:srgbClr val="000000"/>
                    </a:solidFill>
                    <a:ea typeface="Cambria Math" panose="02040503050406030204" pitchFamily="18" charset="0"/>
                    <a:sym typeface="Calibri"/>
                  </a:rPr>
                  <a:t>Misc</a:t>
                </a:r>
                <a:endParaRPr lang="en-US" sz="2000" dirty="0">
                  <a:solidFill>
                    <a:srgbClr val="000000"/>
                  </a:solidFill>
                  <a:ea typeface="Cambria Math" panose="02040503050406030204" pitchFamily="18" charset="0"/>
                  <a:sym typeface="Calibri"/>
                </a:endParaRPr>
              </a:p>
              <a:p>
                <a:pPr marL="800100" lvl="1" indent="-342900" defTabSz="457200" latinLnBrk="1"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BSPK with SNR 10dB,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sym typeface="Calibri"/>
                      </a:rPr>
                      <m:t>𝐵𝐸𝑅</m:t>
                    </m:r>
                    <m:r>
                      <a:rPr lang="en-US" sz="2000" b="0" i="1" smtClean="0">
                        <a:solidFill>
                          <a:srgbClr val="000000"/>
                        </a:solidFill>
                        <a:latin typeface="Cambria Math" panose="02040503050406030204" pitchFamily="18" charset="0"/>
                        <a:ea typeface="Cambria Math" panose="02040503050406030204" pitchFamily="18" charset="0"/>
                        <a:sym typeface="Calibri"/>
                      </a:rPr>
                      <m:t>&lt; </m:t>
                    </m:r>
                    <m:sSup>
                      <m:sSup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pPr>
                      <m:e>
                        <m:r>
                          <a:rPr lang="en-US" sz="2000" b="0" i="1" smtClean="0">
                            <a:solidFill>
                              <a:srgbClr val="000000"/>
                            </a:solidFill>
                            <a:latin typeface="Cambria Math" panose="02040503050406030204" pitchFamily="18" charset="0"/>
                            <a:ea typeface="Cambria Math" panose="02040503050406030204" pitchFamily="18" charset="0"/>
                            <a:sym typeface="Calibri"/>
                          </a:rPr>
                          <m:t>10</m:t>
                        </m:r>
                      </m:e>
                      <m:sup>
                        <m:r>
                          <a:rPr lang="en-US" sz="2000" b="0" i="1" smtClean="0">
                            <a:solidFill>
                              <a:srgbClr val="000000"/>
                            </a:solidFill>
                            <a:latin typeface="Cambria Math" panose="02040503050406030204" pitchFamily="18" charset="0"/>
                            <a:ea typeface="Cambria Math" panose="02040503050406030204" pitchFamily="18" charset="0"/>
                            <a:sym typeface="Calibri"/>
                          </a:rPr>
                          <m:t>−7</m:t>
                        </m:r>
                      </m:sup>
                    </m:sSup>
                  </m:oMath>
                </a14:m>
                <a:r>
                  <a:rPr lang="en-US" sz="2000" dirty="0">
                    <a:solidFill>
                      <a:srgbClr val="000000"/>
                    </a:solidFill>
                    <a:ea typeface="Cambria Math" panose="02040503050406030204" pitchFamily="18" charset="0"/>
                    <a:sym typeface="Calibri"/>
                  </a:rPr>
                  <a:t> at 1Mbps</a:t>
                </a:r>
              </a:p>
              <a:p>
                <a:pPr marL="800100" lvl="1" indent="-342900" defTabSz="457200" latinLnBrk="1"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QAM with SNR 20dB, </a:t>
                </a: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sym typeface="Calibri"/>
                      </a:rPr>
                      <m:t>𝐵𝐸𝑅</m:t>
                    </m:r>
                    <m:r>
                      <a:rPr lang="en-US" sz="2000" i="1">
                        <a:solidFill>
                          <a:srgbClr val="000000"/>
                        </a:solidFill>
                        <a:latin typeface="Cambria Math" panose="02040503050406030204" pitchFamily="18" charset="0"/>
                        <a:ea typeface="Cambria Math" panose="02040503050406030204" pitchFamily="18" charset="0"/>
                        <a:sym typeface="Calibri"/>
                      </a:rPr>
                      <m:t>&lt; </m:t>
                    </m:r>
                    <m:sSup>
                      <m:sSupPr>
                        <m:ctrlPr>
                          <a:rPr lang="en-US" sz="2000" i="1">
                            <a:solidFill>
                              <a:srgbClr val="000000"/>
                            </a:solidFill>
                            <a:latin typeface="Cambria Math" panose="02040503050406030204" pitchFamily="18" charset="0"/>
                            <a:ea typeface="Cambria Math" panose="02040503050406030204" pitchFamily="18" charset="0"/>
                            <a:sym typeface="Calibri"/>
                          </a:rPr>
                        </m:ctrlPr>
                      </m:sSupPr>
                      <m:e>
                        <m:r>
                          <a:rPr lang="en-US" sz="2000" i="1">
                            <a:solidFill>
                              <a:srgbClr val="000000"/>
                            </a:solidFill>
                            <a:latin typeface="Cambria Math" panose="02040503050406030204" pitchFamily="18" charset="0"/>
                            <a:ea typeface="Cambria Math" panose="02040503050406030204" pitchFamily="18" charset="0"/>
                            <a:sym typeface="Calibri"/>
                          </a:rPr>
                          <m:t>10</m:t>
                        </m:r>
                      </m:e>
                      <m:sup>
                        <m:r>
                          <a:rPr lang="en-US" sz="2000" i="1">
                            <a:solidFill>
                              <a:srgbClr val="000000"/>
                            </a:solidFill>
                            <a:latin typeface="Cambria Math" panose="02040503050406030204" pitchFamily="18" charset="0"/>
                            <a:ea typeface="Cambria Math" panose="02040503050406030204" pitchFamily="18" charset="0"/>
                            <a:sym typeface="Calibri"/>
                          </a:rPr>
                          <m:t>−7</m:t>
                        </m:r>
                      </m:sup>
                    </m:sSup>
                  </m:oMath>
                </a14:m>
                <a:r>
                  <a:rPr lang="en-US" sz="2000" dirty="0">
                    <a:solidFill>
                      <a:srgbClr val="000000"/>
                    </a:solidFill>
                    <a:ea typeface="Cambria Math" panose="02040503050406030204" pitchFamily="18" charset="0"/>
                    <a:sym typeface="Calibri"/>
                  </a:rPr>
                  <a:t> at 4Mbps</a:t>
                </a:r>
              </a:p>
              <a:p>
                <a:pPr marL="800100" lvl="1" indent="-342900" defTabSz="457200" latinLnBrk="1"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QAM256 with SNR 30dB, </a:t>
                </a: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sym typeface="Calibri"/>
                      </a:rPr>
                      <m:t>𝐵𝐸𝑅</m:t>
                    </m:r>
                    <m:r>
                      <a:rPr lang="en-US" sz="2000" i="1">
                        <a:solidFill>
                          <a:srgbClr val="000000"/>
                        </a:solidFill>
                        <a:latin typeface="Cambria Math" panose="02040503050406030204" pitchFamily="18" charset="0"/>
                        <a:ea typeface="Cambria Math" panose="02040503050406030204" pitchFamily="18" charset="0"/>
                        <a:sym typeface="Calibri"/>
                      </a:rPr>
                      <m:t>&lt; </m:t>
                    </m:r>
                    <m:sSup>
                      <m:sSupPr>
                        <m:ctrlPr>
                          <a:rPr lang="en-US" sz="2000" i="1">
                            <a:solidFill>
                              <a:srgbClr val="000000"/>
                            </a:solidFill>
                            <a:latin typeface="Cambria Math" panose="02040503050406030204" pitchFamily="18" charset="0"/>
                            <a:ea typeface="Cambria Math" panose="02040503050406030204" pitchFamily="18" charset="0"/>
                            <a:sym typeface="Calibri"/>
                          </a:rPr>
                        </m:ctrlPr>
                      </m:sSupPr>
                      <m:e>
                        <m:r>
                          <a:rPr lang="en-US" sz="2000" i="1">
                            <a:solidFill>
                              <a:srgbClr val="000000"/>
                            </a:solidFill>
                            <a:latin typeface="Cambria Math" panose="02040503050406030204" pitchFamily="18" charset="0"/>
                            <a:ea typeface="Cambria Math" panose="02040503050406030204" pitchFamily="18" charset="0"/>
                            <a:sym typeface="Calibri"/>
                          </a:rPr>
                          <m:t>10</m:t>
                        </m:r>
                      </m:e>
                      <m:sup>
                        <m:r>
                          <a:rPr lang="en-US" sz="2000" i="1">
                            <a:solidFill>
                              <a:srgbClr val="000000"/>
                            </a:solidFill>
                            <a:latin typeface="Cambria Math" panose="02040503050406030204" pitchFamily="18" charset="0"/>
                            <a:ea typeface="Cambria Math" panose="02040503050406030204" pitchFamily="18" charset="0"/>
                            <a:sym typeface="Calibri"/>
                          </a:rPr>
                          <m:t>−7</m:t>
                        </m:r>
                      </m:sup>
                    </m:sSup>
                  </m:oMath>
                </a14:m>
                <a:r>
                  <a:rPr lang="en-US" sz="2000" dirty="0">
                    <a:solidFill>
                      <a:srgbClr val="000000"/>
                    </a:solidFill>
                    <a:ea typeface="Cambria Math" panose="02040503050406030204" pitchFamily="18" charset="0"/>
                    <a:sym typeface="Calibri"/>
                  </a:rPr>
                  <a:t> at 8Mbps </a:t>
                </a:r>
              </a:p>
              <a:p>
                <a:pPr marL="800100" lvl="1" indent="-342900" defTabSz="457200" latinLnBrk="1"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CSMA/CD (carrier sense, multiple access, collision detect)</a:t>
                </a:r>
              </a:p>
              <a:p>
                <a:pPr marL="800100" lvl="1" indent="-342900" defTabSz="457200" latinLnBrk="1"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CDMA (code division multiplexing with chipping)</a:t>
                </a:r>
              </a:p>
              <a:p>
                <a:pPr marL="800100" lvl="1" indent="-342900" defTabSz="457200" latinLnBrk="1" hangingPunct="0">
                  <a:buFont typeface="Arial" panose="020B0604020202020204" pitchFamily="34" charset="0"/>
                  <a:buChar char="•"/>
                </a:pPr>
                <a:endParaRPr lang="en-US" sz="2000" dirty="0">
                  <a:solidFill>
                    <a:srgbClr val="000000"/>
                  </a:solidFill>
                  <a:ea typeface="Cambria Math" panose="02040503050406030204" pitchFamily="18" charset="0"/>
                  <a:sym typeface="Calibri"/>
                </a:endParaRPr>
              </a:p>
            </p:txBody>
          </p:sp>
        </mc:Choice>
        <mc:Fallback xmlns="">
          <p:sp>
            <p:nvSpPr>
              <p:cNvPr id="15" name="TextBox 14">
                <a:extLst>
                  <a:ext uri="{FF2B5EF4-FFF2-40B4-BE49-F238E27FC236}">
                    <a16:creationId xmlns:a16="http://schemas.microsoft.com/office/drawing/2014/main" id="{34EE796B-9DCB-DE41-AEA4-31CBF97794EF}"/>
                  </a:ext>
                </a:extLst>
              </p:cNvPr>
              <p:cNvSpPr txBox="1">
                <a:spLocks noRot="1" noChangeAspect="1" noMove="1" noResize="1" noEditPoints="1" noAdjustHandles="1" noChangeArrowheads="1" noChangeShapeType="1" noTextEdit="1"/>
              </p:cNvSpPr>
              <p:nvPr/>
            </p:nvSpPr>
            <p:spPr>
              <a:xfrm>
                <a:off x="765110" y="1523781"/>
                <a:ext cx="10842690" cy="4668261"/>
              </a:xfrm>
              <a:prstGeom prst="rect">
                <a:avLst/>
              </a:prstGeom>
              <a:blipFill>
                <a:blip r:embed="rId3"/>
                <a:stretch>
                  <a:fillRect l="-937" t="-12228"/>
                </a:stretch>
              </a:blipFill>
              <a:ln w="12700" cap="flat">
                <a:noFill/>
                <a:miter lim="400000"/>
              </a:ln>
              <a:effectLst/>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6553200" y="6404292"/>
            <a:ext cx="2133600" cy="269241"/>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pPr lvl="0"/>
              <a:t>91</a:t>
            </a:fld>
            <a:endParaRPr lang="en-US"/>
          </a:p>
        </p:txBody>
      </p:sp>
    </p:spTree>
    <p:extLst>
      <p:ext uri="{BB962C8B-B14F-4D97-AF65-F5344CB8AC3E}">
        <p14:creationId xmlns:p14="http://schemas.microsoft.com/office/powerpoint/2010/main" val="307955233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719447" y="136525"/>
            <a:ext cx="10515600" cy="869909"/>
          </a:xfrm>
        </p:spPr>
        <p:txBody>
          <a:bodyPr/>
          <a:lstStyle/>
          <a:p>
            <a:pPr algn="ctr"/>
            <a:r>
              <a:rPr lang="en-US" dirty="0"/>
              <a:t>Morse</a:t>
            </a:r>
          </a:p>
        </p:txBody>
      </p:sp>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92</a:t>
            </a:fld>
            <a:endParaRPr lang="en-US"/>
          </a:p>
        </p:txBody>
      </p:sp>
      <p:graphicFrame>
        <p:nvGraphicFramePr>
          <p:cNvPr id="8" name="Table 8">
            <a:extLst>
              <a:ext uri="{FF2B5EF4-FFF2-40B4-BE49-F238E27FC236}">
                <a16:creationId xmlns:a16="http://schemas.microsoft.com/office/drawing/2014/main" id="{2E38930B-08FB-9C40-A675-8B920D57C7D3}"/>
              </a:ext>
            </a:extLst>
          </p:cNvPr>
          <p:cNvGraphicFramePr>
            <a:graphicFrameLocks noGrp="1"/>
          </p:cNvGraphicFramePr>
          <p:nvPr>
            <p:extLst>
              <p:ext uri="{D42A27DB-BD31-4B8C-83A1-F6EECF244321}">
                <p14:modId xmlns:p14="http://schemas.microsoft.com/office/powerpoint/2010/main" val="970793550"/>
              </p:ext>
            </p:extLst>
          </p:nvPr>
        </p:nvGraphicFramePr>
        <p:xfrm>
          <a:off x="1299735" y="1211856"/>
          <a:ext cx="9045102" cy="5135349"/>
        </p:xfrm>
        <a:graphic>
          <a:graphicData uri="http://schemas.openxmlformats.org/drawingml/2006/table">
            <a:tbl>
              <a:tblPr firstRow="1" bandRow="1">
                <a:tableStyleId>{5C22544A-7EE6-4342-B048-85BDC9FD1C3A}</a:tableStyleId>
              </a:tblPr>
              <a:tblGrid>
                <a:gridCol w="1507517">
                  <a:extLst>
                    <a:ext uri="{9D8B030D-6E8A-4147-A177-3AD203B41FA5}">
                      <a16:colId xmlns:a16="http://schemas.microsoft.com/office/drawing/2014/main" val="977480682"/>
                    </a:ext>
                  </a:extLst>
                </a:gridCol>
                <a:gridCol w="1507517">
                  <a:extLst>
                    <a:ext uri="{9D8B030D-6E8A-4147-A177-3AD203B41FA5}">
                      <a16:colId xmlns:a16="http://schemas.microsoft.com/office/drawing/2014/main" val="3714810406"/>
                    </a:ext>
                  </a:extLst>
                </a:gridCol>
                <a:gridCol w="1507517">
                  <a:extLst>
                    <a:ext uri="{9D8B030D-6E8A-4147-A177-3AD203B41FA5}">
                      <a16:colId xmlns:a16="http://schemas.microsoft.com/office/drawing/2014/main" val="3196450885"/>
                    </a:ext>
                  </a:extLst>
                </a:gridCol>
                <a:gridCol w="1507517">
                  <a:extLst>
                    <a:ext uri="{9D8B030D-6E8A-4147-A177-3AD203B41FA5}">
                      <a16:colId xmlns:a16="http://schemas.microsoft.com/office/drawing/2014/main" val="2247379925"/>
                    </a:ext>
                  </a:extLst>
                </a:gridCol>
                <a:gridCol w="1507517">
                  <a:extLst>
                    <a:ext uri="{9D8B030D-6E8A-4147-A177-3AD203B41FA5}">
                      <a16:colId xmlns:a16="http://schemas.microsoft.com/office/drawing/2014/main" val="4227134241"/>
                    </a:ext>
                  </a:extLst>
                </a:gridCol>
                <a:gridCol w="1507517">
                  <a:extLst>
                    <a:ext uri="{9D8B030D-6E8A-4147-A177-3AD203B41FA5}">
                      <a16:colId xmlns:a16="http://schemas.microsoft.com/office/drawing/2014/main" val="3708583303"/>
                    </a:ext>
                  </a:extLst>
                </a:gridCol>
              </a:tblGrid>
              <a:tr h="380469">
                <a:tc>
                  <a:txBody>
                    <a:bodyPr/>
                    <a:lstStyle/>
                    <a:p>
                      <a:pPr algn="r"/>
                      <a:r>
                        <a:rPr lang="en-US" dirty="0"/>
                        <a:t>Symbol</a:t>
                      </a:r>
                    </a:p>
                  </a:txBody>
                  <a:tcPr/>
                </a:tc>
                <a:tc>
                  <a:txBody>
                    <a:bodyPr/>
                    <a:lstStyle/>
                    <a:p>
                      <a:pPr algn="r"/>
                      <a:r>
                        <a:rPr lang="en-US" dirty="0"/>
                        <a:t>Code</a:t>
                      </a:r>
                    </a:p>
                  </a:txBody>
                  <a:tcPr/>
                </a:tc>
                <a:tc>
                  <a:txBody>
                    <a:bodyPr/>
                    <a:lstStyle/>
                    <a:p>
                      <a:pPr algn="r"/>
                      <a:r>
                        <a:rPr lang="en-US" dirty="0"/>
                        <a:t>Symbol</a:t>
                      </a:r>
                    </a:p>
                  </a:txBody>
                  <a:tcPr/>
                </a:tc>
                <a:tc>
                  <a:txBody>
                    <a:bodyPr/>
                    <a:lstStyle/>
                    <a:p>
                      <a:pPr algn="r"/>
                      <a:r>
                        <a:rPr lang="en-US" dirty="0"/>
                        <a:t>Code</a:t>
                      </a:r>
                    </a:p>
                  </a:txBody>
                  <a:tcPr/>
                </a:tc>
                <a:tc>
                  <a:txBody>
                    <a:bodyPr/>
                    <a:lstStyle/>
                    <a:p>
                      <a:pPr algn="r"/>
                      <a:r>
                        <a:rPr lang="en-US" dirty="0"/>
                        <a:t>Symbol</a:t>
                      </a:r>
                    </a:p>
                  </a:txBody>
                  <a:tcPr/>
                </a:tc>
                <a:tc>
                  <a:txBody>
                    <a:bodyPr/>
                    <a:lstStyle/>
                    <a:p>
                      <a:pPr algn="r"/>
                      <a:r>
                        <a:rPr lang="en-US" dirty="0"/>
                        <a:t>Code</a:t>
                      </a:r>
                    </a:p>
                  </a:txBody>
                  <a:tcPr/>
                </a:tc>
                <a:extLst>
                  <a:ext uri="{0D108BD9-81ED-4DB2-BD59-A6C34878D82A}">
                    <a16:rowId xmlns:a16="http://schemas.microsoft.com/office/drawing/2014/main" val="17889194"/>
                  </a:ext>
                </a:extLst>
              </a:tr>
              <a:tr h="380469">
                <a:tc>
                  <a:txBody>
                    <a:bodyPr/>
                    <a:lstStyle/>
                    <a:p>
                      <a:pPr algn="r"/>
                      <a:r>
                        <a:rPr lang="en-US" sz="2000" dirty="0"/>
                        <a:t>a</a:t>
                      </a:r>
                    </a:p>
                  </a:txBody>
                  <a:tcPr/>
                </a:tc>
                <a:tc>
                  <a:txBody>
                    <a:bodyPr/>
                    <a:lstStyle/>
                    <a:p>
                      <a:pPr algn="r"/>
                      <a:r>
                        <a:rPr lang="en-US" sz="2000" dirty="0"/>
                        <a:t>.-</a:t>
                      </a:r>
                    </a:p>
                  </a:txBody>
                  <a:tcPr/>
                </a:tc>
                <a:tc>
                  <a:txBody>
                    <a:bodyPr/>
                    <a:lstStyle/>
                    <a:p>
                      <a:pPr algn="r"/>
                      <a:r>
                        <a:rPr lang="en-US" sz="2000" dirty="0"/>
                        <a:t>m</a:t>
                      </a:r>
                    </a:p>
                  </a:txBody>
                  <a:tcPr/>
                </a:tc>
                <a:tc>
                  <a:txBody>
                    <a:bodyPr/>
                    <a:lstStyle/>
                    <a:p>
                      <a:pPr algn="r"/>
                      <a:r>
                        <a:rPr lang="en-US" sz="2000" dirty="0"/>
                        <a:t>--</a:t>
                      </a:r>
                    </a:p>
                  </a:txBody>
                  <a:tcPr/>
                </a:tc>
                <a:tc>
                  <a:txBody>
                    <a:bodyPr/>
                    <a:lstStyle/>
                    <a:p>
                      <a:pPr algn="r"/>
                      <a:r>
                        <a:rPr lang="en-US" sz="2000" dirty="0"/>
                        <a:t>y</a:t>
                      </a:r>
                    </a:p>
                  </a:txBody>
                  <a:tcPr/>
                </a:tc>
                <a:tc>
                  <a:txBody>
                    <a:bodyPr/>
                    <a:lstStyle/>
                    <a:p>
                      <a:pPr algn="r"/>
                      <a:r>
                        <a:rPr lang="en-US" sz="2000" dirty="0"/>
                        <a:t>-.--</a:t>
                      </a:r>
                    </a:p>
                  </a:txBody>
                  <a:tcPr/>
                </a:tc>
                <a:extLst>
                  <a:ext uri="{0D108BD9-81ED-4DB2-BD59-A6C34878D82A}">
                    <a16:rowId xmlns:a16="http://schemas.microsoft.com/office/drawing/2014/main" val="2879605188"/>
                  </a:ext>
                </a:extLst>
              </a:tr>
              <a:tr h="380469">
                <a:tc>
                  <a:txBody>
                    <a:bodyPr/>
                    <a:lstStyle/>
                    <a:p>
                      <a:pPr algn="r"/>
                      <a:r>
                        <a:rPr lang="en-US" sz="2000" dirty="0"/>
                        <a:t>b</a:t>
                      </a:r>
                    </a:p>
                  </a:txBody>
                  <a:tcPr/>
                </a:tc>
                <a:tc>
                  <a:txBody>
                    <a:bodyPr/>
                    <a:lstStyle/>
                    <a:p>
                      <a:pPr algn="r"/>
                      <a:r>
                        <a:rPr lang="en-US" sz="2000" dirty="0"/>
                        <a:t>-...</a:t>
                      </a:r>
                    </a:p>
                  </a:txBody>
                  <a:tcPr/>
                </a:tc>
                <a:tc>
                  <a:txBody>
                    <a:bodyPr/>
                    <a:lstStyle/>
                    <a:p>
                      <a:pPr algn="r"/>
                      <a:r>
                        <a:rPr lang="en-US" sz="2000" dirty="0"/>
                        <a:t>n</a:t>
                      </a:r>
                    </a:p>
                  </a:txBody>
                  <a:tcPr/>
                </a:tc>
                <a:tc>
                  <a:txBody>
                    <a:bodyPr/>
                    <a:lstStyle/>
                    <a:p>
                      <a:pPr algn="r"/>
                      <a:r>
                        <a:rPr lang="en-US" sz="2000" dirty="0"/>
                        <a:t>-.</a:t>
                      </a:r>
                    </a:p>
                  </a:txBody>
                  <a:tcPr/>
                </a:tc>
                <a:tc>
                  <a:txBody>
                    <a:bodyPr/>
                    <a:lstStyle/>
                    <a:p>
                      <a:pPr algn="r"/>
                      <a:r>
                        <a:rPr lang="en-US" sz="2000" dirty="0"/>
                        <a:t>z</a:t>
                      </a:r>
                    </a:p>
                  </a:txBody>
                  <a:tcPr/>
                </a:tc>
                <a:tc>
                  <a:txBody>
                    <a:bodyPr/>
                    <a:lstStyle/>
                    <a:p>
                      <a:pPr algn="r"/>
                      <a:r>
                        <a:rPr lang="en-US" sz="2000" dirty="0"/>
                        <a:t>--..</a:t>
                      </a:r>
                    </a:p>
                  </a:txBody>
                  <a:tcPr/>
                </a:tc>
                <a:extLst>
                  <a:ext uri="{0D108BD9-81ED-4DB2-BD59-A6C34878D82A}">
                    <a16:rowId xmlns:a16="http://schemas.microsoft.com/office/drawing/2014/main" val="4096880376"/>
                  </a:ext>
                </a:extLst>
              </a:tr>
              <a:tr h="380469">
                <a:tc>
                  <a:txBody>
                    <a:bodyPr/>
                    <a:lstStyle/>
                    <a:p>
                      <a:pPr algn="r"/>
                      <a:r>
                        <a:rPr lang="en-US" sz="2000" dirty="0"/>
                        <a:t>c</a:t>
                      </a:r>
                    </a:p>
                  </a:txBody>
                  <a:tcPr/>
                </a:tc>
                <a:tc>
                  <a:txBody>
                    <a:bodyPr/>
                    <a:lstStyle/>
                    <a:p>
                      <a:pPr algn="r"/>
                      <a:r>
                        <a:rPr lang="en-US" sz="2000" dirty="0"/>
                        <a:t>-.-.</a:t>
                      </a:r>
                    </a:p>
                  </a:txBody>
                  <a:tcPr/>
                </a:tc>
                <a:tc>
                  <a:txBody>
                    <a:bodyPr/>
                    <a:lstStyle/>
                    <a:p>
                      <a:pPr algn="r"/>
                      <a:r>
                        <a:rPr lang="en-US" sz="2000" dirty="0"/>
                        <a:t>o</a:t>
                      </a:r>
                    </a:p>
                  </a:txBody>
                  <a:tcPr/>
                </a:tc>
                <a:tc>
                  <a:txBody>
                    <a:bodyPr/>
                    <a:lstStyle/>
                    <a:p>
                      <a:pPr algn="r"/>
                      <a:r>
                        <a:rPr lang="en-US" sz="2000" dirty="0"/>
                        <a:t>---</a:t>
                      </a:r>
                    </a:p>
                  </a:txBody>
                  <a:tcPr/>
                </a:tc>
                <a:tc>
                  <a:txBody>
                    <a:bodyPr/>
                    <a:lstStyle/>
                    <a:p>
                      <a:pPr algn="r"/>
                      <a:r>
                        <a:rPr lang="en-US" sz="2000" dirty="0"/>
                        <a:t>0</a:t>
                      </a:r>
                    </a:p>
                  </a:txBody>
                  <a:tcPr/>
                </a:tc>
                <a:tc>
                  <a:txBody>
                    <a:bodyPr/>
                    <a:lstStyle/>
                    <a:p>
                      <a:pPr algn="r"/>
                      <a:r>
                        <a:rPr lang="en-US" sz="2000" dirty="0"/>
                        <a:t>-----</a:t>
                      </a:r>
                    </a:p>
                  </a:txBody>
                  <a:tcPr/>
                </a:tc>
                <a:extLst>
                  <a:ext uri="{0D108BD9-81ED-4DB2-BD59-A6C34878D82A}">
                    <a16:rowId xmlns:a16="http://schemas.microsoft.com/office/drawing/2014/main" val="1409866351"/>
                  </a:ext>
                </a:extLst>
              </a:tr>
              <a:tr h="380469">
                <a:tc>
                  <a:txBody>
                    <a:bodyPr/>
                    <a:lstStyle/>
                    <a:p>
                      <a:pPr algn="r"/>
                      <a:r>
                        <a:rPr lang="en-US" sz="2000" dirty="0"/>
                        <a:t>d</a:t>
                      </a:r>
                    </a:p>
                  </a:txBody>
                  <a:tcPr/>
                </a:tc>
                <a:tc>
                  <a:txBody>
                    <a:bodyPr/>
                    <a:lstStyle/>
                    <a:p>
                      <a:pPr algn="r"/>
                      <a:r>
                        <a:rPr lang="en-US" sz="2000" dirty="0"/>
                        <a:t>-..</a:t>
                      </a:r>
                    </a:p>
                  </a:txBody>
                  <a:tcPr/>
                </a:tc>
                <a:tc>
                  <a:txBody>
                    <a:bodyPr/>
                    <a:lstStyle/>
                    <a:p>
                      <a:pPr algn="r"/>
                      <a:r>
                        <a:rPr lang="en-US" sz="2000" dirty="0"/>
                        <a:t>p</a:t>
                      </a:r>
                    </a:p>
                  </a:txBody>
                  <a:tcPr/>
                </a:tc>
                <a:tc>
                  <a:txBody>
                    <a:bodyPr/>
                    <a:lstStyle/>
                    <a:p>
                      <a:pPr algn="r"/>
                      <a:r>
                        <a:rPr lang="en-US" sz="2000" dirty="0"/>
                        <a:t>.--.</a:t>
                      </a:r>
                    </a:p>
                  </a:txBody>
                  <a:tcPr/>
                </a:tc>
                <a:tc>
                  <a:txBody>
                    <a:bodyPr/>
                    <a:lstStyle/>
                    <a:p>
                      <a:pPr algn="r"/>
                      <a:r>
                        <a:rPr lang="en-US" sz="2000" dirty="0"/>
                        <a:t>1</a:t>
                      </a:r>
                    </a:p>
                  </a:txBody>
                  <a:tcPr/>
                </a:tc>
                <a:tc>
                  <a:txBody>
                    <a:bodyPr/>
                    <a:lstStyle/>
                    <a:p>
                      <a:pPr algn="r"/>
                      <a:r>
                        <a:rPr lang="en-US" sz="2000" dirty="0"/>
                        <a:t>.----</a:t>
                      </a:r>
                    </a:p>
                  </a:txBody>
                  <a:tcPr/>
                </a:tc>
                <a:extLst>
                  <a:ext uri="{0D108BD9-81ED-4DB2-BD59-A6C34878D82A}">
                    <a16:rowId xmlns:a16="http://schemas.microsoft.com/office/drawing/2014/main" val="4228237221"/>
                  </a:ext>
                </a:extLst>
              </a:tr>
              <a:tr h="380469">
                <a:tc>
                  <a:txBody>
                    <a:bodyPr/>
                    <a:lstStyle/>
                    <a:p>
                      <a:pPr algn="r"/>
                      <a:r>
                        <a:rPr lang="en-US" sz="2000" dirty="0"/>
                        <a:t>e</a:t>
                      </a:r>
                    </a:p>
                  </a:txBody>
                  <a:tcPr/>
                </a:tc>
                <a:tc>
                  <a:txBody>
                    <a:bodyPr/>
                    <a:lstStyle/>
                    <a:p>
                      <a:pPr algn="r"/>
                      <a:r>
                        <a:rPr lang="en-US" sz="2000" dirty="0"/>
                        <a:t>.</a:t>
                      </a:r>
                    </a:p>
                  </a:txBody>
                  <a:tcPr/>
                </a:tc>
                <a:tc>
                  <a:txBody>
                    <a:bodyPr/>
                    <a:lstStyle/>
                    <a:p>
                      <a:pPr algn="r"/>
                      <a:r>
                        <a:rPr lang="en-US" sz="2000" dirty="0"/>
                        <a:t>q</a:t>
                      </a:r>
                    </a:p>
                  </a:txBody>
                  <a:tcPr/>
                </a:tc>
                <a:tc>
                  <a:txBody>
                    <a:bodyPr/>
                    <a:lstStyle/>
                    <a:p>
                      <a:pPr algn="r"/>
                      <a:r>
                        <a:rPr lang="en-US" sz="2000" dirty="0"/>
                        <a:t>--.-</a:t>
                      </a:r>
                    </a:p>
                  </a:txBody>
                  <a:tcPr/>
                </a:tc>
                <a:tc>
                  <a:txBody>
                    <a:bodyPr/>
                    <a:lstStyle/>
                    <a:p>
                      <a:pPr algn="r"/>
                      <a:r>
                        <a:rPr lang="en-US" sz="2000" dirty="0"/>
                        <a:t>2</a:t>
                      </a:r>
                    </a:p>
                  </a:txBody>
                  <a:tcPr/>
                </a:tc>
                <a:tc>
                  <a:txBody>
                    <a:bodyPr/>
                    <a:lstStyle/>
                    <a:p>
                      <a:pPr algn="r"/>
                      <a:r>
                        <a:rPr lang="en-US" sz="2000" dirty="0"/>
                        <a:t>..---</a:t>
                      </a:r>
                    </a:p>
                  </a:txBody>
                  <a:tcPr/>
                </a:tc>
                <a:extLst>
                  <a:ext uri="{0D108BD9-81ED-4DB2-BD59-A6C34878D82A}">
                    <a16:rowId xmlns:a16="http://schemas.microsoft.com/office/drawing/2014/main" val="2121924954"/>
                  </a:ext>
                </a:extLst>
              </a:tr>
              <a:tr h="380469">
                <a:tc>
                  <a:txBody>
                    <a:bodyPr/>
                    <a:lstStyle/>
                    <a:p>
                      <a:pPr algn="r"/>
                      <a:r>
                        <a:rPr lang="en-US" sz="2000" dirty="0"/>
                        <a:t>f</a:t>
                      </a:r>
                    </a:p>
                  </a:txBody>
                  <a:tcPr/>
                </a:tc>
                <a:tc>
                  <a:txBody>
                    <a:bodyPr/>
                    <a:lstStyle/>
                    <a:p>
                      <a:pPr algn="r"/>
                      <a:r>
                        <a:rPr lang="en-US" sz="2000" dirty="0"/>
                        <a:t>..-.</a:t>
                      </a:r>
                    </a:p>
                  </a:txBody>
                  <a:tcPr/>
                </a:tc>
                <a:tc>
                  <a:txBody>
                    <a:bodyPr/>
                    <a:lstStyle/>
                    <a:p>
                      <a:pPr algn="r"/>
                      <a:r>
                        <a:rPr lang="en-US" sz="2000" dirty="0"/>
                        <a:t>r</a:t>
                      </a:r>
                    </a:p>
                  </a:txBody>
                  <a:tcPr/>
                </a:tc>
                <a:tc>
                  <a:txBody>
                    <a:bodyPr/>
                    <a:lstStyle/>
                    <a:p>
                      <a:pPr algn="r"/>
                      <a:r>
                        <a:rPr lang="en-US" sz="2000" dirty="0"/>
                        <a:t>--.</a:t>
                      </a:r>
                    </a:p>
                  </a:txBody>
                  <a:tcPr/>
                </a:tc>
                <a:tc>
                  <a:txBody>
                    <a:bodyPr/>
                    <a:lstStyle/>
                    <a:p>
                      <a:pPr algn="r"/>
                      <a:r>
                        <a:rPr lang="en-US" sz="2000" dirty="0"/>
                        <a:t>3</a:t>
                      </a:r>
                    </a:p>
                  </a:txBody>
                  <a:tcPr/>
                </a:tc>
                <a:tc>
                  <a:txBody>
                    <a:bodyPr/>
                    <a:lstStyle/>
                    <a:p>
                      <a:pPr algn="r"/>
                      <a:r>
                        <a:rPr lang="en-US" sz="2000" dirty="0"/>
                        <a:t>…--</a:t>
                      </a:r>
                    </a:p>
                  </a:txBody>
                  <a:tcPr/>
                </a:tc>
                <a:extLst>
                  <a:ext uri="{0D108BD9-81ED-4DB2-BD59-A6C34878D82A}">
                    <a16:rowId xmlns:a16="http://schemas.microsoft.com/office/drawing/2014/main" val="1488236510"/>
                  </a:ext>
                </a:extLst>
              </a:tr>
              <a:tr h="380469">
                <a:tc>
                  <a:txBody>
                    <a:bodyPr/>
                    <a:lstStyle/>
                    <a:p>
                      <a:pPr algn="r"/>
                      <a:r>
                        <a:rPr lang="en-US" sz="2000" dirty="0"/>
                        <a:t>g</a:t>
                      </a:r>
                    </a:p>
                  </a:txBody>
                  <a:tcPr/>
                </a:tc>
                <a:tc>
                  <a:txBody>
                    <a:bodyPr/>
                    <a:lstStyle/>
                    <a:p>
                      <a:pPr algn="r"/>
                      <a:r>
                        <a:rPr lang="en-US" sz="2000" dirty="0"/>
                        <a:t>--.</a:t>
                      </a:r>
                    </a:p>
                  </a:txBody>
                  <a:tcPr/>
                </a:tc>
                <a:tc>
                  <a:txBody>
                    <a:bodyPr/>
                    <a:lstStyle/>
                    <a:p>
                      <a:pPr algn="r"/>
                      <a:r>
                        <a:rPr lang="en-US" sz="2000" dirty="0"/>
                        <a:t>s</a:t>
                      </a:r>
                    </a:p>
                  </a:txBody>
                  <a:tcPr/>
                </a:tc>
                <a:tc>
                  <a:txBody>
                    <a:bodyPr/>
                    <a:lstStyle/>
                    <a:p>
                      <a:pPr algn="r"/>
                      <a:r>
                        <a:rPr lang="en-US" sz="2000" dirty="0"/>
                        <a:t>…</a:t>
                      </a:r>
                    </a:p>
                  </a:txBody>
                  <a:tcPr/>
                </a:tc>
                <a:tc>
                  <a:txBody>
                    <a:bodyPr/>
                    <a:lstStyle/>
                    <a:p>
                      <a:pPr algn="r"/>
                      <a:r>
                        <a:rPr lang="en-US" sz="2000" dirty="0"/>
                        <a:t>4</a:t>
                      </a:r>
                    </a:p>
                  </a:txBody>
                  <a:tcPr/>
                </a:tc>
                <a:tc>
                  <a:txBody>
                    <a:bodyPr/>
                    <a:lstStyle/>
                    <a:p>
                      <a:pPr algn="r"/>
                      <a:r>
                        <a:rPr lang="en-US" sz="2000" dirty="0"/>
                        <a:t>….-</a:t>
                      </a:r>
                    </a:p>
                  </a:txBody>
                  <a:tcPr/>
                </a:tc>
                <a:extLst>
                  <a:ext uri="{0D108BD9-81ED-4DB2-BD59-A6C34878D82A}">
                    <a16:rowId xmlns:a16="http://schemas.microsoft.com/office/drawing/2014/main" val="1800829361"/>
                  </a:ext>
                </a:extLst>
              </a:tr>
              <a:tr h="380469">
                <a:tc>
                  <a:txBody>
                    <a:bodyPr/>
                    <a:lstStyle/>
                    <a:p>
                      <a:pPr algn="r"/>
                      <a:r>
                        <a:rPr lang="en-US" sz="2000" dirty="0"/>
                        <a:t>h</a:t>
                      </a:r>
                    </a:p>
                  </a:txBody>
                  <a:tcPr/>
                </a:tc>
                <a:tc>
                  <a:txBody>
                    <a:bodyPr/>
                    <a:lstStyle/>
                    <a:p>
                      <a:pPr algn="r"/>
                      <a:r>
                        <a:rPr lang="en-US" sz="2000" dirty="0"/>
                        <a:t>….</a:t>
                      </a:r>
                    </a:p>
                  </a:txBody>
                  <a:tcPr/>
                </a:tc>
                <a:tc>
                  <a:txBody>
                    <a:bodyPr/>
                    <a:lstStyle/>
                    <a:p>
                      <a:pPr algn="r"/>
                      <a:r>
                        <a:rPr lang="en-US" sz="2000" dirty="0"/>
                        <a:t>t</a:t>
                      </a:r>
                    </a:p>
                  </a:txBody>
                  <a:tcPr/>
                </a:tc>
                <a:tc>
                  <a:txBody>
                    <a:bodyPr/>
                    <a:lstStyle/>
                    <a:p>
                      <a:pPr algn="r"/>
                      <a:r>
                        <a:rPr lang="en-US" sz="2000" dirty="0"/>
                        <a:t>-</a:t>
                      </a:r>
                    </a:p>
                  </a:txBody>
                  <a:tcPr/>
                </a:tc>
                <a:tc>
                  <a:txBody>
                    <a:bodyPr/>
                    <a:lstStyle/>
                    <a:p>
                      <a:pPr algn="r"/>
                      <a:r>
                        <a:rPr lang="en-US" sz="2000" dirty="0"/>
                        <a:t>5</a:t>
                      </a:r>
                    </a:p>
                  </a:txBody>
                  <a:tcPr/>
                </a:tc>
                <a:tc>
                  <a:txBody>
                    <a:bodyPr/>
                    <a:lstStyle/>
                    <a:p>
                      <a:pPr algn="r"/>
                      <a:r>
                        <a:rPr lang="en-US" sz="2000" dirty="0"/>
                        <a:t>…..</a:t>
                      </a:r>
                    </a:p>
                  </a:txBody>
                  <a:tcPr/>
                </a:tc>
                <a:extLst>
                  <a:ext uri="{0D108BD9-81ED-4DB2-BD59-A6C34878D82A}">
                    <a16:rowId xmlns:a16="http://schemas.microsoft.com/office/drawing/2014/main" val="788765580"/>
                  </a:ext>
                </a:extLst>
              </a:tr>
              <a:tr h="380469">
                <a:tc>
                  <a:txBody>
                    <a:bodyPr/>
                    <a:lstStyle/>
                    <a:p>
                      <a:pPr algn="r"/>
                      <a:r>
                        <a:rPr lang="en-US" sz="2000" dirty="0" err="1"/>
                        <a:t>i</a:t>
                      </a:r>
                      <a:endParaRPr lang="en-US" sz="2000" dirty="0"/>
                    </a:p>
                  </a:txBody>
                  <a:tcPr/>
                </a:tc>
                <a:tc>
                  <a:txBody>
                    <a:bodyPr/>
                    <a:lstStyle/>
                    <a:p>
                      <a:pPr algn="r"/>
                      <a:r>
                        <a:rPr lang="en-US" sz="2000" dirty="0"/>
                        <a:t>..</a:t>
                      </a:r>
                    </a:p>
                  </a:txBody>
                  <a:tcPr/>
                </a:tc>
                <a:tc>
                  <a:txBody>
                    <a:bodyPr/>
                    <a:lstStyle/>
                    <a:p>
                      <a:pPr algn="r"/>
                      <a:r>
                        <a:rPr lang="en-US" sz="2000" dirty="0"/>
                        <a:t>u</a:t>
                      </a:r>
                    </a:p>
                  </a:txBody>
                  <a:tcPr/>
                </a:tc>
                <a:tc>
                  <a:txBody>
                    <a:bodyPr/>
                    <a:lstStyle/>
                    <a:p>
                      <a:pPr algn="r"/>
                      <a:r>
                        <a:rPr lang="en-US" sz="2000" dirty="0"/>
                        <a:t>..-</a:t>
                      </a:r>
                    </a:p>
                  </a:txBody>
                  <a:tcPr/>
                </a:tc>
                <a:tc>
                  <a:txBody>
                    <a:bodyPr/>
                    <a:lstStyle/>
                    <a:p>
                      <a:pPr algn="r"/>
                      <a:r>
                        <a:rPr lang="en-US" sz="2000" dirty="0"/>
                        <a:t>6</a:t>
                      </a:r>
                    </a:p>
                  </a:txBody>
                  <a:tcPr/>
                </a:tc>
                <a:tc>
                  <a:txBody>
                    <a:bodyPr/>
                    <a:lstStyle/>
                    <a:p>
                      <a:pPr algn="r"/>
                      <a:r>
                        <a:rPr lang="en-US" sz="2000" dirty="0"/>
                        <a:t>-....</a:t>
                      </a:r>
                    </a:p>
                  </a:txBody>
                  <a:tcPr/>
                </a:tc>
                <a:extLst>
                  <a:ext uri="{0D108BD9-81ED-4DB2-BD59-A6C34878D82A}">
                    <a16:rowId xmlns:a16="http://schemas.microsoft.com/office/drawing/2014/main" val="3850579968"/>
                  </a:ext>
                </a:extLst>
              </a:tr>
              <a:tr h="380469">
                <a:tc>
                  <a:txBody>
                    <a:bodyPr/>
                    <a:lstStyle/>
                    <a:p>
                      <a:pPr algn="r"/>
                      <a:r>
                        <a:rPr lang="en-US" sz="2000" dirty="0"/>
                        <a:t>j</a:t>
                      </a:r>
                    </a:p>
                  </a:txBody>
                  <a:tcPr/>
                </a:tc>
                <a:tc>
                  <a:txBody>
                    <a:bodyPr/>
                    <a:lstStyle/>
                    <a:p>
                      <a:pPr algn="r"/>
                      <a:r>
                        <a:rPr lang="en-US" sz="2000" dirty="0"/>
                        <a:t>.---</a:t>
                      </a:r>
                    </a:p>
                  </a:txBody>
                  <a:tcPr/>
                </a:tc>
                <a:tc>
                  <a:txBody>
                    <a:bodyPr/>
                    <a:lstStyle/>
                    <a:p>
                      <a:pPr algn="r"/>
                      <a:r>
                        <a:rPr lang="en-US" sz="2000" dirty="0"/>
                        <a:t>v</a:t>
                      </a:r>
                    </a:p>
                  </a:txBody>
                  <a:tcPr/>
                </a:tc>
                <a:tc>
                  <a:txBody>
                    <a:bodyPr/>
                    <a:lstStyle/>
                    <a:p>
                      <a:pPr algn="r"/>
                      <a:r>
                        <a:rPr lang="en-US" sz="2000" dirty="0"/>
                        <a:t>…-</a:t>
                      </a:r>
                    </a:p>
                  </a:txBody>
                  <a:tcPr/>
                </a:tc>
                <a:tc>
                  <a:txBody>
                    <a:bodyPr/>
                    <a:lstStyle/>
                    <a:p>
                      <a:pPr algn="r"/>
                      <a:r>
                        <a:rPr lang="en-US" sz="2000" dirty="0"/>
                        <a:t>7</a:t>
                      </a:r>
                    </a:p>
                  </a:txBody>
                  <a:tcPr/>
                </a:tc>
                <a:tc>
                  <a:txBody>
                    <a:bodyPr/>
                    <a:lstStyle/>
                    <a:p>
                      <a:pPr algn="r"/>
                      <a:r>
                        <a:rPr lang="en-US" sz="2000" dirty="0"/>
                        <a:t>--...</a:t>
                      </a:r>
                    </a:p>
                  </a:txBody>
                  <a:tcPr/>
                </a:tc>
                <a:extLst>
                  <a:ext uri="{0D108BD9-81ED-4DB2-BD59-A6C34878D82A}">
                    <a16:rowId xmlns:a16="http://schemas.microsoft.com/office/drawing/2014/main" val="3142043327"/>
                  </a:ext>
                </a:extLst>
              </a:tr>
              <a:tr h="380469">
                <a:tc>
                  <a:txBody>
                    <a:bodyPr/>
                    <a:lstStyle/>
                    <a:p>
                      <a:pPr algn="r"/>
                      <a:r>
                        <a:rPr lang="en-US" sz="2000" dirty="0"/>
                        <a:t>k</a:t>
                      </a:r>
                    </a:p>
                  </a:txBody>
                  <a:tcPr/>
                </a:tc>
                <a:tc>
                  <a:txBody>
                    <a:bodyPr/>
                    <a:lstStyle/>
                    <a:p>
                      <a:pPr algn="r"/>
                      <a:r>
                        <a:rPr lang="en-US" sz="2000" dirty="0"/>
                        <a:t>-.-</a:t>
                      </a:r>
                    </a:p>
                  </a:txBody>
                  <a:tcPr/>
                </a:tc>
                <a:tc>
                  <a:txBody>
                    <a:bodyPr/>
                    <a:lstStyle/>
                    <a:p>
                      <a:pPr algn="r"/>
                      <a:r>
                        <a:rPr lang="en-US" sz="2000" dirty="0"/>
                        <a:t>w</a:t>
                      </a:r>
                    </a:p>
                  </a:txBody>
                  <a:tcPr/>
                </a:tc>
                <a:tc>
                  <a:txBody>
                    <a:bodyPr/>
                    <a:lstStyle/>
                    <a:p>
                      <a:pPr algn="r"/>
                      <a:r>
                        <a:rPr lang="en-US" sz="2000" dirty="0"/>
                        <a:t>.--</a:t>
                      </a:r>
                    </a:p>
                  </a:txBody>
                  <a:tcPr/>
                </a:tc>
                <a:tc>
                  <a:txBody>
                    <a:bodyPr/>
                    <a:lstStyle/>
                    <a:p>
                      <a:pPr algn="r"/>
                      <a:r>
                        <a:rPr lang="en-US" sz="2000" dirty="0"/>
                        <a:t>8</a:t>
                      </a:r>
                    </a:p>
                  </a:txBody>
                  <a:tcPr/>
                </a:tc>
                <a:tc>
                  <a:txBody>
                    <a:bodyPr/>
                    <a:lstStyle/>
                    <a:p>
                      <a:pPr algn="r"/>
                      <a:r>
                        <a:rPr lang="en-US" sz="2000" dirty="0"/>
                        <a:t>---..</a:t>
                      </a:r>
                    </a:p>
                  </a:txBody>
                  <a:tcPr/>
                </a:tc>
                <a:extLst>
                  <a:ext uri="{0D108BD9-81ED-4DB2-BD59-A6C34878D82A}">
                    <a16:rowId xmlns:a16="http://schemas.microsoft.com/office/drawing/2014/main" val="564215616"/>
                  </a:ext>
                </a:extLst>
              </a:tr>
              <a:tr h="380469">
                <a:tc>
                  <a:txBody>
                    <a:bodyPr/>
                    <a:lstStyle/>
                    <a:p>
                      <a:pPr algn="r"/>
                      <a:r>
                        <a:rPr lang="en-US" sz="2000" dirty="0"/>
                        <a:t>l</a:t>
                      </a:r>
                    </a:p>
                  </a:txBody>
                  <a:tcPr/>
                </a:tc>
                <a:tc>
                  <a:txBody>
                    <a:bodyPr/>
                    <a:lstStyle/>
                    <a:p>
                      <a:pPr algn="r"/>
                      <a:r>
                        <a:rPr lang="en-US" sz="2000" dirty="0"/>
                        <a:t>.-..</a:t>
                      </a:r>
                    </a:p>
                  </a:txBody>
                  <a:tcPr/>
                </a:tc>
                <a:tc>
                  <a:txBody>
                    <a:bodyPr/>
                    <a:lstStyle/>
                    <a:p>
                      <a:pPr algn="r"/>
                      <a:r>
                        <a:rPr lang="en-US" sz="2000" dirty="0"/>
                        <a:t>x</a:t>
                      </a:r>
                    </a:p>
                  </a:txBody>
                  <a:tcPr/>
                </a:tc>
                <a:tc>
                  <a:txBody>
                    <a:bodyPr/>
                    <a:lstStyle/>
                    <a:p>
                      <a:pPr algn="r"/>
                      <a:r>
                        <a:rPr lang="en-US" sz="2000" dirty="0"/>
                        <a:t>-..-</a:t>
                      </a:r>
                    </a:p>
                  </a:txBody>
                  <a:tcPr/>
                </a:tc>
                <a:tc>
                  <a:txBody>
                    <a:bodyPr/>
                    <a:lstStyle/>
                    <a:p>
                      <a:pPr algn="r"/>
                      <a:r>
                        <a:rPr lang="en-US" sz="2000" dirty="0"/>
                        <a:t>9</a:t>
                      </a:r>
                    </a:p>
                  </a:txBody>
                  <a:tcPr/>
                </a:tc>
                <a:tc>
                  <a:txBody>
                    <a:bodyPr/>
                    <a:lstStyle/>
                    <a:p>
                      <a:pPr algn="r"/>
                      <a:r>
                        <a:rPr lang="en-US" sz="2000" dirty="0"/>
                        <a:t>----.</a:t>
                      </a:r>
                    </a:p>
                  </a:txBody>
                  <a:tcPr/>
                </a:tc>
                <a:extLst>
                  <a:ext uri="{0D108BD9-81ED-4DB2-BD59-A6C34878D82A}">
                    <a16:rowId xmlns:a16="http://schemas.microsoft.com/office/drawing/2014/main" val="580013349"/>
                  </a:ext>
                </a:extLst>
              </a:tr>
            </a:tbl>
          </a:graphicData>
        </a:graphic>
      </p:graphicFrame>
    </p:spTree>
    <p:extLst>
      <p:ext uri="{BB962C8B-B14F-4D97-AF65-F5344CB8AC3E}">
        <p14:creationId xmlns:p14="http://schemas.microsoft.com/office/powerpoint/2010/main" val="240230001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306656"/>
            <a:ext cx="11529391" cy="769441"/>
          </a:xfrm>
          <a:prstGeom prst="rect">
            <a:avLst/>
          </a:prstGeom>
          <a:noFill/>
        </p:spPr>
        <p:txBody>
          <a:bodyPr wrap="square" rtlCol="0">
            <a:spAutoFit/>
          </a:bodyPr>
          <a:lstStyle/>
          <a:p>
            <a:pPr algn="ctr"/>
            <a:r>
              <a:rPr lang="en-US" sz="4400" dirty="0">
                <a:latin typeface="+mj-lt"/>
              </a:rPr>
              <a:t>Pinouts</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6553200" y="6404292"/>
            <a:ext cx="2133600" cy="269241"/>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pPr lvl="0"/>
              <a:t>93</a:t>
            </a:fld>
            <a:endParaRPr lang="en-US"/>
          </a:p>
        </p:txBody>
      </p:sp>
      <p:pic>
        <p:nvPicPr>
          <p:cNvPr id="1026" name="Picture 2" descr="IRF510 Transistor Pinout, Equivalent, Uses, Features and Other Details -  Components Info">
            <a:extLst>
              <a:ext uri="{FF2B5EF4-FFF2-40B4-BE49-F238E27FC236}">
                <a16:creationId xmlns:a16="http://schemas.microsoft.com/office/drawing/2014/main" id="{41441DF6-A089-3344-9C1D-3323C86F51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800" y="2173367"/>
            <a:ext cx="3925760" cy="333046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2N7000 - Wikipedia">
            <a:extLst>
              <a:ext uri="{FF2B5EF4-FFF2-40B4-BE49-F238E27FC236}">
                <a16:creationId xmlns:a16="http://schemas.microsoft.com/office/drawing/2014/main" id="{29C2E9F1-2998-3C47-910B-A57551CD1C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23478" y="1763053"/>
            <a:ext cx="3441700" cy="23622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Datasheet J310">
            <a:extLst>
              <a:ext uri="{FF2B5EF4-FFF2-40B4-BE49-F238E27FC236}">
                <a16:creationId xmlns:a16="http://schemas.microsoft.com/office/drawing/2014/main" id="{41DA0811-1514-6E4B-97D9-1181B3BB905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65562" y="939573"/>
            <a:ext cx="2755900" cy="51943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3E766FD-E1F0-9E41-AABA-BB87CE307E22}"/>
              </a:ext>
            </a:extLst>
          </p:cNvPr>
          <p:cNvSpPr txBox="1"/>
          <p:nvPr/>
        </p:nvSpPr>
        <p:spPr>
          <a:xfrm>
            <a:off x="10241280" y="6128203"/>
            <a:ext cx="1201782" cy="369332"/>
          </a:xfrm>
          <a:prstGeom prst="rect">
            <a:avLst/>
          </a:prstGeom>
          <a:noFill/>
        </p:spPr>
        <p:txBody>
          <a:bodyPr wrap="square" rtlCol="0">
            <a:spAutoFit/>
          </a:bodyPr>
          <a:lstStyle/>
          <a:p>
            <a:r>
              <a:rPr lang="en-US" dirty="0"/>
              <a:t>J309</a:t>
            </a:r>
          </a:p>
        </p:txBody>
      </p:sp>
      <p:pic>
        <p:nvPicPr>
          <p:cNvPr id="1032" name="Picture 8" descr="2N3904 Pinout &amp; Features for Beginners - NerdyTechy">
            <a:extLst>
              <a:ext uri="{FF2B5EF4-FFF2-40B4-BE49-F238E27FC236}">
                <a16:creationId xmlns:a16="http://schemas.microsoft.com/office/drawing/2014/main" id="{4E769AC8-E0A0-7C41-8AFA-8BB6D43DFA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94993" y="4223475"/>
            <a:ext cx="3822700" cy="2120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286312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719447" y="136525"/>
            <a:ext cx="10515600" cy="869909"/>
          </a:xfrm>
        </p:spPr>
        <p:txBody>
          <a:bodyPr/>
          <a:lstStyle/>
          <a:p>
            <a:pPr algn="ctr"/>
            <a:r>
              <a:rPr lang="en-US" dirty="0"/>
              <a:t>Color codes</a:t>
            </a:r>
          </a:p>
        </p:txBody>
      </p:sp>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94</a:t>
            </a:fld>
            <a:endParaRPr lang="en-US"/>
          </a:p>
        </p:txBody>
      </p:sp>
      <p:pic>
        <p:nvPicPr>
          <p:cNvPr id="1026" name="Picture 2" descr="Lab I Basic Resistive Circuit Calculations and Measurement - Arpajai  Chaysang">
            <a:extLst>
              <a:ext uri="{FF2B5EF4-FFF2-40B4-BE49-F238E27FC236}">
                <a16:creationId xmlns:a16="http://schemas.microsoft.com/office/drawing/2014/main" id="{2BACFB35-83CF-D14D-94EE-DCA88A3DFA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356591"/>
            <a:ext cx="6150734" cy="499975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5C2C3B8-3234-F84F-B625-B601CEF97D59}"/>
              </a:ext>
            </a:extLst>
          </p:cNvPr>
          <p:cNvSpPr txBox="1"/>
          <p:nvPr/>
        </p:nvSpPr>
        <p:spPr>
          <a:xfrm>
            <a:off x="7732321" y="1646216"/>
            <a:ext cx="3884716" cy="923330"/>
          </a:xfrm>
          <a:prstGeom prst="rect">
            <a:avLst/>
          </a:prstGeom>
          <a:noFill/>
        </p:spPr>
        <p:txBody>
          <a:bodyPr wrap="square" rtlCol="0">
            <a:spAutoFit/>
          </a:bodyPr>
          <a:lstStyle/>
          <a:p>
            <a:pPr marL="285750" indent="-285750">
              <a:buFont typeface="Arial" panose="020B0604020202020204" pitchFamily="34" charset="0"/>
              <a:buChar char="•"/>
            </a:pPr>
            <a:r>
              <a:rPr lang="en-US" dirty="0"/>
              <a:t>Resistor markings in ohms</a:t>
            </a:r>
          </a:p>
          <a:p>
            <a:pPr marL="285750" indent="-285750">
              <a:buFont typeface="Arial" panose="020B0604020202020204" pitchFamily="34" charset="0"/>
              <a:buChar char="•"/>
            </a:pPr>
            <a:r>
              <a:rPr lang="en-US" dirty="0"/>
              <a:t>Capacitor markings in </a:t>
            </a:r>
            <a:r>
              <a:rPr lang="en-US" dirty="0" err="1"/>
              <a:t>picoFarads</a:t>
            </a:r>
            <a:endParaRPr lang="en-US" dirty="0"/>
          </a:p>
          <a:p>
            <a:pPr marL="285750" indent="-285750">
              <a:buFont typeface="Arial" panose="020B0604020202020204" pitchFamily="34" charset="0"/>
              <a:buChar char="•"/>
            </a:pPr>
            <a:r>
              <a:rPr lang="en-US" dirty="0"/>
              <a:t>Inductor markings in </a:t>
            </a:r>
            <a:r>
              <a:rPr lang="en-US" dirty="0" err="1"/>
              <a:t>microHenries</a:t>
            </a:r>
            <a:endParaRPr lang="en-US" dirty="0"/>
          </a:p>
        </p:txBody>
      </p:sp>
    </p:spTree>
    <p:extLst>
      <p:ext uri="{BB962C8B-B14F-4D97-AF65-F5344CB8AC3E}">
        <p14:creationId xmlns:p14="http://schemas.microsoft.com/office/powerpoint/2010/main" val="281590002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719447" y="136525"/>
            <a:ext cx="10515600" cy="869909"/>
          </a:xfrm>
        </p:spPr>
        <p:txBody>
          <a:bodyPr/>
          <a:lstStyle/>
          <a:p>
            <a:pPr algn="ctr"/>
            <a:r>
              <a:rPr lang="en-US" dirty="0"/>
              <a:t>Component data</a:t>
            </a:r>
          </a:p>
        </p:txBody>
      </p:sp>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95</a:t>
            </a:fld>
            <a:endParaRPr lang="en-US"/>
          </a:p>
        </p:txBody>
      </p:sp>
      <p:pic>
        <p:nvPicPr>
          <p:cNvPr id="4" name="Picture 3" descr="A picture containing diagram&#10;&#10;Description automatically generated">
            <a:extLst>
              <a:ext uri="{FF2B5EF4-FFF2-40B4-BE49-F238E27FC236}">
                <a16:creationId xmlns:a16="http://schemas.microsoft.com/office/drawing/2014/main" id="{D1440EE4-7150-9340-9C93-BDFC57E417FF}"/>
              </a:ext>
            </a:extLst>
          </p:cNvPr>
          <p:cNvPicPr>
            <a:picLocks noChangeAspect="1"/>
          </p:cNvPicPr>
          <p:nvPr/>
        </p:nvPicPr>
        <p:blipFill>
          <a:blip r:embed="rId2"/>
          <a:stretch>
            <a:fillRect/>
          </a:stretch>
        </p:blipFill>
        <p:spPr>
          <a:xfrm>
            <a:off x="325104" y="1081571"/>
            <a:ext cx="2956289" cy="2956289"/>
          </a:xfrm>
          <a:prstGeom prst="rect">
            <a:avLst/>
          </a:prstGeom>
        </p:spPr>
      </p:pic>
      <p:sp>
        <p:nvSpPr>
          <p:cNvPr id="11" name="Rectangle 1">
            <a:extLst>
              <a:ext uri="{FF2B5EF4-FFF2-40B4-BE49-F238E27FC236}">
                <a16:creationId xmlns:a16="http://schemas.microsoft.com/office/drawing/2014/main" id="{0BD85637-39D4-B74F-B574-583E643C4AC9}"/>
              </a:ext>
            </a:extLst>
          </p:cNvPr>
          <p:cNvSpPr>
            <a:spLocks noChangeArrowheads="1"/>
          </p:cNvSpPr>
          <p:nvPr/>
        </p:nvSpPr>
        <p:spPr bwMode="auto">
          <a:xfrm>
            <a:off x="6861859" y="4964096"/>
            <a:ext cx="3120341"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hi-IN" altLang="zh-CN" sz="1400" b="1" i="1" u="none" strike="noStrike" cap="none" normalizeH="0" baseline="0" dirty="0">
                <a:ln>
                  <a:noFill/>
                </a:ln>
                <a:solidFill>
                  <a:srgbClr val="000000"/>
                </a:solidFill>
                <a:effectLst/>
                <a:ea typeface="Noto Serif CJK SC"/>
                <a:cs typeface="Mangal" panose="02040503050203030202" pitchFamily="18" charset="0"/>
              </a:rPr>
              <a:t>IRON POWDER TOROIDS - A</a:t>
            </a:r>
            <a:r>
              <a:rPr kumimoji="0" lang="en-US" altLang="zh-CN" sz="1400" b="1" i="1" u="none" strike="noStrike" cap="none" normalizeH="0" baseline="-25000" dirty="0">
                <a:ln>
                  <a:noFill/>
                </a:ln>
                <a:solidFill>
                  <a:srgbClr val="000000"/>
                </a:solidFill>
                <a:effectLst/>
                <a:ea typeface="Noto Serif CJK SC"/>
                <a:cs typeface="Mangal" panose="02040503050203030202" pitchFamily="18" charset="0"/>
              </a:rPr>
              <a:t>l</a:t>
            </a:r>
            <a:r>
              <a:rPr kumimoji="0" lang="en-US" altLang="zh-CN" sz="1400" b="1" i="1" u="none" strike="noStrike" cap="none" normalizeH="0" baseline="0" dirty="0">
                <a:ln>
                  <a:noFill/>
                </a:ln>
                <a:solidFill>
                  <a:srgbClr val="000000"/>
                </a:solidFill>
                <a:effectLst/>
                <a:ea typeface="Noto Serif CJK SC"/>
                <a:cs typeface="Mangal" panose="02040503050203030202" pitchFamily="18" charset="0"/>
              </a:rPr>
              <a:t> </a:t>
            </a:r>
            <a:r>
              <a:rPr kumimoji="0" lang="hi-IN" altLang="zh-CN" sz="1400" b="1" i="1" u="none" strike="noStrike" cap="none" normalizeH="0" baseline="0" dirty="0">
                <a:ln>
                  <a:noFill/>
                </a:ln>
                <a:solidFill>
                  <a:srgbClr val="000000"/>
                </a:solidFill>
                <a:effectLst/>
                <a:ea typeface="Noto Serif CJK SC"/>
                <a:cs typeface="Mangal" panose="02040503050203030202" pitchFamily="18" charset="0"/>
              </a:rPr>
              <a:t>Values **</a:t>
            </a:r>
            <a:endParaRPr kumimoji="0" lang="en-US" altLang="zh-CN"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ea typeface="Noto Serif CJK SC"/>
                <a:cs typeface="Lohit Devanagari"/>
              </a:rPr>
              <a:t>* size not available in this material</a:t>
            </a:r>
            <a:br>
              <a:rPr kumimoji="0" lang="en-US" altLang="zh-CN" sz="1400" b="0" i="0" u="none" strike="noStrike" cap="none" normalizeH="0" baseline="0" dirty="0">
                <a:ln>
                  <a:noFill/>
                </a:ln>
                <a:solidFill>
                  <a:srgbClr val="000000"/>
                </a:solidFill>
                <a:effectLst/>
                <a:ea typeface="Noto Serif CJK SC"/>
                <a:cs typeface="Lohit Devanagari"/>
              </a:rPr>
            </a:br>
            <a:r>
              <a:rPr kumimoji="0" lang="en-US" altLang="zh-CN" sz="1400" b="0" i="0" u="none" strike="noStrike" cap="none" normalizeH="0" baseline="0" dirty="0">
                <a:ln>
                  <a:noFill/>
                </a:ln>
                <a:solidFill>
                  <a:srgbClr val="000000"/>
                </a:solidFill>
                <a:effectLst/>
                <a:ea typeface="Noto Serif CJK SC"/>
                <a:cs typeface="Lohit Devanagari"/>
              </a:rPr>
              <a:t>** L= µH/100 turns</a:t>
            </a:r>
            <a:br>
              <a:rPr kumimoji="0" lang="en-US" altLang="zh-CN" sz="1400" b="0" i="0" u="none" strike="noStrike" cap="none" normalizeH="0" baseline="0" dirty="0">
                <a:ln>
                  <a:noFill/>
                </a:ln>
                <a:solidFill>
                  <a:srgbClr val="000000"/>
                </a:solidFill>
                <a:effectLst/>
                <a:latin typeface="Times New Roman" panose="02020603050405020304" pitchFamily="18" charset="0"/>
                <a:ea typeface="Noto Serif CJK SC"/>
                <a:cs typeface="Lohit Devanagari"/>
              </a:rPr>
            </a:br>
            <a:br>
              <a:rPr kumimoji="0" lang="en-US" altLang="zh-CN" sz="1400" b="0" i="0" u="none" strike="noStrike" cap="none" normalizeH="0" baseline="0" dirty="0">
                <a:ln>
                  <a:noFill/>
                </a:ln>
                <a:solidFill>
                  <a:srgbClr val="000000"/>
                </a:solidFill>
                <a:effectLst/>
                <a:latin typeface="Times New Roman" panose="02020603050405020304" pitchFamily="18" charset="0"/>
                <a:ea typeface="Noto Serif CJK SC"/>
                <a:cs typeface="Lohit Devanagari"/>
              </a:rPr>
            </a:b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13" name="Table 12">
            <a:extLst>
              <a:ext uri="{FF2B5EF4-FFF2-40B4-BE49-F238E27FC236}">
                <a16:creationId xmlns:a16="http://schemas.microsoft.com/office/drawing/2014/main" id="{7FDB77BF-6B3E-4548-BFBB-C6343474D226}"/>
              </a:ext>
            </a:extLst>
          </p:cNvPr>
          <p:cNvGraphicFramePr>
            <a:graphicFrameLocks noGrp="1"/>
          </p:cNvGraphicFramePr>
          <p:nvPr/>
        </p:nvGraphicFramePr>
        <p:xfrm>
          <a:off x="4571847" y="1351815"/>
          <a:ext cx="6939580" cy="3474720"/>
        </p:xfrm>
        <a:graphic>
          <a:graphicData uri="http://schemas.openxmlformats.org/drawingml/2006/table">
            <a:tbl>
              <a:tblPr firstRow="1" firstCol="1" bandRow="1">
                <a:tableStyleId>{5C22544A-7EE6-4342-B048-85BDC9FD1C3A}</a:tableStyleId>
              </a:tblPr>
              <a:tblGrid>
                <a:gridCol w="712609">
                  <a:extLst>
                    <a:ext uri="{9D8B030D-6E8A-4147-A177-3AD203B41FA5}">
                      <a16:colId xmlns:a16="http://schemas.microsoft.com/office/drawing/2014/main" val="3570197222"/>
                    </a:ext>
                  </a:extLst>
                </a:gridCol>
                <a:gridCol w="704954">
                  <a:extLst>
                    <a:ext uri="{9D8B030D-6E8A-4147-A177-3AD203B41FA5}">
                      <a16:colId xmlns:a16="http://schemas.microsoft.com/office/drawing/2014/main" val="1259725551"/>
                    </a:ext>
                  </a:extLst>
                </a:gridCol>
                <a:gridCol w="689643">
                  <a:extLst>
                    <a:ext uri="{9D8B030D-6E8A-4147-A177-3AD203B41FA5}">
                      <a16:colId xmlns:a16="http://schemas.microsoft.com/office/drawing/2014/main" val="946125020"/>
                    </a:ext>
                  </a:extLst>
                </a:gridCol>
                <a:gridCol w="689643">
                  <a:extLst>
                    <a:ext uri="{9D8B030D-6E8A-4147-A177-3AD203B41FA5}">
                      <a16:colId xmlns:a16="http://schemas.microsoft.com/office/drawing/2014/main" val="451945675"/>
                    </a:ext>
                  </a:extLst>
                </a:gridCol>
                <a:gridCol w="689643">
                  <a:extLst>
                    <a:ext uri="{9D8B030D-6E8A-4147-A177-3AD203B41FA5}">
                      <a16:colId xmlns:a16="http://schemas.microsoft.com/office/drawing/2014/main" val="3827651665"/>
                    </a:ext>
                  </a:extLst>
                </a:gridCol>
                <a:gridCol w="689643">
                  <a:extLst>
                    <a:ext uri="{9D8B030D-6E8A-4147-A177-3AD203B41FA5}">
                      <a16:colId xmlns:a16="http://schemas.microsoft.com/office/drawing/2014/main" val="1184369715"/>
                    </a:ext>
                  </a:extLst>
                </a:gridCol>
                <a:gridCol w="689643">
                  <a:extLst>
                    <a:ext uri="{9D8B030D-6E8A-4147-A177-3AD203B41FA5}">
                      <a16:colId xmlns:a16="http://schemas.microsoft.com/office/drawing/2014/main" val="1137699684"/>
                    </a:ext>
                  </a:extLst>
                </a:gridCol>
                <a:gridCol w="673638">
                  <a:extLst>
                    <a:ext uri="{9D8B030D-6E8A-4147-A177-3AD203B41FA5}">
                      <a16:colId xmlns:a16="http://schemas.microsoft.com/office/drawing/2014/main" val="3097658971"/>
                    </a:ext>
                  </a:extLst>
                </a:gridCol>
                <a:gridCol w="697298">
                  <a:extLst>
                    <a:ext uri="{9D8B030D-6E8A-4147-A177-3AD203B41FA5}">
                      <a16:colId xmlns:a16="http://schemas.microsoft.com/office/drawing/2014/main" val="2850404221"/>
                    </a:ext>
                  </a:extLst>
                </a:gridCol>
                <a:gridCol w="702866">
                  <a:extLst>
                    <a:ext uri="{9D8B030D-6E8A-4147-A177-3AD203B41FA5}">
                      <a16:colId xmlns:a16="http://schemas.microsoft.com/office/drawing/2014/main" val="1169060318"/>
                    </a:ext>
                  </a:extLst>
                </a:gridCol>
              </a:tblGrid>
              <a:tr h="180903">
                <a:tc>
                  <a:txBody>
                    <a:bodyPr/>
                    <a:lstStyle/>
                    <a:p>
                      <a:pPr marL="0" marR="0" algn="ctr">
                        <a:spcBef>
                          <a:spcPts val="0"/>
                        </a:spcBef>
                        <a:spcAft>
                          <a:spcPts val="0"/>
                        </a:spcAft>
                      </a:pPr>
                      <a:r>
                        <a:rPr lang="en-US" sz="1200" kern="150">
                          <a:effectLst/>
                        </a:rPr>
                        <a:t>Core Size</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26</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3</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15</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2</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6</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12/17</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0</a:t>
                      </a:r>
                      <a:endParaRPr lang="en-US" sz="1200" kern="150">
                        <a:effectLst/>
                        <a:latin typeface="Liberation Serif"/>
                        <a:ea typeface="Noto Serif CJK SC"/>
                        <a:cs typeface="Lohit Devanagari"/>
                      </a:endParaRPr>
                    </a:p>
                  </a:txBody>
                  <a:tcPr marL="0" marR="0" marT="0" marB="0"/>
                </a:tc>
                <a:extLst>
                  <a:ext uri="{0D108BD9-81ED-4DB2-BD59-A6C34878D82A}">
                    <a16:rowId xmlns:a16="http://schemas.microsoft.com/office/drawing/2014/main" val="1806734512"/>
                  </a:ext>
                </a:extLst>
              </a:tr>
              <a:tr h="180903">
                <a:tc>
                  <a:txBody>
                    <a:bodyPr/>
                    <a:lstStyle/>
                    <a:p>
                      <a:pPr marL="0" marR="0">
                        <a:spcBef>
                          <a:spcPts val="0"/>
                        </a:spcBef>
                        <a:spcAft>
                          <a:spcPts val="0"/>
                        </a:spcAft>
                      </a:pPr>
                      <a:r>
                        <a:rPr lang="en-US" sz="1200" kern="150">
                          <a:effectLst/>
                        </a:rPr>
                        <a:t> </a:t>
                      </a:r>
                      <a:endParaRPr lang="en-US" sz="1200" kern="150">
                        <a:effectLst/>
                        <a:latin typeface="Liberation Serif"/>
                        <a:ea typeface="Noto Serif CJK SC"/>
                        <a:cs typeface="Lohit Devanagari"/>
                      </a:endParaRPr>
                    </a:p>
                  </a:txBody>
                  <a:tcPr marL="0" marR="0" marT="0" marB="0" anchor="ctr"/>
                </a:tc>
                <a:tc>
                  <a:txBody>
                    <a:bodyPr/>
                    <a:lstStyle/>
                    <a:p>
                      <a:pPr marL="0" marR="0">
                        <a:spcBef>
                          <a:spcPts val="0"/>
                        </a:spcBef>
                        <a:spcAft>
                          <a:spcPts val="0"/>
                        </a:spcAft>
                      </a:pPr>
                      <a:r>
                        <a:rPr lang="en-US" sz="200" kern="150">
                          <a:effectLst/>
                        </a:rPr>
                        <a:t> </a:t>
                      </a:r>
                      <a:endParaRPr lang="en-US" sz="1200" kern="150">
                        <a:effectLst/>
                        <a:latin typeface="Liberation Serif"/>
                        <a:ea typeface="Noto Serif CJK SC"/>
                        <a:cs typeface="Lohit Devanagari"/>
                      </a:endParaRPr>
                    </a:p>
                  </a:txBody>
                  <a:tcPr marL="0" marR="0" marT="0" marB="0" anchor="ctr"/>
                </a:tc>
                <a:tc>
                  <a:txBody>
                    <a:bodyPr/>
                    <a:lstStyle/>
                    <a:p>
                      <a:pPr marL="0" marR="0">
                        <a:spcBef>
                          <a:spcPts val="0"/>
                        </a:spcBef>
                        <a:spcAft>
                          <a:spcPts val="0"/>
                        </a:spcAft>
                      </a:pPr>
                      <a:r>
                        <a:rPr lang="en-US" sz="200" kern="150">
                          <a:effectLst/>
                        </a:rPr>
                        <a:t> </a:t>
                      </a:r>
                      <a:endParaRPr lang="en-US" sz="1200" kern="150">
                        <a:effectLst/>
                        <a:latin typeface="Liberation Serif"/>
                        <a:ea typeface="Noto Serif CJK SC"/>
                        <a:cs typeface="Lohit Devanagari"/>
                      </a:endParaRPr>
                    </a:p>
                  </a:txBody>
                  <a:tcPr marL="0" marR="0" marT="0" marB="0" anchor="ctr"/>
                </a:tc>
                <a:tc>
                  <a:txBody>
                    <a:bodyPr/>
                    <a:lstStyle/>
                    <a:p>
                      <a:pPr marL="0" marR="0">
                        <a:spcBef>
                          <a:spcPts val="0"/>
                        </a:spcBef>
                        <a:spcAft>
                          <a:spcPts val="0"/>
                        </a:spcAft>
                      </a:pPr>
                      <a:r>
                        <a:rPr lang="en-US" sz="200" kern="150">
                          <a:effectLst/>
                        </a:rPr>
                        <a:t> </a:t>
                      </a:r>
                      <a:endParaRPr lang="en-US" sz="1200" kern="150">
                        <a:effectLst/>
                        <a:latin typeface="Liberation Serif"/>
                        <a:ea typeface="Noto Serif CJK SC"/>
                        <a:cs typeface="Lohit Devanagari"/>
                      </a:endParaRPr>
                    </a:p>
                  </a:txBody>
                  <a:tcPr marL="0" marR="0" marT="0" marB="0" anchor="ctr"/>
                </a:tc>
                <a:tc>
                  <a:txBody>
                    <a:bodyPr/>
                    <a:lstStyle/>
                    <a:p>
                      <a:pPr marL="0" marR="0">
                        <a:spcBef>
                          <a:spcPts val="0"/>
                        </a:spcBef>
                        <a:spcAft>
                          <a:spcPts val="0"/>
                        </a:spcAft>
                      </a:pPr>
                      <a:r>
                        <a:rPr lang="en-US" sz="200" kern="150">
                          <a:effectLst/>
                        </a:rPr>
                        <a:t> </a:t>
                      </a:r>
                      <a:endParaRPr lang="en-US" sz="1200" kern="150">
                        <a:effectLst/>
                        <a:latin typeface="Liberation Serif"/>
                        <a:ea typeface="Noto Serif CJK SC"/>
                        <a:cs typeface="Lohit Devanagari"/>
                      </a:endParaRPr>
                    </a:p>
                  </a:txBody>
                  <a:tcPr marL="0" marR="0" marT="0" marB="0" anchor="ctr"/>
                </a:tc>
                <a:tc>
                  <a:txBody>
                    <a:bodyPr/>
                    <a:lstStyle/>
                    <a:p>
                      <a:pPr marL="0" marR="0">
                        <a:spcBef>
                          <a:spcPts val="0"/>
                        </a:spcBef>
                        <a:spcAft>
                          <a:spcPts val="0"/>
                        </a:spcAft>
                      </a:pPr>
                      <a:r>
                        <a:rPr lang="en-US" sz="200" kern="150">
                          <a:effectLst/>
                        </a:rPr>
                        <a:t> </a:t>
                      </a:r>
                      <a:endParaRPr lang="en-US" sz="1200" kern="150">
                        <a:effectLst/>
                        <a:latin typeface="Liberation Serif"/>
                        <a:ea typeface="Noto Serif CJK SC"/>
                        <a:cs typeface="Lohit Devanagari"/>
                      </a:endParaRPr>
                    </a:p>
                  </a:txBody>
                  <a:tcPr marL="0" marR="0" marT="0" marB="0" anchor="ctr"/>
                </a:tc>
                <a:tc>
                  <a:txBody>
                    <a:bodyPr/>
                    <a:lstStyle/>
                    <a:p>
                      <a:pPr marL="0" marR="0">
                        <a:spcBef>
                          <a:spcPts val="0"/>
                        </a:spcBef>
                        <a:spcAft>
                          <a:spcPts val="0"/>
                        </a:spcAft>
                      </a:pPr>
                      <a:r>
                        <a:rPr lang="en-US" sz="200" kern="150">
                          <a:effectLst/>
                        </a:rPr>
                        <a:t> </a:t>
                      </a:r>
                      <a:endParaRPr lang="en-US" sz="1200" kern="150">
                        <a:effectLst/>
                        <a:latin typeface="Liberation Serif"/>
                        <a:ea typeface="Noto Serif CJK SC"/>
                        <a:cs typeface="Lohit Devanagari"/>
                      </a:endParaRPr>
                    </a:p>
                  </a:txBody>
                  <a:tcPr marL="0" marR="0" marT="0" marB="0" anchor="ctr"/>
                </a:tc>
                <a:tc>
                  <a:txBody>
                    <a:bodyPr/>
                    <a:lstStyle/>
                    <a:p>
                      <a:pPr marL="0" marR="0">
                        <a:spcBef>
                          <a:spcPts val="0"/>
                        </a:spcBef>
                        <a:spcAft>
                          <a:spcPts val="0"/>
                        </a:spcAft>
                      </a:pPr>
                      <a:r>
                        <a:rPr lang="en-US" sz="200" kern="150">
                          <a:effectLst/>
                        </a:rPr>
                        <a:t> </a:t>
                      </a:r>
                      <a:endParaRPr lang="en-US" sz="1200" kern="150">
                        <a:effectLst/>
                        <a:latin typeface="Liberation Serif"/>
                        <a:ea typeface="Noto Serif CJK SC"/>
                        <a:cs typeface="Lohit Devanagari"/>
                      </a:endParaRPr>
                    </a:p>
                  </a:txBody>
                  <a:tcPr marL="0" marR="0" marT="0" marB="0" anchor="ctr"/>
                </a:tc>
                <a:tc>
                  <a:txBody>
                    <a:bodyPr/>
                    <a:lstStyle/>
                    <a:p>
                      <a:pPr marL="0" marR="0">
                        <a:spcBef>
                          <a:spcPts val="0"/>
                        </a:spcBef>
                        <a:spcAft>
                          <a:spcPts val="0"/>
                        </a:spcAft>
                      </a:pPr>
                      <a:r>
                        <a:rPr lang="en-US" sz="200" kern="150">
                          <a:effectLst/>
                        </a:rPr>
                        <a:t> </a:t>
                      </a:r>
                      <a:endParaRPr lang="en-US" sz="1200" kern="150">
                        <a:effectLst/>
                        <a:latin typeface="Liberation Serif"/>
                        <a:ea typeface="Noto Serif CJK SC"/>
                        <a:cs typeface="Lohit Devanagari"/>
                      </a:endParaRPr>
                    </a:p>
                  </a:txBody>
                  <a:tcPr marL="0" marR="0" marT="0" marB="0" anchor="ctr"/>
                </a:tc>
                <a:tc>
                  <a:txBody>
                    <a:bodyPr/>
                    <a:lstStyle/>
                    <a:p>
                      <a:pPr marL="0" marR="0">
                        <a:spcBef>
                          <a:spcPts val="0"/>
                        </a:spcBef>
                        <a:spcAft>
                          <a:spcPts val="0"/>
                        </a:spcAft>
                      </a:pPr>
                      <a:r>
                        <a:rPr lang="en-US" sz="200" kern="150">
                          <a:effectLst/>
                        </a:rPr>
                        <a:t> </a:t>
                      </a:r>
                      <a:endParaRPr lang="en-US" sz="1200" kern="150">
                        <a:effectLst/>
                        <a:latin typeface="Liberation Serif"/>
                        <a:ea typeface="Noto Serif CJK SC"/>
                        <a:cs typeface="Lohit Devanagari"/>
                      </a:endParaRPr>
                    </a:p>
                  </a:txBody>
                  <a:tcPr marL="0" marR="0" marT="0" marB="0" anchor="ctr"/>
                </a:tc>
                <a:extLst>
                  <a:ext uri="{0D108BD9-81ED-4DB2-BD59-A6C34878D82A}">
                    <a16:rowId xmlns:a16="http://schemas.microsoft.com/office/drawing/2014/main" val="1406909038"/>
                  </a:ext>
                </a:extLst>
              </a:tr>
              <a:tr h="180903">
                <a:tc>
                  <a:txBody>
                    <a:bodyPr/>
                    <a:lstStyle/>
                    <a:p>
                      <a:pPr marL="0" marR="0" algn="ctr">
                        <a:spcBef>
                          <a:spcPts val="0"/>
                        </a:spcBef>
                        <a:spcAft>
                          <a:spcPts val="0"/>
                        </a:spcAft>
                      </a:pPr>
                      <a:r>
                        <a:rPr lang="en-US" sz="1200" kern="150">
                          <a:effectLst/>
                        </a:rPr>
                        <a:t>T-12-( )</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60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50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48</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20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17</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12</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7.5</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2.4</a:t>
                      </a:r>
                      <a:endParaRPr lang="en-US" sz="1200" kern="150">
                        <a:effectLst/>
                        <a:latin typeface="Liberation Serif"/>
                        <a:ea typeface="Noto Serif CJK SC"/>
                        <a:cs typeface="Lohit Devanagari"/>
                      </a:endParaRPr>
                    </a:p>
                  </a:txBody>
                  <a:tcPr marL="0" marR="0" marT="0" marB="0"/>
                </a:tc>
                <a:extLst>
                  <a:ext uri="{0D108BD9-81ED-4DB2-BD59-A6C34878D82A}">
                    <a16:rowId xmlns:a16="http://schemas.microsoft.com/office/drawing/2014/main" val="945326626"/>
                  </a:ext>
                </a:extLst>
              </a:tr>
              <a:tr h="180903">
                <a:tc>
                  <a:txBody>
                    <a:bodyPr/>
                    <a:lstStyle/>
                    <a:p>
                      <a:pPr marL="0" marR="0" algn="ctr">
                        <a:spcBef>
                          <a:spcPts val="0"/>
                        </a:spcBef>
                        <a:spcAft>
                          <a:spcPts val="0"/>
                        </a:spcAft>
                      </a:pPr>
                      <a:r>
                        <a:rPr lang="en-US" sz="1200" kern="150">
                          <a:effectLst/>
                        </a:rPr>
                        <a:t>T-16-( )</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145</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61</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55</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44</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22</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19</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13</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8</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3</a:t>
                      </a:r>
                      <a:endParaRPr lang="en-US" sz="1200" kern="150">
                        <a:effectLst/>
                        <a:latin typeface="Liberation Serif"/>
                        <a:ea typeface="Noto Serif CJK SC"/>
                        <a:cs typeface="Lohit Devanagari"/>
                      </a:endParaRPr>
                    </a:p>
                  </a:txBody>
                  <a:tcPr marL="0" marR="0" marT="0" marB="0"/>
                </a:tc>
                <a:extLst>
                  <a:ext uri="{0D108BD9-81ED-4DB2-BD59-A6C34878D82A}">
                    <a16:rowId xmlns:a16="http://schemas.microsoft.com/office/drawing/2014/main" val="3967289893"/>
                  </a:ext>
                </a:extLst>
              </a:tr>
              <a:tr h="180903">
                <a:tc>
                  <a:txBody>
                    <a:bodyPr/>
                    <a:lstStyle/>
                    <a:p>
                      <a:pPr marL="0" marR="0" algn="ctr">
                        <a:spcBef>
                          <a:spcPts val="0"/>
                        </a:spcBef>
                        <a:spcAft>
                          <a:spcPts val="0"/>
                        </a:spcAft>
                      </a:pPr>
                      <a:r>
                        <a:rPr lang="en-US" sz="1200" kern="150">
                          <a:effectLst/>
                        </a:rPr>
                        <a:t>T-20-( )</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185</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76</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65</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52</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25</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22</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16</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3.5</a:t>
                      </a:r>
                      <a:endParaRPr lang="en-US" sz="1200" kern="150">
                        <a:effectLst/>
                        <a:latin typeface="Liberation Serif"/>
                        <a:ea typeface="Noto Serif CJK SC"/>
                        <a:cs typeface="Lohit Devanagari"/>
                      </a:endParaRPr>
                    </a:p>
                  </a:txBody>
                  <a:tcPr marL="0" marR="0" marT="0" marB="0"/>
                </a:tc>
                <a:extLst>
                  <a:ext uri="{0D108BD9-81ED-4DB2-BD59-A6C34878D82A}">
                    <a16:rowId xmlns:a16="http://schemas.microsoft.com/office/drawing/2014/main" val="286452741"/>
                  </a:ext>
                </a:extLst>
              </a:tr>
              <a:tr h="180903">
                <a:tc>
                  <a:txBody>
                    <a:bodyPr/>
                    <a:lstStyle/>
                    <a:p>
                      <a:pPr marL="0" marR="0" algn="ctr">
                        <a:spcBef>
                          <a:spcPts val="0"/>
                        </a:spcBef>
                        <a:spcAft>
                          <a:spcPts val="0"/>
                        </a:spcAft>
                      </a:pPr>
                      <a:r>
                        <a:rPr lang="en-US" sz="1200" kern="150">
                          <a:effectLst/>
                        </a:rPr>
                        <a:t>T-25-( )</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245</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100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85</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dirty="0">
                          <a:effectLst/>
                        </a:rPr>
                        <a:t>70</a:t>
                      </a:r>
                      <a:endParaRPr lang="en-US" sz="1200" kern="150" dirty="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34</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27</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19</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12</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4.5</a:t>
                      </a:r>
                      <a:endParaRPr lang="en-US" sz="1200" kern="150">
                        <a:effectLst/>
                        <a:latin typeface="Liberation Serif"/>
                        <a:ea typeface="Noto Serif CJK SC"/>
                        <a:cs typeface="Lohit Devanagari"/>
                      </a:endParaRPr>
                    </a:p>
                  </a:txBody>
                  <a:tcPr marL="0" marR="0" marT="0" marB="0"/>
                </a:tc>
                <a:extLst>
                  <a:ext uri="{0D108BD9-81ED-4DB2-BD59-A6C34878D82A}">
                    <a16:rowId xmlns:a16="http://schemas.microsoft.com/office/drawing/2014/main" val="796816802"/>
                  </a:ext>
                </a:extLst>
              </a:tr>
              <a:tr h="180903">
                <a:tc>
                  <a:txBody>
                    <a:bodyPr/>
                    <a:lstStyle/>
                    <a:p>
                      <a:pPr marL="0" marR="0" algn="ctr">
                        <a:spcBef>
                          <a:spcPts val="0"/>
                        </a:spcBef>
                        <a:spcAft>
                          <a:spcPts val="0"/>
                        </a:spcAft>
                      </a:pPr>
                      <a:r>
                        <a:rPr lang="en-US" sz="1200" kern="150">
                          <a:effectLst/>
                        </a:rPr>
                        <a:t>T-30-( )</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335</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140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93</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85</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43</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36</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25</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16</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6</a:t>
                      </a:r>
                      <a:endParaRPr lang="en-US" sz="1200" kern="150">
                        <a:effectLst/>
                        <a:latin typeface="Liberation Serif"/>
                        <a:ea typeface="Noto Serif CJK SC"/>
                        <a:cs typeface="Lohit Devanagari"/>
                      </a:endParaRPr>
                    </a:p>
                  </a:txBody>
                  <a:tcPr marL="0" marR="0" marT="0" marB="0"/>
                </a:tc>
                <a:extLst>
                  <a:ext uri="{0D108BD9-81ED-4DB2-BD59-A6C34878D82A}">
                    <a16:rowId xmlns:a16="http://schemas.microsoft.com/office/drawing/2014/main" val="3544232903"/>
                  </a:ext>
                </a:extLst>
              </a:tr>
              <a:tr h="180903">
                <a:tc>
                  <a:txBody>
                    <a:bodyPr/>
                    <a:lstStyle/>
                    <a:p>
                      <a:pPr marL="0" marR="0" algn="ctr">
                        <a:spcBef>
                          <a:spcPts val="0"/>
                        </a:spcBef>
                        <a:spcAft>
                          <a:spcPts val="0"/>
                        </a:spcAft>
                      </a:pPr>
                      <a:r>
                        <a:rPr lang="en-US" sz="1200" kern="150">
                          <a:effectLst/>
                        </a:rPr>
                        <a:t>T-37-( )</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285</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120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90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80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40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30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25</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15</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4.9</a:t>
                      </a:r>
                      <a:endParaRPr lang="en-US" sz="1200" kern="150">
                        <a:effectLst/>
                        <a:latin typeface="Liberation Serif"/>
                        <a:ea typeface="Noto Serif CJK SC"/>
                        <a:cs typeface="Lohit Devanagari"/>
                      </a:endParaRPr>
                    </a:p>
                  </a:txBody>
                  <a:tcPr marL="0" marR="0" marT="0" marB="0"/>
                </a:tc>
                <a:extLst>
                  <a:ext uri="{0D108BD9-81ED-4DB2-BD59-A6C34878D82A}">
                    <a16:rowId xmlns:a16="http://schemas.microsoft.com/office/drawing/2014/main" val="2516689460"/>
                  </a:ext>
                </a:extLst>
              </a:tr>
              <a:tr h="180903">
                <a:tc>
                  <a:txBody>
                    <a:bodyPr/>
                    <a:lstStyle/>
                    <a:p>
                      <a:pPr marL="0" marR="0" algn="ctr">
                        <a:spcBef>
                          <a:spcPts val="0"/>
                        </a:spcBef>
                        <a:spcAft>
                          <a:spcPts val="0"/>
                        </a:spcAft>
                      </a:pPr>
                      <a:r>
                        <a:rPr lang="en-US" sz="1200" kern="150">
                          <a:effectLst/>
                        </a:rPr>
                        <a:t>T-44-( )</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370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180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160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105</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52</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42</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33</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18.5</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6.5</a:t>
                      </a:r>
                      <a:endParaRPr lang="en-US" sz="1200" kern="150">
                        <a:effectLst/>
                        <a:latin typeface="Liberation Serif"/>
                        <a:ea typeface="Noto Serif CJK SC"/>
                        <a:cs typeface="Lohit Devanagari"/>
                      </a:endParaRPr>
                    </a:p>
                  </a:txBody>
                  <a:tcPr marL="0" marR="0" marT="0" marB="0"/>
                </a:tc>
                <a:extLst>
                  <a:ext uri="{0D108BD9-81ED-4DB2-BD59-A6C34878D82A}">
                    <a16:rowId xmlns:a16="http://schemas.microsoft.com/office/drawing/2014/main" val="3501785840"/>
                  </a:ext>
                </a:extLst>
              </a:tr>
              <a:tr h="180903">
                <a:tc>
                  <a:txBody>
                    <a:bodyPr/>
                    <a:lstStyle/>
                    <a:p>
                      <a:pPr marL="0" marR="0" algn="ctr">
                        <a:spcBef>
                          <a:spcPts val="0"/>
                        </a:spcBef>
                        <a:spcAft>
                          <a:spcPts val="0"/>
                        </a:spcAft>
                      </a:pPr>
                      <a:r>
                        <a:rPr lang="en-US" sz="1200" kern="150">
                          <a:effectLst/>
                        </a:rPr>
                        <a:t>T-50-( )</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330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175</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135</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100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49</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40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31</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18</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6.4</a:t>
                      </a:r>
                      <a:endParaRPr lang="en-US" sz="1200" kern="150">
                        <a:effectLst/>
                        <a:latin typeface="Liberation Serif"/>
                        <a:ea typeface="Noto Serif CJK SC"/>
                        <a:cs typeface="Lohit Devanagari"/>
                      </a:endParaRPr>
                    </a:p>
                  </a:txBody>
                  <a:tcPr marL="0" marR="0" marT="0" marB="0"/>
                </a:tc>
                <a:extLst>
                  <a:ext uri="{0D108BD9-81ED-4DB2-BD59-A6C34878D82A}">
                    <a16:rowId xmlns:a16="http://schemas.microsoft.com/office/drawing/2014/main" val="2911504077"/>
                  </a:ext>
                </a:extLst>
              </a:tr>
              <a:tr h="180903">
                <a:tc>
                  <a:txBody>
                    <a:bodyPr/>
                    <a:lstStyle/>
                    <a:p>
                      <a:pPr marL="0" marR="0" algn="ctr">
                        <a:spcBef>
                          <a:spcPts val="0"/>
                        </a:spcBef>
                        <a:spcAft>
                          <a:spcPts val="0"/>
                        </a:spcAft>
                      </a:pPr>
                      <a:r>
                        <a:rPr lang="en-US" sz="1200" kern="150">
                          <a:effectLst/>
                        </a:rPr>
                        <a:t>T-68-( )</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435</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195</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180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115</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57</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47</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32</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21</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7.5</a:t>
                      </a:r>
                      <a:endParaRPr lang="en-US" sz="1200" kern="150">
                        <a:effectLst/>
                        <a:latin typeface="Liberation Serif"/>
                        <a:ea typeface="Noto Serif CJK SC"/>
                        <a:cs typeface="Lohit Devanagari"/>
                      </a:endParaRPr>
                    </a:p>
                  </a:txBody>
                  <a:tcPr marL="0" marR="0" marT="0" marB="0"/>
                </a:tc>
                <a:extLst>
                  <a:ext uri="{0D108BD9-81ED-4DB2-BD59-A6C34878D82A}">
                    <a16:rowId xmlns:a16="http://schemas.microsoft.com/office/drawing/2014/main" val="3890783685"/>
                  </a:ext>
                </a:extLst>
              </a:tr>
              <a:tr h="180903">
                <a:tc>
                  <a:txBody>
                    <a:bodyPr/>
                    <a:lstStyle/>
                    <a:p>
                      <a:pPr marL="0" marR="0" algn="ctr">
                        <a:spcBef>
                          <a:spcPts val="0"/>
                        </a:spcBef>
                        <a:spcAft>
                          <a:spcPts val="0"/>
                        </a:spcAft>
                      </a:pPr>
                      <a:r>
                        <a:rPr lang="en-US" sz="1200" kern="150">
                          <a:effectLst/>
                        </a:rPr>
                        <a:t>T-80-( )</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460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180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170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115</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55</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45</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32</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22</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8.5</a:t>
                      </a:r>
                      <a:endParaRPr lang="en-US" sz="1200" kern="150">
                        <a:effectLst/>
                        <a:latin typeface="Liberation Serif"/>
                        <a:ea typeface="Noto Serif CJK SC"/>
                        <a:cs typeface="Lohit Devanagari"/>
                      </a:endParaRPr>
                    </a:p>
                  </a:txBody>
                  <a:tcPr marL="0" marR="0" marT="0" marB="0"/>
                </a:tc>
                <a:extLst>
                  <a:ext uri="{0D108BD9-81ED-4DB2-BD59-A6C34878D82A}">
                    <a16:rowId xmlns:a16="http://schemas.microsoft.com/office/drawing/2014/main" val="4241332567"/>
                  </a:ext>
                </a:extLst>
              </a:tr>
              <a:tr h="180903">
                <a:tc>
                  <a:txBody>
                    <a:bodyPr/>
                    <a:lstStyle/>
                    <a:p>
                      <a:pPr marL="0" marR="0" algn="ctr">
                        <a:spcBef>
                          <a:spcPts val="0"/>
                        </a:spcBef>
                        <a:spcAft>
                          <a:spcPts val="0"/>
                        </a:spcAft>
                      </a:pPr>
                      <a:r>
                        <a:rPr lang="en-US" sz="1200" kern="150">
                          <a:effectLst/>
                        </a:rPr>
                        <a:t>T-94-( )</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600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248</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200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160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84</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70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58</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10.6</a:t>
                      </a:r>
                      <a:endParaRPr lang="en-US" sz="1200" kern="150">
                        <a:effectLst/>
                        <a:latin typeface="Liberation Serif"/>
                        <a:ea typeface="Noto Serif CJK SC"/>
                        <a:cs typeface="Lohit Devanagari"/>
                      </a:endParaRPr>
                    </a:p>
                  </a:txBody>
                  <a:tcPr marL="0" marR="0" marT="0" marB="0"/>
                </a:tc>
                <a:extLst>
                  <a:ext uri="{0D108BD9-81ED-4DB2-BD59-A6C34878D82A}">
                    <a16:rowId xmlns:a16="http://schemas.microsoft.com/office/drawing/2014/main" val="4018419164"/>
                  </a:ext>
                </a:extLst>
              </a:tr>
              <a:tr h="180903">
                <a:tc>
                  <a:txBody>
                    <a:bodyPr/>
                    <a:lstStyle/>
                    <a:p>
                      <a:pPr marL="0" marR="0" algn="ctr">
                        <a:spcBef>
                          <a:spcPts val="0"/>
                        </a:spcBef>
                        <a:spcAft>
                          <a:spcPts val="0"/>
                        </a:spcAft>
                      </a:pPr>
                      <a:r>
                        <a:rPr lang="en-US" sz="1200" kern="150">
                          <a:effectLst/>
                        </a:rPr>
                        <a:t>T-106-( )</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930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450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345</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325</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135</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116</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19</a:t>
                      </a:r>
                      <a:endParaRPr lang="en-US" sz="1200" kern="150">
                        <a:effectLst/>
                        <a:latin typeface="Liberation Serif"/>
                        <a:ea typeface="Noto Serif CJK SC"/>
                        <a:cs typeface="Lohit Devanagari"/>
                      </a:endParaRPr>
                    </a:p>
                  </a:txBody>
                  <a:tcPr marL="0" marR="0" marT="0" marB="0"/>
                </a:tc>
                <a:extLst>
                  <a:ext uri="{0D108BD9-81ED-4DB2-BD59-A6C34878D82A}">
                    <a16:rowId xmlns:a16="http://schemas.microsoft.com/office/drawing/2014/main" val="4092601845"/>
                  </a:ext>
                </a:extLst>
              </a:tr>
              <a:tr h="180903">
                <a:tc>
                  <a:txBody>
                    <a:bodyPr/>
                    <a:lstStyle/>
                    <a:p>
                      <a:pPr marL="0" marR="0" algn="ctr">
                        <a:spcBef>
                          <a:spcPts val="0"/>
                        </a:spcBef>
                        <a:spcAft>
                          <a:spcPts val="0"/>
                        </a:spcAft>
                      </a:pPr>
                      <a:r>
                        <a:rPr lang="en-US" sz="1200" kern="150">
                          <a:effectLst/>
                        </a:rPr>
                        <a:t>T-130-( )</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810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350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250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200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110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96</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15</a:t>
                      </a:r>
                      <a:endParaRPr lang="en-US" sz="1200" kern="150">
                        <a:effectLst/>
                        <a:latin typeface="Liberation Serif"/>
                        <a:ea typeface="Noto Serif CJK SC"/>
                        <a:cs typeface="Lohit Devanagari"/>
                      </a:endParaRPr>
                    </a:p>
                  </a:txBody>
                  <a:tcPr marL="0" marR="0" marT="0" marB="0"/>
                </a:tc>
                <a:extLst>
                  <a:ext uri="{0D108BD9-81ED-4DB2-BD59-A6C34878D82A}">
                    <a16:rowId xmlns:a16="http://schemas.microsoft.com/office/drawing/2014/main" val="1282261589"/>
                  </a:ext>
                </a:extLst>
              </a:tr>
              <a:tr h="180903">
                <a:tc>
                  <a:txBody>
                    <a:bodyPr/>
                    <a:lstStyle/>
                    <a:p>
                      <a:pPr marL="0" marR="0" algn="ctr">
                        <a:spcBef>
                          <a:spcPts val="0"/>
                        </a:spcBef>
                        <a:spcAft>
                          <a:spcPts val="0"/>
                        </a:spcAft>
                      </a:pPr>
                      <a:r>
                        <a:rPr lang="en-US" sz="1200" kern="150">
                          <a:effectLst/>
                        </a:rPr>
                        <a:t>T-157-( )</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1000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420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320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140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115</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a:t>
                      </a:r>
                      <a:endParaRPr lang="en-US" sz="1200" kern="150">
                        <a:effectLst/>
                        <a:latin typeface="Liberation Serif"/>
                        <a:ea typeface="Noto Serif CJK SC"/>
                        <a:cs typeface="Lohit Devanagari"/>
                      </a:endParaRPr>
                    </a:p>
                  </a:txBody>
                  <a:tcPr marL="0" marR="0" marT="0" marB="0"/>
                </a:tc>
                <a:extLst>
                  <a:ext uri="{0D108BD9-81ED-4DB2-BD59-A6C34878D82A}">
                    <a16:rowId xmlns:a16="http://schemas.microsoft.com/office/drawing/2014/main" val="1121925904"/>
                  </a:ext>
                </a:extLst>
              </a:tr>
              <a:tr h="180903">
                <a:tc>
                  <a:txBody>
                    <a:bodyPr/>
                    <a:lstStyle/>
                    <a:p>
                      <a:pPr marL="0" marR="0" algn="ctr">
                        <a:spcBef>
                          <a:spcPts val="0"/>
                        </a:spcBef>
                        <a:spcAft>
                          <a:spcPts val="0"/>
                        </a:spcAft>
                      </a:pPr>
                      <a:r>
                        <a:rPr lang="en-US" sz="1200" kern="150">
                          <a:effectLst/>
                        </a:rPr>
                        <a:t>T-184-( )</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1690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720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500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240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195</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a:t>
                      </a:r>
                      <a:endParaRPr lang="en-US" sz="1200" kern="150">
                        <a:effectLst/>
                        <a:latin typeface="Liberation Serif"/>
                        <a:ea typeface="Noto Serif CJK SC"/>
                        <a:cs typeface="Lohit Devanagari"/>
                      </a:endParaRPr>
                    </a:p>
                  </a:txBody>
                  <a:tcPr marL="0" marR="0" marT="0" marB="0"/>
                </a:tc>
                <a:extLst>
                  <a:ext uri="{0D108BD9-81ED-4DB2-BD59-A6C34878D82A}">
                    <a16:rowId xmlns:a16="http://schemas.microsoft.com/office/drawing/2014/main" val="3129457512"/>
                  </a:ext>
                </a:extLst>
              </a:tr>
              <a:tr h="180903">
                <a:tc>
                  <a:txBody>
                    <a:bodyPr/>
                    <a:lstStyle/>
                    <a:p>
                      <a:pPr marL="0" marR="0" algn="ctr">
                        <a:spcBef>
                          <a:spcPts val="0"/>
                        </a:spcBef>
                        <a:spcAft>
                          <a:spcPts val="0"/>
                        </a:spcAft>
                      </a:pPr>
                      <a:r>
                        <a:rPr lang="en-US" sz="1200" kern="150">
                          <a:effectLst/>
                        </a:rPr>
                        <a:t>T-200-( )</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920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425</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250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120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100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a:t>
                      </a:r>
                      <a:endParaRPr lang="en-US" sz="1200" kern="150">
                        <a:effectLst/>
                        <a:latin typeface="Liberation Serif"/>
                        <a:ea typeface="Noto Serif CJK SC"/>
                        <a:cs typeface="Lohit Devanagari"/>
                      </a:endParaRPr>
                    </a:p>
                  </a:txBody>
                  <a:tcPr marL="0" marR="0" marT="0" marB="0"/>
                </a:tc>
                <a:extLst>
                  <a:ext uri="{0D108BD9-81ED-4DB2-BD59-A6C34878D82A}">
                    <a16:rowId xmlns:a16="http://schemas.microsoft.com/office/drawing/2014/main" val="336921941"/>
                  </a:ext>
                </a:extLst>
              </a:tr>
              <a:tr h="180903">
                <a:tc>
                  <a:txBody>
                    <a:bodyPr/>
                    <a:lstStyle/>
                    <a:p>
                      <a:pPr marL="0" marR="0" algn="ctr">
                        <a:spcBef>
                          <a:spcPts val="0"/>
                        </a:spcBef>
                        <a:spcAft>
                          <a:spcPts val="0"/>
                        </a:spcAft>
                      </a:pPr>
                      <a:r>
                        <a:rPr lang="en-US" sz="1200" kern="150">
                          <a:effectLst/>
                        </a:rPr>
                        <a:t>T-200A-( )</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1600</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218</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a:effectLst/>
                        </a:rPr>
                        <a:t>*</a:t>
                      </a:r>
                      <a:endParaRPr lang="en-US" sz="1200" kern="150">
                        <a:effectLst/>
                        <a:latin typeface="Liberation Serif"/>
                        <a:ea typeface="Noto Serif CJK SC"/>
                        <a:cs typeface="Lohit Devanagari"/>
                      </a:endParaRPr>
                    </a:p>
                  </a:txBody>
                  <a:tcPr marL="0" marR="0" marT="0" marB="0"/>
                </a:tc>
                <a:tc>
                  <a:txBody>
                    <a:bodyPr/>
                    <a:lstStyle/>
                    <a:p>
                      <a:pPr marL="0" marR="0" algn="ctr">
                        <a:spcBef>
                          <a:spcPts val="0"/>
                        </a:spcBef>
                        <a:spcAft>
                          <a:spcPts val="0"/>
                        </a:spcAft>
                      </a:pPr>
                      <a:r>
                        <a:rPr lang="en-US" sz="1200" kern="150" dirty="0">
                          <a:effectLst/>
                        </a:rPr>
                        <a:t>*</a:t>
                      </a:r>
                      <a:endParaRPr lang="en-US" sz="1200" kern="150" dirty="0">
                        <a:effectLst/>
                        <a:latin typeface="Liberation Serif"/>
                        <a:ea typeface="Noto Serif CJK SC"/>
                        <a:cs typeface="Lohit Devanagari"/>
                      </a:endParaRPr>
                    </a:p>
                  </a:txBody>
                  <a:tcPr marL="0" marR="0" marT="0" marB="0"/>
                </a:tc>
                <a:extLst>
                  <a:ext uri="{0D108BD9-81ED-4DB2-BD59-A6C34878D82A}">
                    <a16:rowId xmlns:a16="http://schemas.microsoft.com/office/drawing/2014/main" val="3848783819"/>
                  </a:ext>
                </a:extLst>
              </a:tr>
            </a:tbl>
          </a:graphicData>
        </a:graphic>
      </p:graphicFrame>
      <p:pic>
        <p:nvPicPr>
          <p:cNvPr id="16" name="Image2">
            <a:extLst>
              <a:ext uri="{FF2B5EF4-FFF2-40B4-BE49-F238E27FC236}">
                <a16:creationId xmlns:a16="http://schemas.microsoft.com/office/drawing/2014/main" id="{09484FA9-676C-D645-B20F-ADA061E8C4F6}"/>
              </a:ext>
            </a:extLst>
          </p:cNvPr>
          <p:cNvPicPr/>
          <p:nvPr/>
        </p:nvPicPr>
        <p:blipFill>
          <a:blip r:embed="rId3">
            <a:lum/>
            <a:alphaModFix/>
          </a:blip>
          <a:srcRect/>
          <a:stretch>
            <a:fillRect/>
          </a:stretch>
        </p:blipFill>
        <p:spPr>
          <a:xfrm>
            <a:off x="325104" y="4089287"/>
            <a:ext cx="2956289" cy="2118456"/>
          </a:xfrm>
          <a:prstGeom prst="rect">
            <a:avLst/>
          </a:prstGeom>
          <a:ln>
            <a:noFill/>
            <a:prstDash/>
          </a:ln>
        </p:spPr>
      </p:pic>
    </p:spTree>
    <p:extLst>
      <p:ext uri="{BB962C8B-B14F-4D97-AF65-F5344CB8AC3E}">
        <p14:creationId xmlns:p14="http://schemas.microsoft.com/office/powerpoint/2010/main" val="304003141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155731"/>
            <a:ext cx="11529391" cy="769441"/>
          </a:xfrm>
          <a:prstGeom prst="rect">
            <a:avLst/>
          </a:prstGeom>
          <a:noFill/>
        </p:spPr>
        <p:txBody>
          <a:bodyPr wrap="square" rtlCol="0">
            <a:spAutoFit/>
          </a:bodyPr>
          <a:lstStyle/>
          <a:p>
            <a:pPr algn="ctr"/>
            <a:r>
              <a:rPr lang="en-US" sz="4400" dirty="0">
                <a:latin typeface="+mj-lt"/>
              </a:rPr>
              <a:t>Vacuum tube equivalent circuits</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6553200" y="6404292"/>
            <a:ext cx="2133600" cy="269241"/>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pPr lvl="0"/>
              <a:t>96</a:t>
            </a:fld>
            <a:endParaRPr lang="en-US"/>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6661CF8-5091-4D40-961D-85341DF5611E}"/>
                  </a:ext>
                </a:extLst>
              </p:cNvPr>
              <p:cNvSpPr txBox="1"/>
              <p:nvPr/>
            </p:nvSpPr>
            <p:spPr>
              <a:xfrm>
                <a:off x="1651495" y="2499048"/>
                <a:ext cx="6673639" cy="3390018"/>
              </a:xfrm>
              <a:prstGeom prst="rect">
                <a:avLst/>
              </a:prstGeom>
              <a:noFill/>
            </p:spPr>
            <p:txBody>
              <a:bodyPr wrap="square" rtlCol="0">
                <a:noAutofit/>
              </a:bodyPr>
              <a:lstStyle/>
              <a:p>
                <a:pPr marL="285750" indent="-285750">
                  <a:buFont typeface="Arial" panose="020B0604020202020204" pitchFamily="34" charset="0"/>
                  <a:buChar char="•"/>
                </a:pPr>
                <a14:m>
                  <m:oMath xmlns:m="http://schemas.openxmlformats.org/officeDocument/2006/math">
                    <m:r>
                      <a:rPr lang="en-US" sz="2000" i="1" smtClean="0">
                        <a:latin typeface="Cambria Math" panose="02040503050406030204" pitchFamily="18" charset="0"/>
                        <a:ea typeface="Cambria Math" panose="02040503050406030204" pitchFamily="18" charset="0"/>
                      </a:rPr>
                      <m:t>𝜇</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𝑉</m:t>
                        </m:r>
                      </m:e>
                      <m:sub>
                        <m:r>
                          <a:rPr lang="en-US" sz="2000" b="0" i="1" smtClean="0">
                            <a:latin typeface="Cambria Math" panose="02040503050406030204" pitchFamily="18" charset="0"/>
                            <a:ea typeface="Cambria Math" panose="02040503050406030204" pitchFamily="18" charset="0"/>
                          </a:rPr>
                          <m:t>𝑔𝑐</m:t>
                        </m:r>
                      </m:sub>
                    </m:sSub>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𝑖</m:t>
                        </m:r>
                      </m:e>
                      <m:sub>
                        <m:r>
                          <a:rPr lang="en-US" sz="2000" b="0" i="1" smtClean="0">
                            <a:latin typeface="Cambria Math" panose="02040503050406030204" pitchFamily="18" charset="0"/>
                            <a:ea typeface="Cambria Math" panose="02040503050406030204" pitchFamily="18" charset="0"/>
                          </a:rPr>
                          <m:t>𝑝</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𝑟</m:t>
                        </m:r>
                      </m:e>
                      <m:sub>
                        <m:r>
                          <a:rPr lang="en-US" sz="2000" b="0" i="1" smtClean="0">
                            <a:latin typeface="Cambria Math" panose="02040503050406030204" pitchFamily="18" charset="0"/>
                            <a:ea typeface="Cambria Math" panose="02040503050406030204" pitchFamily="18" charset="0"/>
                          </a:rPr>
                          <m:t>𝑝</m:t>
                        </m:r>
                      </m:sub>
                    </m:sSub>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𝑉</m:t>
                        </m:r>
                      </m:e>
                      <m:sub>
                        <m:r>
                          <a:rPr lang="en-US" sz="2000" b="0" i="1" smtClean="0">
                            <a:latin typeface="Cambria Math" panose="02040503050406030204" pitchFamily="18" charset="0"/>
                            <a:ea typeface="Cambria Math" panose="02040503050406030204" pitchFamily="18" charset="0"/>
                          </a:rPr>
                          <m:t>𝑝𝑐</m:t>
                        </m:r>
                      </m:sub>
                    </m:sSub>
                  </m:oMath>
                </a14:m>
                <a:endParaRPr lang="en-US" sz="2000" dirty="0"/>
              </a:p>
              <a:p>
                <a:pPr marL="285750" indent="-28575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b="0" i="1" smtClean="0">
                            <a:latin typeface="Cambria Math" panose="02040503050406030204" pitchFamily="18" charset="0"/>
                          </a:rPr>
                          <m:t>𝑝</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𝜇</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𝑉</m:t>
                            </m:r>
                          </m:e>
                          <m:sub>
                            <m:r>
                              <a:rPr lang="en-US" sz="2000" b="0" i="1" smtClean="0">
                                <a:latin typeface="Cambria Math" panose="02040503050406030204" pitchFamily="18" charset="0"/>
                                <a:ea typeface="Cambria Math" panose="02040503050406030204" pitchFamily="18" charset="0"/>
                              </a:rPr>
                              <m:t>𝑔𝑐</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𝑟</m:t>
                            </m:r>
                          </m:e>
                          <m:sub>
                            <m:r>
                              <a:rPr lang="en-US" sz="2000" b="0" i="1" smtClean="0">
                                <a:latin typeface="Cambria Math" panose="02040503050406030204" pitchFamily="18" charset="0"/>
                              </a:rPr>
                              <m:t>𝑝</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𝐿</m:t>
                            </m:r>
                          </m:sub>
                        </m:sSub>
                      </m:den>
                    </m:f>
                  </m:oMath>
                </a14:m>
                <a:endParaRPr lang="en-US" sz="2000" b="0" i="1" dirty="0">
                  <a:latin typeface="Cambria Math" panose="02040503050406030204" pitchFamily="18" charset="0"/>
                </a:endParaRPr>
              </a:p>
              <a:p>
                <a:pPr marL="285750" indent="-28575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𝐿</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b="0" i="1" smtClean="0">
                            <a:latin typeface="Cambria Math" panose="02040503050406030204" pitchFamily="18" charset="0"/>
                          </a:rPr>
                          <m:t>𝑝</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𝐿</m:t>
                        </m:r>
                      </m:sub>
                    </m:sSub>
                  </m:oMath>
                </a14:m>
                <a:endParaRPr lang="en-US" sz="2000" dirty="0"/>
              </a:p>
              <a:p>
                <a:pPr marL="285750" indent="-28575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𝑣</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𝐿</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𝑔𝑐</m:t>
                            </m:r>
                          </m:sub>
                        </m:sSub>
                      </m:den>
                    </m:f>
                  </m:oMath>
                </a14:m>
                <a:endParaRPr lang="en-US" sz="2000" dirty="0"/>
              </a:p>
            </p:txBody>
          </p:sp>
        </mc:Choice>
        <mc:Fallback xmlns="">
          <p:sp>
            <p:nvSpPr>
              <p:cNvPr id="2" name="TextBox 1">
                <a:extLst>
                  <a:ext uri="{FF2B5EF4-FFF2-40B4-BE49-F238E27FC236}">
                    <a16:creationId xmlns:a16="http://schemas.microsoft.com/office/drawing/2014/main" id="{56661CF8-5091-4D40-961D-85341DF5611E}"/>
                  </a:ext>
                </a:extLst>
              </p:cNvPr>
              <p:cNvSpPr txBox="1">
                <a:spLocks noRot="1" noChangeAspect="1" noMove="1" noResize="1" noEditPoints="1" noAdjustHandles="1" noChangeArrowheads="1" noChangeShapeType="1" noTextEdit="1"/>
              </p:cNvSpPr>
              <p:nvPr/>
            </p:nvSpPr>
            <p:spPr>
              <a:xfrm>
                <a:off x="1651495" y="2499048"/>
                <a:ext cx="6673639" cy="3390018"/>
              </a:xfrm>
              <a:prstGeom prst="rect">
                <a:avLst/>
              </a:prstGeom>
              <a:blipFill>
                <a:blip r:embed="rId3"/>
                <a:stretch>
                  <a:fillRect l="-951" t="-373"/>
                </a:stretch>
              </a:blipFill>
            </p:spPr>
            <p:txBody>
              <a:bodyPr/>
              <a:lstStyle/>
              <a:p>
                <a:r>
                  <a:rPr lang="en-US">
                    <a:noFill/>
                  </a:rPr>
                  <a:t> </a:t>
                </a:r>
              </a:p>
            </p:txBody>
          </p:sp>
        </mc:Fallback>
      </mc:AlternateContent>
      <p:pic>
        <p:nvPicPr>
          <p:cNvPr id="1025" name="Picture 1" descr="Equivalent circuit of a vacuum-tube amplifier">
            <a:extLst>
              <a:ext uri="{FF2B5EF4-FFF2-40B4-BE49-F238E27FC236}">
                <a16:creationId xmlns:a16="http://schemas.microsoft.com/office/drawing/2014/main" id="{F03A190C-FF9A-A34E-9E87-990AF882A9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71753" y="1079398"/>
            <a:ext cx="2627108" cy="1696853"/>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a:extLst>
              <a:ext uri="{FF2B5EF4-FFF2-40B4-BE49-F238E27FC236}">
                <a16:creationId xmlns:a16="http://schemas.microsoft.com/office/drawing/2014/main" id="{EAEC7FAE-5460-1844-BC38-30ED6040A7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04804" y="3912416"/>
            <a:ext cx="2392158" cy="1924581"/>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a:extLst>
              <a:ext uri="{FF2B5EF4-FFF2-40B4-BE49-F238E27FC236}">
                <a16:creationId xmlns:a16="http://schemas.microsoft.com/office/drawing/2014/main" id="{EC52201E-1A10-D94F-B690-CA5AEC1161B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02862" y="2653274"/>
            <a:ext cx="3664189" cy="3751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808619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155731"/>
            <a:ext cx="11529391" cy="769441"/>
          </a:xfrm>
          <a:prstGeom prst="rect">
            <a:avLst/>
          </a:prstGeom>
          <a:noFill/>
        </p:spPr>
        <p:txBody>
          <a:bodyPr wrap="square" rtlCol="0">
            <a:spAutoFit/>
          </a:bodyPr>
          <a:lstStyle/>
          <a:p>
            <a:pPr algn="ctr"/>
            <a:r>
              <a:rPr lang="en-US" sz="4400" dirty="0">
                <a:latin typeface="+mj-lt"/>
              </a:rPr>
              <a:t>Vacuum tube equivalent circuits</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6553200" y="6404292"/>
            <a:ext cx="2133600" cy="269241"/>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pPr lvl="0"/>
              <a:t>97</a:t>
            </a:fld>
            <a:endParaRPr lang="en-US"/>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6661CF8-5091-4D40-961D-85341DF5611E}"/>
                  </a:ext>
                </a:extLst>
              </p:cNvPr>
              <p:cNvSpPr txBox="1"/>
              <p:nvPr/>
            </p:nvSpPr>
            <p:spPr>
              <a:xfrm>
                <a:off x="2708863" y="2998095"/>
                <a:ext cx="6596172" cy="2595856"/>
              </a:xfrm>
              <a:prstGeom prst="rect">
                <a:avLst/>
              </a:prstGeom>
              <a:noFill/>
            </p:spPr>
            <p:txBody>
              <a:bodyPr wrap="square" rtlCol="0">
                <a:noAutofit/>
              </a:bodyPr>
              <a:lstStyle/>
              <a:p>
                <a:pPr marL="342900" indent="-342900">
                  <a:buFont typeface="Arial" panose="020B0604020202020204" pitchFamily="34" charset="0"/>
                  <a:buChar char="•"/>
                </a:pPr>
                <a:r>
                  <a:rPr lang="en-US" sz="2000" dirty="0"/>
                  <a:t>Diode model: </a:t>
                </a:r>
                <a14:m>
                  <m:oMath xmlns:m="http://schemas.openxmlformats.org/officeDocument/2006/math">
                    <m:r>
                      <a:rPr lang="en-US" sz="2000" b="0" i="1" smtClean="0">
                        <a:latin typeface="Cambria Math" panose="02040503050406030204" pitchFamily="18" charset="0"/>
                      </a:rPr>
                      <m:t>𝑖</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𝐾</m:t>
                        </m:r>
                      </m:e>
                      <m:sub>
                        <m:r>
                          <a:rPr lang="en-US" sz="2000" b="0" i="1" smtClean="0">
                            <a:latin typeface="Cambria Math" panose="02040503050406030204" pitchFamily="18" charset="0"/>
                          </a:rPr>
                          <m:t>1</m:t>
                        </m:r>
                      </m:sub>
                    </m:sSub>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𝑉</m:t>
                        </m:r>
                      </m:e>
                      <m:sup>
                        <m:f>
                          <m:fPr>
                            <m:type m:val="skw"/>
                            <m:ctrlPr>
                              <a:rPr lang="en-US" sz="2000" b="0" i="1" smtClean="0">
                                <a:latin typeface="Cambria Math" panose="02040503050406030204" pitchFamily="18" charset="0"/>
                              </a:rPr>
                            </m:ctrlPr>
                          </m:fPr>
                          <m:num>
                            <m:r>
                              <a:rPr lang="en-US" sz="2000" b="0" i="1" smtClean="0">
                                <a:latin typeface="Cambria Math" panose="02040503050406030204" pitchFamily="18" charset="0"/>
                              </a:rPr>
                              <m:t>3</m:t>
                            </m:r>
                          </m:num>
                          <m:den>
                            <m:r>
                              <a:rPr lang="en-US" sz="2000" b="0" i="1" smtClean="0">
                                <a:latin typeface="Cambria Math" panose="02040503050406030204" pitchFamily="18" charset="0"/>
                              </a:rPr>
                              <m:t>2</m:t>
                            </m:r>
                          </m:den>
                        </m:f>
                      </m:sup>
                    </m:sSup>
                  </m:oMath>
                </a14:m>
                <a:endParaRPr lang="en-US" sz="2000" dirty="0"/>
              </a:p>
              <a:p>
                <a:pPr marL="342900" indent="-342900">
                  <a:buFont typeface="Arial" panose="020B0604020202020204" pitchFamily="34" charset="0"/>
                  <a:buChar char="•"/>
                </a:pPr>
                <a:r>
                  <a:rPr lang="en-US" sz="2000" dirty="0"/>
                  <a:t>Triode model: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b="0" i="1" smtClean="0">
                            <a:latin typeface="Cambria Math" panose="02040503050406030204" pitchFamily="18" charset="0"/>
                          </a:rPr>
                          <m:t>𝑝</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𝐾</m:t>
                        </m:r>
                      </m:e>
                      <m:sub>
                        <m:r>
                          <a:rPr lang="en-US" sz="2000" b="0" i="1" smtClean="0">
                            <a:latin typeface="Cambria Math" panose="02040503050406030204" pitchFamily="18" charset="0"/>
                          </a:rPr>
                          <m:t>1</m:t>
                        </m:r>
                      </m:sub>
                    </m:sSub>
                    <m:sSup>
                      <m:sSupPr>
                        <m:ctrlPr>
                          <a:rPr lang="en-US" sz="2000" i="1">
                            <a:latin typeface="Cambria Math" panose="02040503050406030204" pitchFamily="18" charset="0"/>
                          </a:rPr>
                        </m:ctrlPr>
                      </m:sSupPr>
                      <m:e>
                        <m:r>
                          <a:rPr lang="en-US" sz="2000" i="1">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𝑔</m:t>
                            </m:r>
                          </m:sub>
                        </m:sSub>
                        <m:r>
                          <a:rPr lang="en-US" sz="2000" i="1">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𝐾</m:t>
                            </m:r>
                          </m:e>
                          <m:sub>
                            <m:r>
                              <a:rPr lang="en-US" sz="2000" b="0" i="1" smtClean="0">
                                <a:latin typeface="Cambria Math" panose="02040503050406030204" pitchFamily="18" charset="0"/>
                              </a:rPr>
                              <m:t>2</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𝑝</m:t>
                            </m:r>
                          </m:sub>
                        </m:sSub>
                        <m:r>
                          <a:rPr lang="en-US" sz="2000" i="1">
                            <a:latin typeface="Cambria Math" panose="02040503050406030204" pitchFamily="18" charset="0"/>
                          </a:rPr>
                          <m:t>)</m:t>
                        </m:r>
                      </m:e>
                      <m:sup>
                        <m:f>
                          <m:fPr>
                            <m:type m:val="skw"/>
                            <m:ctrlPr>
                              <a:rPr lang="en-US" sz="2000" b="0" i="1" smtClean="0">
                                <a:latin typeface="Cambria Math" panose="02040503050406030204" pitchFamily="18" charset="0"/>
                              </a:rPr>
                            </m:ctrlPr>
                          </m:fPr>
                          <m:num>
                            <m:r>
                              <a:rPr lang="en-US" sz="2000" b="0" i="1" smtClean="0">
                                <a:latin typeface="Cambria Math" panose="02040503050406030204" pitchFamily="18" charset="0"/>
                              </a:rPr>
                              <m:t>3</m:t>
                            </m:r>
                          </m:num>
                          <m:den>
                            <m:r>
                              <a:rPr lang="en-US" sz="2000" b="0" i="1" smtClean="0">
                                <a:latin typeface="Cambria Math" panose="02040503050406030204" pitchFamily="18" charset="0"/>
                              </a:rPr>
                              <m:t>2</m:t>
                            </m:r>
                          </m:den>
                        </m:f>
                      </m:sup>
                    </m:sSup>
                  </m:oMath>
                </a14:m>
                <a:endParaRPr lang="en-US" sz="2000" dirty="0"/>
              </a:p>
              <a:p>
                <a:pPr marL="342900" indent="-342900">
                  <a:buFont typeface="Arial" panose="020B0604020202020204" pitchFamily="34" charset="0"/>
                  <a:buChar char="•"/>
                </a:pPr>
                <a14:m>
                  <m:oMath xmlns:m="http://schemas.openxmlformats.org/officeDocument/2006/math">
                    <m:r>
                      <m:rPr>
                        <m:sty m:val="p"/>
                      </m:rPr>
                      <a:rPr lang="el-GR" sz="2000" i="1" smtClean="0">
                        <a:latin typeface="Cambria Math" panose="02040503050406030204" pitchFamily="18" charset="0"/>
                        <a:ea typeface="Cambria Math" panose="02040503050406030204" pitchFamily="18" charset="0"/>
                      </a:rPr>
                      <m:t>Δ</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𝑖</m:t>
                        </m:r>
                      </m:e>
                      <m:sub>
                        <m:r>
                          <a:rPr lang="en-US" sz="2000" b="0" i="1" smtClean="0">
                            <a:latin typeface="Cambria Math" panose="02040503050406030204" pitchFamily="18" charset="0"/>
                            <a:ea typeface="Cambria Math" panose="02040503050406030204" pitchFamily="18" charset="0"/>
                          </a:rPr>
                          <m:t>𝑝</m:t>
                        </m:r>
                      </m:sub>
                    </m:sSub>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𝑖</m:t>
                            </m:r>
                          </m:e>
                          <m:sub>
                            <m:r>
                              <a:rPr lang="en-US" sz="2000" b="0" i="1" smtClean="0">
                                <a:latin typeface="Cambria Math" panose="02040503050406030204" pitchFamily="18" charset="0"/>
                                <a:ea typeface="Cambria Math" panose="02040503050406030204" pitchFamily="18" charset="0"/>
                              </a:rPr>
                              <m:t>𝑝</m:t>
                            </m:r>
                          </m:sub>
                        </m:sSub>
                      </m:num>
                      <m:den>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𝑣</m:t>
                            </m:r>
                          </m:e>
                          <m:sub>
                            <m:r>
                              <a:rPr lang="en-US" sz="2000" b="0" i="1" smtClean="0">
                                <a:latin typeface="Cambria Math" panose="02040503050406030204" pitchFamily="18" charset="0"/>
                                <a:ea typeface="Cambria Math" panose="02040503050406030204" pitchFamily="18" charset="0"/>
                              </a:rPr>
                              <m:t>𝑔</m:t>
                            </m:r>
                          </m:sub>
                        </m:sSub>
                      </m:den>
                    </m:f>
                    <m:r>
                      <a:rPr lang="en-US" sz="2000" b="0" i="1" smtClean="0">
                        <a:latin typeface="Cambria Math" panose="02040503050406030204" pitchFamily="18" charset="0"/>
                        <a:ea typeface="Cambria Math" panose="02040503050406030204" pitchFamily="18" charset="0"/>
                      </a:rPr>
                      <m:t> ∆</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𝑣</m:t>
                        </m:r>
                      </m:e>
                      <m:sub>
                        <m:r>
                          <a:rPr lang="en-US" sz="2000" b="0" i="1" smtClean="0">
                            <a:latin typeface="Cambria Math" panose="02040503050406030204" pitchFamily="18" charset="0"/>
                            <a:ea typeface="Cambria Math" panose="02040503050406030204" pitchFamily="18" charset="0"/>
                          </a:rPr>
                          <m:t>𝑔</m:t>
                        </m:r>
                      </m:sub>
                    </m:sSub>
                    <m:r>
                      <a:rPr lang="en-US" sz="2000" b="0" i="1" smtClean="0">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𝑖</m:t>
                            </m:r>
                          </m:e>
                          <m:sub>
                            <m:r>
                              <a:rPr lang="en-US" sz="2000" i="1">
                                <a:latin typeface="Cambria Math" panose="02040503050406030204" pitchFamily="18" charset="0"/>
                                <a:ea typeface="Cambria Math" panose="02040503050406030204" pitchFamily="18" charset="0"/>
                              </a:rPr>
                              <m:t>𝑝</m:t>
                            </m:r>
                          </m:sub>
                        </m:sSub>
                      </m:num>
                      <m:den>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𝑣</m:t>
                            </m:r>
                          </m:e>
                          <m:sub>
                            <m:r>
                              <a:rPr lang="en-US" sz="2000" b="0" i="1" smtClean="0">
                                <a:latin typeface="Cambria Math" panose="02040503050406030204" pitchFamily="18" charset="0"/>
                                <a:ea typeface="Cambria Math" panose="02040503050406030204" pitchFamily="18" charset="0"/>
                              </a:rPr>
                              <m:t>𝑝</m:t>
                            </m:r>
                          </m:sub>
                        </m:sSub>
                      </m:den>
                    </m:f>
                    <m:r>
                      <a:rPr lang="en-US" sz="2000" i="1">
                        <a:latin typeface="Cambria Math" panose="02040503050406030204" pitchFamily="18" charset="0"/>
                        <a:ea typeface="Cambria Math" panose="02040503050406030204" pitchFamily="18" charset="0"/>
                      </a:rPr>
                      <m:t> ∆</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𝑣</m:t>
                        </m:r>
                      </m:e>
                      <m:sub>
                        <m:r>
                          <a:rPr lang="en-US" sz="2000" b="0" i="1" smtClean="0">
                            <a:latin typeface="Cambria Math" panose="02040503050406030204" pitchFamily="18" charset="0"/>
                            <a:ea typeface="Cambria Math" panose="02040503050406030204" pitchFamily="18" charset="0"/>
                          </a:rPr>
                          <m:t>𝑝</m:t>
                        </m:r>
                      </m:sub>
                    </m:sSub>
                  </m:oMath>
                </a14:m>
                <a:r>
                  <a:rPr lang="en-US" sz="2000" dirty="0"/>
                  <a:t>,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𝑖</m:t>
                            </m:r>
                          </m:e>
                          <m:sub>
                            <m:r>
                              <a:rPr lang="en-US" sz="2000" i="1">
                                <a:latin typeface="Cambria Math" panose="02040503050406030204" pitchFamily="18" charset="0"/>
                                <a:ea typeface="Cambria Math" panose="02040503050406030204" pitchFamily="18" charset="0"/>
                              </a:rPr>
                              <m:t>𝑝</m:t>
                            </m:r>
                          </m:sub>
                        </m:sSub>
                      </m:num>
                      <m:den>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𝑣</m:t>
                            </m:r>
                          </m:e>
                          <m:sub>
                            <m:r>
                              <a:rPr lang="en-US" sz="2000" i="1">
                                <a:latin typeface="Cambria Math" panose="02040503050406030204" pitchFamily="18" charset="0"/>
                                <a:ea typeface="Cambria Math" panose="02040503050406030204" pitchFamily="18" charset="0"/>
                              </a:rPr>
                              <m:t>𝑔</m:t>
                            </m:r>
                          </m:sub>
                        </m:sSub>
                      </m:den>
                    </m:f>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𝑔</m:t>
                        </m:r>
                      </m:e>
                      <m:sub>
                        <m:r>
                          <a:rPr lang="en-US" sz="2000" b="0" i="1" smtClean="0">
                            <a:latin typeface="Cambria Math" panose="02040503050406030204" pitchFamily="18" charset="0"/>
                            <a:ea typeface="Cambria Math" panose="02040503050406030204" pitchFamily="18" charset="0"/>
                          </a:rPr>
                          <m:t>𝑚</m:t>
                        </m:r>
                      </m:sub>
                    </m:sSub>
                    <m:r>
                      <a:rPr lang="en-US" sz="2000" b="0" i="1" smtClean="0">
                        <a:latin typeface="Cambria Math" panose="02040503050406030204" pitchFamily="18" charset="0"/>
                        <a:ea typeface="Cambria Math" panose="02040503050406030204" pitchFamily="18" charset="0"/>
                      </a:rPr>
                      <m:t>, </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𝑖</m:t>
                            </m:r>
                          </m:e>
                          <m:sub>
                            <m:r>
                              <a:rPr lang="en-US" sz="2000" i="1">
                                <a:latin typeface="Cambria Math" panose="02040503050406030204" pitchFamily="18" charset="0"/>
                                <a:ea typeface="Cambria Math" panose="02040503050406030204" pitchFamily="18" charset="0"/>
                              </a:rPr>
                              <m:t>𝑝</m:t>
                            </m:r>
                          </m:sub>
                        </m:sSub>
                      </m:num>
                      <m:den>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𝑣</m:t>
                            </m:r>
                          </m:e>
                          <m:sub>
                            <m:r>
                              <a:rPr lang="en-US" sz="2000" i="1">
                                <a:latin typeface="Cambria Math" panose="02040503050406030204" pitchFamily="18" charset="0"/>
                                <a:ea typeface="Cambria Math" panose="02040503050406030204" pitchFamily="18" charset="0"/>
                              </a:rPr>
                              <m:t>𝑝</m:t>
                            </m:r>
                          </m:sub>
                        </m:sSub>
                      </m:den>
                    </m:f>
                    <m:r>
                      <a:rPr lang="en-US" sz="2000" b="0" i="1" smtClean="0">
                        <a:latin typeface="Cambria Math" panose="02040503050406030204" pitchFamily="18" charset="0"/>
                        <a:ea typeface="Cambria Math" panose="02040503050406030204" pitchFamily="18" charset="0"/>
                      </a:rPr>
                      <m:t>= </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m:t>
                        </m:r>
                      </m:num>
                      <m:den>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𝑟</m:t>
                            </m:r>
                          </m:e>
                          <m:sub>
                            <m:r>
                              <a:rPr lang="en-US" sz="2000" b="0" i="1" smtClean="0">
                                <a:latin typeface="Cambria Math" panose="02040503050406030204" pitchFamily="18" charset="0"/>
                                <a:ea typeface="Cambria Math" panose="02040503050406030204" pitchFamily="18" charset="0"/>
                              </a:rPr>
                              <m:t>𝑝</m:t>
                            </m:r>
                          </m:sub>
                        </m:sSub>
                      </m:den>
                    </m:f>
                  </m:oMath>
                </a14:m>
                <a:endParaRPr lang="en-US" sz="2000" b="0" dirty="0">
                  <a:ea typeface="Cambria Math" panose="02040503050406030204" pitchFamily="18" charset="0"/>
                </a:endParaRPr>
              </a:p>
              <a:p>
                <a:pPr marL="342900" indent="-342900">
                  <a:buFont typeface="Arial" panose="020B0604020202020204" pitchFamily="34" charset="0"/>
                  <a:buChar char="•"/>
                </a:pPr>
                <a:r>
                  <a:rPr lang="en-US" sz="2000" dirty="0"/>
                  <a:t>For 12AX7,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𝑔</m:t>
                        </m:r>
                      </m:e>
                      <m:sub>
                        <m:r>
                          <a:rPr lang="en-US" sz="2000" b="0" i="1" smtClean="0">
                            <a:latin typeface="Cambria Math" panose="02040503050406030204" pitchFamily="18" charset="0"/>
                          </a:rPr>
                          <m:t>𝑚</m:t>
                        </m:r>
                      </m:sub>
                    </m:sSub>
                    <m:r>
                      <a:rPr lang="en-US" sz="2000" b="0" i="1" smtClean="0">
                        <a:latin typeface="Cambria Math" panose="02040503050406030204" pitchFamily="18" charset="0"/>
                      </a:rPr>
                      <m:t>=1.8</m:t>
                    </m:r>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10</m:t>
                        </m:r>
                      </m:e>
                      <m:sup>
                        <m:r>
                          <a:rPr lang="en-US" sz="2000" b="0" i="1" smtClean="0">
                            <a:latin typeface="Cambria Math" panose="02040503050406030204" pitchFamily="18" charset="0"/>
                            <a:ea typeface="Cambria Math" panose="02040503050406030204" pitchFamily="18" charset="0"/>
                          </a:rPr>
                          <m:t>−3</m:t>
                        </m:r>
                      </m:sup>
                    </m:sSup>
                  </m:oMath>
                </a14:m>
                <a:r>
                  <a:rPr lang="en-US" sz="2000" dirty="0"/>
                  <a:t> siemens,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𝑟</m:t>
                        </m:r>
                      </m:e>
                      <m:sub>
                        <m:r>
                          <a:rPr lang="en-US" sz="2000" b="0" i="1" smtClean="0">
                            <a:latin typeface="Cambria Math" panose="02040503050406030204" pitchFamily="18" charset="0"/>
                          </a:rPr>
                          <m:t>𝑝</m:t>
                        </m:r>
                      </m:sub>
                    </m:sSub>
                    <m:r>
                      <a:rPr lang="en-US" sz="2000" b="0" i="1" smtClean="0">
                        <a:latin typeface="Cambria Math" panose="02040503050406030204" pitchFamily="18" charset="0"/>
                      </a:rPr>
                      <m:t>=53.5</m:t>
                    </m:r>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10</m:t>
                        </m:r>
                      </m:e>
                      <m:sup>
                        <m:r>
                          <a:rPr lang="en-US" sz="2000" b="0" i="1" smtClean="0">
                            <a:latin typeface="Cambria Math" panose="02040503050406030204" pitchFamily="18" charset="0"/>
                            <a:ea typeface="Cambria Math" panose="02040503050406030204" pitchFamily="18" charset="0"/>
                          </a:rPr>
                          <m:t>3</m:t>
                        </m:r>
                      </m:sup>
                    </m:sSup>
                    <m:r>
                      <m:rPr>
                        <m:sty m:val="p"/>
                      </m:rPr>
                      <a:rPr lang="el-GR" sz="2000" b="0" i="1" smtClean="0">
                        <a:latin typeface="Cambria Math" panose="02040503050406030204" pitchFamily="18" charset="0"/>
                        <a:ea typeface="Cambria Math" panose="02040503050406030204" pitchFamily="18" charset="0"/>
                      </a:rPr>
                      <m:t>Ω</m:t>
                    </m:r>
                  </m:oMath>
                </a14:m>
                <a:endParaRPr lang="en-US" sz="2000" dirty="0"/>
              </a:p>
            </p:txBody>
          </p:sp>
        </mc:Choice>
        <mc:Fallback xmlns="">
          <p:sp>
            <p:nvSpPr>
              <p:cNvPr id="2" name="TextBox 1">
                <a:extLst>
                  <a:ext uri="{FF2B5EF4-FFF2-40B4-BE49-F238E27FC236}">
                    <a16:creationId xmlns:a16="http://schemas.microsoft.com/office/drawing/2014/main" id="{56661CF8-5091-4D40-961D-85341DF5611E}"/>
                  </a:ext>
                </a:extLst>
              </p:cNvPr>
              <p:cNvSpPr txBox="1">
                <a:spLocks noRot="1" noChangeAspect="1" noMove="1" noResize="1" noEditPoints="1" noAdjustHandles="1" noChangeArrowheads="1" noChangeShapeType="1" noTextEdit="1"/>
              </p:cNvSpPr>
              <p:nvPr/>
            </p:nvSpPr>
            <p:spPr>
              <a:xfrm>
                <a:off x="2708863" y="2998095"/>
                <a:ext cx="6596172" cy="2595856"/>
              </a:xfrm>
              <a:prstGeom prst="rect">
                <a:avLst/>
              </a:prstGeom>
              <a:blipFill>
                <a:blip r:embed="rId3"/>
                <a:stretch>
                  <a:fillRect l="-769" t="-13659"/>
                </a:stretch>
              </a:blipFill>
            </p:spPr>
            <p:txBody>
              <a:bodyPr/>
              <a:lstStyle/>
              <a:p>
                <a:r>
                  <a:rPr lang="en-US">
                    <a:noFill/>
                  </a:rPr>
                  <a:t> </a:t>
                </a:r>
              </a:p>
            </p:txBody>
          </p:sp>
        </mc:Fallback>
      </mc:AlternateContent>
      <p:pic>
        <p:nvPicPr>
          <p:cNvPr id="1027" name="Picture 3">
            <a:extLst>
              <a:ext uri="{FF2B5EF4-FFF2-40B4-BE49-F238E27FC236}">
                <a16:creationId xmlns:a16="http://schemas.microsoft.com/office/drawing/2014/main" id="{EAEC7FAE-5460-1844-BC38-30ED6040A7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448" y="1347552"/>
            <a:ext cx="2392158" cy="1924581"/>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a:extLst>
              <a:ext uri="{FF2B5EF4-FFF2-40B4-BE49-F238E27FC236}">
                <a16:creationId xmlns:a16="http://schemas.microsoft.com/office/drawing/2014/main" id="{5B4A03CD-3A01-7765-211C-EA18E79C4133}"/>
              </a:ext>
            </a:extLst>
          </p:cNvPr>
          <p:cNvGrpSpPr/>
          <p:nvPr/>
        </p:nvGrpSpPr>
        <p:grpSpPr>
          <a:xfrm>
            <a:off x="9260347" y="1004262"/>
            <a:ext cx="2334089" cy="2860458"/>
            <a:chOff x="9628562" y="-78111"/>
            <a:chExt cx="2334089" cy="2860458"/>
          </a:xfrm>
        </p:grpSpPr>
        <p:sp>
          <p:nvSpPr>
            <p:cNvPr id="4" name="Oval 3">
              <a:extLst>
                <a:ext uri="{FF2B5EF4-FFF2-40B4-BE49-F238E27FC236}">
                  <a16:creationId xmlns:a16="http://schemas.microsoft.com/office/drawing/2014/main" id="{C0667DC9-B46A-0B59-7A1C-810C98E610CA}"/>
                </a:ext>
              </a:extLst>
            </p:cNvPr>
            <p:cNvSpPr/>
            <p:nvPr/>
          </p:nvSpPr>
          <p:spPr>
            <a:xfrm>
              <a:off x="9628562" y="886986"/>
              <a:ext cx="1115568" cy="1115568"/>
            </a:xfrm>
            <a:prstGeom prst="ellipse">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AC93121F-0403-9112-85A9-D0545C8D7DC2}"/>
                </a:ext>
              </a:extLst>
            </p:cNvPr>
            <p:cNvCxnSpPr/>
            <p:nvPr/>
          </p:nvCxnSpPr>
          <p:spPr>
            <a:xfrm>
              <a:off x="9959867" y="1178837"/>
              <a:ext cx="42406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3902A51-9C0C-1725-691F-013185BA26D1}"/>
                </a:ext>
              </a:extLst>
            </p:cNvPr>
            <p:cNvCxnSpPr/>
            <p:nvPr/>
          </p:nvCxnSpPr>
          <p:spPr>
            <a:xfrm>
              <a:off x="9986370" y="1728799"/>
              <a:ext cx="42406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5956269-F04E-2DA9-06AE-1E8D3FFAE2E5}"/>
                </a:ext>
              </a:extLst>
            </p:cNvPr>
            <p:cNvCxnSpPr>
              <a:cxnSpLocks/>
            </p:cNvCxnSpPr>
            <p:nvPr/>
          </p:nvCxnSpPr>
          <p:spPr>
            <a:xfrm>
              <a:off x="10403813" y="1715547"/>
              <a:ext cx="0" cy="12258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0192395-AF79-C563-CB06-FE75EE7673BA}"/>
                </a:ext>
              </a:extLst>
            </p:cNvPr>
            <p:cNvCxnSpPr>
              <a:cxnSpLocks/>
            </p:cNvCxnSpPr>
            <p:nvPr/>
          </p:nvCxnSpPr>
          <p:spPr>
            <a:xfrm>
              <a:off x="10191640" y="343947"/>
              <a:ext cx="0" cy="83489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0C174D0-F8CC-F736-794B-7DA6E6C51167}"/>
                </a:ext>
              </a:extLst>
            </p:cNvPr>
            <p:cNvCxnSpPr>
              <a:cxnSpLocks/>
            </p:cNvCxnSpPr>
            <p:nvPr/>
          </p:nvCxnSpPr>
          <p:spPr>
            <a:xfrm>
              <a:off x="9986370" y="1715547"/>
              <a:ext cx="0" cy="83489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220">
              <a:extLst>
                <a:ext uri="{FF2B5EF4-FFF2-40B4-BE49-F238E27FC236}">
                  <a16:creationId xmlns:a16="http://schemas.microsoft.com/office/drawing/2014/main" id="{B25C0C46-B326-AC11-5A2E-FA4B42868864}"/>
                </a:ext>
              </a:extLst>
            </p:cNvPr>
            <p:cNvGrpSpPr>
              <a:grpSpLocks/>
            </p:cNvGrpSpPr>
            <p:nvPr/>
          </p:nvGrpSpPr>
          <p:grpSpPr bwMode="auto">
            <a:xfrm>
              <a:off x="9913482" y="2477547"/>
              <a:ext cx="152400" cy="304800"/>
              <a:chOff x="3264" y="3072"/>
              <a:chExt cx="96" cy="192"/>
            </a:xfrm>
          </p:grpSpPr>
          <p:sp>
            <p:nvSpPr>
              <p:cNvPr id="14" name="Line 17">
                <a:extLst>
                  <a:ext uri="{FF2B5EF4-FFF2-40B4-BE49-F238E27FC236}">
                    <a16:creationId xmlns:a16="http://schemas.microsoft.com/office/drawing/2014/main" id="{0C52464F-36E0-8BEC-7800-5FF831C2D7FE}"/>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 name="Freeform 18">
                <a:extLst>
                  <a:ext uri="{FF2B5EF4-FFF2-40B4-BE49-F238E27FC236}">
                    <a16:creationId xmlns:a16="http://schemas.microsoft.com/office/drawing/2014/main" id="{20CF89A1-E08C-4F95-0760-564097567B1A}"/>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46" name="Group 356">
              <a:extLst>
                <a:ext uri="{FF2B5EF4-FFF2-40B4-BE49-F238E27FC236}">
                  <a16:creationId xmlns:a16="http://schemas.microsoft.com/office/drawing/2014/main" id="{BFB156F7-4019-CB42-2F47-85472129BDAB}"/>
                </a:ext>
              </a:extLst>
            </p:cNvPr>
            <p:cNvGrpSpPr>
              <a:grpSpLocks/>
            </p:cNvGrpSpPr>
            <p:nvPr/>
          </p:nvGrpSpPr>
          <p:grpSpPr bwMode="auto">
            <a:xfrm>
              <a:off x="11151909" y="335460"/>
              <a:ext cx="628650" cy="985837"/>
              <a:chOff x="2944" y="3306"/>
              <a:chExt cx="198" cy="524"/>
            </a:xfrm>
          </p:grpSpPr>
          <p:grpSp>
            <p:nvGrpSpPr>
              <p:cNvPr id="47" name="Group 298">
                <a:extLst>
                  <a:ext uri="{FF2B5EF4-FFF2-40B4-BE49-F238E27FC236}">
                    <a16:creationId xmlns:a16="http://schemas.microsoft.com/office/drawing/2014/main" id="{511D95C6-D8C0-CA05-2A4E-A10DFFFA4114}"/>
                  </a:ext>
                </a:extLst>
              </p:cNvPr>
              <p:cNvGrpSpPr>
                <a:grpSpLocks/>
              </p:cNvGrpSpPr>
              <p:nvPr/>
            </p:nvGrpSpPr>
            <p:grpSpPr bwMode="auto">
              <a:xfrm>
                <a:off x="2944" y="3306"/>
                <a:ext cx="198" cy="518"/>
                <a:chOff x="3058" y="3370"/>
                <a:chExt cx="198" cy="518"/>
              </a:xfrm>
            </p:grpSpPr>
            <p:grpSp>
              <p:nvGrpSpPr>
                <p:cNvPr id="49" name="Group 294">
                  <a:extLst>
                    <a:ext uri="{FF2B5EF4-FFF2-40B4-BE49-F238E27FC236}">
                      <a16:creationId xmlns:a16="http://schemas.microsoft.com/office/drawing/2014/main" id="{1628CDFC-4207-62DB-2E17-DE488CF3AB33}"/>
                    </a:ext>
                  </a:extLst>
                </p:cNvPr>
                <p:cNvGrpSpPr>
                  <a:grpSpLocks/>
                </p:cNvGrpSpPr>
                <p:nvPr/>
              </p:nvGrpSpPr>
              <p:grpSpPr bwMode="auto">
                <a:xfrm>
                  <a:off x="3083" y="3370"/>
                  <a:ext cx="173" cy="518"/>
                  <a:chOff x="3083" y="3370"/>
                  <a:chExt cx="173" cy="518"/>
                </a:xfrm>
              </p:grpSpPr>
              <p:grpSp>
                <p:nvGrpSpPr>
                  <p:cNvPr id="53" name="Group 292">
                    <a:extLst>
                      <a:ext uri="{FF2B5EF4-FFF2-40B4-BE49-F238E27FC236}">
                        <a16:creationId xmlns:a16="http://schemas.microsoft.com/office/drawing/2014/main" id="{6FB691F4-0909-52A3-A6CD-FC777CC2140A}"/>
                      </a:ext>
                    </a:extLst>
                  </p:cNvPr>
                  <p:cNvGrpSpPr>
                    <a:grpSpLocks/>
                  </p:cNvGrpSpPr>
                  <p:nvPr/>
                </p:nvGrpSpPr>
                <p:grpSpPr bwMode="auto">
                  <a:xfrm>
                    <a:off x="3083" y="3542"/>
                    <a:ext cx="173" cy="169"/>
                    <a:chOff x="3092" y="3427"/>
                    <a:chExt cx="173" cy="284"/>
                  </a:xfrm>
                </p:grpSpPr>
                <p:grpSp>
                  <p:nvGrpSpPr>
                    <p:cNvPr id="56" name="Group 286">
                      <a:extLst>
                        <a:ext uri="{FF2B5EF4-FFF2-40B4-BE49-F238E27FC236}">
                          <a16:creationId xmlns:a16="http://schemas.microsoft.com/office/drawing/2014/main" id="{8158F9BF-F18F-3D12-7A6E-3804CB4DF325}"/>
                        </a:ext>
                      </a:extLst>
                    </p:cNvPr>
                    <p:cNvGrpSpPr>
                      <a:grpSpLocks/>
                    </p:cNvGrpSpPr>
                    <p:nvPr/>
                  </p:nvGrpSpPr>
                  <p:grpSpPr bwMode="auto">
                    <a:xfrm>
                      <a:off x="3092" y="3427"/>
                      <a:ext cx="173" cy="230"/>
                      <a:chOff x="3168" y="3485"/>
                      <a:chExt cx="173" cy="230"/>
                    </a:xfrm>
                  </p:grpSpPr>
                  <p:sp>
                    <p:nvSpPr>
                      <p:cNvPr id="61" name="Line 283">
                        <a:extLst>
                          <a:ext uri="{FF2B5EF4-FFF2-40B4-BE49-F238E27FC236}">
                            <a16:creationId xmlns:a16="http://schemas.microsoft.com/office/drawing/2014/main" id="{B2D4B3CE-9A0F-A03E-71E5-DBC0751A1483}"/>
                          </a:ext>
                        </a:extLst>
                      </p:cNvPr>
                      <p:cNvSpPr>
                        <a:spLocks noChangeShapeType="1"/>
                      </p:cNvSpPr>
                      <p:nvPr/>
                    </p:nvSpPr>
                    <p:spPr bwMode="auto">
                      <a:xfrm>
                        <a:off x="3168" y="348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3" name="Line 284">
                        <a:extLst>
                          <a:ext uri="{FF2B5EF4-FFF2-40B4-BE49-F238E27FC236}">
                            <a16:creationId xmlns:a16="http://schemas.microsoft.com/office/drawing/2014/main" id="{BFB41AAE-CE76-66E6-31E9-E0CD46CB614F}"/>
                          </a:ext>
                        </a:extLst>
                      </p:cNvPr>
                      <p:cNvSpPr>
                        <a:spLocks noChangeShapeType="1"/>
                      </p:cNvSpPr>
                      <p:nvPr/>
                    </p:nvSpPr>
                    <p:spPr bwMode="auto">
                      <a:xfrm>
                        <a:off x="3168" y="3600"/>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4" name="Line 285">
                        <a:extLst>
                          <a:ext uri="{FF2B5EF4-FFF2-40B4-BE49-F238E27FC236}">
                            <a16:creationId xmlns:a16="http://schemas.microsoft.com/office/drawing/2014/main" id="{C86189D7-BAD8-C2A7-6A8F-9183116164DA}"/>
                          </a:ext>
                        </a:extLst>
                      </p:cNvPr>
                      <p:cNvSpPr>
                        <a:spLocks noChangeShapeType="1"/>
                      </p:cNvSpPr>
                      <p:nvPr/>
                    </p:nvSpPr>
                    <p:spPr bwMode="auto">
                      <a:xfrm>
                        <a:off x="3168" y="371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7" name="Group 287">
                      <a:extLst>
                        <a:ext uri="{FF2B5EF4-FFF2-40B4-BE49-F238E27FC236}">
                          <a16:creationId xmlns:a16="http://schemas.microsoft.com/office/drawing/2014/main" id="{229106CB-0A66-B0E2-BD98-1B1293AE2401}"/>
                        </a:ext>
                      </a:extLst>
                    </p:cNvPr>
                    <p:cNvGrpSpPr>
                      <a:grpSpLocks/>
                    </p:cNvGrpSpPr>
                    <p:nvPr/>
                  </p:nvGrpSpPr>
                  <p:grpSpPr bwMode="auto">
                    <a:xfrm>
                      <a:off x="3128" y="3481"/>
                      <a:ext cx="91" cy="230"/>
                      <a:chOff x="3168" y="3485"/>
                      <a:chExt cx="173" cy="230"/>
                    </a:xfrm>
                  </p:grpSpPr>
                  <p:sp>
                    <p:nvSpPr>
                      <p:cNvPr id="58" name="Line 288">
                        <a:extLst>
                          <a:ext uri="{FF2B5EF4-FFF2-40B4-BE49-F238E27FC236}">
                            <a16:creationId xmlns:a16="http://schemas.microsoft.com/office/drawing/2014/main" id="{D222F31E-72C3-53C2-EC97-EBE0D91060FA}"/>
                          </a:ext>
                        </a:extLst>
                      </p:cNvPr>
                      <p:cNvSpPr>
                        <a:spLocks noChangeShapeType="1"/>
                      </p:cNvSpPr>
                      <p:nvPr/>
                    </p:nvSpPr>
                    <p:spPr bwMode="auto">
                      <a:xfrm>
                        <a:off x="3168" y="348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 name="Line 289">
                        <a:extLst>
                          <a:ext uri="{FF2B5EF4-FFF2-40B4-BE49-F238E27FC236}">
                            <a16:creationId xmlns:a16="http://schemas.microsoft.com/office/drawing/2014/main" id="{021416F8-CF0C-D947-BD21-9F6921065948}"/>
                          </a:ext>
                        </a:extLst>
                      </p:cNvPr>
                      <p:cNvSpPr>
                        <a:spLocks noChangeShapeType="1"/>
                      </p:cNvSpPr>
                      <p:nvPr/>
                    </p:nvSpPr>
                    <p:spPr bwMode="auto">
                      <a:xfrm>
                        <a:off x="3168" y="3600"/>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 name="Line 290">
                        <a:extLst>
                          <a:ext uri="{FF2B5EF4-FFF2-40B4-BE49-F238E27FC236}">
                            <a16:creationId xmlns:a16="http://schemas.microsoft.com/office/drawing/2014/main" id="{45072AA4-2CF8-59E1-FF9D-02D2E06C76EE}"/>
                          </a:ext>
                        </a:extLst>
                      </p:cNvPr>
                      <p:cNvSpPr>
                        <a:spLocks noChangeShapeType="1"/>
                      </p:cNvSpPr>
                      <p:nvPr/>
                    </p:nvSpPr>
                    <p:spPr bwMode="auto">
                      <a:xfrm>
                        <a:off x="3168" y="371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54" name="Line 291">
                    <a:extLst>
                      <a:ext uri="{FF2B5EF4-FFF2-40B4-BE49-F238E27FC236}">
                        <a16:creationId xmlns:a16="http://schemas.microsoft.com/office/drawing/2014/main" id="{C9C21362-FB90-5A67-0F63-A0BF9C1BD8CE}"/>
                      </a:ext>
                    </a:extLst>
                  </p:cNvPr>
                  <p:cNvSpPr>
                    <a:spLocks noChangeShapeType="1"/>
                  </p:cNvSpPr>
                  <p:nvPr/>
                </p:nvSpPr>
                <p:spPr bwMode="auto">
                  <a:xfrm>
                    <a:off x="3168" y="3715"/>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 name="Line 293">
                    <a:extLst>
                      <a:ext uri="{FF2B5EF4-FFF2-40B4-BE49-F238E27FC236}">
                        <a16:creationId xmlns:a16="http://schemas.microsoft.com/office/drawing/2014/main" id="{ACE760B7-2018-828F-BE37-C91C1FC3983B}"/>
                      </a:ext>
                    </a:extLst>
                  </p:cNvPr>
                  <p:cNvSpPr>
                    <a:spLocks noChangeShapeType="1"/>
                  </p:cNvSpPr>
                  <p:nvPr/>
                </p:nvSpPr>
                <p:spPr bwMode="auto">
                  <a:xfrm>
                    <a:off x="3168" y="3370"/>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51" name="Text Box 296">
                  <a:extLst>
                    <a:ext uri="{FF2B5EF4-FFF2-40B4-BE49-F238E27FC236}">
                      <a16:creationId xmlns:a16="http://schemas.microsoft.com/office/drawing/2014/main" id="{1CCA4B5F-E173-0C52-0098-B7CCA45D8198}"/>
                    </a:ext>
                  </a:extLst>
                </p:cNvPr>
                <p:cNvSpPr txBox="1">
                  <a:spLocks noChangeArrowheads="1"/>
                </p:cNvSpPr>
                <p:nvPr/>
              </p:nvSpPr>
              <p:spPr bwMode="auto">
                <a:xfrm>
                  <a:off x="3058" y="3436"/>
                  <a:ext cx="47"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800"/>
                    <a:t>+</a:t>
                  </a:r>
                </a:p>
              </p:txBody>
            </p:sp>
            <p:sp>
              <p:nvSpPr>
                <p:cNvPr id="52" name="Text Box 297">
                  <a:extLst>
                    <a:ext uri="{FF2B5EF4-FFF2-40B4-BE49-F238E27FC236}">
                      <a16:creationId xmlns:a16="http://schemas.microsoft.com/office/drawing/2014/main" id="{4FAC81A5-2965-60EC-A609-10F2CDCA696B}"/>
                    </a:ext>
                  </a:extLst>
                </p:cNvPr>
                <p:cNvSpPr txBox="1">
                  <a:spLocks noChangeArrowheads="1"/>
                </p:cNvSpPr>
                <p:nvPr/>
              </p:nvSpPr>
              <p:spPr bwMode="auto">
                <a:xfrm>
                  <a:off x="3070" y="3680"/>
                  <a:ext cx="45" cy="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200">
                      <a:latin typeface="Arial" panose="020B0604020202020204" pitchFamily="34" charset="0"/>
                      <a:cs typeface="Arial" panose="020B0604020202020204" pitchFamily="34" charset="0"/>
                    </a:rPr>
                    <a:t>-</a:t>
                  </a:r>
                </a:p>
              </p:txBody>
            </p:sp>
          </p:grpSp>
          <p:sp>
            <p:nvSpPr>
              <p:cNvPr id="48" name="Freeform 355">
                <a:extLst>
                  <a:ext uri="{FF2B5EF4-FFF2-40B4-BE49-F238E27FC236}">
                    <a16:creationId xmlns:a16="http://schemas.microsoft.com/office/drawing/2014/main" id="{AE57529A-8B28-C55A-E813-9679B6090B3D}"/>
                  </a:ext>
                </a:extLst>
              </p:cNvPr>
              <p:cNvSpPr>
                <a:spLocks/>
              </p:cNvSpPr>
              <p:nvPr/>
            </p:nvSpPr>
            <p:spPr bwMode="auto">
              <a:xfrm>
                <a:off x="2995" y="3312"/>
                <a:ext cx="115" cy="518"/>
              </a:xfrm>
              <a:custGeom>
                <a:avLst/>
                <a:gdLst>
                  <a:gd name="T0" fmla="*/ 58 w 115"/>
                  <a:gd name="T1" fmla="*/ 0 h 518"/>
                  <a:gd name="T2" fmla="*/ 0 w 115"/>
                  <a:gd name="T3" fmla="*/ 173 h 518"/>
                  <a:gd name="T4" fmla="*/ 58 w 115"/>
                  <a:gd name="T5" fmla="*/ 518 h 518"/>
                  <a:gd name="T6" fmla="*/ 115 w 115"/>
                  <a:gd name="T7" fmla="*/ 173 h 518"/>
                  <a:gd name="T8" fmla="*/ 58 w 115"/>
                  <a:gd name="T9" fmla="*/ 0 h 518"/>
                  <a:gd name="T10" fmla="*/ 0 60000 65536"/>
                  <a:gd name="T11" fmla="*/ 0 60000 65536"/>
                  <a:gd name="T12" fmla="*/ 0 60000 65536"/>
                  <a:gd name="T13" fmla="*/ 0 60000 65536"/>
                  <a:gd name="T14" fmla="*/ 0 60000 65536"/>
                  <a:gd name="T15" fmla="*/ 0 w 115"/>
                  <a:gd name="T16" fmla="*/ 0 h 518"/>
                  <a:gd name="T17" fmla="*/ 115 w 115"/>
                  <a:gd name="T18" fmla="*/ 518 h 518"/>
                </a:gdLst>
                <a:ahLst/>
                <a:cxnLst>
                  <a:cxn ang="T10">
                    <a:pos x="T0" y="T1"/>
                  </a:cxn>
                  <a:cxn ang="T11">
                    <a:pos x="T2" y="T3"/>
                  </a:cxn>
                  <a:cxn ang="T12">
                    <a:pos x="T4" y="T5"/>
                  </a:cxn>
                  <a:cxn ang="T13">
                    <a:pos x="T6" y="T7"/>
                  </a:cxn>
                  <a:cxn ang="T14">
                    <a:pos x="T8" y="T9"/>
                  </a:cxn>
                </a:cxnLst>
                <a:rect l="T15" t="T16" r="T17" b="T18"/>
                <a:pathLst>
                  <a:path w="115" h="518">
                    <a:moveTo>
                      <a:pt x="58" y="0"/>
                    </a:moveTo>
                    <a:lnTo>
                      <a:pt x="0" y="173"/>
                    </a:lnTo>
                    <a:lnTo>
                      <a:pt x="58" y="518"/>
                    </a:lnTo>
                    <a:lnTo>
                      <a:pt x="115" y="173"/>
                    </a:lnTo>
                    <a:lnTo>
                      <a:pt x="58"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grpSp>
          <p:nvGrpSpPr>
            <p:cNvPr id="1026" name="Group 220">
              <a:extLst>
                <a:ext uri="{FF2B5EF4-FFF2-40B4-BE49-F238E27FC236}">
                  <a16:creationId xmlns:a16="http://schemas.microsoft.com/office/drawing/2014/main" id="{3BD8EF3B-F4F8-A57D-2EC2-8172C6F0C55E}"/>
                </a:ext>
              </a:extLst>
            </p:cNvPr>
            <p:cNvGrpSpPr>
              <a:grpSpLocks/>
            </p:cNvGrpSpPr>
            <p:nvPr/>
          </p:nvGrpSpPr>
          <p:grpSpPr bwMode="auto">
            <a:xfrm>
              <a:off x="11429721" y="1227470"/>
              <a:ext cx="152400" cy="304800"/>
              <a:chOff x="3264" y="3072"/>
              <a:chExt cx="96" cy="192"/>
            </a:xfrm>
          </p:grpSpPr>
          <p:sp>
            <p:nvSpPr>
              <p:cNvPr id="1028" name="Line 17">
                <a:extLst>
                  <a:ext uri="{FF2B5EF4-FFF2-40B4-BE49-F238E27FC236}">
                    <a16:creationId xmlns:a16="http://schemas.microsoft.com/office/drawing/2014/main" id="{AF17A1DF-8329-DA64-8DE7-423CB6F78E73}"/>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0" name="Freeform 18">
                <a:extLst>
                  <a:ext uri="{FF2B5EF4-FFF2-40B4-BE49-F238E27FC236}">
                    <a16:creationId xmlns:a16="http://schemas.microsoft.com/office/drawing/2014/main" id="{7C25B0D5-0AB6-FE43-BD24-30F3E15ADC4A}"/>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cxnSp>
          <p:nvCxnSpPr>
            <p:cNvPr id="1031" name="Straight Connector 1030">
              <a:extLst>
                <a:ext uri="{FF2B5EF4-FFF2-40B4-BE49-F238E27FC236}">
                  <a16:creationId xmlns:a16="http://schemas.microsoft.com/office/drawing/2014/main" id="{9DD20A46-70D1-9557-3E02-884ED3A43FC6}"/>
                </a:ext>
              </a:extLst>
            </p:cNvPr>
            <p:cNvCxnSpPr>
              <a:cxnSpLocks/>
            </p:cNvCxnSpPr>
            <p:nvPr/>
          </p:nvCxnSpPr>
          <p:spPr>
            <a:xfrm>
              <a:off x="10186346" y="352104"/>
              <a:ext cx="1318172" cy="628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33" name="TextBox 1032">
              <a:extLst>
                <a:ext uri="{FF2B5EF4-FFF2-40B4-BE49-F238E27FC236}">
                  <a16:creationId xmlns:a16="http://schemas.microsoft.com/office/drawing/2014/main" id="{5797F474-AAF0-E6B7-14F5-02EFAFE9FD79}"/>
                </a:ext>
              </a:extLst>
            </p:cNvPr>
            <p:cNvSpPr txBox="1"/>
            <p:nvPr/>
          </p:nvSpPr>
          <p:spPr>
            <a:xfrm>
              <a:off x="10507762" y="-78111"/>
              <a:ext cx="478486" cy="369332"/>
            </a:xfrm>
            <a:prstGeom prst="rect">
              <a:avLst/>
            </a:prstGeom>
            <a:noFill/>
          </p:spPr>
          <p:txBody>
            <a:bodyPr wrap="square" rtlCol="0">
              <a:spAutoFit/>
            </a:bodyPr>
            <a:lstStyle/>
            <a:p>
              <a:r>
                <a:rPr lang="en-US" dirty="0" err="1"/>
                <a:t>i</a:t>
              </a:r>
              <a:r>
                <a:rPr lang="en-US" baseline="-25000" dirty="0" err="1"/>
                <a:t>p</a:t>
              </a:r>
              <a:endParaRPr lang="en-US" baseline="-25000" dirty="0"/>
            </a:p>
          </p:txBody>
        </p:sp>
        <p:sp>
          <p:nvSpPr>
            <p:cNvPr id="1034" name="TextBox 1033">
              <a:extLst>
                <a:ext uri="{FF2B5EF4-FFF2-40B4-BE49-F238E27FC236}">
                  <a16:creationId xmlns:a16="http://schemas.microsoft.com/office/drawing/2014/main" id="{0D7F235E-7FA2-C468-21D8-AFB3B9A807C3}"/>
                </a:ext>
              </a:extLst>
            </p:cNvPr>
            <p:cNvSpPr txBox="1"/>
            <p:nvPr/>
          </p:nvSpPr>
          <p:spPr>
            <a:xfrm>
              <a:off x="11484165" y="293856"/>
              <a:ext cx="478486" cy="369332"/>
            </a:xfrm>
            <a:prstGeom prst="rect">
              <a:avLst/>
            </a:prstGeom>
            <a:noFill/>
          </p:spPr>
          <p:txBody>
            <a:bodyPr wrap="square" rtlCol="0">
              <a:spAutoFit/>
            </a:bodyPr>
            <a:lstStyle/>
            <a:p>
              <a:r>
                <a:rPr lang="en-US" dirty="0"/>
                <a:t>V</a:t>
              </a:r>
              <a:endParaRPr lang="en-US" baseline="-25000" dirty="0"/>
            </a:p>
          </p:txBody>
        </p:sp>
      </p:grpSp>
      <p:grpSp>
        <p:nvGrpSpPr>
          <p:cNvPr id="9" name="Group 8">
            <a:extLst>
              <a:ext uri="{FF2B5EF4-FFF2-40B4-BE49-F238E27FC236}">
                <a16:creationId xmlns:a16="http://schemas.microsoft.com/office/drawing/2014/main" id="{35542CB2-6A31-DDD1-BDFB-3B05F5E3250E}"/>
              </a:ext>
            </a:extLst>
          </p:cNvPr>
          <p:cNvGrpSpPr/>
          <p:nvPr/>
        </p:nvGrpSpPr>
        <p:grpSpPr>
          <a:xfrm>
            <a:off x="9539722" y="3410404"/>
            <a:ext cx="1672385" cy="2634769"/>
            <a:chOff x="10108789" y="3191092"/>
            <a:chExt cx="1672385" cy="2634769"/>
          </a:xfrm>
        </p:grpSpPr>
        <p:sp>
          <p:nvSpPr>
            <p:cNvPr id="1035" name="Oval 1034">
              <a:extLst>
                <a:ext uri="{FF2B5EF4-FFF2-40B4-BE49-F238E27FC236}">
                  <a16:creationId xmlns:a16="http://schemas.microsoft.com/office/drawing/2014/main" id="{190D119D-CE2B-FAEA-2755-33C2D9050DBB}"/>
                </a:ext>
              </a:extLst>
            </p:cNvPr>
            <p:cNvSpPr/>
            <p:nvPr/>
          </p:nvSpPr>
          <p:spPr>
            <a:xfrm>
              <a:off x="10655017" y="3930500"/>
              <a:ext cx="1115568" cy="1115568"/>
            </a:xfrm>
            <a:prstGeom prst="ellipse">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36" name="Straight Connector 1035">
              <a:extLst>
                <a:ext uri="{FF2B5EF4-FFF2-40B4-BE49-F238E27FC236}">
                  <a16:creationId xmlns:a16="http://schemas.microsoft.com/office/drawing/2014/main" id="{BF50E727-CDCA-61D6-E0D4-88283B190564}"/>
                </a:ext>
              </a:extLst>
            </p:cNvPr>
            <p:cNvCxnSpPr/>
            <p:nvPr/>
          </p:nvCxnSpPr>
          <p:spPr>
            <a:xfrm>
              <a:off x="10986322" y="4222351"/>
              <a:ext cx="42406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7" name="Straight Connector 1036">
              <a:extLst>
                <a:ext uri="{FF2B5EF4-FFF2-40B4-BE49-F238E27FC236}">
                  <a16:creationId xmlns:a16="http://schemas.microsoft.com/office/drawing/2014/main" id="{D94A08CB-796B-97E8-4F66-4A715546358F}"/>
                </a:ext>
              </a:extLst>
            </p:cNvPr>
            <p:cNvCxnSpPr/>
            <p:nvPr/>
          </p:nvCxnSpPr>
          <p:spPr>
            <a:xfrm>
              <a:off x="11012825" y="4772313"/>
              <a:ext cx="42406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8" name="Straight Connector 1037">
              <a:extLst>
                <a:ext uri="{FF2B5EF4-FFF2-40B4-BE49-F238E27FC236}">
                  <a16:creationId xmlns:a16="http://schemas.microsoft.com/office/drawing/2014/main" id="{8F6B5FB9-DA59-8D15-C0FE-7309A8D4B49C}"/>
                </a:ext>
              </a:extLst>
            </p:cNvPr>
            <p:cNvCxnSpPr>
              <a:cxnSpLocks/>
            </p:cNvCxnSpPr>
            <p:nvPr/>
          </p:nvCxnSpPr>
          <p:spPr>
            <a:xfrm>
              <a:off x="11430268" y="4759061"/>
              <a:ext cx="0" cy="12258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9" name="Straight Connector 1038">
              <a:extLst>
                <a:ext uri="{FF2B5EF4-FFF2-40B4-BE49-F238E27FC236}">
                  <a16:creationId xmlns:a16="http://schemas.microsoft.com/office/drawing/2014/main" id="{8F0E10AB-440E-2BF1-26C3-BB72249A23CA}"/>
                </a:ext>
              </a:extLst>
            </p:cNvPr>
            <p:cNvCxnSpPr>
              <a:cxnSpLocks/>
            </p:cNvCxnSpPr>
            <p:nvPr/>
          </p:nvCxnSpPr>
          <p:spPr>
            <a:xfrm>
              <a:off x="11212801" y="3387461"/>
              <a:ext cx="0" cy="83489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0" name="Straight Connector 1039">
              <a:extLst>
                <a:ext uri="{FF2B5EF4-FFF2-40B4-BE49-F238E27FC236}">
                  <a16:creationId xmlns:a16="http://schemas.microsoft.com/office/drawing/2014/main" id="{A55FE1C9-5C69-4539-7685-B62E7675FEA8}"/>
                </a:ext>
              </a:extLst>
            </p:cNvPr>
            <p:cNvCxnSpPr>
              <a:cxnSpLocks/>
            </p:cNvCxnSpPr>
            <p:nvPr/>
          </p:nvCxnSpPr>
          <p:spPr>
            <a:xfrm>
              <a:off x="11012825" y="4759061"/>
              <a:ext cx="0" cy="83489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41" name="Group 220">
              <a:extLst>
                <a:ext uri="{FF2B5EF4-FFF2-40B4-BE49-F238E27FC236}">
                  <a16:creationId xmlns:a16="http://schemas.microsoft.com/office/drawing/2014/main" id="{9C9B4429-3CCE-A7A5-843E-477A787493CE}"/>
                </a:ext>
              </a:extLst>
            </p:cNvPr>
            <p:cNvGrpSpPr>
              <a:grpSpLocks/>
            </p:cNvGrpSpPr>
            <p:nvPr/>
          </p:nvGrpSpPr>
          <p:grpSpPr bwMode="auto">
            <a:xfrm>
              <a:off x="10939937" y="5521061"/>
              <a:ext cx="152400" cy="304800"/>
              <a:chOff x="3264" y="3072"/>
              <a:chExt cx="96" cy="192"/>
            </a:xfrm>
          </p:grpSpPr>
          <p:sp>
            <p:nvSpPr>
              <p:cNvPr id="1042" name="Line 17">
                <a:extLst>
                  <a:ext uri="{FF2B5EF4-FFF2-40B4-BE49-F238E27FC236}">
                    <a16:creationId xmlns:a16="http://schemas.microsoft.com/office/drawing/2014/main" id="{C916AA04-B8AD-F05E-EC4E-156EEC03DD30}"/>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3" name="Freeform 18">
                <a:extLst>
                  <a:ext uri="{FF2B5EF4-FFF2-40B4-BE49-F238E27FC236}">
                    <a16:creationId xmlns:a16="http://schemas.microsoft.com/office/drawing/2014/main" id="{CCD9F4DE-7D49-6AE4-0569-F881CB60BFFA}"/>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cxnSp>
          <p:nvCxnSpPr>
            <p:cNvPr id="1068" name="Straight Connector 1067">
              <a:extLst>
                <a:ext uri="{FF2B5EF4-FFF2-40B4-BE49-F238E27FC236}">
                  <a16:creationId xmlns:a16="http://schemas.microsoft.com/office/drawing/2014/main" id="{83FD7A31-3F77-56C4-8AAE-00886D35D39B}"/>
                </a:ext>
              </a:extLst>
            </p:cNvPr>
            <p:cNvCxnSpPr>
              <a:cxnSpLocks/>
            </p:cNvCxnSpPr>
            <p:nvPr/>
          </p:nvCxnSpPr>
          <p:spPr>
            <a:xfrm flipH="1">
              <a:off x="10979902" y="4491325"/>
              <a:ext cx="475311"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cxnSp>
          <p:nvCxnSpPr>
            <p:cNvPr id="1071" name="Straight Connector 1070">
              <a:extLst>
                <a:ext uri="{FF2B5EF4-FFF2-40B4-BE49-F238E27FC236}">
                  <a16:creationId xmlns:a16="http://schemas.microsoft.com/office/drawing/2014/main" id="{3D8894A0-3B68-B3DB-379B-7FB32A5889C2}"/>
                </a:ext>
              </a:extLst>
            </p:cNvPr>
            <p:cNvCxnSpPr>
              <a:cxnSpLocks/>
            </p:cNvCxnSpPr>
            <p:nvPr/>
          </p:nvCxnSpPr>
          <p:spPr>
            <a:xfrm>
              <a:off x="10225272" y="4488284"/>
              <a:ext cx="74155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72" name="TextBox 1071">
              <a:extLst>
                <a:ext uri="{FF2B5EF4-FFF2-40B4-BE49-F238E27FC236}">
                  <a16:creationId xmlns:a16="http://schemas.microsoft.com/office/drawing/2014/main" id="{31BC8F3D-6A26-5904-3568-CCF051A061D4}"/>
                </a:ext>
              </a:extLst>
            </p:cNvPr>
            <p:cNvSpPr txBox="1"/>
            <p:nvPr/>
          </p:nvSpPr>
          <p:spPr>
            <a:xfrm>
              <a:off x="11302688" y="3191092"/>
              <a:ext cx="478486" cy="369332"/>
            </a:xfrm>
            <a:prstGeom prst="rect">
              <a:avLst/>
            </a:prstGeom>
            <a:noFill/>
          </p:spPr>
          <p:txBody>
            <a:bodyPr wrap="square" rtlCol="0">
              <a:spAutoFit/>
            </a:bodyPr>
            <a:lstStyle/>
            <a:p>
              <a:r>
                <a:rPr lang="en-US" dirty="0" err="1"/>
                <a:t>v</a:t>
              </a:r>
              <a:r>
                <a:rPr lang="en-US" baseline="-25000" dirty="0" err="1"/>
                <a:t>p</a:t>
              </a:r>
              <a:endParaRPr lang="en-US" baseline="-25000" dirty="0"/>
            </a:p>
          </p:txBody>
        </p:sp>
        <p:sp>
          <p:nvSpPr>
            <p:cNvPr id="1073" name="Oval 1072">
              <a:extLst>
                <a:ext uri="{FF2B5EF4-FFF2-40B4-BE49-F238E27FC236}">
                  <a16:creationId xmlns:a16="http://schemas.microsoft.com/office/drawing/2014/main" id="{C4B871FF-4808-DDE7-2E9F-3696B15424BF}"/>
                </a:ext>
              </a:extLst>
            </p:cNvPr>
            <p:cNvSpPr/>
            <p:nvPr/>
          </p:nvSpPr>
          <p:spPr>
            <a:xfrm>
              <a:off x="11150417" y="3362133"/>
              <a:ext cx="146050" cy="146304"/>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4" name="Oval 1073">
              <a:extLst>
                <a:ext uri="{FF2B5EF4-FFF2-40B4-BE49-F238E27FC236}">
                  <a16:creationId xmlns:a16="http://schemas.microsoft.com/office/drawing/2014/main" id="{EEF7B885-F445-39C6-F8E4-BD1723BD228C}"/>
                </a:ext>
              </a:extLst>
            </p:cNvPr>
            <p:cNvSpPr/>
            <p:nvPr/>
          </p:nvSpPr>
          <p:spPr>
            <a:xfrm>
              <a:off x="10200163" y="4428929"/>
              <a:ext cx="146050" cy="146304"/>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5" name="TextBox 1074">
              <a:extLst>
                <a:ext uri="{FF2B5EF4-FFF2-40B4-BE49-F238E27FC236}">
                  <a16:creationId xmlns:a16="http://schemas.microsoft.com/office/drawing/2014/main" id="{715C409F-D5CA-8331-1FA5-9A42C776B0C8}"/>
                </a:ext>
              </a:extLst>
            </p:cNvPr>
            <p:cNvSpPr txBox="1"/>
            <p:nvPr/>
          </p:nvSpPr>
          <p:spPr>
            <a:xfrm>
              <a:off x="10108789" y="4019159"/>
              <a:ext cx="478486" cy="369332"/>
            </a:xfrm>
            <a:prstGeom prst="rect">
              <a:avLst/>
            </a:prstGeom>
            <a:noFill/>
          </p:spPr>
          <p:txBody>
            <a:bodyPr wrap="square" rtlCol="0">
              <a:spAutoFit/>
            </a:bodyPr>
            <a:lstStyle/>
            <a:p>
              <a:r>
                <a:rPr lang="en-US" dirty="0"/>
                <a:t>v</a:t>
              </a:r>
              <a:r>
                <a:rPr lang="en-US" baseline="-25000" dirty="0"/>
                <a:t>g</a:t>
              </a:r>
            </a:p>
          </p:txBody>
        </p:sp>
      </p:grpSp>
    </p:spTree>
    <p:extLst>
      <p:ext uri="{BB962C8B-B14F-4D97-AF65-F5344CB8AC3E}">
        <p14:creationId xmlns:p14="http://schemas.microsoft.com/office/powerpoint/2010/main" val="211908772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155731"/>
            <a:ext cx="11529391" cy="769441"/>
          </a:xfrm>
          <a:prstGeom prst="rect">
            <a:avLst/>
          </a:prstGeom>
          <a:noFill/>
        </p:spPr>
        <p:txBody>
          <a:bodyPr wrap="square" rtlCol="0">
            <a:spAutoFit/>
          </a:bodyPr>
          <a:lstStyle/>
          <a:p>
            <a:pPr algn="ctr"/>
            <a:r>
              <a:rPr lang="en-US" sz="4400" dirty="0">
                <a:latin typeface="+mj-lt"/>
              </a:rPr>
              <a:t>Vacuum tube equivalent circuits</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6553200" y="6404292"/>
            <a:ext cx="2133600" cy="269241"/>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pPr lvl="0"/>
              <a:t>98</a:t>
            </a:fld>
            <a:endParaRPr lang="en-US"/>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6661CF8-5091-4D40-961D-85341DF5611E}"/>
                  </a:ext>
                </a:extLst>
              </p:cNvPr>
              <p:cNvSpPr txBox="1"/>
              <p:nvPr/>
            </p:nvSpPr>
            <p:spPr>
              <a:xfrm>
                <a:off x="360478" y="1687787"/>
                <a:ext cx="7973978" cy="2914616"/>
              </a:xfrm>
              <a:prstGeom prst="rect">
                <a:avLst/>
              </a:prstGeom>
              <a:noFill/>
            </p:spPr>
            <p:txBody>
              <a:bodyPr wrap="square" rtlCol="0">
                <a:noAutofit/>
              </a:bodyPr>
              <a:lstStyle/>
              <a:p>
                <a:pPr marL="342900" indent="-342900">
                  <a:buFont typeface="Arial" panose="020B0604020202020204" pitchFamily="34" charset="0"/>
                  <a:buChar char="•"/>
                </a:pPr>
                <a:r>
                  <a:rPr lang="en-US" sz="2000" dirty="0"/>
                  <a:t>Amplifier</a:t>
                </a:r>
              </a:p>
              <a:p>
                <a:pPr marL="342900" indent="-342900">
                  <a:buFont typeface="Arial" panose="020B0604020202020204" pitchFamily="34" charset="0"/>
                  <a:buChar char="•"/>
                </a:pPr>
                <a:r>
                  <a:rPr lang="en-US" sz="2000" dirty="0"/>
                  <a:t>For 12AX7, when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b="0" i="1" smtClean="0">
                            <a:latin typeface="Cambria Math" panose="02040503050406030204" pitchFamily="18" charset="0"/>
                          </a:rPr>
                          <m:t>𝑝</m:t>
                        </m:r>
                      </m:sub>
                    </m:sSub>
                    <m:r>
                      <a:rPr lang="en-US" sz="2000" b="0" i="1" smtClean="0">
                        <a:latin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10</m:t>
                        </m:r>
                      </m:e>
                      <m:sup>
                        <m:r>
                          <a:rPr lang="en-US" sz="2000" b="0" i="1" smtClean="0">
                            <a:latin typeface="Cambria Math" panose="02040503050406030204" pitchFamily="18" charset="0"/>
                            <a:ea typeface="Cambria Math" panose="02040503050406030204" pitchFamily="18" charset="0"/>
                          </a:rPr>
                          <m:t>−3</m:t>
                        </m:r>
                      </m:sup>
                    </m:sSup>
                  </m:oMath>
                </a14:m>
                <a:r>
                  <a:rPr lang="en-US" sz="2000" dirty="0"/>
                  <a:t>, when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𝐺</m:t>
                        </m:r>
                      </m:sub>
                    </m:sSub>
                    <m:r>
                      <a:rPr lang="en-US" sz="2000" b="0" i="1" smtClean="0">
                        <a:latin typeface="Cambria Math" panose="02040503050406030204" pitchFamily="18" charset="0"/>
                      </a:rPr>
                      <m:t>=−1.5</m:t>
                    </m:r>
                  </m:oMath>
                </a14:m>
                <a:r>
                  <a:rPr lang="en-US" sz="2000" dirty="0"/>
                  <a:t> in equivalent circuit (i.e.-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𝑘</m:t>
                        </m:r>
                      </m:sub>
                    </m:sSub>
                    <m:r>
                      <a:rPr lang="en-US" sz="2000" b="0" i="1" smtClean="0">
                        <a:latin typeface="Cambria Math" panose="02040503050406030204" pitchFamily="18" charset="0"/>
                      </a:rPr>
                      <m:t>=1.5</m:t>
                    </m:r>
                    <m:r>
                      <a:rPr lang="en-US" sz="2000" b="0" i="1" smtClean="0">
                        <a:latin typeface="Cambria Math" panose="02040503050406030204" pitchFamily="18" charset="0"/>
                      </a:rPr>
                      <m:t>𝑉</m:t>
                    </m:r>
                  </m:oMath>
                </a14:m>
                <a:r>
                  <a:rPr lang="en-US" sz="2000" dirty="0"/>
                  <a:t>), so,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𝑘</m:t>
                        </m:r>
                      </m:sub>
                    </m:sSub>
                    <m:r>
                      <a:rPr lang="en-US" sz="2000" b="0" i="1" smtClean="0">
                        <a:latin typeface="Cambria Math" panose="02040503050406030204" pitchFamily="18" charset="0"/>
                      </a:rPr>
                      <m:t>=750</m:t>
                    </m:r>
                    <m:r>
                      <m:rPr>
                        <m:sty m:val="p"/>
                      </m:rPr>
                      <a:rPr lang="el-GR" sz="2000" b="0" i="1" smtClean="0">
                        <a:latin typeface="Cambria Math" panose="02040503050406030204" pitchFamily="18" charset="0"/>
                        <a:ea typeface="Cambria Math" panose="02040503050406030204" pitchFamily="18" charset="0"/>
                      </a:rPr>
                      <m:t>Ω</m:t>
                    </m:r>
                  </m:oMath>
                </a14:m>
                <a:endParaRPr lang="en-US" sz="2000" b="0" dirty="0">
                  <a:ea typeface="Cambria Math" panose="02040503050406030204" pitchFamily="18" charset="0"/>
                </a:endParaRPr>
              </a:p>
              <a:p>
                <a:pPr marL="342900" indent="-342900">
                  <a:buFont typeface="Arial" panose="020B0604020202020204" pitchFamily="34" charset="0"/>
                  <a:buChar char="•"/>
                </a:pPr>
                <a:r>
                  <a:rPr lang="en-US" sz="2000" dirty="0"/>
                  <a:t>In equivalent,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rPr>
                          <m:t>𝑣</m:t>
                        </m:r>
                      </m:e>
                      <m:sub>
                        <m:r>
                          <a:rPr lang="en-US" sz="2000" b="0" i="1" smtClean="0">
                            <a:latin typeface="Cambria Math" panose="02040503050406030204" pitchFamily="18" charset="0"/>
                          </a:rPr>
                          <m:t>𝐺</m:t>
                        </m:r>
                      </m:sub>
                    </m:sSub>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𝑘</m:t>
                            </m:r>
                          </m:sub>
                        </m:sSub>
                      </m:e>
                    </m:d>
                    <m:r>
                      <a:rPr lang="en-US" sz="2000" b="0" i="1" smtClean="0">
                        <a:latin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𝑣</m:t>
                        </m:r>
                      </m:e>
                      <m:sub>
                        <m:r>
                          <a:rPr lang="en-US" sz="2000" b="0" i="1" smtClean="0">
                            <a:latin typeface="Cambria Math" panose="02040503050406030204" pitchFamily="18" charset="0"/>
                            <a:ea typeface="Cambria Math" panose="02040503050406030204" pitchFamily="18" charset="0"/>
                          </a:rPr>
                          <m:t>𝑝</m:t>
                        </m:r>
                      </m:sub>
                    </m:sSub>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𝑣</m:t>
                        </m:r>
                      </m:e>
                      <m:sub>
                        <m:r>
                          <a:rPr lang="en-US" sz="2000" b="0" i="1" smtClean="0">
                            <a:latin typeface="Cambria Math" panose="02040503050406030204" pitchFamily="18" charset="0"/>
                            <a:ea typeface="Cambria Math" panose="02040503050406030204" pitchFamily="18" charset="0"/>
                          </a:rPr>
                          <m:t>𝑜</m:t>
                        </m:r>
                      </m:sub>
                    </m:sSub>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𝑣</m:t>
                        </m:r>
                      </m:e>
                      <m:sub>
                        <m:r>
                          <a:rPr lang="en-US" sz="2000" b="0" i="1" smtClean="0">
                            <a:latin typeface="Cambria Math" panose="02040503050406030204" pitchFamily="18" charset="0"/>
                            <a:ea typeface="Cambria Math" panose="02040503050406030204" pitchFamily="18" charset="0"/>
                          </a:rPr>
                          <m:t>𝑘</m:t>
                        </m:r>
                      </m:sub>
                    </m:sSub>
                    <m:r>
                      <a:rPr lang="en-US" sz="2000" b="0" i="1" smtClean="0">
                        <a:latin typeface="Cambria Math" panose="02040503050406030204" pitchFamily="18" charset="0"/>
                        <a:ea typeface="Cambria Math" panose="02040503050406030204" pitchFamily="18" charset="0"/>
                      </a:rPr>
                      <m:t>)</m:t>
                    </m:r>
                  </m:oMath>
                </a14:m>
                <a:endParaRPr lang="en-US" sz="2000" dirty="0"/>
              </a:p>
              <a:p>
                <a:pPr marL="342900" indent="-342900">
                  <a:buFont typeface="Arial" panose="020B0604020202020204" pitchFamily="34" charset="0"/>
                  <a:buChar char="•"/>
                </a:pPr>
                <a14:m>
                  <m:oMath xmlns:m="http://schemas.openxmlformats.org/officeDocument/2006/math">
                    <m:r>
                      <a:rPr lang="en-US" sz="200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𝑣</m:t>
                        </m:r>
                      </m:e>
                      <m:sub>
                        <m:r>
                          <a:rPr lang="en-US" sz="2000" b="0" i="1" smtClean="0">
                            <a:latin typeface="Cambria Math" panose="02040503050406030204" pitchFamily="18" charset="0"/>
                            <a:ea typeface="Cambria Math" panose="02040503050406030204" pitchFamily="18" charset="0"/>
                          </a:rPr>
                          <m:t>𝑖</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𝑔</m:t>
                        </m:r>
                      </m:e>
                      <m:sub>
                        <m:r>
                          <a:rPr lang="en-US" sz="2000" b="0" i="1" smtClean="0">
                            <a:latin typeface="Cambria Math" panose="02040503050406030204" pitchFamily="18" charset="0"/>
                            <a:ea typeface="Cambria Math" panose="02040503050406030204" pitchFamily="18" charset="0"/>
                          </a:rPr>
                          <m:t>𝑚</m:t>
                        </m:r>
                      </m:sub>
                    </m:sSub>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𝑣</m:t>
                            </m:r>
                          </m:e>
                          <m:sub>
                            <m:r>
                              <a:rPr lang="en-US" sz="2000" b="0" i="1" smtClean="0">
                                <a:latin typeface="Cambria Math" panose="02040503050406030204" pitchFamily="18" charset="0"/>
                                <a:ea typeface="Cambria Math" panose="02040503050406030204" pitchFamily="18" charset="0"/>
                              </a:rPr>
                              <m:t>0</m:t>
                            </m:r>
                          </m:sub>
                        </m:sSub>
                      </m:num>
                      <m:den>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𝑟</m:t>
                            </m:r>
                          </m:e>
                          <m:sub>
                            <m:r>
                              <a:rPr lang="en-US" sz="2000" b="0" i="1" smtClean="0">
                                <a:latin typeface="Cambria Math" panose="02040503050406030204" pitchFamily="18" charset="0"/>
                                <a:ea typeface="Cambria Math" panose="02040503050406030204" pitchFamily="18" charset="0"/>
                              </a:rPr>
                              <m:t>𝑝</m:t>
                            </m:r>
                          </m:sub>
                        </m:sSub>
                      </m:den>
                    </m:f>
                    <m:r>
                      <a:rPr lang="en-US" sz="2000" b="0" i="1" smtClean="0">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𝑣</m:t>
                            </m:r>
                          </m:e>
                          <m:sub>
                            <m:r>
                              <a:rPr lang="en-US" sz="2000" b="0" i="1" smtClean="0">
                                <a:latin typeface="Cambria Math" panose="02040503050406030204" pitchFamily="18" charset="0"/>
                                <a:ea typeface="Cambria Math" panose="02040503050406030204" pitchFamily="18" charset="0"/>
                              </a:rPr>
                              <m:t>𝑜</m:t>
                            </m:r>
                          </m:sub>
                        </m:sSub>
                      </m:num>
                      <m:den>
                        <m:r>
                          <a:rPr lang="en-US" sz="2000" b="0" i="1" smtClean="0">
                            <a:latin typeface="Cambria Math" panose="02040503050406030204" pitchFamily="18" charset="0"/>
                            <a:ea typeface="Cambria Math" panose="02040503050406030204" pitchFamily="18" charset="0"/>
                          </a:rPr>
                          <m:t>𝑅</m:t>
                        </m:r>
                      </m:den>
                    </m:f>
                  </m:oMath>
                </a14:m>
                <a:r>
                  <a:rPr lang="en-US" sz="2000" dirty="0"/>
                  <a:t>.  So,</a:t>
                </a:r>
              </a:p>
              <a:p>
                <a:pPr marL="342900" indent="-342900">
                  <a:buFont typeface="Arial" panose="020B0604020202020204" pitchFamily="34" charset="0"/>
                  <a:buChar char="•"/>
                </a:pPr>
                <a14:m>
                  <m:oMath xmlns:m="http://schemas.openxmlformats.org/officeDocument/2006/math">
                    <m:f>
                      <m:fPr>
                        <m:ctrlPr>
                          <a:rPr lang="en-US" sz="2000" i="1" smtClean="0">
                            <a:latin typeface="Cambria Math" panose="02040503050406030204" pitchFamily="18" charset="0"/>
                            <a:ea typeface="Cambria Math" panose="02040503050406030204" pitchFamily="18" charset="0"/>
                          </a:rPr>
                        </m:ctrlPr>
                      </m:fPr>
                      <m:num>
                        <m:r>
                          <a:rPr lang="en-US" sz="200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𝑣</m:t>
                            </m:r>
                          </m:e>
                          <m:sub>
                            <m:r>
                              <a:rPr lang="en-US" sz="2000" b="0" i="1" smtClean="0">
                                <a:latin typeface="Cambria Math" panose="02040503050406030204" pitchFamily="18" charset="0"/>
                                <a:ea typeface="Cambria Math" panose="02040503050406030204" pitchFamily="18" charset="0"/>
                              </a:rPr>
                              <m:t>𝑜</m:t>
                            </m:r>
                          </m:sub>
                        </m:sSub>
                      </m:num>
                      <m:den>
                        <m:r>
                          <a:rPr lang="en-US" sz="200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𝑣</m:t>
                            </m:r>
                          </m:e>
                          <m:sub>
                            <m:r>
                              <a:rPr lang="en-US" sz="2000" b="0" i="1" smtClean="0">
                                <a:latin typeface="Cambria Math" panose="02040503050406030204" pitchFamily="18" charset="0"/>
                                <a:ea typeface="Cambria Math" panose="02040503050406030204" pitchFamily="18" charset="0"/>
                              </a:rPr>
                              <m:t>𝑖</m:t>
                            </m:r>
                          </m:sub>
                        </m:sSub>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𝑔</m:t>
                            </m:r>
                          </m:e>
                          <m:sub>
                            <m:r>
                              <a:rPr lang="en-US" sz="2000" b="0" i="1" smtClean="0">
                                <a:latin typeface="Cambria Math" panose="02040503050406030204" pitchFamily="18" charset="0"/>
                              </a:rPr>
                              <m:t>𝑚</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𝑟</m:t>
                            </m:r>
                          </m:e>
                          <m:sub>
                            <m:r>
                              <a:rPr lang="en-US" sz="2000" b="0" i="1" smtClean="0">
                                <a:latin typeface="Cambria Math" panose="02040503050406030204" pitchFamily="18" charset="0"/>
                              </a:rPr>
                              <m:t>𝑝</m:t>
                            </m:r>
                          </m:sub>
                        </m:sSub>
                        <m:r>
                          <a:rPr lang="en-US" sz="2000" b="0" i="1" smtClean="0">
                            <a:latin typeface="Cambria Math" panose="02040503050406030204" pitchFamily="18" charset="0"/>
                          </a:rPr>
                          <m:t>𝑅</m:t>
                        </m:r>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𝑟</m:t>
                            </m:r>
                          </m:e>
                          <m:sub>
                            <m:r>
                              <a:rPr lang="en-US" sz="2000" b="0" i="1" smtClean="0">
                                <a:latin typeface="Cambria Math" panose="02040503050406030204" pitchFamily="18" charset="0"/>
                              </a:rPr>
                              <m:t>𝑝</m:t>
                            </m:r>
                          </m:sub>
                        </m:sSub>
                        <m:r>
                          <a:rPr lang="en-US" sz="2000" b="0" i="1" smtClean="0">
                            <a:latin typeface="Cambria Math" panose="02040503050406030204" pitchFamily="18" charset="0"/>
                          </a:rPr>
                          <m:t>+</m:t>
                        </m:r>
                        <m:r>
                          <a:rPr lang="en-US" sz="2000" b="0" i="1" smtClean="0">
                            <a:latin typeface="Cambria Math" panose="02040503050406030204" pitchFamily="18" charset="0"/>
                          </a:rPr>
                          <m:t>𝑅</m:t>
                        </m:r>
                      </m:den>
                    </m:f>
                    <m:r>
                      <a:rPr lang="en-US" sz="2000" b="0" i="1" smtClean="0">
                        <a:latin typeface="Cambria Math" panose="02040503050406030204" pitchFamily="18" charset="0"/>
                      </a:rPr>
                      <m:t>=</m:t>
                    </m:r>
                    <m:r>
                      <a:rPr lang="en-US" sz="2000" b="0" i="1" smtClean="0">
                        <a:latin typeface="Cambria Math" panose="02040503050406030204" pitchFamily="18" charset="0"/>
                      </a:rPr>
                      <m:t>𝐴</m:t>
                    </m:r>
                    <m:r>
                      <a:rPr lang="en-US" sz="2000" b="0" i="1" smtClean="0">
                        <a:latin typeface="Cambria Math" panose="02040503050406030204" pitchFamily="18" charset="0"/>
                      </a:rPr>
                      <m:t>=−30.6</m:t>
                    </m:r>
                  </m:oMath>
                </a14:m>
                <a:endParaRPr lang="en-US" sz="2000" dirty="0"/>
              </a:p>
              <a:p>
                <a:pPr marL="342900" indent="-342900">
                  <a:buFont typeface="Arial" panose="020B0604020202020204" pitchFamily="34" charset="0"/>
                  <a:buChar char="•"/>
                </a:pPr>
                <a:r>
                  <a:rPr lang="en-US" sz="2000" dirty="0"/>
                  <a:t>Often, we set </a:t>
                </a:r>
                <a14:m>
                  <m:oMath xmlns:m="http://schemas.openxmlformats.org/officeDocument/2006/math">
                    <m:r>
                      <a:rPr lang="en-US" sz="2000" i="1" smtClean="0">
                        <a:latin typeface="Cambria Math" panose="02040503050406030204" pitchFamily="18" charset="0"/>
                        <a:ea typeface="Cambria Math" panose="02040503050406030204" pitchFamily="18" charset="0"/>
                      </a:rPr>
                      <m:t>𝜇</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𝑔</m:t>
                        </m:r>
                      </m:e>
                      <m:sub>
                        <m:r>
                          <a:rPr lang="en-US" sz="2000" b="0" i="1" smtClean="0">
                            <a:latin typeface="Cambria Math" panose="02040503050406030204" pitchFamily="18" charset="0"/>
                            <a:ea typeface="Cambria Math" panose="02040503050406030204" pitchFamily="18" charset="0"/>
                          </a:rPr>
                          <m:t>𝑚</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𝑟</m:t>
                        </m:r>
                      </m:e>
                      <m:sub>
                        <m:r>
                          <a:rPr lang="en-US" sz="2000" b="0" i="1" smtClean="0">
                            <a:latin typeface="Cambria Math" panose="02040503050406030204" pitchFamily="18" charset="0"/>
                            <a:ea typeface="Cambria Math" panose="02040503050406030204" pitchFamily="18" charset="0"/>
                          </a:rPr>
                          <m:t>𝑝</m:t>
                        </m:r>
                      </m:sub>
                    </m:sSub>
                  </m:oMath>
                </a14:m>
                <a:endParaRPr lang="en-US" sz="2000" dirty="0"/>
              </a:p>
            </p:txBody>
          </p:sp>
        </mc:Choice>
        <mc:Fallback xmlns="">
          <p:sp>
            <p:nvSpPr>
              <p:cNvPr id="2" name="TextBox 1">
                <a:extLst>
                  <a:ext uri="{FF2B5EF4-FFF2-40B4-BE49-F238E27FC236}">
                    <a16:creationId xmlns:a16="http://schemas.microsoft.com/office/drawing/2014/main" id="{56661CF8-5091-4D40-961D-85341DF5611E}"/>
                  </a:ext>
                </a:extLst>
              </p:cNvPr>
              <p:cNvSpPr txBox="1">
                <a:spLocks noRot="1" noChangeAspect="1" noMove="1" noResize="1" noEditPoints="1" noAdjustHandles="1" noChangeArrowheads="1" noChangeShapeType="1" noTextEdit="1"/>
              </p:cNvSpPr>
              <p:nvPr/>
            </p:nvSpPr>
            <p:spPr>
              <a:xfrm>
                <a:off x="360478" y="1687787"/>
                <a:ext cx="7973978" cy="2914616"/>
              </a:xfrm>
              <a:prstGeom prst="rect">
                <a:avLst/>
              </a:prstGeom>
              <a:blipFill>
                <a:blip r:embed="rId3"/>
                <a:stretch>
                  <a:fillRect l="-636" t="-866"/>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5690D8A0-1227-3C71-A265-704795C6CBF7}"/>
              </a:ext>
            </a:extLst>
          </p:cNvPr>
          <p:cNvGrpSpPr/>
          <p:nvPr/>
        </p:nvGrpSpPr>
        <p:grpSpPr>
          <a:xfrm>
            <a:off x="8295174" y="4161327"/>
            <a:ext cx="3151324" cy="2141294"/>
            <a:chOff x="8896095" y="4193675"/>
            <a:chExt cx="3151324" cy="2141294"/>
          </a:xfrm>
        </p:grpSpPr>
        <p:sp>
          <p:nvSpPr>
            <p:cNvPr id="1074" name="Freeform 12">
              <a:extLst>
                <a:ext uri="{FF2B5EF4-FFF2-40B4-BE49-F238E27FC236}">
                  <a16:creationId xmlns:a16="http://schemas.microsoft.com/office/drawing/2014/main" id="{27E33E03-6858-5C51-EBA0-EF9533FD52BE}"/>
                </a:ext>
              </a:extLst>
            </p:cNvPr>
            <p:cNvSpPr>
              <a:spLocks noChangeAspect="1"/>
            </p:cNvSpPr>
            <p:nvPr/>
          </p:nvSpPr>
          <p:spPr bwMode="auto">
            <a:xfrm>
              <a:off x="10967473" y="5042165"/>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1089" name="Straight Connector 1088">
              <a:extLst>
                <a:ext uri="{FF2B5EF4-FFF2-40B4-BE49-F238E27FC236}">
                  <a16:creationId xmlns:a16="http://schemas.microsoft.com/office/drawing/2014/main" id="{52386423-2872-ABAF-0A04-843C9B54C0CC}"/>
                </a:ext>
              </a:extLst>
            </p:cNvPr>
            <p:cNvCxnSpPr>
              <a:cxnSpLocks/>
            </p:cNvCxnSpPr>
            <p:nvPr/>
          </p:nvCxnSpPr>
          <p:spPr>
            <a:xfrm>
              <a:off x="10445429" y="4246086"/>
              <a:ext cx="0" cy="41268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99" name="Group 220">
              <a:extLst>
                <a:ext uri="{FF2B5EF4-FFF2-40B4-BE49-F238E27FC236}">
                  <a16:creationId xmlns:a16="http://schemas.microsoft.com/office/drawing/2014/main" id="{FF54CBB1-584B-E358-8119-8C60839FBF6B}"/>
                </a:ext>
              </a:extLst>
            </p:cNvPr>
            <p:cNvGrpSpPr>
              <a:grpSpLocks/>
            </p:cNvGrpSpPr>
            <p:nvPr/>
          </p:nvGrpSpPr>
          <p:grpSpPr bwMode="auto">
            <a:xfrm>
              <a:off x="9239214" y="5808751"/>
              <a:ext cx="152400" cy="304800"/>
              <a:chOff x="3264" y="3072"/>
              <a:chExt cx="96" cy="192"/>
            </a:xfrm>
          </p:grpSpPr>
          <p:sp>
            <p:nvSpPr>
              <p:cNvPr id="1100" name="Line 17">
                <a:extLst>
                  <a:ext uri="{FF2B5EF4-FFF2-40B4-BE49-F238E27FC236}">
                    <a16:creationId xmlns:a16="http://schemas.microsoft.com/office/drawing/2014/main" id="{B2204885-708C-1775-5E5C-BC1F7B3410BD}"/>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1" name="Freeform 18">
                <a:extLst>
                  <a:ext uri="{FF2B5EF4-FFF2-40B4-BE49-F238E27FC236}">
                    <a16:creationId xmlns:a16="http://schemas.microsoft.com/office/drawing/2014/main" id="{B554D1A0-792B-A4FE-A440-48B366791276}"/>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102" name="Freeform 12">
              <a:extLst>
                <a:ext uri="{FF2B5EF4-FFF2-40B4-BE49-F238E27FC236}">
                  <a16:creationId xmlns:a16="http://schemas.microsoft.com/office/drawing/2014/main" id="{8A969E9D-CAC0-C119-7A2E-949DB698F8A4}"/>
                </a:ext>
              </a:extLst>
            </p:cNvPr>
            <p:cNvSpPr>
              <a:spLocks noChangeAspect="1"/>
            </p:cNvSpPr>
            <p:nvPr/>
          </p:nvSpPr>
          <p:spPr bwMode="auto">
            <a:xfrm>
              <a:off x="11593983" y="4242133"/>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1104" name="Straight Connector 1103">
              <a:extLst>
                <a:ext uri="{FF2B5EF4-FFF2-40B4-BE49-F238E27FC236}">
                  <a16:creationId xmlns:a16="http://schemas.microsoft.com/office/drawing/2014/main" id="{86F81474-C761-6B09-CDE2-8DC9D9E041F1}"/>
                </a:ext>
              </a:extLst>
            </p:cNvPr>
            <p:cNvCxnSpPr>
              <a:cxnSpLocks/>
            </p:cNvCxnSpPr>
            <p:nvPr/>
          </p:nvCxnSpPr>
          <p:spPr>
            <a:xfrm>
              <a:off x="10445429" y="4255807"/>
              <a:ext cx="122010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05" name="Oval 1104">
              <a:extLst>
                <a:ext uri="{FF2B5EF4-FFF2-40B4-BE49-F238E27FC236}">
                  <a16:creationId xmlns:a16="http://schemas.microsoft.com/office/drawing/2014/main" id="{1567B907-A041-4D76-9020-86312F13D4B7}"/>
                </a:ext>
              </a:extLst>
            </p:cNvPr>
            <p:cNvSpPr/>
            <p:nvPr/>
          </p:nvSpPr>
          <p:spPr>
            <a:xfrm>
              <a:off x="11599434" y="4193675"/>
              <a:ext cx="146050" cy="146304"/>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23" name="Group 220">
              <a:extLst>
                <a:ext uri="{FF2B5EF4-FFF2-40B4-BE49-F238E27FC236}">
                  <a16:creationId xmlns:a16="http://schemas.microsoft.com/office/drawing/2014/main" id="{66825120-5E81-50E4-C429-C8F3B3D5D25B}"/>
                </a:ext>
              </a:extLst>
            </p:cNvPr>
            <p:cNvGrpSpPr>
              <a:grpSpLocks/>
            </p:cNvGrpSpPr>
            <p:nvPr/>
          </p:nvGrpSpPr>
          <p:grpSpPr bwMode="auto">
            <a:xfrm>
              <a:off x="11593084" y="4966886"/>
              <a:ext cx="152400" cy="304800"/>
              <a:chOff x="3264" y="3072"/>
              <a:chExt cx="96" cy="192"/>
            </a:xfrm>
          </p:grpSpPr>
          <p:sp>
            <p:nvSpPr>
              <p:cNvPr id="1124" name="Line 17">
                <a:extLst>
                  <a:ext uri="{FF2B5EF4-FFF2-40B4-BE49-F238E27FC236}">
                    <a16:creationId xmlns:a16="http://schemas.microsoft.com/office/drawing/2014/main" id="{278A118D-9889-14D9-607F-802F44B53784}"/>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5" name="Freeform 18">
                <a:extLst>
                  <a:ext uri="{FF2B5EF4-FFF2-40B4-BE49-F238E27FC236}">
                    <a16:creationId xmlns:a16="http://schemas.microsoft.com/office/drawing/2014/main" id="{E7B3A5B3-E2E8-732F-F070-B6A6416AA4DC}"/>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126" name="TextBox 1125">
              <a:extLst>
                <a:ext uri="{FF2B5EF4-FFF2-40B4-BE49-F238E27FC236}">
                  <a16:creationId xmlns:a16="http://schemas.microsoft.com/office/drawing/2014/main" id="{30F07995-1ED4-3DD4-BD6C-F9DCCD5A15F7}"/>
                </a:ext>
              </a:extLst>
            </p:cNvPr>
            <p:cNvSpPr txBox="1"/>
            <p:nvPr/>
          </p:nvSpPr>
          <p:spPr>
            <a:xfrm>
              <a:off x="11102363" y="5243877"/>
              <a:ext cx="502654" cy="369332"/>
            </a:xfrm>
            <a:prstGeom prst="rect">
              <a:avLst/>
            </a:prstGeom>
            <a:noFill/>
          </p:spPr>
          <p:txBody>
            <a:bodyPr wrap="square" rtlCol="0">
              <a:spAutoFit/>
            </a:bodyPr>
            <a:lstStyle/>
            <a:p>
              <a:r>
                <a:rPr lang="en-US" dirty="0" err="1"/>
                <a:t>r</a:t>
              </a:r>
              <a:r>
                <a:rPr lang="en-US" baseline="-25000" dirty="0" err="1"/>
                <a:t>p</a:t>
              </a:r>
              <a:endParaRPr lang="en-US" baseline="-25000" dirty="0"/>
            </a:p>
          </p:txBody>
        </p:sp>
        <p:sp>
          <p:nvSpPr>
            <p:cNvPr id="1128" name="TextBox 1127">
              <a:extLst>
                <a:ext uri="{FF2B5EF4-FFF2-40B4-BE49-F238E27FC236}">
                  <a16:creationId xmlns:a16="http://schemas.microsoft.com/office/drawing/2014/main" id="{8877756C-CC6E-A878-F910-B50A87A5E794}"/>
                </a:ext>
              </a:extLst>
            </p:cNvPr>
            <p:cNvSpPr txBox="1"/>
            <p:nvPr/>
          </p:nvSpPr>
          <p:spPr>
            <a:xfrm>
              <a:off x="11719911" y="4870713"/>
              <a:ext cx="327508" cy="369332"/>
            </a:xfrm>
            <a:prstGeom prst="rect">
              <a:avLst/>
            </a:prstGeom>
            <a:noFill/>
          </p:spPr>
          <p:txBody>
            <a:bodyPr wrap="square" rtlCol="0">
              <a:spAutoFit/>
            </a:bodyPr>
            <a:lstStyle/>
            <a:p>
              <a:r>
                <a:rPr lang="en-US" dirty="0"/>
                <a:t>R</a:t>
              </a:r>
              <a:endParaRPr lang="en-US" baseline="-25000" dirty="0"/>
            </a:p>
          </p:txBody>
        </p:sp>
        <p:cxnSp>
          <p:nvCxnSpPr>
            <p:cNvPr id="1132" name="Straight Connector 1131">
              <a:extLst>
                <a:ext uri="{FF2B5EF4-FFF2-40B4-BE49-F238E27FC236}">
                  <a16:creationId xmlns:a16="http://schemas.microsoft.com/office/drawing/2014/main" id="{983CC9CE-AB12-16C1-3590-F0B04FBD9AD4}"/>
                </a:ext>
              </a:extLst>
            </p:cNvPr>
            <p:cNvCxnSpPr>
              <a:cxnSpLocks/>
            </p:cNvCxnSpPr>
            <p:nvPr/>
          </p:nvCxnSpPr>
          <p:spPr>
            <a:xfrm>
              <a:off x="9994326" y="4678605"/>
              <a:ext cx="106748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0" name="Straight Connector 1139">
              <a:extLst>
                <a:ext uri="{FF2B5EF4-FFF2-40B4-BE49-F238E27FC236}">
                  <a16:creationId xmlns:a16="http://schemas.microsoft.com/office/drawing/2014/main" id="{318B4291-9858-BC85-E1DB-24208B1F5AE8}"/>
                </a:ext>
              </a:extLst>
            </p:cNvPr>
            <p:cNvCxnSpPr>
              <a:cxnSpLocks/>
            </p:cNvCxnSpPr>
            <p:nvPr/>
          </p:nvCxnSpPr>
          <p:spPr>
            <a:xfrm>
              <a:off x="9326431" y="5808751"/>
              <a:ext cx="173404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41" name="Group 207">
              <a:extLst>
                <a:ext uri="{FF2B5EF4-FFF2-40B4-BE49-F238E27FC236}">
                  <a16:creationId xmlns:a16="http://schemas.microsoft.com/office/drawing/2014/main" id="{544CD525-9BFA-DA43-2577-F2BBDA48424F}"/>
                </a:ext>
              </a:extLst>
            </p:cNvPr>
            <p:cNvGrpSpPr>
              <a:grpSpLocks/>
            </p:cNvGrpSpPr>
            <p:nvPr/>
          </p:nvGrpSpPr>
          <p:grpSpPr bwMode="auto">
            <a:xfrm>
              <a:off x="9169201" y="5066308"/>
              <a:ext cx="304800" cy="762000"/>
              <a:chOff x="4560" y="2400"/>
              <a:chExt cx="192" cy="480"/>
            </a:xfrm>
          </p:grpSpPr>
          <p:sp>
            <p:nvSpPr>
              <p:cNvPr id="1142" name="Oval 111">
                <a:extLst>
                  <a:ext uri="{FF2B5EF4-FFF2-40B4-BE49-F238E27FC236}">
                    <a16:creationId xmlns:a16="http://schemas.microsoft.com/office/drawing/2014/main" id="{823FADE4-0065-AA75-77EF-5D3DB7F03444}"/>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b="1"/>
              </a:p>
            </p:txBody>
          </p:sp>
          <p:sp>
            <p:nvSpPr>
              <p:cNvPr id="1143" name="Line 112">
                <a:extLst>
                  <a:ext uri="{FF2B5EF4-FFF2-40B4-BE49-F238E27FC236}">
                    <a16:creationId xmlns:a16="http://schemas.microsoft.com/office/drawing/2014/main" id="{49246657-4DF1-A60B-7139-1C7822CFE0CC}"/>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144" name="Line 113">
                <a:extLst>
                  <a:ext uri="{FF2B5EF4-FFF2-40B4-BE49-F238E27FC236}">
                    <a16:creationId xmlns:a16="http://schemas.microsoft.com/office/drawing/2014/main" id="{D9E441A7-3FD2-EB93-889D-423340D2EFC9}"/>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145" name="Line 114">
                <a:extLst>
                  <a:ext uri="{FF2B5EF4-FFF2-40B4-BE49-F238E27FC236}">
                    <a16:creationId xmlns:a16="http://schemas.microsoft.com/office/drawing/2014/main" id="{B1A0E088-CF3D-0784-59CC-4627FB8D48C7}"/>
                  </a:ext>
                </a:extLst>
              </p:cNvPr>
              <p:cNvSpPr>
                <a:spLocks noChangeAspect="1" noChangeShapeType="1"/>
              </p:cNvSpPr>
              <p:nvPr/>
            </p:nvSpPr>
            <p:spPr bwMode="auto">
              <a:xfrm>
                <a:off x="4584" y="2496"/>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146" name="Line 115">
                <a:extLst>
                  <a:ext uri="{FF2B5EF4-FFF2-40B4-BE49-F238E27FC236}">
                    <a16:creationId xmlns:a16="http://schemas.microsoft.com/office/drawing/2014/main" id="{DAA912D7-0508-23A5-4686-32008B50596A}"/>
                  </a:ext>
                </a:extLst>
              </p:cNvPr>
              <p:cNvSpPr>
                <a:spLocks noChangeAspect="1" noChangeShapeType="1"/>
              </p:cNvSpPr>
              <p:nvPr/>
            </p:nvSpPr>
            <p:spPr bwMode="auto">
              <a:xfrm>
                <a:off x="4608" y="2472"/>
                <a:ext cx="0" cy="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147" name="Line 116">
                <a:extLst>
                  <a:ext uri="{FF2B5EF4-FFF2-40B4-BE49-F238E27FC236}">
                    <a16:creationId xmlns:a16="http://schemas.microsoft.com/office/drawing/2014/main" id="{0230B1FB-D3C4-85C6-08B1-88B4AAA93A9B}"/>
                  </a:ext>
                </a:extLst>
              </p:cNvPr>
              <p:cNvSpPr>
                <a:spLocks noChangeAspect="1" noChangeShapeType="1"/>
              </p:cNvSpPr>
              <p:nvPr/>
            </p:nvSpPr>
            <p:spPr bwMode="auto">
              <a:xfrm>
                <a:off x="4584" y="2784"/>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grpSp>
            <p:nvGrpSpPr>
              <p:cNvPr id="1148" name="Group 117">
                <a:extLst>
                  <a:ext uri="{FF2B5EF4-FFF2-40B4-BE49-F238E27FC236}">
                    <a16:creationId xmlns:a16="http://schemas.microsoft.com/office/drawing/2014/main" id="{F1AA1F2B-2187-CD29-0DED-81C80E82936D}"/>
                  </a:ext>
                </a:extLst>
              </p:cNvPr>
              <p:cNvGrpSpPr>
                <a:grpSpLocks noChangeAspect="1"/>
              </p:cNvGrpSpPr>
              <p:nvPr/>
            </p:nvGrpSpPr>
            <p:grpSpPr bwMode="auto">
              <a:xfrm>
                <a:off x="4608" y="2592"/>
                <a:ext cx="96" cy="96"/>
                <a:chOff x="2929" y="3217"/>
                <a:chExt cx="383" cy="191"/>
              </a:xfrm>
            </p:grpSpPr>
            <p:sp>
              <p:nvSpPr>
                <p:cNvPr id="1149" name="Arc 118">
                  <a:extLst>
                    <a:ext uri="{FF2B5EF4-FFF2-40B4-BE49-F238E27FC236}">
                      <a16:creationId xmlns:a16="http://schemas.microsoft.com/office/drawing/2014/main" id="{8C19C416-F4B5-8C11-00BE-FB7DE3FCBCF1}"/>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1"/>
                </a:p>
              </p:txBody>
            </p:sp>
            <p:sp>
              <p:nvSpPr>
                <p:cNvPr id="1150" name="Arc 119">
                  <a:extLst>
                    <a:ext uri="{FF2B5EF4-FFF2-40B4-BE49-F238E27FC236}">
                      <a16:creationId xmlns:a16="http://schemas.microsoft.com/office/drawing/2014/main" id="{43F7EC7A-0680-80D0-3A9D-422DB509AB40}"/>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1"/>
                </a:p>
              </p:txBody>
            </p:sp>
          </p:grpSp>
        </p:grpSp>
        <p:sp>
          <p:nvSpPr>
            <p:cNvPr id="1155" name="Oval 1154">
              <a:extLst>
                <a:ext uri="{FF2B5EF4-FFF2-40B4-BE49-F238E27FC236}">
                  <a16:creationId xmlns:a16="http://schemas.microsoft.com/office/drawing/2014/main" id="{68511DF3-367C-7E11-8F94-AF09401D5237}"/>
                </a:ext>
              </a:extLst>
            </p:cNvPr>
            <p:cNvSpPr/>
            <p:nvPr/>
          </p:nvSpPr>
          <p:spPr>
            <a:xfrm>
              <a:off x="9250999" y="4952006"/>
              <a:ext cx="146050" cy="146304"/>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6" name="TextBox 1155">
              <a:extLst>
                <a:ext uri="{FF2B5EF4-FFF2-40B4-BE49-F238E27FC236}">
                  <a16:creationId xmlns:a16="http://schemas.microsoft.com/office/drawing/2014/main" id="{3D00440B-8563-551C-21E4-68B9245C1644}"/>
                </a:ext>
              </a:extLst>
            </p:cNvPr>
            <p:cNvSpPr txBox="1"/>
            <p:nvPr/>
          </p:nvSpPr>
          <p:spPr>
            <a:xfrm>
              <a:off x="8896095" y="4800857"/>
              <a:ext cx="385872" cy="369332"/>
            </a:xfrm>
            <a:prstGeom prst="rect">
              <a:avLst/>
            </a:prstGeom>
            <a:noFill/>
          </p:spPr>
          <p:txBody>
            <a:bodyPr wrap="square" rtlCol="0">
              <a:spAutoFit/>
            </a:bodyPr>
            <a:lstStyle/>
            <a:p>
              <a:r>
                <a:rPr lang="en-US" dirty="0"/>
                <a:t>G</a:t>
              </a:r>
              <a:endParaRPr lang="en-US" baseline="-25000" dirty="0"/>
            </a:p>
          </p:txBody>
        </p:sp>
        <p:sp>
          <p:nvSpPr>
            <p:cNvPr id="1158" name="Oval 1157">
              <a:extLst>
                <a:ext uri="{FF2B5EF4-FFF2-40B4-BE49-F238E27FC236}">
                  <a16:creationId xmlns:a16="http://schemas.microsoft.com/office/drawing/2014/main" id="{EFBE2453-AA6D-01F0-C5AB-E0EC612B5EF9}"/>
                </a:ext>
              </a:extLst>
            </p:cNvPr>
            <p:cNvSpPr/>
            <p:nvPr/>
          </p:nvSpPr>
          <p:spPr>
            <a:xfrm>
              <a:off x="9735907" y="5067929"/>
              <a:ext cx="478486" cy="484037"/>
            </a:xfrm>
            <a:prstGeom prst="ellipse">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160" name="Oval 1159">
              <a:extLst>
                <a:ext uri="{FF2B5EF4-FFF2-40B4-BE49-F238E27FC236}">
                  <a16:creationId xmlns:a16="http://schemas.microsoft.com/office/drawing/2014/main" id="{3C8055F2-CE37-7EA6-BFBD-E3744C15BA32}"/>
                </a:ext>
              </a:extLst>
            </p:cNvPr>
            <p:cNvSpPr/>
            <p:nvPr/>
          </p:nvSpPr>
          <p:spPr>
            <a:xfrm>
              <a:off x="9249161" y="5732368"/>
              <a:ext cx="146050" cy="146304"/>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64" name="Straight Connector 1163">
              <a:extLst>
                <a:ext uri="{FF2B5EF4-FFF2-40B4-BE49-F238E27FC236}">
                  <a16:creationId xmlns:a16="http://schemas.microsoft.com/office/drawing/2014/main" id="{01C9EDF6-5008-4A04-9F18-9FC480EB9917}"/>
                </a:ext>
              </a:extLst>
            </p:cNvPr>
            <p:cNvCxnSpPr>
              <a:cxnSpLocks/>
            </p:cNvCxnSpPr>
            <p:nvPr/>
          </p:nvCxnSpPr>
          <p:spPr>
            <a:xfrm>
              <a:off x="11046267" y="4678605"/>
              <a:ext cx="0" cy="41268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6" name="Straight Connector 1165">
              <a:extLst>
                <a:ext uri="{FF2B5EF4-FFF2-40B4-BE49-F238E27FC236}">
                  <a16:creationId xmlns:a16="http://schemas.microsoft.com/office/drawing/2014/main" id="{8A404C92-5B82-256D-E519-C3D6E092B2A2}"/>
                </a:ext>
              </a:extLst>
            </p:cNvPr>
            <p:cNvCxnSpPr>
              <a:cxnSpLocks/>
            </p:cNvCxnSpPr>
            <p:nvPr/>
          </p:nvCxnSpPr>
          <p:spPr>
            <a:xfrm>
              <a:off x="9985369" y="5557479"/>
              <a:ext cx="0" cy="27082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7" name="Straight Connector 1166">
              <a:extLst>
                <a:ext uri="{FF2B5EF4-FFF2-40B4-BE49-F238E27FC236}">
                  <a16:creationId xmlns:a16="http://schemas.microsoft.com/office/drawing/2014/main" id="{4DBF9F40-7913-7D0B-6E47-82FD7AE8F5DF}"/>
                </a:ext>
              </a:extLst>
            </p:cNvPr>
            <p:cNvCxnSpPr>
              <a:cxnSpLocks/>
            </p:cNvCxnSpPr>
            <p:nvPr/>
          </p:nvCxnSpPr>
          <p:spPr>
            <a:xfrm>
              <a:off x="9974751" y="4664370"/>
              <a:ext cx="0" cy="41268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0" name="Straight Arrow Connector 1169">
              <a:extLst>
                <a:ext uri="{FF2B5EF4-FFF2-40B4-BE49-F238E27FC236}">
                  <a16:creationId xmlns:a16="http://schemas.microsoft.com/office/drawing/2014/main" id="{67368451-9AF3-E1E3-769A-75F5C6A6D19B}"/>
                </a:ext>
              </a:extLst>
            </p:cNvPr>
            <p:cNvCxnSpPr/>
            <p:nvPr/>
          </p:nvCxnSpPr>
          <p:spPr>
            <a:xfrm>
              <a:off x="9977139" y="5121975"/>
              <a:ext cx="0" cy="305357"/>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171" name="TextBox 1170">
              <a:extLst>
                <a:ext uri="{FF2B5EF4-FFF2-40B4-BE49-F238E27FC236}">
                  <a16:creationId xmlns:a16="http://schemas.microsoft.com/office/drawing/2014/main" id="{1839F36E-DCB8-13E1-5234-A7ADA035C63C}"/>
                </a:ext>
              </a:extLst>
            </p:cNvPr>
            <p:cNvSpPr txBox="1"/>
            <p:nvPr/>
          </p:nvSpPr>
          <p:spPr>
            <a:xfrm>
              <a:off x="10150881" y="5174117"/>
              <a:ext cx="669107" cy="369332"/>
            </a:xfrm>
            <a:prstGeom prst="rect">
              <a:avLst/>
            </a:prstGeom>
            <a:noFill/>
          </p:spPr>
          <p:txBody>
            <a:bodyPr wrap="square" rtlCol="0">
              <a:spAutoFit/>
            </a:bodyPr>
            <a:lstStyle/>
            <a:p>
              <a:r>
                <a:rPr lang="en-US" dirty="0" err="1"/>
                <a:t>g</a:t>
              </a:r>
              <a:r>
                <a:rPr lang="en-US" baseline="-25000" dirty="0" err="1"/>
                <a:t>m</a:t>
              </a:r>
              <a:r>
                <a:rPr lang="en-US" dirty="0" err="1"/>
                <a:t>V</a:t>
              </a:r>
              <a:r>
                <a:rPr lang="en-US" baseline="-25000" dirty="0" err="1"/>
                <a:t>G</a:t>
              </a:r>
              <a:endParaRPr lang="en-US" baseline="-25000" dirty="0"/>
            </a:p>
          </p:txBody>
        </p:sp>
        <p:sp>
          <p:nvSpPr>
            <p:cNvPr id="1172" name="TextBox 1171">
              <a:extLst>
                <a:ext uri="{FF2B5EF4-FFF2-40B4-BE49-F238E27FC236}">
                  <a16:creationId xmlns:a16="http://schemas.microsoft.com/office/drawing/2014/main" id="{518530DC-6946-6CE2-FA1E-397BD6C5DBE0}"/>
                </a:ext>
              </a:extLst>
            </p:cNvPr>
            <p:cNvSpPr txBox="1"/>
            <p:nvPr/>
          </p:nvSpPr>
          <p:spPr>
            <a:xfrm>
              <a:off x="9653304" y="5965637"/>
              <a:ext cx="1939577" cy="369332"/>
            </a:xfrm>
            <a:prstGeom prst="rect">
              <a:avLst/>
            </a:prstGeom>
            <a:noFill/>
          </p:spPr>
          <p:txBody>
            <a:bodyPr wrap="square" rtlCol="0">
              <a:spAutoFit/>
            </a:bodyPr>
            <a:lstStyle/>
            <a:p>
              <a:r>
                <a:rPr lang="en-US" dirty="0"/>
                <a:t>Equivalent circuit</a:t>
              </a:r>
            </a:p>
          </p:txBody>
        </p:sp>
      </p:grpSp>
      <p:grpSp>
        <p:nvGrpSpPr>
          <p:cNvPr id="6" name="Group 5">
            <a:extLst>
              <a:ext uri="{FF2B5EF4-FFF2-40B4-BE49-F238E27FC236}">
                <a16:creationId xmlns:a16="http://schemas.microsoft.com/office/drawing/2014/main" id="{5983A049-31B0-2081-0388-162FDA0945F2}"/>
              </a:ext>
            </a:extLst>
          </p:cNvPr>
          <p:cNvGrpSpPr/>
          <p:nvPr/>
        </p:nvGrpSpPr>
        <p:grpSpPr>
          <a:xfrm>
            <a:off x="8295174" y="611468"/>
            <a:ext cx="3707826" cy="3420463"/>
            <a:chOff x="8465906" y="482853"/>
            <a:chExt cx="3707826" cy="3420463"/>
          </a:xfrm>
        </p:grpSpPr>
        <p:sp>
          <p:nvSpPr>
            <p:cNvPr id="21" name="Freeform 12">
              <a:extLst>
                <a:ext uri="{FF2B5EF4-FFF2-40B4-BE49-F238E27FC236}">
                  <a16:creationId xmlns:a16="http://schemas.microsoft.com/office/drawing/2014/main" id="{E486733F-DB7F-CF9E-2B40-002EAA866D51}"/>
                </a:ext>
              </a:extLst>
            </p:cNvPr>
            <p:cNvSpPr>
              <a:spLocks noChangeAspect="1"/>
            </p:cNvSpPr>
            <p:nvPr/>
          </p:nvSpPr>
          <p:spPr bwMode="auto">
            <a:xfrm>
              <a:off x="9314026" y="2874301"/>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grpSp>
          <p:nvGrpSpPr>
            <p:cNvPr id="36" name="Group 207">
              <a:extLst>
                <a:ext uri="{FF2B5EF4-FFF2-40B4-BE49-F238E27FC236}">
                  <a16:creationId xmlns:a16="http://schemas.microsoft.com/office/drawing/2014/main" id="{D113B454-AF2B-98E1-D9F8-4BBAD5881733}"/>
                </a:ext>
              </a:extLst>
            </p:cNvPr>
            <p:cNvGrpSpPr>
              <a:grpSpLocks/>
            </p:cNvGrpSpPr>
            <p:nvPr/>
          </p:nvGrpSpPr>
          <p:grpSpPr bwMode="auto">
            <a:xfrm>
              <a:off x="8465906" y="1998980"/>
              <a:ext cx="304800" cy="762000"/>
              <a:chOff x="4560" y="2400"/>
              <a:chExt cx="192" cy="480"/>
            </a:xfrm>
          </p:grpSpPr>
          <p:sp>
            <p:nvSpPr>
              <p:cNvPr id="37" name="Oval 111">
                <a:extLst>
                  <a:ext uri="{FF2B5EF4-FFF2-40B4-BE49-F238E27FC236}">
                    <a16:creationId xmlns:a16="http://schemas.microsoft.com/office/drawing/2014/main" id="{CEB4DC69-310D-F26F-0C23-9A8678F784FC}"/>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b="1"/>
              </a:p>
            </p:txBody>
          </p:sp>
          <p:sp>
            <p:nvSpPr>
              <p:cNvPr id="38" name="Line 112">
                <a:extLst>
                  <a:ext uri="{FF2B5EF4-FFF2-40B4-BE49-F238E27FC236}">
                    <a16:creationId xmlns:a16="http://schemas.microsoft.com/office/drawing/2014/main" id="{ADBB63BC-CD94-F52F-36CB-39C6E0018FE9}"/>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39" name="Line 113">
                <a:extLst>
                  <a:ext uri="{FF2B5EF4-FFF2-40B4-BE49-F238E27FC236}">
                    <a16:creationId xmlns:a16="http://schemas.microsoft.com/office/drawing/2014/main" id="{BF54FE2A-D72C-D574-C9A7-990A812E03DE}"/>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40" name="Line 114">
                <a:extLst>
                  <a:ext uri="{FF2B5EF4-FFF2-40B4-BE49-F238E27FC236}">
                    <a16:creationId xmlns:a16="http://schemas.microsoft.com/office/drawing/2014/main" id="{4323D184-3CA7-CCCA-2476-BAFEA0FC36D2}"/>
                  </a:ext>
                </a:extLst>
              </p:cNvPr>
              <p:cNvSpPr>
                <a:spLocks noChangeAspect="1" noChangeShapeType="1"/>
              </p:cNvSpPr>
              <p:nvPr/>
            </p:nvSpPr>
            <p:spPr bwMode="auto">
              <a:xfrm>
                <a:off x="4584" y="2496"/>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41" name="Line 115">
                <a:extLst>
                  <a:ext uri="{FF2B5EF4-FFF2-40B4-BE49-F238E27FC236}">
                    <a16:creationId xmlns:a16="http://schemas.microsoft.com/office/drawing/2014/main" id="{9EA74FFE-165E-DA5E-D60F-24573BE38AE5}"/>
                  </a:ext>
                </a:extLst>
              </p:cNvPr>
              <p:cNvSpPr>
                <a:spLocks noChangeAspect="1" noChangeShapeType="1"/>
              </p:cNvSpPr>
              <p:nvPr/>
            </p:nvSpPr>
            <p:spPr bwMode="auto">
              <a:xfrm>
                <a:off x="4608" y="2472"/>
                <a:ext cx="0" cy="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42" name="Line 116">
                <a:extLst>
                  <a:ext uri="{FF2B5EF4-FFF2-40B4-BE49-F238E27FC236}">
                    <a16:creationId xmlns:a16="http://schemas.microsoft.com/office/drawing/2014/main" id="{D3C0E092-1B77-8E65-F72A-3D7C398DB8D3}"/>
                  </a:ext>
                </a:extLst>
              </p:cNvPr>
              <p:cNvSpPr>
                <a:spLocks noChangeAspect="1" noChangeShapeType="1"/>
              </p:cNvSpPr>
              <p:nvPr/>
            </p:nvSpPr>
            <p:spPr bwMode="auto">
              <a:xfrm>
                <a:off x="4584" y="2784"/>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grpSp>
            <p:nvGrpSpPr>
              <p:cNvPr id="43" name="Group 117">
                <a:extLst>
                  <a:ext uri="{FF2B5EF4-FFF2-40B4-BE49-F238E27FC236}">
                    <a16:creationId xmlns:a16="http://schemas.microsoft.com/office/drawing/2014/main" id="{5C3BD99E-F67F-2B70-BDE5-206592E8A4B8}"/>
                  </a:ext>
                </a:extLst>
              </p:cNvPr>
              <p:cNvGrpSpPr>
                <a:grpSpLocks noChangeAspect="1"/>
              </p:cNvGrpSpPr>
              <p:nvPr/>
            </p:nvGrpSpPr>
            <p:grpSpPr bwMode="auto">
              <a:xfrm>
                <a:off x="4608" y="2592"/>
                <a:ext cx="96" cy="96"/>
                <a:chOff x="2929" y="3217"/>
                <a:chExt cx="383" cy="191"/>
              </a:xfrm>
            </p:grpSpPr>
            <p:sp>
              <p:nvSpPr>
                <p:cNvPr id="44" name="Arc 118">
                  <a:extLst>
                    <a:ext uri="{FF2B5EF4-FFF2-40B4-BE49-F238E27FC236}">
                      <a16:creationId xmlns:a16="http://schemas.microsoft.com/office/drawing/2014/main" id="{27DAE9CB-F9E8-0247-D365-C25DD7BA5CB0}"/>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1"/>
                </a:p>
              </p:txBody>
            </p:sp>
            <p:sp>
              <p:nvSpPr>
                <p:cNvPr id="45" name="Arc 119">
                  <a:extLst>
                    <a:ext uri="{FF2B5EF4-FFF2-40B4-BE49-F238E27FC236}">
                      <a16:creationId xmlns:a16="http://schemas.microsoft.com/office/drawing/2014/main" id="{1A6D410D-87FB-B4B0-4AA2-92585C68A408}"/>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1"/>
                </a:p>
              </p:txBody>
            </p:sp>
          </p:grpSp>
        </p:grpSp>
        <p:sp>
          <p:nvSpPr>
            <p:cNvPr id="5" name="Oval 4">
              <a:extLst>
                <a:ext uri="{FF2B5EF4-FFF2-40B4-BE49-F238E27FC236}">
                  <a16:creationId xmlns:a16="http://schemas.microsoft.com/office/drawing/2014/main" id="{ACCB3791-AA80-E52D-9C8B-665B8EE17374}"/>
                </a:ext>
              </a:extLst>
            </p:cNvPr>
            <p:cNvSpPr/>
            <p:nvPr/>
          </p:nvSpPr>
          <p:spPr>
            <a:xfrm>
              <a:off x="9035919" y="1422098"/>
              <a:ext cx="1115568" cy="1115568"/>
            </a:xfrm>
            <a:prstGeom prst="ellipse">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cxnSp>
          <p:nvCxnSpPr>
            <p:cNvPr id="9" name="Straight Connector 8">
              <a:extLst>
                <a:ext uri="{FF2B5EF4-FFF2-40B4-BE49-F238E27FC236}">
                  <a16:creationId xmlns:a16="http://schemas.microsoft.com/office/drawing/2014/main" id="{7E1BB1BB-485C-9797-8F7D-3DAEDDD25DC4}"/>
                </a:ext>
              </a:extLst>
            </p:cNvPr>
            <p:cNvCxnSpPr/>
            <p:nvPr/>
          </p:nvCxnSpPr>
          <p:spPr>
            <a:xfrm>
              <a:off x="9367224" y="1713949"/>
              <a:ext cx="42406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C71ADA7-4F15-4980-DCB8-8C07F2240A1A}"/>
                </a:ext>
              </a:extLst>
            </p:cNvPr>
            <p:cNvCxnSpPr/>
            <p:nvPr/>
          </p:nvCxnSpPr>
          <p:spPr>
            <a:xfrm>
              <a:off x="9393727" y="2263911"/>
              <a:ext cx="42406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5" name="Straight Connector 1024">
              <a:extLst>
                <a:ext uri="{FF2B5EF4-FFF2-40B4-BE49-F238E27FC236}">
                  <a16:creationId xmlns:a16="http://schemas.microsoft.com/office/drawing/2014/main" id="{49376576-5D01-4ABC-CC98-935B021C8547}"/>
                </a:ext>
              </a:extLst>
            </p:cNvPr>
            <p:cNvCxnSpPr>
              <a:cxnSpLocks/>
            </p:cNvCxnSpPr>
            <p:nvPr/>
          </p:nvCxnSpPr>
          <p:spPr>
            <a:xfrm>
              <a:off x="9811170" y="2250659"/>
              <a:ext cx="0" cy="12258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9" name="Straight Connector 1028">
              <a:extLst>
                <a:ext uri="{FF2B5EF4-FFF2-40B4-BE49-F238E27FC236}">
                  <a16:creationId xmlns:a16="http://schemas.microsoft.com/office/drawing/2014/main" id="{6ABA74F5-F63F-B12B-549A-554BC83BB1BF}"/>
                </a:ext>
              </a:extLst>
            </p:cNvPr>
            <p:cNvCxnSpPr>
              <a:cxnSpLocks/>
            </p:cNvCxnSpPr>
            <p:nvPr/>
          </p:nvCxnSpPr>
          <p:spPr>
            <a:xfrm>
              <a:off x="9598997" y="879059"/>
              <a:ext cx="0" cy="83489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2" name="Straight Connector 1031">
              <a:extLst>
                <a:ext uri="{FF2B5EF4-FFF2-40B4-BE49-F238E27FC236}">
                  <a16:creationId xmlns:a16="http://schemas.microsoft.com/office/drawing/2014/main" id="{89E9E347-782D-40D1-8401-74D7274BE9FB}"/>
                </a:ext>
              </a:extLst>
            </p:cNvPr>
            <p:cNvCxnSpPr>
              <a:cxnSpLocks/>
            </p:cNvCxnSpPr>
            <p:nvPr/>
          </p:nvCxnSpPr>
          <p:spPr>
            <a:xfrm>
              <a:off x="9393727" y="2250659"/>
              <a:ext cx="0" cy="68923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33" name="Group 220">
              <a:extLst>
                <a:ext uri="{FF2B5EF4-FFF2-40B4-BE49-F238E27FC236}">
                  <a16:creationId xmlns:a16="http://schemas.microsoft.com/office/drawing/2014/main" id="{BD17F14B-00CA-53FB-BD53-0D24D08F13FF}"/>
                </a:ext>
              </a:extLst>
            </p:cNvPr>
            <p:cNvGrpSpPr>
              <a:grpSpLocks/>
            </p:cNvGrpSpPr>
            <p:nvPr/>
          </p:nvGrpSpPr>
          <p:grpSpPr bwMode="auto">
            <a:xfrm>
              <a:off x="9322150" y="3598516"/>
              <a:ext cx="152400" cy="304800"/>
              <a:chOff x="3264" y="3072"/>
              <a:chExt cx="96" cy="192"/>
            </a:xfrm>
          </p:grpSpPr>
          <p:sp>
            <p:nvSpPr>
              <p:cNvPr id="1034" name="Line 17">
                <a:extLst>
                  <a:ext uri="{FF2B5EF4-FFF2-40B4-BE49-F238E27FC236}">
                    <a16:creationId xmlns:a16="http://schemas.microsoft.com/office/drawing/2014/main" id="{CF3941F1-08D9-12A2-D14F-4317088AA92D}"/>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035" name="Freeform 18">
                <a:extLst>
                  <a:ext uri="{FF2B5EF4-FFF2-40B4-BE49-F238E27FC236}">
                    <a16:creationId xmlns:a16="http://schemas.microsoft.com/office/drawing/2014/main" id="{766586A9-52D0-D803-2E52-C9389F39D04E}"/>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grpSp>
        <p:cxnSp>
          <p:nvCxnSpPr>
            <p:cNvPr id="1036" name="Straight Connector 1035">
              <a:extLst>
                <a:ext uri="{FF2B5EF4-FFF2-40B4-BE49-F238E27FC236}">
                  <a16:creationId xmlns:a16="http://schemas.microsoft.com/office/drawing/2014/main" id="{CF731B38-AB3F-DAF0-FD85-57A97BA30DB1}"/>
                </a:ext>
              </a:extLst>
            </p:cNvPr>
            <p:cNvCxnSpPr>
              <a:cxnSpLocks/>
            </p:cNvCxnSpPr>
            <p:nvPr/>
          </p:nvCxnSpPr>
          <p:spPr>
            <a:xfrm flipH="1">
              <a:off x="9360804" y="1982923"/>
              <a:ext cx="475311"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cxnSp>
          <p:nvCxnSpPr>
            <p:cNvPr id="1037" name="Straight Connector 1036">
              <a:extLst>
                <a:ext uri="{FF2B5EF4-FFF2-40B4-BE49-F238E27FC236}">
                  <a16:creationId xmlns:a16="http://schemas.microsoft.com/office/drawing/2014/main" id="{939555E8-5184-B9E6-245E-990002CD2D0C}"/>
                </a:ext>
              </a:extLst>
            </p:cNvPr>
            <p:cNvCxnSpPr>
              <a:cxnSpLocks/>
            </p:cNvCxnSpPr>
            <p:nvPr/>
          </p:nvCxnSpPr>
          <p:spPr>
            <a:xfrm>
              <a:off x="8606174" y="1979882"/>
              <a:ext cx="74155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38" name="TextBox 1037">
              <a:extLst>
                <a:ext uri="{FF2B5EF4-FFF2-40B4-BE49-F238E27FC236}">
                  <a16:creationId xmlns:a16="http://schemas.microsoft.com/office/drawing/2014/main" id="{93A9B3B7-7146-F65B-3C80-CCC35A6CD870}"/>
                </a:ext>
              </a:extLst>
            </p:cNvPr>
            <p:cNvSpPr txBox="1"/>
            <p:nvPr/>
          </p:nvSpPr>
          <p:spPr>
            <a:xfrm>
              <a:off x="11695246" y="482853"/>
              <a:ext cx="478486" cy="369332"/>
            </a:xfrm>
            <a:prstGeom prst="rect">
              <a:avLst/>
            </a:prstGeom>
            <a:noFill/>
          </p:spPr>
          <p:txBody>
            <a:bodyPr wrap="square" rtlCol="0">
              <a:spAutoFit/>
            </a:bodyPr>
            <a:lstStyle/>
            <a:p>
              <a:r>
                <a:rPr lang="en-US" b="1" dirty="0" err="1"/>
                <a:t>v</a:t>
              </a:r>
              <a:r>
                <a:rPr lang="en-US" b="1" baseline="-25000" dirty="0" err="1"/>
                <a:t>o</a:t>
              </a:r>
              <a:endParaRPr lang="en-US" b="1" baseline="-25000" dirty="0"/>
            </a:p>
          </p:txBody>
        </p:sp>
        <p:sp>
          <p:nvSpPr>
            <p:cNvPr id="1039" name="Oval 1038">
              <a:extLst>
                <a:ext uri="{FF2B5EF4-FFF2-40B4-BE49-F238E27FC236}">
                  <a16:creationId xmlns:a16="http://schemas.microsoft.com/office/drawing/2014/main" id="{BF1E286C-DC45-C6AA-EC37-5802D1D3F603}"/>
                </a:ext>
              </a:extLst>
            </p:cNvPr>
            <p:cNvSpPr/>
            <p:nvPr/>
          </p:nvSpPr>
          <p:spPr>
            <a:xfrm>
              <a:off x="11842719" y="815631"/>
              <a:ext cx="146050" cy="146304"/>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041" name="TextBox 1040">
              <a:extLst>
                <a:ext uri="{FF2B5EF4-FFF2-40B4-BE49-F238E27FC236}">
                  <a16:creationId xmlns:a16="http://schemas.microsoft.com/office/drawing/2014/main" id="{A6B96789-CB47-A038-AB4A-81EBA69C6583}"/>
                </a:ext>
              </a:extLst>
            </p:cNvPr>
            <p:cNvSpPr txBox="1"/>
            <p:nvPr/>
          </p:nvSpPr>
          <p:spPr>
            <a:xfrm>
              <a:off x="8574753" y="1585188"/>
              <a:ext cx="478486" cy="369332"/>
            </a:xfrm>
            <a:prstGeom prst="rect">
              <a:avLst/>
            </a:prstGeom>
            <a:noFill/>
          </p:spPr>
          <p:txBody>
            <a:bodyPr wrap="square" rtlCol="0">
              <a:spAutoFit/>
            </a:bodyPr>
            <a:lstStyle/>
            <a:p>
              <a:r>
                <a:rPr lang="en-US" b="1" dirty="0"/>
                <a:t>v</a:t>
              </a:r>
              <a:r>
                <a:rPr lang="en-US" b="1" baseline="-25000" dirty="0"/>
                <a:t>i</a:t>
              </a:r>
            </a:p>
          </p:txBody>
        </p:sp>
        <p:grpSp>
          <p:nvGrpSpPr>
            <p:cNvPr id="1042" name="Group 220">
              <a:extLst>
                <a:ext uri="{FF2B5EF4-FFF2-40B4-BE49-F238E27FC236}">
                  <a16:creationId xmlns:a16="http://schemas.microsoft.com/office/drawing/2014/main" id="{2B8F566D-0609-EAFB-0481-70E3798FD927}"/>
                </a:ext>
              </a:extLst>
            </p:cNvPr>
            <p:cNvGrpSpPr>
              <a:grpSpLocks/>
            </p:cNvGrpSpPr>
            <p:nvPr/>
          </p:nvGrpSpPr>
          <p:grpSpPr bwMode="auto">
            <a:xfrm>
              <a:off x="8546139" y="2707859"/>
              <a:ext cx="152400" cy="304800"/>
              <a:chOff x="3264" y="3072"/>
              <a:chExt cx="96" cy="192"/>
            </a:xfrm>
          </p:grpSpPr>
          <p:sp>
            <p:nvSpPr>
              <p:cNvPr id="1043" name="Line 17">
                <a:extLst>
                  <a:ext uri="{FF2B5EF4-FFF2-40B4-BE49-F238E27FC236}">
                    <a16:creationId xmlns:a16="http://schemas.microsoft.com/office/drawing/2014/main" id="{25AEBACB-03E7-8A05-454E-20AEE826064F}"/>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044" name="Freeform 18">
                <a:extLst>
                  <a:ext uri="{FF2B5EF4-FFF2-40B4-BE49-F238E27FC236}">
                    <a16:creationId xmlns:a16="http://schemas.microsoft.com/office/drawing/2014/main" id="{E0A9D17B-A84B-77A3-128B-EC1405AB0889}"/>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grpSp>
        <p:sp>
          <p:nvSpPr>
            <p:cNvPr id="1046" name="Freeform 12">
              <a:extLst>
                <a:ext uri="{FF2B5EF4-FFF2-40B4-BE49-F238E27FC236}">
                  <a16:creationId xmlns:a16="http://schemas.microsoft.com/office/drawing/2014/main" id="{DCE6A2EB-3AAF-4CFC-D70B-5FAF44D0A422}"/>
                </a:ext>
              </a:extLst>
            </p:cNvPr>
            <p:cNvSpPr>
              <a:spLocks noChangeAspect="1"/>
            </p:cNvSpPr>
            <p:nvPr/>
          </p:nvSpPr>
          <p:spPr bwMode="auto">
            <a:xfrm>
              <a:off x="10846668" y="864089"/>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sp>
          <p:nvSpPr>
            <p:cNvPr id="1047" name="Oval 1046">
              <a:extLst>
                <a:ext uri="{FF2B5EF4-FFF2-40B4-BE49-F238E27FC236}">
                  <a16:creationId xmlns:a16="http://schemas.microsoft.com/office/drawing/2014/main" id="{6DB4C03C-C2CD-34FA-E764-DA2B54677AB6}"/>
                </a:ext>
              </a:extLst>
            </p:cNvPr>
            <p:cNvSpPr/>
            <p:nvPr/>
          </p:nvSpPr>
          <p:spPr>
            <a:xfrm>
              <a:off x="9315419" y="2606331"/>
              <a:ext cx="146050" cy="146304"/>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cxnSp>
          <p:nvCxnSpPr>
            <p:cNvPr id="1048" name="Straight Connector 1047">
              <a:extLst>
                <a:ext uri="{FF2B5EF4-FFF2-40B4-BE49-F238E27FC236}">
                  <a16:creationId xmlns:a16="http://schemas.microsoft.com/office/drawing/2014/main" id="{878DCB9F-863B-C8BD-3E18-ADF9172C0857}"/>
                </a:ext>
              </a:extLst>
            </p:cNvPr>
            <p:cNvCxnSpPr>
              <a:cxnSpLocks/>
            </p:cNvCxnSpPr>
            <p:nvPr/>
          </p:nvCxnSpPr>
          <p:spPr>
            <a:xfrm>
              <a:off x="9602564" y="884243"/>
              <a:ext cx="228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49" name="Oval 1048">
              <a:extLst>
                <a:ext uri="{FF2B5EF4-FFF2-40B4-BE49-F238E27FC236}">
                  <a16:creationId xmlns:a16="http://schemas.microsoft.com/office/drawing/2014/main" id="{8145408B-6186-4F9D-0334-0F269AAF0041}"/>
                </a:ext>
              </a:extLst>
            </p:cNvPr>
            <p:cNvSpPr/>
            <p:nvPr/>
          </p:nvSpPr>
          <p:spPr>
            <a:xfrm>
              <a:off x="10852119" y="815631"/>
              <a:ext cx="146050" cy="146304"/>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1050" name="Group 356">
              <a:extLst>
                <a:ext uri="{FF2B5EF4-FFF2-40B4-BE49-F238E27FC236}">
                  <a16:creationId xmlns:a16="http://schemas.microsoft.com/office/drawing/2014/main" id="{7E570BCC-EEF7-9D49-C478-9F4F73F3382E}"/>
                </a:ext>
              </a:extLst>
            </p:cNvPr>
            <p:cNvGrpSpPr>
              <a:grpSpLocks/>
            </p:cNvGrpSpPr>
            <p:nvPr/>
          </p:nvGrpSpPr>
          <p:grpSpPr bwMode="auto">
            <a:xfrm>
              <a:off x="10570682" y="1570924"/>
              <a:ext cx="628650" cy="985837"/>
              <a:chOff x="2944" y="3306"/>
              <a:chExt cx="198" cy="524"/>
            </a:xfrm>
          </p:grpSpPr>
          <p:grpSp>
            <p:nvGrpSpPr>
              <p:cNvPr id="1051" name="Group 298">
                <a:extLst>
                  <a:ext uri="{FF2B5EF4-FFF2-40B4-BE49-F238E27FC236}">
                    <a16:creationId xmlns:a16="http://schemas.microsoft.com/office/drawing/2014/main" id="{5006DEB7-9972-6850-CEBC-520BE5AF7B90}"/>
                  </a:ext>
                </a:extLst>
              </p:cNvPr>
              <p:cNvGrpSpPr>
                <a:grpSpLocks/>
              </p:cNvGrpSpPr>
              <p:nvPr/>
            </p:nvGrpSpPr>
            <p:grpSpPr bwMode="auto">
              <a:xfrm>
                <a:off x="2944" y="3306"/>
                <a:ext cx="198" cy="518"/>
                <a:chOff x="3058" y="3370"/>
                <a:chExt cx="198" cy="518"/>
              </a:xfrm>
            </p:grpSpPr>
            <p:grpSp>
              <p:nvGrpSpPr>
                <p:cNvPr id="1053" name="Group 294">
                  <a:extLst>
                    <a:ext uri="{FF2B5EF4-FFF2-40B4-BE49-F238E27FC236}">
                      <a16:creationId xmlns:a16="http://schemas.microsoft.com/office/drawing/2014/main" id="{99B533FE-A97F-4C4D-B7D1-9BABA667C6ED}"/>
                    </a:ext>
                  </a:extLst>
                </p:cNvPr>
                <p:cNvGrpSpPr>
                  <a:grpSpLocks/>
                </p:cNvGrpSpPr>
                <p:nvPr/>
              </p:nvGrpSpPr>
              <p:grpSpPr bwMode="auto">
                <a:xfrm>
                  <a:off x="3083" y="3370"/>
                  <a:ext cx="173" cy="518"/>
                  <a:chOff x="3083" y="3370"/>
                  <a:chExt cx="173" cy="518"/>
                </a:xfrm>
              </p:grpSpPr>
              <p:grpSp>
                <p:nvGrpSpPr>
                  <p:cNvPr id="1056" name="Group 292">
                    <a:extLst>
                      <a:ext uri="{FF2B5EF4-FFF2-40B4-BE49-F238E27FC236}">
                        <a16:creationId xmlns:a16="http://schemas.microsoft.com/office/drawing/2014/main" id="{5EC54855-2D4A-4341-EC86-71713D668F12}"/>
                      </a:ext>
                    </a:extLst>
                  </p:cNvPr>
                  <p:cNvGrpSpPr>
                    <a:grpSpLocks/>
                  </p:cNvGrpSpPr>
                  <p:nvPr/>
                </p:nvGrpSpPr>
                <p:grpSpPr bwMode="auto">
                  <a:xfrm>
                    <a:off x="3083" y="3542"/>
                    <a:ext cx="173" cy="169"/>
                    <a:chOff x="3092" y="3427"/>
                    <a:chExt cx="173" cy="284"/>
                  </a:xfrm>
                </p:grpSpPr>
                <p:grpSp>
                  <p:nvGrpSpPr>
                    <p:cNvPr id="1059" name="Group 286">
                      <a:extLst>
                        <a:ext uri="{FF2B5EF4-FFF2-40B4-BE49-F238E27FC236}">
                          <a16:creationId xmlns:a16="http://schemas.microsoft.com/office/drawing/2014/main" id="{5FEAE66A-ED8C-DA92-2276-0B85AF37CE74}"/>
                        </a:ext>
                      </a:extLst>
                    </p:cNvPr>
                    <p:cNvGrpSpPr>
                      <a:grpSpLocks/>
                    </p:cNvGrpSpPr>
                    <p:nvPr/>
                  </p:nvGrpSpPr>
                  <p:grpSpPr bwMode="auto">
                    <a:xfrm>
                      <a:off x="3092" y="3427"/>
                      <a:ext cx="173" cy="230"/>
                      <a:chOff x="3168" y="3485"/>
                      <a:chExt cx="173" cy="230"/>
                    </a:xfrm>
                  </p:grpSpPr>
                  <p:sp>
                    <p:nvSpPr>
                      <p:cNvPr id="1064" name="Line 283">
                        <a:extLst>
                          <a:ext uri="{FF2B5EF4-FFF2-40B4-BE49-F238E27FC236}">
                            <a16:creationId xmlns:a16="http://schemas.microsoft.com/office/drawing/2014/main" id="{8F5F198D-2FE0-BE21-0AD1-23122EEB17CE}"/>
                          </a:ext>
                        </a:extLst>
                      </p:cNvPr>
                      <p:cNvSpPr>
                        <a:spLocks noChangeShapeType="1"/>
                      </p:cNvSpPr>
                      <p:nvPr/>
                    </p:nvSpPr>
                    <p:spPr bwMode="auto">
                      <a:xfrm>
                        <a:off x="3168" y="348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b="1"/>
                      </a:p>
                    </p:txBody>
                  </p:sp>
                  <p:sp>
                    <p:nvSpPr>
                      <p:cNvPr id="1065" name="Line 284">
                        <a:extLst>
                          <a:ext uri="{FF2B5EF4-FFF2-40B4-BE49-F238E27FC236}">
                            <a16:creationId xmlns:a16="http://schemas.microsoft.com/office/drawing/2014/main" id="{7596DFE5-51BA-B94E-CA18-A1B64F3B6ADB}"/>
                          </a:ext>
                        </a:extLst>
                      </p:cNvPr>
                      <p:cNvSpPr>
                        <a:spLocks noChangeShapeType="1"/>
                      </p:cNvSpPr>
                      <p:nvPr/>
                    </p:nvSpPr>
                    <p:spPr bwMode="auto">
                      <a:xfrm>
                        <a:off x="3168" y="3600"/>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b="1"/>
                      </a:p>
                    </p:txBody>
                  </p:sp>
                  <p:sp>
                    <p:nvSpPr>
                      <p:cNvPr id="1066" name="Line 285">
                        <a:extLst>
                          <a:ext uri="{FF2B5EF4-FFF2-40B4-BE49-F238E27FC236}">
                            <a16:creationId xmlns:a16="http://schemas.microsoft.com/office/drawing/2014/main" id="{585FAB9D-BF2A-EFFD-FAA3-BB3F47DB30C5}"/>
                          </a:ext>
                        </a:extLst>
                      </p:cNvPr>
                      <p:cNvSpPr>
                        <a:spLocks noChangeShapeType="1"/>
                      </p:cNvSpPr>
                      <p:nvPr/>
                    </p:nvSpPr>
                    <p:spPr bwMode="auto">
                      <a:xfrm>
                        <a:off x="3168" y="371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b="1"/>
                      </a:p>
                    </p:txBody>
                  </p:sp>
                </p:grpSp>
                <p:grpSp>
                  <p:nvGrpSpPr>
                    <p:cNvPr id="1060" name="Group 287">
                      <a:extLst>
                        <a:ext uri="{FF2B5EF4-FFF2-40B4-BE49-F238E27FC236}">
                          <a16:creationId xmlns:a16="http://schemas.microsoft.com/office/drawing/2014/main" id="{7C8E3B3C-4A2D-04D7-3627-4B10E3196D9E}"/>
                        </a:ext>
                      </a:extLst>
                    </p:cNvPr>
                    <p:cNvGrpSpPr>
                      <a:grpSpLocks/>
                    </p:cNvGrpSpPr>
                    <p:nvPr/>
                  </p:nvGrpSpPr>
                  <p:grpSpPr bwMode="auto">
                    <a:xfrm>
                      <a:off x="3128" y="3481"/>
                      <a:ext cx="91" cy="230"/>
                      <a:chOff x="3168" y="3485"/>
                      <a:chExt cx="173" cy="230"/>
                    </a:xfrm>
                  </p:grpSpPr>
                  <p:sp>
                    <p:nvSpPr>
                      <p:cNvPr id="1061" name="Line 288">
                        <a:extLst>
                          <a:ext uri="{FF2B5EF4-FFF2-40B4-BE49-F238E27FC236}">
                            <a16:creationId xmlns:a16="http://schemas.microsoft.com/office/drawing/2014/main" id="{7274C4C5-A3AA-323D-8E18-A359ECB562D6}"/>
                          </a:ext>
                        </a:extLst>
                      </p:cNvPr>
                      <p:cNvSpPr>
                        <a:spLocks noChangeShapeType="1"/>
                      </p:cNvSpPr>
                      <p:nvPr/>
                    </p:nvSpPr>
                    <p:spPr bwMode="auto">
                      <a:xfrm>
                        <a:off x="3168" y="348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b="1"/>
                      </a:p>
                    </p:txBody>
                  </p:sp>
                  <p:sp>
                    <p:nvSpPr>
                      <p:cNvPr id="1062" name="Line 289">
                        <a:extLst>
                          <a:ext uri="{FF2B5EF4-FFF2-40B4-BE49-F238E27FC236}">
                            <a16:creationId xmlns:a16="http://schemas.microsoft.com/office/drawing/2014/main" id="{2EE0C60F-F97E-2FB5-1613-4D8C47D63FA2}"/>
                          </a:ext>
                        </a:extLst>
                      </p:cNvPr>
                      <p:cNvSpPr>
                        <a:spLocks noChangeShapeType="1"/>
                      </p:cNvSpPr>
                      <p:nvPr/>
                    </p:nvSpPr>
                    <p:spPr bwMode="auto">
                      <a:xfrm>
                        <a:off x="3168" y="3600"/>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b="1"/>
                      </a:p>
                    </p:txBody>
                  </p:sp>
                  <p:sp>
                    <p:nvSpPr>
                      <p:cNvPr id="1063" name="Line 290">
                        <a:extLst>
                          <a:ext uri="{FF2B5EF4-FFF2-40B4-BE49-F238E27FC236}">
                            <a16:creationId xmlns:a16="http://schemas.microsoft.com/office/drawing/2014/main" id="{1F9354E6-CE09-54DC-A4DB-F2AAD5B714AC}"/>
                          </a:ext>
                        </a:extLst>
                      </p:cNvPr>
                      <p:cNvSpPr>
                        <a:spLocks noChangeShapeType="1"/>
                      </p:cNvSpPr>
                      <p:nvPr/>
                    </p:nvSpPr>
                    <p:spPr bwMode="auto">
                      <a:xfrm>
                        <a:off x="3168" y="371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b="1"/>
                      </a:p>
                    </p:txBody>
                  </p:sp>
                </p:grpSp>
              </p:grpSp>
              <p:sp>
                <p:nvSpPr>
                  <p:cNvPr id="1057" name="Line 291">
                    <a:extLst>
                      <a:ext uri="{FF2B5EF4-FFF2-40B4-BE49-F238E27FC236}">
                        <a16:creationId xmlns:a16="http://schemas.microsoft.com/office/drawing/2014/main" id="{D149BFCE-9715-C3BD-3A94-86EC2287CD3E}"/>
                      </a:ext>
                    </a:extLst>
                  </p:cNvPr>
                  <p:cNvSpPr>
                    <a:spLocks noChangeShapeType="1"/>
                  </p:cNvSpPr>
                  <p:nvPr/>
                </p:nvSpPr>
                <p:spPr bwMode="auto">
                  <a:xfrm>
                    <a:off x="3168" y="3715"/>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b="1"/>
                  </a:p>
                </p:txBody>
              </p:sp>
              <p:sp>
                <p:nvSpPr>
                  <p:cNvPr id="1058" name="Line 293">
                    <a:extLst>
                      <a:ext uri="{FF2B5EF4-FFF2-40B4-BE49-F238E27FC236}">
                        <a16:creationId xmlns:a16="http://schemas.microsoft.com/office/drawing/2014/main" id="{3A80C0D0-F62E-E7D3-3050-C96A3C3ECE0A}"/>
                      </a:ext>
                    </a:extLst>
                  </p:cNvPr>
                  <p:cNvSpPr>
                    <a:spLocks noChangeShapeType="1"/>
                  </p:cNvSpPr>
                  <p:nvPr/>
                </p:nvSpPr>
                <p:spPr bwMode="auto">
                  <a:xfrm>
                    <a:off x="3168" y="3370"/>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b="1"/>
                  </a:p>
                </p:txBody>
              </p:sp>
            </p:grpSp>
            <p:sp>
              <p:nvSpPr>
                <p:cNvPr id="1054" name="Text Box 296">
                  <a:extLst>
                    <a:ext uri="{FF2B5EF4-FFF2-40B4-BE49-F238E27FC236}">
                      <a16:creationId xmlns:a16="http://schemas.microsoft.com/office/drawing/2014/main" id="{B1DD6DAD-97AF-2A75-5E1B-327A3F730C96}"/>
                    </a:ext>
                  </a:extLst>
                </p:cNvPr>
                <p:cNvSpPr txBox="1">
                  <a:spLocks noChangeArrowheads="1"/>
                </p:cNvSpPr>
                <p:nvPr/>
              </p:nvSpPr>
              <p:spPr bwMode="auto">
                <a:xfrm>
                  <a:off x="3058" y="3436"/>
                  <a:ext cx="4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800" b="1"/>
                    <a:t>+</a:t>
                  </a:r>
                </a:p>
              </p:txBody>
            </p:sp>
            <p:sp>
              <p:nvSpPr>
                <p:cNvPr id="1055" name="Text Box 297">
                  <a:extLst>
                    <a:ext uri="{FF2B5EF4-FFF2-40B4-BE49-F238E27FC236}">
                      <a16:creationId xmlns:a16="http://schemas.microsoft.com/office/drawing/2014/main" id="{607DF549-524D-9C85-1989-C44BF769DB70}"/>
                    </a:ext>
                  </a:extLst>
                </p:cNvPr>
                <p:cNvSpPr txBox="1">
                  <a:spLocks noChangeArrowheads="1"/>
                </p:cNvSpPr>
                <p:nvPr/>
              </p:nvSpPr>
              <p:spPr bwMode="auto">
                <a:xfrm>
                  <a:off x="3070" y="3680"/>
                  <a:ext cx="45"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200" b="1">
                      <a:latin typeface="Arial" panose="020B0604020202020204" pitchFamily="34" charset="0"/>
                      <a:cs typeface="Arial" panose="020B0604020202020204" pitchFamily="34" charset="0"/>
                    </a:rPr>
                    <a:t>-</a:t>
                  </a:r>
                </a:p>
              </p:txBody>
            </p:sp>
          </p:grpSp>
          <p:sp>
            <p:nvSpPr>
              <p:cNvPr id="1052" name="Freeform 355">
                <a:extLst>
                  <a:ext uri="{FF2B5EF4-FFF2-40B4-BE49-F238E27FC236}">
                    <a16:creationId xmlns:a16="http://schemas.microsoft.com/office/drawing/2014/main" id="{0A7564D7-E090-70A2-45B9-B22DD53467DC}"/>
                  </a:ext>
                </a:extLst>
              </p:cNvPr>
              <p:cNvSpPr>
                <a:spLocks/>
              </p:cNvSpPr>
              <p:nvPr/>
            </p:nvSpPr>
            <p:spPr bwMode="auto">
              <a:xfrm>
                <a:off x="2995" y="3312"/>
                <a:ext cx="115" cy="518"/>
              </a:xfrm>
              <a:custGeom>
                <a:avLst/>
                <a:gdLst>
                  <a:gd name="T0" fmla="*/ 58 w 115"/>
                  <a:gd name="T1" fmla="*/ 0 h 518"/>
                  <a:gd name="T2" fmla="*/ 0 w 115"/>
                  <a:gd name="T3" fmla="*/ 173 h 518"/>
                  <a:gd name="T4" fmla="*/ 58 w 115"/>
                  <a:gd name="T5" fmla="*/ 518 h 518"/>
                  <a:gd name="T6" fmla="*/ 115 w 115"/>
                  <a:gd name="T7" fmla="*/ 173 h 518"/>
                  <a:gd name="T8" fmla="*/ 58 w 115"/>
                  <a:gd name="T9" fmla="*/ 0 h 518"/>
                  <a:gd name="T10" fmla="*/ 0 60000 65536"/>
                  <a:gd name="T11" fmla="*/ 0 60000 65536"/>
                  <a:gd name="T12" fmla="*/ 0 60000 65536"/>
                  <a:gd name="T13" fmla="*/ 0 60000 65536"/>
                  <a:gd name="T14" fmla="*/ 0 60000 65536"/>
                  <a:gd name="T15" fmla="*/ 0 w 115"/>
                  <a:gd name="T16" fmla="*/ 0 h 518"/>
                  <a:gd name="T17" fmla="*/ 115 w 115"/>
                  <a:gd name="T18" fmla="*/ 518 h 518"/>
                </a:gdLst>
                <a:ahLst/>
                <a:cxnLst>
                  <a:cxn ang="T10">
                    <a:pos x="T0" y="T1"/>
                  </a:cxn>
                  <a:cxn ang="T11">
                    <a:pos x="T2" y="T3"/>
                  </a:cxn>
                  <a:cxn ang="T12">
                    <a:pos x="T4" y="T5"/>
                  </a:cxn>
                  <a:cxn ang="T13">
                    <a:pos x="T6" y="T7"/>
                  </a:cxn>
                  <a:cxn ang="T14">
                    <a:pos x="T8" y="T9"/>
                  </a:cxn>
                </a:cxnLst>
                <a:rect l="T15" t="T16" r="T17" b="T18"/>
                <a:pathLst>
                  <a:path w="115" h="518">
                    <a:moveTo>
                      <a:pt x="58" y="0"/>
                    </a:moveTo>
                    <a:lnTo>
                      <a:pt x="0" y="173"/>
                    </a:lnTo>
                    <a:lnTo>
                      <a:pt x="58" y="518"/>
                    </a:lnTo>
                    <a:lnTo>
                      <a:pt x="115" y="173"/>
                    </a:lnTo>
                    <a:lnTo>
                      <a:pt x="58"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b="1"/>
              </a:p>
            </p:txBody>
          </p:sp>
        </p:grpSp>
        <p:grpSp>
          <p:nvGrpSpPr>
            <p:cNvPr id="1067" name="Group 220">
              <a:extLst>
                <a:ext uri="{FF2B5EF4-FFF2-40B4-BE49-F238E27FC236}">
                  <a16:creationId xmlns:a16="http://schemas.microsoft.com/office/drawing/2014/main" id="{FF834083-144B-0B4F-750C-12DA56DB54DB}"/>
                </a:ext>
              </a:extLst>
            </p:cNvPr>
            <p:cNvGrpSpPr>
              <a:grpSpLocks/>
            </p:cNvGrpSpPr>
            <p:nvPr/>
          </p:nvGrpSpPr>
          <p:grpSpPr bwMode="auto">
            <a:xfrm>
              <a:off x="10845769" y="2393073"/>
              <a:ext cx="152400" cy="304800"/>
              <a:chOff x="3264" y="3072"/>
              <a:chExt cx="96" cy="192"/>
            </a:xfrm>
          </p:grpSpPr>
          <p:sp>
            <p:nvSpPr>
              <p:cNvPr id="1068" name="Line 17">
                <a:extLst>
                  <a:ext uri="{FF2B5EF4-FFF2-40B4-BE49-F238E27FC236}">
                    <a16:creationId xmlns:a16="http://schemas.microsoft.com/office/drawing/2014/main" id="{189F2F20-216B-0205-0705-AEB9E3B1D86B}"/>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069" name="Freeform 18">
                <a:extLst>
                  <a:ext uri="{FF2B5EF4-FFF2-40B4-BE49-F238E27FC236}">
                    <a16:creationId xmlns:a16="http://schemas.microsoft.com/office/drawing/2014/main" id="{85F3B085-5D1B-D25E-523E-80BE5CC25AD5}"/>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grpSp>
        <p:sp>
          <p:nvSpPr>
            <p:cNvPr id="1070" name="TextBox 1069">
              <a:extLst>
                <a:ext uri="{FF2B5EF4-FFF2-40B4-BE49-F238E27FC236}">
                  <a16:creationId xmlns:a16="http://schemas.microsoft.com/office/drawing/2014/main" id="{98BFE3B9-F1E4-0EAC-DDF4-C9B6F5B665ED}"/>
                </a:ext>
              </a:extLst>
            </p:cNvPr>
            <p:cNvSpPr txBox="1"/>
            <p:nvPr/>
          </p:nvSpPr>
          <p:spPr>
            <a:xfrm>
              <a:off x="9474550" y="3145930"/>
              <a:ext cx="502654" cy="369332"/>
            </a:xfrm>
            <a:prstGeom prst="rect">
              <a:avLst/>
            </a:prstGeom>
            <a:noFill/>
          </p:spPr>
          <p:txBody>
            <a:bodyPr wrap="square" rtlCol="0">
              <a:spAutoFit/>
            </a:bodyPr>
            <a:lstStyle/>
            <a:p>
              <a:r>
                <a:rPr lang="en-US" b="1" dirty="0" err="1"/>
                <a:t>R</a:t>
              </a:r>
              <a:r>
                <a:rPr lang="en-US" b="1" baseline="-25000" dirty="0" err="1"/>
                <a:t>k</a:t>
              </a:r>
              <a:endParaRPr lang="en-US" b="1" baseline="-25000" dirty="0"/>
            </a:p>
          </p:txBody>
        </p:sp>
        <p:sp>
          <p:nvSpPr>
            <p:cNvPr id="1071" name="TextBox 1070">
              <a:extLst>
                <a:ext uri="{FF2B5EF4-FFF2-40B4-BE49-F238E27FC236}">
                  <a16:creationId xmlns:a16="http://schemas.microsoft.com/office/drawing/2014/main" id="{3773CAB5-68AE-C37D-6C46-3E0AEF8A2AD7}"/>
                </a:ext>
              </a:extLst>
            </p:cNvPr>
            <p:cNvSpPr txBox="1"/>
            <p:nvPr/>
          </p:nvSpPr>
          <p:spPr>
            <a:xfrm>
              <a:off x="9445543" y="2572049"/>
              <a:ext cx="502654" cy="369332"/>
            </a:xfrm>
            <a:prstGeom prst="rect">
              <a:avLst/>
            </a:prstGeom>
            <a:noFill/>
          </p:spPr>
          <p:txBody>
            <a:bodyPr wrap="square" rtlCol="0">
              <a:spAutoFit/>
            </a:bodyPr>
            <a:lstStyle/>
            <a:p>
              <a:r>
                <a:rPr lang="en-US" b="1" dirty="0" err="1"/>
                <a:t>v</a:t>
              </a:r>
              <a:r>
                <a:rPr lang="en-US" b="1" baseline="-25000" dirty="0" err="1"/>
                <a:t>k</a:t>
              </a:r>
              <a:endParaRPr lang="en-US" b="1" baseline="-25000" dirty="0"/>
            </a:p>
          </p:txBody>
        </p:sp>
        <p:sp>
          <p:nvSpPr>
            <p:cNvPr id="1072" name="TextBox 1071">
              <a:extLst>
                <a:ext uri="{FF2B5EF4-FFF2-40B4-BE49-F238E27FC236}">
                  <a16:creationId xmlns:a16="http://schemas.microsoft.com/office/drawing/2014/main" id="{F0F5303E-59B4-F60B-6BFB-DEB7AA3DE57D}"/>
                </a:ext>
              </a:extLst>
            </p:cNvPr>
            <p:cNvSpPr txBox="1"/>
            <p:nvPr/>
          </p:nvSpPr>
          <p:spPr>
            <a:xfrm>
              <a:off x="11038698" y="1107078"/>
              <a:ext cx="327508" cy="369332"/>
            </a:xfrm>
            <a:prstGeom prst="rect">
              <a:avLst/>
            </a:prstGeom>
            <a:noFill/>
          </p:spPr>
          <p:txBody>
            <a:bodyPr wrap="square" rtlCol="0">
              <a:spAutoFit/>
            </a:bodyPr>
            <a:lstStyle/>
            <a:p>
              <a:r>
                <a:rPr lang="en-US" b="1" dirty="0"/>
                <a:t>R</a:t>
              </a:r>
              <a:endParaRPr lang="en-US" b="1" baseline="-25000" dirty="0"/>
            </a:p>
          </p:txBody>
        </p:sp>
        <p:sp>
          <p:nvSpPr>
            <p:cNvPr id="1073" name="TextBox 1072">
              <a:extLst>
                <a:ext uri="{FF2B5EF4-FFF2-40B4-BE49-F238E27FC236}">
                  <a16:creationId xmlns:a16="http://schemas.microsoft.com/office/drawing/2014/main" id="{F389D5DC-52FC-D9AA-6023-B46E07AD5FD3}"/>
                </a:ext>
              </a:extLst>
            </p:cNvPr>
            <p:cNvSpPr txBox="1"/>
            <p:nvPr/>
          </p:nvSpPr>
          <p:spPr>
            <a:xfrm>
              <a:off x="10932895" y="1521020"/>
              <a:ext cx="478486" cy="369332"/>
            </a:xfrm>
            <a:prstGeom prst="rect">
              <a:avLst/>
            </a:prstGeom>
            <a:noFill/>
          </p:spPr>
          <p:txBody>
            <a:bodyPr wrap="square" rtlCol="0">
              <a:spAutoFit/>
            </a:bodyPr>
            <a:lstStyle/>
            <a:p>
              <a:r>
                <a:rPr lang="en-US" b="1" dirty="0" err="1"/>
                <a:t>v</a:t>
              </a:r>
              <a:r>
                <a:rPr lang="en-US" b="1" baseline="-25000" dirty="0" err="1"/>
                <a:t>bb</a:t>
              </a:r>
              <a:endParaRPr lang="en-US" b="1" baseline="-25000" dirty="0"/>
            </a:p>
          </p:txBody>
        </p:sp>
        <p:sp>
          <p:nvSpPr>
            <p:cNvPr id="1174" name="TextBox 1173">
              <a:extLst>
                <a:ext uri="{FF2B5EF4-FFF2-40B4-BE49-F238E27FC236}">
                  <a16:creationId xmlns:a16="http://schemas.microsoft.com/office/drawing/2014/main" id="{413178B4-9487-06C3-2983-126365B6889C}"/>
                </a:ext>
              </a:extLst>
            </p:cNvPr>
            <p:cNvSpPr txBox="1"/>
            <p:nvPr/>
          </p:nvSpPr>
          <p:spPr>
            <a:xfrm>
              <a:off x="10090687" y="3132608"/>
              <a:ext cx="1939577" cy="369332"/>
            </a:xfrm>
            <a:prstGeom prst="rect">
              <a:avLst/>
            </a:prstGeom>
            <a:noFill/>
          </p:spPr>
          <p:txBody>
            <a:bodyPr wrap="square" rtlCol="0">
              <a:spAutoFit/>
            </a:bodyPr>
            <a:lstStyle/>
            <a:p>
              <a:r>
                <a:rPr lang="en-US" dirty="0"/>
                <a:t>Amplifier circuit</a:t>
              </a:r>
            </a:p>
          </p:txBody>
        </p:sp>
      </p:grpSp>
    </p:spTree>
    <p:extLst>
      <p:ext uri="{BB962C8B-B14F-4D97-AF65-F5344CB8AC3E}">
        <p14:creationId xmlns:p14="http://schemas.microsoft.com/office/powerpoint/2010/main" val="392149637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155731"/>
            <a:ext cx="11529391" cy="769441"/>
          </a:xfrm>
          <a:prstGeom prst="rect">
            <a:avLst/>
          </a:prstGeom>
          <a:noFill/>
        </p:spPr>
        <p:txBody>
          <a:bodyPr wrap="square" rtlCol="0">
            <a:spAutoFit/>
          </a:bodyPr>
          <a:lstStyle/>
          <a:p>
            <a:pPr algn="ctr"/>
            <a:r>
              <a:rPr lang="en-US" sz="4400" dirty="0">
                <a:latin typeface="+mj-lt"/>
              </a:rPr>
              <a:t>QAM</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6553200" y="6404292"/>
            <a:ext cx="2133600" cy="269241"/>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pPr lvl="0"/>
              <a:t>99</a:t>
            </a:fld>
            <a:endParaRPr lang="en-US"/>
          </a:p>
        </p:txBody>
      </p:sp>
      <p:grpSp>
        <p:nvGrpSpPr>
          <p:cNvPr id="4" name="Group 3">
            <a:extLst>
              <a:ext uri="{FF2B5EF4-FFF2-40B4-BE49-F238E27FC236}">
                <a16:creationId xmlns:a16="http://schemas.microsoft.com/office/drawing/2014/main" id="{2D877523-3BE0-7AC9-94C9-4F33CBA067A2}"/>
              </a:ext>
            </a:extLst>
          </p:cNvPr>
          <p:cNvGrpSpPr/>
          <p:nvPr/>
        </p:nvGrpSpPr>
        <p:grpSpPr>
          <a:xfrm>
            <a:off x="867552" y="1894901"/>
            <a:ext cx="4856714" cy="3290256"/>
            <a:chOff x="867552" y="1894901"/>
            <a:chExt cx="4856714" cy="3290256"/>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C564120-171B-3E96-5519-BA3C2ECB259D}"/>
                    </a:ext>
                  </a:extLst>
                </p:cNvPr>
                <p:cNvSpPr txBox="1"/>
                <p:nvPr/>
              </p:nvSpPr>
              <p:spPr>
                <a:xfrm>
                  <a:off x="2367684" y="1894901"/>
                  <a:ext cx="424366" cy="461665"/>
                </a:xfrm>
                <a:prstGeom prst="rect">
                  <a:avLst/>
                </a:prstGeom>
                <a:noFill/>
              </p:spPr>
              <p:txBody>
                <a:bodyPr wrap="square" rtlCol="0">
                  <a:spAutoFit/>
                </a:bodyPr>
                <a:lstStyle/>
                <a:p>
                  <a:pPr/>
                  <a14:m>
                    <m:oMathPara xmlns:m="http://schemas.openxmlformats.org/officeDocument/2006/math">
                      <m:oMath>
                        <m:r>
                          <a:rPr lang="en-US" sz="240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5" name="TextBox 4">
                  <a:extLst>
                    <a:ext uri="{FF2B5EF4-FFF2-40B4-BE49-F238E27FC236}">
                      <a16:creationId xmlns:a16="http://schemas.microsoft.com/office/drawing/2014/main" id="{BC564120-171B-3E96-5519-BA3C2ECB259D}"/>
                    </a:ext>
                  </a:extLst>
                </p:cNvPr>
                <p:cNvSpPr txBox="1">
                  <a:spLocks noRot="1" noChangeAspect="1" noMove="1" noResize="1" noEditPoints="1" noAdjustHandles="1" noChangeArrowheads="1" noChangeShapeType="1" noTextEdit="1"/>
                </p:cNvSpPr>
                <p:nvPr/>
              </p:nvSpPr>
              <p:spPr>
                <a:xfrm>
                  <a:off x="2367684" y="1894901"/>
                  <a:ext cx="424366" cy="461665"/>
                </a:xfrm>
                <a:prstGeom prst="rect">
                  <a:avLst/>
                </a:prstGeom>
                <a:blipFill>
                  <a:blip r:embed="rId3"/>
                  <a:stretch>
                    <a:fillRect l="-5882" r="-11765" b="-5405"/>
                  </a:stretch>
                </a:blipFill>
              </p:spPr>
              <p:txBody>
                <a:bodyPr/>
                <a:lstStyle/>
                <a:p>
                  <a:r>
                    <a:rPr lang="en-US">
                      <a:noFill/>
                    </a:rPr>
                    <a:t> </a:t>
                  </a:r>
                </a:p>
              </p:txBody>
            </p:sp>
          </mc:Fallback>
        </mc:AlternateContent>
        <p:sp>
          <p:nvSpPr>
            <p:cNvPr id="11" name="Oval 111">
              <a:extLst>
                <a:ext uri="{FF2B5EF4-FFF2-40B4-BE49-F238E27FC236}">
                  <a16:creationId xmlns:a16="http://schemas.microsoft.com/office/drawing/2014/main" id="{0112885D-83B5-8CF1-0FB7-E594D69DBF77}"/>
                </a:ext>
              </a:extLst>
            </p:cNvPr>
            <p:cNvSpPr>
              <a:spLocks noChangeAspect="1" noChangeArrowheads="1"/>
            </p:cNvSpPr>
            <p:nvPr/>
          </p:nvSpPr>
          <p:spPr bwMode="auto">
            <a:xfrm>
              <a:off x="3543011" y="2859124"/>
              <a:ext cx="304800" cy="3048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b="1"/>
            </a:p>
          </p:txBody>
        </p:sp>
        <p:grpSp>
          <p:nvGrpSpPr>
            <p:cNvPr id="1035" name="Group 117">
              <a:extLst>
                <a:ext uri="{FF2B5EF4-FFF2-40B4-BE49-F238E27FC236}">
                  <a16:creationId xmlns:a16="http://schemas.microsoft.com/office/drawing/2014/main" id="{B7F2E93F-CECF-AAA7-CCE1-FC2908C49634}"/>
                </a:ext>
              </a:extLst>
            </p:cNvPr>
            <p:cNvGrpSpPr>
              <a:grpSpLocks noChangeAspect="1"/>
            </p:cNvGrpSpPr>
            <p:nvPr/>
          </p:nvGrpSpPr>
          <p:grpSpPr bwMode="auto">
            <a:xfrm>
              <a:off x="3619211" y="2935324"/>
              <a:ext cx="152400" cy="152400"/>
              <a:chOff x="2929" y="3217"/>
              <a:chExt cx="383" cy="191"/>
            </a:xfrm>
          </p:grpSpPr>
          <p:sp>
            <p:nvSpPr>
              <p:cNvPr id="1036" name="Arc 118">
                <a:extLst>
                  <a:ext uri="{FF2B5EF4-FFF2-40B4-BE49-F238E27FC236}">
                    <a16:creationId xmlns:a16="http://schemas.microsoft.com/office/drawing/2014/main" id="{FB9772C4-B48D-7E97-A34A-40BA5A4624EB}"/>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1"/>
              </a:p>
            </p:txBody>
          </p:sp>
          <p:sp>
            <p:nvSpPr>
              <p:cNvPr id="1037" name="Arc 119">
                <a:extLst>
                  <a:ext uri="{FF2B5EF4-FFF2-40B4-BE49-F238E27FC236}">
                    <a16:creationId xmlns:a16="http://schemas.microsoft.com/office/drawing/2014/main" id="{E6B54193-43E8-AF3C-9878-D91BED9427E7}"/>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1"/>
              </a:p>
            </p:txBody>
          </p:sp>
        </p:grpSp>
        <p:cxnSp>
          <p:nvCxnSpPr>
            <p:cNvPr id="1039" name="Straight Connector 1038">
              <a:extLst>
                <a:ext uri="{FF2B5EF4-FFF2-40B4-BE49-F238E27FC236}">
                  <a16:creationId xmlns:a16="http://schemas.microsoft.com/office/drawing/2014/main" id="{A0448FE7-9552-5292-B7DB-CD3144C62F96}"/>
                </a:ext>
              </a:extLst>
            </p:cNvPr>
            <p:cNvCxnSpPr/>
            <p:nvPr/>
          </p:nvCxnSpPr>
          <p:spPr>
            <a:xfrm>
              <a:off x="2727763" y="3011125"/>
              <a:ext cx="81524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0" name="Straight Connector 1039">
              <a:extLst>
                <a:ext uri="{FF2B5EF4-FFF2-40B4-BE49-F238E27FC236}">
                  <a16:creationId xmlns:a16="http://schemas.microsoft.com/office/drawing/2014/main" id="{B5456C5B-A608-4F17-8078-E5582B7D3D58}"/>
                </a:ext>
              </a:extLst>
            </p:cNvPr>
            <p:cNvCxnSpPr>
              <a:cxnSpLocks/>
            </p:cNvCxnSpPr>
            <p:nvPr/>
          </p:nvCxnSpPr>
          <p:spPr>
            <a:xfrm>
              <a:off x="2585591" y="3162087"/>
              <a:ext cx="0" cy="628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2" name="Straight Connector 1041">
              <a:extLst>
                <a:ext uri="{FF2B5EF4-FFF2-40B4-BE49-F238E27FC236}">
                  <a16:creationId xmlns:a16="http://schemas.microsoft.com/office/drawing/2014/main" id="{BB842ED9-2B12-4D6A-2E64-967B4508EA66}"/>
                </a:ext>
              </a:extLst>
            </p:cNvPr>
            <p:cNvCxnSpPr>
              <a:cxnSpLocks/>
            </p:cNvCxnSpPr>
            <p:nvPr/>
          </p:nvCxnSpPr>
          <p:spPr>
            <a:xfrm>
              <a:off x="2579867" y="2230764"/>
              <a:ext cx="0" cy="628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44" name="TextBox 1043">
              <a:extLst>
                <a:ext uri="{FF2B5EF4-FFF2-40B4-BE49-F238E27FC236}">
                  <a16:creationId xmlns:a16="http://schemas.microsoft.com/office/drawing/2014/main" id="{B60F72E6-D5AE-D8E9-5CD1-5E4F8B1D1C41}"/>
                </a:ext>
              </a:extLst>
            </p:cNvPr>
            <p:cNvSpPr txBox="1"/>
            <p:nvPr/>
          </p:nvSpPr>
          <p:spPr>
            <a:xfrm>
              <a:off x="2422769" y="2776250"/>
              <a:ext cx="424366" cy="461665"/>
            </a:xfrm>
            <a:prstGeom prst="rect">
              <a:avLst/>
            </a:prstGeom>
            <a:noFill/>
          </p:spPr>
          <p:txBody>
            <a:bodyPr wrap="square" rtlCol="0">
              <a:spAutoFit/>
            </a:bodyPr>
            <a:lstStyle/>
            <a:p>
              <a:r>
                <a:rPr lang="en-US" sz="2400" dirty="0"/>
                <a:t>+</a:t>
              </a:r>
              <a:endParaRPr lang="en-US" dirty="0"/>
            </a:p>
          </p:txBody>
        </p:sp>
        <p:sp>
          <p:nvSpPr>
            <p:cNvPr id="1045" name="Oval 111">
              <a:extLst>
                <a:ext uri="{FF2B5EF4-FFF2-40B4-BE49-F238E27FC236}">
                  <a16:creationId xmlns:a16="http://schemas.microsoft.com/office/drawing/2014/main" id="{2C5B170D-517D-6757-3E22-7DC2762A1D80}"/>
                </a:ext>
              </a:extLst>
            </p:cNvPr>
            <p:cNvSpPr>
              <a:spLocks noChangeAspect="1" noChangeArrowheads="1"/>
            </p:cNvSpPr>
            <p:nvPr/>
          </p:nvSpPr>
          <p:spPr bwMode="auto">
            <a:xfrm>
              <a:off x="2428473" y="2857287"/>
              <a:ext cx="304800" cy="3048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b="1"/>
            </a:p>
          </p:txBody>
        </p:sp>
        <p:sp>
          <p:nvSpPr>
            <p:cNvPr id="1047" name="Rectangle 1046">
              <a:extLst>
                <a:ext uri="{FF2B5EF4-FFF2-40B4-BE49-F238E27FC236}">
                  <a16:creationId xmlns:a16="http://schemas.microsoft.com/office/drawing/2014/main" id="{9542F79E-29DA-40FF-1164-EB9689823DCD}"/>
                </a:ext>
              </a:extLst>
            </p:cNvPr>
            <p:cNvSpPr/>
            <p:nvPr/>
          </p:nvSpPr>
          <p:spPr>
            <a:xfrm>
              <a:off x="2278121" y="3768809"/>
              <a:ext cx="555135" cy="461666"/>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 name="TextBox 1047">
              <a:extLst>
                <a:ext uri="{FF2B5EF4-FFF2-40B4-BE49-F238E27FC236}">
                  <a16:creationId xmlns:a16="http://schemas.microsoft.com/office/drawing/2014/main" id="{F8D9F891-C5F1-B1B0-8D8F-80EA80DE43A4}"/>
                </a:ext>
              </a:extLst>
            </p:cNvPr>
            <p:cNvSpPr txBox="1"/>
            <p:nvPr/>
          </p:nvSpPr>
          <p:spPr>
            <a:xfrm>
              <a:off x="2322188" y="3810723"/>
              <a:ext cx="555134" cy="369332"/>
            </a:xfrm>
            <a:prstGeom prst="rect">
              <a:avLst/>
            </a:prstGeom>
            <a:noFill/>
          </p:spPr>
          <p:txBody>
            <a:bodyPr wrap="square" rtlCol="0">
              <a:spAutoFit/>
            </a:bodyPr>
            <a:lstStyle/>
            <a:p>
              <a:r>
                <a:rPr lang="en-US" dirty="0"/>
                <a:t>90</a:t>
              </a:r>
              <a:r>
                <a:rPr lang="en-US" baseline="30000" dirty="0"/>
                <a:t>o</a:t>
              </a:r>
            </a:p>
          </p:txBody>
        </p:sp>
        <mc:AlternateContent xmlns:mc="http://schemas.openxmlformats.org/markup-compatibility/2006" xmlns:a14="http://schemas.microsoft.com/office/drawing/2010/main">
          <mc:Choice Requires="a14">
            <p:sp>
              <p:nvSpPr>
                <p:cNvPr id="1049" name="TextBox 1048">
                  <a:extLst>
                    <a:ext uri="{FF2B5EF4-FFF2-40B4-BE49-F238E27FC236}">
                      <a16:creationId xmlns:a16="http://schemas.microsoft.com/office/drawing/2014/main" id="{10492302-A95F-9E68-A8BD-92B313133BDD}"/>
                    </a:ext>
                  </a:extLst>
                </p:cNvPr>
                <p:cNvSpPr txBox="1"/>
                <p:nvPr/>
              </p:nvSpPr>
              <p:spPr>
                <a:xfrm>
                  <a:off x="2305879" y="4723492"/>
                  <a:ext cx="424366" cy="461665"/>
                </a:xfrm>
                <a:prstGeom prst="rect">
                  <a:avLst/>
                </a:prstGeom>
                <a:noFill/>
              </p:spPr>
              <p:txBody>
                <a:bodyPr wrap="square" rtlCol="0">
                  <a:spAutoFit/>
                </a:bodyPr>
                <a:lstStyle/>
                <a:p>
                  <a:pPr/>
                  <a14:m>
                    <m:oMathPara xmlns:m="http://schemas.openxmlformats.org/officeDocument/2006/math">
                      <m:oMath>
                        <m:r>
                          <a:rPr lang="en-US" sz="240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049" name="TextBox 1048">
                  <a:extLst>
                    <a:ext uri="{FF2B5EF4-FFF2-40B4-BE49-F238E27FC236}">
                      <a16:creationId xmlns:a16="http://schemas.microsoft.com/office/drawing/2014/main" id="{10492302-A95F-9E68-A8BD-92B313133BDD}"/>
                    </a:ext>
                  </a:extLst>
                </p:cNvPr>
                <p:cNvSpPr txBox="1">
                  <a:spLocks noRot="1" noChangeAspect="1" noMove="1" noResize="1" noEditPoints="1" noAdjustHandles="1" noChangeArrowheads="1" noChangeShapeType="1" noTextEdit="1"/>
                </p:cNvSpPr>
                <p:nvPr/>
              </p:nvSpPr>
              <p:spPr>
                <a:xfrm>
                  <a:off x="2305879" y="4723492"/>
                  <a:ext cx="424366" cy="461665"/>
                </a:xfrm>
                <a:prstGeom prst="rect">
                  <a:avLst/>
                </a:prstGeom>
                <a:blipFill>
                  <a:blip r:embed="rId4"/>
                  <a:stretch>
                    <a:fillRect l="-5714" r="-8571" b="-2703"/>
                  </a:stretch>
                </a:blipFill>
              </p:spPr>
              <p:txBody>
                <a:bodyPr/>
                <a:lstStyle/>
                <a:p>
                  <a:r>
                    <a:rPr lang="en-US">
                      <a:noFill/>
                    </a:rPr>
                    <a:t> </a:t>
                  </a:r>
                </a:p>
              </p:txBody>
            </p:sp>
          </mc:Fallback>
        </mc:AlternateContent>
        <p:cxnSp>
          <p:nvCxnSpPr>
            <p:cNvPr id="1050" name="Straight Connector 1049">
              <a:extLst>
                <a:ext uri="{FF2B5EF4-FFF2-40B4-BE49-F238E27FC236}">
                  <a16:creationId xmlns:a16="http://schemas.microsoft.com/office/drawing/2014/main" id="{60DE618E-E88B-4CDB-513D-AD0CE5FDD52A}"/>
                </a:ext>
              </a:extLst>
            </p:cNvPr>
            <p:cNvCxnSpPr>
              <a:cxnSpLocks/>
            </p:cNvCxnSpPr>
            <p:nvPr/>
          </p:nvCxnSpPr>
          <p:spPr>
            <a:xfrm flipH="1">
              <a:off x="1504100" y="2120939"/>
              <a:ext cx="96273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1" name="Straight Connector 1050">
              <a:extLst>
                <a:ext uri="{FF2B5EF4-FFF2-40B4-BE49-F238E27FC236}">
                  <a16:creationId xmlns:a16="http://schemas.microsoft.com/office/drawing/2014/main" id="{09BA5FD7-6272-00B1-3173-75C1CABBA9EC}"/>
                </a:ext>
              </a:extLst>
            </p:cNvPr>
            <p:cNvCxnSpPr>
              <a:cxnSpLocks/>
            </p:cNvCxnSpPr>
            <p:nvPr/>
          </p:nvCxnSpPr>
          <p:spPr>
            <a:xfrm>
              <a:off x="2524812" y="4230475"/>
              <a:ext cx="0" cy="628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53" name="TextBox 1052">
              <a:extLst>
                <a:ext uri="{FF2B5EF4-FFF2-40B4-BE49-F238E27FC236}">
                  <a16:creationId xmlns:a16="http://schemas.microsoft.com/office/drawing/2014/main" id="{D0243A47-A48A-451E-515C-4A927C3E1FC1}"/>
                </a:ext>
              </a:extLst>
            </p:cNvPr>
            <p:cNvSpPr txBox="1"/>
            <p:nvPr/>
          </p:nvSpPr>
          <p:spPr>
            <a:xfrm>
              <a:off x="913460" y="1927945"/>
              <a:ext cx="705077" cy="369332"/>
            </a:xfrm>
            <a:prstGeom prst="rect">
              <a:avLst/>
            </a:prstGeom>
            <a:noFill/>
          </p:spPr>
          <p:txBody>
            <a:bodyPr wrap="square" rtlCol="0">
              <a:spAutoFit/>
            </a:bodyPr>
            <a:lstStyle/>
            <a:p>
              <a:r>
                <a:rPr lang="en-US" dirty="0"/>
                <a:t>m</a:t>
              </a:r>
              <a:r>
                <a:rPr lang="en-US" baseline="-25000" dirty="0"/>
                <a:t>1</a:t>
              </a:r>
              <a:r>
                <a:rPr lang="en-US" dirty="0"/>
                <a:t>(t)</a:t>
              </a:r>
            </a:p>
          </p:txBody>
        </p:sp>
        <p:cxnSp>
          <p:nvCxnSpPr>
            <p:cNvPr id="1054" name="Straight Connector 1053">
              <a:extLst>
                <a:ext uri="{FF2B5EF4-FFF2-40B4-BE49-F238E27FC236}">
                  <a16:creationId xmlns:a16="http://schemas.microsoft.com/office/drawing/2014/main" id="{3845FBD4-37CB-E855-8197-D42590F0F7E0}"/>
                </a:ext>
              </a:extLst>
            </p:cNvPr>
            <p:cNvCxnSpPr>
              <a:cxnSpLocks/>
            </p:cNvCxnSpPr>
            <p:nvPr/>
          </p:nvCxnSpPr>
          <p:spPr>
            <a:xfrm flipH="1">
              <a:off x="1458192" y="4972473"/>
              <a:ext cx="96273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55" name="TextBox 1054">
              <a:extLst>
                <a:ext uri="{FF2B5EF4-FFF2-40B4-BE49-F238E27FC236}">
                  <a16:creationId xmlns:a16="http://schemas.microsoft.com/office/drawing/2014/main" id="{D588A00E-3861-262F-FB03-7C5B8C1A704C}"/>
                </a:ext>
              </a:extLst>
            </p:cNvPr>
            <p:cNvSpPr txBox="1"/>
            <p:nvPr/>
          </p:nvSpPr>
          <p:spPr>
            <a:xfrm>
              <a:off x="867552" y="4779479"/>
              <a:ext cx="705077" cy="369332"/>
            </a:xfrm>
            <a:prstGeom prst="rect">
              <a:avLst/>
            </a:prstGeom>
            <a:noFill/>
          </p:spPr>
          <p:txBody>
            <a:bodyPr wrap="square" rtlCol="0">
              <a:spAutoFit/>
            </a:bodyPr>
            <a:lstStyle/>
            <a:p>
              <a:r>
                <a:rPr lang="en-US" dirty="0"/>
                <a:t>m</a:t>
              </a:r>
              <a:r>
                <a:rPr lang="en-US" baseline="-25000" dirty="0"/>
                <a:t>2</a:t>
              </a:r>
              <a:r>
                <a:rPr lang="en-US" dirty="0"/>
                <a:t>(t)</a:t>
              </a:r>
            </a:p>
          </p:txBody>
        </p:sp>
        <mc:AlternateContent xmlns:mc="http://schemas.openxmlformats.org/markup-compatibility/2006" xmlns:a14="http://schemas.microsoft.com/office/drawing/2010/main">
          <mc:Choice Requires="a14">
            <p:sp>
              <p:nvSpPr>
                <p:cNvPr id="1056" name="TextBox 1055">
                  <a:extLst>
                    <a:ext uri="{FF2B5EF4-FFF2-40B4-BE49-F238E27FC236}">
                      <a16:creationId xmlns:a16="http://schemas.microsoft.com/office/drawing/2014/main" id="{3B25AF32-DDC9-3F68-CB7F-BFE6D9ED8293}"/>
                    </a:ext>
                  </a:extLst>
                </p:cNvPr>
                <p:cNvSpPr txBox="1"/>
                <p:nvPr/>
              </p:nvSpPr>
              <p:spPr>
                <a:xfrm>
                  <a:off x="2792050" y="3194821"/>
                  <a:ext cx="1696598" cy="369332"/>
                </a:xfrm>
                <a:prstGeom prst="rect">
                  <a:avLst/>
                </a:prstGeom>
                <a:noFill/>
              </p:spPr>
              <p:txBody>
                <a:bodyPr wrap="square" rtlCol="0">
                  <a:spAutoFit/>
                </a:bodyPr>
                <a:lstStyle/>
                <a:p>
                  <a:pPr/>
                  <a14:m>
                    <m:oMathPara xmlns:m="http://schemas.openxmlformats.org/officeDocument/2006/math">
                      <m:oMath>
                        <m:r>
                          <m:rPr>
                            <m:sty m:val="p"/>
                          </m:rPr>
                          <a:rPr lang="en-US" b="0" i="0" smtClean="0">
                            <a:latin typeface="Cambria Math" panose="02040503050406030204" pitchFamily="18" charset="0"/>
                          </a:rPr>
                          <m:t>cos</m:t>
                        </m:r>
                        <m:r>
                          <a:rPr lang="en-US" b="0" i="1" smtClean="0">
                            <a:latin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𝑐</m:t>
                            </m:r>
                          </m:sub>
                        </m:sSub>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a:p>
              </p:txBody>
            </p:sp>
          </mc:Choice>
          <mc:Fallback xmlns="">
            <p:sp>
              <p:nvSpPr>
                <p:cNvPr id="1056" name="TextBox 1055">
                  <a:extLst>
                    <a:ext uri="{FF2B5EF4-FFF2-40B4-BE49-F238E27FC236}">
                      <a16:creationId xmlns:a16="http://schemas.microsoft.com/office/drawing/2014/main" id="{3B25AF32-DDC9-3F68-CB7F-BFE6D9ED8293}"/>
                    </a:ext>
                  </a:extLst>
                </p:cNvPr>
                <p:cNvSpPr txBox="1">
                  <a:spLocks noRot="1" noChangeAspect="1" noMove="1" noResize="1" noEditPoints="1" noAdjustHandles="1" noChangeArrowheads="1" noChangeShapeType="1" noTextEdit="1"/>
                </p:cNvSpPr>
                <p:nvPr/>
              </p:nvSpPr>
              <p:spPr>
                <a:xfrm>
                  <a:off x="2792050" y="3194821"/>
                  <a:ext cx="1696598" cy="369332"/>
                </a:xfrm>
                <a:prstGeom prst="rect">
                  <a:avLst/>
                </a:prstGeom>
                <a:blipFill>
                  <a:blip r:embed="rId5"/>
                  <a:stretch>
                    <a:fillRect b="-16667"/>
                  </a:stretch>
                </a:blipFill>
              </p:spPr>
              <p:txBody>
                <a:bodyPr/>
                <a:lstStyle/>
                <a:p>
                  <a:r>
                    <a:rPr lang="en-US">
                      <a:noFill/>
                    </a:rPr>
                    <a:t> </a:t>
                  </a:r>
                </a:p>
              </p:txBody>
            </p:sp>
          </mc:Fallback>
        </mc:AlternateContent>
        <p:sp>
          <p:nvSpPr>
            <p:cNvPr id="1057" name="TextBox 1056">
              <a:extLst>
                <a:ext uri="{FF2B5EF4-FFF2-40B4-BE49-F238E27FC236}">
                  <a16:creationId xmlns:a16="http://schemas.microsoft.com/office/drawing/2014/main" id="{92070637-072D-6B1F-C254-590D6EBD3339}"/>
                </a:ext>
              </a:extLst>
            </p:cNvPr>
            <p:cNvSpPr txBox="1"/>
            <p:nvPr/>
          </p:nvSpPr>
          <p:spPr>
            <a:xfrm>
              <a:off x="4756509" y="3292211"/>
              <a:ext cx="424366" cy="461665"/>
            </a:xfrm>
            <a:prstGeom prst="rect">
              <a:avLst/>
            </a:prstGeom>
            <a:noFill/>
          </p:spPr>
          <p:txBody>
            <a:bodyPr wrap="square" rtlCol="0">
              <a:spAutoFit/>
            </a:bodyPr>
            <a:lstStyle/>
            <a:p>
              <a:r>
                <a:rPr lang="en-US" sz="2400" dirty="0"/>
                <a:t>+</a:t>
              </a:r>
              <a:endParaRPr lang="en-US" dirty="0"/>
            </a:p>
          </p:txBody>
        </p:sp>
        <p:sp>
          <p:nvSpPr>
            <p:cNvPr id="1058" name="Oval 111">
              <a:extLst>
                <a:ext uri="{FF2B5EF4-FFF2-40B4-BE49-F238E27FC236}">
                  <a16:creationId xmlns:a16="http://schemas.microsoft.com/office/drawing/2014/main" id="{AA3C7E0D-0DA4-0D01-8954-6E4091162D8F}"/>
                </a:ext>
              </a:extLst>
            </p:cNvPr>
            <p:cNvSpPr>
              <a:spLocks noChangeAspect="1" noChangeArrowheads="1"/>
            </p:cNvSpPr>
            <p:nvPr/>
          </p:nvSpPr>
          <p:spPr bwMode="auto">
            <a:xfrm>
              <a:off x="4762213" y="3373248"/>
              <a:ext cx="304800" cy="3048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b="1"/>
            </a:p>
          </p:txBody>
        </p:sp>
        <p:cxnSp>
          <p:nvCxnSpPr>
            <p:cNvPr id="1059" name="Straight Connector 1058">
              <a:extLst>
                <a:ext uri="{FF2B5EF4-FFF2-40B4-BE49-F238E27FC236}">
                  <a16:creationId xmlns:a16="http://schemas.microsoft.com/office/drawing/2014/main" id="{BA1E2BDE-A953-1132-AA05-D5EDB71E5E94}"/>
                </a:ext>
              </a:extLst>
            </p:cNvPr>
            <p:cNvCxnSpPr>
              <a:cxnSpLocks/>
            </p:cNvCxnSpPr>
            <p:nvPr/>
          </p:nvCxnSpPr>
          <p:spPr>
            <a:xfrm flipH="1">
              <a:off x="2677614" y="2120939"/>
              <a:ext cx="224333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1" name="Straight Connector 1060">
              <a:extLst>
                <a:ext uri="{FF2B5EF4-FFF2-40B4-BE49-F238E27FC236}">
                  <a16:creationId xmlns:a16="http://schemas.microsoft.com/office/drawing/2014/main" id="{B1CC986D-B6AF-8594-E4F3-1BBA76345D5C}"/>
                </a:ext>
              </a:extLst>
            </p:cNvPr>
            <p:cNvCxnSpPr>
              <a:cxnSpLocks/>
            </p:cNvCxnSpPr>
            <p:nvPr/>
          </p:nvCxnSpPr>
          <p:spPr>
            <a:xfrm flipH="1">
              <a:off x="2634952" y="4972473"/>
              <a:ext cx="228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2" name="Straight Connector 1061">
              <a:extLst>
                <a:ext uri="{FF2B5EF4-FFF2-40B4-BE49-F238E27FC236}">
                  <a16:creationId xmlns:a16="http://schemas.microsoft.com/office/drawing/2014/main" id="{235C1EEF-2CF1-4B44-AEA2-0966C57BB5F8}"/>
                </a:ext>
              </a:extLst>
            </p:cNvPr>
            <p:cNvCxnSpPr>
              <a:cxnSpLocks/>
            </p:cNvCxnSpPr>
            <p:nvPr/>
          </p:nvCxnSpPr>
          <p:spPr>
            <a:xfrm>
              <a:off x="4919330" y="2112611"/>
              <a:ext cx="0" cy="126687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5" name="Straight Connector 1064">
              <a:extLst>
                <a:ext uri="{FF2B5EF4-FFF2-40B4-BE49-F238E27FC236}">
                  <a16:creationId xmlns:a16="http://schemas.microsoft.com/office/drawing/2014/main" id="{63D2B468-551C-8E4A-5299-FCB8C17D803D}"/>
                </a:ext>
              </a:extLst>
            </p:cNvPr>
            <p:cNvCxnSpPr>
              <a:cxnSpLocks/>
            </p:cNvCxnSpPr>
            <p:nvPr/>
          </p:nvCxnSpPr>
          <p:spPr>
            <a:xfrm>
              <a:off x="4913987" y="3687774"/>
              <a:ext cx="0" cy="12967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8" name="Straight Connector 1067">
              <a:extLst>
                <a:ext uri="{FF2B5EF4-FFF2-40B4-BE49-F238E27FC236}">
                  <a16:creationId xmlns:a16="http://schemas.microsoft.com/office/drawing/2014/main" id="{12FE7951-8B46-09B1-8EC1-D5F2B0B2B481}"/>
                </a:ext>
              </a:extLst>
            </p:cNvPr>
            <p:cNvCxnSpPr>
              <a:cxnSpLocks/>
            </p:cNvCxnSpPr>
            <p:nvPr/>
          </p:nvCxnSpPr>
          <p:spPr>
            <a:xfrm>
              <a:off x="5067013" y="3543803"/>
              <a:ext cx="50658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70" name="TextBox 1069">
                  <a:extLst>
                    <a:ext uri="{FF2B5EF4-FFF2-40B4-BE49-F238E27FC236}">
                      <a16:creationId xmlns:a16="http://schemas.microsoft.com/office/drawing/2014/main" id="{26C42F67-7F89-DDB6-F2BC-59F8300AF87F}"/>
                    </a:ext>
                  </a:extLst>
                </p:cNvPr>
                <p:cNvSpPr txBox="1"/>
                <p:nvPr/>
              </p:nvSpPr>
              <p:spPr>
                <a:xfrm>
                  <a:off x="5030203" y="3664269"/>
                  <a:ext cx="694063" cy="369332"/>
                </a:xfrm>
                <a:prstGeom prst="rect">
                  <a:avLst/>
                </a:prstGeom>
                <a:noFill/>
              </p:spPr>
              <p:txBody>
                <a:bodyPr wrap="square" rtlCol="0">
                  <a:spAutoFit/>
                </a:bodyPr>
                <a:lstStyle/>
                <a:p>
                  <a:pPr/>
                  <a14:m>
                    <m:oMathPara xmlns:m="http://schemas.openxmlformats.org/officeDocument/2006/math">
                      <m:oMath>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a:p>
              </p:txBody>
            </p:sp>
          </mc:Choice>
          <mc:Fallback xmlns="">
            <p:sp>
              <p:nvSpPr>
                <p:cNvPr id="1070" name="TextBox 1069">
                  <a:extLst>
                    <a:ext uri="{FF2B5EF4-FFF2-40B4-BE49-F238E27FC236}">
                      <a16:creationId xmlns:a16="http://schemas.microsoft.com/office/drawing/2014/main" id="{26C42F67-7F89-DDB6-F2BC-59F8300AF87F}"/>
                    </a:ext>
                  </a:extLst>
                </p:cNvPr>
                <p:cNvSpPr txBox="1">
                  <a:spLocks noRot="1" noChangeAspect="1" noMove="1" noResize="1" noEditPoints="1" noAdjustHandles="1" noChangeArrowheads="1" noChangeShapeType="1" noTextEdit="1"/>
                </p:cNvSpPr>
                <p:nvPr/>
              </p:nvSpPr>
              <p:spPr>
                <a:xfrm>
                  <a:off x="5030203" y="3664269"/>
                  <a:ext cx="694063" cy="369332"/>
                </a:xfrm>
                <a:prstGeom prst="rect">
                  <a:avLst/>
                </a:prstGeom>
                <a:blipFill>
                  <a:blip r:embed="rId6"/>
                  <a:stretch>
                    <a:fillRect b="-16667"/>
                  </a:stretch>
                </a:blipFill>
              </p:spPr>
              <p:txBody>
                <a:bodyPr/>
                <a:lstStyle/>
                <a:p>
                  <a:r>
                    <a:rPr lang="en-US">
                      <a:noFill/>
                    </a:rPr>
                    <a:t> </a:t>
                  </a:r>
                </a:p>
              </p:txBody>
            </p:sp>
          </mc:Fallback>
        </mc:AlternateContent>
      </p:grpSp>
      <p:grpSp>
        <p:nvGrpSpPr>
          <p:cNvPr id="2" name="Group 1">
            <a:extLst>
              <a:ext uri="{FF2B5EF4-FFF2-40B4-BE49-F238E27FC236}">
                <a16:creationId xmlns:a16="http://schemas.microsoft.com/office/drawing/2014/main" id="{DC5C1F57-87E0-9FA3-AF7E-38C953EA5A92}"/>
              </a:ext>
            </a:extLst>
          </p:cNvPr>
          <p:cNvGrpSpPr/>
          <p:nvPr/>
        </p:nvGrpSpPr>
        <p:grpSpPr>
          <a:xfrm>
            <a:off x="5930809" y="1725822"/>
            <a:ext cx="5576947" cy="3487161"/>
            <a:chOff x="5930809" y="1725822"/>
            <a:chExt cx="5576947" cy="3487161"/>
          </a:xfrm>
        </p:grpSpPr>
        <mc:AlternateContent xmlns:mc="http://schemas.openxmlformats.org/markup-compatibility/2006" xmlns:a14="http://schemas.microsoft.com/office/drawing/2010/main">
          <mc:Choice Requires="a14">
            <p:sp>
              <p:nvSpPr>
                <p:cNvPr id="1072" name="TextBox 1071">
                  <a:extLst>
                    <a:ext uri="{FF2B5EF4-FFF2-40B4-BE49-F238E27FC236}">
                      <a16:creationId xmlns:a16="http://schemas.microsoft.com/office/drawing/2014/main" id="{92984B43-3963-FBAB-9B2E-D908F1440345}"/>
                    </a:ext>
                  </a:extLst>
                </p:cNvPr>
                <p:cNvSpPr txBox="1"/>
                <p:nvPr/>
              </p:nvSpPr>
              <p:spPr>
                <a:xfrm>
                  <a:off x="7247637" y="1894901"/>
                  <a:ext cx="424366" cy="461665"/>
                </a:xfrm>
                <a:prstGeom prst="rect">
                  <a:avLst/>
                </a:prstGeom>
                <a:noFill/>
              </p:spPr>
              <p:txBody>
                <a:bodyPr wrap="square" rtlCol="0">
                  <a:spAutoFit/>
                </a:bodyPr>
                <a:lstStyle/>
                <a:p>
                  <a:pPr/>
                  <a14:m>
                    <m:oMathPara xmlns:m="http://schemas.openxmlformats.org/officeDocument/2006/math">
                      <m:oMath>
                        <m:r>
                          <a:rPr lang="en-US" sz="240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072" name="TextBox 1071">
                  <a:extLst>
                    <a:ext uri="{FF2B5EF4-FFF2-40B4-BE49-F238E27FC236}">
                      <a16:creationId xmlns:a16="http://schemas.microsoft.com/office/drawing/2014/main" id="{92984B43-3963-FBAB-9B2E-D908F1440345}"/>
                    </a:ext>
                  </a:extLst>
                </p:cNvPr>
                <p:cNvSpPr txBox="1">
                  <a:spLocks noRot="1" noChangeAspect="1" noMove="1" noResize="1" noEditPoints="1" noAdjustHandles="1" noChangeArrowheads="1" noChangeShapeType="1" noTextEdit="1"/>
                </p:cNvSpPr>
                <p:nvPr/>
              </p:nvSpPr>
              <p:spPr>
                <a:xfrm>
                  <a:off x="7247637" y="1894901"/>
                  <a:ext cx="424366" cy="461665"/>
                </a:xfrm>
                <a:prstGeom prst="rect">
                  <a:avLst/>
                </a:prstGeom>
                <a:blipFill>
                  <a:blip r:embed="rId7"/>
                  <a:stretch>
                    <a:fillRect l="-5714" r="-11429" b="-5405"/>
                  </a:stretch>
                </a:blipFill>
              </p:spPr>
              <p:txBody>
                <a:bodyPr/>
                <a:lstStyle/>
                <a:p>
                  <a:r>
                    <a:rPr lang="en-US">
                      <a:noFill/>
                    </a:rPr>
                    <a:t> </a:t>
                  </a:r>
                </a:p>
              </p:txBody>
            </p:sp>
          </mc:Fallback>
        </mc:AlternateContent>
        <p:sp>
          <p:nvSpPr>
            <p:cNvPr id="1073" name="Oval 111">
              <a:extLst>
                <a:ext uri="{FF2B5EF4-FFF2-40B4-BE49-F238E27FC236}">
                  <a16:creationId xmlns:a16="http://schemas.microsoft.com/office/drawing/2014/main" id="{E3E583C7-C9F2-2596-637F-0AD0A932DF6B}"/>
                </a:ext>
              </a:extLst>
            </p:cNvPr>
            <p:cNvSpPr>
              <a:spLocks noChangeAspect="1" noChangeArrowheads="1"/>
            </p:cNvSpPr>
            <p:nvPr/>
          </p:nvSpPr>
          <p:spPr bwMode="auto">
            <a:xfrm>
              <a:off x="8422964" y="2859124"/>
              <a:ext cx="304800" cy="3048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b="1"/>
            </a:p>
          </p:txBody>
        </p:sp>
        <p:grpSp>
          <p:nvGrpSpPr>
            <p:cNvPr id="1074" name="Group 117">
              <a:extLst>
                <a:ext uri="{FF2B5EF4-FFF2-40B4-BE49-F238E27FC236}">
                  <a16:creationId xmlns:a16="http://schemas.microsoft.com/office/drawing/2014/main" id="{B057D990-2E7D-32CA-CF20-157B661AEEBA}"/>
                </a:ext>
              </a:extLst>
            </p:cNvPr>
            <p:cNvGrpSpPr>
              <a:grpSpLocks noChangeAspect="1"/>
            </p:cNvGrpSpPr>
            <p:nvPr/>
          </p:nvGrpSpPr>
          <p:grpSpPr bwMode="auto">
            <a:xfrm>
              <a:off x="8499164" y="2935324"/>
              <a:ext cx="152400" cy="152400"/>
              <a:chOff x="2929" y="3217"/>
              <a:chExt cx="383" cy="191"/>
            </a:xfrm>
          </p:grpSpPr>
          <p:sp>
            <p:nvSpPr>
              <p:cNvPr id="1075" name="Arc 118">
                <a:extLst>
                  <a:ext uri="{FF2B5EF4-FFF2-40B4-BE49-F238E27FC236}">
                    <a16:creationId xmlns:a16="http://schemas.microsoft.com/office/drawing/2014/main" id="{A29E9E5A-0A39-F00A-9715-94CE291880C6}"/>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1"/>
              </a:p>
            </p:txBody>
          </p:sp>
          <p:sp>
            <p:nvSpPr>
              <p:cNvPr id="1076" name="Arc 119">
                <a:extLst>
                  <a:ext uri="{FF2B5EF4-FFF2-40B4-BE49-F238E27FC236}">
                    <a16:creationId xmlns:a16="http://schemas.microsoft.com/office/drawing/2014/main" id="{4C624D52-3D0C-A296-6219-BA89227F8E39}"/>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1"/>
              </a:p>
            </p:txBody>
          </p:sp>
        </p:grpSp>
        <p:cxnSp>
          <p:nvCxnSpPr>
            <p:cNvPr id="1077" name="Straight Connector 1076">
              <a:extLst>
                <a:ext uri="{FF2B5EF4-FFF2-40B4-BE49-F238E27FC236}">
                  <a16:creationId xmlns:a16="http://schemas.microsoft.com/office/drawing/2014/main" id="{CA17C7A4-4046-185F-CF91-8F159F2EBC3D}"/>
                </a:ext>
              </a:extLst>
            </p:cNvPr>
            <p:cNvCxnSpPr/>
            <p:nvPr/>
          </p:nvCxnSpPr>
          <p:spPr>
            <a:xfrm>
              <a:off x="7607716" y="3011125"/>
              <a:ext cx="81524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8" name="Straight Connector 1077">
              <a:extLst>
                <a:ext uri="{FF2B5EF4-FFF2-40B4-BE49-F238E27FC236}">
                  <a16:creationId xmlns:a16="http://schemas.microsoft.com/office/drawing/2014/main" id="{89E359CE-E16C-3425-F999-7E7AD637E2F8}"/>
                </a:ext>
              </a:extLst>
            </p:cNvPr>
            <p:cNvCxnSpPr>
              <a:cxnSpLocks/>
            </p:cNvCxnSpPr>
            <p:nvPr/>
          </p:nvCxnSpPr>
          <p:spPr>
            <a:xfrm>
              <a:off x="7465544" y="3162087"/>
              <a:ext cx="0" cy="628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9" name="Straight Connector 1078">
              <a:extLst>
                <a:ext uri="{FF2B5EF4-FFF2-40B4-BE49-F238E27FC236}">
                  <a16:creationId xmlns:a16="http://schemas.microsoft.com/office/drawing/2014/main" id="{479346AA-E984-D46A-D661-7ABA5EBA4D3E}"/>
                </a:ext>
              </a:extLst>
            </p:cNvPr>
            <p:cNvCxnSpPr>
              <a:cxnSpLocks/>
            </p:cNvCxnSpPr>
            <p:nvPr/>
          </p:nvCxnSpPr>
          <p:spPr>
            <a:xfrm>
              <a:off x="7459820" y="2230764"/>
              <a:ext cx="0" cy="628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80" name="TextBox 1079">
              <a:extLst>
                <a:ext uri="{FF2B5EF4-FFF2-40B4-BE49-F238E27FC236}">
                  <a16:creationId xmlns:a16="http://schemas.microsoft.com/office/drawing/2014/main" id="{F1390321-62C5-0AE4-BA1E-BA4EBAC146A3}"/>
                </a:ext>
              </a:extLst>
            </p:cNvPr>
            <p:cNvSpPr txBox="1"/>
            <p:nvPr/>
          </p:nvSpPr>
          <p:spPr>
            <a:xfrm>
              <a:off x="7302722" y="2776250"/>
              <a:ext cx="424366" cy="461665"/>
            </a:xfrm>
            <a:prstGeom prst="rect">
              <a:avLst/>
            </a:prstGeom>
            <a:noFill/>
          </p:spPr>
          <p:txBody>
            <a:bodyPr wrap="square" rtlCol="0">
              <a:spAutoFit/>
            </a:bodyPr>
            <a:lstStyle/>
            <a:p>
              <a:r>
                <a:rPr lang="en-US" sz="2400" dirty="0"/>
                <a:t>+</a:t>
              </a:r>
              <a:endParaRPr lang="en-US" dirty="0"/>
            </a:p>
          </p:txBody>
        </p:sp>
        <p:sp>
          <p:nvSpPr>
            <p:cNvPr id="1081" name="Oval 111">
              <a:extLst>
                <a:ext uri="{FF2B5EF4-FFF2-40B4-BE49-F238E27FC236}">
                  <a16:creationId xmlns:a16="http://schemas.microsoft.com/office/drawing/2014/main" id="{B6A1BB1F-C92B-5CDC-452F-4624F685C053}"/>
                </a:ext>
              </a:extLst>
            </p:cNvPr>
            <p:cNvSpPr>
              <a:spLocks noChangeAspect="1" noChangeArrowheads="1"/>
            </p:cNvSpPr>
            <p:nvPr/>
          </p:nvSpPr>
          <p:spPr bwMode="auto">
            <a:xfrm>
              <a:off x="7308426" y="2857287"/>
              <a:ext cx="304800" cy="3048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b="1"/>
            </a:p>
          </p:txBody>
        </p:sp>
        <p:sp>
          <p:nvSpPr>
            <p:cNvPr id="1082" name="Rectangle 1081">
              <a:extLst>
                <a:ext uri="{FF2B5EF4-FFF2-40B4-BE49-F238E27FC236}">
                  <a16:creationId xmlns:a16="http://schemas.microsoft.com/office/drawing/2014/main" id="{2126369E-BE06-2B63-D344-DA475B25E05A}"/>
                </a:ext>
              </a:extLst>
            </p:cNvPr>
            <p:cNvSpPr/>
            <p:nvPr/>
          </p:nvSpPr>
          <p:spPr>
            <a:xfrm>
              <a:off x="7158074" y="3768809"/>
              <a:ext cx="555135" cy="461666"/>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3" name="TextBox 1082">
              <a:extLst>
                <a:ext uri="{FF2B5EF4-FFF2-40B4-BE49-F238E27FC236}">
                  <a16:creationId xmlns:a16="http://schemas.microsoft.com/office/drawing/2014/main" id="{A3B13DEC-C7CB-7D7C-C495-FDFF9FF58A84}"/>
                </a:ext>
              </a:extLst>
            </p:cNvPr>
            <p:cNvSpPr txBox="1"/>
            <p:nvPr/>
          </p:nvSpPr>
          <p:spPr>
            <a:xfrm>
              <a:off x="7202141" y="3810723"/>
              <a:ext cx="555134" cy="369332"/>
            </a:xfrm>
            <a:prstGeom prst="rect">
              <a:avLst/>
            </a:prstGeom>
            <a:noFill/>
          </p:spPr>
          <p:txBody>
            <a:bodyPr wrap="square" rtlCol="0">
              <a:spAutoFit/>
            </a:bodyPr>
            <a:lstStyle/>
            <a:p>
              <a:r>
                <a:rPr lang="en-US" dirty="0"/>
                <a:t>90</a:t>
              </a:r>
              <a:r>
                <a:rPr lang="en-US" baseline="30000" dirty="0"/>
                <a:t>o</a:t>
              </a:r>
            </a:p>
          </p:txBody>
        </p:sp>
        <mc:AlternateContent xmlns:mc="http://schemas.openxmlformats.org/markup-compatibility/2006" xmlns:a14="http://schemas.microsoft.com/office/drawing/2010/main">
          <mc:Choice Requires="a14">
            <p:sp>
              <p:nvSpPr>
                <p:cNvPr id="1084" name="TextBox 1083">
                  <a:extLst>
                    <a:ext uri="{FF2B5EF4-FFF2-40B4-BE49-F238E27FC236}">
                      <a16:creationId xmlns:a16="http://schemas.microsoft.com/office/drawing/2014/main" id="{83ADFAE1-1D61-C46E-CF2B-33007E004A04}"/>
                    </a:ext>
                  </a:extLst>
                </p:cNvPr>
                <p:cNvSpPr txBox="1"/>
                <p:nvPr/>
              </p:nvSpPr>
              <p:spPr>
                <a:xfrm>
                  <a:off x="7185832" y="4723492"/>
                  <a:ext cx="424366" cy="461665"/>
                </a:xfrm>
                <a:prstGeom prst="rect">
                  <a:avLst/>
                </a:prstGeom>
                <a:noFill/>
              </p:spPr>
              <p:txBody>
                <a:bodyPr wrap="square" rtlCol="0">
                  <a:spAutoFit/>
                </a:bodyPr>
                <a:lstStyle/>
                <a:p>
                  <a:pPr/>
                  <a14:m>
                    <m:oMathPara xmlns:m="http://schemas.openxmlformats.org/officeDocument/2006/math">
                      <m:oMath>
                        <m:r>
                          <a:rPr lang="en-US" sz="240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084" name="TextBox 1083">
                  <a:extLst>
                    <a:ext uri="{FF2B5EF4-FFF2-40B4-BE49-F238E27FC236}">
                      <a16:creationId xmlns:a16="http://schemas.microsoft.com/office/drawing/2014/main" id="{83ADFAE1-1D61-C46E-CF2B-33007E004A04}"/>
                    </a:ext>
                  </a:extLst>
                </p:cNvPr>
                <p:cNvSpPr txBox="1">
                  <a:spLocks noRot="1" noChangeAspect="1" noMove="1" noResize="1" noEditPoints="1" noAdjustHandles="1" noChangeArrowheads="1" noChangeShapeType="1" noTextEdit="1"/>
                </p:cNvSpPr>
                <p:nvPr/>
              </p:nvSpPr>
              <p:spPr>
                <a:xfrm>
                  <a:off x="7185832" y="4723492"/>
                  <a:ext cx="424366" cy="461665"/>
                </a:xfrm>
                <a:prstGeom prst="rect">
                  <a:avLst/>
                </a:prstGeom>
                <a:blipFill>
                  <a:blip r:embed="rId8"/>
                  <a:stretch>
                    <a:fillRect l="-2857" r="-11429" b="-2703"/>
                  </a:stretch>
                </a:blipFill>
              </p:spPr>
              <p:txBody>
                <a:bodyPr/>
                <a:lstStyle/>
                <a:p>
                  <a:r>
                    <a:rPr lang="en-US">
                      <a:noFill/>
                    </a:rPr>
                    <a:t> </a:t>
                  </a:r>
                </a:p>
              </p:txBody>
            </p:sp>
          </mc:Fallback>
        </mc:AlternateContent>
        <p:cxnSp>
          <p:nvCxnSpPr>
            <p:cNvPr id="1085" name="Straight Connector 1084">
              <a:extLst>
                <a:ext uri="{FF2B5EF4-FFF2-40B4-BE49-F238E27FC236}">
                  <a16:creationId xmlns:a16="http://schemas.microsoft.com/office/drawing/2014/main" id="{16D85B29-B4F0-92D3-9A63-2711F14F5ED4}"/>
                </a:ext>
              </a:extLst>
            </p:cNvPr>
            <p:cNvCxnSpPr>
              <a:cxnSpLocks/>
            </p:cNvCxnSpPr>
            <p:nvPr/>
          </p:nvCxnSpPr>
          <p:spPr>
            <a:xfrm flipH="1" flipV="1">
              <a:off x="6712086" y="2120939"/>
              <a:ext cx="672866" cy="1898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6" name="Straight Connector 1085">
              <a:extLst>
                <a:ext uri="{FF2B5EF4-FFF2-40B4-BE49-F238E27FC236}">
                  <a16:creationId xmlns:a16="http://schemas.microsoft.com/office/drawing/2014/main" id="{BAB95F0A-3C70-4E68-B85D-35769E49D892}"/>
                </a:ext>
              </a:extLst>
            </p:cNvPr>
            <p:cNvCxnSpPr>
              <a:cxnSpLocks/>
            </p:cNvCxnSpPr>
            <p:nvPr/>
          </p:nvCxnSpPr>
          <p:spPr>
            <a:xfrm>
              <a:off x="7404765" y="4230475"/>
              <a:ext cx="0" cy="628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87" name="TextBox 1086">
              <a:extLst>
                <a:ext uri="{FF2B5EF4-FFF2-40B4-BE49-F238E27FC236}">
                  <a16:creationId xmlns:a16="http://schemas.microsoft.com/office/drawing/2014/main" id="{71331216-9011-1302-9E0C-643A26AC1A3B}"/>
                </a:ext>
              </a:extLst>
            </p:cNvPr>
            <p:cNvSpPr txBox="1"/>
            <p:nvPr/>
          </p:nvSpPr>
          <p:spPr>
            <a:xfrm>
              <a:off x="5930809" y="2825489"/>
              <a:ext cx="705077" cy="369332"/>
            </a:xfrm>
            <a:prstGeom prst="rect">
              <a:avLst/>
            </a:prstGeom>
            <a:noFill/>
          </p:spPr>
          <p:txBody>
            <a:bodyPr wrap="square" rtlCol="0">
              <a:spAutoFit/>
            </a:bodyPr>
            <a:lstStyle/>
            <a:p>
              <a:r>
                <a:rPr lang="en-US" dirty="0"/>
                <a:t>r(t)</a:t>
              </a:r>
            </a:p>
          </p:txBody>
        </p:sp>
        <p:cxnSp>
          <p:nvCxnSpPr>
            <p:cNvPr id="1088" name="Straight Connector 1087">
              <a:extLst>
                <a:ext uri="{FF2B5EF4-FFF2-40B4-BE49-F238E27FC236}">
                  <a16:creationId xmlns:a16="http://schemas.microsoft.com/office/drawing/2014/main" id="{1808678C-6FA2-0225-5D6A-A341B230EBA3}"/>
                </a:ext>
              </a:extLst>
            </p:cNvPr>
            <p:cNvCxnSpPr>
              <a:cxnSpLocks/>
            </p:cNvCxnSpPr>
            <p:nvPr/>
          </p:nvCxnSpPr>
          <p:spPr>
            <a:xfrm flipH="1" flipV="1">
              <a:off x="6714307" y="4964145"/>
              <a:ext cx="586573" cy="832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90" name="TextBox 1089">
                  <a:extLst>
                    <a:ext uri="{FF2B5EF4-FFF2-40B4-BE49-F238E27FC236}">
                      <a16:creationId xmlns:a16="http://schemas.microsoft.com/office/drawing/2014/main" id="{62B81F80-0138-CD3B-CA1B-A2D24338979A}"/>
                    </a:ext>
                  </a:extLst>
                </p:cNvPr>
                <p:cNvSpPr txBox="1"/>
                <p:nvPr/>
              </p:nvSpPr>
              <p:spPr>
                <a:xfrm>
                  <a:off x="7672003" y="3194821"/>
                  <a:ext cx="1696598" cy="369332"/>
                </a:xfrm>
                <a:prstGeom prst="rect">
                  <a:avLst/>
                </a:prstGeom>
                <a:noFill/>
              </p:spPr>
              <p:txBody>
                <a:bodyPr wrap="square" rtlCol="0">
                  <a:spAutoFit/>
                </a:bodyPr>
                <a:lstStyle/>
                <a:p>
                  <a:pPr/>
                  <a14:m>
                    <m:oMathPara xmlns:m="http://schemas.openxmlformats.org/officeDocument/2006/math">
                      <m:oMath>
                        <m:r>
                          <m:rPr>
                            <m:sty m:val="p"/>
                          </m:rPr>
                          <a:rPr lang="en-US" b="0" i="0" smtClean="0">
                            <a:latin typeface="Cambria Math" panose="02040503050406030204" pitchFamily="18" charset="0"/>
                          </a:rPr>
                          <m:t>cos</m:t>
                        </m:r>
                        <m:r>
                          <a:rPr lang="en-US" b="0" i="1" smtClean="0">
                            <a:latin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𝑐</m:t>
                            </m:r>
                          </m:sub>
                        </m:s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rPr>
                          <m:t>)</m:t>
                        </m:r>
                      </m:oMath>
                    </m:oMathPara>
                  </a14:m>
                  <a:endParaRPr lang="en-US" dirty="0"/>
                </a:p>
              </p:txBody>
            </p:sp>
          </mc:Choice>
          <mc:Fallback xmlns="">
            <p:sp>
              <p:nvSpPr>
                <p:cNvPr id="1090" name="TextBox 1089">
                  <a:extLst>
                    <a:ext uri="{FF2B5EF4-FFF2-40B4-BE49-F238E27FC236}">
                      <a16:creationId xmlns:a16="http://schemas.microsoft.com/office/drawing/2014/main" id="{62B81F80-0138-CD3B-CA1B-A2D24338979A}"/>
                    </a:ext>
                  </a:extLst>
                </p:cNvPr>
                <p:cNvSpPr txBox="1">
                  <a:spLocks noRot="1" noChangeAspect="1" noMove="1" noResize="1" noEditPoints="1" noAdjustHandles="1" noChangeArrowheads="1" noChangeShapeType="1" noTextEdit="1"/>
                </p:cNvSpPr>
                <p:nvPr/>
              </p:nvSpPr>
              <p:spPr>
                <a:xfrm>
                  <a:off x="7672003" y="3194821"/>
                  <a:ext cx="1696598" cy="369332"/>
                </a:xfrm>
                <a:prstGeom prst="rect">
                  <a:avLst/>
                </a:prstGeom>
                <a:blipFill>
                  <a:blip r:embed="rId9"/>
                  <a:stretch>
                    <a:fillRect b="-16667"/>
                  </a:stretch>
                </a:blipFill>
              </p:spPr>
              <p:txBody>
                <a:bodyPr/>
                <a:lstStyle/>
                <a:p>
                  <a:r>
                    <a:rPr lang="en-US">
                      <a:noFill/>
                    </a:rPr>
                    <a:t> </a:t>
                  </a:r>
                </a:p>
              </p:txBody>
            </p:sp>
          </mc:Fallback>
        </mc:AlternateContent>
        <p:cxnSp>
          <p:nvCxnSpPr>
            <p:cNvPr id="1093" name="Straight Connector 1092">
              <a:extLst>
                <a:ext uri="{FF2B5EF4-FFF2-40B4-BE49-F238E27FC236}">
                  <a16:creationId xmlns:a16="http://schemas.microsoft.com/office/drawing/2014/main" id="{2B25DFD9-35B5-11E7-9A7F-95F05E8EAAF2}"/>
                </a:ext>
              </a:extLst>
            </p:cNvPr>
            <p:cNvCxnSpPr>
              <a:cxnSpLocks/>
            </p:cNvCxnSpPr>
            <p:nvPr/>
          </p:nvCxnSpPr>
          <p:spPr>
            <a:xfrm flipH="1" flipV="1">
              <a:off x="7557567" y="2120939"/>
              <a:ext cx="1811034" cy="1898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4" name="Straight Connector 1093">
              <a:extLst>
                <a:ext uri="{FF2B5EF4-FFF2-40B4-BE49-F238E27FC236}">
                  <a16:creationId xmlns:a16="http://schemas.microsoft.com/office/drawing/2014/main" id="{587BAB7B-428B-1BB9-FDC8-45B4EF46F24E}"/>
                </a:ext>
              </a:extLst>
            </p:cNvPr>
            <p:cNvCxnSpPr>
              <a:cxnSpLocks/>
            </p:cNvCxnSpPr>
            <p:nvPr/>
          </p:nvCxnSpPr>
          <p:spPr>
            <a:xfrm flipH="1">
              <a:off x="7514905" y="4954324"/>
              <a:ext cx="185369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0" name="Straight Connector 1099">
              <a:extLst>
                <a:ext uri="{FF2B5EF4-FFF2-40B4-BE49-F238E27FC236}">
                  <a16:creationId xmlns:a16="http://schemas.microsoft.com/office/drawing/2014/main" id="{255010C6-FCEA-56FA-FF87-3B0D4C3B5F8C}"/>
                </a:ext>
              </a:extLst>
            </p:cNvPr>
            <p:cNvCxnSpPr>
              <a:cxnSpLocks/>
            </p:cNvCxnSpPr>
            <p:nvPr/>
          </p:nvCxnSpPr>
          <p:spPr>
            <a:xfrm>
              <a:off x="6712086" y="2120939"/>
              <a:ext cx="0" cy="284786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3" name="Straight Connector 1102">
              <a:extLst>
                <a:ext uri="{FF2B5EF4-FFF2-40B4-BE49-F238E27FC236}">
                  <a16:creationId xmlns:a16="http://schemas.microsoft.com/office/drawing/2014/main" id="{47F451ED-2E63-9F24-1206-6B749C998907}"/>
                </a:ext>
              </a:extLst>
            </p:cNvPr>
            <p:cNvCxnSpPr>
              <a:cxnSpLocks/>
            </p:cNvCxnSpPr>
            <p:nvPr/>
          </p:nvCxnSpPr>
          <p:spPr>
            <a:xfrm>
              <a:off x="6205505" y="3278563"/>
              <a:ext cx="50658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04" name="TextBox 1103">
              <a:extLst>
                <a:ext uri="{FF2B5EF4-FFF2-40B4-BE49-F238E27FC236}">
                  <a16:creationId xmlns:a16="http://schemas.microsoft.com/office/drawing/2014/main" id="{2C0D4BDA-C1BD-1B9D-5458-9A13254D3535}"/>
                </a:ext>
              </a:extLst>
            </p:cNvPr>
            <p:cNvSpPr txBox="1"/>
            <p:nvPr/>
          </p:nvSpPr>
          <p:spPr>
            <a:xfrm>
              <a:off x="9431380" y="1960216"/>
              <a:ext cx="875212" cy="369332"/>
            </a:xfrm>
            <a:prstGeom prst="rect">
              <a:avLst/>
            </a:prstGeom>
            <a:noFill/>
          </p:spPr>
          <p:txBody>
            <a:bodyPr wrap="square" rtlCol="0">
              <a:spAutoFit/>
            </a:bodyPr>
            <a:lstStyle/>
            <a:p>
              <a:r>
                <a:rPr lang="en-US" dirty="0"/>
                <a:t>LPF</a:t>
              </a:r>
            </a:p>
          </p:txBody>
        </p:sp>
        <p:sp>
          <p:nvSpPr>
            <p:cNvPr id="1105" name="TextBox 1104">
              <a:extLst>
                <a:ext uri="{FF2B5EF4-FFF2-40B4-BE49-F238E27FC236}">
                  <a16:creationId xmlns:a16="http://schemas.microsoft.com/office/drawing/2014/main" id="{B0E54412-2E4B-66F3-D567-A53593152E94}"/>
                </a:ext>
              </a:extLst>
            </p:cNvPr>
            <p:cNvSpPr txBox="1"/>
            <p:nvPr/>
          </p:nvSpPr>
          <p:spPr>
            <a:xfrm>
              <a:off x="9346500" y="1867989"/>
              <a:ext cx="672710" cy="553892"/>
            </a:xfrm>
            <a:prstGeom prst="rect">
              <a:avLst/>
            </a:prstGeom>
            <a:noFill/>
            <a:ln w="25400">
              <a:solidFill>
                <a:schemeClr val="tx1"/>
              </a:solidFill>
            </a:ln>
          </p:spPr>
          <p:txBody>
            <a:bodyPr wrap="square" rtlCol="0">
              <a:spAutoFit/>
            </a:bodyPr>
            <a:lstStyle/>
            <a:p>
              <a:endParaRPr lang="en-US" dirty="0"/>
            </a:p>
          </p:txBody>
        </p:sp>
        <p:sp>
          <p:nvSpPr>
            <p:cNvPr id="1106" name="TextBox 1105">
              <a:extLst>
                <a:ext uri="{FF2B5EF4-FFF2-40B4-BE49-F238E27FC236}">
                  <a16:creationId xmlns:a16="http://schemas.microsoft.com/office/drawing/2014/main" id="{D03B4939-53F4-F7F7-E8BD-3A496C9AC7BF}"/>
                </a:ext>
              </a:extLst>
            </p:cNvPr>
            <p:cNvSpPr txBox="1"/>
            <p:nvPr/>
          </p:nvSpPr>
          <p:spPr>
            <a:xfrm>
              <a:off x="9453155" y="4751318"/>
              <a:ext cx="875212" cy="369332"/>
            </a:xfrm>
            <a:prstGeom prst="rect">
              <a:avLst/>
            </a:prstGeom>
            <a:noFill/>
          </p:spPr>
          <p:txBody>
            <a:bodyPr wrap="square" rtlCol="0">
              <a:spAutoFit/>
            </a:bodyPr>
            <a:lstStyle/>
            <a:p>
              <a:r>
                <a:rPr lang="en-US" dirty="0"/>
                <a:t>LPF</a:t>
              </a:r>
            </a:p>
          </p:txBody>
        </p:sp>
        <p:sp>
          <p:nvSpPr>
            <p:cNvPr id="1107" name="TextBox 1106">
              <a:extLst>
                <a:ext uri="{FF2B5EF4-FFF2-40B4-BE49-F238E27FC236}">
                  <a16:creationId xmlns:a16="http://schemas.microsoft.com/office/drawing/2014/main" id="{D7F6CEB4-793D-B5DA-D17A-EAE91FF5A274}"/>
                </a:ext>
              </a:extLst>
            </p:cNvPr>
            <p:cNvSpPr txBox="1"/>
            <p:nvPr/>
          </p:nvSpPr>
          <p:spPr>
            <a:xfrm>
              <a:off x="9368275" y="4659091"/>
              <a:ext cx="672710" cy="553892"/>
            </a:xfrm>
            <a:prstGeom prst="rect">
              <a:avLst/>
            </a:prstGeom>
            <a:noFill/>
            <a:ln w="25400">
              <a:solidFill>
                <a:schemeClr val="tx1"/>
              </a:solidFill>
            </a:ln>
          </p:spPr>
          <p:txBody>
            <a:bodyPr wrap="square" rtlCol="0">
              <a:spAutoFit/>
            </a:bodyPr>
            <a:lstStyle/>
            <a:p>
              <a:endParaRPr lang="en-US" dirty="0"/>
            </a:p>
          </p:txBody>
        </p:sp>
        <p:sp>
          <p:nvSpPr>
            <p:cNvPr id="1108" name="TextBox 1107">
              <a:extLst>
                <a:ext uri="{FF2B5EF4-FFF2-40B4-BE49-F238E27FC236}">
                  <a16:creationId xmlns:a16="http://schemas.microsoft.com/office/drawing/2014/main" id="{25655836-164F-140C-532E-9CAF8BD5489D}"/>
                </a:ext>
              </a:extLst>
            </p:cNvPr>
            <p:cNvSpPr txBox="1"/>
            <p:nvPr/>
          </p:nvSpPr>
          <p:spPr>
            <a:xfrm>
              <a:off x="10730061" y="1725822"/>
              <a:ext cx="705077" cy="369332"/>
            </a:xfrm>
            <a:prstGeom prst="rect">
              <a:avLst/>
            </a:prstGeom>
            <a:noFill/>
          </p:spPr>
          <p:txBody>
            <a:bodyPr wrap="square" rtlCol="0">
              <a:spAutoFit/>
            </a:bodyPr>
            <a:lstStyle/>
            <a:p>
              <a:r>
                <a:rPr lang="en-US" dirty="0"/>
                <a:t>m</a:t>
              </a:r>
              <a:r>
                <a:rPr lang="en-US" baseline="-25000" dirty="0"/>
                <a:t>1</a:t>
              </a:r>
              <a:r>
                <a:rPr lang="en-US" dirty="0"/>
                <a:t>(t)</a:t>
              </a:r>
            </a:p>
          </p:txBody>
        </p:sp>
        <p:sp>
          <p:nvSpPr>
            <p:cNvPr id="1109" name="TextBox 1108">
              <a:extLst>
                <a:ext uri="{FF2B5EF4-FFF2-40B4-BE49-F238E27FC236}">
                  <a16:creationId xmlns:a16="http://schemas.microsoft.com/office/drawing/2014/main" id="{BF19B4D5-DF6A-9B7D-DD7B-1A1E2822ED6D}"/>
                </a:ext>
              </a:extLst>
            </p:cNvPr>
            <p:cNvSpPr txBox="1"/>
            <p:nvPr/>
          </p:nvSpPr>
          <p:spPr>
            <a:xfrm>
              <a:off x="10802679" y="4491287"/>
              <a:ext cx="705077" cy="369332"/>
            </a:xfrm>
            <a:prstGeom prst="rect">
              <a:avLst/>
            </a:prstGeom>
            <a:noFill/>
          </p:spPr>
          <p:txBody>
            <a:bodyPr wrap="square" rtlCol="0">
              <a:spAutoFit/>
            </a:bodyPr>
            <a:lstStyle/>
            <a:p>
              <a:r>
                <a:rPr lang="en-US" dirty="0"/>
                <a:t>m</a:t>
              </a:r>
              <a:r>
                <a:rPr lang="en-US" baseline="-25000" dirty="0"/>
                <a:t>2</a:t>
              </a:r>
              <a:r>
                <a:rPr lang="en-US" dirty="0"/>
                <a:t>(t)</a:t>
              </a:r>
            </a:p>
          </p:txBody>
        </p:sp>
        <p:cxnSp>
          <p:nvCxnSpPr>
            <p:cNvPr id="1112" name="Straight Connector 1111">
              <a:extLst>
                <a:ext uri="{FF2B5EF4-FFF2-40B4-BE49-F238E27FC236}">
                  <a16:creationId xmlns:a16="http://schemas.microsoft.com/office/drawing/2014/main" id="{9F8EED5E-1ADD-3724-4D8B-BA4C948D7610}"/>
                </a:ext>
              </a:extLst>
            </p:cNvPr>
            <p:cNvCxnSpPr>
              <a:cxnSpLocks/>
            </p:cNvCxnSpPr>
            <p:nvPr/>
          </p:nvCxnSpPr>
          <p:spPr>
            <a:xfrm flipH="1">
              <a:off x="10019210" y="2112611"/>
              <a:ext cx="96273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3" name="Straight Connector 1112">
              <a:extLst>
                <a:ext uri="{FF2B5EF4-FFF2-40B4-BE49-F238E27FC236}">
                  <a16:creationId xmlns:a16="http://schemas.microsoft.com/office/drawing/2014/main" id="{D1E74FBF-C72A-5E73-45D4-0B5D5EE8CC37}"/>
                </a:ext>
              </a:extLst>
            </p:cNvPr>
            <p:cNvCxnSpPr>
              <a:cxnSpLocks/>
            </p:cNvCxnSpPr>
            <p:nvPr/>
          </p:nvCxnSpPr>
          <p:spPr>
            <a:xfrm flipH="1">
              <a:off x="10040985" y="4903160"/>
              <a:ext cx="96273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9226146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29" y="0"/>
            <a:ext cx="11529391" cy="769441"/>
          </a:xfrm>
          <a:prstGeom prst="rect">
            <a:avLst/>
          </a:prstGeom>
          <a:noFill/>
        </p:spPr>
        <p:txBody>
          <a:bodyPr wrap="square" rtlCol="0">
            <a:spAutoFit/>
          </a:bodyPr>
          <a:lstStyle/>
          <a:p>
            <a:pPr algn="ctr"/>
            <a:r>
              <a:rPr lang="en-US" sz="4400" dirty="0">
                <a:latin typeface="+mj-lt"/>
              </a:rPr>
              <a:t>Oscilloscopes</a:t>
            </a:r>
          </a:p>
        </p:txBody>
      </p:sp>
      <p:sp>
        <p:nvSpPr>
          <p:cNvPr id="15" name="TextBox 14">
            <a:extLst>
              <a:ext uri="{FF2B5EF4-FFF2-40B4-BE49-F238E27FC236}">
                <a16:creationId xmlns:a16="http://schemas.microsoft.com/office/drawing/2014/main" id="{34EE796B-9DCB-DE41-AEA4-31CBF97794EF}"/>
              </a:ext>
            </a:extLst>
          </p:cNvPr>
          <p:cNvSpPr txBox="1"/>
          <p:nvPr/>
        </p:nvSpPr>
        <p:spPr>
          <a:xfrm>
            <a:off x="558800" y="1105997"/>
            <a:ext cx="11633200" cy="543291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342900" lvl="0" indent="-342900">
              <a:buFont typeface="Arial" panose="020B0604020202020204" pitchFamily="34" charset="0"/>
              <a:buChar char="•"/>
            </a:pPr>
            <a:r>
              <a:rPr lang="en-US" sz="2000" dirty="0"/>
              <a:t>Measures timing characteristics and voltage characteristics</a:t>
            </a:r>
          </a:p>
          <a:p>
            <a:pPr marL="800100" lvl="1" indent="-342900">
              <a:buFont typeface="Arial" panose="020B0604020202020204" pitchFamily="34" charset="0"/>
              <a:buChar char="•"/>
            </a:pPr>
            <a:r>
              <a:rPr lang="en-US" dirty="0"/>
              <a:t>Frequency and period </a:t>
            </a:r>
          </a:p>
          <a:p>
            <a:pPr marL="800100" lvl="1" indent="-342900">
              <a:buFont typeface="Arial" panose="020B0604020202020204" pitchFamily="34" charset="0"/>
              <a:buChar char="•"/>
            </a:pPr>
            <a:r>
              <a:rPr lang="en-US" dirty="0"/>
              <a:t>Duty cycle </a:t>
            </a:r>
          </a:p>
          <a:p>
            <a:pPr marL="800100" lvl="1" indent="-342900">
              <a:buFont typeface="Arial" panose="020B0604020202020204" pitchFamily="34" charset="0"/>
              <a:buChar char="•"/>
            </a:pPr>
            <a:r>
              <a:rPr lang="en-US" dirty="0"/>
              <a:t>Rise and fall time</a:t>
            </a:r>
          </a:p>
          <a:p>
            <a:pPr marL="800100" lvl="1" indent="-342900">
              <a:buFont typeface="Arial" panose="020B0604020202020204" pitchFamily="34" charset="0"/>
              <a:buChar char="•"/>
            </a:pPr>
            <a:r>
              <a:rPr lang="en-US" dirty="0"/>
              <a:t>Amplitude </a:t>
            </a:r>
          </a:p>
          <a:p>
            <a:pPr marL="800100" lvl="1" indent="-342900">
              <a:buFont typeface="Arial" panose="020B0604020202020204" pitchFamily="34" charset="0"/>
              <a:buChar char="•"/>
            </a:pPr>
            <a:r>
              <a:rPr lang="en-US" dirty="0"/>
              <a:t>Maximum and minimum voltages </a:t>
            </a:r>
          </a:p>
          <a:p>
            <a:pPr marL="800100" lvl="1" indent="-342900">
              <a:buFont typeface="Arial" panose="020B0604020202020204" pitchFamily="34" charset="0"/>
              <a:buChar char="•"/>
            </a:pPr>
            <a:r>
              <a:rPr lang="en-US" dirty="0"/>
              <a:t>Mean and average voltages</a:t>
            </a:r>
          </a:p>
          <a:p>
            <a:pPr marL="342900" indent="-342900">
              <a:buFont typeface="Arial" panose="020B0604020202020204" pitchFamily="34" charset="0"/>
              <a:buChar char="•"/>
            </a:pPr>
            <a:r>
              <a:rPr lang="en-US" sz="2000" dirty="0"/>
              <a:t>Specs</a:t>
            </a:r>
          </a:p>
          <a:p>
            <a:pPr marL="800100" lvl="1" indent="-342900">
              <a:buFont typeface="Arial" panose="020B0604020202020204" pitchFamily="34" charset="0"/>
              <a:buChar char="•"/>
            </a:pPr>
            <a:r>
              <a:rPr lang="en-US" dirty="0"/>
              <a:t>Bandwidth – Oscilloscopes have limits as to how fast they can see a signal change. The bandwidth of a scope specifies the range of frequencies it can reliably measure.</a:t>
            </a:r>
          </a:p>
          <a:p>
            <a:pPr marL="800100" lvl="1" indent="-342900">
              <a:buFont typeface="Arial" panose="020B0604020202020204" pitchFamily="34" charset="0"/>
              <a:buChar char="•"/>
            </a:pPr>
            <a:r>
              <a:rPr lang="en-US" dirty="0"/>
              <a:t>Digital vs. Analog  </a:t>
            </a:r>
          </a:p>
          <a:p>
            <a:pPr marL="800100" lvl="1" indent="-342900">
              <a:buFont typeface="Arial" panose="020B0604020202020204" pitchFamily="34" charset="0"/>
              <a:buChar char="•"/>
            </a:pPr>
            <a:r>
              <a:rPr lang="en-US" dirty="0"/>
              <a:t>Number channels</a:t>
            </a:r>
          </a:p>
          <a:p>
            <a:pPr marL="800100" lvl="1" indent="-342900">
              <a:buFont typeface="Arial" panose="020B0604020202020204" pitchFamily="34" charset="0"/>
              <a:buChar char="•"/>
            </a:pPr>
            <a:r>
              <a:rPr lang="en-US" dirty="0"/>
              <a:t>Sampling rate</a:t>
            </a:r>
          </a:p>
          <a:p>
            <a:pPr marL="800100" lvl="1" indent="-342900">
              <a:buFont typeface="Arial" panose="020B0604020202020204" pitchFamily="34" charset="0"/>
              <a:buChar char="•"/>
            </a:pPr>
            <a:r>
              <a:rPr lang="en-US" dirty="0"/>
              <a:t>Rise time - Fastest rising pulse it can measure. Rise time = .35 / BW</a:t>
            </a:r>
          </a:p>
          <a:p>
            <a:pPr marL="800100" lvl="1" indent="-342900">
              <a:buFont typeface="Arial" panose="020B0604020202020204" pitchFamily="34" charset="0"/>
              <a:buChar char="•"/>
            </a:pPr>
            <a:r>
              <a:rPr lang="en-US" dirty="0"/>
              <a:t>Max input</a:t>
            </a:r>
          </a:p>
          <a:p>
            <a:pPr marL="800100" lvl="1" indent="-342900">
              <a:buFont typeface="Arial" panose="020B0604020202020204" pitchFamily="34" charset="0"/>
              <a:buChar char="•"/>
            </a:pPr>
            <a:r>
              <a:rPr lang="en-US" dirty="0"/>
              <a:t>Resolution</a:t>
            </a:r>
          </a:p>
          <a:p>
            <a:pPr marL="800100" lvl="1" indent="-342900">
              <a:buFont typeface="Arial" panose="020B0604020202020204" pitchFamily="34" charset="0"/>
              <a:buChar char="•"/>
            </a:pPr>
            <a:r>
              <a:rPr lang="en-US" dirty="0"/>
              <a:t>Vertical sensitivity</a:t>
            </a:r>
          </a:p>
          <a:p>
            <a:pPr marL="800100" lvl="1" indent="-342900">
              <a:buFont typeface="Arial" panose="020B0604020202020204" pitchFamily="34" charset="0"/>
              <a:buChar char="•"/>
            </a:pPr>
            <a:r>
              <a:rPr lang="en-US" dirty="0"/>
              <a:t>Time base</a:t>
            </a:r>
          </a:p>
          <a:p>
            <a:pPr marL="800100" lvl="1" indent="-342900">
              <a:buFont typeface="Arial" panose="020B0604020202020204" pitchFamily="34" charset="0"/>
              <a:buChar char="•"/>
            </a:pPr>
            <a:r>
              <a:rPr lang="en-US" dirty="0"/>
              <a:t>Input impedance</a:t>
            </a:r>
          </a:p>
          <a:p>
            <a:pPr marL="800100" lvl="1" indent="-342900">
              <a:buFont typeface="Arial" panose="020B0604020202020204" pitchFamily="34" charset="0"/>
              <a:buChar char="•"/>
            </a:pPr>
            <a:endParaRPr lang="en-US" sz="2000" dirty="0"/>
          </a:p>
          <a:p>
            <a:pPr marL="800100" lvl="1" indent="-342900">
              <a:buFont typeface="Arial" panose="020B0604020202020204" pitchFamily="34" charset="0"/>
              <a:buChar char="•"/>
            </a:pPr>
            <a:endParaRPr lang="en-US" sz="2000" dirty="0"/>
          </a:p>
          <a:p>
            <a:pPr marL="800100" lvl="1" indent="-342900">
              <a:buFont typeface="Arial" panose="020B0604020202020204" pitchFamily="34" charset="0"/>
              <a:buChar char="•"/>
            </a:pPr>
            <a:endParaRPr lang="en-US" sz="2000" dirty="0">
              <a:solidFill>
                <a:srgbClr val="000000"/>
              </a:solidFill>
              <a:ea typeface="Cambria Math" panose="02040503050406030204" pitchFamily="18" charset="0"/>
              <a:sym typeface="Calibri"/>
            </a:endParaRP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6553200" y="6404292"/>
            <a:ext cx="2133600" cy="269241"/>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pPr lvl="0"/>
              <a:t>100</a:t>
            </a:fld>
            <a:endParaRPr lang="en-US"/>
          </a:p>
        </p:txBody>
      </p:sp>
    </p:spTree>
    <p:extLst>
      <p:ext uri="{BB962C8B-B14F-4D97-AF65-F5344CB8AC3E}">
        <p14:creationId xmlns:p14="http://schemas.microsoft.com/office/powerpoint/2010/main" val="404064967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29" y="0"/>
            <a:ext cx="11529391" cy="769441"/>
          </a:xfrm>
          <a:prstGeom prst="rect">
            <a:avLst/>
          </a:prstGeom>
          <a:noFill/>
        </p:spPr>
        <p:txBody>
          <a:bodyPr wrap="square" rtlCol="0">
            <a:spAutoFit/>
          </a:bodyPr>
          <a:lstStyle/>
          <a:p>
            <a:pPr algn="ctr"/>
            <a:r>
              <a:rPr lang="en-US" sz="4400" dirty="0">
                <a:latin typeface="+mj-lt"/>
              </a:rPr>
              <a:t>Oscilloscopes</a:t>
            </a:r>
          </a:p>
        </p:txBody>
      </p:sp>
      <p:sp>
        <p:nvSpPr>
          <p:cNvPr id="15" name="TextBox 14">
            <a:extLst>
              <a:ext uri="{FF2B5EF4-FFF2-40B4-BE49-F238E27FC236}">
                <a16:creationId xmlns:a16="http://schemas.microsoft.com/office/drawing/2014/main" id="{34EE796B-9DCB-DE41-AEA4-31CBF97794EF}"/>
              </a:ext>
            </a:extLst>
          </p:cNvPr>
          <p:cNvSpPr txBox="1"/>
          <p:nvPr/>
        </p:nvSpPr>
        <p:spPr>
          <a:xfrm>
            <a:off x="185529" y="1105997"/>
            <a:ext cx="11633200" cy="543291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342900" lvl="0" indent="-342900">
              <a:buFont typeface="Arial" panose="020B0604020202020204" pitchFamily="34" charset="0"/>
              <a:buChar char="•"/>
            </a:pPr>
            <a:r>
              <a:rPr lang="en-US" sz="2000" dirty="0"/>
              <a:t>Subsystems</a:t>
            </a:r>
          </a:p>
          <a:p>
            <a:pPr marL="800100" lvl="1" indent="-342900">
              <a:buFont typeface="Arial" panose="020B0604020202020204" pitchFamily="34" charset="0"/>
              <a:buChar char="•"/>
            </a:pPr>
            <a:r>
              <a:rPr lang="en-US" sz="2000" dirty="0"/>
              <a:t>Display</a:t>
            </a:r>
          </a:p>
          <a:p>
            <a:pPr marL="800100" lvl="1" indent="-342900">
              <a:buFont typeface="Arial" panose="020B0604020202020204" pitchFamily="34" charset="0"/>
              <a:buChar char="•"/>
            </a:pPr>
            <a:r>
              <a:rPr lang="en-US" sz="2000" dirty="0"/>
              <a:t>Horizontal</a:t>
            </a:r>
          </a:p>
          <a:p>
            <a:pPr marL="800100" lvl="1" indent="-342900">
              <a:buFont typeface="Arial" panose="020B0604020202020204" pitchFamily="34" charset="0"/>
              <a:buChar char="•"/>
            </a:pPr>
            <a:r>
              <a:rPr lang="en-US" sz="2000" dirty="0"/>
              <a:t>Vertical</a:t>
            </a:r>
          </a:p>
          <a:p>
            <a:pPr marL="800100" lvl="1" indent="-342900">
              <a:buFont typeface="Arial" panose="020B0604020202020204" pitchFamily="34" charset="0"/>
              <a:buChar char="•"/>
            </a:pPr>
            <a:r>
              <a:rPr lang="en-US" sz="2000" dirty="0"/>
              <a:t>Trigger</a:t>
            </a:r>
          </a:p>
          <a:p>
            <a:pPr marL="800100" lvl="1" indent="-342900">
              <a:buFont typeface="Arial" panose="020B0604020202020204" pitchFamily="34" charset="0"/>
              <a:buChar char="•"/>
            </a:pPr>
            <a:r>
              <a:rPr lang="en-US" sz="2000" dirty="0"/>
              <a:t>Inputs</a:t>
            </a:r>
          </a:p>
          <a:p>
            <a:pPr marL="800100" lvl="1" indent="-34290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The Trigger tells the scope what parts of the signal to start measuring.  Consists of a level knob and a set of buttons to select the source and type of the trigger. </a:t>
            </a:r>
          </a:p>
          <a:p>
            <a:pPr marL="285750" indent="-285750">
              <a:buFont typeface="Arial" panose="020B0604020202020204" pitchFamily="34" charset="0"/>
              <a:buChar char="•"/>
            </a:pPr>
            <a:r>
              <a:rPr lang="en-US" sz="2000" dirty="0"/>
              <a:t>Trigger types:</a:t>
            </a:r>
          </a:p>
          <a:p>
            <a:pPr marL="742950" lvl="1" indent="-285750">
              <a:buFont typeface="Arial" panose="020B0604020202020204" pitchFamily="34" charset="0"/>
              <a:buChar char="•"/>
            </a:pPr>
            <a:r>
              <a:rPr lang="en-US" sz="2000" dirty="0"/>
              <a:t>An edge trigger will cause the scope to start measuring when the signal voltage passes a certain level. An edge trigger can be set to catch on a rising or falling edge (or both).</a:t>
            </a:r>
          </a:p>
          <a:p>
            <a:pPr marL="742950" lvl="1" indent="-285750">
              <a:buFont typeface="Arial" panose="020B0604020202020204" pitchFamily="34" charset="0"/>
              <a:buChar char="•"/>
            </a:pPr>
            <a:r>
              <a:rPr lang="en-US" sz="2000" dirty="0"/>
              <a:t>A pulse trigger tells the scope to start measuring on a specified “pulse” of voltage. You can specify the duration and direction of the pulse. For example, it can be a tiny blip of 0V -&gt; 5V -&gt; 0V, or it can be a seconds-long dip from 5V to 0V, back to 5V.</a:t>
            </a:r>
          </a:p>
          <a:p>
            <a:pPr marL="742950" lvl="1" indent="-285750">
              <a:buFont typeface="Arial" panose="020B0604020202020204" pitchFamily="34" charset="0"/>
              <a:buChar char="•"/>
            </a:pPr>
            <a:r>
              <a:rPr lang="en-US" sz="2000" dirty="0"/>
              <a:t>A slope trigger will cause the scope to start based on a positive or negative slope over a specified amount of time.</a:t>
            </a:r>
          </a:p>
          <a:p>
            <a:pPr marL="800100" lvl="1" indent="-342900">
              <a:buFont typeface="Arial" panose="020B0604020202020204" pitchFamily="34" charset="0"/>
              <a:buChar char="•"/>
            </a:pPr>
            <a:endParaRPr lang="en-US" sz="2000" dirty="0"/>
          </a:p>
          <a:p>
            <a:pPr marL="800100" lvl="1" indent="-342900">
              <a:buFont typeface="Arial" panose="020B0604020202020204" pitchFamily="34" charset="0"/>
              <a:buChar char="•"/>
            </a:pPr>
            <a:endParaRPr lang="en-US" sz="2000" dirty="0"/>
          </a:p>
          <a:p>
            <a:pPr marL="800100" lvl="1" indent="-342900">
              <a:buFont typeface="Arial" panose="020B0604020202020204" pitchFamily="34" charset="0"/>
              <a:buChar char="•"/>
            </a:pPr>
            <a:endParaRPr lang="en-US" sz="2000" dirty="0">
              <a:solidFill>
                <a:srgbClr val="000000"/>
              </a:solidFill>
              <a:ea typeface="Cambria Math" panose="02040503050406030204" pitchFamily="18" charset="0"/>
              <a:sym typeface="Calibri"/>
            </a:endParaRP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6553200" y="6404292"/>
            <a:ext cx="2133600" cy="269241"/>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pPr lvl="0"/>
              <a:t>101</a:t>
            </a:fld>
            <a:endParaRPr lang="en-US"/>
          </a:p>
        </p:txBody>
      </p:sp>
      <p:pic>
        <p:nvPicPr>
          <p:cNvPr id="6" name="Picture 5" descr="cope screen example">
            <a:extLst>
              <a:ext uri="{FF2B5EF4-FFF2-40B4-BE49-F238E27FC236}">
                <a16:creationId xmlns:a16="http://schemas.microsoft.com/office/drawing/2014/main" id="{14FDEE8A-6A4C-E749-997E-50FF8B24754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132064" y="319088"/>
            <a:ext cx="3874407" cy="2754709"/>
          </a:xfrm>
          <a:prstGeom prst="rect">
            <a:avLst/>
          </a:prstGeom>
          <a:noFill/>
          <a:ln>
            <a:noFill/>
          </a:ln>
        </p:spPr>
      </p:pic>
    </p:spTree>
    <p:extLst>
      <p:ext uri="{BB962C8B-B14F-4D97-AF65-F5344CB8AC3E}">
        <p14:creationId xmlns:p14="http://schemas.microsoft.com/office/powerpoint/2010/main" val="260982196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29" y="0"/>
            <a:ext cx="11529391" cy="769441"/>
          </a:xfrm>
          <a:prstGeom prst="rect">
            <a:avLst/>
          </a:prstGeom>
          <a:noFill/>
        </p:spPr>
        <p:txBody>
          <a:bodyPr wrap="square" rtlCol="0">
            <a:spAutoFit/>
          </a:bodyPr>
          <a:lstStyle/>
          <a:p>
            <a:pPr algn="ctr"/>
            <a:r>
              <a:rPr lang="en-US" sz="4400" dirty="0">
                <a:latin typeface="+mj-lt"/>
              </a:rPr>
              <a:t>Oscilloscopes</a:t>
            </a:r>
          </a:p>
        </p:txBody>
      </p:sp>
      <p:sp>
        <p:nvSpPr>
          <p:cNvPr id="15" name="TextBox 14">
            <a:extLst>
              <a:ext uri="{FF2B5EF4-FFF2-40B4-BE49-F238E27FC236}">
                <a16:creationId xmlns:a16="http://schemas.microsoft.com/office/drawing/2014/main" id="{34EE796B-9DCB-DE41-AEA4-31CBF97794EF}"/>
              </a:ext>
            </a:extLst>
          </p:cNvPr>
          <p:cNvSpPr txBox="1"/>
          <p:nvPr/>
        </p:nvSpPr>
        <p:spPr>
          <a:xfrm>
            <a:off x="397330" y="1439022"/>
            <a:ext cx="11130171" cy="284589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342900" lvl="0" indent="-342900">
              <a:buFont typeface="Arial" panose="020B0604020202020204" pitchFamily="34" charset="0"/>
              <a:buChar char="•"/>
            </a:pPr>
            <a:r>
              <a:rPr lang="en-US" sz="2000" dirty="0"/>
              <a:t>Probes</a:t>
            </a:r>
          </a:p>
          <a:p>
            <a:pPr marL="800100" lvl="1" indent="-342900">
              <a:buFont typeface="Arial" panose="020B0604020202020204" pitchFamily="34" charset="0"/>
              <a:buChar char="•"/>
            </a:pPr>
            <a:r>
              <a:rPr lang="en-US" sz="2000" dirty="0"/>
              <a:t>Passive probes are  included with most scopes. Most passive probes are </a:t>
            </a:r>
            <a:r>
              <a:rPr lang="en-US" sz="2000" b="1" dirty="0"/>
              <a:t>attenuated</a:t>
            </a:r>
            <a:r>
              <a:rPr lang="en-US" sz="2000" dirty="0"/>
              <a:t>. Attenuating probes have a large resistance intentionally built-in and shunted by a small capacitor to minimize the effect that a long cable might have on loading the circuit. </a:t>
            </a:r>
          </a:p>
          <a:p>
            <a:pPr marL="800100" lvl="1" indent="-342900">
              <a:buFont typeface="Arial" panose="020B0604020202020204" pitchFamily="34" charset="0"/>
              <a:buChar char="•"/>
            </a:pPr>
            <a:r>
              <a:rPr lang="en-US" sz="2000" dirty="0"/>
              <a:t>Most probes have a 9MΩ resistor for attenuating, which, when combined with a standard 1MΩ input impedance on a scope, creates a 1/10 voltage divider. These probes are commonly called 10X attenuated probes. Many probes include a switch to select between 10X and 1X (no attenuation).</a:t>
            </a:r>
          </a:p>
          <a:p>
            <a:pPr marL="800100" lvl="1" indent="-342900">
              <a:buFont typeface="Arial" panose="020B0604020202020204" pitchFamily="34" charset="0"/>
              <a:buChar char="•"/>
            </a:pPr>
            <a:endParaRPr lang="en-US" sz="2000" dirty="0"/>
          </a:p>
          <a:p>
            <a:pPr marL="800100" lvl="1" indent="-342900">
              <a:buFont typeface="Arial" panose="020B0604020202020204" pitchFamily="34" charset="0"/>
              <a:buChar char="•"/>
            </a:pPr>
            <a:endParaRPr lang="en-US" sz="2000" dirty="0">
              <a:solidFill>
                <a:srgbClr val="000000"/>
              </a:solidFill>
              <a:ea typeface="Cambria Math" panose="02040503050406030204" pitchFamily="18" charset="0"/>
              <a:sym typeface="Calibri"/>
            </a:endParaRP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6553200" y="6404292"/>
            <a:ext cx="2133600" cy="269241"/>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pPr lvl="0"/>
              <a:t>102</a:t>
            </a:fld>
            <a:endParaRPr lang="en-US"/>
          </a:p>
        </p:txBody>
      </p:sp>
      <p:pic>
        <p:nvPicPr>
          <p:cNvPr id="3076" name="Picture 4">
            <a:extLst>
              <a:ext uri="{FF2B5EF4-FFF2-40B4-BE49-F238E27FC236}">
                <a16:creationId xmlns:a16="http://schemas.microsoft.com/office/drawing/2014/main" id="{F5E3E723-0F84-B14E-9B69-EAD2B9665A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7073" y="4297773"/>
            <a:ext cx="5044440" cy="21504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883703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29" y="168574"/>
            <a:ext cx="11529391" cy="769441"/>
          </a:xfrm>
          <a:prstGeom prst="rect">
            <a:avLst/>
          </a:prstGeom>
          <a:noFill/>
        </p:spPr>
        <p:txBody>
          <a:bodyPr wrap="square" rtlCol="0">
            <a:spAutoFit/>
          </a:bodyPr>
          <a:lstStyle/>
          <a:p>
            <a:pPr algn="ctr"/>
            <a:r>
              <a:rPr lang="en-US" sz="4400" dirty="0">
                <a:latin typeface="+mj-lt"/>
              </a:rPr>
              <a:t>386 based audio amp</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6553200" y="6404292"/>
            <a:ext cx="2133600" cy="269241"/>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pPr lvl="0"/>
              <a:t>103</a:t>
            </a:fld>
            <a:endParaRPr lang="en-US"/>
          </a:p>
        </p:txBody>
      </p:sp>
      <p:sp>
        <p:nvSpPr>
          <p:cNvPr id="120" name="TextBox 119">
            <a:extLst>
              <a:ext uri="{FF2B5EF4-FFF2-40B4-BE49-F238E27FC236}">
                <a16:creationId xmlns:a16="http://schemas.microsoft.com/office/drawing/2014/main" id="{3DDDF52D-534A-68C3-9225-C8BC6CB0D369}"/>
              </a:ext>
            </a:extLst>
          </p:cNvPr>
          <p:cNvSpPr txBox="1"/>
          <p:nvPr/>
        </p:nvSpPr>
        <p:spPr>
          <a:xfrm>
            <a:off x="4655907" y="5383453"/>
            <a:ext cx="3052988" cy="369332"/>
          </a:xfrm>
          <a:prstGeom prst="rect">
            <a:avLst/>
          </a:prstGeom>
          <a:noFill/>
        </p:spPr>
        <p:txBody>
          <a:bodyPr wrap="square" rtlCol="0">
            <a:spAutoFit/>
          </a:bodyPr>
          <a:lstStyle/>
          <a:p>
            <a:r>
              <a:rPr lang="en-US" dirty="0">
                <a:solidFill>
                  <a:schemeClr val="accent1"/>
                </a:solidFill>
              </a:rPr>
              <a:t>Gain is 20 without option</a:t>
            </a:r>
          </a:p>
        </p:txBody>
      </p:sp>
      <p:grpSp>
        <p:nvGrpSpPr>
          <p:cNvPr id="4" name="Group 3">
            <a:extLst>
              <a:ext uri="{FF2B5EF4-FFF2-40B4-BE49-F238E27FC236}">
                <a16:creationId xmlns:a16="http://schemas.microsoft.com/office/drawing/2014/main" id="{255AE291-3009-BD08-2227-B8AA12A0C219}"/>
              </a:ext>
            </a:extLst>
          </p:cNvPr>
          <p:cNvGrpSpPr/>
          <p:nvPr/>
        </p:nvGrpSpPr>
        <p:grpSpPr>
          <a:xfrm>
            <a:off x="2770782" y="1681734"/>
            <a:ext cx="6650435" cy="3494532"/>
            <a:chOff x="2385358" y="1181100"/>
            <a:chExt cx="6650435" cy="3494532"/>
          </a:xfrm>
        </p:grpSpPr>
        <p:sp>
          <p:nvSpPr>
            <p:cNvPr id="30" name="Freeform 12">
              <a:extLst>
                <a:ext uri="{FF2B5EF4-FFF2-40B4-BE49-F238E27FC236}">
                  <a16:creationId xmlns:a16="http://schemas.microsoft.com/office/drawing/2014/main" id="{C485D51B-94B9-8373-7B65-92F55AA8D990}"/>
                </a:ext>
              </a:extLst>
            </p:cNvPr>
            <p:cNvSpPr>
              <a:spLocks noChangeAspect="1"/>
            </p:cNvSpPr>
            <p:nvPr/>
          </p:nvSpPr>
          <p:spPr bwMode="auto">
            <a:xfrm rot="5400000">
              <a:off x="3482990" y="2454982"/>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68" name="Group 39">
              <a:extLst>
                <a:ext uri="{FF2B5EF4-FFF2-40B4-BE49-F238E27FC236}">
                  <a16:creationId xmlns:a16="http://schemas.microsoft.com/office/drawing/2014/main" id="{F21B5082-86DC-3499-358D-69787EB51111}"/>
                </a:ext>
              </a:extLst>
            </p:cNvPr>
            <p:cNvGrpSpPr>
              <a:grpSpLocks/>
            </p:cNvGrpSpPr>
            <p:nvPr/>
          </p:nvGrpSpPr>
          <p:grpSpPr bwMode="auto">
            <a:xfrm>
              <a:off x="3916295" y="2391482"/>
              <a:ext cx="4067859" cy="2024235"/>
              <a:chOff x="2496" y="1968"/>
              <a:chExt cx="1056" cy="864"/>
            </a:xfrm>
          </p:grpSpPr>
          <p:sp>
            <p:nvSpPr>
              <p:cNvPr id="73" name="Line 40">
                <a:extLst>
                  <a:ext uri="{FF2B5EF4-FFF2-40B4-BE49-F238E27FC236}">
                    <a16:creationId xmlns:a16="http://schemas.microsoft.com/office/drawing/2014/main" id="{98E8770B-D435-273D-2D2A-158FB43C57C5}"/>
                  </a:ext>
                </a:extLst>
              </p:cNvPr>
              <p:cNvSpPr>
                <a:spLocks noChangeShapeType="1"/>
              </p:cNvSpPr>
              <p:nvPr/>
            </p:nvSpPr>
            <p:spPr bwMode="auto">
              <a:xfrm>
                <a:off x="2496" y="216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 name="Line 41">
                <a:extLst>
                  <a:ext uri="{FF2B5EF4-FFF2-40B4-BE49-F238E27FC236}">
                    <a16:creationId xmlns:a16="http://schemas.microsoft.com/office/drawing/2014/main" id="{478DD380-BB67-40AF-FD0A-E04300F78267}"/>
                  </a:ext>
                </a:extLst>
              </p:cNvPr>
              <p:cNvSpPr>
                <a:spLocks noChangeShapeType="1"/>
              </p:cNvSpPr>
              <p:nvPr/>
            </p:nvSpPr>
            <p:spPr bwMode="auto">
              <a:xfrm>
                <a:off x="2496" y="264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 name="Line 42">
                <a:extLst>
                  <a:ext uri="{FF2B5EF4-FFF2-40B4-BE49-F238E27FC236}">
                    <a16:creationId xmlns:a16="http://schemas.microsoft.com/office/drawing/2014/main" id="{98EB0191-7A38-FBE8-7D30-5AC9FA09ECEB}"/>
                  </a:ext>
                </a:extLst>
              </p:cNvPr>
              <p:cNvSpPr>
                <a:spLocks noChangeShapeType="1"/>
              </p:cNvSpPr>
              <p:nvPr/>
            </p:nvSpPr>
            <p:spPr bwMode="auto">
              <a:xfrm>
                <a:off x="3360" y="240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 name="Freeform 43">
                <a:extLst>
                  <a:ext uri="{FF2B5EF4-FFF2-40B4-BE49-F238E27FC236}">
                    <a16:creationId xmlns:a16="http://schemas.microsoft.com/office/drawing/2014/main" id="{DC207CDA-7C08-B939-7371-7AEC9730BA91}"/>
                  </a:ext>
                </a:extLst>
              </p:cNvPr>
              <p:cNvSpPr>
                <a:spLocks/>
              </p:cNvSpPr>
              <p:nvPr/>
            </p:nvSpPr>
            <p:spPr bwMode="auto">
              <a:xfrm>
                <a:off x="2688" y="1968"/>
                <a:ext cx="672" cy="864"/>
              </a:xfrm>
              <a:custGeom>
                <a:avLst/>
                <a:gdLst>
                  <a:gd name="T0" fmla="*/ 6120 w 432"/>
                  <a:gd name="T1" fmla="*/ 779 h 768"/>
                  <a:gd name="T2" fmla="*/ 0 w 432"/>
                  <a:gd name="T3" fmla="*/ 1558 h 768"/>
                  <a:gd name="T4" fmla="*/ 0 w 432"/>
                  <a:gd name="T5" fmla="*/ 0 h 768"/>
                  <a:gd name="T6" fmla="*/ 6120 w 432"/>
                  <a:gd name="T7" fmla="*/ 779 h 768"/>
                  <a:gd name="T8" fmla="*/ 0 60000 65536"/>
                  <a:gd name="T9" fmla="*/ 0 60000 65536"/>
                  <a:gd name="T10" fmla="*/ 0 60000 65536"/>
                  <a:gd name="T11" fmla="*/ 0 60000 65536"/>
                  <a:gd name="T12" fmla="*/ 0 w 432"/>
                  <a:gd name="T13" fmla="*/ 0 h 768"/>
                  <a:gd name="T14" fmla="*/ 432 w 432"/>
                  <a:gd name="T15" fmla="*/ 768 h 768"/>
                </a:gdLst>
                <a:ahLst/>
                <a:cxnLst>
                  <a:cxn ang="T8">
                    <a:pos x="T0" y="T1"/>
                  </a:cxn>
                  <a:cxn ang="T9">
                    <a:pos x="T2" y="T3"/>
                  </a:cxn>
                  <a:cxn ang="T10">
                    <a:pos x="T4" y="T5"/>
                  </a:cxn>
                  <a:cxn ang="T11">
                    <a:pos x="T6" y="T7"/>
                  </a:cxn>
                </a:cxnLst>
                <a:rect l="T12" t="T13" r="T14" b="T15"/>
                <a:pathLst>
                  <a:path w="432" h="768">
                    <a:moveTo>
                      <a:pt x="432" y="384"/>
                    </a:moveTo>
                    <a:lnTo>
                      <a:pt x="0" y="768"/>
                    </a:lnTo>
                    <a:lnTo>
                      <a:pt x="0" y="0"/>
                    </a:lnTo>
                    <a:lnTo>
                      <a:pt x="432" y="38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 name="TextBox 1">
              <a:extLst>
                <a:ext uri="{FF2B5EF4-FFF2-40B4-BE49-F238E27FC236}">
                  <a16:creationId xmlns:a16="http://schemas.microsoft.com/office/drawing/2014/main" id="{C2B0D2CB-A9E3-91D7-A123-47C0FF795653}"/>
                </a:ext>
              </a:extLst>
            </p:cNvPr>
            <p:cNvSpPr txBox="1"/>
            <p:nvPr/>
          </p:nvSpPr>
          <p:spPr>
            <a:xfrm>
              <a:off x="4724400" y="3784600"/>
              <a:ext cx="317500" cy="369332"/>
            </a:xfrm>
            <a:prstGeom prst="rect">
              <a:avLst/>
            </a:prstGeom>
            <a:noFill/>
          </p:spPr>
          <p:txBody>
            <a:bodyPr wrap="square" rtlCol="0">
              <a:spAutoFit/>
            </a:bodyPr>
            <a:lstStyle/>
            <a:p>
              <a:r>
                <a:rPr lang="en-US" dirty="0"/>
                <a:t>3</a:t>
              </a:r>
            </a:p>
          </p:txBody>
        </p:sp>
        <p:sp>
          <p:nvSpPr>
            <p:cNvPr id="27" name="TextBox 26">
              <a:extLst>
                <a:ext uri="{FF2B5EF4-FFF2-40B4-BE49-F238E27FC236}">
                  <a16:creationId xmlns:a16="http://schemas.microsoft.com/office/drawing/2014/main" id="{F1559E80-76C9-089E-8230-0B5336C49DAA}"/>
                </a:ext>
              </a:extLst>
            </p:cNvPr>
            <p:cNvSpPr txBox="1"/>
            <p:nvPr/>
          </p:nvSpPr>
          <p:spPr>
            <a:xfrm>
              <a:off x="5168900" y="3390900"/>
              <a:ext cx="647700" cy="369332"/>
            </a:xfrm>
            <a:prstGeom prst="rect">
              <a:avLst/>
            </a:prstGeom>
            <a:noFill/>
          </p:spPr>
          <p:txBody>
            <a:bodyPr wrap="square" rtlCol="0">
              <a:spAutoFit/>
            </a:bodyPr>
            <a:lstStyle/>
            <a:p>
              <a:r>
                <a:rPr lang="en-US" dirty="0"/>
                <a:t>386</a:t>
              </a:r>
            </a:p>
          </p:txBody>
        </p:sp>
        <p:sp>
          <p:nvSpPr>
            <p:cNvPr id="42" name="TextBox 41">
              <a:extLst>
                <a:ext uri="{FF2B5EF4-FFF2-40B4-BE49-F238E27FC236}">
                  <a16:creationId xmlns:a16="http://schemas.microsoft.com/office/drawing/2014/main" id="{65AB84AC-8EE3-DC6B-4F9A-BE7161C6CF7A}"/>
                </a:ext>
              </a:extLst>
            </p:cNvPr>
            <p:cNvSpPr txBox="1"/>
            <p:nvPr/>
          </p:nvSpPr>
          <p:spPr>
            <a:xfrm>
              <a:off x="4711700" y="2692400"/>
              <a:ext cx="317500" cy="369332"/>
            </a:xfrm>
            <a:prstGeom prst="rect">
              <a:avLst/>
            </a:prstGeom>
            <a:noFill/>
          </p:spPr>
          <p:txBody>
            <a:bodyPr wrap="square" rtlCol="0">
              <a:spAutoFit/>
            </a:bodyPr>
            <a:lstStyle/>
            <a:p>
              <a:r>
                <a:rPr lang="en-US" dirty="0"/>
                <a:t>2</a:t>
              </a:r>
            </a:p>
          </p:txBody>
        </p:sp>
        <p:sp>
          <p:nvSpPr>
            <p:cNvPr id="47" name="TextBox 46">
              <a:extLst>
                <a:ext uri="{FF2B5EF4-FFF2-40B4-BE49-F238E27FC236}">
                  <a16:creationId xmlns:a16="http://schemas.microsoft.com/office/drawing/2014/main" id="{65CDEBE0-2258-1CB9-6DF7-80D540FAA70C}"/>
                </a:ext>
              </a:extLst>
            </p:cNvPr>
            <p:cNvSpPr txBox="1"/>
            <p:nvPr/>
          </p:nvSpPr>
          <p:spPr>
            <a:xfrm>
              <a:off x="7099300" y="3022600"/>
              <a:ext cx="317500" cy="369332"/>
            </a:xfrm>
            <a:prstGeom prst="rect">
              <a:avLst/>
            </a:prstGeom>
            <a:noFill/>
          </p:spPr>
          <p:txBody>
            <a:bodyPr wrap="square" rtlCol="0">
              <a:spAutoFit/>
            </a:bodyPr>
            <a:lstStyle/>
            <a:p>
              <a:r>
                <a:rPr lang="en-US" dirty="0"/>
                <a:t>5</a:t>
              </a:r>
            </a:p>
          </p:txBody>
        </p:sp>
        <p:sp>
          <p:nvSpPr>
            <p:cNvPr id="49" name="TextBox 48">
              <a:extLst>
                <a:ext uri="{FF2B5EF4-FFF2-40B4-BE49-F238E27FC236}">
                  <a16:creationId xmlns:a16="http://schemas.microsoft.com/office/drawing/2014/main" id="{828BF6E7-84F2-F545-67D0-69695E5179FD}"/>
                </a:ext>
              </a:extLst>
            </p:cNvPr>
            <p:cNvSpPr txBox="1"/>
            <p:nvPr/>
          </p:nvSpPr>
          <p:spPr>
            <a:xfrm flipH="1">
              <a:off x="5905500" y="4153932"/>
              <a:ext cx="317500" cy="369332"/>
            </a:xfrm>
            <a:prstGeom prst="rect">
              <a:avLst/>
            </a:prstGeom>
            <a:noFill/>
          </p:spPr>
          <p:txBody>
            <a:bodyPr wrap="square" rtlCol="0">
              <a:spAutoFit/>
            </a:bodyPr>
            <a:lstStyle/>
            <a:p>
              <a:endParaRPr lang="en-US" dirty="0"/>
            </a:p>
          </p:txBody>
        </p:sp>
        <p:sp>
          <p:nvSpPr>
            <p:cNvPr id="69" name="TextBox 68">
              <a:extLst>
                <a:ext uri="{FF2B5EF4-FFF2-40B4-BE49-F238E27FC236}">
                  <a16:creationId xmlns:a16="http://schemas.microsoft.com/office/drawing/2014/main" id="{5E8EEE99-A2DD-6BE5-777F-ED6649CF17F1}"/>
                </a:ext>
              </a:extLst>
            </p:cNvPr>
            <p:cNvSpPr txBox="1"/>
            <p:nvPr/>
          </p:nvSpPr>
          <p:spPr>
            <a:xfrm flipH="1">
              <a:off x="5257800" y="2680732"/>
              <a:ext cx="317500" cy="369332"/>
            </a:xfrm>
            <a:prstGeom prst="rect">
              <a:avLst/>
            </a:prstGeom>
            <a:noFill/>
          </p:spPr>
          <p:txBody>
            <a:bodyPr wrap="square" rtlCol="0">
              <a:spAutoFit/>
            </a:bodyPr>
            <a:lstStyle/>
            <a:p>
              <a:r>
                <a:rPr lang="en-US" dirty="0"/>
                <a:t>6</a:t>
              </a:r>
            </a:p>
          </p:txBody>
        </p:sp>
        <p:grpSp>
          <p:nvGrpSpPr>
            <p:cNvPr id="70" name="Group 220">
              <a:extLst>
                <a:ext uri="{FF2B5EF4-FFF2-40B4-BE49-F238E27FC236}">
                  <a16:creationId xmlns:a16="http://schemas.microsoft.com/office/drawing/2014/main" id="{3EE49826-166F-5D3A-67B9-E1DC74452642}"/>
                </a:ext>
              </a:extLst>
            </p:cNvPr>
            <p:cNvGrpSpPr>
              <a:grpSpLocks/>
            </p:cNvGrpSpPr>
            <p:nvPr/>
          </p:nvGrpSpPr>
          <p:grpSpPr bwMode="auto">
            <a:xfrm>
              <a:off x="3860800" y="3978587"/>
              <a:ext cx="152400" cy="304800"/>
              <a:chOff x="3264" y="3072"/>
              <a:chExt cx="96" cy="192"/>
            </a:xfrm>
          </p:grpSpPr>
          <p:sp>
            <p:nvSpPr>
              <p:cNvPr id="71" name="Line 17">
                <a:extLst>
                  <a:ext uri="{FF2B5EF4-FFF2-40B4-BE49-F238E27FC236}">
                    <a16:creationId xmlns:a16="http://schemas.microsoft.com/office/drawing/2014/main" id="{45268A7F-16B2-233A-8ED0-D47EE1271E6A}"/>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 name="Freeform 18">
                <a:extLst>
                  <a:ext uri="{FF2B5EF4-FFF2-40B4-BE49-F238E27FC236}">
                    <a16:creationId xmlns:a16="http://schemas.microsoft.com/office/drawing/2014/main" id="{FAD14561-CD2C-ED54-D2C7-C31BAAB109FB}"/>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88" name="Group 210">
              <a:extLst>
                <a:ext uri="{FF2B5EF4-FFF2-40B4-BE49-F238E27FC236}">
                  <a16:creationId xmlns:a16="http://schemas.microsoft.com/office/drawing/2014/main" id="{EC1406AE-0BDF-7A02-2613-67AEE01F8DA3}"/>
                </a:ext>
              </a:extLst>
            </p:cNvPr>
            <p:cNvGrpSpPr>
              <a:grpSpLocks/>
            </p:cNvGrpSpPr>
            <p:nvPr/>
          </p:nvGrpSpPr>
          <p:grpSpPr bwMode="auto">
            <a:xfrm>
              <a:off x="6487050" y="3659664"/>
              <a:ext cx="304800" cy="762000"/>
              <a:chOff x="3216" y="1728"/>
              <a:chExt cx="192" cy="480"/>
            </a:xfrm>
          </p:grpSpPr>
          <p:sp>
            <p:nvSpPr>
              <p:cNvPr id="97" name="Line 8">
                <a:extLst>
                  <a:ext uri="{FF2B5EF4-FFF2-40B4-BE49-F238E27FC236}">
                    <a16:creationId xmlns:a16="http://schemas.microsoft.com/office/drawing/2014/main" id="{4B786AE5-E601-EA9F-856F-CA4E8E5ED725}"/>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 name="Line 9">
                <a:extLst>
                  <a:ext uri="{FF2B5EF4-FFF2-40B4-BE49-F238E27FC236}">
                    <a16:creationId xmlns:a16="http://schemas.microsoft.com/office/drawing/2014/main" id="{696FD0C8-863E-04CC-AB07-615708027DF7}"/>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9" name="Line 10">
                <a:extLst>
                  <a:ext uri="{FF2B5EF4-FFF2-40B4-BE49-F238E27FC236}">
                    <a16:creationId xmlns:a16="http://schemas.microsoft.com/office/drawing/2014/main" id="{EE154999-7AA1-DE8E-8863-78C736E2AF5D}"/>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 name="Line 11">
                <a:extLst>
                  <a:ext uri="{FF2B5EF4-FFF2-40B4-BE49-F238E27FC236}">
                    <a16:creationId xmlns:a16="http://schemas.microsoft.com/office/drawing/2014/main" id="{7BAF0AD3-8B54-8CB3-23E1-BE8D93D5E2DA}"/>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1" name="TextBox 100">
              <a:extLst>
                <a:ext uri="{FF2B5EF4-FFF2-40B4-BE49-F238E27FC236}">
                  <a16:creationId xmlns:a16="http://schemas.microsoft.com/office/drawing/2014/main" id="{0DF8503B-C728-C9A3-5BA9-75DFE435E171}"/>
                </a:ext>
              </a:extLst>
            </p:cNvPr>
            <p:cNvSpPr txBox="1"/>
            <p:nvPr/>
          </p:nvSpPr>
          <p:spPr>
            <a:xfrm flipH="1">
              <a:off x="5689600" y="3582432"/>
              <a:ext cx="317500" cy="369332"/>
            </a:xfrm>
            <a:prstGeom prst="rect">
              <a:avLst/>
            </a:prstGeom>
            <a:noFill/>
          </p:spPr>
          <p:txBody>
            <a:bodyPr wrap="square" rtlCol="0">
              <a:spAutoFit/>
            </a:bodyPr>
            <a:lstStyle/>
            <a:p>
              <a:r>
                <a:rPr lang="en-US" dirty="0"/>
                <a:t>4</a:t>
              </a:r>
            </a:p>
          </p:txBody>
        </p:sp>
        <p:cxnSp>
          <p:nvCxnSpPr>
            <p:cNvPr id="103" name="Straight Connector 102">
              <a:extLst>
                <a:ext uri="{FF2B5EF4-FFF2-40B4-BE49-F238E27FC236}">
                  <a16:creationId xmlns:a16="http://schemas.microsoft.com/office/drawing/2014/main" id="{3E65A59F-943D-ED39-0CE2-8E52B28038A5}"/>
                </a:ext>
              </a:extLst>
            </p:cNvPr>
            <p:cNvCxnSpPr>
              <a:cxnSpLocks/>
            </p:cNvCxnSpPr>
            <p:nvPr/>
          </p:nvCxnSpPr>
          <p:spPr>
            <a:xfrm>
              <a:off x="5404125" y="1731082"/>
              <a:ext cx="0" cy="965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2130BC0F-CA11-5EF8-76A1-661E47751EEE}"/>
                </a:ext>
              </a:extLst>
            </p:cNvPr>
            <p:cNvCxnSpPr>
              <a:cxnSpLocks/>
            </p:cNvCxnSpPr>
            <p:nvPr/>
          </p:nvCxnSpPr>
          <p:spPr>
            <a:xfrm>
              <a:off x="5892800" y="3941128"/>
              <a:ext cx="0" cy="457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6" name="Group 220">
              <a:extLst>
                <a:ext uri="{FF2B5EF4-FFF2-40B4-BE49-F238E27FC236}">
                  <a16:creationId xmlns:a16="http://schemas.microsoft.com/office/drawing/2014/main" id="{CB472B82-A868-A769-270C-32D09770AEAF}"/>
                </a:ext>
              </a:extLst>
            </p:cNvPr>
            <p:cNvGrpSpPr>
              <a:grpSpLocks/>
            </p:cNvGrpSpPr>
            <p:nvPr/>
          </p:nvGrpSpPr>
          <p:grpSpPr bwMode="auto">
            <a:xfrm>
              <a:off x="5815584" y="4370832"/>
              <a:ext cx="152400" cy="304800"/>
              <a:chOff x="3264" y="3072"/>
              <a:chExt cx="96" cy="192"/>
            </a:xfrm>
          </p:grpSpPr>
          <p:sp>
            <p:nvSpPr>
              <p:cNvPr id="107" name="Line 17">
                <a:extLst>
                  <a:ext uri="{FF2B5EF4-FFF2-40B4-BE49-F238E27FC236}">
                    <a16:creationId xmlns:a16="http://schemas.microsoft.com/office/drawing/2014/main" id="{5382A1AA-8E33-955F-E29D-5C97C964F3AF}"/>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 name="Freeform 18">
                <a:extLst>
                  <a:ext uri="{FF2B5EF4-FFF2-40B4-BE49-F238E27FC236}">
                    <a16:creationId xmlns:a16="http://schemas.microsoft.com/office/drawing/2014/main" id="{94E823B4-3812-6D3D-ACB8-F40D2B8F21B4}"/>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10" name="TextBox 109">
              <a:extLst>
                <a:ext uri="{FF2B5EF4-FFF2-40B4-BE49-F238E27FC236}">
                  <a16:creationId xmlns:a16="http://schemas.microsoft.com/office/drawing/2014/main" id="{25D60EFD-DFF6-A2B7-5239-4E428261D326}"/>
                </a:ext>
              </a:extLst>
            </p:cNvPr>
            <p:cNvSpPr txBox="1"/>
            <p:nvPr/>
          </p:nvSpPr>
          <p:spPr>
            <a:xfrm>
              <a:off x="5245100" y="1181100"/>
              <a:ext cx="977900" cy="369332"/>
            </a:xfrm>
            <a:prstGeom prst="rect">
              <a:avLst/>
            </a:prstGeom>
            <a:noFill/>
          </p:spPr>
          <p:txBody>
            <a:bodyPr wrap="square" rtlCol="0">
              <a:spAutoFit/>
            </a:bodyPr>
            <a:lstStyle/>
            <a:p>
              <a:r>
                <a:rPr lang="en-US" dirty="0" err="1"/>
                <a:t>V</a:t>
              </a:r>
              <a:r>
                <a:rPr lang="en-US" baseline="-25000" dirty="0" err="1"/>
                <a:t>cc</a:t>
              </a:r>
              <a:r>
                <a:rPr lang="en-US" dirty="0"/>
                <a:t>  (9v)</a:t>
              </a:r>
              <a:endParaRPr lang="en-US" baseline="-25000" dirty="0"/>
            </a:p>
          </p:txBody>
        </p:sp>
        <p:sp>
          <p:nvSpPr>
            <p:cNvPr id="112" name="Oval 111">
              <a:extLst>
                <a:ext uri="{FF2B5EF4-FFF2-40B4-BE49-F238E27FC236}">
                  <a16:creationId xmlns:a16="http://schemas.microsoft.com/office/drawing/2014/main" id="{52B35485-8BF5-E661-B925-0DA85D3C8FD6}"/>
                </a:ext>
              </a:extLst>
            </p:cNvPr>
            <p:cNvSpPr/>
            <p:nvPr/>
          </p:nvSpPr>
          <p:spPr>
            <a:xfrm>
              <a:off x="5331758" y="1618285"/>
              <a:ext cx="137160" cy="13716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a:extLst>
                <a:ext uri="{FF2B5EF4-FFF2-40B4-BE49-F238E27FC236}">
                  <a16:creationId xmlns:a16="http://schemas.microsoft.com/office/drawing/2014/main" id="{0A3D8E37-E51E-3C80-FAD5-E6FFBE89510B}"/>
                </a:ext>
              </a:extLst>
            </p:cNvPr>
            <p:cNvSpPr/>
            <p:nvPr/>
          </p:nvSpPr>
          <p:spPr>
            <a:xfrm>
              <a:off x="2385358" y="2773985"/>
              <a:ext cx="137160" cy="13716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4" name="Group 210">
              <a:extLst>
                <a:ext uri="{FF2B5EF4-FFF2-40B4-BE49-F238E27FC236}">
                  <a16:creationId xmlns:a16="http://schemas.microsoft.com/office/drawing/2014/main" id="{9ED50A6D-ABA4-3BF5-D22D-219BC232A8D9}"/>
                </a:ext>
              </a:extLst>
            </p:cNvPr>
            <p:cNvGrpSpPr>
              <a:grpSpLocks/>
            </p:cNvGrpSpPr>
            <p:nvPr/>
          </p:nvGrpSpPr>
          <p:grpSpPr bwMode="auto">
            <a:xfrm rot="5400000">
              <a:off x="2724956" y="2454982"/>
              <a:ext cx="304800" cy="762000"/>
              <a:chOff x="3216" y="1728"/>
              <a:chExt cx="192" cy="480"/>
            </a:xfrm>
          </p:grpSpPr>
          <p:sp>
            <p:nvSpPr>
              <p:cNvPr id="115" name="Line 8">
                <a:extLst>
                  <a:ext uri="{FF2B5EF4-FFF2-40B4-BE49-F238E27FC236}">
                    <a16:creationId xmlns:a16="http://schemas.microsoft.com/office/drawing/2014/main" id="{AEB4FC02-2174-E46A-9483-DFBF0D979442}"/>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 name="Line 9">
                <a:extLst>
                  <a:ext uri="{FF2B5EF4-FFF2-40B4-BE49-F238E27FC236}">
                    <a16:creationId xmlns:a16="http://schemas.microsoft.com/office/drawing/2014/main" id="{D95713A4-C49E-4B0F-DE04-869A3BBD7201}"/>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 name="Line 10">
                <a:extLst>
                  <a:ext uri="{FF2B5EF4-FFF2-40B4-BE49-F238E27FC236}">
                    <a16:creationId xmlns:a16="http://schemas.microsoft.com/office/drawing/2014/main" id="{E4826ADA-DB84-895D-B74B-10E9F9BDEE40}"/>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8" name="Line 11">
                <a:extLst>
                  <a:ext uri="{FF2B5EF4-FFF2-40B4-BE49-F238E27FC236}">
                    <a16:creationId xmlns:a16="http://schemas.microsoft.com/office/drawing/2014/main" id="{2F04FB17-C352-E053-87C9-A9FD0D422908}"/>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dirty="0"/>
              </a:p>
            </p:txBody>
          </p:sp>
        </p:grpSp>
        <p:sp>
          <p:nvSpPr>
            <p:cNvPr id="119" name="TextBox 118">
              <a:extLst>
                <a:ext uri="{FF2B5EF4-FFF2-40B4-BE49-F238E27FC236}">
                  <a16:creationId xmlns:a16="http://schemas.microsoft.com/office/drawing/2014/main" id="{5609B3BE-8FC4-C84A-D6E8-6D1D9A139C50}"/>
                </a:ext>
              </a:extLst>
            </p:cNvPr>
            <p:cNvSpPr txBox="1"/>
            <p:nvPr/>
          </p:nvSpPr>
          <p:spPr>
            <a:xfrm>
              <a:off x="3353877" y="2219516"/>
              <a:ext cx="583122" cy="369332"/>
            </a:xfrm>
            <a:prstGeom prst="rect">
              <a:avLst/>
            </a:prstGeom>
            <a:noFill/>
          </p:spPr>
          <p:txBody>
            <a:bodyPr wrap="square" rtlCol="0">
              <a:spAutoFit/>
            </a:bodyPr>
            <a:lstStyle/>
            <a:p>
              <a:r>
                <a:rPr lang="en-US" dirty="0"/>
                <a:t>10K</a:t>
              </a:r>
              <a:endParaRPr lang="en-US" baseline="-25000" dirty="0"/>
            </a:p>
          </p:txBody>
        </p:sp>
        <p:sp>
          <p:nvSpPr>
            <p:cNvPr id="122" name="TextBox 121">
              <a:extLst>
                <a:ext uri="{FF2B5EF4-FFF2-40B4-BE49-F238E27FC236}">
                  <a16:creationId xmlns:a16="http://schemas.microsoft.com/office/drawing/2014/main" id="{A7212F4F-F06E-0997-FF72-8FCABBA40D55}"/>
                </a:ext>
              </a:extLst>
            </p:cNvPr>
            <p:cNvSpPr txBox="1"/>
            <p:nvPr/>
          </p:nvSpPr>
          <p:spPr>
            <a:xfrm>
              <a:off x="2579984" y="2478879"/>
              <a:ext cx="335471" cy="369332"/>
            </a:xfrm>
            <a:prstGeom prst="rect">
              <a:avLst/>
            </a:prstGeom>
            <a:noFill/>
          </p:spPr>
          <p:txBody>
            <a:bodyPr wrap="square" rtlCol="0">
              <a:spAutoFit/>
            </a:bodyPr>
            <a:lstStyle/>
            <a:p>
              <a:r>
                <a:rPr lang="en-US" dirty="0"/>
                <a:t>+</a:t>
              </a:r>
              <a:endParaRPr lang="en-US" baseline="-25000" dirty="0"/>
            </a:p>
          </p:txBody>
        </p:sp>
        <p:grpSp>
          <p:nvGrpSpPr>
            <p:cNvPr id="124" name="Group 210">
              <a:extLst>
                <a:ext uri="{FF2B5EF4-FFF2-40B4-BE49-F238E27FC236}">
                  <a16:creationId xmlns:a16="http://schemas.microsoft.com/office/drawing/2014/main" id="{F99BC081-E4EA-E6D8-5B93-AA85C29C9851}"/>
                </a:ext>
              </a:extLst>
            </p:cNvPr>
            <p:cNvGrpSpPr>
              <a:grpSpLocks/>
            </p:cNvGrpSpPr>
            <p:nvPr/>
          </p:nvGrpSpPr>
          <p:grpSpPr bwMode="auto">
            <a:xfrm rot="5400000">
              <a:off x="8097056" y="3023108"/>
              <a:ext cx="304800" cy="762000"/>
              <a:chOff x="3216" y="1728"/>
              <a:chExt cx="192" cy="480"/>
            </a:xfrm>
          </p:grpSpPr>
          <p:sp>
            <p:nvSpPr>
              <p:cNvPr id="125" name="Line 8">
                <a:extLst>
                  <a:ext uri="{FF2B5EF4-FFF2-40B4-BE49-F238E27FC236}">
                    <a16:creationId xmlns:a16="http://schemas.microsoft.com/office/drawing/2014/main" id="{348A839A-FFDF-DCB8-96F7-0521D8CC790E}"/>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 name="Line 9">
                <a:extLst>
                  <a:ext uri="{FF2B5EF4-FFF2-40B4-BE49-F238E27FC236}">
                    <a16:creationId xmlns:a16="http://schemas.microsoft.com/office/drawing/2014/main" id="{AA033821-C2D7-35CA-0D0E-14898C042CB2}"/>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 name="Line 10">
                <a:extLst>
                  <a:ext uri="{FF2B5EF4-FFF2-40B4-BE49-F238E27FC236}">
                    <a16:creationId xmlns:a16="http://schemas.microsoft.com/office/drawing/2014/main" id="{0338CA66-18B5-3DFA-91BF-0F53CC015E59}"/>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 name="Line 11">
                <a:extLst>
                  <a:ext uri="{FF2B5EF4-FFF2-40B4-BE49-F238E27FC236}">
                    <a16:creationId xmlns:a16="http://schemas.microsoft.com/office/drawing/2014/main" id="{1CE32E08-DB4B-85A0-03BB-FE001DC0341A}"/>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dirty="0"/>
              </a:p>
            </p:txBody>
          </p:sp>
        </p:grpSp>
        <p:grpSp>
          <p:nvGrpSpPr>
            <p:cNvPr id="129" name="Group 307">
              <a:extLst>
                <a:ext uri="{FF2B5EF4-FFF2-40B4-BE49-F238E27FC236}">
                  <a16:creationId xmlns:a16="http://schemas.microsoft.com/office/drawing/2014/main" id="{B27DB4BF-6E65-1AA4-F7D0-A8808D99AAE1}"/>
                </a:ext>
              </a:extLst>
            </p:cNvPr>
            <p:cNvGrpSpPr>
              <a:grpSpLocks/>
            </p:cNvGrpSpPr>
            <p:nvPr/>
          </p:nvGrpSpPr>
          <p:grpSpPr bwMode="auto">
            <a:xfrm>
              <a:off x="8573830" y="3001082"/>
              <a:ext cx="461963" cy="914400"/>
              <a:chOff x="2514" y="547"/>
              <a:chExt cx="291" cy="576"/>
            </a:xfrm>
          </p:grpSpPr>
          <p:sp>
            <p:nvSpPr>
              <p:cNvPr id="130" name="Freeform 132">
                <a:extLst>
                  <a:ext uri="{FF2B5EF4-FFF2-40B4-BE49-F238E27FC236}">
                    <a16:creationId xmlns:a16="http://schemas.microsoft.com/office/drawing/2014/main" id="{F86364F9-5796-5EE9-4BC9-8EB8A06E9256}"/>
                  </a:ext>
                </a:extLst>
              </p:cNvPr>
              <p:cNvSpPr>
                <a:spLocks/>
              </p:cNvSpPr>
              <p:nvPr/>
            </p:nvSpPr>
            <p:spPr bwMode="auto">
              <a:xfrm>
                <a:off x="2540" y="547"/>
                <a:ext cx="232" cy="576"/>
              </a:xfrm>
              <a:custGeom>
                <a:avLst/>
                <a:gdLst>
                  <a:gd name="T0" fmla="*/ 232 w 232"/>
                  <a:gd name="T1" fmla="*/ 576 h 576"/>
                  <a:gd name="T2" fmla="*/ 232 w 232"/>
                  <a:gd name="T3" fmla="*/ 0 h 576"/>
                  <a:gd name="T4" fmla="*/ 116 w 232"/>
                  <a:gd name="T5" fmla="*/ 173 h 576"/>
                  <a:gd name="T6" fmla="*/ 1 w 232"/>
                  <a:gd name="T7" fmla="*/ 173 h 576"/>
                  <a:gd name="T8" fmla="*/ 1 w 232"/>
                  <a:gd name="T9" fmla="*/ 230 h 576"/>
                  <a:gd name="T10" fmla="*/ 0 w 232"/>
                  <a:gd name="T11" fmla="*/ 347 h 576"/>
                  <a:gd name="T12" fmla="*/ 1 w 232"/>
                  <a:gd name="T13" fmla="*/ 403 h 576"/>
                  <a:gd name="T14" fmla="*/ 116 w 232"/>
                  <a:gd name="T15" fmla="*/ 403 h 576"/>
                  <a:gd name="T16" fmla="*/ 232 w 232"/>
                  <a:gd name="T17" fmla="*/ 576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2"/>
                  <a:gd name="T28" fmla="*/ 0 h 576"/>
                  <a:gd name="T29" fmla="*/ 232 w 232"/>
                  <a:gd name="T30" fmla="*/ 576 h 57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2" h="576">
                    <a:moveTo>
                      <a:pt x="232" y="576"/>
                    </a:moveTo>
                    <a:lnTo>
                      <a:pt x="232" y="0"/>
                    </a:lnTo>
                    <a:lnTo>
                      <a:pt x="116" y="173"/>
                    </a:lnTo>
                    <a:lnTo>
                      <a:pt x="1" y="173"/>
                    </a:lnTo>
                    <a:lnTo>
                      <a:pt x="1" y="230"/>
                    </a:lnTo>
                    <a:lnTo>
                      <a:pt x="0" y="347"/>
                    </a:lnTo>
                    <a:lnTo>
                      <a:pt x="1" y="403"/>
                    </a:lnTo>
                    <a:lnTo>
                      <a:pt x="116" y="403"/>
                    </a:lnTo>
                    <a:lnTo>
                      <a:pt x="232" y="576"/>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1" name="Text Box 133">
                <a:extLst>
                  <a:ext uri="{FF2B5EF4-FFF2-40B4-BE49-F238E27FC236}">
                    <a16:creationId xmlns:a16="http://schemas.microsoft.com/office/drawing/2014/main" id="{012DAE67-A996-DBB2-0ED9-4F85AB72D957}"/>
                  </a:ext>
                </a:extLst>
              </p:cNvPr>
              <p:cNvSpPr txBox="1">
                <a:spLocks noChangeArrowheads="1"/>
              </p:cNvSpPr>
              <p:nvPr/>
            </p:nvSpPr>
            <p:spPr bwMode="auto">
              <a:xfrm>
                <a:off x="2514" y="762"/>
                <a:ext cx="29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800"/>
                  <a:t>SPKR</a:t>
                </a:r>
              </a:p>
            </p:txBody>
          </p:sp>
        </p:grpSp>
        <p:grpSp>
          <p:nvGrpSpPr>
            <p:cNvPr id="132" name="Group 220">
              <a:extLst>
                <a:ext uri="{FF2B5EF4-FFF2-40B4-BE49-F238E27FC236}">
                  <a16:creationId xmlns:a16="http://schemas.microsoft.com/office/drawing/2014/main" id="{19811D11-4D3A-BC9A-C663-CF910192DC8A}"/>
                </a:ext>
              </a:extLst>
            </p:cNvPr>
            <p:cNvGrpSpPr>
              <a:grpSpLocks/>
            </p:cNvGrpSpPr>
            <p:nvPr/>
          </p:nvGrpSpPr>
          <p:grpSpPr bwMode="auto">
            <a:xfrm>
              <a:off x="8630456" y="3661087"/>
              <a:ext cx="152400" cy="304800"/>
              <a:chOff x="3264" y="3072"/>
              <a:chExt cx="96" cy="192"/>
            </a:xfrm>
          </p:grpSpPr>
          <p:sp>
            <p:nvSpPr>
              <p:cNvPr id="133" name="Line 17">
                <a:extLst>
                  <a:ext uri="{FF2B5EF4-FFF2-40B4-BE49-F238E27FC236}">
                    <a16:creationId xmlns:a16="http://schemas.microsoft.com/office/drawing/2014/main" id="{80386812-76AE-27B9-8C68-2E75EC9D5DE7}"/>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 name="Freeform 18">
                <a:extLst>
                  <a:ext uri="{FF2B5EF4-FFF2-40B4-BE49-F238E27FC236}">
                    <a16:creationId xmlns:a16="http://schemas.microsoft.com/office/drawing/2014/main" id="{0F42B6E6-DEFE-86C8-162C-F120693E793B}"/>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35" name="TextBox 134">
              <a:extLst>
                <a:ext uri="{FF2B5EF4-FFF2-40B4-BE49-F238E27FC236}">
                  <a16:creationId xmlns:a16="http://schemas.microsoft.com/office/drawing/2014/main" id="{34959CDF-72C2-CAC3-81DC-E99288AF289C}"/>
                </a:ext>
              </a:extLst>
            </p:cNvPr>
            <p:cNvSpPr txBox="1"/>
            <p:nvPr/>
          </p:nvSpPr>
          <p:spPr>
            <a:xfrm>
              <a:off x="7933841" y="3138985"/>
              <a:ext cx="335471" cy="369332"/>
            </a:xfrm>
            <a:prstGeom prst="rect">
              <a:avLst/>
            </a:prstGeom>
            <a:noFill/>
          </p:spPr>
          <p:txBody>
            <a:bodyPr wrap="square" rtlCol="0">
              <a:spAutoFit/>
            </a:bodyPr>
            <a:lstStyle/>
            <a:p>
              <a:r>
                <a:rPr lang="en-US" dirty="0"/>
                <a:t>+</a:t>
              </a:r>
              <a:endParaRPr lang="en-US" baseline="-25000" dirty="0"/>
            </a:p>
          </p:txBody>
        </p:sp>
        <p:sp>
          <p:nvSpPr>
            <p:cNvPr id="136" name="TextBox 135">
              <a:extLst>
                <a:ext uri="{FF2B5EF4-FFF2-40B4-BE49-F238E27FC236}">
                  <a16:creationId xmlns:a16="http://schemas.microsoft.com/office/drawing/2014/main" id="{65E678F4-534B-2462-BE06-9668DEC2FCE4}"/>
                </a:ext>
              </a:extLst>
            </p:cNvPr>
            <p:cNvSpPr txBox="1"/>
            <p:nvPr/>
          </p:nvSpPr>
          <p:spPr>
            <a:xfrm>
              <a:off x="7868457" y="2782140"/>
              <a:ext cx="826257" cy="369332"/>
            </a:xfrm>
            <a:prstGeom prst="rect">
              <a:avLst/>
            </a:prstGeom>
            <a:noFill/>
          </p:spPr>
          <p:txBody>
            <a:bodyPr wrap="square" rtlCol="0">
              <a:spAutoFit/>
            </a:bodyPr>
            <a:lstStyle/>
            <a:p>
              <a:r>
                <a:rPr lang="en-US" dirty="0"/>
                <a:t>100 </a:t>
              </a:r>
              <a:r>
                <a:rPr lang="en-US" dirty="0" err="1"/>
                <a:t>uF</a:t>
              </a:r>
              <a:endParaRPr lang="en-US" dirty="0"/>
            </a:p>
          </p:txBody>
        </p:sp>
        <p:grpSp>
          <p:nvGrpSpPr>
            <p:cNvPr id="137" name="Group 220">
              <a:extLst>
                <a:ext uri="{FF2B5EF4-FFF2-40B4-BE49-F238E27FC236}">
                  <a16:creationId xmlns:a16="http://schemas.microsoft.com/office/drawing/2014/main" id="{A00BC90D-CD1A-47AE-7048-2046BF1E5057}"/>
                </a:ext>
              </a:extLst>
            </p:cNvPr>
            <p:cNvGrpSpPr>
              <a:grpSpLocks/>
            </p:cNvGrpSpPr>
            <p:nvPr/>
          </p:nvGrpSpPr>
          <p:grpSpPr bwMode="auto">
            <a:xfrm>
              <a:off x="6565392" y="4321487"/>
              <a:ext cx="152400" cy="304800"/>
              <a:chOff x="3264" y="3072"/>
              <a:chExt cx="96" cy="192"/>
            </a:xfrm>
          </p:grpSpPr>
          <p:sp>
            <p:nvSpPr>
              <p:cNvPr id="138" name="Line 17">
                <a:extLst>
                  <a:ext uri="{FF2B5EF4-FFF2-40B4-BE49-F238E27FC236}">
                    <a16:creationId xmlns:a16="http://schemas.microsoft.com/office/drawing/2014/main" id="{C453F808-62F0-3869-8337-4464B2679A84}"/>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9" name="Freeform 18">
                <a:extLst>
                  <a:ext uri="{FF2B5EF4-FFF2-40B4-BE49-F238E27FC236}">
                    <a16:creationId xmlns:a16="http://schemas.microsoft.com/office/drawing/2014/main" id="{68C4B3FB-8D5C-BAF8-B0E8-BA8C32A7FD8F}"/>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40" name="TextBox 139">
              <a:extLst>
                <a:ext uri="{FF2B5EF4-FFF2-40B4-BE49-F238E27FC236}">
                  <a16:creationId xmlns:a16="http://schemas.microsoft.com/office/drawing/2014/main" id="{765EAA4A-3E02-2C6A-952D-96F91050D610}"/>
                </a:ext>
              </a:extLst>
            </p:cNvPr>
            <p:cNvSpPr txBox="1"/>
            <p:nvPr/>
          </p:nvSpPr>
          <p:spPr>
            <a:xfrm>
              <a:off x="6842526" y="3898833"/>
              <a:ext cx="736597" cy="369332"/>
            </a:xfrm>
            <a:prstGeom prst="rect">
              <a:avLst/>
            </a:prstGeom>
            <a:noFill/>
          </p:spPr>
          <p:txBody>
            <a:bodyPr wrap="square" rtlCol="0">
              <a:spAutoFit/>
            </a:bodyPr>
            <a:lstStyle/>
            <a:p>
              <a:r>
                <a:rPr lang="en-US" dirty="0"/>
                <a:t>10 </a:t>
              </a:r>
              <a:r>
                <a:rPr lang="en-US" dirty="0" err="1"/>
                <a:t>uF</a:t>
              </a:r>
              <a:endParaRPr lang="en-US" dirty="0"/>
            </a:p>
          </p:txBody>
        </p:sp>
        <p:sp>
          <p:nvSpPr>
            <p:cNvPr id="141" name="TextBox 140">
              <a:extLst>
                <a:ext uri="{FF2B5EF4-FFF2-40B4-BE49-F238E27FC236}">
                  <a16:creationId xmlns:a16="http://schemas.microsoft.com/office/drawing/2014/main" id="{2453144C-BD23-57C3-91FF-64E149A5AB6F}"/>
                </a:ext>
              </a:extLst>
            </p:cNvPr>
            <p:cNvSpPr txBox="1"/>
            <p:nvPr/>
          </p:nvSpPr>
          <p:spPr>
            <a:xfrm>
              <a:off x="6593184" y="3659979"/>
              <a:ext cx="335471" cy="369332"/>
            </a:xfrm>
            <a:prstGeom prst="rect">
              <a:avLst/>
            </a:prstGeom>
            <a:noFill/>
          </p:spPr>
          <p:txBody>
            <a:bodyPr wrap="square" rtlCol="0">
              <a:spAutoFit/>
            </a:bodyPr>
            <a:lstStyle/>
            <a:p>
              <a:r>
                <a:rPr lang="en-US" dirty="0"/>
                <a:t>+</a:t>
              </a:r>
              <a:endParaRPr lang="en-US" baseline="-25000" dirty="0"/>
            </a:p>
          </p:txBody>
        </p:sp>
        <p:sp>
          <p:nvSpPr>
            <p:cNvPr id="142" name="TextBox 141">
              <a:extLst>
                <a:ext uri="{FF2B5EF4-FFF2-40B4-BE49-F238E27FC236}">
                  <a16:creationId xmlns:a16="http://schemas.microsoft.com/office/drawing/2014/main" id="{A4313901-DDC7-5BF9-AE1A-12EF4F0EF2A1}"/>
                </a:ext>
              </a:extLst>
            </p:cNvPr>
            <p:cNvSpPr txBox="1"/>
            <p:nvPr/>
          </p:nvSpPr>
          <p:spPr>
            <a:xfrm flipH="1">
              <a:off x="5638800" y="2833132"/>
              <a:ext cx="317500" cy="369332"/>
            </a:xfrm>
            <a:prstGeom prst="rect">
              <a:avLst/>
            </a:prstGeom>
            <a:noFill/>
          </p:spPr>
          <p:txBody>
            <a:bodyPr wrap="square" rtlCol="0">
              <a:spAutoFit/>
            </a:bodyPr>
            <a:lstStyle/>
            <a:p>
              <a:r>
                <a:rPr lang="en-US" dirty="0">
                  <a:solidFill>
                    <a:schemeClr val="accent1"/>
                  </a:solidFill>
                </a:rPr>
                <a:t>1</a:t>
              </a:r>
            </a:p>
          </p:txBody>
        </p:sp>
        <p:sp>
          <p:nvSpPr>
            <p:cNvPr id="143" name="TextBox 142">
              <a:extLst>
                <a:ext uri="{FF2B5EF4-FFF2-40B4-BE49-F238E27FC236}">
                  <a16:creationId xmlns:a16="http://schemas.microsoft.com/office/drawing/2014/main" id="{C8A72886-17CA-56A3-7468-9C5D29110B4D}"/>
                </a:ext>
              </a:extLst>
            </p:cNvPr>
            <p:cNvSpPr txBox="1"/>
            <p:nvPr/>
          </p:nvSpPr>
          <p:spPr>
            <a:xfrm flipH="1">
              <a:off x="6337300" y="3049032"/>
              <a:ext cx="317500" cy="369332"/>
            </a:xfrm>
            <a:prstGeom prst="rect">
              <a:avLst/>
            </a:prstGeom>
            <a:noFill/>
          </p:spPr>
          <p:txBody>
            <a:bodyPr wrap="square" rtlCol="0">
              <a:spAutoFit/>
            </a:bodyPr>
            <a:lstStyle/>
            <a:p>
              <a:r>
                <a:rPr lang="en-US" dirty="0"/>
                <a:t>8</a:t>
              </a:r>
            </a:p>
          </p:txBody>
        </p:sp>
        <p:grpSp>
          <p:nvGrpSpPr>
            <p:cNvPr id="144" name="Group 210">
              <a:extLst>
                <a:ext uri="{FF2B5EF4-FFF2-40B4-BE49-F238E27FC236}">
                  <a16:creationId xmlns:a16="http://schemas.microsoft.com/office/drawing/2014/main" id="{5E7E7C4B-1961-7B23-E6A8-47ACE73F2712}"/>
                </a:ext>
              </a:extLst>
            </p:cNvPr>
            <p:cNvGrpSpPr>
              <a:grpSpLocks/>
            </p:cNvGrpSpPr>
            <p:nvPr/>
          </p:nvGrpSpPr>
          <p:grpSpPr bwMode="auto">
            <a:xfrm rot="5400000">
              <a:off x="6025874" y="2224580"/>
              <a:ext cx="304800" cy="762000"/>
              <a:chOff x="3216" y="1728"/>
              <a:chExt cx="192" cy="480"/>
            </a:xfrm>
          </p:grpSpPr>
          <p:sp>
            <p:nvSpPr>
              <p:cNvPr id="145" name="Line 8">
                <a:extLst>
                  <a:ext uri="{FF2B5EF4-FFF2-40B4-BE49-F238E27FC236}">
                    <a16:creationId xmlns:a16="http://schemas.microsoft.com/office/drawing/2014/main" id="{0D3CC560-25C4-E998-DBAC-2C769D283691}"/>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dirty="0">
                  <a:solidFill>
                    <a:schemeClr val="accent1"/>
                  </a:solidFill>
                </a:endParaRPr>
              </a:p>
            </p:txBody>
          </p:sp>
          <p:sp>
            <p:nvSpPr>
              <p:cNvPr id="146" name="Line 9">
                <a:extLst>
                  <a:ext uri="{FF2B5EF4-FFF2-40B4-BE49-F238E27FC236}">
                    <a16:creationId xmlns:a16="http://schemas.microsoft.com/office/drawing/2014/main" id="{AB55018C-9171-16B6-6D34-21C00CDFBB03}"/>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chemeClr val="accent1"/>
                  </a:solidFill>
                </a:endParaRPr>
              </a:p>
            </p:txBody>
          </p:sp>
          <p:sp>
            <p:nvSpPr>
              <p:cNvPr id="147" name="Line 10">
                <a:extLst>
                  <a:ext uri="{FF2B5EF4-FFF2-40B4-BE49-F238E27FC236}">
                    <a16:creationId xmlns:a16="http://schemas.microsoft.com/office/drawing/2014/main" id="{EC2CE5D8-AE11-9115-2784-D13667B23DB1}"/>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chemeClr val="accent1"/>
                  </a:solidFill>
                </a:endParaRPr>
              </a:p>
            </p:txBody>
          </p:sp>
          <p:sp>
            <p:nvSpPr>
              <p:cNvPr id="148" name="Line 11">
                <a:extLst>
                  <a:ext uri="{FF2B5EF4-FFF2-40B4-BE49-F238E27FC236}">
                    <a16:creationId xmlns:a16="http://schemas.microsoft.com/office/drawing/2014/main" id="{8295D7DB-D4F3-5477-5A34-504856817CAE}"/>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dirty="0">
                  <a:solidFill>
                    <a:schemeClr val="accent1"/>
                  </a:solidFill>
                </a:endParaRPr>
              </a:p>
            </p:txBody>
          </p:sp>
        </p:grpSp>
        <p:cxnSp>
          <p:nvCxnSpPr>
            <p:cNvPr id="149" name="Straight Connector 148">
              <a:extLst>
                <a:ext uri="{FF2B5EF4-FFF2-40B4-BE49-F238E27FC236}">
                  <a16:creationId xmlns:a16="http://schemas.microsoft.com/office/drawing/2014/main" id="{6451EE9F-4C07-D098-6AAC-683950DCF52B}"/>
                </a:ext>
              </a:extLst>
            </p:cNvPr>
            <p:cNvCxnSpPr>
              <a:cxnSpLocks/>
            </p:cNvCxnSpPr>
            <p:nvPr/>
          </p:nvCxnSpPr>
          <p:spPr>
            <a:xfrm>
              <a:off x="6553200" y="2595960"/>
              <a:ext cx="0" cy="457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51" name="TextBox 150">
              <a:extLst>
                <a:ext uri="{FF2B5EF4-FFF2-40B4-BE49-F238E27FC236}">
                  <a16:creationId xmlns:a16="http://schemas.microsoft.com/office/drawing/2014/main" id="{3042FC21-085A-B8BB-FF7A-3C91BC7C1FCD}"/>
                </a:ext>
              </a:extLst>
            </p:cNvPr>
            <p:cNvSpPr txBox="1"/>
            <p:nvPr/>
          </p:nvSpPr>
          <p:spPr>
            <a:xfrm>
              <a:off x="5856584" y="2301079"/>
              <a:ext cx="335471" cy="369332"/>
            </a:xfrm>
            <a:prstGeom prst="rect">
              <a:avLst/>
            </a:prstGeom>
            <a:noFill/>
          </p:spPr>
          <p:txBody>
            <a:bodyPr wrap="square" rtlCol="0">
              <a:spAutoFit/>
            </a:bodyPr>
            <a:lstStyle/>
            <a:p>
              <a:r>
                <a:rPr lang="en-US" dirty="0">
                  <a:solidFill>
                    <a:schemeClr val="accent1"/>
                  </a:solidFill>
                </a:rPr>
                <a:t>+</a:t>
              </a:r>
              <a:endParaRPr lang="en-US" baseline="-25000" dirty="0">
                <a:solidFill>
                  <a:schemeClr val="accent1"/>
                </a:solidFill>
              </a:endParaRPr>
            </a:p>
          </p:txBody>
        </p:sp>
        <p:cxnSp>
          <p:nvCxnSpPr>
            <p:cNvPr id="153" name="Straight Connector 152">
              <a:extLst>
                <a:ext uri="{FF2B5EF4-FFF2-40B4-BE49-F238E27FC236}">
                  <a16:creationId xmlns:a16="http://schemas.microsoft.com/office/drawing/2014/main" id="{59AF369D-E688-F40C-E079-DA50419450A2}"/>
                </a:ext>
              </a:extLst>
            </p:cNvPr>
            <p:cNvCxnSpPr>
              <a:cxnSpLocks/>
            </p:cNvCxnSpPr>
            <p:nvPr/>
          </p:nvCxnSpPr>
          <p:spPr>
            <a:xfrm flipV="1">
              <a:off x="5802884" y="2591191"/>
              <a:ext cx="0" cy="22924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54" name="TextBox 153">
              <a:extLst>
                <a:ext uri="{FF2B5EF4-FFF2-40B4-BE49-F238E27FC236}">
                  <a16:creationId xmlns:a16="http://schemas.microsoft.com/office/drawing/2014/main" id="{7309FBA3-A0B4-12AE-E0A7-40B9EB75D122}"/>
                </a:ext>
              </a:extLst>
            </p:cNvPr>
            <p:cNvSpPr txBox="1"/>
            <p:nvPr/>
          </p:nvSpPr>
          <p:spPr>
            <a:xfrm>
              <a:off x="2586820" y="2183795"/>
              <a:ext cx="736597" cy="369332"/>
            </a:xfrm>
            <a:prstGeom prst="rect">
              <a:avLst/>
            </a:prstGeom>
            <a:noFill/>
          </p:spPr>
          <p:txBody>
            <a:bodyPr wrap="square" rtlCol="0">
              <a:spAutoFit/>
            </a:bodyPr>
            <a:lstStyle/>
            <a:p>
              <a:r>
                <a:rPr lang="en-US" dirty="0"/>
                <a:t>10 </a:t>
              </a:r>
              <a:r>
                <a:rPr lang="en-US" dirty="0" err="1"/>
                <a:t>uF</a:t>
              </a:r>
              <a:endParaRPr lang="en-US" dirty="0"/>
            </a:p>
          </p:txBody>
        </p:sp>
        <p:sp>
          <p:nvSpPr>
            <p:cNvPr id="155" name="TextBox 154">
              <a:extLst>
                <a:ext uri="{FF2B5EF4-FFF2-40B4-BE49-F238E27FC236}">
                  <a16:creationId xmlns:a16="http://schemas.microsoft.com/office/drawing/2014/main" id="{16EBA5C5-91A7-90C6-2516-0B0329987978}"/>
                </a:ext>
              </a:extLst>
            </p:cNvPr>
            <p:cNvSpPr txBox="1"/>
            <p:nvPr/>
          </p:nvSpPr>
          <p:spPr>
            <a:xfrm flipH="1">
              <a:off x="6426200" y="3341132"/>
              <a:ext cx="317500" cy="369332"/>
            </a:xfrm>
            <a:prstGeom prst="rect">
              <a:avLst/>
            </a:prstGeom>
            <a:noFill/>
          </p:spPr>
          <p:txBody>
            <a:bodyPr wrap="square" rtlCol="0">
              <a:spAutoFit/>
            </a:bodyPr>
            <a:lstStyle/>
            <a:p>
              <a:r>
                <a:rPr lang="en-US" dirty="0"/>
                <a:t>7</a:t>
              </a:r>
            </a:p>
          </p:txBody>
        </p:sp>
        <p:sp>
          <p:nvSpPr>
            <p:cNvPr id="156" name="TextBox 155">
              <a:extLst>
                <a:ext uri="{FF2B5EF4-FFF2-40B4-BE49-F238E27FC236}">
                  <a16:creationId xmlns:a16="http://schemas.microsoft.com/office/drawing/2014/main" id="{F29A078D-19BE-38CB-0469-294C40203435}"/>
                </a:ext>
              </a:extLst>
            </p:cNvPr>
            <p:cNvSpPr txBox="1"/>
            <p:nvPr/>
          </p:nvSpPr>
          <p:spPr>
            <a:xfrm>
              <a:off x="5890025" y="1890953"/>
              <a:ext cx="1971269" cy="523220"/>
            </a:xfrm>
            <a:prstGeom prst="rect">
              <a:avLst/>
            </a:prstGeom>
            <a:noFill/>
          </p:spPr>
          <p:txBody>
            <a:bodyPr wrap="square" rtlCol="0">
              <a:spAutoFit/>
            </a:bodyPr>
            <a:lstStyle/>
            <a:p>
              <a:r>
                <a:rPr lang="en-US" sz="1400" dirty="0">
                  <a:solidFill>
                    <a:schemeClr val="accent1"/>
                  </a:solidFill>
                </a:rPr>
                <a:t>10 </a:t>
              </a:r>
              <a:r>
                <a:rPr lang="en-US" sz="1400" dirty="0" err="1">
                  <a:solidFill>
                    <a:schemeClr val="accent1"/>
                  </a:solidFill>
                </a:rPr>
                <a:t>uF</a:t>
              </a:r>
              <a:r>
                <a:rPr lang="en-US" sz="1400" dirty="0">
                  <a:solidFill>
                    <a:schemeClr val="accent1"/>
                  </a:solidFill>
                </a:rPr>
                <a:t>, optional, increases gain to 200</a:t>
              </a:r>
            </a:p>
          </p:txBody>
        </p:sp>
      </p:grpSp>
    </p:spTree>
    <p:extLst>
      <p:ext uri="{BB962C8B-B14F-4D97-AF65-F5344CB8AC3E}">
        <p14:creationId xmlns:p14="http://schemas.microsoft.com/office/powerpoint/2010/main" val="325410223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155731"/>
            <a:ext cx="11529391" cy="769441"/>
          </a:xfrm>
          <a:prstGeom prst="rect">
            <a:avLst/>
          </a:prstGeom>
          <a:noFill/>
        </p:spPr>
        <p:txBody>
          <a:bodyPr wrap="square" rtlCol="0">
            <a:spAutoFit/>
          </a:bodyPr>
          <a:lstStyle/>
          <a:p>
            <a:pPr algn="ctr"/>
            <a:r>
              <a:rPr lang="en-US" sz="4400">
                <a:latin typeface="+mj-lt"/>
              </a:rPr>
              <a:t>Blank</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6553200" y="6404292"/>
            <a:ext cx="2133600" cy="269241"/>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pPr lvl="0"/>
              <a:t>104</a:t>
            </a:fld>
            <a:endParaRPr lang="en-US"/>
          </a:p>
        </p:txBody>
      </p:sp>
    </p:spTree>
    <p:extLst>
      <p:ext uri="{BB962C8B-B14F-4D97-AF65-F5344CB8AC3E}">
        <p14:creationId xmlns:p14="http://schemas.microsoft.com/office/powerpoint/2010/main" val="39337735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10609</TotalTime>
  <Words>8878</Words>
  <Application>Microsoft Macintosh PowerPoint</Application>
  <PresentationFormat>Widescreen</PresentationFormat>
  <Paragraphs>1921</Paragraphs>
  <Slides>104</Slides>
  <Notes>77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104</vt:i4>
      </vt:variant>
    </vt:vector>
  </HeadingPairs>
  <TitlesOfParts>
    <vt:vector size="112" baseType="lpstr">
      <vt:lpstr>Arial</vt:lpstr>
      <vt:lpstr>Calibri</vt:lpstr>
      <vt:lpstr>Calibri Light</vt:lpstr>
      <vt:lpstr>Cambria Math</vt:lpstr>
      <vt:lpstr>Liberation Serif</vt:lpstr>
      <vt:lpstr>Noto Serif CJK SC</vt:lpstr>
      <vt:lpstr>Times New Roman</vt:lpstr>
      <vt:lpstr>Office Theme</vt:lpstr>
      <vt:lpstr>Electronics of Radio, Part 2 Notes on David Rutledge’s book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Antenna aperture</vt:lpstr>
      <vt:lpstr>Radiation loss and antenna aperture</vt:lpstr>
      <vt:lpstr>PowerPoint Presentation</vt:lpstr>
      <vt:lpstr>PowerPoint Presentation</vt:lpstr>
      <vt:lpstr>Another antenna model</vt:lpstr>
      <vt:lpstr>Direct conversion and superhet receivers</vt:lpstr>
      <vt:lpstr>PowerPoint Presentation</vt:lpstr>
      <vt:lpstr>PowerPoint Presentation</vt:lpstr>
      <vt:lpstr>PowerPoint Presentation</vt:lpstr>
      <vt:lpstr>Norcal circuit diagram, 1</vt:lpstr>
      <vt:lpstr>Norcal circuit diagram, 2</vt:lpstr>
      <vt:lpstr>Norcal circuit diagram, 3</vt:lpstr>
      <vt:lpstr>Norcal circuit diagram, 4</vt:lpstr>
      <vt:lpstr>Norcal circuit diagram, 5</vt:lpstr>
      <vt:lpstr>In the beginning…</vt:lpstr>
      <vt:lpstr>Solutions to the wave equation</vt:lpstr>
      <vt:lpstr>General solution to Maxwell’s equations</vt:lpstr>
      <vt:lpstr>General solution to Maxwell’s equations</vt:lpstr>
      <vt:lpstr>Solution to Maxwell’s equations in free space</vt:lpstr>
      <vt:lpstr>Solution to Maxwell’s equations in conductors</vt:lpstr>
      <vt:lpstr>Radiation, antennas</vt:lpstr>
      <vt:lpstr>Maxwell’s equations in a non-dispersive media</vt:lpstr>
      <vt:lpstr>Radiation from a small dipole</vt:lpstr>
      <vt:lpstr>Radiation from a small dipole</vt:lpstr>
      <vt:lpstr>Radiation from a small dipole</vt:lpstr>
      <vt:lpstr>Large half wave dipole</vt:lpstr>
      <vt:lpstr>Radiation from charge distribution</vt:lpstr>
      <vt:lpstr>Radiation from a single accelerating charge</vt:lpstr>
      <vt:lpstr>Feynman’s Treatment - 1</vt:lpstr>
      <vt:lpstr>Feynman’s Treatment - 2</vt:lpstr>
      <vt:lpstr>Feynman’s Treatment - 3</vt:lpstr>
      <vt:lpstr>Feynman’s Treatment - 4</vt:lpstr>
      <vt:lpstr>Lienard-Wierchert</vt:lpstr>
      <vt:lpstr>PowerPoint Presentation</vt:lpstr>
      <vt:lpstr>PowerPoint Presentation</vt:lpstr>
      <vt:lpstr>PowerPoint Presentation</vt:lpstr>
      <vt:lpstr>PowerPoint Presentation</vt:lpstr>
      <vt:lpstr>PowerPoint Presentation</vt:lpstr>
      <vt:lpstr>Impedance matching</vt:lpstr>
      <vt:lpstr>PowerPoint Presentation</vt:lpstr>
      <vt:lpstr>PowerPoint Presentation</vt:lpstr>
      <vt:lpstr>Some filter transfer functions</vt:lpstr>
      <vt:lpstr>Feedback networks for oscillators</vt:lpstr>
      <vt:lpstr>PowerPoint Presentation</vt:lpstr>
      <vt:lpstr>PowerPoint Presentation</vt:lpstr>
      <vt:lpstr>PowerPoint Presentation</vt:lpstr>
      <vt:lpstr>PowerPoint Presentation</vt:lpstr>
      <vt:lpstr>Miscellaneous op amps</vt:lpstr>
      <vt:lpstr>358 op amp</vt:lpstr>
      <vt:lpstr>Op integrators and differentiators and differential amp</vt:lpstr>
      <vt:lpstr>Real 358 based ops</vt:lpstr>
      <vt:lpstr>PowerPoint Presentation</vt:lpstr>
      <vt:lpstr>PowerPoint Presentation</vt:lpstr>
      <vt:lpstr>PLL</vt:lpstr>
      <vt:lpstr>PLL FM detector</vt:lpstr>
      <vt:lpstr>PowerPoint Presentation</vt:lpstr>
      <vt:lpstr>RF Amp</vt:lpstr>
      <vt:lpstr>PowerPoint Presentation</vt:lpstr>
      <vt:lpstr>PowerPoint Presentation</vt:lpstr>
      <vt:lpstr>PowerPoint Presentation</vt:lpstr>
      <vt:lpstr>More Oscillators</vt:lpstr>
      <vt:lpstr>More Oscillators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Morse</vt:lpstr>
      <vt:lpstr>PowerPoint Presentation</vt:lpstr>
      <vt:lpstr>Color codes</vt:lpstr>
      <vt:lpstr>Component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Electronics of Radi</dc:title>
  <dc:creator>John Manferdelli</dc:creator>
  <cp:lastModifiedBy>John Manferdelli</cp:lastModifiedBy>
  <cp:revision>1275</cp:revision>
  <cp:lastPrinted>2024-05-27T20:17:05Z</cp:lastPrinted>
  <dcterms:created xsi:type="dcterms:W3CDTF">2021-07-06T18:24:07Z</dcterms:created>
  <dcterms:modified xsi:type="dcterms:W3CDTF">2026-08-26T22:33:31Z</dcterms:modified>
</cp:coreProperties>
</file>