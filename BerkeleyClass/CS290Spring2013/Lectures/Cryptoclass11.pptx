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87"/>
  </p:notesMasterIdLst>
  <p:handoutMasterIdLst>
    <p:handoutMasterId r:id="rId88"/>
  </p:handoutMasterIdLst>
  <p:sldIdLst>
    <p:sldId id="3175" r:id="rId2"/>
    <p:sldId id="3497" r:id="rId3"/>
    <p:sldId id="3665" r:id="rId4"/>
    <p:sldId id="3649" r:id="rId5"/>
    <p:sldId id="3648" r:id="rId6"/>
    <p:sldId id="3668" r:id="rId7"/>
    <p:sldId id="3627" r:id="rId8"/>
    <p:sldId id="3650" r:id="rId9"/>
    <p:sldId id="3651" r:id="rId10"/>
    <p:sldId id="3652" r:id="rId11"/>
    <p:sldId id="3655" r:id="rId12"/>
    <p:sldId id="3671" r:id="rId13"/>
    <p:sldId id="3632" r:id="rId14"/>
    <p:sldId id="3736" r:id="rId15"/>
    <p:sldId id="3633" r:id="rId16"/>
    <p:sldId id="3634" r:id="rId17"/>
    <p:sldId id="3635" r:id="rId18"/>
    <p:sldId id="3636" r:id="rId19"/>
    <p:sldId id="3659" r:id="rId20"/>
    <p:sldId id="3674" r:id="rId21"/>
    <p:sldId id="3658" r:id="rId22"/>
    <p:sldId id="3660" r:id="rId23"/>
    <p:sldId id="3673" r:id="rId24"/>
    <p:sldId id="3675" r:id="rId25"/>
    <p:sldId id="3677" r:id="rId26"/>
    <p:sldId id="3679" r:id="rId27"/>
    <p:sldId id="3689" r:id="rId28"/>
    <p:sldId id="3657" r:id="rId29"/>
    <p:sldId id="3678" r:id="rId30"/>
    <p:sldId id="3667" r:id="rId31"/>
    <p:sldId id="3676" r:id="rId32"/>
    <p:sldId id="3680" r:id="rId33"/>
    <p:sldId id="3698" r:id="rId34"/>
    <p:sldId id="3706" r:id="rId35"/>
    <p:sldId id="3700" r:id="rId36"/>
    <p:sldId id="3702" r:id="rId37"/>
    <p:sldId id="3701" r:id="rId38"/>
    <p:sldId id="3735" r:id="rId39"/>
    <p:sldId id="3697" r:id="rId40"/>
    <p:sldId id="3743" r:id="rId41"/>
    <p:sldId id="3747" r:id="rId42"/>
    <p:sldId id="3744" r:id="rId43"/>
    <p:sldId id="3749" r:id="rId44"/>
    <p:sldId id="3704" r:id="rId45"/>
    <p:sldId id="3742" r:id="rId46"/>
    <p:sldId id="3691" r:id="rId47"/>
    <p:sldId id="3692" r:id="rId48"/>
    <p:sldId id="3693" r:id="rId49"/>
    <p:sldId id="3718" r:id="rId50"/>
    <p:sldId id="3719" r:id="rId51"/>
    <p:sldId id="3720" r:id="rId52"/>
    <p:sldId id="3703" r:id="rId53"/>
    <p:sldId id="3724" r:id="rId54"/>
    <p:sldId id="3734" r:id="rId55"/>
    <p:sldId id="3708" r:id="rId56"/>
    <p:sldId id="3709" r:id="rId57"/>
    <p:sldId id="3712" r:id="rId58"/>
    <p:sldId id="3710" r:id="rId59"/>
    <p:sldId id="3711" r:id="rId60"/>
    <p:sldId id="3721" r:id="rId61"/>
    <p:sldId id="3714" r:id="rId62"/>
    <p:sldId id="3738" r:id="rId63"/>
    <p:sldId id="3699" r:id="rId64"/>
    <p:sldId id="3737" r:id="rId65"/>
    <p:sldId id="3722" r:id="rId66"/>
    <p:sldId id="3745" r:id="rId67"/>
    <p:sldId id="3725" r:id="rId68"/>
    <p:sldId id="3732" r:id="rId69"/>
    <p:sldId id="3750" r:id="rId70"/>
    <p:sldId id="3681" r:id="rId71"/>
    <p:sldId id="3751" r:id="rId72"/>
    <p:sldId id="3695" r:id="rId73"/>
    <p:sldId id="3705" r:id="rId74"/>
    <p:sldId id="3726" r:id="rId75"/>
    <p:sldId id="3727" r:id="rId76"/>
    <p:sldId id="3731" r:id="rId77"/>
    <p:sldId id="3730" r:id="rId78"/>
    <p:sldId id="3728" r:id="rId79"/>
    <p:sldId id="3729" r:id="rId80"/>
    <p:sldId id="3739" r:id="rId81"/>
    <p:sldId id="3748" r:id="rId82"/>
    <p:sldId id="3741" r:id="rId83"/>
    <p:sldId id="3647" r:id="rId84"/>
    <p:sldId id="3631" r:id="rId85"/>
    <p:sldId id="3628" r:id="rId86"/>
  </p:sldIdLst>
  <p:sldSz cx="9144000" cy="6858000" type="letter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Courier New" pitchFamily="49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Courier New" pitchFamily="49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Courier New" pitchFamily="49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Courier New" pitchFamily="49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Courier New" pitchFamily="49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Courier New" pitchFamily="49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Courier New" pitchFamily="49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Courier New" pitchFamily="49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Courier New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7" userDrawn="1">
          <p15:clr>
            <a:srgbClr val="A4A3A4"/>
          </p15:clr>
        </p15:guide>
        <p15:guide id="2" pos="220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FFFF"/>
    <a:srgbClr val="66FF66"/>
    <a:srgbClr val="006600"/>
    <a:srgbClr val="008000"/>
    <a:srgbClr val="33CC33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21" autoAdjust="0"/>
    <p:restoredTop sz="99000" autoAdjust="0"/>
  </p:normalViewPr>
  <p:slideViewPr>
    <p:cSldViewPr>
      <p:cViewPr varScale="1">
        <p:scale>
          <a:sx n="158" d="100"/>
          <a:sy n="158" d="100"/>
        </p:scale>
        <p:origin x="72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22240"/>
    </p:cViewPr>
  </p:sorterViewPr>
  <p:notesViewPr>
    <p:cSldViewPr>
      <p:cViewPr varScale="1">
        <p:scale>
          <a:sx n="81" d="100"/>
          <a:sy n="81" d="100"/>
        </p:scale>
        <p:origin x="3984" y="192"/>
      </p:cViewPr>
      <p:guideLst>
        <p:guide orient="horz" pos="2927"/>
        <p:guide pos="220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9" tIns="46584" rIns="93169" bIns="46584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76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514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9" tIns="46584" rIns="93169" bIns="4658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76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9" tIns="46584" rIns="93169" bIns="46584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76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3514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9" tIns="46584" rIns="93169" bIns="4658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9F41C62-24AD-4422-86EA-3510476326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275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69" tIns="46584" rIns="93169" bIns="46584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4" y="0"/>
            <a:ext cx="3036887" cy="463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69" tIns="46584" rIns="93169" bIns="4658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5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4838"/>
            <a:ext cx="5140325" cy="41846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69" tIns="46584" rIns="93169" bIns="465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69" tIns="46584" rIns="93169" bIns="46584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4" y="8832850"/>
            <a:ext cx="3036887" cy="463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69" tIns="46584" rIns="93169" bIns="4658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DA4E4DDF-A3B5-4DC0-AAB1-D8EC8F9D7F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60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A4E4DDF-A3B5-4DC0-AAB1-D8EC8F9D7FB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83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B9A379-65AD-4C1A-85B1-BCDDD69C1EB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9988" y="688975"/>
            <a:ext cx="4673600" cy="3505200"/>
          </a:xfrm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4421188"/>
            <a:ext cx="5184775" cy="419100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451D4C-9658-4597-AE05-5E92837D184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9988" y="688975"/>
            <a:ext cx="4673600" cy="3505200"/>
          </a:xfrm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4421188"/>
            <a:ext cx="5184775" cy="419100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CAD53-EE28-E55C-6DC2-CF7EB349E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>
            <a:extLst>
              <a:ext uri="{FF2B5EF4-FFF2-40B4-BE49-F238E27FC236}">
                <a16:creationId xmlns:a16="http://schemas.microsoft.com/office/drawing/2014/main" id="{53796C77-9217-C3C4-8C66-BF2B263608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451D4C-9658-4597-AE05-5E92837D184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59747" name="Rectangle 2">
            <a:extLst>
              <a:ext uri="{FF2B5EF4-FFF2-40B4-BE49-F238E27FC236}">
                <a16:creationId xmlns:a16="http://schemas.microsoft.com/office/drawing/2014/main" id="{A659B0BB-2DF9-821E-9B28-66B1929293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9988" y="688975"/>
            <a:ext cx="4673600" cy="3505200"/>
          </a:xfrm>
          <a:ln/>
        </p:spPr>
      </p:sp>
      <p:sp>
        <p:nvSpPr>
          <p:cNvPr id="159748" name="Rectangle 3">
            <a:extLst>
              <a:ext uri="{FF2B5EF4-FFF2-40B4-BE49-F238E27FC236}">
                <a16:creationId xmlns:a16="http://schemas.microsoft.com/office/drawing/2014/main" id="{CCA3A7D2-83D1-653E-0205-BCD66C00FE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1" y="4421188"/>
            <a:ext cx="5184775" cy="419100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74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451D4C-9658-4597-AE05-5E92837D1845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9988" y="688975"/>
            <a:ext cx="4673600" cy="3505200"/>
          </a:xfrm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4421188"/>
            <a:ext cx="5184775" cy="419100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451D4C-9658-4597-AE05-5E92837D184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9988" y="688975"/>
            <a:ext cx="4673600" cy="3505200"/>
          </a:xfrm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4421188"/>
            <a:ext cx="5184775" cy="419100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451D4C-9658-4597-AE05-5E92837D184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9988" y="688975"/>
            <a:ext cx="4673600" cy="3505200"/>
          </a:xfrm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4421188"/>
            <a:ext cx="5184775" cy="419100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451D4C-9658-4597-AE05-5E92837D1845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9988" y="688975"/>
            <a:ext cx="4673600" cy="3505200"/>
          </a:xfrm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4421188"/>
            <a:ext cx="5184775" cy="419100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A4E4DDF-A3B5-4DC0-AAB1-D8EC8F9D7FBA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235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A4E4DDF-A3B5-4DC0-AAB1-D8EC8F9D7FBA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57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9494F-1E1C-FED0-EFCB-5F4BF96C4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45E98A-DEBA-0F53-BF50-D4A2D6451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67DC5-7FB9-2164-6A02-10E602951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AA976-47C8-AD0C-9DF5-8A7E81E02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A4E4DDF-A3B5-4DC0-AAB1-D8EC8F9D7FBA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59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4DC359-AE9D-438A-9EEE-0434A66355B5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9988" y="688975"/>
            <a:ext cx="4673600" cy="3505200"/>
          </a:xfrm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4421188"/>
            <a:ext cx="5184775" cy="419100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633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4DC359-AE9D-438A-9EEE-0434A66355B5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9988" y="688975"/>
            <a:ext cx="4673600" cy="3505200"/>
          </a:xfrm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4421188"/>
            <a:ext cx="5184775" cy="419100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12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invGray">
          <a:xfrm>
            <a:off x="0" y="1295400"/>
            <a:ext cx="9142413" cy="7620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5" name="Group 33"/>
          <p:cNvGrpSpPr>
            <a:grpSpLocks/>
          </p:cNvGrpSpPr>
          <p:nvPr/>
        </p:nvGrpSpPr>
        <p:grpSpPr bwMode="auto">
          <a:xfrm rot="-5400000">
            <a:off x="0" y="2514600"/>
            <a:ext cx="1909763" cy="1909763"/>
            <a:chOff x="0" y="1584"/>
            <a:chExt cx="1203" cy="1203"/>
          </a:xfrm>
        </p:grpSpPr>
        <p:sp>
          <p:nvSpPr>
            <p:cNvPr id="6" name="Freeform 25"/>
            <p:cNvSpPr>
              <a:spLocks/>
            </p:cNvSpPr>
            <p:nvPr/>
          </p:nvSpPr>
          <p:spPr bwMode="invGray">
            <a:xfrm>
              <a:off x="0" y="1632"/>
              <a:ext cx="443" cy="1033"/>
            </a:xfrm>
            <a:custGeom>
              <a:avLst/>
              <a:gdLst/>
              <a:ahLst/>
              <a:cxnLst>
                <a:cxn ang="0">
                  <a:pos x="290" y="1016"/>
                </a:cxn>
                <a:cxn ang="0">
                  <a:pos x="316" y="974"/>
                </a:cxn>
                <a:cxn ang="0">
                  <a:pos x="354" y="920"/>
                </a:cxn>
                <a:cxn ang="0">
                  <a:pos x="384" y="884"/>
                </a:cxn>
                <a:cxn ang="0">
                  <a:pos x="381" y="832"/>
                </a:cxn>
                <a:cxn ang="0">
                  <a:pos x="370" y="794"/>
                </a:cxn>
                <a:cxn ang="0">
                  <a:pos x="361" y="760"/>
                </a:cxn>
                <a:cxn ang="0">
                  <a:pos x="361" y="734"/>
                </a:cxn>
                <a:cxn ang="0">
                  <a:pos x="359" y="707"/>
                </a:cxn>
                <a:cxn ang="0">
                  <a:pos x="373" y="691"/>
                </a:cxn>
                <a:cxn ang="0">
                  <a:pos x="391" y="686"/>
                </a:cxn>
                <a:cxn ang="0">
                  <a:pos x="395" y="680"/>
                </a:cxn>
                <a:cxn ang="0">
                  <a:pos x="390" y="671"/>
                </a:cxn>
                <a:cxn ang="0">
                  <a:pos x="386" y="660"/>
                </a:cxn>
                <a:cxn ang="0">
                  <a:pos x="437" y="635"/>
                </a:cxn>
                <a:cxn ang="0">
                  <a:pos x="442" y="619"/>
                </a:cxn>
                <a:cxn ang="0">
                  <a:pos x="438" y="604"/>
                </a:cxn>
                <a:cxn ang="0">
                  <a:pos x="400" y="543"/>
                </a:cxn>
                <a:cxn ang="0">
                  <a:pos x="384" y="474"/>
                </a:cxn>
                <a:cxn ang="0">
                  <a:pos x="354" y="455"/>
                </a:cxn>
                <a:cxn ang="0">
                  <a:pos x="326" y="433"/>
                </a:cxn>
                <a:cxn ang="0">
                  <a:pos x="312" y="411"/>
                </a:cxn>
                <a:cxn ang="0">
                  <a:pos x="307" y="391"/>
                </a:cxn>
                <a:cxn ang="0">
                  <a:pos x="290" y="339"/>
                </a:cxn>
                <a:cxn ang="0">
                  <a:pos x="308" y="289"/>
                </a:cxn>
                <a:cxn ang="0">
                  <a:pos x="298" y="278"/>
                </a:cxn>
                <a:cxn ang="0">
                  <a:pos x="280" y="307"/>
                </a:cxn>
                <a:cxn ang="0">
                  <a:pos x="269" y="283"/>
                </a:cxn>
                <a:cxn ang="0">
                  <a:pos x="272" y="224"/>
                </a:cxn>
                <a:cxn ang="0">
                  <a:pos x="280" y="177"/>
                </a:cxn>
                <a:cxn ang="0">
                  <a:pos x="280" y="146"/>
                </a:cxn>
                <a:cxn ang="0">
                  <a:pos x="281" y="123"/>
                </a:cxn>
                <a:cxn ang="0">
                  <a:pos x="290" y="104"/>
                </a:cxn>
                <a:cxn ang="0">
                  <a:pos x="296" y="97"/>
                </a:cxn>
                <a:cxn ang="0">
                  <a:pos x="298" y="94"/>
                </a:cxn>
                <a:cxn ang="0">
                  <a:pos x="301" y="92"/>
                </a:cxn>
                <a:cxn ang="0">
                  <a:pos x="307" y="83"/>
                </a:cxn>
                <a:cxn ang="0">
                  <a:pos x="317" y="79"/>
                </a:cxn>
                <a:cxn ang="0">
                  <a:pos x="328" y="77"/>
                </a:cxn>
                <a:cxn ang="0">
                  <a:pos x="337" y="74"/>
                </a:cxn>
                <a:cxn ang="0">
                  <a:pos x="345" y="67"/>
                </a:cxn>
                <a:cxn ang="0">
                  <a:pos x="337" y="50"/>
                </a:cxn>
                <a:cxn ang="0">
                  <a:pos x="337" y="47"/>
                </a:cxn>
                <a:cxn ang="0">
                  <a:pos x="337" y="43"/>
                </a:cxn>
                <a:cxn ang="0">
                  <a:pos x="337" y="41"/>
                </a:cxn>
                <a:cxn ang="0">
                  <a:pos x="334" y="38"/>
                </a:cxn>
                <a:cxn ang="0">
                  <a:pos x="321" y="21"/>
                </a:cxn>
                <a:cxn ang="0">
                  <a:pos x="316" y="0"/>
                </a:cxn>
                <a:cxn ang="0">
                  <a:pos x="188" y="94"/>
                </a:cxn>
                <a:cxn ang="0">
                  <a:pos x="88" y="218"/>
                </a:cxn>
                <a:cxn ang="0">
                  <a:pos x="21" y="366"/>
                </a:cxn>
                <a:cxn ang="0">
                  <a:pos x="0" y="530"/>
                </a:cxn>
                <a:cxn ang="0">
                  <a:pos x="20" y="680"/>
                </a:cxn>
                <a:cxn ang="0">
                  <a:pos x="74" y="819"/>
                </a:cxn>
                <a:cxn ang="0">
                  <a:pos x="160" y="938"/>
                </a:cxn>
                <a:cxn ang="0">
                  <a:pos x="272" y="1032"/>
                </a:cxn>
              </a:cxnLst>
              <a:rect l="0" t="0" r="r" b="b"/>
              <a:pathLst>
                <a:path w="443" h="1033">
                  <a:moveTo>
                    <a:pt x="272" y="1032"/>
                  </a:moveTo>
                  <a:lnTo>
                    <a:pt x="290" y="1016"/>
                  </a:lnTo>
                  <a:lnTo>
                    <a:pt x="301" y="992"/>
                  </a:lnTo>
                  <a:lnTo>
                    <a:pt x="316" y="974"/>
                  </a:lnTo>
                  <a:lnTo>
                    <a:pt x="328" y="955"/>
                  </a:lnTo>
                  <a:lnTo>
                    <a:pt x="354" y="920"/>
                  </a:lnTo>
                  <a:lnTo>
                    <a:pt x="373" y="904"/>
                  </a:lnTo>
                  <a:lnTo>
                    <a:pt x="384" y="884"/>
                  </a:lnTo>
                  <a:lnTo>
                    <a:pt x="390" y="848"/>
                  </a:lnTo>
                  <a:lnTo>
                    <a:pt x="381" y="832"/>
                  </a:lnTo>
                  <a:lnTo>
                    <a:pt x="375" y="812"/>
                  </a:lnTo>
                  <a:lnTo>
                    <a:pt x="370" y="794"/>
                  </a:lnTo>
                  <a:lnTo>
                    <a:pt x="361" y="774"/>
                  </a:lnTo>
                  <a:lnTo>
                    <a:pt x="361" y="760"/>
                  </a:lnTo>
                  <a:lnTo>
                    <a:pt x="361" y="747"/>
                  </a:lnTo>
                  <a:lnTo>
                    <a:pt x="361" y="734"/>
                  </a:lnTo>
                  <a:lnTo>
                    <a:pt x="359" y="722"/>
                  </a:lnTo>
                  <a:lnTo>
                    <a:pt x="359" y="707"/>
                  </a:lnTo>
                  <a:lnTo>
                    <a:pt x="364" y="698"/>
                  </a:lnTo>
                  <a:lnTo>
                    <a:pt x="373" y="691"/>
                  </a:lnTo>
                  <a:lnTo>
                    <a:pt x="390" y="686"/>
                  </a:lnTo>
                  <a:lnTo>
                    <a:pt x="391" y="686"/>
                  </a:lnTo>
                  <a:lnTo>
                    <a:pt x="395" y="682"/>
                  </a:lnTo>
                  <a:lnTo>
                    <a:pt x="395" y="680"/>
                  </a:lnTo>
                  <a:lnTo>
                    <a:pt x="395" y="677"/>
                  </a:lnTo>
                  <a:lnTo>
                    <a:pt x="390" y="671"/>
                  </a:lnTo>
                  <a:lnTo>
                    <a:pt x="386" y="666"/>
                  </a:lnTo>
                  <a:lnTo>
                    <a:pt x="386" y="660"/>
                  </a:lnTo>
                  <a:lnTo>
                    <a:pt x="395" y="655"/>
                  </a:lnTo>
                  <a:lnTo>
                    <a:pt x="437" y="635"/>
                  </a:lnTo>
                  <a:lnTo>
                    <a:pt x="442" y="626"/>
                  </a:lnTo>
                  <a:lnTo>
                    <a:pt x="442" y="619"/>
                  </a:lnTo>
                  <a:lnTo>
                    <a:pt x="442" y="613"/>
                  </a:lnTo>
                  <a:lnTo>
                    <a:pt x="438" y="604"/>
                  </a:lnTo>
                  <a:lnTo>
                    <a:pt x="417" y="577"/>
                  </a:lnTo>
                  <a:lnTo>
                    <a:pt x="400" y="543"/>
                  </a:lnTo>
                  <a:lnTo>
                    <a:pt x="391" y="511"/>
                  </a:lnTo>
                  <a:lnTo>
                    <a:pt x="384" y="474"/>
                  </a:lnTo>
                  <a:lnTo>
                    <a:pt x="368" y="465"/>
                  </a:lnTo>
                  <a:lnTo>
                    <a:pt x="354" y="455"/>
                  </a:lnTo>
                  <a:lnTo>
                    <a:pt x="339" y="444"/>
                  </a:lnTo>
                  <a:lnTo>
                    <a:pt x="326" y="433"/>
                  </a:lnTo>
                  <a:lnTo>
                    <a:pt x="317" y="422"/>
                  </a:lnTo>
                  <a:lnTo>
                    <a:pt x="312" y="411"/>
                  </a:lnTo>
                  <a:lnTo>
                    <a:pt x="308" y="402"/>
                  </a:lnTo>
                  <a:lnTo>
                    <a:pt x="307" y="391"/>
                  </a:lnTo>
                  <a:lnTo>
                    <a:pt x="285" y="363"/>
                  </a:lnTo>
                  <a:lnTo>
                    <a:pt x="290" y="339"/>
                  </a:lnTo>
                  <a:lnTo>
                    <a:pt x="301" y="314"/>
                  </a:lnTo>
                  <a:lnTo>
                    <a:pt x="308" y="289"/>
                  </a:lnTo>
                  <a:lnTo>
                    <a:pt x="308" y="267"/>
                  </a:lnTo>
                  <a:lnTo>
                    <a:pt x="298" y="278"/>
                  </a:lnTo>
                  <a:lnTo>
                    <a:pt x="287" y="294"/>
                  </a:lnTo>
                  <a:lnTo>
                    <a:pt x="280" y="307"/>
                  </a:lnTo>
                  <a:lnTo>
                    <a:pt x="272" y="314"/>
                  </a:lnTo>
                  <a:lnTo>
                    <a:pt x="269" y="283"/>
                  </a:lnTo>
                  <a:lnTo>
                    <a:pt x="271" y="254"/>
                  </a:lnTo>
                  <a:lnTo>
                    <a:pt x="272" y="224"/>
                  </a:lnTo>
                  <a:lnTo>
                    <a:pt x="272" y="195"/>
                  </a:lnTo>
                  <a:lnTo>
                    <a:pt x="280" y="177"/>
                  </a:lnTo>
                  <a:lnTo>
                    <a:pt x="280" y="164"/>
                  </a:lnTo>
                  <a:lnTo>
                    <a:pt x="280" y="146"/>
                  </a:lnTo>
                  <a:lnTo>
                    <a:pt x="281" y="133"/>
                  </a:lnTo>
                  <a:lnTo>
                    <a:pt x="281" y="123"/>
                  </a:lnTo>
                  <a:lnTo>
                    <a:pt x="285" y="113"/>
                  </a:lnTo>
                  <a:lnTo>
                    <a:pt x="290" y="104"/>
                  </a:lnTo>
                  <a:lnTo>
                    <a:pt x="296" y="97"/>
                  </a:lnTo>
                  <a:lnTo>
                    <a:pt x="296" y="97"/>
                  </a:lnTo>
                  <a:lnTo>
                    <a:pt x="298" y="94"/>
                  </a:lnTo>
                  <a:lnTo>
                    <a:pt x="298" y="94"/>
                  </a:lnTo>
                  <a:lnTo>
                    <a:pt x="298" y="94"/>
                  </a:lnTo>
                  <a:lnTo>
                    <a:pt x="301" y="92"/>
                  </a:lnTo>
                  <a:lnTo>
                    <a:pt x="303" y="86"/>
                  </a:lnTo>
                  <a:lnTo>
                    <a:pt x="307" y="83"/>
                  </a:lnTo>
                  <a:lnTo>
                    <a:pt x="308" y="83"/>
                  </a:lnTo>
                  <a:lnTo>
                    <a:pt x="317" y="79"/>
                  </a:lnTo>
                  <a:lnTo>
                    <a:pt x="323" y="77"/>
                  </a:lnTo>
                  <a:lnTo>
                    <a:pt x="328" y="77"/>
                  </a:lnTo>
                  <a:lnTo>
                    <a:pt x="334" y="74"/>
                  </a:lnTo>
                  <a:lnTo>
                    <a:pt x="337" y="74"/>
                  </a:lnTo>
                  <a:lnTo>
                    <a:pt x="339" y="72"/>
                  </a:lnTo>
                  <a:lnTo>
                    <a:pt x="345" y="67"/>
                  </a:lnTo>
                  <a:lnTo>
                    <a:pt x="345" y="63"/>
                  </a:lnTo>
                  <a:lnTo>
                    <a:pt x="337" y="50"/>
                  </a:lnTo>
                  <a:lnTo>
                    <a:pt x="337" y="50"/>
                  </a:lnTo>
                  <a:lnTo>
                    <a:pt x="337" y="47"/>
                  </a:lnTo>
                  <a:lnTo>
                    <a:pt x="337" y="47"/>
                  </a:lnTo>
                  <a:lnTo>
                    <a:pt x="337" y="43"/>
                  </a:lnTo>
                  <a:lnTo>
                    <a:pt x="337" y="43"/>
                  </a:lnTo>
                  <a:lnTo>
                    <a:pt x="337" y="41"/>
                  </a:lnTo>
                  <a:lnTo>
                    <a:pt x="334" y="41"/>
                  </a:lnTo>
                  <a:lnTo>
                    <a:pt x="334" y="38"/>
                  </a:lnTo>
                  <a:lnTo>
                    <a:pt x="328" y="30"/>
                  </a:lnTo>
                  <a:lnTo>
                    <a:pt x="321" y="21"/>
                  </a:lnTo>
                  <a:lnTo>
                    <a:pt x="317" y="11"/>
                  </a:lnTo>
                  <a:lnTo>
                    <a:pt x="316" y="0"/>
                  </a:lnTo>
                  <a:lnTo>
                    <a:pt x="249" y="41"/>
                  </a:lnTo>
                  <a:lnTo>
                    <a:pt x="188" y="94"/>
                  </a:lnTo>
                  <a:lnTo>
                    <a:pt x="133" y="151"/>
                  </a:lnTo>
                  <a:lnTo>
                    <a:pt x="88" y="218"/>
                  </a:lnTo>
                  <a:lnTo>
                    <a:pt x="50" y="289"/>
                  </a:lnTo>
                  <a:lnTo>
                    <a:pt x="21" y="366"/>
                  </a:lnTo>
                  <a:lnTo>
                    <a:pt x="5" y="446"/>
                  </a:lnTo>
                  <a:lnTo>
                    <a:pt x="0" y="530"/>
                  </a:lnTo>
                  <a:lnTo>
                    <a:pt x="5" y="608"/>
                  </a:lnTo>
                  <a:lnTo>
                    <a:pt x="20" y="680"/>
                  </a:lnTo>
                  <a:lnTo>
                    <a:pt x="45" y="751"/>
                  </a:lnTo>
                  <a:lnTo>
                    <a:pt x="74" y="819"/>
                  </a:lnTo>
                  <a:lnTo>
                    <a:pt x="114" y="879"/>
                  </a:lnTo>
                  <a:lnTo>
                    <a:pt x="160" y="938"/>
                  </a:lnTo>
                  <a:lnTo>
                    <a:pt x="215" y="987"/>
                  </a:lnTo>
                  <a:lnTo>
                    <a:pt x="272" y="1032"/>
                  </a:lnTo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Freeform 26"/>
            <p:cNvSpPr>
              <a:spLocks/>
            </p:cNvSpPr>
            <p:nvPr/>
          </p:nvSpPr>
          <p:spPr bwMode="invGray">
            <a:xfrm>
              <a:off x="368" y="1584"/>
              <a:ext cx="824" cy="1203"/>
            </a:xfrm>
            <a:custGeom>
              <a:avLst/>
              <a:gdLst/>
              <a:ahLst/>
              <a:cxnLst>
                <a:cxn ang="0">
                  <a:pos x="796" y="688"/>
                </a:cxn>
                <a:cxn ang="0">
                  <a:pos x="756" y="641"/>
                </a:cxn>
                <a:cxn ang="0">
                  <a:pos x="812" y="615"/>
                </a:cxn>
                <a:cxn ang="0">
                  <a:pos x="814" y="502"/>
                </a:cxn>
                <a:cxn ang="0">
                  <a:pos x="705" y="247"/>
                </a:cxn>
                <a:cxn ang="0">
                  <a:pos x="651" y="262"/>
                </a:cxn>
                <a:cxn ang="0">
                  <a:pos x="574" y="289"/>
                </a:cxn>
                <a:cxn ang="0">
                  <a:pos x="536" y="258"/>
                </a:cxn>
                <a:cxn ang="0">
                  <a:pos x="563" y="170"/>
                </a:cxn>
                <a:cxn ang="0">
                  <a:pos x="532" y="81"/>
                </a:cxn>
                <a:cxn ang="0">
                  <a:pos x="455" y="56"/>
                </a:cxn>
                <a:cxn ang="0">
                  <a:pos x="484" y="150"/>
                </a:cxn>
                <a:cxn ang="0">
                  <a:pos x="465" y="190"/>
                </a:cxn>
                <a:cxn ang="0">
                  <a:pos x="442" y="200"/>
                </a:cxn>
                <a:cxn ang="0">
                  <a:pos x="419" y="164"/>
                </a:cxn>
                <a:cxn ang="0">
                  <a:pos x="381" y="108"/>
                </a:cxn>
                <a:cxn ang="0">
                  <a:pos x="406" y="108"/>
                </a:cxn>
                <a:cxn ang="0">
                  <a:pos x="424" y="72"/>
                </a:cxn>
                <a:cxn ang="0">
                  <a:pos x="325" y="0"/>
                </a:cxn>
                <a:cxn ang="0">
                  <a:pos x="281" y="27"/>
                </a:cxn>
                <a:cxn ang="0">
                  <a:pos x="240" y="72"/>
                </a:cxn>
                <a:cxn ang="0">
                  <a:pos x="209" y="114"/>
                </a:cxn>
                <a:cxn ang="0">
                  <a:pos x="209" y="150"/>
                </a:cxn>
                <a:cxn ang="0">
                  <a:pos x="240" y="164"/>
                </a:cxn>
                <a:cxn ang="0">
                  <a:pos x="209" y="222"/>
                </a:cxn>
                <a:cxn ang="0">
                  <a:pos x="213" y="242"/>
                </a:cxn>
                <a:cxn ang="0">
                  <a:pos x="267" y="222"/>
                </a:cxn>
                <a:cxn ang="0">
                  <a:pos x="303" y="170"/>
                </a:cxn>
                <a:cxn ang="0">
                  <a:pos x="354" y="231"/>
                </a:cxn>
                <a:cxn ang="0">
                  <a:pos x="372" y="291"/>
                </a:cxn>
                <a:cxn ang="0">
                  <a:pos x="348" y="294"/>
                </a:cxn>
                <a:cxn ang="0">
                  <a:pos x="298" y="309"/>
                </a:cxn>
                <a:cxn ang="0">
                  <a:pos x="323" y="330"/>
                </a:cxn>
                <a:cxn ang="0">
                  <a:pos x="260" y="339"/>
                </a:cxn>
                <a:cxn ang="0">
                  <a:pos x="189" y="411"/>
                </a:cxn>
                <a:cxn ang="0">
                  <a:pos x="184" y="469"/>
                </a:cxn>
                <a:cxn ang="0">
                  <a:pos x="148" y="435"/>
                </a:cxn>
                <a:cxn ang="0">
                  <a:pos x="83" y="402"/>
                </a:cxn>
                <a:cxn ang="0">
                  <a:pos x="0" y="455"/>
                </a:cxn>
                <a:cxn ang="0">
                  <a:pos x="54" y="496"/>
                </a:cxn>
                <a:cxn ang="0">
                  <a:pos x="74" y="485"/>
                </a:cxn>
                <a:cxn ang="0">
                  <a:pos x="54" y="608"/>
                </a:cxn>
                <a:cxn ang="0">
                  <a:pos x="132" y="641"/>
                </a:cxn>
                <a:cxn ang="0">
                  <a:pos x="195" y="661"/>
                </a:cxn>
                <a:cxn ang="0">
                  <a:pos x="249" y="744"/>
                </a:cxn>
                <a:cxn ang="0">
                  <a:pos x="334" y="886"/>
                </a:cxn>
                <a:cxn ang="0">
                  <a:pos x="391" y="1007"/>
                </a:cxn>
                <a:cxn ang="0">
                  <a:pos x="292" y="1052"/>
                </a:cxn>
                <a:cxn ang="0">
                  <a:pos x="182" y="1105"/>
                </a:cxn>
                <a:cxn ang="0">
                  <a:pos x="68" y="1180"/>
                </a:cxn>
                <a:cxn ang="0">
                  <a:pos x="200" y="1202"/>
                </a:cxn>
                <a:cxn ang="0">
                  <a:pos x="417" y="1168"/>
                </a:cxn>
                <a:cxn ang="0">
                  <a:pos x="613" y="1052"/>
                </a:cxn>
                <a:cxn ang="0">
                  <a:pos x="610" y="929"/>
                </a:cxn>
                <a:cxn ang="0">
                  <a:pos x="543" y="888"/>
                </a:cxn>
                <a:cxn ang="0">
                  <a:pos x="567" y="791"/>
                </a:cxn>
                <a:cxn ang="0">
                  <a:pos x="655" y="738"/>
                </a:cxn>
                <a:cxn ang="0">
                  <a:pos x="725" y="713"/>
                </a:cxn>
                <a:cxn ang="0">
                  <a:pos x="792" y="729"/>
                </a:cxn>
              </a:cxnLst>
              <a:rect l="0" t="0" r="r" b="b"/>
              <a:pathLst>
                <a:path w="824" h="1203">
                  <a:moveTo>
                    <a:pt x="803" y="736"/>
                  </a:moveTo>
                  <a:lnTo>
                    <a:pt x="807" y="724"/>
                  </a:lnTo>
                  <a:lnTo>
                    <a:pt x="808" y="713"/>
                  </a:lnTo>
                  <a:lnTo>
                    <a:pt x="812" y="702"/>
                  </a:lnTo>
                  <a:lnTo>
                    <a:pt x="814" y="691"/>
                  </a:lnTo>
                  <a:lnTo>
                    <a:pt x="803" y="691"/>
                  </a:lnTo>
                  <a:lnTo>
                    <a:pt x="796" y="688"/>
                  </a:lnTo>
                  <a:lnTo>
                    <a:pt x="783" y="686"/>
                  </a:lnTo>
                  <a:lnTo>
                    <a:pt x="776" y="680"/>
                  </a:lnTo>
                  <a:lnTo>
                    <a:pt x="770" y="675"/>
                  </a:lnTo>
                  <a:lnTo>
                    <a:pt x="767" y="666"/>
                  </a:lnTo>
                  <a:lnTo>
                    <a:pt x="761" y="661"/>
                  </a:lnTo>
                  <a:lnTo>
                    <a:pt x="760" y="655"/>
                  </a:lnTo>
                  <a:lnTo>
                    <a:pt x="756" y="641"/>
                  </a:lnTo>
                  <a:lnTo>
                    <a:pt x="756" y="624"/>
                  </a:lnTo>
                  <a:lnTo>
                    <a:pt x="760" y="610"/>
                  </a:lnTo>
                  <a:lnTo>
                    <a:pt x="767" y="599"/>
                  </a:lnTo>
                  <a:lnTo>
                    <a:pt x="781" y="597"/>
                  </a:lnTo>
                  <a:lnTo>
                    <a:pt x="792" y="599"/>
                  </a:lnTo>
                  <a:lnTo>
                    <a:pt x="803" y="608"/>
                  </a:lnTo>
                  <a:lnTo>
                    <a:pt x="812" y="615"/>
                  </a:lnTo>
                  <a:lnTo>
                    <a:pt x="819" y="628"/>
                  </a:lnTo>
                  <a:lnTo>
                    <a:pt x="823" y="619"/>
                  </a:lnTo>
                  <a:lnTo>
                    <a:pt x="823" y="610"/>
                  </a:lnTo>
                  <a:lnTo>
                    <a:pt x="823" y="605"/>
                  </a:lnTo>
                  <a:lnTo>
                    <a:pt x="823" y="597"/>
                  </a:lnTo>
                  <a:lnTo>
                    <a:pt x="819" y="549"/>
                  </a:lnTo>
                  <a:lnTo>
                    <a:pt x="814" y="502"/>
                  </a:lnTo>
                  <a:lnTo>
                    <a:pt x="807" y="455"/>
                  </a:lnTo>
                  <a:lnTo>
                    <a:pt x="792" y="411"/>
                  </a:lnTo>
                  <a:lnTo>
                    <a:pt x="776" y="366"/>
                  </a:lnTo>
                  <a:lnTo>
                    <a:pt x="756" y="325"/>
                  </a:lnTo>
                  <a:lnTo>
                    <a:pt x="734" y="285"/>
                  </a:lnTo>
                  <a:lnTo>
                    <a:pt x="709" y="247"/>
                  </a:lnTo>
                  <a:lnTo>
                    <a:pt x="705" y="247"/>
                  </a:lnTo>
                  <a:lnTo>
                    <a:pt x="702" y="244"/>
                  </a:lnTo>
                  <a:lnTo>
                    <a:pt x="698" y="244"/>
                  </a:lnTo>
                  <a:lnTo>
                    <a:pt x="693" y="242"/>
                  </a:lnTo>
                  <a:lnTo>
                    <a:pt x="677" y="253"/>
                  </a:lnTo>
                  <a:lnTo>
                    <a:pt x="668" y="254"/>
                  </a:lnTo>
                  <a:lnTo>
                    <a:pt x="660" y="258"/>
                  </a:lnTo>
                  <a:lnTo>
                    <a:pt x="651" y="262"/>
                  </a:lnTo>
                  <a:lnTo>
                    <a:pt x="642" y="264"/>
                  </a:lnTo>
                  <a:lnTo>
                    <a:pt x="631" y="267"/>
                  </a:lnTo>
                  <a:lnTo>
                    <a:pt x="619" y="273"/>
                  </a:lnTo>
                  <a:lnTo>
                    <a:pt x="606" y="278"/>
                  </a:lnTo>
                  <a:lnTo>
                    <a:pt x="594" y="283"/>
                  </a:lnTo>
                  <a:lnTo>
                    <a:pt x="583" y="285"/>
                  </a:lnTo>
                  <a:lnTo>
                    <a:pt x="574" y="289"/>
                  </a:lnTo>
                  <a:lnTo>
                    <a:pt x="567" y="291"/>
                  </a:lnTo>
                  <a:lnTo>
                    <a:pt x="557" y="289"/>
                  </a:lnTo>
                  <a:lnTo>
                    <a:pt x="554" y="285"/>
                  </a:lnTo>
                  <a:lnTo>
                    <a:pt x="548" y="280"/>
                  </a:lnTo>
                  <a:lnTo>
                    <a:pt x="547" y="278"/>
                  </a:lnTo>
                  <a:lnTo>
                    <a:pt x="543" y="273"/>
                  </a:lnTo>
                  <a:lnTo>
                    <a:pt x="536" y="258"/>
                  </a:lnTo>
                  <a:lnTo>
                    <a:pt x="532" y="244"/>
                  </a:lnTo>
                  <a:lnTo>
                    <a:pt x="532" y="231"/>
                  </a:lnTo>
                  <a:lnTo>
                    <a:pt x="530" y="217"/>
                  </a:lnTo>
                  <a:lnTo>
                    <a:pt x="532" y="202"/>
                  </a:lnTo>
                  <a:lnTo>
                    <a:pt x="541" y="190"/>
                  </a:lnTo>
                  <a:lnTo>
                    <a:pt x="552" y="177"/>
                  </a:lnTo>
                  <a:lnTo>
                    <a:pt x="563" y="170"/>
                  </a:lnTo>
                  <a:lnTo>
                    <a:pt x="574" y="159"/>
                  </a:lnTo>
                  <a:lnTo>
                    <a:pt x="583" y="146"/>
                  </a:lnTo>
                  <a:lnTo>
                    <a:pt x="588" y="134"/>
                  </a:lnTo>
                  <a:lnTo>
                    <a:pt x="588" y="119"/>
                  </a:lnTo>
                  <a:lnTo>
                    <a:pt x="568" y="105"/>
                  </a:lnTo>
                  <a:lnTo>
                    <a:pt x="552" y="92"/>
                  </a:lnTo>
                  <a:lnTo>
                    <a:pt x="532" y="81"/>
                  </a:lnTo>
                  <a:lnTo>
                    <a:pt x="512" y="70"/>
                  </a:lnTo>
                  <a:lnTo>
                    <a:pt x="491" y="58"/>
                  </a:lnTo>
                  <a:lnTo>
                    <a:pt x="471" y="47"/>
                  </a:lnTo>
                  <a:lnTo>
                    <a:pt x="449" y="38"/>
                  </a:lnTo>
                  <a:lnTo>
                    <a:pt x="428" y="31"/>
                  </a:lnTo>
                  <a:lnTo>
                    <a:pt x="442" y="45"/>
                  </a:lnTo>
                  <a:lnTo>
                    <a:pt x="455" y="56"/>
                  </a:lnTo>
                  <a:lnTo>
                    <a:pt x="465" y="63"/>
                  </a:lnTo>
                  <a:lnTo>
                    <a:pt x="484" y="74"/>
                  </a:lnTo>
                  <a:lnTo>
                    <a:pt x="485" y="88"/>
                  </a:lnTo>
                  <a:lnTo>
                    <a:pt x="484" y="105"/>
                  </a:lnTo>
                  <a:lnTo>
                    <a:pt x="478" y="123"/>
                  </a:lnTo>
                  <a:lnTo>
                    <a:pt x="478" y="135"/>
                  </a:lnTo>
                  <a:lnTo>
                    <a:pt x="484" y="150"/>
                  </a:lnTo>
                  <a:lnTo>
                    <a:pt x="484" y="155"/>
                  </a:lnTo>
                  <a:lnTo>
                    <a:pt x="480" y="161"/>
                  </a:lnTo>
                  <a:lnTo>
                    <a:pt x="474" y="166"/>
                  </a:lnTo>
                  <a:lnTo>
                    <a:pt x="469" y="170"/>
                  </a:lnTo>
                  <a:lnTo>
                    <a:pt x="465" y="175"/>
                  </a:lnTo>
                  <a:lnTo>
                    <a:pt x="465" y="180"/>
                  </a:lnTo>
                  <a:lnTo>
                    <a:pt x="465" y="190"/>
                  </a:lnTo>
                  <a:lnTo>
                    <a:pt x="464" y="195"/>
                  </a:lnTo>
                  <a:lnTo>
                    <a:pt x="460" y="197"/>
                  </a:lnTo>
                  <a:lnTo>
                    <a:pt x="458" y="200"/>
                  </a:lnTo>
                  <a:lnTo>
                    <a:pt x="455" y="200"/>
                  </a:lnTo>
                  <a:lnTo>
                    <a:pt x="453" y="200"/>
                  </a:lnTo>
                  <a:lnTo>
                    <a:pt x="447" y="197"/>
                  </a:lnTo>
                  <a:lnTo>
                    <a:pt x="442" y="200"/>
                  </a:lnTo>
                  <a:lnTo>
                    <a:pt x="433" y="202"/>
                  </a:lnTo>
                  <a:lnTo>
                    <a:pt x="428" y="202"/>
                  </a:lnTo>
                  <a:lnTo>
                    <a:pt x="424" y="200"/>
                  </a:lnTo>
                  <a:lnTo>
                    <a:pt x="424" y="197"/>
                  </a:lnTo>
                  <a:lnTo>
                    <a:pt x="424" y="197"/>
                  </a:lnTo>
                  <a:lnTo>
                    <a:pt x="422" y="195"/>
                  </a:lnTo>
                  <a:lnTo>
                    <a:pt x="419" y="164"/>
                  </a:lnTo>
                  <a:lnTo>
                    <a:pt x="411" y="159"/>
                  </a:lnTo>
                  <a:lnTo>
                    <a:pt x="406" y="150"/>
                  </a:lnTo>
                  <a:lnTo>
                    <a:pt x="397" y="141"/>
                  </a:lnTo>
                  <a:lnTo>
                    <a:pt x="390" y="134"/>
                  </a:lnTo>
                  <a:lnTo>
                    <a:pt x="386" y="125"/>
                  </a:lnTo>
                  <a:lnTo>
                    <a:pt x="384" y="117"/>
                  </a:lnTo>
                  <a:lnTo>
                    <a:pt x="381" y="108"/>
                  </a:lnTo>
                  <a:lnTo>
                    <a:pt x="384" y="103"/>
                  </a:lnTo>
                  <a:lnTo>
                    <a:pt x="386" y="99"/>
                  </a:lnTo>
                  <a:lnTo>
                    <a:pt x="390" y="99"/>
                  </a:lnTo>
                  <a:lnTo>
                    <a:pt x="390" y="97"/>
                  </a:lnTo>
                  <a:lnTo>
                    <a:pt x="391" y="97"/>
                  </a:lnTo>
                  <a:lnTo>
                    <a:pt x="397" y="103"/>
                  </a:lnTo>
                  <a:lnTo>
                    <a:pt x="406" y="108"/>
                  </a:lnTo>
                  <a:lnTo>
                    <a:pt x="413" y="110"/>
                  </a:lnTo>
                  <a:lnTo>
                    <a:pt x="422" y="110"/>
                  </a:lnTo>
                  <a:lnTo>
                    <a:pt x="424" y="110"/>
                  </a:lnTo>
                  <a:lnTo>
                    <a:pt x="424" y="108"/>
                  </a:lnTo>
                  <a:lnTo>
                    <a:pt x="424" y="108"/>
                  </a:lnTo>
                  <a:lnTo>
                    <a:pt x="424" y="108"/>
                  </a:lnTo>
                  <a:lnTo>
                    <a:pt x="424" y="72"/>
                  </a:lnTo>
                  <a:lnTo>
                    <a:pt x="411" y="56"/>
                  </a:lnTo>
                  <a:lnTo>
                    <a:pt x="395" y="42"/>
                  </a:lnTo>
                  <a:lnTo>
                    <a:pt x="377" y="27"/>
                  </a:lnTo>
                  <a:lnTo>
                    <a:pt x="364" y="9"/>
                  </a:lnTo>
                  <a:lnTo>
                    <a:pt x="350" y="5"/>
                  </a:lnTo>
                  <a:lnTo>
                    <a:pt x="339" y="2"/>
                  </a:lnTo>
                  <a:lnTo>
                    <a:pt x="325" y="0"/>
                  </a:lnTo>
                  <a:lnTo>
                    <a:pt x="312" y="0"/>
                  </a:lnTo>
                  <a:lnTo>
                    <a:pt x="308" y="0"/>
                  </a:lnTo>
                  <a:lnTo>
                    <a:pt x="308" y="2"/>
                  </a:lnTo>
                  <a:lnTo>
                    <a:pt x="308" y="5"/>
                  </a:lnTo>
                  <a:lnTo>
                    <a:pt x="307" y="9"/>
                  </a:lnTo>
                  <a:lnTo>
                    <a:pt x="289" y="14"/>
                  </a:lnTo>
                  <a:lnTo>
                    <a:pt x="281" y="27"/>
                  </a:lnTo>
                  <a:lnTo>
                    <a:pt x="276" y="42"/>
                  </a:lnTo>
                  <a:lnTo>
                    <a:pt x="265" y="56"/>
                  </a:lnTo>
                  <a:lnTo>
                    <a:pt x="260" y="56"/>
                  </a:lnTo>
                  <a:lnTo>
                    <a:pt x="256" y="56"/>
                  </a:lnTo>
                  <a:lnTo>
                    <a:pt x="251" y="56"/>
                  </a:lnTo>
                  <a:lnTo>
                    <a:pt x="249" y="58"/>
                  </a:lnTo>
                  <a:lnTo>
                    <a:pt x="240" y="72"/>
                  </a:lnTo>
                  <a:lnTo>
                    <a:pt x="231" y="87"/>
                  </a:lnTo>
                  <a:lnTo>
                    <a:pt x="224" y="99"/>
                  </a:lnTo>
                  <a:lnTo>
                    <a:pt x="213" y="110"/>
                  </a:lnTo>
                  <a:lnTo>
                    <a:pt x="209" y="110"/>
                  </a:lnTo>
                  <a:lnTo>
                    <a:pt x="209" y="110"/>
                  </a:lnTo>
                  <a:lnTo>
                    <a:pt x="209" y="110"/>
                  </a:lnTo>
                  <a:lnTo>
                    <a:pt x="209" y="114"/>
                  </a:lnTo>
                  <a:lnTo>
                    <a:pt x="184" y="139"/>
                  </a:lnTo>
                  <a:lnTo>
                    <a:pt x="184" y="139"/>
                  </a:lnTo>
                  <a:lnTo>
                    <a:pt x="184" y="139"/>
                  </a:lnTo>
                  <a:lnTo>
                    <a:pt x="184" y="139"/>
                  </a:lnTo>
                  <a:lnTo>
                    <a:pt x="184" y="141"/>
                  </a:lnTo>
                  <a:lnTo>
                    <a:pt x="195" y="146"/>
                  </a:lnTo>
                  <a:lnTo>
                    <a:pt x="209" y="150"/>
                  </a:lnTo>
                  <a:lnTo>
                    <a:pt x="224" y="153"/>
                  </a:lnTo>
                  <a:lnTo>
                    <a:pt x="234" y="153"/>
                  </a:lnTo>
                  <a:lnTo>
                    <a:pt x="236" y="155"/>
                  </a:lnTo>
                  <a:lnTo>
                    <a:pt x="240" y="155"/>
                  </a:lnTo>
                  <a:lnTo>
                    <a:pt x="240" y="159"/>
                  </a:lnTo>
                  <a:lnTo>
                    <a:pt x="242" y="161"/>
                  </a:lnTo>
                  <a:lnTo>
                    <a:pt x="240" y="164"/>
                  </a:lnTo>
                  <a:lnTo>
                    <a:pt x="234" y="166"/>
                  </a:lnTo>
                  <a:lnTo>
                    <a:pt x="231" y="170"/>
                  </a:lnTo>
                  <a:lnTo>
                    <a:pt x="225" y="171"/>
                  </a:lnTo>
                  <a:lnTo>
                    <a:pt x="220" y="180"/>
                  </a:lnTo>
                  <a:lnTo>
                    <a:pt x="215" y="195"/>
                  </a:lnTo>
                  <a:lnTo>
                    <a:pt x="209" y="208"/>
                  </a:lnTo>
                  <a:lnTo>
                    <a:pt x="209" y="222"/>
                  </a:lnTo>
                  <a:lnTo>
                    <a:pt x="213" y="227"/>
                  </a:lnTo>
                  <a:lnTo>
                    <a:pt x="215" y="227"/>
                  </a:lnTo>
                  <a:lnTo>
                    <a:pt x="213" y="231"/>
                  </a:lnTo>
                  <a:lnTo>
                    <a:pt x="209" y="238"/>
                  </a:lnTo>
                  <a:lnTo>
                    <a:pt x="209" y="238"/>
                  </a:lnTo>
                  <a:lnTo>
                    <a:pt x="213" y="242"/>
                  </a:lnTo>
                  <a:lnTo>
                    <a:pt x="213" y="242"/>
                  </a:lnTo>
                  <a:lnTo>
                    <a:pt x="215" y="244"/>
                  </a:lnTo>
                  <a:lnTo>
                    <a:pt x="231" y="233"/>
                  </a:lnTo>
                  <a:lnTo>
                    <a:pt x="260" y="231"/>
                  </a:lnTo>
                  <a:lnTo>
                    <a:pt x="260" y="227"/>
                  </a:lnTo>
                  <a:lnTo>
                    <a:pt x="262" y="226"/>
                  </a:lnTo>
                  <a:lnTo>
                    <a:pt x="265" y="226"/>
                  </a:lnTo>
                  <a:lnTo>
                    <a:pt x="267" y="222"/>
                  </a:lnTo>
                  <a:lnTo>
                    <a:pt x="267" y="200"/>
                  </a:lnTo>
                  <a:lnTo>
                    <a:pt x="289" y="155"/>
                  </a:lnTo>
                  <a:lnTo>
                    <a:pt x="289" y="155"/>
                  </a:lnTo>
                  <a:lnTo>
                    <a:pt x="292" y="155"/>
                  </a:lnTo>
                  <a:lnTo>
                    <a:pt x="292" y="155"/>
                  </a:lnTo>
                  <a:lnTo>
                    <a:pt x="292" y="155"/>
                  </a:lnTo>
                  <a:lnTo>
                    <a:pt x="303" y="170"/>
                  </a:lnTo>
                  <a:lnTo>
                    <a:pt x="312" y="180"/>
                  </a:lnTo>
                  <a:lnTo>
                    <a:pt x="323" y="195"/>
                  </a:lnTo>
                  <a:lnTo>
                    <a:pt x="336" y="206"/>
                  </a:lnTo>
                  <a:lnTo>
                    <a:pt x="343" y="211"/>
                  </a:lnTo>
                  <a:lnTo>
                    <a:pt x="345" y="217"/>
                  </a:lnTo>
                  <a:lnTo>
                    <a:pt x="350" y="226"/>
                  </a:lnTo>
                  <a:lnTo>
                    <a:pt x="354" y="231"/>
                  </a:lnTo>
                  <a:lnTo>
                    <a:pt x="354" y="244"/>
                  </a:lnTo>
                  <a:lnTo>
                    <a:pt x="354" y="258"/>
                  </a:lnTo>
                  <a:lnTo>
                    <a:pt x="359" y="273"/>
                  </a:lnTo>
                  <a:lnTo>
                    <a:pt x="364" y="283"/>
                  </a:lnTo>
                  <a:lnTo>
                    <a:pt x="366" y="285"/>
                  </a:lnTo>
                  <a:lnTo>
                    <a:pt x="370" y="289"/>
                  </a:lnTo>
                  <a:lnTo>
                    <a:pt x="372" y="291"/>
                  </a:lnTo>
                  <a:lnTo>
                    <a:pt x="375" y="294"/>
                  </a:lnTo>
                  <a:lnTo>
                    <a:pt x="375" y="298"/>
                  </a:lnTo>
                  <a:lnTo>
                    <a:pt x="372" y="300"/>
                  </a:lnTo>
                  <a:lnTo>
                    <a:pt x="372" y="305"/>
                  </a:lnTo>
                  <a:lnTo>
                    <a:pt x="370" y="309"/>
                  </a:lnTo>
                  <a:lnTo>
                    <a:pt x="359" y="305"/>
                  </a:lnTo>
                  <a:lnTo>
                    <a:pt x="348" y="294"/>
                  </a:lnTo>
                  <a:lnTo>
                    <a:pt x="336" y="285"/>
                  </a:lnTo>
                  <a:lnTo>
                    <a:pt x="323" y="283"/>
                  </a:lnTo>
                  <a:lnTo>
                    <a:pt x="314" y="289"/>
                  </a:lnTo>
                  <a:lnTo>
                    <a:pt x="308" y="294"/>
                  </a:lnTo>
                  <a:lnTo>
                    <a:pt x="299" y="300"/>
                  </a:lnTo>
                  <a:lnTo>
                    <a:pt x="296" y="305"/>
                  </a:lnTo>
                  <a:lnTo>
                    <a:pt x="298" y="309"/>
                  </a:lnTo>
                  <a:lnTo>
                    <a:pt x="299" y="310"/>
                  </a:lnTo>
                  <a:lnTo>
                    <a:pt x="299" y="314"/>
                  </a:lnTo>
                  <a:lnTo>
                    <a:pt x="303" y="314"/>
                  </a:lnTo>
                  <a:lnTo>
                    <a:pt x="312" y="314"/>
                  </a:lnTo>
                  <a:lnTo>
                    <a:pt x="317" y="316"/>
                  </a:lnTo>
                  <a:lnTo>
                    <a:pt x="319" y="321"/>
                  </a:lnTo>
                  <a:lnTo>
                    <a:pt x="323" y="330"/>
                  </a:lnTo>
                  <a:lnTo>
                    <a:pt x="323" y="330"/>
                  </a:lnTo>
                  <a:lnTo>
                    <a:pt x="319" y="334"/>
                  </a:lnTo>
                  <a:lnTo>
                    <a:pt x="317" y="339"/>
                  </a:lnTo>
                  <a:lnTo>
                    <a:pt x="317" y="339"/>
                  </a:lnTo>
                  <a:lnTo>
                    <a:pt x="260" y="327"/>
                  </a:lnTo>
                  <a:lnTo>
                    <a:pt x="260" y="334"/>
                  </a:lnTo>
                  <a:lnTo>
                    <a:pt x="260" y="339"/>
                  </a:lnTo>
                  <a:lnTo>
                    <a:pt x="260" y="345"/>
                  </a:lnTo>
                  <a:lnTo>
                    <a:pt x="256" y="347"/>
                  </a:lnTo>
                  <a:lnTo>
                    <a:pt x="251" y="356"/>
                  </a:lnTo>
                  <a:lnTo>
                    <a:pt x="249" y="357"/>
                  </a:lnTo>
                  <a:lnTo>
                    <a:pt x="242" y="366"/>
                  </a:lnTo>
                  <a:lnTo>
                    <a:pt x="225" y="393"/>
                  </a:lnTo>
                  <a:lnTo>
                    <a:pt x="189" y="411"/>
                  </a:lnTo>
                  <a:lnTo>
                    <a:pt x="188" y="413"/>
                  </a:lnTo>
                  <a:lnTo>
                    <a:pt x="184" y="419"/>
                  </a:lnTo>
                  <a:lnTo>
                    <a:pt x="184" y="424"/>
                  </a:lnTo>
                  <a:lnTo>
                    <a:pt x="184" y="430"/>
                  </a:lnTo>
                  <a:lnTo>
                    <a:pt x="184" y="439"/>
                  </a:lnTo>
                  <a:lnTo>
                    <a:pt x="184" y="453"/>
                  </a:lnTo>
                  <a:lnTo>
                    <a:pt x="184" y="469"/>
                  </a:lnTo>
                  <a:lnTo>
                    <a:pt x="184" y="478"/>
                  </a:lnTo>
                  <a:lnTo>
                    <a:pt x="173" y="478"/>
                  </a:lnTo>
                  <a:lnTo>
                    <a:pt x="164" y="475"/>
                  </a:lnTo>
                  <a:lnTo>
                    <a:pt x="157" y="469"/>
                  </a:lnTo>
                  <a:lnTo>
                    <a:pt x="151" y="464"/>
                  </a:lnTo>
                  <a:lnTo>
                    <a:pt x="151" y="449"/>
                  </a:lnTo>
                  <a:lnTo>
                    <a:pt x="148" y="435"/>
                  </a:lnTo>
                  <a:lnTo>
                    <a:pt x="141" y="424"/>
                  </a:lnTo>
                  <a:lnTo>
                    <a:pt x="130" y="413"/>
                  </a:lnTo>
                  <a:lnTo>
                    <a:pt x="117" y="417"/>
                  </a:lnTo>
                  <a:lnTo>
                    <a:pt x="110" y="417"/>
                  </a:lnTo>
                  <a:lnTo>
                    <a:pt x="101" y="413"/>
                  </a:lnTo>
                  <a:lnTo>
                    <a:pt x="94" y="408"/>
                  </a:lnTo>
                  <a:lnTo>
                    <a:pt x="83" y="402"/>
                  </a:lnTo>
                  <a:lnTo>
                    <a:pt x="72" y="397"/>
                  </a:lnTo>
                  <a:lnTo>
                    <a:pt x="59" y="393"/>
                  </a:lnTo>
                  <a:lnTo>
                    <a:pt x="49" y="392"/>
                  </a:lnTo>
                  <a:lnTo>
                    <a:pt x="38" y="402"/>
                  </a:lnTo>
                  <a:lnTo>
                    <a:pt x="21" y="424"/>
                  </a:lnTo>
                  <a:lnTo>
                    <a:pt x="5" y="448"/>
                  </a:lnTo>
                  <a:lnTo>
                    <a:pt x="0" y="455"/>
                  </a:lnTo>
                  <a:lnTo>
                    <a:pt x="21" y="475"/>
                  </a:lnTo>
                  <a:lnTo>
                    <a:pt x="25" y="516"/>
                  </a:lnTo>
                  <a:lnTo>
                    <a:pt x="29" y="516"/>
                  </a:lnTo>
                  <a:lnTo>
                    <a:pt x="38" y="513"/>
                  </a:lnTo>
                  <a:lnTo>
                    <a:pt x="43" y="511"/>
                  </a:lnTo>
                  <a:lnTo>
                    <a:pt x="49" y="505"/>
                  </a:lnTo>
                  <a:lnTo>
                    <a:pt x="54" y="496"/>
                  </a:lnTo>
                  <a:lnTo>
                    <a:pt x="58" y="491"/>
                  </a:lnTo>
                  <a:lnTo>
                    <a:pt x="63" y="485"/>
                  </a:lnTo>
                  <a:lnTo>
                    <a:pt x="72" y="480"/>
                  </a:lnTo>
                  <a:lnTo>
                    <a:pt x="74" y="480"/>
                  </a:lnTo>
                  <a:lnTo>
                    <a:pt x="74" y="484"/>
                  </a:lnTo>
                  <a:lnTo>
                    <a:pt x="74" y="484"/>
                  </a:lnTo>
                  <a:lnTo>
                    <a:pt x="74" y="485"/>
                  </a:lnTo>
                  <a:lnTo>
                    <a:pt x="63" y="538"/>
                  </a:lnTo>
                  <a:lnTo>
                    <a:pt x="79" y="556"/>
                  </a:lnTo>
                  <a:lnTo>
                    <a:pt x="77" y="567"/>
                  </a:lnTo>
                  <a:lnTo>
                    <a:pt x="68" y="574"/>
                  </a:lnTo>
                  <a:lnTo>
                    <a:pt x="59" y="583"/>
                  </a:lnTo>
                  <a:lnTo>
                    <a:pt x="54" y="597"/>
                  </a:lnTo>
                  <a:lnTo>
                    <a:pt x="54" y="608"/>
                  </a:lnTo>
                  <a:lnTo>
                    <a:pt x="63" y="619"/>
                  </a:lnTo>
                  <a:lnTo>
                    <a:pt x="74" y="630"/>
                  </a:lnTo>
                  <a:lnTo>
                    <a:pt x="88" y="641"/>
                  </a:lnTo>
                  <a:lnTo>
                    <a:pt x="101" y="646"/>
                  </a:lnTo>
                  <a:lnTo>
                    <a:pt x="114" y="646"/>
                  </a:lnTo>
                  <a:lnTo>
                    <a:pt x="124" y="644"/>
                  </a:lnTo>
                  <a:lnTo>
                    <a:pt x="132" y="641"/>
                  </a:lnTo>
                  <a:lnTo>
                    <a:pt x="141" y="635"/>
                  </a:lnTo>
                  <a:lnTo>
                    <a:pt x="148" y="635"/>
                  </a:lnTo>
                  <a:lnTo>
                    <a:pt x="153" y="639"/>
                  </a:lnTo>
                  <a:lnTo>
                    <a:pt x="160" y="641"/>
                  </a:lnTo>
                  <a:lnTo>
                    <a:pt x="168" y="644"/>
                  </a:lnTo>
                  <a:lnTo>
                    <a:pt x="184" y="652"/>
                  </a:lnTo>
                  <a:lnTo>
                    <a:pt x="195" y="661"/>
                  </a:lnTo>
                  <a:lnTo>
                    <a:pt x="209" y="670"/>
                  </a:lnTo>
                  <a:lnTo>
                    <a:pt x="220" y="677"/>
                  </a:lnTo>
                  <a:lnTo>
                    <a:pt x="225" y="691"/>
                  </a:lnTo>
                  <a:lnTo>
                    <a:pt x="229" y="706"/>
                  </a:lnTo>
                  <a:lnTo>
                    <a:pt x="231" y="722"/>
                  </a:lnTo>
                  <a:lnTo>
                    <a:pt x="234" y="738"/>
                  </a:lnTo>
                  <a:lnTo>
                    <a:pt x="249" y="744"/>
                  </a:lnTo>
                  <a:lnTo>
                    <a:pt x="262" y="749"/>
                  </a:lnTo>
                  <a:lnTo>
                    <a:pt x="276" y="758"/>
                  </a:lnTo>
                  <a:lnTo>
                    <a:pt x="287" y="772"/>
                  </a:lnTo>
                  <a:lnTo>
                    <a:pt x="298" y="800"/>
                  </a:lnTo>
                  <a:lnTo>
                    <a:pt x="308" y="830"/>
                  </a:lnTo>
                  <a:lnTo>
                    <a:pt x="319" y="861"/>
                  </a:lnTo>
                  <a:lnTo>
                    <a:pt x="334" y="886"/>
                  </a:lnTo>
                  <a:lnTo>
                    <a:pt x="350" y="904"/>
                  </a:lnTo>
                  <a:lnTo>
                    <a:pt x="366" y="924"/>
                  </a:lnTo>
                  <a:lnTo>
                    <a:pt x="381" y="944"/>
                  </a:lnTo>
                  <a:lnTo>
                    <a:pt x="395" y="966"/>
                  </a:lnTo>
                  <a:lnTo>
                    <a:pt x="397" y="980"/>
                  </a:lnTo>
                  <a:lnTo>
                    <a:pt x="397" y="993"/>
                  </a:lnTo>
                  <a:lnTo>
                    <a:pt x="391" y="1007"/>
                  </a:lnTo>
                  <a:lnTo>
                    <a:pt x="381" y="1018"/>
                  </a:lnTo>
                  <a:lnTo>
                    <a:pt x="364" y="1022"/>
                  </a:lnTo>
                  <a:lnTo>
                    <a:pt x="348" y="1027"/>
                  </a:lnTo>
                  <a:lnTo>
                    <a:pt x="334" y="1032"/>
                  </a:lnTo>
                  <a:lnTo>
                    <a:pt x="319" y="1038"/>
                  </a:lnTo>
                  <a:lnTo>
                    <a:pt x="307" y="1043"/>
                  </a:lnTo>
                  <a:lnTo>
                    <a:pt x="292" y="1052"/>
                  </a:lnTo>
                  <a:lnTo>
                    <a:pt x="278" y="1063"/>
                  </a:lnTo>
                  <a:lnTo>
                    <a:pt x="262" y="1074"/>
                  </a:lnTo>
                  <a:lnTo>
                    <a:pt x="249" y="1083"/>
                  </a:lnTo>
                  <a:lnTo>
                    <a:pt x="231" y="1090"/>
                  </a:lnTo>
                  <a:lnTo>
                    <a:pt x="215" y="1094"/>
                  </a:lnTo>
                  <a:lnTo>
                    <a:pt x="198" y="1099"/>
                  </a:lnTo>
                  <a:lnTo>
                    <a:pt x="182" y="1105"/>
                  </a:lnTo>
                  <a:lnTo>
                    <a:pt x="164" y="1110"/>
                  </a:lnTo>
                  <a:lnTo>
                    <a:pt x="151" y="1119"/>
                  </a:lnTo>
                  <a:lnTo>
                    <a:pt x="141" y="1132"/>
                  </a:lnTo>
                  <a:lnTo>
                    <a:pt x="124" y="1146"/>
                  </a:lnTo>
                  <a:lnTo>
                    <a:pt x="106" y="1160"/>
                  </a:lnTo>
                  <a:lnTo>
                    <a:pt x="88" y="1171"/>
                  </a:lnTo>
                  <a:lnTo>
                    <a:pt x="68" y="1180"/>
                  </a:lnTo>
                  <a:lnTo>
                    <a:pt x="88" y="1186"/>
                  </a:lnTo>
                  <a:lnTo>
                    <a:pt x="106" y="1188"/>
                  </a:lnTo>
                  <a:lnTo>
                    <a:pt x="124" y="1193"/>
                  </a:lnTo>
                  <a:lnTo>
                    <a:pt x="142" y="1197"/>
                  </a:lnTo>
                  <a:lnTo>
                    <a:pt x="162" y="1198"/>
                  </a:lnTo>
                  <a:lnTo>
                    <a:pt x="182" y="1198"/>
                  </a:lnTo>
                  <a:lnTo>
                    <a:pt x="200" y="1202"/>
                  </a:lnTo>
                  <a:lnTo>
                    <a:pt x="220" y="1202"/>
                  </a:lnTo>
                  <a:lnTo>
                    <a:pt x="252" y="1202"/>
                  </a:lnTo>
                  <a:lnTo>
                    <a:pt x="287" y="1198"/>
                  </a:lnTo>
                  <a:lnTo>
                    <a:pt x="319" y="1193"/>
                  </a:lnTo>
                  <a:lnTo>
                    <a:pt x="354" y="1186"/>
                  </a:lnTo>
                  <a:lnTo>
                    <a:pt x="386" y="1177"/>
                  </a:lnTo>
                  <a:lnTo>
                    <a:pt x="417" y="1168"/>
                  </a:lnTo>
                  <a:lnTo>
                    <a:pt x="447" y="1155"/>
                  </a:lnTo>
                  <a:lnTo>
                    <a:pt x="478" y="1141"/>
                  </a:lnTo>
                  <a:lnTo>
                    <a:pt x="505" y="1126"/>
                  </a:lnTo>
                  <a:lnTo>
                    <a:pt x="536" y="1110"/>
                  </a:lnTo>
                  <a:lnTo>
                    <a:pt x="559" y="1094"/>
                  </a:lnTo>
                  <a:lnTo>
                    <a:pt x="588" y="1074"/>
                  </a:lnTo>
                  <a:lnTo>
                    <a:pt x="613" y="1052"/>
                  </a:lnTo>
                  <a:lnTo>
                    <a:pt x="637" y="1029"/>
                  </a:lnTo>
                  <a:lnTo>
                    <a:pt x="660" y="1007"/>
                  </a:lnTo>
                  <a:lnTo>
                    <a:pt x="682" y="982"/>
                  </a:lnTo>
                  <a:lnTo>
                    <a:pt x="666" y="966"/>
                  </a:lnTo>
                  <a:lnTo>
                    <a:pt x="646" y="955"/>
                  </a:lnTo>
                  <a:lnTo>
                    <a:pt x="626" y="940"/>
                  </a:lnTo>
                  <a:lnTo>
                    <a:pt x="610" y="929"/>
                  </a:lnTo>
                  <a:lnTo>
                    <a:pt x="590" y="922"/>
                  </a:lnTo>
                  <a:lnTo>
                    <a:pt x="574" y="917"/>
                  </a:lnTo>
                  <a:lnTo>
                    <a:pt x="557" y="904"/>
                  </a:lnTo>
                  <a:lnTo>
                    <a:pt x="547" y="893"/>
                  </a:lnTo>
                  <a:lnTo>
                    <a:pt x="547" y="892"/>
                  </a:lnTo>
                  <a:lnTo>
                    <a:pt x="547" y="888"/>
                  </a:lnTo>
                  <a:lnTo>
                    <a:pt x="543" y="888"/>
                  </a:lnTo>
                  <a:lnTo>
                    <a:pt x="543" y="886"/>
                  </a:lnTo>
                  <a:lnTo>
                    <a:pt x="543" y="874"/>
                  </a:lnTo>
                  <a:lnTo>
                    <a:pt x="547" y="863"/>
                  </a:lnTo>
                  <a:lnTo>
                    <a:pt x="547" y="855"/>
                  </a:lnTo>
                  <a:lnTo>
                    <a:pt x="548" y="845"/>
                  </a:lnTo>
                  <a:lnTo>
                    <a:pt x="557" y="819"/>
                  </a:lnTo>
                  <a:lnTo>
                    <a:pt x="567" y="791"/>
                  </a:lnTo>
                  <a:lnTo>
                    <a:pt x="579" y="769"/>
                  </a:lnTo>
                  <a:lnTo>
                    <a:pt x="601" y="753"/>
                  </a:lnTo>
                  <a:lnTo>
                    <a:pt x="613" y="749"/>
                  </a:lnTo>
                  <a:lnTo>
                    <a:pt x="624" y="744"/>
                  </a:lnTo>
                  <a:lnTo>
                    <a:pt x="631" y="742"/>
                  </a:lnTo>
                  <a:lnTo>
                    <a:pt x="642" y="738"/>
                  </a:lnTo>
                  <a:lnTo>
                    <a:pt x="655" y="738"/>
                  </a:lnTo>
                  <a:lnTo>
                    <a:pt x="666" y="736"/>
                  </a:lnTo>
                  <a:lnTo>
                    <a:pt x="673" y="729"/>
                  </a:lnTo>
                  <a:lnTo>
                    <a:pt x="684" y="727"/>
                  </a:lnTo>
                  <a:lnTo>
                    <a:pt x="695" y="727"/>
                  </a:lnTo>
                  <a:lnTo>
                    <a:pt x="704" y="722"/>
                  </a:lnTo>
                  <a:lnTo>
                    <a:pt x="715" y="718"/>
                  </a:lnTo>
                  <a:lnTo>
                    <a:pt x="725" y="713"/>
                  </a:lnTo>
                  <a:lnTo>
                    <a:pt x="736" y="711"/>
                  </a:lnTo>
                  <a:lnTo>
                    <a:pt x="749" y="707"/>
                  </a:lnTo>
                  <a:lnTo>
                    <a:pt x="760" y="707"/>
                  </a:lnTo>
                  <a:lnTo>
                    <a:pt x="770" y="711"/>
                  </a:lnTo>
                  <a:lnTo>
                    <a:pt x="776" y="717"/>
                  </a:lnTo>
                  <a:lnTo>
                    <a:pt x="783" y="722"/>
                  </a:lnTo>
                  <a:lnTo>
                    <a:pt x="792" y="729"/>
                  </a:lnTo>
                  <a:lnTo>
                    <a:pt x="803" y="736"/>
                  </a:lnTo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100" name="Rectangle 28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066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01" name="Rectangle 2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057400" y="28956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30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3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3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CEB514E7-811F-470E-BFE9-36ABAEC188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09DF16-9352-46A7-97F1-1D13A8547A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69A4D-CC53-437F-8A0B-9942689ED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7A5EF8-3742-46F9-BA51-838B99827B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2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554AE-9A91-4493-B57B-4F6B2946E4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65971-8623-4209-8B69-A1CAE38C6E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2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1B1EB-B86B-405A-8176-A6997F8E32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7D3E19-E8DB-4741-A180-2126D4AA98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9E4A94-7324-495B-8EAF-1B8E46F078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2EC33-5273-4846-8365-2BAA4363BE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B0D8D-FF09-4EE5-8D75-3557F5E811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01C81A-A3B6-49FE-A4E7-03128A4D0F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1C3642-962A-4049-AAC7-DBACCC61F6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291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68" name="Rectangle 2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9" name="Rectangle 2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pPr>
              <a:defRPr/>
            </a:pPr>
            <a:fld id="{0B298323-8532-4CF6-B08C-0CA7D9D4E0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  <p:sldLayoutId id="2147483946" r:id="rId13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F7E386-EAB2-4186-A02E-0736520B071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8077200" cy="2743200"/>
          </a:xfrm>
        </p:spPr>
        <p:txBody>
          <a:bodyPr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4400" dirty="0"/>
              <a:t>Cryptanalysis</a:t>
            </a:r>
            <a:endParaRPr lang="en-US" sz="3600" dirty="0"/>
          </a:p>
          <a:p>
            <a:pPr algn="ctr">
              <a:lnSpc>
                <a:spcPct val="80000"/>
              </a:lnSpc>
              <a:buFontTx/>
              <a:buNone/>
            </a:pPr>
            <a:endParaRPr lang="en-US" dirty="0"/>
          </a:p>
          <a:p>
            <a:pPr algn="ctr">
              <a:lnSpc>
                <a:spcPct val="80000"/>
              </a:lnSpc>
              <a:buFontTx/>
              <a:buNone/>
            </a:pPr>
            <a:endParaRPr lang="en-US" dirty="0"/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dirty="0"/>
              <a:t>Lattices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5104673" y="4256782"/>
            <a:ext cx="3638261" cy="7694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r"/>
            <a:r>
              <a:rPr lang="en-US" sz="2400" dirty="0">
                <a:latin typeface="Arial" charset="0"/>
              </a:rPr>
              <a:t>John Manferdelli</a:t>
            </a:r>
            <a:endParaRPr lang="en-US" sz="1800" dirty="0">
              <a:latin typeface="Arial" charset="0"/>
            </a:endParaRPr>
          </a:p>
          <a:p>
            <a:pPr algn="r"/>
            <a:r>
              <a:rPr lang="en-US" sz="2000" dirty="0" err="1">
                <a:latin typeface="Arial" charset="0"/>
              </a:rPr>
              <a:t>JohnManferdelli@hotmail.com</a:t>
            </a:r>
            <a:endParaRPr lang="en-US" sz="2000" dirty="0">
              <a:latin typeface="Arial" charset="0"/>
            </a:endParaRPr>
          </a:p>
        </p:txBody>
      </p:sp>
      <p:sp>
        <p:nvSpPr>
          <p:cNvPr id="16390" name="Text Box 1028"/>
          <p:cNvSpPr txBox="1">
            <a:spLocks noChangeArrowheads="1"/>
          </p:cNvSpPr>
          <p:nvPr/>
        </p:nvSpPr>
        <p:spPr bwMode="auto">
          <a:xfrm>
            <a:off x="149919" y="5283368"/>
            <a:ext cx="8610600" cy="70788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latin typeface="Arial" charset="0"/>
              </a:rPr>
              <a:t>© 2004-2025, John L. Manferdelli.</a:t>
            </a:r>
          </a:p>
          <a:p>
            <a:pPr algn="l"/>
            <a:r>
              <a:rPr lang="en-US" sz="1200" i="1" dirty="0">
                <a:latin typeface="Arial" charset="0"/>
              </a:rPr>
              <a:t>This material is provided without warranty of any kind including, without limitation, warranty of non-infringement or suitability for any purpose.  This material is not guaranteed to be error free and is intended for instructional use only.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Lattices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00" y="1882422"/>
                <a:ext cx="8305800" cy="4343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sSub>
                      <m:sSub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…+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are linearly independent is called a lattice.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20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∀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𝑣𝑜𝑙</m:t>
                    </m:r>
                    <m:d>
                      <m:d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det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are the generators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Note that any set of generators will do since they are related by </a:t>
                </a:r>
                <a:r>
                  <a:rPr lang="en-US" sz="2000" kern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uni</a:t>
                </a: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-modular transformations.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 lattice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CVP problem is: Find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l-GR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≠0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(|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|)</m:t>
                    </m:r>
                  </m:oMath>
                </a14:m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𝐶𝑉𝑃</m:t>
                        </m:r>
                      </m:e>
                      <m:sub>
                        <m:r>
                          <a:rPr lang="en-US" sz="20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sub>
                    </m:sSub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problem is: Find </a:t>
                </a: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l-GR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en-US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l-GR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≠0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(|</m:t>
                    </m:r>
                    <m:d>
                      <m:dPr>
                        <m:begChr m:val="|"/>
                        <m:endChr m:val="|"/>
                        <m:ctrlP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Volume of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-dimensional sphere: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)≈</m:t>
                    </m:r>
                    <m:f>
                      <m:f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0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2</m:t>
                                </m:r>
                                <m:r>
                                  <a:rPr lang="en-US" sz="20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𝜋</m:t>
                                </m:r>
                                <m:r>
                                  <a:rPr lang="en-US" sz="20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𝑒</m:t>
                                </m:r>
                              </m:num>
                              <m:den>
                                <m:r>
                                  <a:rPr lang="en-US" sz="20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endParaRPr lang="en-US" sz="2400" kern="0" dirty="0"/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" y="1882422"/>
                <a:ext cx="8305800" cy="4343400"/>
              </a:xfrm>
              <a:prstGeom prst="rect">
                <a:avLst/>
              </a:prstGeom>
              <a:blipFill>
                <a:blip r:embed="rId2"/>
                <a:stretch>
                  <a:fillRect l="-917" t="-174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00" y="2209800"/>
                <a:ext cx="8305800" cy="3124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sz="2000" kern="0" dirty="0"/>
                  <a:t>Hermite Normal Form (HNF)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2400" kern="0" dirty="0"/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kern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8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kern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i="1" kern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  <m:e>
                                <m:r>
                                  <a:rPr lang="en-US" sz="2400" i="1" kern="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  <m:e>
                                <m:r>
                                  <a:rPr lang="en-US" sz="2400" i="1" kern="0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400" i="1" kern="0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  <m:e>
                                <m:r>
                                  <a:rPr lang="en-US" sz="24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  <m:e>
                                <m:r>
                                  <a:rPr lang="en-US" sz="24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  <m:e>
                                <m:r>
                                  <a:rPr lang="en-US" sz="24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  <m:e>
                                <m:r>
                                  <a:rPr lang="en-US" sz="24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  <m:e>
                                <m:r>
                                  <a:rPr lang="en-US" sz="2400" i="1" kern="0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en-US" sz="2400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kern="0" dirty="0"/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" y="2209800"/>
                <a:ext cx="8305800" cy="3124200"/>
              </a:xfrm>
              <a:prstGeom prst="rect">
                <a:avLst/>
              </a:prstGeom>
              <a:blipFill>
                <a:blip r:embed="rId2"/>
                <a:stretch>
                  <a:fillRect l="-765" t="-202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61070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Minkowski’s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1617133"/>
                <a:ext cx="8534400" cy="5105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 lattice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suppose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 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convex, centrally symmetric region.  If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𝑣𝑜𝑙</m:t>
                    </m:r>
                    <m:d>
                      <m:d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&gt; 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kern="0" smtClean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m:rPr>
                        <m:sty m:val="p"/>
                      </m:rPr>
                      <a:rPr lang="el-GR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then S has a non-zero lattice point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400050" lvl="1" indent="0">
                  <a:lnSpc>
                    <a:spcPct val="90000"/>
                  </a:lnSpc>
                  <a:buNone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Suppose first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the simple lattice generated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, … </m:t>
                    </m:r>
                    <m:sSub>
                      <m:sSub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Represent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as</a:t>
                </a:r>
                <a14:m>
                  <m:oMath xmlns:m="http://schemas.openxmlformats.org/officeDocument/2006/math"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kern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1800" ker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kern="0">
                            <a:latin typeface="Cambria Math" panose="02040503050406030204" pitchFamily="18" charset="0"/>
                          </a:rPr>
                          <m:t> …,</m:t>
                        </m:r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Define </a:t>
                </a: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kern="0">
                            <a:latin typeface="Cambria Math" panose="02040503050406030204" pitchFamily="18" charset="0"/>
                          </a:rPr>
                          <m:t> …,</m:t>
                        </m:r>
                        <m:sSub>
                          <m:sSubPr>
                            <m:ctrlPr>
                              <a:rPr lang="en-US" sz="18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𝑣𝑜𝑙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𝑣𝑜𝑙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𝑣𝑜𝑙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So, if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has the property that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∀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𝑣𝑜𝑙</m:t>
                    </m:r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𝑣𝑜𝑙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Note that  </a:t>
                </a: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</a:rPr>
                      <m:t>𝑣𝑜𝑙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800" i="1" ker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So, if </a:t>
                </a: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</a:rPr>
                      <m:t>𝑣𝑜𝑙</m:t>
                    </m:r>
                    <m:d>
                      <m:d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there are at least two points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d>
                              <m:dPr>
                                <m:ctrlP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d>
                              <m:d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0" kern="0" smtClean="0">
                            <a:latin typeface="Cambria Math" panose="02040503050406030204" pitchFamily="18" charset="0"/>
                          </a:rPr>
                          <m:t> …,</m:t>
                        </m:r>
                        <m:sSup>
                          <m:sSup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sup>
                            <m:d>
                              <m:d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b="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1800" ker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d>
                              <m:d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d>
                              <m:d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kern="0">
                            <a:latin typeface="Cambria Math" panose="02040503050406030204" pitchFamily="18" charset="0"/>
                          </a:rPr>
                          <m:t> …,</m:t>
                        </m:r>
                        <m:sSup>
                          <m:sSup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sup>
                            <m:d>
                              <m:d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d>
                          <m:d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d>
                          <m:d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for some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Since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centrally symmetric, </a:t>
                </a:r>
                <a14:m>
                  <m:oMath xmlns:m="http://schemas.openxmlformats.org/officeDocument/2006/math"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d>
                          <m:d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, −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d>
                          <m:dPr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18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finally, note that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(1)</m:t>
                        </m:r>
                      </m:sup>
                    </m:sSup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Similarly, if </a:t>
                </a: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</a:rPr>
                      <m:t>𝑣𝑜𝑙</m:t>
                    </m:r>
                    <m:d>
                      <m:d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1800" ker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there are at least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points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,  1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d>
                          <m:d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d>
                          <m:d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for at least two,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d>
                          <m:d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all corresponding coordinates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d>
                          <m:d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d>
                          <m:d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d>
                          <m:d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d>
                          <m:d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p>
                    <m:r>
                      <a:rPr lang="en-US" sz="1800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are equal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 2</m:t>
                        </m:r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Thus, </a:t>
                </a:r>
                <a14:m>
                  <m:oMath xmlns:m="http://schemas.openxmlformats.org/officeDocument/2006/math"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f>
                      <m:f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p>
                        </m:sSup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But since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convex,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p>
                        </m:sSup>
                      </m:num>
                      <m:den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So, the result holds for the simple lattice. Suppose now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is genetated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 … 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put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 … 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800" b="0" i="1" kern="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kern="0" dirty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1800" b="0" i="1" kern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800" b="0" i="1" kern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800" b="0" i="1" kern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kern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kern="0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800" b="0" i="1" kern="0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800" b="0" i="0" kern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so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𝑣𝑜𝑙</m:t>
                    </m:r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𝑣𝑜𝑙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800" b="0" i="0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det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r>
                          <m:rPr>
                            <m:sty m:val="p"/>
                          </m:rPr>
                          <a:rPr lang="el-GR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the simple lattice result thus implies the general theorem.</a:t>
                </a: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sz="1800" b="0" kern="0" dirty="0"/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sz="1800" kern="0" dirty="0"/>
              </a:p>
              <a:p>
                <a:pPr>
                  <a:lnSpc>
                    <a:spcPct val="90000"/>
                  </a:lnSpc>
                </a:pPr>
                <a:endParaRPr lang="en-US" sz="2400" kern="0" dirty="0"/>
              </a:p>
              <a:p>
                <a:pPr>
                  <a:lnSpc>
                    <a:spcPct val="90000"/>
                  </a:lnSpc>
                </a:pPr>
                <a:endParaRPr lang="en-US" sz="2400" kern="0" dirty="0"/>
              </a:p>
              <a:p>
                <a:pPr>
                  <a:lnSpc>
                    <a:spcPct val="90000"/>
                  </a:lnSpc>
                </a:pPr>
                <a:endParaRPr lang="en-US" sz="2400" kern="0" dirty="0"/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617133"/>
                <a:ext cx="8534400" cy="5105400"/>
              </a:xfrm>
              <a:prstGeom prst="rect">
                <a:avLst/>
              </a:prstGeom>
              <a:blipFill>
                <a:blip r:embed="rId2"/>
                <a:stretch>
                  <a:fillRect l="-744" t="-1489" r="-119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62367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q-</a:t>
            </a:r>
            <a:r>
              <a:rPr lang="en-US" sz="4000" dirty="0" err="1">
                <a:latin typeface="Calibri" panose="020F0502020204030204" pitchFamily="34" charset="0"/>
                <a:cs typeface="Calibri" panose="020F0502020204030204" pitchFamily="34" charset="0"/>
              </a:rPr>
              <a:t>ary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 lattices and other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2133600"/>
                <a:ext cx="8305800" cy="3505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Definition: If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a lattice,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is called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</a:t>
                </a:r>
                <a:r>
                  <a:rPr lang="en-US" sz="2000" kern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ary</a:t>
                </a: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l-GR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l-GR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l-GR" sz="20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20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0" kern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b="0" i="0" kern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sz="2000" b="0" i="0" kern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000" b="0" i="0" kern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</a:t>
                </a:r>
                <a:r>
                  <a:rPr lang="en-US" sz="2000" kern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ary</a:t>
                </a: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00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20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p>
                    </m:sSup>
                    <m:d>
                      <m:d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kern="0"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sz="2000" ker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(</m:t>
                    </m:r>
                    <m:r>
                      <m:rPr>
                        <m:sty m:val="p"/>
                      </m:rPr>
                      <a:rPr lang="en-US" sz="20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sz="20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sz="20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</m:d>
                    <m:r>
                      <a:rPr lang="en-US" sz="20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𝑚𝑖𝑛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l-GR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Λ</m:t>
                            </m:r>
                          </m:sub>
                        </m:sSub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b="0" i="0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| 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</m:d>
                    <m:r>
                      <a:rPr lang="en-US" sz="20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l-GR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set of linearly independent vectors,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Solving CVP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p>
                    </m:sSup>
                    <m:d>
                      <m:d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chosen uniformly at random is as hard as worse case CVP.</a:t>
                </a:r>
              </a:p>
              <a:p>
                <a:pPr>
                  <a:lnSpc>
                    <a:spcPct val="90000"/>
                  </a:lnSpc>
                </a:pPr>
                <a:endParaRPr lang="en-US" sz="2000" kern="0" dirty="0"/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2133600"/>
                <a:ext cx="8305800" cy="3505200"/>
              </a:xfrm>
              <a:prstGeom prst="rect">
                <a:avLst/>
              </a:prstGeom>
              <a:blipFill>
                <a:blip r:embed="rId2"/>
                <a:stretch>
                  <a:fillRect l="-763" t="-2166" r="-122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488955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52462" y="1524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Some simple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2057400"/>
                <a:ext cx="8275236" cy="4495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Remember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b="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centrally symmetric if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b="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implies </a:t>
                </a:r>
                <a14:m>
                  <m:oMath xmlns:m="http://schemas.openxmlformats.org/officeDocument/2006/math">
                    <m:r>
                      <a:rPr lang="en-US" sz="2000" b="0" i="0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b="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convex if </a:t>
                </a: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implies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𝑢𝑠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We used this in proving Minkowski’s Theorem.</a:t>
                </a:r>
              </a:p>
              <a:p>
                <a:pPr>
                  <a:lnSpc>
                    <a:spcPct val="90000"/>
                  </a:lnSpc>
                </a:pPr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Theorem: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det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r>
                          <m:rPr>
                            <m:sty m:val="p"/>
                          </m:rPr>
                          <a:rPr lang="el-GR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  <a:p>
                <a:pPr marL="400050" lvl="1" indent="0">
                  <a:lnSpc>
                    <a:spcPct val="90000"/>
                  </a:lnSpc>
                  <a:buNone/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 ball centered at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having radius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det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r>
                          <m:rPr>
                            <m:sty m:val="p"/>
                          </m:rPr>
                          <a:rPr lang="el-GR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kern="0">
                            <a:latin typeface="Cambria Math" panose="02040503050406030204" pitchFamily="18" charset="0"/>
                          </a:rPr>
                          <m:t> …,</m:t>
                        </m:r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the coordinates of a vector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with respect to the basis generating the lattice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if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So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0" lang="en-US" sz="2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kumimoji="0" lang="en-US" sz="2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000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d>
                              <m:dPr>
                                <m:ctrlPr>
                                  <a:rPr kumimoji="0" lang="en-US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kumimoji="0" lang="el-GR" sz="2000" i="0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</m:d>
                          </m:e>
                        </m:func>
                      </m:e>
                      <m:sup>
                        <m:f>
                          <m:fPr>
                            <m:ctrlPr>
                              <a:rPr kumimoji="0" lang="en-US" sz="2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sz="2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sz="2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a:rPr kumimoji="0" lang="en-US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(1,1,…,1)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func>
                          <m:funcPr>
                            <m:ctrlPr>
                              <a:rPr kumimoji="0" lang="en-US" sz="2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000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d>
                              <m:dPr>
                                <m:ctrlPr>
                                  <a:rPr kumimoji="0" lang="en-US" sz="200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kumimoji="0" lang="el-GR" sz="2000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</m:d>
                          </m:e>
                        </m:func>
                      </m:e>
                      <m:sup>
                        <m:f>
                          <m:fPr>
                            <m:ctrlPr>
                              <a:rPr kumimoji="0" lang="en-US" sz="2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sz="2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sz="2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a:rPr kumimoji="0" lang="en-US" sz="2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(1,1,…,1)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as well as the line joining them are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so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𝑣𝑜𝑙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)≥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US" sz="20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det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m:rPr>
                        <m:sty m:val="p"/>
                      </m:rPr>
                      <a:rPr lang="el-GR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20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the result follows from Minkowski’s theorem.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2057400"/>
                <a:ext cx="8275236" cy="4495800"/>
              </a:xfrm>
              <a:prstGeom prst="rect">
                <a:avLst/>
              </a:prstGeom>
              <a:blipFill>
                <a:blip r:embed="rId2"/>
                <a:stretch>
                  <a:fillRect l="-767" t="-169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869779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E7AB0E6-6E26-40B6-875A-283A3DDFFD5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294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620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Reduced Basis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94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77469" y="1449745"/>
                <a:ext cx="8153400" cy="1466910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&lt;v</a:t>
                </a:r>
                <a:r>
                  <a:rPr lang="en-US" sz="20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v</a:t>
                </a:r>
                <a:r>
                  <a:rPr lang="en-US" sz="20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&gt; is reduced if  </a:t>
                </a:r>
              </a:p>
              <a:p>
                <a:pPr lvl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||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||≦|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||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; and,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−1/2</m:t>
                    </m:r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||</m:t>
                    </m:r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𝑣</m:t>
                    </m:r>
                    <m:r>
                      <a:rPr lang="en-US" sz="2000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||</m:t>
                    </m:r>
                    <m:r>
                      <a:rPr lang="en-US" sz="2000" i="1" baseline="30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≦(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𝑣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 ≦ 1/2</m:t>
                    </m:r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||</m:t>
                    </m:r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𝑣</m:t>
                    </m:r>
                    <m:r>
                      <a:rPr lang="en-US" sz="2000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||</m:t>
                    </m:r>
                    <m:r>
                      <a:rPr lang="en-US" sz="2000" i="1" baseline="30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.</a:t>
                </a:r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294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77469" y="1449745"/>
                <a:ext cx="8153400" cy="1466910"/>
              </a:xfrm>
              <a:blipFill>
                <a:blip r:embed="rId3"/>
                <a:stretch>
                  <a:fillRect l="-778" t="-5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336F6355-A011-31A4-4666-8058A83F9AFA}"/>
              </a:ext>
            </a:extLst>
          </p:cNvPr>
          <p:cNvGrpSpPr/>
          <p:nvPr/>
        </p:nvGrpSpPr>
        <p:grpSpPr>
          <a:xfrm>
            <a:off x="1066800" y="3047999"/>
            <a:ext cx="6019800" cy="3093905"/>
            <a:chOff x="1066800" y="2971800"/>
            <a:chExt cx="6172200" cy="3276600"/>
          </a:xfrm>
        </p:grpSpPr>
        <p:cxnSp>
          <p:nvCxnSpPr>
            <p:cNvPr id="8" name="Straight Connector 7"/>
            <p:cNvCxnSpPr/>
            <p:nvPr/>
          </p:nvCxnSpPr>
          <p:spPr bwMode="auto">
            <a:xfrm rot="5400000">
              <a:off x="1332706" y="4228306"/>
              <a:ext cx="2514600" cy="158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Straight Connector 12"/>
            <p:cNvCxnSpPr/>
            <p:nvPr/>
          </p:nvCxnSpPr>
          <p:spPr bwMode="auto">
            <a:xfrm>
              <a:off x="1447800" y="4114006"/>
              <a:ext cx="2468880" cy="794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Arrow Connector 16"/>
            <p:cNvCxnSpPr/>
            <p:nvPr/>
          </p:nvCxnSpPr>
          <p:spPr bwMode="auto">
            <a:xfrm rot="5400000" flipH="1" flipV="1">
              <a:off x="2476500" y="3619500"/>
              <a:ext cx="609600" cy="381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" name="Straight Arrow Connector 18"/>
            <p:cNvCxnSpPr/>
            <p:nvPr/>
          </p:nvCxnSpPr>
          <p:spPr bwMode="auto">
            <a:xfrm>
              <a:off x="2590800" y="4114800"/>
              <a:ext cx="990600" cy="158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 rot="5400000">
              <a:off x="1905794" y="4190206"/>
              <a:ext cx="2438400" cy="15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 rot="5400000">
              <a:off x="761206" y="4190206"/>
              <a:ext cx="2438400" cy="15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6" name="TextBox 25"/>
            <p:cNvSpPr txBox="1"/>
            <p:nvPr/>
          </p:nvSpPr>
          <p:spPr>
            <a:xfrm>
              <a:off x="3106590" y="4114800"/>
              <a:ext cx="4074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sz="2000" kern="0" dirty="0">
                  <a:solidFill>
                    <a:srgbClr val="000000"/>
                  </a:solidFill>
                  <a:latin typeface="Arial"/>
                </a:rPr>
                <a:t>v</a:t>
              </a:r>
              <a:r>
                <a:rPr kumimoji="1" lang="en-US" sz="2000" kern="0" baseline="-25000" dirty="0">
                  <a:solidFill>
                    <a:srgbClr val="000000"/>
                  </a:solidFill>
                  <a:latin typeface="Arial"/>
                </a:rPr>
                <a:t>1</a:t>
              </a:r>
              <a:endParaRPr 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411916" y="3352800"/>
              <a:ext cx="4074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sz="2000" kern="0" dirty="0">
                  <a:solidFill>
                    <a:srgbClr val="000000"/>
                  </a:solidFill>
                  <a:latin typeface="Arial"/>
                </a:rPr>
                <a:t>v</a:t>
              </a:r>
              <a:r>
                <a:rPr kumimoji="1" lang="en-US" sz="2000" kern="0" baseline="-25000" dirty="0">
                  <a:solidFill>
                    <a:srgbClr val="000000"/>
                  </a:solidFill>
                  <a:latin typeface="Arial"/>
                </a:rPr>
                <a:t>2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981200" y="5879068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Reduced</a:t>
              </a:r>
            </a:p>
          </p:txBody>
        </p:sp>
        <p:cxnSp>
          <p:nvCxnSpPr>
            <p:cNvPr id="29" name="Straight Connector 28"/>
            <p:cNvCxnSpPr/>
            <p:nvPr/>
          </p:nvCxnSpPr>
          <p:spPr bwMode="auto">
            <a:xfrm rot="5400000">
              <a:off x="4655026" y="4228306"/>
              <a:ext cx="2514600" cy="158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Connector 29"/>
            <p:cNvCxnSpPr/>
            <p:nvPr/>
          </p:nvCxnSpPr>
          <p:spPr bwMode="auto">
            <a:xfrm>
              <a:off x="4770120" y="4114006"/>
              <a:ext cx="2468880" cy="794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Straight Arrow Connector 30"/>
            <p:cNvCxnSpPr/>
            <p:nvPr/>
          </p:nvCxnSpPr>
          <p:spPr bwMode="auto">
            <a:xfrm rot="5400000" flipH="1" flipV="1">
              <a:off x="5737860" y="3223260"/>
              <a:ext cx="1066800" cy="71628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2" name="Straight Arrow Connector 31"/>
            <p:cNvCxnSpPr/>
            <p:nvPr/>
          </p:nvCxnSpPr>
          <p:spPr bwMode="auto">
            <a:xfrm>
              <a:off x="5913120" y="4114800"/>
              <a:ext cx="990600" cy="158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 rot="5400000">
              <a:off x="5228114" y="4190206"/>
              <a:ext cx="2438400" cy="15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/>
            <p:nvPr/>
          </p:nvCxnSpPr>
          <p:spPr bwMode="auto">
            <a:xfrm rot="5400000">
              <a:off x="4083526" y="4190206"/>
              <a:ext cx="2438400" cy="15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" name="TextBox 34"/>
            <p:cNvSpPr txBox="1"/>
            <p:nvPr/>
          </p:nvSpPr>
          <p:spPr>
            <a:xfrm>
              <a:off x="6428910" y="4114800"/>
              <a:ext cx="4074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sz="2000" kern="0" dirty="0">
                  <a:solidFill>
                    <a:srgbClr val="000000"/>
                  </a:solidFill>
                  <a:latin typeface="Arial"/>
                </a:rPr>
                <a:t>v</a:t>
              </a:r>
              <a:r>
                <a:rPr kumimoji="1" lang="en-US" sz="2000" kern="0" baseline="-25000" dirty="0">
                  <a:solidFill>
                    <a:srgbClr val="000000"/>
                  </a:solidFill>
                  <a:latin typeface="Arial"/>
                </a:rPr>
                <a:t>1</a:t>
              </a:r>
              <a:endParaRPr 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734236" y="3352800"/>
              <a:ext cx="4074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sz="2000" kern="0" dirty="0">
                  <a:solidFill>
                    <a:srgbClr val="000000"/>
                  </a:solidFill>
                  <a:latin typeface="Arial"/>
                </a:rPr>
                <a:t>v</a:t>
              </a:r>
              <a:r>
                <a:rPr kumimoji="1" lang="en-US" sz="2000" kern="0" baseline="-25000" dirty="0">
                  <a:solidFill>
                    <a:srgbClr val="000000"/>
                  </a:solidFill>
                  <a:latin typeface="Arial"/>
                </a:rPr>
                <a:t>2</a:t>
              </a:r>
              <a:endParaRPr 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628461" y="5879068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Arial" pitchFamily="34" charset="0"/>
                  <a:cs typeface="Arial" pitchFamily="34" charset="0"/>
                </a:rPr>
                <a:t>Not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7E2A198B-8462-6548-95AC-B9D847066CE0}"/>
                    </a:ext>
                  </a:extLst>
                </p:cNvPr>
                <p:cNvSpPr txBox="1"/>
                <p:nvPr/>
              </p:nvSpPr>
              <p:spPr>
                <a:xfrm>
                  <a:off x="2646233" y="5403050"/>
                  <a:ext cx="1326643" cy="6260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7E2A198B-8462-6548-95AC-B9D847066C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6233" y="5403050"/>
                  <a:ext cx="1326643" cy="626005"/>
                </a:xfrm>
                <a:prstGeom prst="rect">
                  <a:avLst/>
                </a:prstGeom>
                <a:blipFill>
                  <a:blip r:embed="rId4"/>
                  <a:stretch>
                    <a:fillRect b="-104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2BEEA57A-558E-C842-BC56-FF4834A9F40B}"/>
                    </a:ext>
                  </a:extLst>
                </p:cNvPr>
                <p:cNvSpPr txBox="1"/>
                <p:nvPr/>
              </p:nvSpPr>
              <p:spPr>
                <a:xfrm>
                  <a:off x="1066800" y="5469995"/>
                  <a:ext cx="1326643" cy="6260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−|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2BEEA57A-558E-C842-BC56-FF4834A9F4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800" y="5469995"/>
                  <a:ext cx="1326643" cy="626005"/>
                </a:xfrm>
                <a:prstGeom prst="rect">
                  <a:avLst/>
                </a:prstGeom>
                <a:blipFill>
                  <a:blip r:embed="rId5"/>
                  <a:stretch>
                    <a:fillRect b="-104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8991600" cy="990600"/>
          </a:xfrm>
        </p:spPr>
        <p:txBody>
          <a:bodyPr/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Good basis and Gram-Schmidt Orthogonalization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" y="1828800"/>
                <a:ext cx="8610600" cy="4648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Good basis for lattices are orthonormal when that is possible.  If a basis,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is orthonormal, then, for example, 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𝑣𝑜𝑙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0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||</m:t>
                                </m:r>
                                <m:r>
                                  <a:rPr lang="en-US" sz="2000" i="1" ker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000" i="1" ker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orthogonality defect of a basis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||</m:t>
                            </m:r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000" i="1" ker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 ker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∙||</m:t>
                                    </m:r>
                                    <m:r>
                                      <a:rPr lang="en-US" sz="2000" i="1" ker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i="1" ker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sz="20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… 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ker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000" i="1" ker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b="0" i="0" kern="0" smtClean="0"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Given a space generated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can also be generated by a set of vectors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,…,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with the property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 ker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)=0,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Th Gram-Schmidt orthogonalization procedure computes this.</a:t>
                </a: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sz="16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lvl="1" indent="0">
                  <a:lnSpc>
                    <a:spcPct val="90000"/>
                  </a:lnSpc>
                  <a:buNone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GSO, given,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,…,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1028700" lvl="2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1028700" lvl="2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800" b="0" i="1" kern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1257300" lvl="3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ker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US" sz="1800" i="1" ker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800" b="0" i="0" kern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kern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kern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kern="0" smtClean="0">
                          <a:latin typeface="Cambria Math" panose="02040503050406030204" pitchFamily="18" charset="0"/>
                        </a:rPr>
                        <m:t> − </m:t>
                      </m:r>
                      <m:nary>
                        <m:naryPr>
                          <m:chr m:val="∑"/>
                          <m:ctrlPr>
                            <a:rPr lang="en-US" sz="1800" b="0" i="1" kern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kern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b="0" i="1" kern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kern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kern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1800" b="0" i="1" kern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800" b="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kern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800" b="0" i="1" kern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kern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kern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800" b="0" i="1" kern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800" i="1" ker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1800" i="1" ker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800" i="1" ker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1800" i="1" ker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800" i="1" ker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ker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1800" i="1" ker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028700" lvl="2">
                  <a:lnSpc>
                    <a:spcPct val="90000"/>
                  </a:lnSpc>
                  <a:buFont typeface="+mj-lt"/>
                  <a:buAutoNum type="arabicPeriod"/>
                </a:pPr>
                <a:endParaRPr lang="en-US" sz="1200" kern="0" dirty="0"/>
              </a:p>
              <a:p>
                <a:pPr>
                  <a:lnSpc>
                    <a:spcPct val="90000"/>
                  </a:lnSpc>
                </a:pPr>
                <a:endParaRPr lang="en-US" sz="2400" kern="0" dirty="0"/>
              </a:p>
              <a:p>
                <a:pPr>
                  <a:lnSpc>
                    <a:spcPct val="90000"/>
                  </a:lnSpc>
                </a:pPr>
                <a:endParaRPr lang="en-US" sz="2400" kern="0" dirty="0"/>
              </a:p>
              <a:p>
                <a:pPr>
                  <a:lnSpc>
                    <a:spcPct val="90000"/>
                  </a:lnSpc>
                </a:pPr>
                <a:endParaRPr lang="en-US" sz="2400" kern="0" dirty="0"/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1828800"/>
                <a:ext cx="8610600" cy="4648200"/>
              </a:xfrm>
              <a:prstGeom prst="rect">
                <a:avLst/>
              </a:prstGeom>
              <a:blipFill>
                <a:blip r:embed="rId2"/>
                <a:stretch>
                  <a:fillRect l="-885" t="-1635" b="-215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051278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0776" y="304800"/>
            <a:ext cx="7772400" cy="7620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Size 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726" y="1688432"/>
                <a:ext cx="8572500" cy="46361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Definition: A basis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:r>
                  <a:rPr lang="en-US" sz="2000" i="1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size reduced </a:t>
                </a: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0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in the Gram-Schmidt orthogonalization procedure.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basis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general,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,…,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not also a lattice basis because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generally not an integer.  We can find a “nearly” orthogonal set of vectors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by rounding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. </m:t>
                    </m:r>
                    <m:sSubSup>
                      <m:sSub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800" i="1" ker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800" i="1" ker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sz="1800" i="0" kern="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 also a basis for the lattice and has the same gram Schmidt basis,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,…,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When performing GSO on this </a:t>
                </a:r>
                <a:r>
                  <a:rPr lang="en-US" sz="1800" i="1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reduced</a:t>
                </a: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basis,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sz="1800" kern="0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Size-reduction</a:t>
                </a:r>
              </a:p>
              <a:p>
                <a:pPr marL="400050" lvl="1" indent="0">
                  <a:lnSpc>
                    <a:spcPct val="90000"/>
                  </a:lnSpc>
                  <a:buNone/>
                </a:pPr>
                <a:r>
                  <a:rPr lang="en-US" sz="1800" kern="0" dirty="0"/>
                  <a:t>for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800" kern="0" dirty="0"/>
                  <a:t>,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800" kern="0" dirty="0"/>
              </a:p>
              <a:p>
                <a:pPr marL="800100" lvl="2" indent="0">
                  <a:lnSpc>
                    <a:spcPct val="90000"/>
                  </a:lnSpc>
                  <a:buNone/>
                </a:pPr>
                <a:r>
                  <a:rPr lang="en-US" sz="1800" kern="0" dirty="0"/>
                  <a:t>for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800" kern="0" dirty="0"/>
                  <a:t>,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endParaRPr lang="en-US" sz="1800" b="0" kern="0" dirty="0">
                  <a:ea typeface="Cambria Math" panose="02040503050406030204" pitchFamily="18" charset="0"/>
                </a:endParaRPr>
              </a:p>
              <a:p>
                <a:pPr marL="1257300" lvl="3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kern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kern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80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−↾</m:t>
                      </m:r>
                      <m:sSub>
                        <m:sSubPr>
                          <m:ctrlPr>
                            <a:rPr lang="en-US" sz="1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8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⇃</m:t>
                      </m:r>
                      <m:sSub>
                        <m:sSubPr>
                          <m:ctrlPr>
                            <a:rPr lang="en-US" sz="1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800" kern="0" dirty="0"/>
              </a:p>
              <a:p>
                <a:pPr marL="1257300" lvl="3" indent="0">
                  <a:lnSpc>
                    <a:spcPct val="90000"/>
                  </a:lnSpc>
                  <a:buNone/>
                </a:pPr>
                <a:r>
                  <a:rPr lang="en-US" sz="1800" kern="0" dirty="0"/>
                  <a:t>for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1800" b="0" kern="0" dirty="0">
                  <a:ea typeface="Cambria Math" panose="02040503050406030204" pitchFamily="18" charset="0"/>
                </a:endParaRPr>
              </a:p>
              <a:p>
                <a:pPr marL="1714500" lvl="4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800" b="0" i="1" kern="0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sz="180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180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sz="18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US" sz="1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↾</m:t>
                      </m:r>
                      <m:sSub>
                        <m:sSubPr>
                          <m:ctrlPr>
                            <a:rPr lang="en-US" sz="18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8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8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⇃</m:t>
                      </m:r>
                      <m:sSub>
                        <m:sSubPr>
                          <m:ctrlPr>
                            <a:rPr lang="en-US" sz="1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</m:oMath>
                  </m:oMathPara>
                </a14:m>
                <a:endParaRPr lang="en-US" sz="1800" kern="0" dirty="0"/>
              </a:p>
              <a:p>
                <a:pPr>
                  <a:lnSpc>
                    <a:spcPct val="90000"/>
                  </a:lnSpc>
                </a:pPr>
                <a:endParaRPr lang="en-US" sz="2400" kern="0" dirty="0"/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726" y="1688432"/>
                <a:ext cx="8572500" cy="4636168"/>
              </a:xfrm>
              <a:prstGeom prst="rect">
                <a:avLst/>
              </a:prstGeom>
              <a:blipFill>
                <a:blip r:embed="rId2"/>
                <a:stretch>
                  <a:fillRect l="-7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615760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534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Size reduction and basis reordering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" y="1905000"/>
                <a:ext cx="8229600" cy="4191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 basis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,…,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the resulting GSO basis. 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satisfies the </a:t>
                </a:r>
                <a:r>
                  <a:rPr lang="en-US" sz="1800" i="1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Lovasz condition </a:t>
                </a: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with factor </a:t>
                </a:r>
                <a14:m>
                  <m:oMath xmlns:m="http://schemas.openxmlformats.org/officeDocument/2006/math"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if it is size reduced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+1,</m:t>
                                </m:r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The LLL algorithm calculates such a basis.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LLL Algorithm</a:t>
                </a:r>
              </a:p>
              <a:p>
                <a:pPr marL="400050" lvl="1" indent="0">
                  <a:lnSpc>
                    <a:spcPct val="90000"/>
                  </a:lnSpc>
                  <a:buNone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generating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n-US" sz="18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calculate the LLL reduced basis</a:t>
                </a:r>
              </a:p>
              <a:p>
                <a:pPr lvl="1" indent="-3429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Reduce the basis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with the size reduction algorithm and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,…,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indent="-3429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800" b="0" i="1" kern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=1, 2, …,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800" b="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indent="-3429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indent="-3429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(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+1,</m:t>
                                </m:r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2" indent="-342900">
                  <a:lnSpc>
                    <a:spcPct val="90000"/>
                  </a:lnSpc>
                  <a:buFont typeface="+mj-lt"/>
                  <a:buAutoNum type="alphaLcParenR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2" indent="-342900">
                  <a:lnSpc>
                    <a:spcPct val="90000"/>
                  </a:lnSpc>
                  <a:buFont typeface="+mj-lt"/>
                  <a:buAutoNum type="alphaLcParenR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Go to 1</a:t>
                </a:r>
              </a:p>
              <a:p>
                <a:pPr marL="800100" lvl="1" indent="-400050">
                  <a:lnSpc>
                    <a:spcPct val="90000"/>
                  </a:lnSpc>
                  <a:buFont typeface="+mj-lt"/>
                  <a:buAutoNum type="arabicPeriod" startAt="5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400050" lvl="1" indent="0">
                  <a:lnSpc>
                    <a:spcPct val="90000"/>
                  </a:lnSpc>
                  <a:buNone/>
                </a:pPr>
                <a:endParaRPr lang="en-US" sz="1800" kern="0" dirty="0"/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1905000"/>
                <a:ext cx="8229600" cy="4191000"/>
              </a:xfrm>
              <a:prstGeom prst="rect">
                <a:avLst/>
              </a:prstGeom>
              <a:blipFill>
                <a:blip r:embed="rId2"/>
                <a:stretch>
                  <a:fillRect l="-770" t="-1511" b="-60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281615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211015" y="76200"/>
            <a:ext cx="82296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Example (LLL including GSO)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648" y="1600200"/>
                <a:ext cx="8448152" cy="4648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LLL (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(2,3,14)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0,7,11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0,0,23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GSO: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21+154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4+9+196</m:t>
                        </m:r>
                      </m:den>
                    </m:f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175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209</m:t>
                        </m:r>
                      </m:den>
                    </m:f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322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209</m:t>
                        </m:r>
                      </m:den>
                    </m:f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3473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4905</m:t>
                        </m:r>
                      </m:den>
                    </m:f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(−</m:t>
                        </m:r>
                        <m:f>
                          <m:fPr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350</m:t>
                            </m:r>
                          </m:num>
                          <m:den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209</m:t>
                            </m:r>
                          </m:den>
                        </m:f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, </m:t>
                        </m:r>
                        <m:f>
                          <m:fPr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938</m:t>
                            </m:r>
                          </m:num>
                          <m:den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209</m:t>
                            </m:r>
                          </m:den>
                        </m:f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, −</m:t>
                        </m:r>
                        <m:f>
                          <m:fPr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151</m:t>
                            </m:r>
                          </m:num>
                          <m:den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209</m:t>
                            </m:r>
                          </m:den>
                        </m:f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Size reduction: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↾</m:t>
                    </m:r>
                    <m:sSub>
                      <m:sSub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⇃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−2,4,−3</m:t>
                            </m:r>
                          </m:e>
                        </m:d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↾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⇃</m:t>
                    </m:r>
                    <m:r>
                      <a:rPr lang="en-US" sz="18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34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209</m:t>
                        </m:r>
                      </m:den>
                    </m:f>
                    <m:r>
                      <a:rPr lang="en-US" sz="18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↾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⇃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−2,4,20</m:t>
                            </m:r>
                          </m:e>
                        </m:d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↾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⇃</m:t>
                    </m:r>
                    <m:r>
                      <a:rPr lang="en-US" sz="1800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1432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4905</m:t>
                        </m:r>
                      </m:den>
                    </m:f>
                    <m:r>
                      <a:rPr lang="en-US" sz="18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last change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↾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⇃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−4,1,6</m:t>
                            </m:r>
                          </m:e>
                        </m:d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↾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⇃</m:t>
                    </m:r>
                    <m:r>
                      <a:rPr lang="en-US" sz="1800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8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79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209</m:t>
                        </m:r>
                      </m:den>
                    </m:f>
                    <m:r>
                      <a:rPr lang="en-US" sz="18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(2,3,14)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(−2,4,−3)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(−4,1,6)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=209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4905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209</m:t>
                        </m:r>
                      </m:den>
                    </m:f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103684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4905</m:t>
                        </m:r>
                      </m:den>
                    </m:f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Lovasz condition is not satisfied for </a:t>
                </a: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since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sz="1800" b="0" i="0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So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Applying GSO 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−34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−6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a:rPr lang="en-US" sz="1800" i="1" ker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2087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4905</m:t>
                        </m:r>
                      </m:den>
                    </m:f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Size reduction produces: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↾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⇃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0,7,11</m:t>
                            </m:r>
                          </m:e>
                        </m:d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don’t change.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</m:sub>
                    </m:sSub>
                  </m:oMath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1" indent="0">
                  <a:lnSpc>
                    <a:spcPct val="90000"/>
                  </a:lnSpc>
                  <a:buNone/>
                </a:pPr>
                <a:endParaRPr lang="en-US" sz="1800" kern="0" dirty="0"/>
              </a:p>
              <a:p>
                <a:pPr lvl="1">
                  <a:lnSpc>
                    <a:spcPct val="90000"/>
                  </a:lnSpc>
                </a:pPr>
                <a:endParaRPr lang="en-US" sz="1800" kern="0" dirty="0"/>
              </a:p>
              <a:p>
                <a:pPr lvl="1">
                  <a:lnSpc>
                    <a:spcPct val="90000"/>
                  </a:lnSpc>
                </a:pPr>
                <a:endParaRPr lang="en-US" sz="1800" kern="0" dirty="0"/>
              </a:p>
              <a:p>
                <a:pPr lvl="1">
                  <a:lnSpc>
                    <a:spcPct val="90000"/>
                  </a:lnSpc>
                </a:pPr>
                <a:endParaRPr lang="en-US" sz="1800" kern="0" dirty="0"/>
              </a:p>
              <a:p>
                <a:pPr lvl="1">
                  <a:lnSpc>
                    <a:spcPct val="90000"/>
                  </a:lnSpc>
                </a:pPr>
                <a:endParaRPr lang="en-US" sz="1800" kern="0" dirty="0"/>
              </a:p>
              <a:p>
                <a:pPr>
                  <a:lnSpc>
                    <a:spcPct val="90000"/>
                  </a:lnSpc>
                </a:pPr>
                <a:endParaRPr lang="en-US" sz="1800" kern="0" dirty="0"/>
              </a:p>
              <a:p>
                <a:pPr>
                  <a:lnSpc>
                    <a:spcPct val="90000"/>
                  </a:lnSpc>
                </a:pPr>
                <a:endParaRPr lang="en-US" sz="2400" kern="0" dirty="0"/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648" y="1600200"/>
                <a:ext cx="8448152" cy="4648200"/>
              </a:xfrm>
              <a:prstGeom prst="rect">
                <a:avLst/>
              </a:prstGeom>
              <a:blipFill>
                <a:blip r:embed="rId2"/>
                <a:stretch>
                  <a:fillRect l="-751" t="-27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FA88E8B-03C9-D943-866E-484DDE3C73A9}"/>
              </a:ext>
            </a:extLst>
          </p:cNvPr>
          <p:cNvSpPr txBox="1"/>
          <p:nvPr/>
        </p:nvSpPr>
        <p:spPr>
          <a:xfrm>
            <a:off x="703385" y="6324600"/>
            <a:ext cx="14927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Heiko </a:t>
            </a:r>
            <a:r>
              <a:rPr lang="en-US" dirty="0" err="1"/>
              <a:t>Knopse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4030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211014" y="304800"/>
            <a:ext cx="8628185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Example (LLL including GSO) - continued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580" y="2105799"/>
                <a:ext cx="7924800" cy="35330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Now Lovasz condition is satisfied for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since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sz="1800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but not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since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sz="1800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swap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−2,4,−3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−4,1,6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0,7,11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1501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103684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1501</m:t>
                        </m:r>
                      </m:den>
                    </m:f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 GSO coefficients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a:rPr lang="en-US" sz="1800" i="1" ker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a:rPr lang="en-US" sz="1800" i="1" ker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2087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1501</m:t>
                        </m:r>
                      </m:den>
                    </m:f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Applying size reduction does not affect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↾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⇃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4,6,5</m:t>
                            </m:r>
                            <m:r>
                              <a:rPr lang="en-US" sz="1800" i="1" kern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↾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⇃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29</m:t>
                        </m:r>
                      </m:den>
                    </m:f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586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1501</m:t>
                        </m:r>
                      </m:den>
                    </m:f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Both Lovasz conditions now hold.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LLL basis is 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(−2,4,−3)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(−4,1,6)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4,6,5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 Notice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||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actually the shortest vector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lvl="1">
                  <a:lnSpc>
                    <a:spcPct val="90000"/>
                  </a:lnSpc>
                </a:pPr>
                <a:endParaRPr lang="en-US" sz="1800" kern="0" dirty="0"/>
              </a:p>
              <a:p>
                <a:pPr lvl="1">
                  <a:lnSpc>
                    <a:spcPct val="90000"/>
                  </a:lnSpc>
                </a:pPr>
                <a:endParaRPr lang="en-US" sz="1800" kern="0" dirty="0"/>
              </a:p>
              <a:p>
                <a:pPr lvl="1">
                  <a:lnSpc>
                    <a:spcPct val="90000"/>
                  </a:lnSpc>
                </a:pPr>
                <a:endParaRPr lang="en-US" sz="1800" kern="0" dirty="0"/>
              </a:p>
              <a:p>
                <a:pPr lvl="1">
                  <a:lnSpc>
                    <a:spcPct val="90000"/>
                  </a:lnSpc>
                </a:pPr>
                <a:endParaRPr lang="en-US" sz="1800" kern="0" dirty="0"/>
              </a:p>
              <a:p>
                <a:pPr>
                  <a:lnSpc>
                    <a:spcPct val="90000"/>
                  </a:lnSpc>
                </a:pPr>
                <a:endParaRPr lang="en-US" sz="1800" kern="0" dirty="0"/>
              </a:p>
              <a:p>
                <a:pPr>
                  <a:lnSpc>
                    <a:spcPct val="90000"/>
                  </a:lnSpc>
                </a:pPr>
                <a:endParaRPr lang="en-US" sz="2400" kern="0" dirty="0"/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0580" y="2105799"/>
                <a:ext cx="7924800" cy="3533001"/>
              </a:xfrm>
              <a:prstGeom prst="rect">
                <a:avLst/>
              </a:prstGeom>
              <a:blipFill>
                <a:blip r:embed="rId2"/>
                <a:stretch>
                  <a:fillRect l="-640" t="-142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FA88E8B-03C9-D943-866E-484DDE3C73A9}"/>
              </a:ext>
            </a:extLst>
          </p:cNvPr>
          <p:cNvSpPr txBox="1"/>
          <p:nvPr/>
        </p:nvSpPr>
        <p:spPr>
          <a:xfrm>
            <a:off x="703385" y="6324600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n-lt"/>
              </a:rPr>
              <a:t>From Heiko </a:t>
            </a:r>
            <a:r>
              <a:rPr lang="en-US" sz="1200" dirty="0" err="1">
                <a:latin typeface="+mn-lt"/>
              </a:rPr>
              <a:t>Knopse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598797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A87C188-DA0C-41BF-992B-5EB4DB367E1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499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LLL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99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371600"/>
                <a:ext cx="8382000" cy="55626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Suppose we apply LLL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18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kern="100" smtClean="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, …,  </m:t>
                            </m:r>
                            <m:r>
                              <a:rPr lang="en-US" sz="18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 kern="1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  <m:sup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8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defined as above.  With  </a:t>
                </a:r>
                <a14:m>
                  <m:oMath xmlns:m="http://schemas.openxmlformats.org/officeDocument/2006/math">
                    <m:r>
                      <a:rPr lang="en-US" sz="1800" b="0" i="1" kern="10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8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𝑚𝑖𝑛</m:t>
                        </m:r>
                      </m:e>
                      <m:sub>
                        <m:r>
                          <a:rPr lang="en-US" sz="18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</m:t>
                        </m:r>
                        <m:r>
                          <a:rPr lang="en-US" sz="18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l-GR" sz="18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Λ</m:t>
                        </m:r>
                      </m:sub>
                    </m:sSub>
                    <m:r>
                      <a:rPr lang="en-US" sz="1800" b="0" i="1" kern="10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sz="18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b="0" i="1" kern="10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kern="100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kern="100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800" b="0" i="1" kern="100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800" b="0" i="1" kern="10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8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den>
                    </m:f>
                    <m:r>
                      <a:rPr lang="en-US" sz="1800" b="0" i="1" kern="10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𝛿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&lt;1</m:t>
                    </m:r>
                  </m:oMath>
                </a14:m>
                <a:r>
                  <a:rPr lang="en-US" sz="1800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, LLL runs in </a:t>
                </a:r>
                <a14:m>
                  <m:oMath xmlns:m="http://schemas.openxmlformats.org/officeDocument/2006/math">
                    <m:r>
                      <a:rPr lang="en-US" sz="1800" b="0" i="1" kern="10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en-US" sz="18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p>
                        <m:r>
                          <a:rPr lang="en-US" sz="18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6</m:t>
                        </m:r>
                      </m:sup>
                    </m:sSup>
                    <m:sSup>
                      <m:sSupPr>
                        <m:ctrlPr>
                          <a:rPr lang="en-US" sz="18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b="0" i="0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ln</m:t>
                        </m:r>
                        <m:r>
                          <a:rPr lang="en-US" sz="18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⁡(</m:t>
                        </m:r>
                        <m:r>
                          <a:rPr lang="en-US" sz="18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en-US" sz="18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e>
                      <m:sup>
                        <m:r>
                          <a:rPr lang="en-US" sz="18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sup>
                    </m:sSup>
                    <m:r>
                      <a:rPr lang="en-US" sz="1800" b="0" i="1" kern="10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800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lvl="1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𝐵</m:t>
                        </m:r>
                      </m:e>
                      <m:sub>
                        <m:r>
                          <a:rPr lang="en-US" sz="1600" i="1" kern="10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sz="16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≤</m:t>
                    </m:r>
                    <m:r>
                      <a:rPr lang="en-US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sSub>
                      <m:sSubPr>
                        <m:ctrlPr>
                          <a:rPr lang="en-US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𝐵</m:t>
                        </m:r>
                      </m:e>
                      <m:sub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1600" kern="100" dirty="0">
                  <a:latin typeface="Calibri" panose="020F0502020204030204" pitchFamily="34" charset="0"/>
                  <a:ea typeface="Aptos" panose="020B0004020202020204" pitchFamily="34" charset="0"/>
                  <a:cs typeface="Calibri" panose="020F0502020204030204" pitchFamily="34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6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| </m:t>
                    </m:r>
                    <m:sSub>
                      <m:sSubPr>
                        <m:ctrlPr>
                          <a:rPr lang="en-US" sz="160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𝐵</m:t>
                        </m:r>
                      </m:e>
                      <m:sub>
                        <m:r>
                          <a:rPr lang="en-US" sz="16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sz="1600" b="0" i="1" kern="10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</m:t>
                    </m:r>
                    <m:r>
                      <a:rPr lang="en-US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≤</m:t>
                    </m:r>
                    <m:sSup>
                      <m:sSupPr>
                        <m:ctrlP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600" b="0" i="1" kern="1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kern="1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kern="1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600" b="0" i="1" kern="1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≤(</m:t>
                    </m:r>
                    <m:f>
                      <m:fPr>
                        <m:ctrlP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  <m:r>
                      <a:rPr lang="en-US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−2</m:t>
                        </m:r>
                      </m:sup>
                    </m:sSup>
                    <m:r>
                      <a:rPr lang="en-US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  <m:sSub>
                      <m:sSubPr>
                        <m:ctrlP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𝐵</m:t>
                        </m:r>
                      </m:e>
                      <m:sub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kern="100" dirty="0">
                  <a:latin typeface="Calibri" panose="020F0502020204030204" pitchFamily="34" charset="0"/>
                  <a:ea typeface="Aptos" panose="020B0004020202020204" pitchFamily="34" charset="0"/>
                  <a:cs typeface="Calibri" panose="020F0502020204030204" pitchFamily="34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600" b="0" i="1" kern="10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|</m:t>
                    </m:r>
                    <m:d>
                      <m:dPr>
                        <m:begChr m:val="|"/>
                        <m:endChr m:val="|"/>
                        <m:ctrlPr>
                          <a:rPr lang="en-US" sz="16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kern="10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0" kern="10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</m:t>
                    </m:r>
                    <m:r>
                      <a:rPr lang="en-US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≤</m:t>
                    </m:r>
                    <m:sSup>
                      <m:sSupPr>
                        <m:ctrlP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begChr m:val="|"/>
                        <m:endChr m:val="|"/>
                        <m:ctrlP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600" b="0" i="1" kern="1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kern="1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|</m:t>
                                </m:r>
                                <m:r>
                                  <a:rPr lang="en-US" sz="1600" b="0" i="1" kern="1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600" b="0" i="1" kern="1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600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|</a:t>
                </a:r>
              </a:p>
              <a:p>
                <a:pPr lvl="1">
                  <a:spcBef>
                    <a:spcPts val="0"/>
                  </a:spcBef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𝜆</m:t>
                        </m:r>
                      </m:e>
                      <m:sub>
                        <m:r>
                          <a:rPr lang="en-US" sz="16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1600" b="0" i="1" kern="10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Λ</m:t>
                    </m:r>
                    <m:r>
                      <a:rPr lang="en-US" sz="1600" b="0" i="1" kern="10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  <m:r>
                      <a:rPr lang="en-US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≥</m:t>
                    </m:r>
                    <m:sSub>
                      <m:sSubPr>
                        <m:ctrlPr>
                          <a:rPr lang="en-US" sz="16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𝑚𝑖𝑛</m:t>
                        </m:r>
                      </m:e>
                      <m:sub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(||</m:t>
                    </m:r>
                    <m:sSup>
                      <m:sSupPr>
                        <m:ctrlP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∗</m:t>
                        </m:r>
                      </m:sup>
                    </m:sSup>
                    <m:r>
                      <a:rPr lang="en-US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||)</m:t>
                    </m:r>
                  </m:oMath>
                </a14:m>
                <a:endParaRPr lang="en-US" sz="1600" kern="100" dirty="0">
                  <a:latin typeface="Calibri" panose="020F0502020204030204" pitchFamily="34" charset="0"/>
                  <a:ea typeface="Aptos" panose="020B0004020202020204" pitchFamily="34" charset="0"/>
                  <a:cs typeface="Calibri" panose="020F0502020204030204" pitchFamily="34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600" b="0" i="1" kern="10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|</m:t>
                    </m:r>
                    <m:d>
                      <m:dPr>
                        <m:begChr m:val="|"/>
                        <m:endChr m:val="|"/>
                        <m:ctrlPr>
                          <a:rPr lang="en-US" sz="16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kern="10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b="0" i="1" kern="10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</m:t>
                    </m:r>
                    <m:r>
                      <a:rPr lang="en-US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≤</m:t>
                    </m:r>
                    <m:sSup>
                      <m:sSupPr>
                        <m:ctrlP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sSub>
                      <m:sSubPr>
                        <m:ctrlPr>
                          <a:rPr lang="en-US" sz="1600" i="1" kern="10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𝜆</m:t>
                        </m:r>
                      </m:e>
                      <m:sub>
                        <m:r>
                          <a:rPr lang="en-US" sz="1600" i="1" kern="10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1600" i="1" kern="10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sz="16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Λ</m:t>
                    </m:r>
                    <m:r>
                      <a:rPr lang="en-US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1600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kern="10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det</m:t>
                    </m:r>
                    <m:r>
                      <a:rPr lang="en-US" sz="1600" b="0" i="1" kern="10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⁡(</m:t>
                    </m:r>
                    <m:r>
                      <m:rPr>
                        <m:sty m:val="p"/>
                      </m:rPr>
                      <a:rPr lang="el-GR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Λ</m:t>
                    </m:r>
                    <m:r>
                      <a:rPr lang="en-US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)≤</m:t>
                    </m:r>
                    <m:nary>
                      <m:naryPr>
                        <m:chr m:val="∏"/>
                        <m:ctrlP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kern="1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kern="1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600" b="0" i="1" kern="1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|≤</m:t>
                        </m:r>
                      </m:e>
                    </m:nary>
                    <m:sSup>
                      <m:sSupPr>
                        <m:ctrlP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−1)_</m:t>
                            </m:r>
                          </m:num>
                          <m:den>
                            <m:r>
                              <a:rPr lang="en-US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US" sz="1800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det</m:t>
                    </m:r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⁡(</m:t>
                    </m:r>
                    <m:r>
                      <m:rPr>
                        <m:sty m:val="p"/>
                      </m:rPr>
                      <a:rPr lang="el-GR" sz="18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Λ</m:t>
                    </m:r>
                    <m:r>
                      <a:rPr lang="en-US" sz="18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1800" kern="100" dirty="0">
                  <a:latin typeface="Calibri" panose="020F0502020204030204" pitchFamily="34" charset="0"/>
                  <a:ea typeface="Aptos" panose="020B0004020202020204" pitchFamily="34" charset="0"/>
                  <a:cs typeface="Calibri" panose="020F0502020204030204" pitchFamily="34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kern="10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Calibri" panose="020F0502020204030204" pitchFamily="34" charset="0"/>
                      </a:rPr>
                      <m:t>|</m:t>
                    </m:r>
                    <m:d>
                      <m:dPr>
                        <m:begChr m:val="|"/>
                        <m:endChr m:val="|"/>
                        <m:ctrlPr>
                          <a:rPr lang="en-US" sz="1800" b="0" i="1" kern="10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kern="10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800" b="0" i="1" kern="10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b="0" i="1" kern="10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800" b="0" i="1" kern="10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</m:t>
                    </m:r>
                    <m:r>
                      <a:rPr lang="en-US" sz="18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≤</m:t>
                    </m:r>
                    <m:sSup>
                      <m:sSupPr>
                        <m:ctrlPr>
                          <a:rPr lang="en-US" sz="1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sz="1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1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−1)</m:t>
                            </m:r>
                          </m:num>
                          <m:den>
                            <m:r>
                              <a:rPr lang="en-US" sz="18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sSup>
                      <m:sSupPr>
                        <m:ctrlPr>
                          <a:rPr lang="en-US" sz="18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det</m:t>
                        </m:r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⁡(</m:t>
                        </m:r>
                        <m:r>
                          <m:rPr>
                            <m:sty m:val="p"/>
                          </m:rPr>
                          <a:rPr lang="el-GR" sz="1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Λ</m:t>
                        </m:r>
                        <m:r>
                          <a:rPr lang="en-US" sz="1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sz="18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</m:oMath>
                </a14:m>
                <a:endParaRPr lang="en-US" sz="1800" kern="100" dirty="0">
                  <a:latin typeface="Calibri" panose="020F0502020204030204" pitchFamily="34" charset="0"/>
                  <a:ea typeface="Aptos" panose="020B0004020202020204" pitchFamily="34" charset="0"/>
                  <a:cs typeface="Calibri" panose="020F0502020204030204" pitchFamily="34" charset="0"/>
                </a:endParaRPr>
              </a:p>
              <a:p>
                <a:pPr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sz="1800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 is a vector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 and the lattice basis for </a:t>
                </a:r>
                <a14:m>
                  <m:oMath xmlns:m="http://schemas.openxmlformats.org/officeDocument/2006/math">
                    <m:r>
                      <a:rPr lang="el-GR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𝛬</m:t>
                    </m:r>
                  </m:oMath>
                </a14:m>
                <a:r>
                  <a:rPr lang="en-US" sz="1800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1800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],</m:t>
                    </m:r>
                  </m:oMath>
                </a14:m>
                <a:r>
                  <a:rPr lang="en-US" sz="1800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 the coefficients for </a:t>
                </a:r>
                <a14:m>
                  <m:oMath xmlns:m="http://schemas.openxmlformats.org/officeDocument/2006/math"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sz="1800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sz="18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is not necessarily in the lattice but if we take each element in </a:t>
                </a:r>
                <a14:m>
                  <m:oMath xmlns:m="http://schemas.openxmlformats.org/officeDocument/2006/math"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sz="1800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 and round it</a:t>
                </a:r>
                <a:r>
                  <a:rPr lang="en-US" sz="18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⇂</m:t>
                    </m:r>
                    <m:sSup>
                      <m:sSupPr>
                        <m:ctrlP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18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)↿∈</m:t>
                    </m:r>
                    <m:r>
                      <a:rPr lang="el-GR" sz="18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𝛬</m:t>
                    </m:r>
                  </m:oMath>
                </a14:m>
                <a:r>
                  <a:rPr lang="en-US" sz="18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 </a:t>
                </a:r>
                <a:r>
                  <a:rPr lang="en-US" sz="1800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This is </a:t>
                </a:r>
                <a:r>
                  <a:rPr lang="en-US" sz="1800" i="1" kern="100" dirty="0"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Babai rounding.</a:t>
                </a:r>
                <a:endParaRPr lang="en-US" sz="1800" kern="100" dirty="0">
                  <a:latin typeface="Calibri" panose="020F0502020204030204" pitchFamily="34" charset="0"/>
                  <a:ea typeface="Aptos" panose="020B000402020202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sz="1800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:endParaRPr lang="en-US" sz="1800" dirty="0"/>
              </a:p>
            </p:txBody>
          </p:sp>
        </mc:Choice>
        <mc:Fallback xmlns="">
          <p:sp>
            <p:nvSpPr>
              <p:cNvPr id="8499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71600"/>
                <a:ext cx="8382000" cy="5562600"/>
              </a:xfrm>
              <a:blipFill>
                <a:blip r:embed="rId3"/>
                <a:stretch>
                  <a:fillRect l="-606" t="-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6C65F-B23E-606A-4B7F-99645E15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Slide Number Placeholder 5">
            <a:extLst>
              <a:ext uri="{FF2B5EF4-FFF2-40B4-BE49-F238E27FC236}">
                <a16:creationId xmlns:a16="http://schemas.microsoft.com/office/drawing/2014/main" id="{60CDE1F1-37AB-0C80-58DF-3480A0CB1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A87C188-DA0C-41BF-992B-5EB4DB367E1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4996" name="Rectangle 2">
            <a:extLst>
              <a:ext uri="{FF2B5EF4-FFF2-40B4-BE49-F238E27FC236}">
                <a16:creationId xmlns:a16="http://schemas.microsoft.com/office/drawing/2014/main" id="{C66C9DF6-77DC-F71E-488F-085DC29A3B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Attack on RSA using LLL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997" name="Rectangle 3">
                <a:extLst>
                  <a:ext uri="{FF2B5EF4-FFF2-40B4-BE49-F238E27FC236}">
                    <a16:creationId xmlns:a16="http://schemas.microsoft.com/office/drawing/2014/main" id="{9B93E3A3-2A40-3676-AE57-4443A3F6C6DA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95300" y="2133600"/>
                <a:ext cx="8153400" cy="3505200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Attack applies to messages of the form "M xxx" where only "xxx" varies  (e.g.- "The key is xxx") and xxx is small.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From now on, assume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𝑀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)=</m:t>
                    </m:r>
                    <m:r>
                      <a:rPr lang="en-US" sz="1800" i="1" dirty="0" err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  <m:r>
                      <a:rPr lang="en-US" sz="1800" i="1" dirty="0" err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800" i="1" dirty="0" err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where B is fixed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|x|&lt;Y. 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Not that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𝐸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𝑀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))=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 (</m:t>
                    </m:r>
                    <m:r>
                      <a:rPr lang="en-US" sz="1800" i="1" dirty="0" err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  <m:r>
                      <a:rPr lang="en-US" sz="1800" i="1" dirty="0" err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800" i="1" dirty="0" err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  <m:r>
                      <a:rPr lang="en-US" sz="1800" i="1" baseline="30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(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𝑚𝑜𝑑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 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f(x)= (B+x)</a:t>
                </a:r>
                <a:r>
                  <a:rPr lang="en-US" sz="180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-c= x</a:t>
                </a:r>
                <a:r>
                  <a:rPr lang="en-US" sz="180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+a</a:t>
                </a:r>
                <a:r>
                  <a:rPr 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x</a:t>
                </a:r>
                <a:r>
                  <a:rPr lang="en-US" sz="180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+a</a:t>
                </a:r>
                <a:r>
                  <a:rPr 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x+a</a:t>
                </a:r>
                <a:r>
                  <a:rPr 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(mod n). 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 want to find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: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)=0 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𝑚𝑜𝑑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 a solution to this, m, will be the corresponding plaintext.</a:t>
                </a:r>
              </a:p>
              <a:p>
                <a:pPr>
                  <a:lnSpc>
                    <a:spcPct val="90000"/>
                  </a:lnSpc>
                </a:pPr>
                <a:endParaRPr lang="en-US" sz="1800" dirty="0"/>
              </a:p>
            </p:txBody>
          </p:sp>
        </mc:Choice>
        <mc:Fallback xmlns="">
          <p:sp>
            <p:nvSpPr>
              <p:cNvPr id="8499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5300" y="2133600"/>
                <a:ext cx="8153400" cy="3505200"/>
              </a:xfrm>
              <a:blipFill>
                <a:blip r:embed="rId3"/>
                <a:stretch>
                  <a:fillRect l="-466" t="-1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5945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A87C188-DA0C-41BF-992B-5EB4DB367E15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499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Attack on RSA using LLL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99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981200"/>
                <a:ext cx="8305800" cy="3886200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 apply LLL, let:</a:t>
                </a: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= (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, 0, 0, 0)</m:t>
                    </m:r>
                  </m:oMath>
                </a14:m>
                <a:r>
                  <a:rPr lang="en-US" sz="1800" dirty="0"/>
                  <a:t>, </a:t>
                </a: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= (0, </m:t>
                    </m:r>
                    <m:r>
                      <a:rPr lang="en-US" sz="1800" i="1" dirty="0" err="1">
                        <a:latin typeface="Cambria Math" panose="02040503050406030204" pitchFamily="18" charset="0"/>
                      </a:rPr>
                      <m:t>𝑌𝑛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, 0, 0)</m:t>
                    </m:r>
                  </m:oMath>
                </a14:m>
                <a:r>
                  <a:rPr lang="en-US" sz="1800" dirty="0"/>
                  <a:t>, </a:t>
                </a: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= (0, 0,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, 0)</m:t>
                    </m:r>
                  </m:oMath>
                </a14:m>
                <a:r>
                  <a:rPr lang="en-US" sz="1800" dirty="0"/>
                  <a:t>, </a:t>
                </a: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= (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i="1" baseline="30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1800" dirty="0"/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When we apply LLL, we get a vector</a:t>
                </a:r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dirty="0"/>
                  <a:t>:</a:t>
                </a: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1800" i="1" baseline="-250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≦ </m:t>
                    </m:r>
                    <m:sSup>
                      <m:sSup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skw"/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d>
                      <m:dPr>
                        <m:begChr m:val="|"/>
                        <m:endChr m:val="|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i="0" dirty="0">
                                <a:latin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1800" i="1" baseline="-250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1800" i="1" baseline="-250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1800" i="1" baseline="-25000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1800" i="1" baseline="-25000" dirty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skw"/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type m:val="skw"/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4 </m:t>
                            </m:r>
                          </m:den>
                        </m:f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1800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f>
                          <m:fPr>
                            <m:type m:val="skw"/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sz="1800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1800" dirty="0"/>
                  <a:t>                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….  </a:t>
                </a:r>
                <a:r>
                  <a:rPr lang="en-US" sz="1800" i="1" dirty="0">
                    <a:solidFill>
                      <a:srgbClr val="0066CC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Equation 1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</a:t>
                </a:r>
                <a:r>
                  <a:rPr lang="en-US" sz="1800" dirty="0"/>
                  <a:t> 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+ …+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= (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𝑌𝑒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i="1" baseline="30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.  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Then:</a:t>
                </a: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499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981200"/>
                <a:ext cx="8305800" cy="3886200"/>
              </a:xfrm>
              <a:blipFill>
                <a:blip r:embed="rId3"/>
                <a:stretch>
                  <a:fillRect l="-611" t="-1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A87C188-DA0C-41BF-992B-5EB4DB367E1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499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Attack on RSA using LLL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99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19100" y="1910219"/>
                <a:ext cx="8191500" cy="4719181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Now set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)=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𝑒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baseline="30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𝑒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baseline="30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𝑒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𝑒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From the definition of the </a:t>
                </a:r>
                <a:r>
                  <a:rPr lang="en-US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</a:t>
                </a:r>
                <a:r>
                  <a:rPr lang="en-US" sz="1800" baseline="-25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)= 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 (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𝑚𝑜𝑑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so if m is a solution of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 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𝑚𝑜𝑑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)=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)= 0 (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𝑚𝑜𝑑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trick is to regard g as being defined over the real numbers, then the solution can be calculated using an iterative solver.</a:t>
                </a:r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If Y&lt;2</a:t>
                </a:r>
                <a:r>
                  <a:rPr lang="en-US" sz="180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(7/6)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sz="180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(1/6)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)| ≦ 2||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||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So, using the Cauchy-Schwartz inequality,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||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||≦</m:t>
                    </m:r>
                    <m:sSup>
                      <m:sSupPr>
                        <m:ctrlPr>
                          <a:rPr lang="en-US" sz="18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e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Thus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|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)|&lt;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)=0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yielding 3 candidates for x.</a:t>
                </a:r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Coppersmith extended this to small solutions of polynomials of degree d using a d+1 dimensional lattice by examining the monic polynomial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𝑇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)= 0 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𝑚𝑜𝑑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of degree d when |x|≦n</a:t>
                </a:r>
                <a:r>
                  <a:rPr lang="en-US" sz="180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1/d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90000"/>
                  </a:lnSpc>
                </a:pPr>
                <a:endParaRPr lang="en-US" sz="2400" dirty="0"/>
              </a:p>
              <a:p>
                <a:pPr>
                  <a:lnSpc>
                    <a:spcPct val="9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8499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9100" y="1910219"/>
                <a:ext cx="8191500" cy="4719181"/>
              </a:xfrm>
              <a:blipFill>
                <a:blip r:embed="rId3"/>
                <a:stretch>
                  <a:fillRect l="-774" t="-1072" r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A87C188-DA0C-41BF-992B-5EB4DB367E1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499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Example attack on RSA using LLL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99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905000"/>
                <a:ext cx="8305800" cy="4343400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p= 757285757575769, q= 2545724696579693.</a:t>
                </a:r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n= 1927841055428697487157594258917.</a:t>
                </a:r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B= 200805000114192305180009190000.</a:t>
                </a:r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 (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)3, 0&lt;=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&lt;100.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)= 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)3−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 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baseline="30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baseline="30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(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𝑚𝑜𝑑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602415000342576915540027570000</a:t>
                </a: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1123549124004247469362171467964 </a:t>
                </a: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587324114445679876954457927616</a:t>
                </a: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</a:t>
                </a:r>
                <a:r>
                  <a:rPr 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(n,0,0,0)</a:t>
                </a: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</a:t>
                </a:r>
                <a:r>
                  <a:rPr 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(0,100n,0,0)</a:t>
                </a: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</a:t>
                </a:r>
                <a:r>
                  <a:rPr 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(0,0,10</a:t>
                </a:r>
                <a:r>
                  <a:rPr lang="en-US" sz="180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n,0)</a:t>
                </a:r>
              </a:p>
              <a:p>
                <a:pPr lvl="1">
                  <a:lnSpc>
                    <a:spcPct val="90000"/>
                  </a:lnSpc>
                  <a:spcBef>
                    <a:spcPts val="200"/>
                  </a:spcBef>
                </a:pP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</a:t>
                </a:r>
                <a:r>
                  <a:rPr 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(a</a:t>
                </a:r>
                <a:r>
                  <a:rPr 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a</a:t>
                </a:r>
                <a:r>
                  <a:rPr 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100, a</a:t>
                </a:r>
                <a:r>
                  <a:rPr lang="en-US" sz="1800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10</a:t>
                </a:r>
                <a:r>
                  <a:rPr lang="en-US" sz="180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,10</a:t>
                </a:r>
                <a:r>
                  <a:rPr lang="en-US" sz="1800" baseline="30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6</a:t>
                </a:r>
                <a:r>
                  <a:rPr lang="en-US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marL="457200" lvl="1" indent="0">
                  <a:lnSpc>
                    <a:spcPct val="90000"/>
                  </a:lnSpc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8499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905000"/>
                <a:ext cx="8305800" cy="4343400"/>
              </a:xfrm>
              <a:blipFill>
                <a:blip r:embed="rId3"/>
                <a:stretch>
                  <a:fillRect l="-611" t="-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A87C188-DA0C-41BF-992B-5EB4DB367E15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499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Example attack on RSA using LLL</a:t>
            </a:r>
          </a:p>
        </p:txBody>
      </p:sp>
      <p:sp>
        <p:nvSpPr>
          <p:cNvPr id="849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1981200"/>
            <a:ext cx="8305800" cy="41148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200"/>
              </a:spcBef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Apply LLL, b</a:t>
            </a:r>
            <a:r>
              <a:rPr lang="en-US" sz="1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</a:p>
          <a:p>
            <a:pPr lvl="1">
              <a:lnSpc>
                <a:spcPct val="90000"/>
              </a:lnSpc>
              <a:spcBef>
                <a:spcPts val="200"/>
              </a:spcBef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308331465484476402v</a:t>
            </a:r>
            <a:r>
              <a:rPr lang="en-US" sz="1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+ 589837092377839611v</a:t>
            </a:r>
            <a:r>
              <a:rPr lang="en-US" sz="1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</a:p>
          <a:p>
            <a:pPr lvl="1">
              <a:lnSpc>
                <a:spcPct val="90000"/>
              </a:lnSpc>
              <a:spcBef>
                <a:spcPts val="200"/>
              </a:spcBef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316253828707108264v</a:t>
            </a:r>
            <a:r>
              <a:rPr lang="en-US" sz="1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+ (-1012071602751202635)v</a:t>
            </a:r>
            <a:r>
              <a:rPr lang="en-US" sz="18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4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</a:p>
          <a:p>
            <a:pPr lvl="1">
              <a:lnSpc>
                <a:spcPct val="90000"/>
              </a:lnSpc>
              <a:spcBef>
                <a:spcPts val="200"/>
              </a:spcBef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(246073430665887186108474, -577816087453534232385300,</a:t>
            </a:r>
          </a:p>
          <a:p>
            <a:pPr lvl="2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405848565585194400880000, -1012071602751202635000000)</a:t>
            </a:r>
          </a:p>
          <a:p>
            <a:pPr>
              <a:lnSpc>
                <a:spcPct val="90000"/>
              </a:lnSpc>
              <a:spcBef>
                <a:spcPts val="200"/>
              </a:spcBef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g(x)= (-1012071602751202635) t</a:t>
            </a:r>
            <a:r>
              <a:rPr lang="en-US" sz="18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+ 40584856558519440088 t</a:t>
            </a:r>
            <a:r>
              <a:rPr lang="en-US" sz="18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</a:p>
          <a:p>
            <a:pPr lvl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       (-57781608745353442323853)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+246073430665887186108474.</a:t>
            </a:r>
          </a:p>
          <a:p>
            <a:pPr>
              <a:lnSpc>
                <a:spcPct val="90000"/>
              </a:lnSpc>
              <a:spcBef>
                <a:spcPts val="200"/>
              </a:spcBef>
              <a:buNone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ts val="200"/>
              </a:spcBef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Roots of g(x) are 42.0000000, (-.9496±76.0796i)</a:t>
            </a:r>
          </a:p>
          <a:p>
            <a:pPr>
              <a:lnSpc>
                <a:spcPct val="90000"/>
              </a:lnSpc>
              <a:spcBef>
                <a:spcPts val="200"/>
              </a:spcBef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 answer is 42.</a:t>
            </a:r>
          </a:p>
          <a:p>
            <a:pPr lvl="1">
              <a:lnSpc>
                <a:spcPct val="90000"/>
              </a:lnSpc>
            </a:pPr>
            <a:endParaRPr lang="en-US" sz="1600" dirty="0"/>
          </a:p>
          <a:p>
            <a:pPr lvl="1">
              <a:lnSpc>
                <a:spcPct val="90000"/>
              </a:lnSpc>
            </a:pPr>
            <a:endParaRPr lang="en-US" sz="1600" dirty="0"/>
          </a:p>
          <a:p>
            <a:pPr lvl="1">
              <a:lnSpc>
                <a:spcPct val="90000"/>
              </a:lnSpc>
            </a:pPr>
            <a:endParaRPr lang="en-US" sz="1600" dirty="0"/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GGH Public Key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1828800"/>
                <a:ext cx="8572500" cy="4191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Pick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“small”, say </a:t>
                </a:r>
                <a14:m>
                  <m:oMath xmlns:m="http://schemas.openxmlformats.org/officeDocument/2006/math"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1800" b="0" kern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Plaintext: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:−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 ≤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Cipher-space: </a:t>
                </a:r>
                <a14:m>
                  <m:oMath xmlns:m="http://schemas.openxmlformats.org/officeDocument/2006/math"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Gen:</a:t>
                </a:r>
              </a:p>
              <a:p>
                <a:pPr marL="857250" lvl="1" indent="-4572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Choose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with small entries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4572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Check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invertible. </a:t>
                </a: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the secret key.</a:t>
                </a:r>
              </a:p>
              <a:p>
                <a:pPr marL="857250" lvl="1" indent="-457200">
                  <a:lnSpc>
                    <a:spcPct val="9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𝐻𝑁𝐹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Enc</a:t>
                </a:r>
              </a:p>
              <a:p>
                <a:pPr lvl="1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choose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uniformly at random</a:t>
                </a:r>
              </a:p>
              <a:p>
                <a:pPr lvl="1">
                  <a:lnSpc>
                    <a:spcPct val="9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𝐻</m:t>
                    </m:r>
                    <m:acc>
                      <m:accPr>
                        <m:chr m:val="⃗"/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Dec</a:t>
                </a:r>
              </a:p>
              <a:p>
                <a:pPr lvl="1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Babai</a:t>
                </a: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round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1800" i="1" kern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↳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((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))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↰</m:t>
                    </m:r>
                  </m:oMath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ct val="90000"/>
                  </a:lnSpc>
                  <a:buFont typeface="+mj-lt"/>
                  <a:buAutoNum type="arabicPeriod"/>
                </a:pPr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Works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8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↳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𝐵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↰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=0.</m:t>
                    </m:r>
                  </m:oMath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endParaRPr lang="en-US" sz="2400" kern="0" dirty="0"/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828800"/>
                <a:ext cx="8572500" cy="4191000"/>
              </a:xfrm>
              <a:prstGeom prst="rect">
                <a:avLst/>
              </a:prstGeom>
              <a:blipFill>
                <a:blip r:embed="rId2"/>
                <a:stretch>
                  <a:fillRect l="-593" t="-151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61464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495777" y="1524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GGH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900" y="1600200"/>
                <a:ext cx="8572500" cy="4800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endParaRPr lang="en-US" sz="1800" b="0" i="1" kern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kern="0" dirty="0"/>
                  <a:t>, H</a:t>
                </a: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49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800" kern="0" dirty="0"/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−27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 kern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−13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29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33</m:t>
                              </m:r>
                            </m:e>
                            <m:e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38</m:t>
                              </m:r>
                            </m:e>
                            <m:e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kern="0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</m:m>
                      </m:e>
                    </m:d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b="0" i="0" kern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i="1" ker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  <m:t>−44</m:t>
                                  </m:r>
                                </m:num>
                                <m:den>
                                  <m: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  <m:t>49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  <m:t>−18</m:t>
                                  </m:r>
                                </m:num>
                                <m:den>
                                  <m: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  <m:t>49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num>
                                <m:den>
                                  <m: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  <m:t>49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800" i="1" kern="0">
                                      <a:latin typeface="Cambria Math" panose="02040503050406030204" pitchFamily="18" charset="0"/>
                                    </a:rPr>
                                    <m:t>49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kern="0" dirty="0"/>
                  <a:t> 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(3,−4,1,3)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kern="0" dirty="0"/>
                  <a:t> ,  </a:t>
                </a: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(−1,1,1,−1)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kern="0" dirty="0"/>
                  <a:t>, </a:t>
                </a: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𝐻𝑚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(2,−3, 2, 210)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1800" b="0" i="0" kern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(−809,−55,−117,−396)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kern="0" dirty="0"/>
                  <a:t>, </a:t>
                </a:r>
                <a14:m>
                  <m:oMath xmlns:m="http://schemas.openxmlformats.org/officeDocument/2006/math"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↳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↰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(−116, −8, −17, −57)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1800" kern="0" dirty="0"/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↳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↰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(3,  −4,  1,  211)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1800" kern="0" dirty="0"/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⇂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↿</m:t>
                    </m:r>
                    <m:r>
                      <a:rPr lang="en-US" sz="18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(3,  −4,  1,  3)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1800" kern="0" dirty="0"/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900" y="1600200"/>
                <a:ext cx="8572500" cy="4800600"/>
              </a:xfrm>
              <a:prstGeom prst="rect">
                <a:avLst/>
              </a:prstGeom>
              <a:blipFill>
                <a:blip r:embed="rId2"/>
                <a:stretch>
                  <a:fillRect l="-29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D0F890C-3884-914D-8F96-8BCA61782C2F}"/>
              </a:ext>
            </a:extLst>
          </p:cNvPr>
          <p:cNvSpPr txBox="1"/>
          <p:nvPr/>
        </p:nvSpPr>
        <p:spPr>
          <a:xfrm>
            <a:off x="457200" y="6352401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n-lt"/>
              </a:rPr>
              <a:t>From Heiko </a:t>
            </a:r>
            <a:r>
              <a:rPr lang="en-US" sz="1200" dirty="0" err="1">
                <a:latin typeface="+mn-lt"/>
              </a:rPr>
              <a:t>Knopse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63051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Learning with Errors (LWE)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" y="1500414"/>
                <a:ext cx="8686800" cy="48241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Based on solving noisy linear equations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Choose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uniformly at random.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secret and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approximate equations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sz="20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b="0" i="0" kern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Errors,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are chosen from distribution 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Reduces to LWE: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Search LWE problem: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sz="18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sz="18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find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Decision LWE: Distinguish, with non-negligible probability,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⃗"/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acc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+</a:t>
                </a:r>
                <a:r>
                  <a:rPr lang="en-US" sz="1800" kern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chosen uniformly at random given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Errors chosen from distribution,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𝑝</m:t>
                    </m:r>
                    <m:d>
                      <m:d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000" b="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US" sz="2000" b="0" i="0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exp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⁡(−</m:t>
                    </m:r>
                    <m:f>
                      <m:f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000" b="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0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Often use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𝜎</m:t>
                    </m:r>
                    <m:rad>
                      <m:radPr>
                        <m:degHide m:val="on"/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𝜋</m:t>
                        </m:r>
                      </m:e>
                    </m:rad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as parameter specifying distribution.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Regev’s</a:t>
                </a: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showed it is possible to pick parameters so that solving an LWE cipher is equivalent to solving worst-case LWE .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Theorem (Regev): Let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ℕ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 security parameter,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ℕ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polynomial in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𝜒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ℤ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discrete Gaussian distribution with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&gt;2</m:t>
                    </m:r>
                    <m:rad>
                      <m:radPr>
                        <m:degHide m:val="on"/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&lt;1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Then solving the LWE decision problem is at least as hard as quantumly solving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𝑆𝐼𝑉𝑃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sz="18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Υ</m:t>
                        </m:r>
                      </m:sub>
                    </m:sSub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on an arbitrary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-dimensional lattice where </a:t>
                </a:r>
                <a14:m>
                  <m:oMath xmlns:m="http://schemas.openxmlformats.org/officeDocument/2006/math"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𝛾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𝑂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e>
                    </m:acc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𝛼</m:t>
                        </m:r>
                      </m:den>
                    </m:f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90000"/>
                  </a:lnSpc>
                </a:pPr>
                <a:endParaRPr lang="en-US" sz="2400" kern="0" dirty="0"/>
              </a:p>
              <a:p>
                <a:pPr>
                  <a:lnSpc>
                    <a:spcPct val="90000"/>
                  </a:lnSpc>
                </a:pPr>
                <a:endParaRPr lang="en-US" sz="2400" kern="0" dirty="0"/>
              </a:p>
              <a:p>
                <a:pPr>
                  <a:lnSpc>
                    <a:spcPct val="90000"/>
                  </a:lnSpc>
                </a:pPr>
                <a:endParaRPr lang="en-US" sz="2400" kern="0" dirty="0"/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1500414"/>
                <a:ext cx="8686800" cy="4824186"/>
              </a:xfrm>
              <a:prstGeom prst="rect">
                <a:avLst/>
              </a:prstGeom>
              <a:blipFill>
                <a:blip r:embed="rId2"/>
                <a:stretch>
                  <a:fillRect l="-876" t="-1312" r="-584" b="-1286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478154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97523" y="762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LWE cryptosystem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" y="1409700"/>
                <a:ext cx="8382000" cy="51435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ts val="400"/>
                  </a:spcBef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Given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</m:d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probability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message space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sz="1800" b="0" i="1" kern="0" dirty="0">
                    <a:latin typeface="Cambria Math" panose="02040503050406030204" pitchFamily="18" charset="0"/>
                  </a:rPr>
                  <a:t> </a:t>
                </a:r>
                <a:r>
                  <a:rPr lang="en-US" sz="1800" b="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cipher space is</a:t>
                </a:r>
                <a:r>
                  <a:rPr lang="en-US" sz="1800" kern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>
                  <a:lnSpc>
                    <a:spcPct val="90000"/>
                  </a:lnSpc>
                  <a:spcBef>
                    <a:spcPts val="400"/>
                  </a:spcBef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Key Gen</a:t>
                </a:r>
              </a:p>
              <a:p>
                <a:pPr lvl="1" indent="-342900">
                  <a:lnSpc>
                    <a:spcPct val="90000"/>
                  </a:lnSpc>
                  <a:spcBef>
                    <a:spcPts val="400"/>
                  </a:spcBef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Choose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uniformly from the distribution </a:t>
                </a: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lvl="1" indent="-342900">
                  <a:lnSpc>
                    <a:spcPct val="90000"/>
                  </a:lnSpc>
                  <a:spcBef>
                    <a:spcPts val="400"/>
                  </a:spcBef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Choose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i="1" ker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uniformly from the distribution </a:t>
                </a: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  <m:r>
                      <a:rPr lang="en-US" sz="18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</a:p>
              <a:p>
                <a:pPr lvl="1" indent="-342900">
                  <a:lnSpc>
                    <a:spcPct val="90000"/>
                  </a:lnSpc>
                  <a:spcBef>
                    <a:spcPts val="400"/>
                  </a:spcBef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Private key is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public key is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𝐴𝑆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>
                  <a:lnSpc>
                    <a:spcPct val="90000"/>
                  </a:lnSpc>
                  <a:spcBef>
                    <a:spcPts val="400"/>
                  </a:spcBef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Enc</a:t>
                </a:r>
              </a:p>
              <a:p>
                <a:pPr lvl="1">
                  <a:lnSpc>
                    <a:spcPct val="90000"/>
                  </a:lnSpc>
                  <a:spcBef>
                    <a:spcPts val="400"/>
                  </a:spcBef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choose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uniformly at random</a:t>
                </a:r>
              </a:p>
              <a:p>
                <a:pPr lvl="1">
                  <a:lnSpc>
                    <a:spcPct val="90000"/>
                  </a:lnSpc>
                  <a:spcBef>
                    <a:spcPts val="400"/>
                  </a:spcBef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𝐶𝑇</m:t>
                        </m:r>
                      </m:e>
                    </m:acc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=(</m:t>
                    </m:r>
                    <m:acc>
                      <m:accPr>
                        <m:chr m:val="⃗"/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acc>
                      <m:accPr>
                        <m:chr m:val="⃗"/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sz="18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↾</m:t>
                    </m:r>
                    <m:f>
                      <m:fPr>
                        <m:ctrlPr>
                          <a:rPr lang="en-US" sz="18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⇃</m:t>
                    </m:r>
                    <m:acc>
                      <m:accPr>
                        <m:chr m:val="⃗"/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))</a:t>
                </a:r>
              </a:p>
              <a:p>
                <a:pPr marL="285750">
                  <a:lnSpc>
                    <a:spcPct val="90000"/>
                  </a:lnSpc>
                  <a:spcBef>
                    <a:spcPts val="400"/>
                  </a:spcBef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Dec</a:t>
                </a:r>
              </a:p>
              <a:p>
                <a:pPr marL="685800" lvl="1">
                  <a:lnSpc>
                    <a:spcPct val="90000"/>
                  </a:lnSpc>
                  <a:spcBef>
                    <a:spcPts val="400"/>
                  </a:spcBef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Compute 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↾</m:t>
                    </m:r>
                    <m:sSup>
                      <m:sSupPr>
                        <m:ctrlP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(↾</m:t>
                        </m:r>
                        <m:f>
                          <m:fPr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⇃)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acc>
                          <m:accPr>
                            <m:chr m:val="⃗"/>
                            <m:ctrlPr>
                              <a:rPr lang="en-US" sz="18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</m:d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⇃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2)</m:t>
                    </m:r>
                  </m:oMath>
                </a14:m>
                <a:endParaRPr lang="en-US" sz="1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Decryption may have errors.  Suppose </a:t>
                </a: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discrete Gaussian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8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.  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has magnitude </a:t>
                </a:r>
                <a14:m>
                  <m:oMath xmlns:m="http://schemas.openxmlformats.org/officeDocument/2006/math"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sz="18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rad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with high probability.  Error occurs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sz="18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One can show that for any </a:t>
                </a:r>
                <a14:m>
                  <m:oMath xmlns:m="http://schemas.openxmlformats.org/officeDocument/2006/math">
                    <m:r>
                      <a:rPr lang="en-US" sz="1800" i="1" ker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that the error is small and the underlying LWE problem is hard.</a:t>
                </a:r>
              </a:p>
              <a:p>
                <a:pPr>
                  <a:lnSpc>
                    <a:spcPct val="90000"/>
                  </a:lnSpc>
                </a:pPr>
                <a:endParaRPr lang="en-US" sz="1800" kern="0" dirty="0"/>
              </a:p>
              <a:p>
                <a:pPr>
                  <a:lnSpc>
                    <a:spcPct val="90000"/>
                  </a:lnSpc>
                </a:pPr>
                <a:endParaRPr lang="en-US" sz="2400" kern="0" dirty="0"/>
              </a:p>
            </p:txBody>
          </p:sp>
        </mc:Choice>
        <mc:Fallback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1409700"/>
                <a:ext cx="8382000" cy="5143500"/>
              </a:xfrm>
              <a:prstGeom prst="rect">
                <a:avLst/>
              </a:prstGeom>
              <a:blipFill>
                <a:blip r:embed="rId2"/>
                <a:stretch>
                  <a:fillRect l="-606" t="-739" r="-45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899514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LWE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1752600"/>
                <a:ext cx="8305800" cy="4343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=4,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=23,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=8,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23</m:t>
                        </m:r>
                      </m:den>
                    </m:f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=5,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000" kern="0" dirty="0"/>
                  <a:t>,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2000" kern="0" dirty="0"/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2000" kern="0" dirty="0"/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19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kern="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19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19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kern="0" dirty="0"/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1752600"/>
                <a:ext cx="8305800" cy="4343400"/>
              </a:xfrm>
              <a:prstGeom prst="rect">
                <a:avLst/>
              </a:prstGeom>
              <a:blipFill>
                <a:blip r:embed="rId2"/>
                <a:stretch>
                  <a:fillRect l="-61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BBE4DAB-06D5-5947-AC9B-8A768968A985}"/>
              </a:ext>
            </a:extLst>
          </p:cNvPr>
          <p:cNvSpPr txBox="1"/>
          <p:nvPr/>
        </p:nvSpPr>
        <p:spPr>
          <a:xfrm>
            <a:off x="659027" y="5895201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n-lt"/>
              </a:rPr>
              <a:t>From Heiko </a:t>
            </a:r>
            <a:r>
              <a:rPr lang="en-US" sz="1200" dirty="0" err="1">
                <a:latin typeface="+mn-lt"/>
              </a:rPr>
              <a:t>Knopse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23508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5" y="2286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LWE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100" y="1828800"/>
                <a:ext cx="8305800" cy="36684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endParaRPr lang="en-US" sz="2000" b="0" i="1" kern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kern="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kern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19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e>
                              <m: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e>
                            <m:e>
                              <m: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19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sz="2000" i="1" ker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b="0" i="1" kern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kern="0" dirty="0"/>
                  <a:t>,  </a:t>
                </a:r>
              </a:p>
              <a:p>
                <a:pPr>
                  <a:lnSpc>
                    <a:spcPct val="90000"/>
                  </a:lnSpc>
                </a:pPr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" y="1828800"/>
                <a:ext cx="8305800" cy="3668486"/>
              </a:xfrm>
              <a:prstGeom prst="rect">
                <a:avLst/>
              </a:prstGeom>
              <a:blipFill>
                <a:blip r:embed="rId2"/>
                <a:stretch>
                  <a:fillRect l="-45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6CB385D-208E-6B45-98DE-8508C639C59D}"/>
              </a:ext>
            </a:extLst>
          </p:cNvPr>
          <p:cNvSpPr txBox="1"/>
          <p:nvPr/>
        </p:nvSpPr>
        <p:spPr>
          <a:xfrm>
            <a:off x="703385" y="6324600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n-lt"/>
              </a:rPr>
              <a:t>From Heiko </a:t>
            </a:r>
            <a:r>
              <a:rPr lang="en-US" sz="1200" dirty="0" err="1">
                <a:latin typeface="+mn-lt"/>
              </a:rPr>
              <a:t>Knopse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549116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57330" y="1524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LWE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" y="1669473"/>
                <a:ext cx="8534400" cy="42741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lnSpc>
                    <a:spcPct val="90000"/>
                  </a:lnSpc>
                  <a:buNone/>
                </a:pPr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Encrypt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(1,0,1,1)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kern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1,1,0,1,0,0,0,1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000" i="1" kern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⇂</m:t>
                    </m:r>
                    <m:f>
                      <m:fPr>
                        <m:ctrlPr>
                          <a:rPr lang="en-US" sz="20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↿</m:t>
                    </m:r>
                    <m:r>
                      <a:rPr lang="en-US" sz="20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12,0,12,12</m:t>
                            </m:r>
                          </m:e>
                        </m:d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000" b="0" i="1" kern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9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0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+⇂</m:t>
                        </m:r>
                        <m:f>
                          <m:fPr>
                            <m:ctrlP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↿</m:t>
                        </m:r>
                      </m:e>
                    </m:d>
                    <m:r>
                      <a:rPr lang="en-US" sz="20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((3,14,2,7)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4,5,7,5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)(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23)</m:t>
                    </m:r>
                  </m:oMath>
                </a14:m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Decrypt: </a:t>
                </a:r>
              </a:p>
              <a:p>
                <a:pPr lvl="1">
                  <a:lnSpc>
                    <a:spcPct val="9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11,21,12,10</m:t>
                            </m:r>
                          </m:e>
                        </m:d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 23)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</a:p>
              <a:p>
                <a:pPr lvl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⇂</m:t>
                    </m:r>
                    <m:f>
                      <m:fPr>
                        <m:ctrlP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den>
                    </m:f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↿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2)=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(1,0,1,1)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1669473"/>
                <a:ext cx="8534400" cy="4274127"/>
              </a:xfrm>
              <a:prstGeom prst="rect">
                <a:avLst/>
              </a:prstGeom>
              <a:blipFill>
                <a:blip r:embed="rId2"/>
                <a:stretch>
                  <a:fillRect l="-89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6CB385D-208E-6B45-98DE-8508C639C59D}"/>
              </a:ext>
            </a:extLst>
          </p:cNvPr>
          <p:cNvSpPr txBox="1"/>
          <p:nvPr/>
        </p:nvSpPr>
        <p:spPr>
          <a:xfrm>
            <a:off x="703385" y="6324600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n-lt"/>
              </a:rPr>
              <a:t>From Heiko </a:t>
            </a:r>
            <a:r>
              <a:rPr lang="en-US" sz="1200" dirty="0" err="1">
                <a:latin typeface="+mn-lt"/>
              </a:rPr>
              <a:t>Knopse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3627807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LWE/Ring-LWE parameters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80448FB-E7AA-8841-925A-51728001A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4800600"/>
            <a:ext cx="830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kern="0" dirty="0">
                <a:latin typeface="Calibri" panose="020F0502020204030204" pitchFamily="34" charset="0"/>
                <a:cs typeface="Calibri" panose="020F0502020204030204" pitchFamily="34" charset="0"/>
              </a:rPr>
              <a:t>Ring-LWE cuts ciphertext by factor of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255910E-F3D1-A2AF-FCF4-C196412D7B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163528"/>
                  </p:ext>
                </p:extLst>
              </p:nvPr>
            </p:nvGraphicFramePr>
            <p:xfrm>
              <a:off x="647700" y="2697480"/>
              <a:ext cx="7772399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1918">
                      <a:extLst>
                        <a:ext uri="{9D8B030D-6E8A-4147-A177-3AD203B41FA5}">
                          <a16:colId xmlns:a16="http://schemas.microsoft.com/office/drawing/2014/main" val="1451327714"/>
                        </a:ext>
                      </a:extLst>
                    </a:gridCol>
                    <a:gridCol w="721150">
                      <a:extLst>
                        <a:ext uri="{9D8B030D-6E8A-4147-A177-3AD203B41FA5}">
                          <a16:colId xmlns:a16="http://schemas.microsoft.com/office/drawing/2014/main" val="344664658"/>
                        </a:ext>
                      </a:extLst>
                    </a:gridCol>
                    <a:gridCol w="961534">
                      <a:extLst>
                        <a:ext uri="{9D8B030D-6E8A-4147-A177-3AD203B41FA5}">
                          <a16:colId xmlns:a16="http://schemas.microsoft.com/office/drawing/2014/main" val="1065269126"/>
                        </a:ext>
                      </a:extLst>
                    </a:gridCol>
                    <a:gridCol w="801278">
                      <a:extLst>
                        <a:ext uri="{9D8B030D-6E8A-4147-A177-3AD203B41FA5}">
                          <a16:colId xmlns:a16="http://schemas.microsoft.com/office/drawing/2014/main" val="2043435748"/>
                        </a:ext>
                      </a:extLst>
                    </a:gridCol>
                    <a:gridCol w="1055284">
                      <a:extLst>
                        <a:ext uri="{9D8B030D-6E8A-4147-A177-3AD203B41FA5}">
                          <a16:colId xmlns:a16="http://schemas.microsoft.com/office/drawing/2014/main" val="2793952617"/>
                        </a:ext>
                      </a:extLst>
                    </a:gridCol>
                    <a:gridCol w="1165860">
                      <a:extLst>
                        <a:ext uri="{9D8B030D-6E8A-4147-A177-3AD203B41FA5}">
                          <a16:colId xmlns:a16="http://schemas.microsoft.com/office/drawing/2014/main" val="4003703430"/>
                        </a:ext>
                      </a:extLst>
                    </a:gridCol>
                    <a:gridCol w="1141476">
                      <a:extLst>
                        <a:ext uri="{9D8B030D-6E8A-4147-A177-3AD203B41FA5}">
                          <a16:colId xmlns:a16="http://schemas.microsoft.com/office/drawing/2014/main" val="277873934"/>
                        </a:ext>
                      </a:extLst>
                    </a:gridCol>
                    <a:gridCol w="723899">
                      <a:extLst>
                        <a:ext uri="{9D8B030D-6E8A-4147-A177-3AD203B41FA5}">
                          <a16:colId xmlns:a16="http://schemas.microsoft.com/office/drawing/2014/main" val="30475902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Level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P&amp;A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Exp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4966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4093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2.9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7.4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3.8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191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4093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4.9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17.7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17.4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4722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255910E-F3D1-A2AF-FCF4-C196412D7B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163528"/>
                  </p:ext>
                </p:extLst>
              </p:nvPr>
            </p:nvGraphicFramePr>
            <p:xfrm>
              <a:off x="647700" y="2697480"/>
              <a:ext cx="7772399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1918">
                      <a:extLst>
                        <a:ext uri="{9D8B030D-6E8A-4147-A177-3AD203B41FA5}">
                          <a16:colId xmlns:a16="http://schemas.microsoft.com/office/drawing/2014/main" val="1451327714"/>
                        </a:ext>
                      </a:extLst>
                    </a:gridCol>
                    <a:gridCol w="721150">
                      <a:extLst>
                        <a:ext uri="{9D8B030D-6E8A-4147-A177-3AD203B41FA5}">
                          <a16:colId xmlns:a16="http://schemas.microsoft.com/office/drawing/2014/main" val="344664658"/>
                        </a:ext>
                      </a:extLst>
                    </a:gridCol>
                    <a:gridCol w="961534">
                      <a:extLst>
                        <a:ext uri="{9D8B030D-6E8A-4147-A177-3AD203B41FA5}">
                          <a16:colId xmlns:a16="http://schemas.microsoft.com/office/drawing/2014/main" val="1065269126"/>
                        </a:ext>
                      </a:extLst>
                    </a:gridCol>
                    <a:gridCol w="801278">
                      <a:extLst>
                        <a:ext uri="{9D8B030D-6E8A-4147-A177-3AD203B41FA5}">
                          <a16:colId xmlns:a16="http://schemas.microsoft.com/office/drawing/2014/main" val="2043435748"/>
                        </a:ext>
                      </a:extLst>
                    </a:gridCol>
                    <a:gridCol w="1055284">
                      <a:extLst>
                        <a:ext uri="{9D8B030D-6E8A-4147-A177-3AD203B41FA5}">
                          <a16:colId xmlns:a16="http://schemas.microsoft.com/office/drawing/2014/main" val="2793952617"/>
                        </a:ext>
                      </a:extLst>
                    </a:gridCol>
                    <a:gridCol w="1165860">
                      <a:extLst>
                        <a:ext uri="{9D8B030D-6E8A-4147-A177-3AD203B41FA5}">
                          <a16:colId xmlns:a16="http://schemas.microsoft.com/office/drawing/2014/main" val="4003703430"/>
                        </a:ext>
                      </a:extLst>
                    </a:gridCol>
                    <a:gridCol w="1141476">
                      <a:extLst>
                        <a:ext uri="{9D8B030D-6E8A-4147-A177-3AD203B41FA5}">
                          <a16:colId xmlns:a16="http://schemas.microsoft.com/office/drawing/2014/main" val="277873934"/>
                        </a:ext>
                      </a:extLst>
                    </a:gridCol>
                    <a:gridCol w="723899">
                      <a:extLst>
                        <a:ext uri="{9D8B030D-6E8A-4147-A177-3AD203B41FA5}">
                          <a16:colId xmlns:a16="http://schemas.microsoft.com/office/drawing/2014/main" val="30475902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Level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P&amp;A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Exp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4966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4093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8.87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0602" t="-103333" r="-291566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6522" t="-103333" r="-163043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17778" t="-103333" r="-66667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1915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4093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0602" t="-210345" r="-291566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6522" t="-210345" r="-163043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17778" t="-210345" r="-66667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4722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9218077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7278493" y="6172200"/>
            <a:ext cx="1428750" cy="3429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50000"/>
              </a:spcBef>
              <a:spcAft>
                <a:spcPct val="0"/>
              </a:spcAft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rtl="0" eaLnBrk="0" fontAlgn="base" hangingPunct="0">
              <a:spcBef>
                <a:spcPct val="0"/>
              </a:spcBef>
              <a:spcAft>
                <a:spcPct val="0"/>
              </a:spcAft>
              <a:defRPr sz="75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2pPr>
            <a:lvl3pPr marL="685800" algn="l" rtl="0" eaLnBrk="0" fontAlgn="base" hangingPunct="0">
              <a:spcBef>
                <a:spcPct val="0"/>
              </a:spcBef>
              <a:spcAft>
                <a:spcPct val="0"/>
              </a:spcAft>
              <a:defRPr sz="75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3pPr>
            <a:lvl4pPr marL="1028700" algn="l" rtl="0" eaLnBrk="0" fontAlgn="base" hangingPunct="0">
              <a:spcBef>
                <a:spcPct val="0"/>
              </a:spcBef>
              <a:spcAft>
                <a:spcPct val="0"/>
              </a:spcAft>
              <a:defRPr sz="75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4pPr>
            <a:lvl5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75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75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75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75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75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5829300" cy="74295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Ring-LWE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286000"/>
                <a:ext cx="7672138" cy="3124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69056" tIns="34529" rIns="69056" bIns="34529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Put </a:t>
                </a: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sz="2000" i="1" ker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</a:t>
                </a: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generates ideal </a:t>
                </a: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corresponding to a </a:t>
                </a: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</a:t>
                </a:r>
                <a:r>
                  <a:rPr lang="en-US" sz="2000" kern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ary</a:t>
                </a: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ideal lattice.</a:t>
                </a:r>
              </a:p>
              <a:p>
                <a:pPr>
                  <a:lnSpc>
                    <a:spcPct val="90000"/>
                  </a:lnSpc>
                </a:pPr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Ring LWE: 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𝑎𝑠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2000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find </a:t>
                </a: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90000"/>
                  </a:lnSpc>
                </a:pPr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Solving R-LWE is at least as hard as solving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𝐶𝑉𝑃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sub>
                    </m:sSub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on arbitrary ideal lattices </a:t>
                </a:r>
              </a:p>
              <a:p>
                <a:pPr>
                  <a:lnSpc>
                    <a:spcPct val="90000"/>
                  </a:lnSpc>
                </a:pPr>
                <a:endParaRPr lang="en-US" sz="1800" kern="0" dirty="0"/>
              </a:p>
              <a:p>
                <a:pPr>
                  <a:lnSpc>
                    <a:spcPct val="90000"/>
                  </a:lnSpc>
                </a:pPr>
                <a:endParaRPr lang="en-US" sz="1800" kern="0" dirty="0"/>
              </a:p>
              <a:p>
                <a:pPr>
                  <a:lnSpc>
                    <a:spcPct val="90000"/>
                  </a:lnSpc>
                </a:pPr>
                <a:endParaRPr lang="en-US" sz="1800" kern="0" dirty="0"/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286000"/>
                <a:ext cx="7672138" cy="3124200"/>
              </a:xfrm>
              <a:prstGeom prst="rect">
                <a:avLst/>
              </a:prstGeom>
              <a:blipFill>
                <a:blip r:embed="rId2"/>
                <a:stretch>
                  <a:fillRect l="-115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885045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NTRU Public Key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9600" y="2286000"/>
                <a:ext cx="7772400" cy="3886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NTRU is a r</a:t>
                </a:r>
                <a:r>
                  <a:rPr lang="en-US" sz="2000" b="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ing lattice-based system.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2000" b="0" kern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2000" b="0" kern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a:rPr lang="en-US" sz="2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en-US" sz="2000" b="0" kern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sz="200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d>
                      <m:d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sz="2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000" i="1" ker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b="0" i="1" kern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sz="28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the set of “ternary” polynomials of degree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having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coefficients equal to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having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coefficients equal to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and remaining coefficients equal to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0.</m:t>
                    </m:r>
                  </m:oMath>
                </a14:m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Pick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prime and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2286000"/>
                <a:ext cx="7772400" cy="3886200"/>
              </a:xfrm>
              <a:prstGeom prst="rect">
                <a:avLst/>
              </a:prstGeom>
              <a:blipFill>
                <a:blip r:embed="rId2"/>
                <a:stretch>
                  <a:fillRect l="-817" t="-195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050241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NTRU Public Key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3980" y="1600200"/>
                <a:ext cx="8001000" cy="4746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KeyGen</a:t>
                </a:r>
              </a:p>
              <a:p>
                <a:pPr lvl="1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Pick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  <m:d>
                      <m:d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+1,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  <m:d>
                      <m:d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</a:t>
                </a:r>
              </a:p>
              <a:p>
                <a:pPr lvl="1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=1 </m:t>
                    </m:r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1800" i="1" ker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</a:rPr>
                      <m:t>=1 </m:t>
                    </m:r>
                    <m:d>
                      <m:d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1800" ker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kern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</a:t>
                </a:r>
              </a:p>
              <a:p>
                <a:pPr lvl="1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Public key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private key is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Plaintext is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ciphertext is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Encryption</a:t>
                </a:r>
              </a:p>
              <a:p>
                <a:pPr marL="857250" lvl="1" indent="-4572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Chose random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  <m:d>
                      <m:dPr>
                        <m:ctrlP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</a:t>
                </a:r>
              </a:p>
              <a:p>
                <a:pPr marL="857250" lvl="1" indent="-457200">
                  <a:lnSpc>
                    <a:spcPct val="9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𝑝𝑟h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800" b="0" kern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Decryption</a:t>
                </a:r>
              </a:p>
              <a:p>
                <a:pPr marL="800100" lvl="1" indent="-3429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Compute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𝑓𝑐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sz="1800" b="0" kern="0" dirty="0">
                  <a:latin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Plaintext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US" sz="1800" b="0" i="0" kern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 </a:t>
                </a:r>
              </a:p>
              <a:p>
                <a:pPr marL="800100" lvl="1" indent="-3429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Verify that 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𝑓𝑐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𝑝𝑟h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𝑝𝑓𝑟</m:t>
                    </m:r>
                    <m:sSub>
                      <m:sSubPr>
                        <m:ctrlPr>
                          <a:rPr lang="en-US" sz="1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i="1" ker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𝑓𝑚</m:t>
                    </m:r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𝑝𝑟𝑔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𝑓𝑚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kern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800" b="0" i="0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kern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3980" y="1600200"/>
                <a:ext cx="8001000" cy="4746171"/>
              </a:xfrm>
              <a:prstGeom prst="rect">
                <a:avLst/>
              </a:prstGeom>
              <a:blipFill>
                <a:blip r:embed="rId2"/>
                <a:stretch>
                  <a:fillRect l="-792" t="-160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74563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NTRU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9600" y="2133600"/>
                <a:ext cx="7924800" cy="2971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=5,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=3,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=29,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 kern="0"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 ker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kern="0" dirty="0"/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+13</m:t>
                    </m:r>
                  </m:oMath>
                </a14:m>
                <a:endParaRPr lang="en-US" sz="2000" kern="0" dirty="0"/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=8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000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+13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5 (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 29)</m:t>
                    </m:r>
                  </m:oMath>
                </a14:m>
                <a:endParaRPr lang="en-US" sz="2000" kern="0" dirty="0"/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000" i="1" kern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𝑝𝑟h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=8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000" i="1" ker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 ker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5 (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 29)</m:t>
                    </m:r>
                  </m:oMath>
                </a14:m>
                <a:endParaRPr lang="en-US" sz="2000" kern="0" dirty="0"/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𝑓𝑐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=−2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000" i="1" kern="0"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 ker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000" i="1" kern="0">
                        <a:latin typeface="Cambria Math" panose="02040503050406030204" pitchFamily="18" charset="0"/>
                      </a:rPr>
                      <m:t> 29)</m:t>
                    </m:r>
                  </m:oMath>
                </a14:m>
                <a:endParaRPr lang="en-US" sz="2000" kern="0" dirty="0"/>
              </a:p>
              <a:p>
                <a:pPr>
                  <a:lnSpc>
                    <a:spcPct val="90000"/>
                  </a:lnSpc>
                </a:pPr>
                <a:r>
                  <a:rPr lang="en-US" sz="2000" kern="0" dirty="0"/>
                  <a:t>We check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𝑝𝑟𝑔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𝑓𝑚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kern="0" dirty="0"/>
                  <a:t> in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000" kern="0" dirty="0"/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000" kern="0" dirty="0"/>
              </a:p>
              <a:p>
                <a:pPr>
                  <a:lnSpc>
                    <a:spcPct val="90000"/>
                  </a:lnSpc>
                </a:pPr>
                <a:endParaRPr lang="en-US" sz="1800" kern="0" dirty="0"/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80448FB-E7AA-8841-925A-51728001A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2133600"/>
                <a:ext cx="7924800" cy="2971800"/>
              </a:xfrm>
              <a:prstGeom prst="rect">
                <a:avLst/>
              </a:prstGeom>
              <a:blipFill>
                <a:blip r:embed="rId2"/>
                <a:stretch>
                  <a:fillRect l="-641" t="-4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D281754-E1A4-AD4F-BD36-2968469DAFA6}"/>
              </a:ext>
            </a:extLst>
          </p:cNvPr>
          <p:cNvSpPr txBox="1"/>
          <p:nvPr/>
        </p:nvSpPr>
        <p:spPr>
          <a:xfrm>
            <a:off x="685800" y="6096000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n-lt"/>
              </a:rPr>
              <a:t>From Heiko </a:t>
            </a:r>
            <a:r>
              <a:rPr lang="en-US" sz="1200" dirty="0" err="1">
                <a:latin typeface="+mn-lt"/>
              </a:rPr>
              <a:t>Knopse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994879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" y="228600"/>
            <a:ext cx="86106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Some NIST Round 3 entries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80448FB-E7AA-8841-925A-51728001A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191" y="1934158"/>
            <a:ext cx="4095009" cy="3476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800" dirty="0"/>
              <a:t>Public-Key Encryption/KEMs</a:t>
            </a:r>
          </a:p>
          <a:p>
            <a:pPr lvl="1"/>
            <a:r>
              <a:rPr lang="en-US" sz="1800" dirty="0"/>
              <a:t>Classic </a:t>
            </a:r>
            <a:r>
              <a:rPr lang="en-US" sz="1800" dirty="0" err="1"/>
              <a:t>McEliece</a:t>
            </a:r>
            <a:endParaRPr lang="en-US" sz="1800" dirty="0"/>
          </a:p>
          <a:p>
            <a:pPr lvl="1"/>
            <a:r>
              <a:rPr lang="en-US" sz="1800" dirty="0"/>
              <a:t>CRYSTALS-KYBER</a:t>
            </a:r>
          </a:p>
          <a:p>
            <a:pPr lvl="1"/>
            <a:r>
              <a:rPr lang="en-US" sz="1800" dirty="0"/>
              <a:t>NTRU</a:t>
            </a:r>
          </a:p>
          <a:p>
            <a:pPr lvl="1"/>
            <a:r>
              <a:rPr lang="en-US" sz="1800" dirty="0"/>
              <a:t>SABER</a:t>
            </a:r>
          </a:p>
          <a:p>
            <a:pPr indent="-285750"/>
            <a:r>
              <a:rPr lang="en-US" sz="1800" dirty="0"/>
              <a:t>Digital Signatures</a:t>
            </a:r>
          </a:p>
          <a:p>
            <a:pPr lvl="1"/>
            <a:r>
              <a:rPr lang="en-US" sz="1800" dirty="0"/>
              <a:t>CRYSTALS-DILITHIUM</a:t>
            </a:r>
          </a:p>
          <a:p>
            <a:pPr lvl="1"/>
            <a:r>
              <a:rPr lang="en-US" sz="1800" dirty="0"/>
              <a:t>FALCON</a:t>
            </a:r>
          </a:p>
          <a:p>
            <a:pPr lvl="1"/>
            <a:r>
              <a:rPr lang="en-US" sz="1800" dirty="0"/>
              <a:t>Rainbow</a:t>
            </a:r>
          </a:p>
          <a:p>
            <a:endParaRPr lang="en-US" sz="2000" dirty="0"/>
          </a:p>
          <a:p>
            <a:pPr>
              <a:lnSpc>
                <a:spcPct val="90000"/>
              </a:lnSpc>
            </a:pPr>
            <a:endParaRPr lang="en-US" sz="2400" kern="0" dirty="0"/>
          </a:p>
          <a:p>
            <a:pPr>
              <a:lnSpc>
                <a:spcPct val="90000"/>
              </a:lnSpc>
            </a:pPr>
            <a:endParaRPr lang="en-US" sz="2400" kern="0" dirty="0"/>
          </a:p>
        </p:txBody>
      </p:sp>
      <p:sp>
        <p:nvSpPr>
          <p:cNvPr id="8" name="AutoShape 7" descr="{\displaystyle n=6960,k=5413,t=119}">
            <a:extLst>
              <a:ext uri="{FF2B5EF4-FFF2-40B4-BE49-F238E27FC236}">
                <a16:creationId xmlns:a16="http://schemas.microsoft.com/office/drawing/2014/main" id="{86637895-8E92-3148-9B71-414C9410BE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01975" y="79115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F988997-E320-5B4D-AEA8-57888CD0A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4696" y="1857958"/>
            <a:ext cx="4790704" cy="3476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800" dirty="0"/>
              <a:t>Public-Key Encryption/KEMs (Alternates)</a:t>
            </a:r>
          </a:p>
          <a:p>
            <a:pPr lvl="1"/>
            <a:r>
              <a:rPr lang="en-US" sz="1800" dirty="0"/>
              <a:t>BIKE;</a:t>
            </a:r>
          </a:p>
          <a:p>
            <a:pPr lvl="1"/>
            <a:r>
              <a:rPr lang="en-US" sz="1800" dirty="0" err="1"/>
              <a:t>FrodoKEM</a:t>
            </a:r>
            <a:endParaRPr lang="en-US" sz="1800" dirty="0"/>
          </a:p>
          <a:p>
            <a:pPr lvl="1"/>
            <a:r>
              <a:rPr lang="en-US" sz="1800" dirty="0"/>
              <a:t>HQC</a:t>
            </a:r>
          </a:p>
          <a:p>
            <a:pPr lvl="1"/>
            <a:r>
              <a:rPr lang="en-US" sz="1800" dirty="0"/>
              <a:t>NTRU Prime</a:t>
            </a:r>
          </a:p>
          <a:p>
            <a:pPr lvl="1"/>
            <a:r>
              <a:rPr lang="en-US" sz="1800" dirty="0"/>
              <a:t>SIKE</a:t>
            </a:r>
          </a:p>
          <a:p>
            <a:r>
              <a:rPr lang="en-US" sz="1800" dirty="0"/>
              <a:t>Digital Signatures</a:t>
            </a:r>
          </a:p>
          <a:p>
            <a:pPr lvl="1"/>
            <a:r>
              <a:rPr lang="en-US" sz="1800" dirty="0" err="1"/>
              <a:t>GeMSS</a:t>
            </a:r>
            <a:endParaRPr lang="en-US" sz="1800" dirty="0"/>
          </a:p>
          <a:p>
            <a:pPr lvl="1"/>
            <a:r>
              <a:rPr lang="en-US" sz="1800" dirty="0"/>
              <a:t>Picnic</a:t>
            </a:r>
          </a:p>
          <a:p>
            <a:pPr lvl="1"/>
            <a:r>
              <a:rPr lang="en-US" sz="1800" dirty="0"/>
              <a:t>SPHINCS+</a:t>
            </a:r>
            <a:br>
              <a:rPr lang="en-US" sz="1600" dirty="0"/>
            </a:br>
            <a:endParaRPr lang="en-US" sz="1600" dirty="0"/>
          </a:p>
          <a:p>
            <a:endParaRPr lang="en-US" sz="2000" dirty="0"/>
          </a:p>
          <a:p>
            <a:pPr>
              <a:lnSpc>
                <a:spcPct val="90000"/>
              </a:lnSpc>
            </a:pPr>
            <a:endParaRPr lang="en-US" sz="2400" kern="0" dirty="0"/>
          </a:p>
          <a:p>
            <a:pPr>
              <a:lnSpc>
                <a:spcPct val="90000"/>
              </a:lnSpc>
            </a:pPr>
            <a:endParaRPr lang="en-US" sz="2400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22014A-0DDF-05FC-7174-34F37E70DFB1}"/>
              </a:ext>
            </a:extLst>
          </p:cNvPr>
          <p:cNvSpPr txBox="1"/>
          <p:nvPr/>
        </p:nvSpPr>
        <p:spPr>
          <a:xfrm>
            <a:off x="381000" y="541020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Winner: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Dilithium (signing), Kyber (key-encapsulation) </a:t>
            </a:r>
          </a:p>
        </p:txBody>
      </p:sp>
    </p:spTree>
    <p:extLst>
      <p:ext uri="{BB962C8B-B14F-4D97-AF65-F5344CB8AC3E}">
        <p14:creationId xmlns:p14="http://schemas.microsoft.com/office/powerpoint/2010/main" val="1111159837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304800" y="138555"/>
            <a:ext cx="853440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Common features of Dilithium and Kyber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381000" y="1524000"/>
                <a:ext cx="8382000" cy="47244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Ring is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/(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+1)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in both cases</a:t>
                </a: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=3329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for </a:t>
                </a:r>
                <a:r>
                  <a:rPr lang="en-US" sz="1800" dirty="0" err="1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Kyber</a:t>
                </a:r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23</m:t>
                        </m:r>
                      </m:sup>
                    </m:s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13</m:t>
                        </m:r>
                      </m:sup>
                    </m:s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+1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=8380417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for Dilithium</a:t>
                </a: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So, the same modular arithmetic we all grew up with.</a:t>
                </a: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=3329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there is a primitive (and hence 128 primitive) 256</a:t>
                </a:r>
                <a:r>
                  <a:rPr lang="en-US" sz="2000" baseline="30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roots of unity (You are not expected to understand this).</a:t>
                </a:r>
              </a:p>
              <a:p>
                <a:pPr marL="815579" lvl="2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As a result,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+1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factors into coprime 128 quadratics </a:t>
                </a:r>
              </a:p>
              <a:p>
                <a:pPr marL="815579" lvl="2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Allows us to perform a “Number Theory Transform” that turns convolution into pointwise multiplication for ring operations giving a nice speedup</a:t>
                </a: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=8380417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there is a primitive (and hence 256 primitive) 512th roots of unity </a:t>
                </a:r>
              </a:p>
              <a:p>
                <a:pPr marL="7143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As a result,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p>
                    </m:s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+1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factors into coprime 256 linear polys </a:t>
                </a:r>
              </a:p>
              <a:p>
                <a:pPr marL="815579" lvl="2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Allows us to perform a “Number Theory Transform” that turns convolution into pointwise multiplication for ring operations giving a nice speedup</a:t>
                </a:r>
              </a:p>
              <a:p>
                <a:pPr marL="7104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endParaRPr lang="en-US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Arial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381000" y="1524000"/>
                <a:ext cx="8382000" cy="4724400"/>
              </a:xfrm>
              <a:prstGeom prst="rect">
                <a:avLst/>
              </a:prstGeom>
              <a:blipFill>
                <a:blip r:embed="rId2"/>
                <a:stretch>
                  <a:fillRect l="-1664" t="-1609" r="-1967" b="-4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0489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433763" y="138555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Useful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533400" y="1752600"/>
                <a:ext cx="8153400" cy="42672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&gt;</m:t>
                        </m:r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</m:sup>
                    </m:sSup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≥0</m:t>
                    </m:r>
                  </m:oMath>
                </a14:m>
                <a:endParaRPr 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𝑚𝑜𝑑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±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Arial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means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′≤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even;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′≤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odd</a:t>
                </a:r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𝑑𝑒𝑐𝑜𝑚𝑝𝑜𝑠𝑒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𝛼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e>
                    </m:d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𝑚𝑜𝑑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±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𝛼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</a:t>
                </a: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</m:sup>
                    </m:sSup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==(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−1)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87438" lvl="2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=0 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−1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else</a:t>
                </a:r>
              </a:p>
              <a:p>
                <a:pPr marL="1087438" lvl="2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+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𝛼</m:t>
                        </m:r>
                      </m:den>
                    </m:f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1800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533400" y="1752600"/>
                <a:ext cx="8153400" cy="4267200"/>
              </a:xfrm>
              <a:prstGeom prst="rect">
                <a:avLst/>
              </a:prstGeom>
              <a:blipFill>
                <a:blip r:embed="rId2"/>
                <a:stretch>
                  <a:fillRect l="-1713" t="-1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5851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393570" y="138555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Useful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305637" y="1752600"/>
                <a:ext cx="8457363" cy="41148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𝑙𝑜𝑤𝑏𝑖𝑡𝑠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𝛼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𝑑𝑒𝑐𝑜𝑚𝑝𝑜𝑠𝑒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𝛼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h𝑖𝑔h𝑏𝑖𝑡𝑠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𝛼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𝑑𝑒𝑐𝑜𝑚𝑝𝑜𝑠𝑒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𝛼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𝑝𝑜𝑤𝑒𝑟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2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𝑟𝑜𝑢𝑛𝑑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e>
                    </m:d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+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𝑚𝑜𝑑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±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+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</m:sup>
                        </m:sSup>
                      </m:den>
                    </m:f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endParaRPr lang="en-US" sz="1800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305637" y="1752600"/>
                <a:ext cx="8457363" cy="4114800"/>
              </a:xfrm>
              <a:prstGeom prst="rect">
                <a:avLst/>
              </a:prstGeom>
              <a:blipFill>
                <a:blip r:embed="rId2"/>
                <a:stretch>
                  <a:fillRect l="-1649" t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61716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299776" y="76200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304800" y="2140394"/>
                <a:ext cx="8534400" cy="4572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𝑑𝑒𝑐𝑜𝑚𝑝𝑜𝑠𝑒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𝛼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examples (second shows roundoff edge case)</a:t>
                </a:r>
              </a:p>
              <a:p>
                <a:pPr lvl="1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1800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304800" y="2140394"/>
                <a:ext cx="8534400" cy="457200"/>
              </a:xfrm>
              <a:prstGeom prst="rect">
                <a:avLst/>
              </a:prstGeom>
              <a:blipFill>
                <a:blip r:embed="rId2"/>
                <a:stretch>
                  <a:fillRect l="-1637" t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6E2032C-D5CC-E303-828A-9915E03F9B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7741728"/>
                  </p:ext>
                </p:extLst>
              </p:nvPr>
            </p:nvGraphicFramePr>
            <p:xfrm>
              <a:off x="609600" y="2749994"/>
              <a:ext cx="7633221" cy="21268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6257">
                      <a:extLst>
                        <a:ext uri="{9D8B030D-6E8A-4147-A177-3AD203B41FA5}">
                          <a16:colId xmlns:a16="http://schemas.microsoft.com/office/drawing/2014/main" val="1533206756"/>
                        </a:ext>
                      </a:extLst>
                    </a:gridCol>
                    <a:gridCol w="918743">
                      <a:extLst>
                        <a:ext uri="{9D8B030D-6E8A-4147-A177-3AD203B41FA5}">
                          <a16:colId xmlns:a16="http://schemas.microsoft.com/office/drawing/2014/main" val="1266223407"/>
                        </a:ext>
                      </a:extLst>
                    </a:gridCol>
                    <a:gridCol w="699021">
                      <a:extLst>
                        <a:ext uri="{9D8B030D-6E8A-4147-A177-3AD203B41FA5}">
                          <a16:colId xmlns:a16="http://schemas.microsoft.com/office/drawing/2014/main" val="1863041920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641911029"/>
                        </a:ext>
                      </a:extLst>
                    </a:gridCol>
                    <a:gridCol w="1832949">
                      <a:extLst>
                        <a:ext uri="{9D8B030D-6E8A-4147-A177-3AD203B41FA5}">
                          <a16:colId xmlns:a16="http://schemas.microsoft.com/office/drawing/2014/main" val="3135885596"/>
                        </a:ext>
                      </a:extLst>
                    </a:gridCol>
                    <a:gridCol w="803193">
                      <a:extLst>
                        <a:ext uri="{9D8B030D-6E8A-4147-A177-3AD203B41FA5}">
                          <a16:colId xmlns:a16="http://schemas.microsoft.com/office/drawing/2014/main" val="3805361640"/>
                        </a:ext>
                      </a:extLst>
                    </a:gridCol>
                    <a:gridCol w="716658">
                      <a:extLst>
                        <a:ext uri="{9D8B030D-6E8A-4147-A177-3AD203B41FA5}">
                          <a16:colId xmlns:a16="http://schemas.microsoft.com/office/drawing/2014/main" val="12254686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a:rPr lang="en-US" b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𝒎𝒐𝒅</m:t>
                                    </m:r>
                                  </m:e>
                                  <m:sup>
                                    <m:r>
                                      <a:rPr lang="en-US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±</m:t>
                                    </m:r>
                                  </m:sup>
                                </m:sSup>
                                <m:r>
                                  <a:rPr lang="en-US" b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en-US" b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𝐫</m:t>
                                </m:r>
                                <m:r>
                                  <a:rPr lang="en-US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a:rPr lang="en-US" b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𝒎𝒐𝒅</m:t>
                                    </m:r>
                                  </m:e>
                                  <m:sup>
                                    <m:r>
                                      <a:rPr lang="en-US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±</m:t>
                                    </m:r>
                                  </m:sup>
                                </m:sSup>
                                <m:r>
                                  <a:rPr lang="en-US" b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en-US" b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04131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836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63764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3329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46452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3329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2311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6E2032C-D5CC-E303-828A-9915E03F9B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7741728"/>
                  </p:ext>
                </p:extLst>
              </p:nvPr>
            </p:nvGraphicFramePr>
            <p:xfrm>
              <a:off x="609600" y="2749994"/>
              <a:ext cx="7633221" cy="21268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6257">
                      <a:extLst>
                        <a:ext uri="{9D8B030D-6E8A-4147-A177-3AD203B41FA5}">
                          <a16:colId xmlns:a16="http://schemas.microsoft.com/office/drawing/2014/main" val="1533206756"/>
                        </a:ext>
                      </a:extLst>
                    </a:gridCol>
                    <a:gridCol w="918743">
                      <a:extLst>
                        <a:ext uri="{9D8B030D-6E8A-4147-A177-3AD203B41FA5}">
                          <a16:colId xmlns:a16="http://schemas.microsoft.com/office/drawing/2014/main" val="1266223407"/>
                        </a:ext>
                      </a:extLst>
                    </a:gridCol>
                    <a:gridCol w="699021">
                      <a:extLst>
                        <a:ext uri="{9D8B030D-6E8A-4147-A177-3AD203B41FA5}">
                          <a16:colId xmlns:a16="http://schemas.microsoft.com/office/drawing/2014/main" val="1863041920"/>
                        </a:ext>
                      </a:extLst>
                    </a:gridCol>
                    <a:gridCol w="1676400">
                      <a:extLst>
                        <a:ext uri="{9D8B030D-6E8A-4147-A177-3AD203B41FA5}">
                          <a16:colId xmlns:a16="http://schemas.microsoft.com/office/drawing/2014/main" val="641911029"/>
                        </a:ext>
                      </a:extLst>
                    </a:gridCol>
                    <a:gridCol w="1832949">
                      <a:extLst>
                        <a:ext uri="{9D8B030D-6E8A-4147-A177-3AD203B41FA5}">
                          <a16:colId xmlns:a16="http://schemas.microsoft.com/office/drawing/2014/main" val="3135885596"/>
                        </a:ext>
                      </a:extLst>
                    </a:gridCol>
                    <a:gridCol w="803193">
                      <a:extLst>
                        <a:ext uri="{9D8B030D-6E8A-4147-A177-3AD203B41FA5}">
                          <a16:colId xmlns:a16="http://schemas.microsoft.com/office/drawing/2014/main" val="3805361640"/>
                        </a:ext>
                      </a:extLst>
                    </a:gridCol>
                    <a:gridCol w="716658">
                      <a:extLst>
                        <a:ext uri="{9D8B030D-6E8A-4147-A177-3AD203B41FA5}">
                          <a16:colId xmlns:a16="http://schemas.microsoft.com/office/drawing/2014/main" val="1225468695"/>
                        </a:ext>
                      </a:extLst>
                    </a:gridCol>
                  </a:tblGrid>
                  <a:tr h="6434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r="-674359" b="-245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9722" r="-630556" b="-245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4545" r="-725455" b="-245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4887" r="-200000" b="-245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35417" r="-84722" b="-245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6667" r="-93651" b="-245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57895" r="-3509" b="-2450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04131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836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63764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3329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46452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3329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523119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6953546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453023" y="214755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SHAKE-256/SHAKE-128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609599" y="1981200"/>
                <a:ext cx="7831853" cy="44958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𝑣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𝑆𝐻𝐴𝐾𝐸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256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𝑣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</m:d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𝐻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128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𝑣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</m:d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𝑆𝐻𝐴𝐾𝐸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128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𝑣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</m:d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𝑅𝐴𝑊𝑆𝐻𝐴𝐾𝐸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256(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𝐽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𝐾𝐸𝐶𝐶𝐴𝐾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512</m:t>
                        </m:r>
                      </m:e>
                    </m:d>
                    <m:d>
                      <m:dPr>
                        <m:endChr m:val="|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𝐽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|11,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𝑆𝐻𝐴𝐾𝐸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256(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𝑀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𝑅𝐴𝑊𝑆𝐻𝐴𝐾𝐸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256</m:t>
                    </m:r>
                    <m:d>
                      <m:dPr>
                        <m:endChr m:val="|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𝑀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|11,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𝑅𝐴𝑊𝑆𝐻𝐴𝐾𝐸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128(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𝐽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𝐾𝐸𝐶𝐶𝐴𝐾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e>
                    </m:d>
                    <m:d>
                      <m:dPr>
                        <m:endChr m:val="|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𝐽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11,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𝑆𝐻𝐴𝐾𝐸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128(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𝑀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𝑅𝐴𝑊𝑆𝐻𝐴𝐾𝐸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128</m:t>
                    </m:r>
                    <m:d>
                      <m:dPr>
                        <m:endChr m:val="|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𝑀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|11,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No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te</a:t>
                </a: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𝑆𝐻𝐴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3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𝑀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𝐾𝐸𝐶𝐶𝐴𝐾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512</m:t>
                        </m:r>
                      </m:e>
                    </m:d>
                    <m:d>
                      <m:dPr>
                        <m:endChr m:val="|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𝑀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11,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256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𝑆𝐻𝐴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3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512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𝑀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𝐾𝐸𝐶𝐶𝐴𝐾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1024</m:t>
                        </m:r>
                      </m:e>
                    </m:d>
                    <m:d>
                      <m:dPr>
                        <m:endChr m:val="|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𝑀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11,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1024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endParaRPr lang="en-US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1800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609599" y="1981200"/>
                <a:ext cx="7831853" cy="4495800"/>
              </a:xfrm>
              <a:prstGeom prst="rect">
                <a:avLst/>
              </a:prstGeom>
              <a:blipFill>
                <a:blip r:embed="rId2"/>
                <a:stretch>
                  <a:fillRect l="-1783" t="-8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1538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685800" y="1905000"/>
                <a:ext cx="7988430" cy="39624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=3329,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−1=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8</m:t>
                        </m:r>
                      </m:sup>
                    </m:sSup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∙13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ℤ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a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primitive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256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𝑡h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root of unity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𝜁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=17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is a primitive root)  but no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512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root of unity,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+1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factors into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128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coprime quadratic factors of the form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𝜉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17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128</m:t>
                        </m:r>
                      </m:sup>
                    </m:sSup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=−1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.  </a:t>
                </a: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+1= </m:t>
                    </m:r>
                    <m:nary>
                      <m:naryPr>
                        <m:chr m:val="∏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127</m:t>
                        </m:r>
                      </m:sup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𝜁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2∙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𝑏𝑖𝑡𝑟𝑒𝑣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7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+1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. </a:t>
                </a: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𝑏𝑖𝑡𝑟𝑒𝑣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7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reverses the bit order in a 7-bit byte,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+1=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−17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17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129</m:t>
                            </m:r>
                          </m:sup>
                        </m:sSup>
                      </m:e>
                    </m:d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…∙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p>
                        </m:s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17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255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=8380417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𝜁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=1753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is a primitive 512</a:t>
                </a:r>
                <a:r>
                  <a:rPr lang="en-US" sz="2000" baseline="30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th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root of unity, </a:t>
                </a:r>
              </a:p>
              <a:p>
                <a:pPr marL="1227138" lvl="3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p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−1=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13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10</m:t>
                        </m:r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1)=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13</m:t>
                        </m:r>
                      </m:sup>
                    </m:sSup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3∙11∙31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Because of this, an analog of the Chinese remainder theorem holds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ℤ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𝑝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256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685800" y="1905000"/>
                <a:ext cx="7988430" cy="3962400"/>
              </a:xfrm>
              <a:prstGeom prst="rect">
                <a:avLst/>
              </a:prstGeom>
              <a:blipFill>
                <a:blip r:embed="rId2"/>
                <a:stretch>
                  <a:fillRect l="-1746" t="-1917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02FD5B-06F0-3E29-35E7-AA2116231E34}"/>
              </a:ext>
            </a:extLst>
          </p:cNvPr>
          <p:cNvSpPr txBox="1">
            <a:spLocks/>
          </p:cNvSpPr>
          <p:nvPr/>
        </p:nvSpPr>
        <p:spPr>
          <a:xfrm>
            <a:off x="533400" y="158262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Number Theory Transform (NTT)</a:t>
            </a:r>
          </a:p>
        </p:txBody>
      </p:sp>
    </p:spTree>
    <p:extLst>
      <p:ext uri="{BB962C8B-B14F-4D97-AF65-F5344CB8AC3E}">
        <p14:creationId xmlns:p14="http://schemas.microsoft.com/office/powerpoint/2010/main" val="4107735146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B3A82-3CCB-23FD-92C7-52AA917D3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CD7F0B2C-E84D-61CD-8684-828A81AA46A5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425385" y="1981200"/>
                <a:ext cx="8293230" cy="44196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: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↦</m:t>
                    </m:r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255</m:t>
                        </m:r>
                      </m:sup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𝑞</m:t>
                            </m:r>
                          </m:sub>
                        </m:sSub>
                      </m:e>
                    </m:nary>
                  </m:oMath>
                </a14:m>
                <a:endParaRPr lang="en-US" sz="20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For</a:t>
                </a: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</m:oMath>
                </a14:m>
                <a:endParaRPr 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511</m:t>
                        </m:r>
                      </m:sup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 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𝑚𝑜𝑑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 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𝜁</m:t>
                                </m:r>
                              </m:e>
                              <m:sup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2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+1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𝜁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=1753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so each element in the vector is just an element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𝑎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+…+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511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255</m:t>
                        </m:r>
                      </m:sup>
                    </m:sSup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𝑎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𝑎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…,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𝑎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127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𝑎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127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𝜁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+128</m:t>
                        </m:r>
                      </m:sup>
                    </m:sSup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Multiplication is then pointwise</a:t>
                </a:r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CD7F0B2C-E84D-61CD-8684-828A81AA4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425385" y="1981200"/>
                <a:ext cx="8293230" cy="4419600"/>
              </a:xfrm>
              <a:prstGeom prst="rect">
                <a:avLst/>
              </a:prstGeom>
              <a:blipFill>
                <a:blip r:embed="rId2"/>
                <a:stretch>
                  <a:fillRect l="-1529" t="-11175" r="-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8D1571-0F5F-6B26-60E5-081FF8581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A176F7-2CB1-377E-DC99-C2FDEF2294BA}"/>
              </a:ext>
            </a:extLst>
          </p:cNvPr>
          <p:cNvSpPr txBox="1">
            <a:spLocks/>
          </p:cNvSpPr>
          <p:nvPr/>
        </p:nvSpPr>
        <p:spPr>
          <a:xfrm>
            <a:off x="533400" y="158262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NTT for </a:t>
            </a:r>
            <a:r>
              <a:rPr lang="en-US" sz="4000" b="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DIlithium</a:t>
            </a:r>
            <a:endParaRPr lang="en-US" sz="40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39385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304801" y="228600"/>
            <a:ext cx="8382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Dilithium template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228600" y="1524000"/>
                <a:ext cx="4571999" cy="34290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Gen</a:t>
                </a:r>
              </a:p>
              <a:p>
                <a:pPr marL="714375" lvl="1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𝑨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×</m:t>
                        </m:r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</m:t>
                        </m:r>
                      </m:sup>
                    </m:sSubSup>
                  </m:oMath>
                </a14:m>
                <a:endParaRPr lang="en-US" sz="18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𝒔</m:t>
                            </m:r>
                          </m:e>
                          <m:sub>
                            <m:r>
                              <a:rPr lang="en-US" sz="18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𝟏</m:t>
                            </m:r>
                          </m:sub>
                        </m:sSub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𝒔</m:t>
                            </m:r>
                          </m:e>
                          <m:sub>
                            <m:r>
                              <a:rPr lang="en-US" sz="18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</m:t>
                        </m:r>
                      </m:e>
                      <m:sub>
                        <m:r>
                          <a:rPr lang="el-GR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</m:t>
                        </m:r>
                      </m:sup>
                    </m:sSubSup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×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</m:sup>
                    </m:sSubSup>
                  </m:oMath>
                </a14:m>
                <a:endParaRPr lang="en-US" sz="18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𝒕</m:t>
                    </m:r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𝑨</m:t>
                    </m:r>
                    <m:sSub>
                      <m:sSubPr>
                        <m:ctrlP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𝒔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𝒔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𝟐</m:t>
                        </m:r>
                      </m:sub>
                    </m:sSub>
                  </m:oMath>
                </a14:m>
                <a:endParaRPr lang="en-US" sz="1800" b="1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𝑝𝑘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𝑨</m:t>
                        </m:r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𝒕</m:t>
                        </m:r>
                      </m:e>
                    </m:d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𝑠𝑘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𝑨</m:t>
                        </m:r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𝒕</m:t>
                        </m:r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𝒔</m:t>
                            </m:r>
                          </m:e>
                          <m:sub>
                            <m:r>
                              <a:rPr lang="en-US" sz="18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𝟏</m:t>
                            </m:r>
                          </m:sub>
                        </m:sSub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𝒔</m:t>
                            </m:r>
                          </m:e>
                          <m:sub>
                            <m:r>
                              <a:rPr lang="en-US" sz="18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b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</a:br>
                <a:endParaRPr lang="en-US" sz="18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Verify(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𝑝𝑘</m:t>
                    </m:r>
                    <m:r>
                      <a:rPr lang="en-US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𝑀</m:t>
                    </m:r>
                    <m:r>
                      <a:rPr lang="en-US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𝜎</m:t>
                    </m:r>
                    <m:r>
                      <a:rPr lang="en-US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=(</m:t>
                    </m:r>
                    <m:r>
                      <a:rPr lang="en-US" b="1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𝒛</m:t>
                    </m:r>
                    <m:r>
                      <a:rPr lang="en-US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 </m:t>
                    </m:r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)</a:t>
                </a:r>
              </a:p>
              <a:p>
                <a:pPr marL="7143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𝒘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  <m:sup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bSup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h𝑖𝑔h𝑏𝑖𝑡𝑠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𝑨𝒛</m:t>
                    </m:r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𝒕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2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𝑧</m:t>
                            </m:r>
                          </m:e>
                        </m:d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</m:e>
                      <m:sub>
                        <m:r>
                          <a:rPr lang="en-US" sz="180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∧</m:t>
                    </m:r>
                  </m:oMath>
                </a14:m>
                <a:endParaRPr lang="en-US" sz="1800" b="0" i="1" dirty="0">
                  <a:solidFill>
                    <a:srgbClr val="53535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 indent="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53535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𝑐</m:t>
                      </m:r>
                      <m:r>
                        <a:rPr lang="en-US" sz="1800" b="0" i="1" smtClean="0">
                          <a:solidFill>
                            <a:srgbClr val="53535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==</m:t>
                      </m:r>
                      <m:r>
                        <a:rPr lang="en-US" sz="1800" b="0" i="1" smtClean="0">
                          <a:solidFill>
                            <a:srgbClr val="53535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𝐻</m:t>
                      </m:r>
                      <m:r>
                        <a:rPr lang="en-US" sz="1800" b="0" i="1" smtClean="0">
                          <a:solidFill>
                            <a:srgbClr val="53535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rgbClr val="53535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𝑀</m:t>
                      </m:r>
                      <m:r>
                        <a:rPr lang="en-US" sz="1800" b="0" i="1" smtClean="0">
                          <a:solidFill>
                            <a:srgbClr val="53535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||</m:t>
                      </m:r>
                      <m:sSubSup>
                        <m:sSubSupPr>
                          <m:ctrlPr>
                            <a:rPr lang="en-US" sz="1800" b="1" i="1">
                              <a:solidFill>
                                <a:srgbClr val="535353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solidFill>
                                <a:srgbClr val="535353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𝒘</m:t>
                          </m:r>
                        </m:e>
                        <m:sub>
                          <m:r>
                            <a:rPr lang="en-US" sz="1800" b="1" i="1">
                              <a:solidFill>
                                <a:srgbClr val="535353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𝟏</m:t>
                          </m:r>
                        </m:sub>
                        <m:sup>
                          <m:r>
                            <a:rPr lang="en-US" sz="1800" b="1" i="1">
                              <a:solidFill>
                                <a:srgbClr val="535353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′</m:t>
                          </m:r>
                        </m:sup>
                      </m:sSubSup>
                      <m:r>
                        <a:rPr lang="en-US" sz="1800" b="1" i="1" smtClean="0">
                          <a:solidFill>
                            <a:srgbClr val="535353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228600" y="1524000"/>
                <a:ext cx="4571999" cy="3429000"/>
              </a:xfrm>
              <a:prstGeom prst="rect">
                <a:avLst/>
              </a:prstGeom>
              <a:blipFill>
                <a:blip r:embed="rId2"/>
                <a:stretch>
                  <a:fillRect l="-2778" t="-2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B4019E-2895-F405-0829-8F84F0038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7">
                <a:extLst>
                  <a:ext uri="{FF2B5EF4-FFF2-40B4-BE49-F238E27FC236}">
                    <a16:creationId xmlns:a16="http://schemas.microsoft.com/office/drawing/2014/main" id="{67603A31-A6F6-F26B-D20C-8A19180BC29D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4038600" y="1676400"/>
                <a:ext cx="4953000" cy="41910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Sign(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𝑠𝑘</m:t>
                    </m:r>
                    <m:r>
                      <a:rPr lang="en-US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)</a:t>
                </a:r>
              </a:p>
              <a:p>
                <a:pPr marL="7143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z=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⊥</m:t>
                    </m:r>
                  </m:oMath>
                </a14:m>
                <a:endParaRPr lang="en-US" sz="1800" dirty="0">
                  <a:solidFill>
                    <a:srgbClr val="53535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while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==⊥</m:t>
                    </m:r>
                  </m:oMath>
                </a14:m>
                <a:endParaRPr lang="en-US" sz="1800" dirty="0">
                  <a:solidFill>
                    <a:srgbClr val="53535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01713" lvl="2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𝒚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</m:t>
                        </m:r>
                      </m:sup>
                    </m:sSubSup>
                  </m:oMath>
                </a14:m>
                <a:endParaRPr lang="en-US" sz="1800" dirty="0">
                  <a:solidFill>
                    <a:srgbClr val="53535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01713" lvl="2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𝒘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h𝑖𝑔h𝑏𝑖𝑡𝑠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𝐴𝑦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,2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rgbClr val="53535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01713" lvl="2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𝐵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60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𝑀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rgbClr val="53535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01713" lvl="2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// </a:t>
                </a:r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view</a:t>
                </a:r>
                <a:r>
                  <a:rPr lang="en-US" sz="1800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c </a:t>
                </a:r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as polynomial in</a:t>
                </a:r>
                <a:r>
                  <a:rPr lang="en-US" sz="1800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</m:sSub>
                  </m:oMath>
                </a14:m>
                <a:endParaRPr lang="en-US" sz="1800" dirty="0">
                  <a:solidFill>
                    <a:srgbClr val="53535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01713" lvl="2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𝒛</m:t>
                    </m:r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𝒚</m:t>
                    </m:r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𝒄</m:t>
                    </m:r>
                    <m:sSub>
                      <m:sSubPr>
                        <m:ctrlP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𝒔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</m:oMath>
                </a14:m>
                <a:endParaRPr lang="en-US" sz="1800" b="1" dirty="0">
                  <a:solidFill>
                    <a:srgbClr val="53535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01713" lvl="2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b="1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8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𝒛</m:t>
                            </m:r>
                          </m:e>
                        </m:d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∨</m:t>
                    </m:r>
                  </m:oMath>
                </a14:m>
                <a:endParaRPr lang="en-US" sz="1800" b="0" i="1" dirty="0">
                  <a:solidFill>
                    <a:srgbClr val="53535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5" indent="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53535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53535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|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rgbClr val="53535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53535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𝑙𝑜𝑤𝑏𝑖𝑡𝑠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53535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53535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  <m:t>𝐴𝑦</m:t>
                                  </m:r>
                                  <m:r>
                                    <a:rPr lang="en-US" i="1">
                                      <a:solidFill>
                                        <a:srgbClr val="53535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53535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  <a:sym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53535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  <a:sym typeface="Arial"/>
                                        </a:rPr>
                                        <m:t>𝑐𝑠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53535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  <a:sym typeface="Arial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53535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rgbClr val="535353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535353"/>
                                          </a:solidFill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  <a:sym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535353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  <a:sym typeface="Arial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535353"/>
                                          </a:solidFill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  <a:sym typeface="Arial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solidFill>
                                <a:srgbClr val="535353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|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53535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∞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53535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535353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53535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535353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535353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−</m:t>
                      </m:r>
                      <m:r>
                        <a:rPr lang="en-US" i="1">
                          <a:solidFill>
                            <a:srgbClr val="53535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𝛽</m:t>
                      </m:r>
                    </m:oMath>
                  </m:oMathPara>
                </a14:m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1227138" lvl="3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z=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⊥</m:t>
                    </m:r>
                  </m:oMath>
                </a14:m>
                <a:endParaRPr lang="en-US" sz="1800" dirty="0">
                  <a:solidFill>
                    <a:srgbClr val="53535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𝜎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=(</m:t>
                    </m:r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𝒛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rgbClr val="53535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3" name="Content Placeholder 7">
                <a:extLst>
                  <a:ext uri="{FF2B5EF4-FFF2-40B4-BE49-F238E27FC236}">
                    <a16:creationId xmlns:a16="http://schemas.microsoft.com/office/drawing/2014/main" id="{67603A31-A6F6-F26B-D20C-8A19180BC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4038600" y="1676400"/>
                <a:ext cx="4953000" cy="4191000"/>
              </a:xfrm>
              <a:prstGeom prst="rect">
                <a:avLst/>
              </a:prstGeom>
              <a:blipFill>
                <a:blip r:embed="rId3"/>
                <a:stretch>
                  <a:fillRect l="-2564" t="-1813" r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ADEFEF-21E4-1E47-673D-72C22F6F3F39}"/>
                  </a:ext>
                </a:extLst>
              </p:cNvPr>
              <p:cNvSpPr txBox="1"/>
              <p:nvPr/>
            </p:nvSpPr>
            <p:spPr>
              <a:xfrm>
                <a:off x="228600" y="5634036"/>
                <a:ext cx="4648200" cy="690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For real Dilithium,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=4</m:t>
                    </m:r>
                  </m:oMath>
                </a14:m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ADEFEF-21E4-1E47-673D-72C22F6F3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634036"/>
                <a:ext cx="4648200" cy="690564"/>
              </a:xfrm>
              <a:prstGeom prst="rect">
                <a:avLst/>
              </a:prstGeom>
              <a:blipFill>
                <a:blip r:embed="rId4"/>
                <a:stretch>
                  <a:fillRect l="-3552" t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4102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167F6-0F00-57A4-D3E5-D1585E82A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16C940B-EF7B-4C9E-6CE5-84FEB8DC0366}"/>
              </a:ext>
            </a:extLst>
          </p:cNvPr>
          <p:cNvSpPr txBox="1">
            <a:spLocks/>
          </p:cNvSpPr>
          <p:nvPr/>
        </p:nvSpPr>
        <p:spPr>
          <a:xfrm>
            <a:off x="304801" y="76200"/>
            <a:ext cx="8382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Dilithium security argument 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AAF18CDC-F8E7-0276-991F-8AE493C1C948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228600" y="1295400"/>
                <a:ext cx="8763000" cy="51816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𝜂</m:t>
                    </m:r>
                    <m:r>
                      <a:rPr lang="en-US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=5</m:t>
                    </m:r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  <m:r>
                          <a:rPr lang="en-US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ℤ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𝑞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[</m:t>
                        </m:r>
                        <m:r>
                          <a:rPr lang="en-US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  <m:r>
                          <a:rPr lang="en-US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256</m:t>
                            </m:r>
                          </m:sup>
                        </m:sSup>
                        <m:r>
                          <a:rPr lang="en-US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23</m:t>
                        </m:r>
                      </m:sup>
                    </m:sSup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13</m:t>
                        </m:r>
                      </m:sup>
                    </m:sSup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+1</m:t>
                    </m:r>
                    <m:r>
                      <a:rPr lang="en-US" b="0" i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</m:oMath>
                </a14:m>
                <a:endParaRPr lang="en-US" b="0" i="0" dirty="0">
                  <a:solidFill>
                    <a:srgbClr val="535353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b="0" dirty="0">
                    <a:solidFill>
                      <a:srgbClr val="535353"/>
                    </a:solidFill>
                    <a:cs typeface="Calibri" panose="020F0502020204030204" pitchFamily="34" charset="0"/>
                    <a:sym typeface="Arial"/>
                  </a:rPr>
                  <a:t>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−1=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13</m:t>
                        </m:r>
                      </m:sup>
                    </m:sSup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∙3∙11∙31</m:t>
                    </m:r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=5,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=4</m:t>
                    </m:r>
                  </m:oMath>
                </a14:m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𝑨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×</m:t>
                        </m:r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b="0" i="0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𝒔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𝒔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</m:t>
                        </m:r>
                      </m:e>
                      <m:sub>
                        <m:r>
                          <a:rPr lang="el-GR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</m:t>
                        </m:r>
                      </m:sup>
                    </m:sSubSup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×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𝒕</m:t>
                    </m:r>
                    <m:r>
                      <a:rPr lang="en-US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𝑨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𝒔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𝑝𝑘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𝑨</m:t>
                        </m:r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𝒕</m:t>
                        </m:r>
                      </m:e>
                    </m:d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𝑠𝑘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𝑨</m:t>
                        </m:r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𝒕</m:t>
                        </m:r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𝒔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𝒔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</m:sSub>
                  </m:oMath>
                </a14:m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𝒚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sSubSup>
                      <m:sSubSup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𝒘</m:t>
                        </m:r>
                      </m:e>
                      <m:sub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h𝑖𝑔h𝑏𝑖𝑡𝑠</m:t>
                        </m:r>
                      </m:e>
                      <m:sub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r>
                      <a:rPr lang="en-US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𝒚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dirty="0">
                  <a:solidFill>
                    <a:srgbClr val="53535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Write coefficients of 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𝐰</m:t>
                    </m:r>
                    <m:r>
                      <a:rPr lang="en-US" sz="1800" b="0" i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r>
                      <a:rPr lang="en-US" sz="1800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𝒚</m:t>
                    </m:r>
                  </m:oMath>
                </a14:m>
                <a:r>
                  <a:rPr lang="en-US" sz="1800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𝒘</m:t>
                        </m:r>
                      </m:e>
                      <m:sup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[</m:t>
                        </m:r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]</m:t>
                        </m:r>
                      </m:sup>
                    </m:sSup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𝒘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𝒘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[</m:t>
                        </m:r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]</m:t>
                        </m:r>
                      </m:sup>
                    </m:sSubSup>
                  </m:oMath>
                </a14:m>
                <a:endParaRPr lang="en-US" sz="1800" dirty="0">
                  <a:solidFill>
                    <a:srgbClr val="53535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𝒘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h𝑖𝑔h𝑏𝑖𝑡𝑠</m:t>
                        </m:r>
                      </m:e>
                      <m:sub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r>
                      <a:rPr lang="en-US" sz="1800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𝒚</m:t>
                    </m:r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𝒘</m:t>
                        </m:r>
                      </m:e>
                      <m:sub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  <m:sup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[</m:t>
                        </m:r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]</m:t>
                        </m:r>
                      </m:sup>
                    </m:sSubSup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endParaRPr lang="en-US" sz="1800" dirty="0">
                  <a:solidFill>
                    <a:srgbClr val="535353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𝒄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60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𝒄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𝑀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.</m:t>
                    </m:r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</a:t>
                </a:r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𝑚𝑎𝑥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[</m:t>
                        </m:r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]</m:t>
                        </m:r>
                      </m:sup>
                    </m:sSup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.  </a:t>
                </a:r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Then</a:t>
                </a:r>
                <a:r>
                  <a:rPr lang="en-US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  <m:r>
                      <a:rPr lang="en-US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≤60</m:t>
                    </m:r>
                    <m:r>
                      <a:rPr lang="en-US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𝜂</m:t>
                    </m:r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342900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Set 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𝒛</m:t>
                    </m:r>
                    <m:r>
                      <a:rPr lang="en-US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𝒚</m:t>
                    </m:r>
                    <m:r>
                      <a:rPr lang="en-US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𝒄</m:t>
                    </m:r>
                    <m:sSub>
                      <m:sSubPr>
                        <m:ctrlP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𝒔</m:t>
                        </m:r>
                      </m:e>
                      <m:sub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if any coefficient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reject and start over.</a:t>
                </a:r>
              </a:p>
              <a:p>
                <a:pPr marL="342900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If any coefficient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𝑙𝑜𝑤𝑏𝑖𝑡𝑠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𝒛</m:t>
                        </m:r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𝒕</m:t>
                        </m:r>
                      </m:e>
                    </m:d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reject and start over.</a:t>
                </a: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Note: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r>
                      <a:rPr lang="en-US" sz="1800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𝒛</m:t>
                    </m:r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800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𝒕</m:t>
                    </m:r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𝒚</m:t>
                    </m:r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sSub>
                      <m:sSubPr>
                        <m:ctrlP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𝒔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𝟐</m:t>
                        </m:r>
                      </m:sub>
                    </m:sSub>
                  </m:oMath>
                </a14:m>
                <a:endParaRPr lang="en-US" sz="180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coefficients of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𝒛</m:t>
                    </m:r>
                    <m:r>
                      <a:rPr lang="en-US" sz="1800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</m:oMath>
                </a14:m>
                <a:r>
                  <a:rPr lang="en-US" sz="1800" b="1" dirty="0">
                    <a:solidFill>
                      <a:srgbClr val="535353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coefficients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𝑙𝑜𝑤𝑏𝑖𝑡𝑠</m:t>
                        </m:r>
                      </m:e>
                      <m:sub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  <m:r>
                          <a:rPr lang="en-US" sz="18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𝒛</m:t>
                        </m:r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r>
                          <a:rPr lang="en-US" sz="18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𝒕</m:t>
                        </m:r>
                      </m:e>
                    </m:d>
                    <m:r>
                      <a:rPr lang="en-US" sz="180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</m:oMath>
                </a14:m>
                <a:endParaRPr lang="en-US" sz="1800" b="1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Signature is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𝜎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=(</m:t>
                    </m:r>
                    <m:r>
                      <a:rPr lang="en-US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𝒛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𝐵</m:t>
                        </m:r>
                      </m:e>
                      <m:sub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60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ensured by </a:t>
                </a:r>
                <a:r>
                  <a:rPr lang="en-US" sz="1800" dirty="0" err="1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SampleInBall</a:t>
                </a:r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in the final algorithm.</a:t>
                </a:r>
              </a:p>
              <a:p>
                <a:pPr marL="742950" lvl="1" indent="-28575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Parameters chosen so that expected rejections in steps 4 and 5 is between 4 and 7</a:t>
                </a:r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  <a:b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</a:br>
                <a:endParaRPr lang="en-US" sz="18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AAF18CDC-F8E7-0276-991F-8AE493C1C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228600" y="1295400"/>
                <a:ext cx="8763000" cy="5181600"/>
              </a:xfrm>
              <a:prstGeom prst="rect">
                <a:avLst/>
              </a:prstGeom>
              <a:blipFill>
                <a:blip r:embed="rId2"/>
                <a:stretch>
                  <a:fillRect l="-1594" t="-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A766F5-1FD3-050B-EC39-9D6CBDD8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4074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A628-45A2-5734-FC4C-40B542B29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6DCF3DE-F0C6-2335-A66A-4DEFD37FFCA2}"/>
              </a:ext>
            </a:extLst>
          </p:cNvPr>
          <p:cNvSpPr txBox="1">
            <a:spLocks/>
          </p:cNvSpPr>
          <p:nvPr/>
        </p:nvSpPr>
        <p:spPr>
          <a:xfrm>
            <a:off x="304801" y="228600"/>
            <a:ext cx="8382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Dilithium security argument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0EB71C31-03FE-F9B5-1AA3-F28D423F1344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266701" y="1905000"/>
                <a:ext cx="8458199" cy="36576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Verification</a:t>
                </a:r>
              </a:p>
              <a:p>
                <a:pPr marL="342900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r>
                      <a:rPr lang="en-US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𝒛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𝒕</m:t>
                    </m:r>
                    <m:r>
                      <a:rPr lang="en-US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r>
                      <a:rPr lang="en-US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𝒚</m:t>
                    </m:r>
                    <m:r>
                      <a:rPr lang="en-US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sSub>
                      <m:sSubPr>
                        <m:ctrlP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𝒔</m:t>
                        </m:r>
                      </m:e>
                      <m:sub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𝟐</m:t>
                        </m:r>
                      </m:sub>
                    </m:sSub>
                  </m:oMath>
                </a14:m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To show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h𝑖𝑔h𝑏𝑖𝑡𝑠</m:t>
                        </m:r>
                      </m:e>
                      <m:sub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𝒛</m:t>
                        </m:r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𝒕</m:t>
                        </m:r>
                      </m:e>
                    </m:d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535353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h𝑖𝑔h𝑏𝑖𝑡𝑠</m:t>
                        </m:r>
                      </m:e>
                      <m:sub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we need only show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h𝑖𝑔h𝑏𝑖𝑡𝑠</m:t>
                        </m:r>
                      </m:e>
                      <m:sub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𝒚</m:t>
                        </m:r>
                      </m:e>
                    </m:d>
                    <m:r>
                      <a:rPr lang="en-US" b="1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h𝑖𝑔h𝑏𝑖𝑡𝑠</m:t>
                        </m:r>
                      </m:e>
                      <m:sub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𝒚</m:t>
                        </m:r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𝒔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This follows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𝑙𝑜𝑤𝑏𝑖𝑡𝑠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53535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53535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  <a:sym typeface="Arial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53535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  <a:sym typeface="Arial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𝐴</m:t>
                                </m:r>
                                <m:r>
                                  <a:rPr lang="en-US" sz="1800" b="1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𝒚</m:t>
                                </m:r>
                                <m:r>
                                  <a:rPr lang="en-US" sz="18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−</m:t>
                                </m:r>
                                <m:r>
                                  <a:rPr lang="en-US" sz="18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𝑐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53535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>
                                        <a:solidFill>
                                          <a:srgbClr val="53535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  <a:sym typeface="Arial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53535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  <a:sym typeface="Arial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sz="180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en-US" sz="1800" b="0" i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  <m:r>
                      <a:rPr lang="en-US" sz="1800" b="0" i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;</m:t>
                    </m:r>
                  </m:oMath>
                </a14:m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and,</a:t>
                </a: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 coefficients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𝑐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1800" b="1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</m:oMath>
                </a14:m>
                <a:endParaRPr lang="en-US" sz="18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Adding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𝒔</m:t>
                        </m:r>
                      </m:e>
                      <m:sub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never causes a carry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from the </a:t>
                </a:r>
                <a:r>
                  <a:rPr lang="en-US" sz="1800" dirty="0" err="1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lowbits</a:t>
                </a:r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and, hence,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h𝑖𝑔h𝑏𝑖𝑡𝑠</m:t>
                        </m:r>
                      </m:e>
                      <m:sub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  <m:r>
                          <a:rPr lang="en-US" sz="18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𝒛</m:t>
                        </m:r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r>
                          <a:rPr lang="en-US" sz="18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𝒕</m:t>
                        </m:r>
                      </m:e>
                    </m:d>
                    <m:r>
                      <a:rPr lang="en-US" sz="18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</m:oMath>
                </a14:m>
                <a:r>
                  <a:rPr lang="en-US" sz="1800" dirty="0">
                    <a:solidFill>
                      <a:srgbClr val="535353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h𝑖𝑔h𝑏𝑖𝑡𝑠</m:t>
                        </m:r>
                      </m:e>
                      <m:sub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  <m:r>
                          <a:rPr lang="en-US" sz="18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𝒚</m:t>
                        </m:r>
                      </m:e>
                    </m:d>
                  </m:oMath>
                </a14:m>
                <a:endParaRPr lang="en-US" sz="18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Now we can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h𝑖𝑔h𝑏𝑖𝑡𝑠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𝒘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and hence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𝑀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𝒘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endParaRPr lang="en-US" sz="18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0EB71C31-03FE-F9B5-1AA3-F28D423F1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266701" y="1905000"/>
                <a:ext cx="8458199" cy="3657600"/>
              </a:xfrm>
              <a:prstGeom prst="rect">
                <a:avLst/>
              </a:prstGeom>
              <a:blipFill>
                <a:blip r:embed="rId2"/>
                <a:stretch>
                  <a:fillRect l="-1802" t="-2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F5EE93-9041-9469-FA93-D74FA3D9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26083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1257F-A6BA-7743-624A-C028D8643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75BE7EA-848C-1DBD-CE3C-6CF041A116A9}"/>
              </a:ext>
            </a:extLst>
          </p:cNvPr>
          <p:cNvSpPr txBox="1">
            <a:spLocks/>
          </p:cNvSpPr>
          <p:nvPr/>
        </p:nvSpPr>
        <p:spPr>
          <a:xfrm>
            <a:off x="304801" y="228600"/>
            <a:ext cx="8382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Template </a:t>
            </a: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Dilithium</a:t>
            </a:r>
            <a:endParaRPr lang="en-US" sz="40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E739703-9CFA-E99A-D035-7260CDFD1E18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381000" y="1905001"/>
                <a:ext cx="8458199" cy="4114799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NTT is used to speed multiplications.</a:t>
                </a:r>
              </a:p>
              <a:p>
                <a:pPr marL="342900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Produce hint,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to help verifier calculate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in verify.</a:t>
                </a: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𝐻𝑖𝑔h𝑏𝑖𝑡𝑠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υ</m:t>
                    </m:r>
                    <m:r>
                      <a:rPr lang="el-GR" sz="18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r>
                      <a:rPr lang="en-US" sz="18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𝐻𝑖𝑔h𝑏𝑖𝑡𝑠</m:t>
                    </m:r>
                    <m:r>
                      <a:rPr lang="en-US" sz="18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18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18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18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r>
                      <a:rPr lang="en-US" sz="18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←[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dirty="0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b="0" i="1" dirty="0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≠</m:t>
                        </m:r>
                        <m:r>
                          <a:rPr lang="en-US" sz="1800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𝜈</m:t>
                        </m:r>
                      </m:e>
                    </m:d>
                    <m:r>
                      <a:rPr lang="en-US" sz="18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]</m:t>
                    </m:r>
                  </m:oMath>
                </a14:m>
                <a:endParaRPr lang="en-US" sz="18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𝑀𝑎𝑘𝑒𝐻𝑖𝑛𝑡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 ≪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𝑐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≫,</m:t>
                        </m:r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 ≪</m:t>
                        </m:r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≫</m:t>
                        </m:r>
                        <m:r>
                          <a:rPr lang="en-US" sz="1800" b="0" i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+≪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c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≫</m:t>
                        </m:r>
                      </m:e>
                    </m:d>
                  </m:oMath>
                </a14:m>
                <a:endParaRPr lang="en-US" sz="1800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80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acc>
                    <m:r>
                      <a:rPr lang="en-US" sz="180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𝜇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𝜆</m:t>
                    </m:r>
                    <m:r>
                      <a:rPr lang="en-US" sz="18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Drop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=13</m:t>
                    </m:r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bottom bits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𝜔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=75</m:t>
                    </m:r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man number of 1’s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342900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In final algorithm,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is generated from a seed using SHAKE-128.</a:t>
                </a: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endParaRPr lang="en-US" sz="18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Notes:</a:t>
                </a: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Compute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20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𝒘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  <m:sup>
                        <m:r>
                          <a:rPr lang="en-US" sz="20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bSup>
                    <m:r>
                      <a:rPr lang="en-US" sz="20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h𝑖𝑔h𝑏𝑖𝑡𝑠</m:t>
                        </m:r>
                      </m:e>
                      <m:sub>
                        <m:r>
                          <a:rPr lang="en-US" sz="20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0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𝑨𝒛</m:t>
                    </m:r>
                    <m:r>
                      <a:rPr lang="en-US" sz="2000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20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2000" b="1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𝒕</m:t>
                    </m:r>
                    <m:r>
                      <a:rPr lang="en-US" sz="20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from the compressed public key.  </a:t>
                </a: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 err="1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SampleinBall</a:t>
                </a:r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guarantees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𝐵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60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using Fisher-Yates shuffle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𝑀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𝒘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20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E739703-9CFA-E99A-D035-7260CDFD1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381000" y="1905001"/>
                <a:ext cx="8458199" cy="4114799"/>
              </a:xfrm>
              <a:prstGeom prst="rect">
                <a:avLst/>
              </a:prstGeom>
              <a:blipFill>
                <a:blip r:embed="rId2"/>
                <a:stretch>
                  <a:fillRect l="-1652" t="-1846" r="-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F77C97-36F0-105D-2152-821F98D9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938501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4FE77-D215-2391-9AAB-966759B6B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2FA119C-E53F-F26D-A276-00108F869BEB}"/>
              </a:ext>
            </a:extLst>
          </p:cNvPr>
          <p:cNvSpPr txBox="1">
            <a:spLocks/>
          </p:cNvSpPr>
          <p:nvPr/>
        </p:nvSpPr>
        <p:spPr>
          <a:xfrm>
            <a:off x="304801" y="228600"/>
            <a:ext cx="8382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Template </a:t>
            </a: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Dilithium</a:t>
            </a:r>
            <a:endParaRPr lang="en-US" sz="40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C3C7EA54-0320-243D-DDDE-75BF74A13F24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304800" y="2001521"/>
                <a:ext cx="8686800" cy="2819399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𝜉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p>
                    </m:sSup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b="0" i="1" dirty="0">
                    <a:solidFill>
                      <a:srgbClr val="535353"/>
                    </a:solidFill>
                    <a:latin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𝐾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)←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𝜉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,512)</m:t>
                    </m:r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</m:e>
                    </m:acc>
                    <m:r>
                      <a:rPr lang="en-US" sz="200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r>
                      <a:rPr lang="en-US" sz="20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𝐸𝑥𝑝𝑎𝑛𝑑</m:t>
                    </m:r>
                    <m:r>
                      <a:rPr lang="en-US" sz="20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20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𝑡𝑟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𝑝𝑘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 512)</m:t>
                    </m:r>
                    <m:r>
                      <a:rPr lang="en-US" sz="2000" b="0" i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sign: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𝜇</m:t>
                    </m:r>
                    <m:r>
                      <a:rPr lang="en-US" sz="200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𝑡𝑟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𝑀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512)</m:t>
                    </m:r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dirty="0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b="0" i="1" dirty="0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sz="2000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dirty="0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b="0" i="1" dirty="0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sz="2000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  <m:r>
                      <a:rPr lang="en-US" sz="20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r>
                      <a:rPr lang="en-US" sz="20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𝐸𝑥𝑝𝑎𝑛𝑑𝑆</m:t>
                    </m:r>
                    <m:r>
                      <a:rPr lang="en-US" sz="20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2000" b="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342900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𝑃𝑜𝑤𝑒𝑟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2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𝑅𝑜𝑢𝑛𝑑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b="0" i="1" dirty="0">
                    <a:solidFill>
                      <a:srgbClr val="535353"/>
                    </a:solidFill>
                    <a:latin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𝑠𝑘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←(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𝐾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𝑡𝑟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𝑈𝑠𝑒h𝑖𝑛𝑡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Sup>
                      <m:sSubSup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𝑎𝑝𝑝𝑥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bSup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),</m:t>
                    </m:r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r</m:t>
                    </m:r>
                    <m:r>
                      <a:rPr lang="en-US" sz="2000" b="0" i="0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z</m:t>
                    </m:r>
                    <m:r>
                      <a:rPr lang="en-US" sz="2000" i="1" dirty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b>
                      <m:sSubPr>
                        <m:ctrlPr>
                          <a:rPr lang="en-US" sz="200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ℤ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𝑑𝑒𝑐𝑜𝑚𝑝𝑜𝑠𝑒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==1 ⋀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&gt;0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return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</m:oMath>
                </a14:m>
                <a:endParaRPr lang="en-US" sz="20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==1⋀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r>
                      <a:rPr lang="en-US" sz="20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0</m:t>
                    </m:r>
                    <m:r>
                      <a:rPr lang="en-US" sz="20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return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e>
                    </m:d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</m:oMath>
                </a14:m>
                <a:endParaRPr lang="en-US" sz="20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endParaRPr lang="en-US" sz="20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C3C7EA54-0320-243D-DDDE-75BF74A13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304800" y="2001521"/>
                <a:ext cx="8686800" cy="2819399"/>
              </a:xfrm>
              <a:prstGeom prst="rect">
                <a:avLst/>
              </a:prstGeom>
              <a:blipFill>
                <a:blip r:embed="rId2"/>
                <a:stretch>
                  <a:fillRect l="-1608" t="-2242" b="-4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E1B6E6-E93F-5D18-4847-CA49D164B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9A4DC1-80F8-3E1B-02B1-5F2F76044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234481"/>
              </p:ext>
            </p:extLst>
          </p:nvPr>
        </p:nvGraphicFramePr>
        <p:xfrm>
          <a:off x="838200" y="5201920"/>
          <a:ext cx="6934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550">
                  <a:extLst>
                    <a:ext uri="{9D8B030D-6E8A-4147-A177-3AD203B41FA5}">
                      <a16:colId xmlns:a16="http://schemas.microsoft.com/office/drawing/2014/main" val="374101322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536040307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166037393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406781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Public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Private key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Signature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195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ML-DSA-87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4595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959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317205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1100187" y="395287"/>
            <a:ext cx="73580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Dilithium, unedited, motivation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375060" y="1371600"/>
                <a:ext cx="8191500" cy="45720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Basic scheme is Fiat-Shamir MSA-DL with aborts.  </a:t>
                </a: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Classic version with discrete log is:</a:t>
                </a:r>
              </a:p>
              <a:p>
                <a:pPr marL="7143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Prover and verifier know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𝑔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𝑦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</m:t>
                        </m:r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.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 Prover knows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Prover generates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sends commitment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𝑔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Verifier sends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.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Prover returns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𝑐𝑥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Verifier can check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𝑔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sup>
                    </m:sSup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sSup>
                      <m:sSup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𝑦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sup>
                    </m:sSup>
                    <m: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𝑔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sup>
                    </m:sSup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Non interactive version replaces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with hash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𝑔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𝑀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LWE version</a:t>
                </a: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Publish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Prover: Pick,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𝑦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commit by sending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𝑎𝑝𝑝𝑟𝑜𝑥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𝐴𝑦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𝑦</m:t>
                        </m:r>
                      </m:e>
                      <m:sub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has small coefficients.</a:t>
                </a: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Verifier: Send challenge,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Prover: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𝑦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Verifier: Check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𝐴𝑧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𝑡𝑐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≈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𝑎𝑝𝑝𝑟𝑜𝑥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375060" y="1371600"/>
                <a:ext cx="8191500" cy="4572000"/>
              </a:xfrm>
              <a:prstGeom prst="rect">
                <a:avLst/>
              </a:prstGeom>
              <a:blipFill>
                <a:blip r:embed="rId2"/>
                <a:stretch>
                  <a:fillRect l="-1548" t="-1939" b="-55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9A52550-3846-09CF-F312-0B1A731DD5D9}"/>
              </a:ext>
            </a:extLst>
          </p:cNvPr>
          <p:cNvSpPr txBox="1"/>
          <p:nvPr/>
        </p:nvSpPr>
        <p:spPr>
          <a:xfrm>
            <a:off x="408398" y="2467725"/>
            <a:ext cx="18473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5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1424A1-D99F-E701-D142-9EF8CE37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879920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A900-FC19-F69C-1F01-6D26AAEAD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27A1BC7-C34B-AC21-97DE-435AE600E891}"/>
              </a:ext>
            </a:extLst>
          </p:cNvPr>
          <p:cNvSpPr txBox="1">
            <a:spLocks/>
          </p:cNvSpPr>
          <p:nvPr/>
        </p:nvSpPr>
        <p:spPr>
          <a:xfrm>
            <a:off x="304801" y="228600"/>
            <a:ext cx="8382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Dilithium (simplified)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E6373AA1-DD19-F8DB-C30A-02EB839800E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304801" y="1924872"/>
                <a:ext cx="8382000" cy="1275528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Remember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generated randomly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ℤ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/(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+1)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</a:t>
                </a:r>
                <a:endParaRPr lang="en-US" sz="2000" i="1" dirty="0"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a vector of dimension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with entries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𝑅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has random coefficients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𝜂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is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a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vector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of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dimension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with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entries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from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𝑅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has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random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coefficients</m:t>
                    </m:r>
                    <m:r>
                      <m:rPr>
                        <m:nor/>
                      </m:rPr>
                      <a:rPr lang="en-US" sz="2000" i="0" dirty="0"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𝜂</m:t>
                    </m:r>
                  </m:oMath>
                </a14:m>
                <a:endParaRPr lang="en-US" sz="20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endParaRPr lang="en-US" sz="135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35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35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35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304801" y="1924872"/>
                <a:ext cx="8382000" cy="1275528"/>
              </a:xfrm>
              <a:prstGeom prst="rect">
                <a:avLst/>
              </a:prstGeom>
              <a:blipFill>
                <a:blip r:embed="rId2"/>
                <a:stretch>
                  <a:fillRect l="-1667" t="-4902"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98F937-876F-93D9-8425-0CCBD173FB38}"/>
                  </a:ext>
                </a:extLst>
              </p:cNvPr>
              <p:cNvSpPr txBox="1"/>
              <p:nvPr/>
            </p:nvSpPr>
            <p:spPr>
              <a:xfrm>
                <a:off x="762000" y="3657600"/>
                <a:ext cx="3505200" cy="21336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sz="1800" dirty="0"/>
                  <a:t>Sign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≔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</a:rPr>
                        <m:t>highbits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Ay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, 2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𝑆𝐻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lvl="1"/>
                <a:r>
                  <a:rPr lang="en-US" sz="1800" dirty="0"/>
                  <a:t>return(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800" dirty="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98F937-876F-93D9-8425-0CCBD173F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657600"/>
                <a:ext cx="3505200" cy="2133600"/>
              </a:xfrm>
              <a:prstGeom prst="rect">
                <a:avLst/>
              </a:prstGeom>
              <a:blipFill>
                <a:blip r:embed="rId3"/>
                <a:stretch>
                  <a:fillRect l="-1449" t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086205-13D7-0E23-9C44-FE812F6FA92A}"/>
                  </a:ext>
                </a:extLst>
              </p:cNvPr>
              <p:cNvSpPr txBox="1"/>
              <p:nvPr/>
            </p:nvSpPr>
            <p:spPr>
              <a:xfrm>
                <a:off x="4437739" y="3657600"/>
                <a:ext cx="3868061" cy="202959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sz="1800" dirty="0"/>
                  <a:t>Verify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≔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</a:rPr>
                        <m:t>highbits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Az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ct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, 2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′≔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𝑆𝐻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en-US" sz="1800" dirty="0"/>
              </a:p>
              <a:p>
                <a:pPr lvl="1"/>
                <a:r>
                  <a:rPr lang="en-US" sz="1800" dirty="0"/>
                  <a:t>Check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==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7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086205-13D7-0E23-9C44-FE812F6FA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739" y="3657600"/>
                <a:ext cx="3868061" cy="2029599"/>
              </a:xfrm>
              <a:prstGeom prst="rect">
                <a:avLst/>
              </a:prstGeom>
              <a:blipFill>
                <a:blip r:embed="rId4"/>
                <a:stretch>
                  <a:fillRect l="-1307" t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6555DE-DB60-D70E-8D6B-7113CA7F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42505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914400" y="471487"/>
            <a:ext cx="67103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Dilithium (less simplified)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408398" y="1736410"/>
                <a:ext cx="8507002" cy="428339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sz="2400" b="1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Parameters: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=8380417,  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=5, 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=4,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16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𝜂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=5,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=275</m:t>
                    </m:r>
                  </m:oMath>
                </a14:m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sz="2000" dirty="0">
                    <a:cs typeface="Calibri" panose="020F0502020204030204" pitchFamily="34" charset="0"/>
                    <a:sym typeface="Arial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𝑝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[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256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den>
                    </m:f>
                  </m:oMath>
                </a14:m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KeyGen</a:t>
                </a: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bSup>
                      <m:sSub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×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selected from random distribution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𝜂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𝜂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selected at random,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𝜂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consists of elements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𝑝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with coefficients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𝜂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Public key is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Private key is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sz="2000" dirty="0">
                    <a:solidFill>
                      <a:schemeClr val="tx1"/>
                    </a:solidFill>
                    <a:cs typeface="Calibri" panose="020F0502020204030204" pitchFamily="34" charset="0"/>
                    <a:sym typeface="Arial"/>
                  </a:rPr>
                  <a:t>For the sake of compression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generated from a seed and SHAKE-256</a:t>
                </a: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408398" y="1736410"/>
                <a:ext cx="8507002" cy="4283390"/>
              </a:xfrm>
              <a:prstGeom prst="rect">
                <a:avLst/>
              </a:prstGeom>
              <a:blipFill>
                <a:blip r:embed="rId2"/>
                <a:stretch>
                  <a:fillRect l="-2235" t="-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676306D-808E-224E-C9CE-F65672DAC6CB}"/>
              </a:ext>
            </a:extLst>
          </p:cNvPr>
          <p:cNvSpPr txBox="1"/>
          <p:nvPr/>
        </p:nvSpPr>
        <p:spPr>
          <a:xfrm>
            <a:off x="4229100" y="3095954"/>
            <a:ext cx="65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sz="75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EF44F-D5DB-54CF-CFD0-BF242D8E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119090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1295400" y="457200"/>
            <a:ext cx="64055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Dilithium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408398" y="1648771"/>
                <a:ext cx="8237483" cy="4752029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Sign(pk, 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sk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M) --- simplified</a:t>
                </a: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=⊥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while 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=⊥) {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𝑦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</m:t>
                        </m:r>
                      </m:sup>
                    </m:s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−1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h𝑖𝑔h𝑏𝑖𝑡𝑠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𝐴𝑦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2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𝑆𝐻𝐴𝐾𝐸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−256(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𝑀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𝑦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  if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𝑧</m:t>
                            </m:r>
                          </m:e>
                        </m:d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≥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 OR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𝑙𝑜𝑤𝑏𝑖𝑡𝑠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𝐴𝑦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2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≥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=⊥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}</a:t>
                </a:r>
              </a:p>
              <a:p>
                <a:pPr lvl="1" indent="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Signature is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</a:t>
                </a:r>
              </a:p>
              <a:p>
                <a:pPr lvl="1" indent="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Real Dilithium uses a number of functions to generate A from a seed.  It also has a hedged version and a deterministic version.  The hedged version avoids some possible side channels.</a:t>
                </a:r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endParaRPr lang="en-US" sz="135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408398" y="1648771"/>
                <a:ext cx="8237483" cy="4752029"/>
              </a:xfrm>
              <a:prstGeom prst="rect">
                <a:avLst/>
              </a:prstGeom>
              <a:blipFill>
                <a:blip r:embed="rId2"/>
                <a:stretch>
                  <a:fillRect l="-1541" t="-1596" r="-2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9A52550-3846-09CF-F312-0B1A731DD5D9}"/>
              </a:ext>
            </a:extLst>
          </p:cNvPr>
          <p:cNvSpPr txBox="1"/>
          <p:nvPr/>
        </p:nvSpPr>
        <p:spPr>
          <a:xfrm>
            <a:off x="408398" y="2467725"/>
            <a:ext cx="18473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5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D103F0-2CBB-9845-D6DB-C38C31C5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67615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1130332" y="547687"/>
            <a:ext cx="64055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Dilithium</a:t>
            </a:r>
            <a:endParaRPr lang="en-US" sz="27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244878" y="2437577"/>
                <a:ext cx="8923283" cy="1614765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Verify(pk, </a:t>
                </a:r>
                <a:r>
                  <a:rPr lang="en-US" sz="2400" dirty="0" err="1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M,z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c) --- simplified</a:t>
                </a: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b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h𝑖𝑔h𝑏𝑖𝑡𝑠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𝐴𝑧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𝑐𝑡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2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Return true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𝑧</m:t>
                            </m:r>
                          </m:e>
                        </m:d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𝑆𝐻𝐴𝐾𝐸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−256(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𝑀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sSubSup>
                      <m:sSub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b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otherwise return false</a:t>
                </a: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244878" y="2437577"/>
                <a:ext cx="8923283" cy="1614765"/>
              </a:xfrm>
              <a:prstGeom prst="rect">
                <a:avLst/>
              </a:prstGeom>
              <a:blipFill>
                <a:blip r:embed="rId2"/>
                <a:stretch>
                  <a:fillRect l="-1707" t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9A52550-3846-09CF-F312-0B1A731DD5D9}"/>
              </a:ext>
            </a:extLst>
          </p:cNvPr>
          <p:cNvSpPr txBox="1"/>
          <p:nvPr/>
        </p:nvSpPr>
        <p:spPr>
          <a:xfrm>
            <a:off x="408398" y="2467725"/>
            <a:ext cx="18473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5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1424A1-D99F-E701-D142-9EF8CE37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11833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463908" y="121808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Useful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647700" y="1752600"/>
                <a:ext cx="7848600" cy="440369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u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𝑠𝑒h𝑖𝑛𝑡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h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</m:d>
                  </m:oMath>
                </a14:m>
                <a:endParaRPr lang="en-US" sz="2000" b="0" dirty="0">
                  <a:solidFill>
                    <a:schemeClr val="tx1"/>
                  </a:solidFill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sz="2000" b="0" dirty="0">
                  <a:solidFill>
                    <a:schemeClr val="tx1"/>
                  </a:solidFill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𝑑𝑒𝑐𝑜𝑚𝑝𝑜𝑠𝑒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,2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e>
                    </m:d>
                  </m:oMath>
                </a14:m>
                <a:endParaRPr lang="en-US" sz="2000" b="0" dirty="0">
                  <a:solidFill>
                    <a:schemeClr val="tx1"/>
                  </a:solidFill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==1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and</a:t>
                </a: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&gt;0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then return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==1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0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then return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</m:e>
                    </m:d>
                  </m:oMath>
                </a14:m>
                <a:endParaRPr lang="en-US" sz="2000" b="0" dirty="0">
                  <a:solidFill>
                    <a:schemeClr val="tx1"/>
                  </a:solidFill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return</a:t>
                </a: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endParaRPr lang="en-US" sz="2000" b="0" dirty="0">
                  <a:solidFill>
                    <a:schemeClr val="tx1"/>
                  </a:solidFill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𝑚𝑎𝑘𝑒h𝑖𝑛𝑡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𝑧</m:t>
                        </m:r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. // are </a:t>
                </a:r>
                <a:r>
                  <a:rPr lang="en-US" sz="2000" b="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highbits</a:t>
                </a: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different from </a:t>
                </a:r>
                <a:r>
                  <a:rPr lang="en-US" sz="2000" b="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highbits</a:t>
                </a: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h𝑖𝑔h𝑏𝑖𝑡𝑠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h𝑖𝑔h𝑏𝑖𝑡𝑠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≠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endParaRPr lang="en-US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647700" y="1752600"/>
                <a:ext cx="7848600" cy="4403690"/>
              </a:xfrm>
              <a:prstGeom prst="rect">
                <a:avLst/>
              </a:prstGeom>
              <a:blipFill>
                <a:blip r:embed="rId2"/>
                <a:stretch>
                  <a:fillRect l="-1613" t="-1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71141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469770" y="37681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Useful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685800" y="1194526"/>
                <a:ext cx="7851954" cy="53340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𝑅𝑒𝑗𝑁𝑇𝑇𝑃𝑜𝑙𝑦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</m:e>
                    </m:d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 // returns NTT polynomial</a:t>
                </a: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=0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;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=0</m:t>
                    </m:r>
                  </m:oMath>
                </a14:m>
                <a:endParaRPr lang="en-US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while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&lt;256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</a:t>
                </a:r>
              </a:p>
              <a:p>
                <a:pPr marL="1001713" lvl="2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𝑐𝑜𝑒𝑓𝑓𝐹𝑟𝑜𝑚𝑇h𝑟𝑒𝑒𝐵𝑦𝑡𝑒𝑠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128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𝐻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128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…,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𝐻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128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+2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6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01713" lvl="2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+=3</m:t>
                    </m:r>
                  </m:oMath>
                </a14:m>
                <a:endParaRPr lang="en-US" sz="16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01713" lvl="2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If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≠</m:t>
                    </m:r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⊥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 </a:t>
                </a:r>
                <a:r>
                  <a:rPr 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then</a:t>
                </a: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++</m:t>
                    </m:r>
                  </m:oMath>
                </a14:m>
                <a:endPara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</m:acc>
                  </m:oMath>
                </a14:m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𝑅𝑒𝑗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𝐵𝑜𝑢𝑛𝑑𝑒𝑑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𝑃𝑜𝑙𝑦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=0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;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=0</m:t>
                    </m:r>
                  </m:oMath>
                </a14:m>
                <a:endParaRPr lang="en-US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while 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&lt;256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</a:t>
                </a:r>
              </a:p>
              <a:p>
                <a:pPr marL="1001713" lvl="2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d>
                  </m:oMath>
                </a14:m>
                <a:endParaRPr lang="en-US" sz="16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01713" lvl="2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𝑧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𝐶𝑜𝑒𝑓𝑓𝐹𝑟𝑜𝑚𝐻𝑎𝑙𝑓𝐵𝑦𝑡𝑒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16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𝜂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6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01713" lvl="2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𝑧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𝐶𝑜𝑒𝑓𝑓𝐹𝑟𝑜𝑚𝐻𝑎𝑙𝑓𝐵𝑦𝑡𝑒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(⇂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/16⇃,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𝜂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6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01713" lvl="2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𝑧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≠</m:t>
                    </m:r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⊥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</a:t>
                </a:r>
              </a:p>
              <a:p>
                <a:pPr marL="1400175" lvl="4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𝑧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++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</a:p>
              <a:p>
                <a:pPr marL="1001713" lvl="2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𝑧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≠</m:t>
                    </m:r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⊥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&lt;256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</a:t>
                </a:r>
              </a:p>
              <a:p>
                <a:pPr marL="1400175" lvl="4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𝑧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++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</a:p>
              <a:p>
                <a:pPr marL="1227138" lvl="3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𝒄</m:t>
                    </m:r>
                    <m:r>
                      <a:rPr lang="en-US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++</m:t>
                    </m:r>
                  </m:oMath>
                </a14:m>
                <a:endParaRPr lang="en-US" sz="1600" b="1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𝑎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800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1800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685800" y="1194526"/>
                <a:ext cx="7851954" cy="5334000"/>
              </a:xfrm>
              <a:prstGeom prst="rect">
                <a:avLst/>
              </a:prstGeom>
              <a:blipFill>
                <a:blip r:embed="rId2"/>
                <a:stretch>
                  <a:fillRect l="-1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71253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469770" y="62355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Useful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538008" y="1257378"/>
                <a:ext cx="8067984" cy="5461726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𝐸𝑥𝑝𝑎𝑛𝑑𝐴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</m:e>
                    </m:d>
                  </m:oMath>
                </a14:m>
                <a:endParaRPr lang="en-US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𝑓𝑜𝑟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=0;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&lt;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;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++</m:t>
                        </m:r>
                      </m:e>
                    </m:d>
                  </m:oMath>
                </a14:m>
                <a:endParaRPr lang="en-US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𝑓𝑜𝑟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 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=0;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&lt;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𝑙</m:t>
                      </m:r>
                    </m:oMath>
                  </m:oMathPara>
                </a14:m>
                <a:endParaRPr lang="en-US" sz="16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3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𝐴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𝑟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𝑠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𝑅𝑒𝑗𝑁𝑇𝑇𝑃𝑜𝑙𝑦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𝜌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𝐼𝑛𝑡𝑒𝑔𝑒𝑟𝑇𝑜𝐵𝑖𝑡𝑠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  <m:t>𝑠</m:t>
                                  </m:r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  <m:t>, 8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𝐼𝑁𝑡𝑒𝑔𝑒𝑟𝑇𝑜𝐵𝑖𝑡𝑠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𝑟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,8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lang="en-US" sz="16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𝑟𝑒𝑡𝑢𝑟𝑛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𝑥𝑝𝑎𝑛𝑑𝑆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𝑓𝑜𝑟</m:t>
                    </m:r>
                  </m:oMath>
                </a14:m>
                <a: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(r=0; r&lt;l; r++)</a:t>
                </a:r>
              </a:p>
              <a:p>
                <a:pPr marL="1001713" lvl="2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𝑅𝑒𝑗𝐵𝑜𝑢𝑛𝑑𝑒𝑑𝑃𝑜𝑙𝑦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𝐼𝑛𝑡𝑒𝑔𝑒𝑟𝑇𝑜𝐵𝑖𝑡𝑠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,16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6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𝑓𝑜𝑟</m:t>
                    </m:r>
                    <m:r>
                      <m:rPr>
                        <m:nor/>
                      </m:rP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(</m:t>
                    </m:r>
                    <m:r>
                      <m:rPr>
                        <m:nor/>
                      </m:rP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r</m:t>
                    </m:r>
                    <m:r>
                      <m:rPr>
                        <m:nor/>
                      </m:rP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=0; </m:t>
                    </m:r>
                    <m:r>
                      <m:rPr>
                        <m:nor/>
                      </m:rP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r</m:t>
                    </m:r>
                    <m:r>
                      <m:rPr>
                        <m:nor/>
                      </m:rP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k</m:t>
                    </m:r>
                    <m:r>
                      <m:rPr>
                        <m:nor/>
                      </m:rP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; </m:t>
                    </m:r>
                    <m:r>
                      <m:rPr>
                        <m:nor/>
                      </m:rP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r</m:t>
                    </m:r>
                    <m:r>
                      <m:rPr>
                        <m:nor/>
                      </m:rP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++)</m:t>
                    </m:r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01713" lvl="2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</m:d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𝑅𝑒𝑗𝐵𝑜𝑢𝑛𝑑𝑒𝑑𝑃𝑜𝑙𝑦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𝐼𝑛𝑡𝑒𝑔𝑒𝑟𝑇𝑜𝐵𝑖𝑡𝑠</m:t>
                    </m:r>
                    <m:d>
                      <m:d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16</m:t>
                        </m:r>
                      </m:e>
                    </m:d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6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𝑟𝑒𝑡𝑢𝑟𝑛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(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6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𝑥𝑝𝑎𝑛𝑑𝑀𝑎𝑠𝑘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𝜇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=1+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𝑏𝑖𝑡𝑙𝑒𝑛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−1)</m:t>
                    </m:r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𝑓𝑜𝑟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=0;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&lt;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;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++</m:t>
                        </m:r>
                      </m:e>
                    </m:d>
                  </m:oMath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01713" lvl="2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𝑛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𝐼𝑛𝑡𝑒𝑔𝑒𝑟𝑇𝑜𝐵𝑖𝑡𝑠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𝜇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,16)</m:t>
                    </m:r>
                  </m:oMath>
                </a14:m>
                <a:endParaRPr lang="en-US" sz="16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01713" lvl="2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𝜈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𝑛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32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𝑟𝑐</m:t>
                        </m:r>
                      </m:e>
                    </m:d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𝑛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32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𝑟𝑐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sz="16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,…,</a:t>
                </a:r>
                <a:r>
                  <a:rPr lang="en-US" sz="1600" dirty="0">
                    <a:solidFill>
                      <a:schemeClr val="tx1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𝑛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32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𝑟𝑐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+32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16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</a:t>
                </a:r>
              </a:p>
              <a:p>
                <a:pPr marL="1001713" lvl="2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𝐵𝑖𝑡𝑈𝑛𝑝𝑎𝑐𝑘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𝜐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−1,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6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return s</a:t>
                </a: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800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1800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538008" y="1257378"/>
                <a:ext cx="8067984" cy="5461726"/>
              </a:xfrm>
              <a:prstGeom prst="rect">
                <a:avLst/>
              </a:prstGeom>
              <a:blipFill>
                <a:blip r:embed="rId2"/>
                <a:stretch>
                  <a:fillRect l="-1415" t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196503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469770" y="37681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Useful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266700" y="1575526"/>
                <a:ext cx="8572500" cy="4672874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// Calculate c(x), coefficients are 1, -1 or 0</a:t>
                </a: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𝑆𝑎𝑚𝑝𝑙𝑒𝑖𝑛𝐵𝑎𝑙𝑙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𝜏</m:t>
                        </m:r>
                      </m:e>
                    </m:d>
                  </m:oMath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≔0</m:t>
                    </m:r>
                  </m:oMath>
                </a14:m>
                <a:r>
                  <a:rPr 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; k=8;</a:t>
                </a: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𝑓𝑜𝑟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=256−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𝜏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;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&lt;256;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++</m:t>
                        </m:r>
                      </m:e>
                    </m:d>
                  </m:oMath>
                </a14:m>
                <a:endParaRPr lang="en-US" sz="18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01713" lvl="2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𝑤h𝑖𝑙𝑒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[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]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&gt;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𝑖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      </a:t>
                </a:r>
                <a:r>
                  <a:rPr lang="en-US" sz="1800" b="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//</a:t>
                </a:r>
                <a:r>
                  <a:rPr lang="en-US" sz="18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[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]</m:t>
                        </m:r>
                      </m:e>
                    </m:d>
                  </m:oMath>
                </a14:m>
                <a:r>
                  <a:rPr lang="en-US" sz="18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lang="en-US" sz="1800" b="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is</a:t>
                </a:r>
                <a:r>
                  <a:rPr lang="en-US" sz="18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</m:oMath>
                </a14:m>
                <a:r>
                  <a:rPr lang="en-US" sz="1800" b="0" i="1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th</a:t>
                </a:r>
                <a:r>
                  <a:rPr lang="en-US" sz="1800" b="0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byte</a:t>
                </a:r>
              </a:p>
              <a:p>
                <a:pPr lvl="4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k++</a:t>
                </a:r>
              </a:p>
              <a:p>
                <a:pPr lvl="3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𝑗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𝐻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𝜌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3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𝑐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𝑐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3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(−1)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𝐻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𝜌</m:t>
                            </m:r>
                          </m:e>
                        </m:d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[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𝜏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−256]</m:t>
                        </m:r>
                      </m:sup>
                    </m:sSup>
                  </m:oMath>
                </a14:m>
                <a:r>
                  <a:rPr 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    //  </a:t>
                </a: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[k] is bit position k</a:t>
                </a:r>
              </a:p>
              <a:p>
                <a:pPr lvl="3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𝑘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++</m:t>
                      </m:r>
                    </m:oMath>
                  </m:oMathPara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return c</a:t>
                </a:r>
                <a:endParaRPr lang="en-US" sz="1800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SampleInBall generates an element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60 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pseudorandomly; it is based on the Fisher-Yates shuffe. The first 8 bytes of H(</a:t>
                </a:r>
                <a:r>
                  <a:rPr lang="el-GR" dirty="0">
                    <a:latin typeface="Calibri" panose="020F0502020204030204" pitchFamily="34" charset="0"/>
                    <a:cs typeface="Calibri" panose="020F0502020204030204" pitchFamily="34" charset="0"/>
                  </a:rPr>
                  <a:t>ρ)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choose the signs of the nonzero entries of c; subsequent bytes choose the positions of those nonzero entries</a:t>
                </a:r>
              </a:p>
              <a:p>
                <a:r>
                  <a:rPr lang="en-US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SHAKE256 used as an XOF.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257175" indent="-257175"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266700" y="1575526"/>
                <a:ext cx="8572500" cy="4672874"/>
              </a:xfrm>
              <a:prstGeom prst="rect">
                <a:avLst/>
              </a:prstGeom>
              <a:blipFill>
                <a:blip r:embed="rId2"/>
                <a:stretch>
                  <a:fillRect l="-1778" t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20515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463908" y="121808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NTT for Dilithium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304800" y="1600200"/>
                <a:ext cx="8191500" cy="455609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b="0" dirty="0">
                    <a:solidFill>
                      <a:srgbClr val="535353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--- outputs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=(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𝜁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d>
                      <m:d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𝜁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d>
                      <m:d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𝜁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d>
                      <m:d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𝜁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…,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d>
                      <m:d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𝜁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127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𝑓𝑜𝑟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=0;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&lt;256;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++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[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]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30288" lvl="2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=0;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=128</m:t>
                    </m:r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30288" lvl="2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𝑤h𝑖𝑙𝑒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𝑙𝑒𝑛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≥1</m:t>
                        </m:r>
                      </m:e>
                    </m:d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255713" lvl="3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=0</m:t>
                    </m:r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255713" lvl="3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while 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&lt;256)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428750" lvl="4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++</m:t>
                    </m:r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428750" lvl="4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𝑧𝑒𝑡𝑎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𝜁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𝑏𝑖𝑡𝑟𝑒𝑣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e>
                    </m:d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428750" lvl="4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for(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;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−1)</m:t>
                    </m:r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544638" lvl="5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𝑧𝑒𝑡𝑎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[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]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544638" lvl="5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𝑙𝑒𝑛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544638" lvl="5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428750" lvl="4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+=2∙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255713" lvl="3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/2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428750" lvl="4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endParaRPr lang="en-US" sz="180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304800" y="1600200"/>
                <a:ext cx="8191500" cy="4556090"/>
              </a:xfrm>
              <a:prstGeom prst="rect">
                <a:avLst/>
              </a:prstGeom>
              <a:blipFill>
                <a:blip r:embed="rId2"/>
                <a:stretch>
                  <a:fillRect l="-1548" t="-1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42096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463908" y="121808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NTT for Dilithium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270477" y="1524000"/>
                <a:ext cx="8375292" cy="4877637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𝑁𝑇𝑇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p>
                    </m:sSup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b="0" dirty="0">
                    <a:solidFill>
                      <a:srgbClr val="535353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𝑓𝑜𝑟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=0;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&lt;256;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++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=256;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=1</m:t>
                    </m:r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𝑤h𝑖𝑙𝑒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𝑙𝑒𝑛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&lt;256</m:t>
                        </m:r>
                      </m:e>
                    </m:d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30288" lvl="2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=0</m:t>
                    </m:r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30288" lvl="2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while 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&lt;256)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255713" lvl="3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−−</m:t>
                    </m:r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255713" lvl="3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𝑧𝑒𝑡𝑎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𝜁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𝑏𝑖𝑡𝑟𝑒𝑣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e>
                    </m:d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255713" lvl="3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for(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;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−1)</m:t>
                    </m:r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428750" lvl="4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428750" lvl="4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𝑙𝑒𝑛</m:t>
                        </m:r>
                      </m:e>
                    </m:d>
                  </m:oMath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428750" lvl="4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𝑙𝑒𝑛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𝑙𝑒𝑛</m:t>
                        </m:r>
                      </m:e>
                    </m:d>
                  </m:oMath>
                </a14:m>
                <a:endParaRPr lang="en-US" sz="18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428750" lvl="4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𝑙𝑒𝑛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𝑧𝑒𝑡𝑎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𝑙𝑒𝑛</m:t>
                        </m:r>
                      </m:e>
                    </m:d>
                  </m:oMath>
                </a14:m>
                <a:endParaRPr lang="en-US" sz="18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428750" lvl="4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+=2∙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30288" lvl="2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/2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=8347861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𝑓𝑜𝑟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=0;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&lt;256;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++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[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]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30288" lvl="2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428750" lvl="4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endParaRPr lang="en-US" sz="180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270477" y="1524000"/>
                <a:ext cx="8375292" cy="4877637"/>
              </a:xfrm>
              <a:prstGeom prst="rect">
                <a:avLst/>
              </a:prstGeom>
              <a:blipFill>
                <a:blip r:embed="rId2"/>
                <a:stretch>
                  <a:fillRect l="-1364" t="-1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67951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1100187" y="395287"/>
            <a:ext cx="73580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Dilithium, unedited, motivation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152400" y="1704644"/>
                <a:ext cx="8809480" cy="4543756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Preliminary lattice version is p</a:t>
                </a:r>
                <a:r>
                  <a:rPr lang="en-US" sz="1800" b="0" dirty="0">
                    <a:solidFill>
                      <a:schemeClr val="tx1"/>
                    </a:solidFill>
                    <a:cs typeface="Calibri" panose="020F0502020204030204" pitchFamily="34" charset="0"/>
                    <a:sym typeface="Arial"/>
                  </a:rPr>
                  <a:t>rover generates: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×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𝑛</m:t>
                        </m:r>
                      </m:sup>
                    </m:sSup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𝑛</m:t>
                        </m:r>
                      </m:sup>
                    </m:s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with short coefficients and computes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 Public key is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 Private key is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914400" lvl="1" indent="-4572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Prover generates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𝑦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 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with “small coefficients”.  Sends commitment as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𝐴𝑦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914400" lvl="1" indent="-4572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Verifiers sends challenge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𝑞</m:t>
                            </m:r>
                          </m:sub>
                        </m:sSub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with small coefficients</a:t>
                </a:r>
              </a:p>
              <a:p>
                <a:pPr marL="914400" lvl="1" indent="-4572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Prover returns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𝑦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914400" lvl="1" indent="-4572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Verifier checks coefficients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are small and that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𝐴𝑧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𝑡𝑐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≈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𝐴𝑦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To avoid having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leak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signer applies rejection sampling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342900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Dilithium</a:t>
                </a: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Uses elements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𝑞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256</m:t>
                            </m:r>
                          </m:sup>
                        </m:s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 rather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.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Uses a seed,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to generate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</m:oMath>
                </a14:m>
                <a:r>
                  <a:rPr lang="en-US" sz="1800" b="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</a:t>
                </a: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compresses t by dropping low order bits.</a:t>
                </a: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Signs a message representative,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𝜇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which is a hash of the public key and the message</a:t>
                </a: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Uses a rounded version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𝐴𝑦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Provides a hint,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to help reconstruct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152400" y="1704644"/>
                <a:ext cx="8809480" cy="4543756"/>
              </a:xfrm>
              <a:prstGeom prst="rect">
                <a:avLst/>
              </a:prstGeom>
              <a:blipFill>
                <a:blip r:embed="rId2"/>
                <a:stretch>
                  <a:fillRect l="-1585" t="-1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9A52550-3846-09CF-F312-0B1A731DD5D9}"/>
              </a:ext>
            </a:extLst>
          </p:cNvPr>
          <p:cNvSpPr txBox="1"/>
          <p:nvPr/>
        </p:nvSpPr>
        <p:spPr>
          <a:xfrm>
            <a:off x="408398" y="2467725"/>
            <a:ext cx="18473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5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1424A1-D99F-E701-D142-9EF8CE37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73414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228600" y="457200"/>
            <a:ext cx="84581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34275" rIns="342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Dilithium parameters for security category 5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A52550-3846-09CF-F312-0B1A731DD5D9}"/>
              </a:ext>
            </a:extLst>
          </p:cNvPr>
          <p:cNvSpPr txBox="1"/>
          <p:nvPr/>
        </p:nvSpPr>
        <p:spPr>
          <a:xfrm>
            <a:off x="408398" y="2467725"/>
            <a:ext cx="18473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5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1424A1-D99F-E701-D142-9EF8CE37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AC05939-6EF7-42DD-900B-39154EDBEC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4668803"/>
                  </p:ext>
                </p:extLst>
              </p:nvPr>
            </p:nvGraphicFramePr>
            <p:xfrm>
              <a:off x="1447800" y="2087880"/>
              <a:ext cx="5791200" cy="3931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5410">
                      <a:extLst>
                        <a:ext uri="{9D8B030D-6E8A-4147-A177-3AD203B41FA5}">
                          <a16:colId xmlns:a16="http://schemas.microsoft.com/office/drawing/2014/main" val="3237506163"/>
                        </a:ext>
                      </a:extLst>
                    </a:gridCol>
                    <a:gridCol w="2485390">
                      <a:extLst>
                        <a:ext uri="{9D8B030D-6E8A-4147-A177-3AD203B41FA5}">
                          <a16:colId xmlns:a16="http://schemas.microsoft.com/office/drawing/2014/main" val="761248529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10320522"/>
                        </a:ext>
                      </a:extLst>
                    </a:gridCol>
                  </a:tblGrid>
                  <a:tr h="314573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0185716"/>
                      </a:ext>
                    </a:extLst>
                  </a:tr>
                  <a:tr h="31457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modulus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8380417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9033897"/>
                      </a:ext>
                    </a:extLst>
                  </a:tr>
                  <a:tr h="31457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# dropped bits from 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9684294"/>
                      </a:ext>
                    </a:extLst>
                  </a:tr>
                  <a:tr h="31457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#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600" dirty="0"/>
                            <a:t>s in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60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185891"/>
                      </a:ext>
                    </a:extLst>
                  </a:tr>
                  <a:tr h="31457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Collision strength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256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4722119"/>
                      </a:ext>
                    </a:extLst>
                  </a:tr>
                  <a:tr h="31457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Coefficient range of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5651758"/>
                      </a:ext>
                    </a:extLst>
                  </a:tr>
                  <a:tr h="511871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Low order rounding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8003510"/>
                      </a:ext>
                    </a:extLst>
                  </a:tr>
                  <a:tr h="31457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Dimensions of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(8,7)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336112"/>
                      </a:ext>
                    </a:extLst>
                  </a:tr>
                  <a:tr h="31457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𝜂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Private key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438299"/>
                      </a:ext>
                    </a:extLst>
                  </a:tr>
                  <a:tr h="314573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𝜂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120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1012360"/>
                      </a:ext>
                    </a:extLst>
                  </a:tr>
                  <a:tr h="31457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Max # of 1’s in hint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75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15750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AC05939-6EF7-42DD-900B-39154EDBEC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4668803"/>
                  </p:ext>
                </p:extLst>
              </p:nvPr>
            </p:nvGraphicFramePr>
            <p:xfrm>
              <a:off x="1447800" y="2087880"/>
              <a:ext cx="5791200" cy="3931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5410">
                      <a:extLst>
                        <a:ext uri="{9D8B030D-6E8A-4147-A177-3AD203B41FA5}">
                          <a16:colId xmlns:a16="http://schemas.microsoft.com/office/drawing/2014/main" val="3237506163"/>
                        </a:ext>
                      </a:extLst>
                    </a:gridCol>
                    <a:gridCol w="2485390">
                      <a:extLst>
                        <a:ext uri="{9D8B030D-6E8A-4147-A177-3AD203B41FA5}">
                          <a16:colId xmlns:a16="http://schemas.microsoft.com/office/drawing/2014/main" val="761248529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10320522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018571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26" t="-100000" r="-325000" b="-97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modulus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8380417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903389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26" t="-207692" r="-325000" b="-9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# dropped bits from 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13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968429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26" t="-296296" r="-325000" b="-78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612" t="-296296" r="-79082" b="-78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60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18589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26" t="-411538" r="-325000" b="-7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Collision strength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256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472211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26" t="-492593" r="-325000" b="-5851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612" t="-492593" r="-79082" b="-5851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658" t="-492593" r="-1974" b="-5851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5651758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26" t="-355556" r="-325000" b="-25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Low order rounding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658" t="-355556" r="-1974" b="-25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800351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26" t="-759259" r="-325000" b="-3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612" t="-759259" r="-79082" b="-3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658" t="-759259" r="-1974" b="-3185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33611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26" t="-892308" r="-325000" b="-2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Private key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43829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26" t="-955556" r="-325000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120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101236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26" t="-1096154" r="-325000" b="-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Max # of 1’s in hint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75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157503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7057372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1100187" y="395287"/>
            <a:ext cx="73580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Dilithium, Keygen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470899" y="1896527"/>
                <a:ext cx="8202202" cy="45720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Keygen</a:t>
                </a: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𝜉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≔ 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(random)</a:t>
                </a: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𝜌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′</m:t>
                            </m:r>
                          </m:sup>
                        </m:s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𝜉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1024</m:t>
                        </m:r>
                      </m:e>
                    </m:d>
                  </m:oMath>
                </a14:m>
                <a:r>
                  <a:rPr lang="en-US" sz="18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 (256, 512, 256) bits respectively</a:t>
                </a: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</m:e>
                    </m:acc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𝐸𝑥𝑝𝑎𝑛𝑑𝐴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𝐸𝑥𝑝𝑎𝑛𝑑𝑆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𝜌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≔ 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𝑁𝑇𝑇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𝐴</m:t>
                            </m:r>
                          </m:e>
                        </m:acc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 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𝑁𝑇𝑇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𝑃𝑜𝑤𝑒𝑟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2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𝑅𝑜𝑢𝑛𝑑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𝑡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</m:d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𝑝𝑘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≔ 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𝑝𝑘𝐸𝑛𝑐𝑜𝑑𝑒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𝑡𝑟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≔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𝐵𝑦𝑡𝑒𝑠𝑇𝑜𝐵𝑖𝑡𝑠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𝑝𝑘</m:t>
                            </m:r>
                          </m:e>
                        </m:d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512</m:t>
                        </m:r>
                      </m:e>
                    </m:d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𝑠𝑘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≔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𝑠𝑘𝐸𝑛𝑐𝑜𝑑𝑒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𝑡𝑟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𝑝𝑘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𝑠𝑘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470899" y="1896527"/>
                <a:ext cx="8202202" cy="4572000"/>
              </a:xfrm>
              <a:prstGeom prst="rect">
                <a:avLst/>
              </a:prstGeom>
              <a:blipFill>
                <a:blip r:embed="rId2"/>
                <a:stretch>
                  <a:fillRect l="-1543" t="-1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9A52550-3846-09CF-F312-0B1A731DD5D9}"/>
              </a:ext>
            </a:extLst>
          </p:cNvPr>
          <p:cNvSpPr txBox="1"/>
          <p:nvPr/>
        </p:nvSpPr>
        <p:spPr>
          <a:xfrm>
            <a:off x="408398" y="2467725"/>
            <a:ext cx="18473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5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1424A1-D99F-E701-D142-9EF8CE37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28085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1100187" y="319087"/>
            <a:ext cx="73580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Dilithium, Sign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392488" y="1203142"/>
                <a:ext cx="8191500" cy="5273858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𝑡𝑟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𝑠𝑘𝑑𝑒𝑐𝑜𝑑𝑒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𝑠𝑘</m:t>
                        </m:r>
                      </m:e>
                    </m:d>
                  </m:oMath>
                </a14:m>
                <a:endParaRPr lang="en-US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𝐸𝑥𝑝𝑎𝑛𝑑𝐴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𝜇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≔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𝑡𝑟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𝑀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512)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𝑟𝑛𝑑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≔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𝑟𝑛𝑑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𝜇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512</m:t>
                        </m:r>
                      </m:e>
                    </m:d>
                  </m:oMath>
                </a14:m>
                <a:endParaRPr lang="en-US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𝜅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=0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while(1) {</a:t>
                </a:r>
              </a:p>
              <a:p>
                <a:pPr marL="1087438" lvl="2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𝐸𝑥𝑝𝑎𝑛𝑑𝑀𝑎𝑠𝑘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l-G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𝜅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6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87438" lvl="2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≔ 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𝑁𝑇𝑇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𝐴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 </m:t>
                            </m:r>
                          </m:e>
                        </m:acc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𝑁𝑇𝑇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6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≔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h𝑖𝑔h𝑏𝑖𝑡𝑠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2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6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87438" lvl="2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lphaLcPeriod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acc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≔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𝜇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1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𝐸𝑛𝑐𝑜𝑑𝑒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2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𝜆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6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87438" lvl="2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acc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𝑐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𝑐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first 256 and last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256−2</m:t>
                    </m:r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𝜆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bits</a:t>
                </a:r>
              </a:p>
              <a:p>
                <a:pPr marL="1087438" lvl="2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≔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𝑆𝑎𝑚𝑝𝑙𝑒𝐵𝑎𝑙𝑙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acc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</a:p>
              <a:p>
                <a:pPr marL="1087438" lvl="2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 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𝑁𝑇𝑇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p>
                    </m:sSup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acc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 </m:t>
                    </m:r>
                    <m:sSup>
                      <m:sSup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𝑁𝑇𝑇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p>
                    </m:sSup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acc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 </m:t>
                            </m:r>
                          </m:e>
                        </m:acc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;</a:t>
                </a:r>
              </a:p>
              <a:p>
                <a:pPr marL="1087438" lvl="2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≔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𝑦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endPara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87438" lvl="2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lpha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𝑙𝑜𝑤𝑏𝑖𝑡𝑠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</a:t>
                </a:r>
              </a:p>
              <a:p>
                <a:pPr marL="1087438" lvl="2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lphaLcPeriod"/>
                </a:pP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𝑧</m:t>
                            </m:r>
                          </m:e>
                        </m:d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</m:e>
                      <m:sub>
                        <m: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≥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≥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then </a:t>
                </a:r>
                <a:r>
                  <a:rPr 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continue</a:t>
                </a:r>
              </a:p>
              <a:p>
                <a:pPr marL="1087438" lvl="2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 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𝑁𝑇𝑇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p>
                    </m:sSup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acc>
                    <m:sSub>
                      <m:sSub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𝑚𝑎𝑘𝑒h𝑖𝑛𝑡</m:t>
                    </m:r>
                    <m:d>
                      <m:d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87438" lvl="2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lphaLcPeriod"/>
                </a:pP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𝑐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  <a:sym typeface="Arial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  <a:sym typeface="Arial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and # 1’s in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𝜔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then </a:t>
                </a:r>
                <a:r>
                  <a:rPr lang="en-US" sz="16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break</a:t>
                </a:r>
              </a:p>
              <a:p>
                <a:pPr marL="1087438" lvl="2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𝜅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+=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}</a:t>
                </a: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 startAt="9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𝑠𝑖𝑔𝐸𝑛𝑐𝑜𝑑𝑒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𝑚𝑜𝑑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±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e>
                    </m:d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392488" y="1203142"/>
                <a:ext cx="8191500" cy="5273858"/>
              </a:xfrm>
              <a:prstGeom prst="rect">
                <a:avLst/>
              </a:prstGeom>
              <a:blipFill>
                <a:blip r:embed="rId2"/>
                <a:stretch>
                  <a:fillRect l="-1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9A52550-3846-09CF-F312-0B1A731DD5D9}"/>
              </a:ext>
            </a:extLst>
          </p:cNvPr>
          <p:cNvSpPr txBox="1"/>
          <p:nvPr/>
        </p:nvSpPr>
        <p:spPr>
          <a:xfrm>
            <a:off x="408398" y="2467725"/>
            <a:ext cx="18473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5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1424A1-D99F-E701-D142-9EF8CE37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88654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1100187" y="471487"/>
            <a:ext cx="73580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Dilithium, Verify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408398" y="1828800"/>
                <a:ext cx="8354602" cy="42672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Verify</a:t>
                </a: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𝑝𝑘𝑑𝑒𝑐𝑜𝑑𝑒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𝑝𝑘</m:t>
                        </m:r>
                      </m:e>
                    </m:d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acc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 ≔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𝑠𝑖𝑔𝑑𝑒𝑐𝑜𝑑𝑒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𝜎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</m:e>
                    </m:acc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𝐸𝑥𝑝𝑎𝑛𝑑𝐴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𝑡𝑟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≔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𝐵𝑦𝑡𝑒𝑠𝑡𝑜𝐵𝑖𝑡𝑠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𝑝𝑘</m:t>
                            </m:r>
                          </m:e>
                        </m:d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512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𝜇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≔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𝑡𝑟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𝑀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512)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𝑐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𝑐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first 256 and last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256−2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𝜆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bits</a:t>
                </a: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≔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𝑆𝑎𝑚𝑝𝑙𝑒𝐵𝑎𝑙𝑙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𝑎𝑝𝑝𝑥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bSup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≔ 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𝑁𝑇𝑇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</m:e>
                    </m:acc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𝑧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</m:sup>
                        </m:sSup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bSup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≔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𝑢𝑠𝑒h𝑖𝑛𝑡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Sup>
                      <m:sSub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𝑎𝑝𝑝𝑥</m:t>
                        </m:r>
                      </m:sub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)   //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𝑎𝑝𝑝𝑟𝑜𝑥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𝐴𝑧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acc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′ ≔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𝜇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1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𝐸𝑛𝑐𝑜𝑑𝑒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Sup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′</m:t>
                            </m:r>
                          </m:sup>
                        </m:sSub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2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𝜆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𝑧</m:t>
                            </m:r>
                          </m:e>
                        </m:d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</m:t>
                    </m:r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𝛾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𝛽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acc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==</m:t>
                    </m:r>
                    <m:acc>
                      <m:accPr>
                        <m:chr m:val="̃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acc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′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and # 1’s 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≤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𝜔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408398" y="1828800"/>
                <a:ext cx="8354602" cy="4267200"/>
              </a:xfrm>
              <a:prstGeom prst="rect">
                <a:avLst/>
              </a:prstGeom>
              <a:blipFill>
                <a:blip r:embed="rId2"/>
                <a:stretch>
                  <a:fillRect l="-1973" t="-2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9A52550-3846-09CF-F312-0B1A731DD5D9}"/>
              </a:ext>
            </a:extLst>
          </p:cNvPr>
          <p:cNvSpPr txBox="1"/>
          <p:nvPr/>
        </p:nvSpPr>
        <p:spPr>
          <a:xfrm>
            <a:off x="408398" y="2467725"/>
            <a:ext cx="18473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5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1424A1-D99F-E701-D142-9EF8CE37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91300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305637" y="138555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Kyber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305637" y="1752600"/>
                <a:ext cx="8457363" cy="44196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Kyber is a key encapsulation algorithm that uses a public key encryption algorithm similar to Dilithium in conjunction with an encapsulation </a:t>
                </a:r>
                <a:r>
                  <a:rPr lang="en-US" sz="20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mechanism (Fujisaki-Okamoto transform) which converts a conditionally secure encryption into a CCA safe encapsulation.  Here are some definitions.</a:t>
                </a:r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𝑃𝑅𝐹</m:t>
                        </m:r>
                      </m:e>
                      <m:sub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𝑠h𝑎𝑘𝑒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256(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𝑏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64∙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𝜂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𝑋𝑂𝐹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𝑠h𝑎𝑘𝑒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128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𝑠h𝑎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3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𝐽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𝑠h𝑎𝑘𝑒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32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𝐺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𝑠h𝑎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3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512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𝑁𝑇𝑇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are different for Kyber and Dilithium</a:t>
                </a:r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Fujisaki-Okamoto transform:</a:t>
                </a: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ℰ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𝑝𝑘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h𝑦</m:t>
                        </m:r>
                      </m:sup>
                    </m:sSubSup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ℰ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𝑝𝑘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𝑎𝑠𝑦𝑚</m:t>
                        </m:r>
                      </m:sup>
                    </m:sSubSup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𝜎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𝐻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𝜎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ℰ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𝐺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𝜎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𝑠𝑦𝑚</m:t>
                        </m:r>
                      </m:sup>
                    </m:sSubSup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𝜎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is random string,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𝐺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are hash functions,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ℰ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𝐺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𝜎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</m:sub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𝑠𝑦𝑚</m:t>
                        </m:r>
                      </m:sup>
                    </m:sSubSup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is symmetric encryption with key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𝐺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𝜎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ℰ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𝑝𝑘</m:t>
                        </m:r>
                      </m:sub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𝑎𝑠𝑦𝑚</m:t>
                        </m:r>
                      </m:sup>
                    </m:sSubSup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is original asymmetric encryption algorithm.</a:t>
                </a:r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</a:p>
              <a:p>
                <a:pPr marL="714375" lvl="1" indent="-257175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endParaRPr lang="en-US" sz="1800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305637" y="1752600"/>
                <a:ext cx="8457363" cy="4419600"/>
              </a:xfrm>
              <a:prstGeom prst="rect">
                <a:avLst/>
              </a:prstGeom>
              <a:blipFill>
                <a:blip r:embed="rId2"/>
                <a:stretch>
                  <a:fillRect l="-1649" t="-1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40768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469770" y="138555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Useful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545970" y="1524000"/>
                <a:ext cx="7988430" cy="46482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Parse: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ℬ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→</m:t>
                    </m:r>
                    <m:sSubSup>
                      <m:sSub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𝑛</m:t>
                        </m:r>
                      </m:sup>
                    </m:sSubSup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Input: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𝐵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…∈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ℬ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Output: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bSup>
                      <m:sSub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𝑛</m:t>
                        </m:r>
                      </m:sup>
                    </m:sSub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𝑖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=0;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𝑗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=0;</m:t>
                      </m:r>
                    </m:oMath>
                  </m:oMathPara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sz="18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while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𝑖</m:t>
                    </m:r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𝑑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 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+256∙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&lt;19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3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𝑑</m:t>
                      </m:r>
                    </m:oMath>
                  </m:oMathPara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3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𝑗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++</m:t>
                      </m:r>
                    </m:oMath>
                  </m:oMathPara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𝑖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+=2</m:t>
                      </m:r>
                    </m:oMath>
                  </m:oMathPara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…+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𝑛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𝑛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p>
                    </m:sSup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00100" lvl="1" indent="-34290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endParaRPr lang="en-US" sz="1800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545970" y="1524000"/>
                <a:ext cx="7988430" cy="4648200"/>
              </a:xfrm>
              <a:prstGeom prst="rect">
                <a:avLst/>
              </a:prstGeom>
              <a:blipFill>
                <a:blip r:embed="rId2"/>
                <a:stretch>
                  <a:fillRect l="-1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0441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392AE-56EC-42EE-8939-4F15A4865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B0E2ACE-0143-191A-A3E8-D068AAA05022}"/>
              </a:ext>
            </a:extLst>
          </p:cNvPr>
          <p:cNvSpPr txBox="1">
            <a:spLocks/>
          </p:cNvSpPr>
          <p:nvPr/>
        </p:nvSpPr>
        <p:spPr>
          <a:xfrm>
            <a:off x="469770" y="62355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Useful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AB03D645-AFEB-FD19-5720-EA53595F3D80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342900" y="1524000"/>
                <a:ext cx="8496300" cy="46482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𝑆𝑎𝑚𝑝𝑙𝑒𝑃𝑜𝑙𝑦𝐶𝐵𝐷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--- samples from (Central Binomial)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Output: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p>
                    </m:sSubSup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𝑏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 ≔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𝐵𝑦𝑡𝑒𝑇𝑜𝐵𝑖𝑡𝑠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𝑓𝑜𝑟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=0;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&lt;256;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++</m:t>
                          </m:r>
                        </m:e>
                      </m:d>
                    </m:oMath>
                  </m:oMathPara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p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[2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sz="18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y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</m:t>
                        </m:r>
                      </m:sub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p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[2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]</m:t>
                        </m:r>
                      </m:e>
                    </m:nary>
                  </m:oMath>
                </a14:m>
                <a:endParaRPr lang="en-US" sz="18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574675" lvl="2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≔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𝑥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−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𝑦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 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𝑚𝑜𝑑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𝑞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</m:oMath>
                </a14:m>
                <a:endParaRPr lang="en-US" sz="18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𝑆𝑎𝑚𝑝𝑙𝑒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𝜂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…,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𝜂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{0,1}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</m:sup>
                    </m:sSup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output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</m:sup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</m:e>
                    </m:nary>
                  </m:oMath>
                </a14:m>
                <a:endParaRPr lang="en-US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For central binomial distribution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=10000,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den>
                    </m:f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m:rPr>
                        <m:sty m:val="p"/>
                      </m:rPr>
                      <a:rPr lang="el-G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σ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𝑁𝑝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(1−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</m:e>
                    </m:rad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</a:t>
                </a:r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4900≤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≤5100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=4900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5100</m:t>
                        </m:r>
                      </m:sup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  <m:t>𝑁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  <m:t>𝑗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 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𝑝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𝑗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(1−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𝑝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𝑁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𝑗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≈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Φ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5100−5000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50</m:t>
                            </m:r>
                          </m:den>
                        </m:f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m:rPr>
                        <m:sty m:val="p"/>
                      </m:rPr>
                      <a:rPr lang="el-GR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Φ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5100−5000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50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</a:t>
                </a: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Φ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is CDF for normal distribution</a:t>
                </a:r>
              </a:p>
              <a:p>
                <a:pPr lvl="2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1800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AB03D645-AFEB-FD19-5720-EA53595F3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342900" y="1524000"/>
                <a:ext cx="8496300" cy="4648200"/>
              </a:xfrm>
              <a:prstGeom prst="rect">
                <a:avLst/>
              </a:prstGeom>
              <a:blipFill>
                <a:blip r:embed="rId2"/>
                <a:stretch>
                  <a:fillRect l="-1343" r="-1493" b="-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A27E92-D20D-C7F2-7454-5A76AC290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50153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489029" y="138555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Useful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489030" y="1615440"/>
                <a:ext cx="7988429" cy="46482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𝑒𝑛𝑐𝑜𝑑𝑒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is an array of length 256,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1≤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≤12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01713" lvl="2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</a:t>
                </a: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or (</a:t>
                </a:r>
                <a:r>
                  <a:rPr lang="en-US" sz="2000" b="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</a:t>
                </a: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= 0; </a:t>
                </a:r>
                <a:r>
                  <a:rPr lang="en-US" sz="200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</a:t>
                </a: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&lt; 256; </a:t>
                </a:r>
                <a:r>
                  <a:rPr lang="en-US" sz="2000" b="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</a:t>
                </a: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++)</a:t>
                </a:r>
              </a:p>
              <a:p>
                <a:pPr marL="1227138" lvl="3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[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𝑖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]</a:t>
                </a:r>
              </a:p>
              <a:p>
                <a:pPr marL="1227138" lvl="3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for (j=0; j &lt; d; </a:t>
                </a:r>
                <a:r>
                  <a:rPr lang="en-US" sz="200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j++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</a:t>
                </a:r>
              </a:p>
              <a:p>
                <a:pPr marL="1400175" lvl="4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𝑏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∙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2)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400175" lvl="4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∙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𝑖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+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𝑗</m:t>
                            </m:r>
                          </m:e>
                        </m:d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den>
                    </m:f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</a:t>
                </a: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eturn bits-to-bytes(b)</a:t>
                </a:r>
              </a:p>
              <a:p>
                <a:pPr lvl="1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𝑑𝑒𝑐𝑜𝑑𝑒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is a byte array of length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32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1≤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≤12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𝑏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𝑏𝑦𝑡𝑒𝑠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𝑡𝑜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𝑏𝑖𝑡𝑠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for (</a:t>
                </a:r>
                <a:r>
                  <a:rPr lang="en-US" sz="200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=0; i &lt; 256; </a:t>
                </a:r>
                <a:r>
                  <a:rPr lang="en-US" sz="200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++)</a:t>
                </a:r>
              </a:p>
              <a:p>
                <a:pPr marL="1001713" lvl="2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𝑜𝑢𝑡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p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[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∙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]∙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𝑗</m:t>
                            </m:r>
                          </m:sup>
                        </m:sSup>
                      </m:e>
                    </m:nary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𝑜𝑢𝑡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1800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489030" y="1615440"/>
                <a:ext cx="7988429" cy="4648200"/>
              </a:xfrm>
              <a:prstGeom prst="rect">
                <a:avLst/>
              </a:prstGeom>
              <a:blipFill>
                <a:blip r:embed="rId2"/>
                <a:stretch>
                  <a:fillRect l="-1587" b="-3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12508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94102-8C0C-CDA9-0B1C-0AF3A559A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2934DC-5463-49B4-CB08-8DB85A87E3AE}"/>
              </a:ext>
            </a:extLst>
          </p:cNvPr>
          <p:cNvSpPr txBox="1">
            <a:spLocks/>
          </p:cNvSpPr>
          <p:nvPr/>
        </p:nvSpPr>
        <p:spPr>
          <a:xfrm>
            <a:off x="469770" y="138555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Useful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7AA450F3-1861-D028-9CED-99EA769E3642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577785" y="1746359"/>
                <a:ext cx="7988430" cy="39624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𝑆𝑎𝑚𝑝𝑙𝑒𝑁𝑇𝑇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()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--- samples uniformly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𝑖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 ≔0;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𝑗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 ≔0</m:t>
                      </m:r>
                    </m:oMath>
                  </m:oMathPara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𝑤h𝑖𝑙𝑒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 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𝑗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&lt;256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𝑏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+256(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𝑏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+1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𝑚𝑜𝑑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(16)</m:t>
                      </m:r>
                    </m:oMath>
                  </m:oMathPara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𝑏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+1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/16+16(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𝑏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3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++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&lt;256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3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;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++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𝑖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+=3</m:t>
                      </m:r>
                    </m:oMath>
                  </m:oMathPara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</m:acc>
                  </m:oMath>
                </a14:m>
                <a:endParaRPr lang="en-US" sz="1800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2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4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1800" b="0" dirty="0">
                  <a:solidFill>
                    <a:srgbClr val="535353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7AA450F3-1861-D028-9CED-99EA769E3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577785" y="1746359"/>
                <a:ext cx="7988430" cy="3962400"/>
              </a:xfrm>
              <a:prstGeom prst="rect">
                <a:avLst/>
              </a:prstGeom>
              <a:blipFill>
                <a:blip r:embed="rId2"/>
                <a:stretch>
                  <a:fillRect l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8CD30-6AC6-9DF7-8837-E58EF5B1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98855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545970" y="138555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Useful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538008" y="1905000"/>
                <a:ext cx="8148792" cy="41910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𝑐𝑜𝑚𝑝𝑟𝑒𝑠𝑠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</m:d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→↾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den>
                    </m:f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⇃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𝑐𝑜𝑚𝑝𝑟𝑒𝑠𝑠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</m:d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𝑦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→↾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𝑞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𝑑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∙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𝑦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⇃</m:t>
                      </m:r>
                    </m:oMath>
                  </m:oMathPara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𝑐𝑜𝑚𝑝𝑟𝑒𝑠𝑠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𝑑𝑒𝑐𝑜𝑚𝑝𝑟𝑒𝑠𝑠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𝑞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𝑑𝑒𝑐𝑜𝑚𝑝𝑟𝑒𝑠𝑠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𝑐𝑜𝑚𝑝𝑟𝑒𝑠𝑠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𝑞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𝑦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𝑦</m:t>
                        </m:r>
                      </m:e>
                    </m:d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𝑚𝑜𝑑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±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≤↾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+1</m:t>
                            </m:r>
                          </m:sup>
                        </m:sSup>
                      </m:den>
                    </m:f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⇃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538008" y="1905000"/>
                <a:ext cx="8148792" cy="4191000"/>
              </a:xfrm>
              <a:prstGeom prst="rect">
                <a:avLst/>
              </a:prstGeom>
              <a:blipFill>
                <a:blip r:embed="rId2"/>
                <a:stretch>
                  <a:fillRect l="-1558" t="-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820681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665A0-AB2A-5B63-09C9-B919DEEB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BC872446-2EBA-6A12-AB5B-6A16E36FF8F4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304800" y="1981200"/>
                <a:ext cx="8436007" cy="43434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Note</a:t>
                </a:r>
                <a:r>
                  <a:rPr lang="en-US" sz="2000" dirty="0"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+1= </m:t>
                    </m:r>
                    <m:nary>
                      <m:naryPr>
                        <m:chr m:val="∏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127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𝜁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2∙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𝑏𝑖𝑡𝑟𝑒𝑣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7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+1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.  </a:t>
                </a:r>
                <a:r>
                  <a:rPr lang="en-US" sz="20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This allows us to decompose an element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lang="en-US" sz="20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into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127 </a:t>
                </a:r>
                <a:r>
                  <a:rPr lang="en-US" sz="20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coprime quadratics and recreate it using the Chinese Remainder Theorem.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𝜁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=17.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: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↦</m:t>
                    </m:r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</m:acc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For</a:t>
                </a:r>
                <a:r>
                  <a:rPr lang="en-US" sz="2000" b="0" dirty="0">
                    <a:solidFill>
                      <a:schemeClr val="tx1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</m:oMath>
                </a14:m>
                <a:endParaRPr 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=(</m:t>
                    </m:r>
                    <m:nary>
                      <m:naryPr>
                        <m:chr m:val="∏"/>
                        <m:limLoc m:val="subSup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127</m:t>
                        </m:r>
                      </m:sup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 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𝑚𝑜𝑑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𝜁</m:t>
                                </m:r>
                              </m:e>
                              <m:sup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  <a:sym typeface="Arial"/>
                                      </a:rPr>
                                      <m:t>𝑟𝑒𝑣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  <a:sym typeface="Arial"/>
                                      </a:rPr>
                                      <m:t>7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  <a:sym typeface="Aria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 panose="020F0502020204030204" pitchFamily="34" charset="0"/>
                                        <a:sym typeface="Arial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+1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𝑔</m:t>
                        </m:r>
                      </m:e>
                    </m:acc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=(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0,0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,0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…,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127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,0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127,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𝑔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𝑔</m:t>
                        </m:r>
                      </m:e>
                    </m:acc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=(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0,0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1,0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…,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127,0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 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127,1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Operations are performed element-wise</a:t>
                </a: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h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</m:acc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𝑔</m:t>
                        </m:r>
                      </m:e>
                    </m:acc>
                  </m:oMath>
                </a14:m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</a:p>
              <a:p>
                <a:pPr marL="8001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h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h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=(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)∙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𝑔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𝑔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𝑖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𝜁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𝑟𝑒𝑣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7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𝑖</m:t>
                            </m:r>
                          </m:e>
                        </m:d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BC872446-2EBA-6A12-AB5B-6A16E36FF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304800" y="1981200"/>
                <a:ext cx="8436007" cy="4343400"/>
              </a:xfrm>
              <a:prstGeom prst="rect">
                <a:avLst/>
              </a:prstGeom>
              <a:blipFill>
                <a:blip r:embed="rId2"/>
                <a:stretch>
                  <a:fillRect l="-1654" t="-1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5431DE-FC80-DDE2-C5C6-DED4FB49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91998F-B649-F554-1923-BE8F9E5C14A6}"/>
              </a:ext>
            </a:extLst>
          </p:cNvPr>
          <p:cNvSpPr txBox="1">
            <a:spLocks/>
          </p:cNvSpPr>
          <p:nvPr/>
        </p:nvSpPr>
        <p:spPr>
          <a:xfrm>
            <a:off x="533400" y="158262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NTT for Kyber</a:t>
            </a:r>
          </a:p>
        </p:txBody>
      </p:sp>
    </p:spTree>
    <p:extLst>
      <p:ext uri="{BB962C8B-B14F-4D97-AF65-F5344CB8AC3E}">
        <p14:creationId xmlns:p14="http://schemas.microsoft.com/office/powerpoint/2010/main" val="3230293012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463908" y="246128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NTT for </a:t>
            </a:r>
            <a:r>
              <a:rPr lang="en-US" sz="4000" b="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Kyber</a:t>
            </a:r>
            <a:endParaRPr lang="en-US" sz="40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609600" y="2099659"/>
                <a:ext cx="7848600" cy="3615341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</m:d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=1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for(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=128;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≥2;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/2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</a:t>
                </a:r>
              </a:p>
              <a:p>
                <a:pPr marL="1030288" lvl="2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for(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=128;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&lt;256;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+=2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</a:t>
                </a:r>
              </a:p>
              <a:p>
                <a:pPr marL="1030288" lvl="2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𝑧𝑒𝑡𝑎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𝜁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𝑏𝑖𝑡𝑟𝑒𝑣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++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30288" lvl="2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for(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++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</a:t>
                </a:r>
              </a:p>
              <a:p>
                <a:pPr marL="1255713" lvl="3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𝑧𝑒𝑡𝑎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𝑙𝑒𝑛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255713" lvl="3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𝑙𝑒𝑛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mod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q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255713" lvl="3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</a:t>
                </a: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eturn(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</a:t>
                </a:r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609600" y="2099659"/>
                <a:ext cx="7848600" cy="3615341"/>
              </a:xfrm>
              <a:prstGeom prst="rect">
                <a:avLst/>
              </a:prstGeom>
              <a:blipFill>
                <a:blip r:embed="rId3"/>
                <a:stretch>
                  <a:fillRect l="-1777" t="-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037302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463908" y="246128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NTT for </a:t>
            </a:r>
            <a:r>
              <a:rPr lang="en-US" sz="4000" b="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Kyber</a:t>
            </a:r>
            <a:endParaRPr lang="en-US" sz="40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685800" y="2175859"/>
                <a:ext cx="7848600" cy="3767741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𝑁𝑇𝑇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𝑓</m:t>
                            </m:r>
                          </m:e>
                        </m:acc>
                      </m:e>
                    </m:d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=127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for(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=2;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≤128≤;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=2∙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</a:t>
                </a:r>
              </a:p>
              <a:p>
                <a:pPr marL="1030288" lvl="2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for(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=0;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&lt;256;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+=2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</a:t>
                </a:r>
              </a:p>
              <a:p>
                <a:pPr marL="1030288" lvl="2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𝑧𝑒𝑡𝑎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𝜁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𝑏𝑖𝑡𝑟𝑒𝑣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−=1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30288" lvl="2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for(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𝑠𝑡𝑎𝑟𝑡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𝑙𝑒𝑛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++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</a:t>
                </a:r>
              </a:p>
              <a:p>
                <a:pPr marL="1255713" lvl="3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[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]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255713" lvl="3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𝑙𝑒𝑛</m:t>
                        </m:r>
                      </m:e>
                    </m:d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mod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q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255713" lvl="3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𝑙𝑒𝑛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𝑒𝑡𝑎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𝑙𝑒𝑛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 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742950" lvl="1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</a:t>
                </a:r>
                <a:r>
                  <a:rPr lang="en-US" sz="20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eturn(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∙3303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)</a:t>
                </a:r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685800" y="2175859"/>
                <a:ext cx="7848600" cy="3767741"/>
              </a:xfrm>
              <a:prstGeom prst="rect">
                <a:avLst/>
              </a:prstGeom>
              <a:blipFill>
                <a:blip r:embed="rId3"/>
                <a:stretch>
                  <a:fillRect l="-1780" t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4F66FF-EBE4-B371-68F2-417D82D3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78753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BCA36-64DA-E011-B574-BB99252E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9AC234C-C11D-AAA5-7C1D-91AAE35D5850}"/>
              </a:ext>
            </a:extLst>
          </p:cNvPr>
          <p:cNvSpPr txBox="1">
            <a:spLocks/>
          </p:cNvSpPr>
          <p:nvPr/>
        </p:nvSpPr>
        <p:spPr>
          <a:xfrm>
            <a:off x="463908" y="246128"/>
            <a:ext cx="7988430" cy="1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NTT for </a:t>
            </a:r>
            <a:r>
              <a:rPr lang="en-US" sz="4000" b="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Kyber</a:t>
            </a:r>
            <a:endParaRPr lang="en-US" sz="40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5AE0F7B9-5CD1-2CAB-88D3-C0E819CD7F61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381000" y="1828800"/>
                <a:ext cx="8598030" cy="4267199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𝑀𝑢𝑙𝑡𝑖𝑝𝑙𝑦𝑁𝑇𝑇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𝑓</m:t>
                            </m:r>
                          </m:e>
                        </m:acc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</m:acc>
                      </m:e>
                    </m:d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457200" indent="-4572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For(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=0;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&lt;128;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++)</m:t>
                    </m:r>
                  </m:oMath>
                </a14:m>
                <a:endParaRPr lang="en-US" sz="20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914400" lvl="1" indent="-4572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h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h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)←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𝐵𝑎𝑠𝑒𝑐𝑎𝑠𝑒𝑚𝑢𝑙𝑡𝑖𝑝𝑙𝑦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𝑔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𝜁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2∙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𝑏𝑖𝑡𝑟𝑒𝑣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𝑖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457200" indent="-4572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b="0" i="1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Basecasemultiply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914400" lvl="1" indent="-4572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𝛾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914400" lvl="1" indent="-4572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914400" lvl="1" indent="-4572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5AE0F7B9-5CD1-2CAB-88D3-C0E819CD7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381000" y="1828800"/>
                <a:ext cx="8598030" cy="4267199"/>
              </a:xfrm>
              <a:prstGeom prst="rect">
                <a:avLst/>
              </a:prstGeom>
              <a:blipFill>
                <a:blip r:embed="rId3"/>
                <a:stretch>
                  <a:fillRect l="-1622" t="-1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066E91-25EA-AD95-D0D8-982B54FD1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41517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304800" y="1447800"/>
                <a:ext cx="8458200" cy="48006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Parameters: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=3329,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256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=4,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=2)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𝑥</m:t>
                        </m:r>
                      </m:e>
                    </m:acc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</a:p>
              <a:p>
                <a:pPr marL="342900" lvl="1" indent="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𝐾𝑒𝑦𝐺𝑒𝑛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</m:oMath>
                </a14:m>
                <a:r>
                  <a:rPr 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generates a Dilithium-like key (see full version)</a:t>
                </a:r>
              </a:p>
              <a:p>
                <a:pPr marL="342900" lvl="1" indent="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𝑡</m:t>
                        </m:r>
                      </m:e>
                    </m:acc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</m:e>
                    </m:acc>
                    <m:acc>
                      <m:accPr>
                        <m:chr m:val="̂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</m:acc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acc>
                      <m:accPr>
                        <m:chr m:val="̂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generated from seed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𝒔</m:t>
                    </m:r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𝒆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∈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</m:sup>
                    </m:sSubSup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85750" indent="-28575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𝐸𝑛𝑐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𝑝𝑘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  // encrypt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</m:oMath>
                </a14:m>
                <a:endParaRPr lang="en-US" sz="2000" i="1" dirty="0"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𝒓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𝑆𝑎𝑚𝑝𝑙𝑒</m:t>
                        </m:r>
                      </m:e>
                      <m:sub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𝜂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𝑃𝑅𝐹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𝜂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𝒆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𝑆𝑎𝑚𝑝𝑙𝑒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𝜂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𝑃𝑅𝐹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𝜂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𝑆𝑎𝑚𝑝𝑙𝑒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𝜂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𝑃𝑅𝐹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𝜂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𝒖</m:t>
                    </m:r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𝑇</m:t>
                        </m:r>
                      </m:sup>
                    </m:sSup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𝒓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𝒆</m:t>
                        </m:r>
                      </m:e>
                      <m:sub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</m:oMath>
                </a14:m>
                <a:endParaRPr lang="en-US" sz="18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𝜐</m:t>
                    </m:r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(</m:t>
                    </m:r>
                    <m:sSup>
                      <m:sSupPr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𝒕</m:t>
                        </m:r>
                      </m:e>
                      <m:sup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𝑇</m:t>
                        </m:r>
                      </m:sup>
                    </m:sSup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𝒓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↱</m:t>
                    </m:r>
                    <m:f>
                      <m:fPr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num>
                      <m:den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den>
                    </m:f>
                    <m:r>
                      <a:rPr 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↲∙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𝑐𝑜𝑚𝑝𝑟𝑒𝑠𝑠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𝒖</m:t>
                        </m:r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𝑢</m:t>
                            </m:r>
                          </m:sub>
                        </m:sSub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𝑐𝑜𝑚𝑝𝑟𝑒𝑠𝑠</m:t>
                        </m:r>
                      </m:e>
                      <m:sub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𝜐</m:t>
                        </m:r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𝑣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𝒄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𝐷𝑒𝑐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𝒄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 // recover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</m:oMath>
                </a14:m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𝒖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𝑑𝑒𝑐𝑜𝑚𝑝𝑟𝑒𝑠𝑠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𝒄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𝑢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𝜈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𝑑𝑒𝑐𝑜𝑚𝑝𝑟𝑒𝑠𝑠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𝑣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𝜐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sSup>
                      <m:sSup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𝒔</m:t>
                        </m:r>
                      </m:e>
                      <m:sup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𝑻</m:t>
                        </m:r>
                      </m:sup>
                    </m:sSup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𝒖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; 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𝑐𝑜𝑚𝑝𝑟𝑒𝑠𝑠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𝑤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1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lvl="1" indent="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𝑐𝑜𝑚𝑝𝑟𝑒𝑠𝑠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removes the errors</a:t>
                </a: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304800" y="1447800"/>
                <a:ext cx="8458200" cy="4800600"/>
              </a:xfrm>
              <a:prstGeom prst="rect">
                <a:avLst/>
              </a:prstGeom>
              <a:blipFill>
                <a:blip r:embed="rId2"/>
                <a:stretch>
                  <a:fillRect l="-1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1E58594-4A72-7441-87D5-BB387BA7464D}"/>
              </a:ext>
            </a:extLst>
          </p:cNvPr>
          <p:cNvSpPr txBox="1">
            <a:spLocks/>
          </p:cNvSpPr>
          <p:nvPr/>
        </p:nvSpPr>
        <p:spPr>
          <a:xfrm>
            <a:off x="1295400" y="381000"/>
            <a:ext cx="64055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Kyber</a:t>
            </a: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 (simplified a little)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3ECC93-E6B6-BD39-6A12-980BF7FE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A4CD8-D53A-92A2-830C-31EF1AAF890E}"/>
              </a:ext>
            </a:extLst>
          </p:cNvPr>
          <p:cNvSpPr txBox="1"/>
          <p:nvPr/>
        </p:nvSpPr>
        <p:spPr>
          <a:xfrm>
            <a:off x="4114800" y="2974312"/>
            <a:ext cx="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596591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E0E0B-4A44-EF52-94C2-8DC7AEAF2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449898F1-0F84-426A-3769-2923623C0505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457200" y="1524000"/>
                <a:ext cx="8153400" cy="44196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𝒕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𝑑𝑒𝑐𝑜𝑚𝑝𝑟𝑒𝑠𝑠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𝑐𝑜𝑚𝑝𝑟𝑒𝑠𝑠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𝐴</m:t>
                            </m:r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𝒔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+</m:t>
                            </m:r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𝒆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𝑢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𝑢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𝒔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𝒆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𝒄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𝒕</m:t>
                        </m:r>
                      </m:sub>
                    </m:sSub>
                  </m:oMath>
                </a14:m>
                <a:endParaRPr lang="en-US" sz="2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𝒖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𝑑𝑒𝑐𝑜𝑚𝑝𝑟𝑒𝑠𝑠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𝑐𝑜𝑚𝑝𝑟𝑒𝑠𝑠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𝒓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𝒆</m:t>
                                </m:r>
                              </m:e>
                              <m: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𝑢</m:t>
                                </m:r>
                              </m:sub>
                            </m:sSub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𝑢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𝒓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𝒆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𝒄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𝒖</m:t>
                        </m:r>
                      </m:sub>
                    </m:sSub>
                  </m:oMath>
                </a14:m>
                <a:endParaRPr lang="en-US" sz="2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𝜐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𝑑𝑒𝑐𝑜𝑚𝑝𝑟𝑒𝑠𝑠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𝑐𝑜𝑚𝑝𝑟𝑒𝑠𝑠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p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𝒕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∙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𝒓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+↱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𝑞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↲∙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𝑚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𝑣</m:t>
                                </m:r>
                              </m:sub>
                            </m:sSub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𝑣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sz="2000" dirty="0">
                    <a:cs typeface="Calibri" panose="020F0502020204030204" pitchFamily="34" charset="0"/>
                    <a:sym typeface="Arial"/>
                  </a:rPr>
                  <a:t>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𝒆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2000" b="0" i="0" dirty="0">
                            <a:latin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𝑇</m:t>
                        </m:r>
                      </m:sup>
                    </m:sSup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𝒓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↱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↲∙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𝜈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Sup>
                      <m:sSub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𝒄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𝒕</m:t>
                        </m:r>
                      </m:sub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𝑻</m:t>
                        </m:r>
                      </m:sup>
                    </m:sSubSup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𝒓</m:t>
                    </m:r>
                  </m:oMath>
                </a14:m>
                <a:endParaRPr lang="en-US" sz="20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2000" i="1" dirty="0"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𝒆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2000" b="0" i="0" dirty="0">
                            <a:latin typeface="Calibri" panose="020F0502020204030204" pitchFamily="34" charset="0"/>
                            <a:cs typeface="Calibri" panose="020F0502020204030204" pitchFamily="34" charset="0"/>
                            <a:sym typeface="Arial"/>
                          </a:rPr>
                          <m:t> 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𝑇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𝒓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𝜈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Sup>
                      <m:sSubSup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𝒄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𝒕</m:t>
                        </m:r>
                      </m:sub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𝑻</m:t>
                        </m:r>
                      </m:sup>
                    </m:sSubSup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𝒓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𝒔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𝑻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𝒆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𝒔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𝑻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𝒄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𝒖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|&lt;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↱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4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↲</m:t>
                    </m:r>
                  </m:oMath>
                </a14:m>
                <a:endParaRPr lang="en-US" sz="2000" b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𝒔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𝑻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𝒖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∙↱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↲</m:t>
                    </m:r>
                  </m:oMath>
                </a14:m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𝑤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↱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4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↲</m:t>
                    </m:r>
                  </m:oMath>
                </a14:m>
                <a:endParaRPr lang="en-US" sz="20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So,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𝑐𝑜𝑚𝑝𝑟𝑒𝑠𝑠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𝒔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𝑻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𝒖</m:t>
                    </m:r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,1)</m:t>
                    </m:r>
                  </m:oMath>
                </a14:m>
                <a:r>
                  <a:rPr lang="en-US" sz="2000" b="1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</a:t>
                </a: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𝑤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+↱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𝑞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↲</m:t>
                            </m:r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∙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𝑚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−↱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𝑞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↲</m:t>
                            </m:r>
                            <m: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↱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4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↲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hence</a:t>
                </a: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↱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𝑞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↲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∙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2000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||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&lt;2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↱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4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↲</m:t>
                    </m:r>
                  </m:oMath>
                </a14:m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lang="en-US" sz="20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and so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</m:oMath>
                </a14:m>
                <a:endParaRPr lang="en-US" sz="2000" b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85750" indent="-28575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449898F1-0F84-426A-3769-2923623C0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457200" y="1524000"/>
                <a:ext cx="8153400" cy="4419600"/>
              </a:xfrm>
              <a:prstGeom prst="rect">
                <a:avLst/>
              </a:prstGeom>
              <a:blipFill>
                <a:blip r:embed="rId2"/>
                <a:stretch>
                  <a:fillRect l="-1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1DAF871-A85D-1BC1-8C6D-39560770A5B8}"/>
              </a:ext>
            </a:extLst>
          </p:cNvPr>
          <p:cNvSpPr txBox="1">
            <a:spLocks/>
          </p:cNvSpPr>
          <p:nvPr/>
        </p:nvSpPr>
        <p:spPr>
          <a:xfrm>
            <a:off x="1295400" y="381000"/>
            <a:ext cx="64055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Correctness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EA98C3-806E-D3F7-25DC-BAC203E06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B88DE-2FDA-73B2-EE25-E9F9E088DD25}"/>
              </a:ext>
            </a:extLst>
          </p:cNvPr>
          <p:cNvSpPr txBox="1"/>
          <p:nvPr/>
        </p:nvSpPr>
        <p:spPr>
          <a:xfrm>
            <a:off x="4114800" y="2974312"/>
            <a:ext cx="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42734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1062087" y="395287"/>
            <a:ext cx="64055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Kyber simplified a little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762000" y="1571624"/>
                <a:ext cx="7696200" cy="4876801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𝐾𝐸𝑀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Keygen</m:t>
                    </m:r>
                  </m:oMath>
                </a14:m>
                <a:endParaRPr lang="en-US" b="0" dirty="0"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sSubSup>
                      <m:sSub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ℤ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p>
                    </m:sSubSup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(random)</a:t>
                </a: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𝑒𝑘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𝑃𝐾𝐸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𝑑𝑘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𝑃𝐾𝐸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𝐾𝑒𝑦𝐺𝑒𝑛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()</a:t>
                </a: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𝑒𝑘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𝐾𝐸𝑀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𝑒𝑘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𝑑𝑘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𝐾𝐸𝑀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𝑑𝑘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𝑃𝐾𝐸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𝑃𝐾𝐸</m:t>
                            </m:r>
                          </m:sub>
                        </m:sSub>
                      </m:e>
                    </m:d>
                    <m: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z</m:t>
                    </m:r>
                    <m: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𝑒𝑘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𝐾𝐸𝑀</m:t>
                        </m:r>
                      </m:sub>
                    </m:sSub>
                    <m: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𝑑𝑘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𝐾𝐸𝑀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)</a:t>
                </a:r>
                <a:endParaRPr lang="en-US" sz="1800" i="1" dirty="0"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𝐾𝐸𝑀𝑒𝑛𝑐𝑎𝑝𝑠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𝐾𝐸𝑀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a random 32-byte value</a:t>
                </a: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𝑆𝐻𝐴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3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512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𝑃𝐾𝐸</m:t>
                            </m:r>
                          </m:sub>
                        </m:sSub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𝐸𝑛𝑐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𝑒𝑘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𝐾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𝐾𝐸𝑀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𝑑𝑒</m:t>
                    </m:r>
                    <m:r>
                      <a:rPr lang="en-US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𝑐𝑎𝑝𝑠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𝐾𝐸𝑀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𝐷𝑒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𝑑𝑘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𝐾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′</m:t>
                            </m:r>
                          </m:sup>
                        </m:s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p>
                          <m:sSup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𝑆𝐻𝐴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3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512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𝑃𝐾𝐸</m:t>
                            </m:r>
                          </m:sub>
                        </m:sSub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</m:t>
                        </m:r>
                      </m:e>
                    </m:acc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𝑆𝐻𝐴𝐾𝐸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256</m:t>
                    </m:r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32)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𝐸𝑛𝑐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If 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′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) return K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′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else error </a:t>
                </a: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endParaRPr lang="en-US" sz="135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762000" y="1571624"/>
                <a:ext cx="7696200" cy="4876801"/>
              </a:xfrm>
              <a:prstGeom prst="rect">
                <a:avLst/>
              </a:prstGeom>
              <a:blipFill>
                <a:blip r:embed="rId2"/>
                <a:stretch>
                  <a:fillRect l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AA2322-E930-33DE-D830-CFC446FFE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3168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1100187" y="319087"/>
            <a:ext cx="64055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Kyber parameters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459E6B4-A029-2CE5-1073-DA0A8748925A}"/>
              </a:ext>
            </a:extLst>
          </p:cNvPr>
          <p:cNvSpPr txBox="1">
            <a:spLocks/>
          </p:cNvSpPr>
          <p:nvPr/>
        </p:nvSpPr>
        <p:spPr bwMode="ltGray">
          <a:xfrm>
            <a:off x="2286000" y="3291030"/>
            <a:ext cx="5105400" cy="45720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58888" indent="-11112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3795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55098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7224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300"/>
              </a:spcBef>
              <a:buClr>
                <a:srgbClr val="000000">
                  <a:lumMod val="60000"/>
                  <a:lumOff val="40000"/>
                </a:srgbClr>
              </a:buClr>
              <a:buNone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ML-KEM-1024 is security category 5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A52550-3846-09CF-F312-0B1A731DD5D9}"/>
              </a:ext>
            </a:extLst>
          </p:cNvPr>
          <p:cNvSpPr txBox="1"/>
          <p:nvPr/>
        </p:nvSpPr>
        <p:spPr>
          <a:xfrm>
            <a:off x="408398" y="2467725"/>
            <a:ext cx="18473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5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1424A1-D99F-E701-D142-9EF8CE37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87FA175-7181-0C47-737C-813CC04FAB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734359"/>
                  </p:ext>
                </p:extLst>
              </p:nvPr>
            </p:nvGraphicFramePr>
            <p:xfrm>
              <a:off x="335938" y="1640590"/>
              <a:ext cx="835148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3434">
                      <a:extLst>
                        <a:ext uri="{9D8B030D-6E8A-4147-A177-3AD203B41FA5}">
                          <a16:colId xmlns:a16="http://schemas.microsoft.com/office/drawing/2014/main" val="699373437"/>
                        </a:ext>
                      </a:extLst>
                    </a:gridCol>
                    <a:gridCol w="737052">
                      <a:extLst>
                        <a:ext uri="{9D8B030D-6E8A-4147-A177-3AD203B41FA5}">
                          <a16:colId xmlns:a16="http://schemas.microsoft.com/office/drawing/2014/main" val="1347486271"/>
                        </a:ext>
                      </a:extLst>
                    </a:gridCol>
                    <a:gridCol w="838200">
                      <a:extLst>
                        <a:ext uri="{9D8B030D-6E8A-4147-A177-3AD203B41FA5}">
                          <a16:colId xmlns:a16="http://schemas.microsoft.com/office/drawing/2014/main" val="768848445"/>
                        </a:ext>
                      </a:extLst>
                    </a:gridCol>
                    <a:gridCol w="743087">
                      <a:extLst>
                        <a:ext uri="{9D8B030D-6E8A-4147-A177-3AD203B41FA5}">
                          <a16:colId xmlns:a16="http://schemas.microsoft.com/office/drawing/2014/main" val="3117176118"/>
                        </a:ext>
                      </a:extLst>
                    </a:gridCol>
                    <a:gridCol w="704713">
                      <a:extLst>
                        <a:ext uri="{9D8B030D-6E8A-4147-A177-3AD203B41FA5}">
                          <a16:colId xmlns:a16="http://schemas.microsoft.com/office/drawing/2014/main" val="3502184151"/>
                        </a:ext>
                      </a:extLst>
                    </a:gridCol>
                    <a:gridCol w="838200">
                      <a:extLst>
                        <a:ext uri="{9D8B030D-6E8A-4147-A177-3AD203B41FA5}">
                          <a16:colId xmlns:a16="http://schemas.microsoft.com/office/drawing/2014/main" val="3810914127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416570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662064557"/>
                        </a:ext>
                      </a:extLst>
                    </a:gridCol>
                    <a:gridCol w="1268002">
                      <a:extLst>
                        <a:ext uri="{9D8B030D-6E8A-4147-A177-3AD203B41FA5}">
                          <a16:colId xmlns:a16="http://schemas.microsoft.com/office/drawing/2014/main" val="26744062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Alg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𝜼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𝜼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Strength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79235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KEM-512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3329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768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7105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KEM-768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3329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1088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87373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KEM-1024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3329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1568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37489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087FA175-7181-0C47-737C-813CC04FAB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734359"/>
                  </p:ext>
                </p:extLst>
              </p:nvPr>
            </p:nvGraphicFramePr>
            <p:xfrm>
              <a:off x="335938" y="1640590"/>
              <a:ext cx="835148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3434">
                      <a:extLst>
                        <a:ext uri="{9D8B030D-6E8A-4147-A177-3AD203B41FA5}">
                          <a16:colId xmlns:a16="http://schemas.microsoft.com/office/drawing/2014/main" val="699373437"/>
                        </a:ext>
                      </a:extLst>
                    </a:gridCol>
                    <a:gridCol w="737052">
                      <a:extLst>
                        <a:ext uri="{9D8B030D-6E8A-4147-A177-3AD203B41FA5}">
                          <a16:colId xmlns:a16="http://schemas.microsoft.com/office/drawing/2014/main" val="1347486271"/>
                        </a:ext>
                      </a:extLst>
                    </a:gridCol>
                    <a:gridCol w="838200">
                      <a:extLst>
                        <a:ext uri="{9D8B030D-6E8A-4147-A177-3AD203B41FA5}">
                          <a16:colId xmlns:a16="http://schemas.microsoft.com/office/drawing/2014/main" val="768848445"/>
                        </a:ext>
                      </a:extLst>
                    </a:gridCol>
                    <a:gridCol w="743087">
                      <a:extLst>
                        <a:ext uri="{9D8B030D-6E8A-4147-A177-3AD203B41FA5}">
                          <a16:colId xmlns:a16="http://schemas.microsoft.com/office/drawing/2014/main" val="3117176118"/>
                        </a:ext>
                      </a:extLst>
                    </a:gridCol>
                    <a:gridCol w="704713">
                      <a:extLst>
                        <a:ext uri="{9D8B030D-6E8A-4147-A177-3AD203B41FA5}">
                          <a16:colId xmlns:a16="http://schemas.microsoft.com/office/drawing/2014/main" val="3502184151"/>
                        </a:ext>
                      </a:extLst>
                    </a:gridCol>
                    <a:gridCol w="838200">
                      <a:extLst>
                        <a:ext uri="{9D8B030D-6E8A-4147-A177-3AD203B41FA5}">
                          <a16:colId xmlns:a16="http://schemas.microsoft.com/office/drawing/2014/main" val="3810914127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7416570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662064557"/>
                        </a:ext>
                      </a:extLst>
                    </a:gridCol>
                    <a:gridCol w="1268002">
                      <a:extLst>
                        <a:ext uri="{9D8B030D-6E8A-4147-A177-3AD203B41FA5}">
                          <a16:colId xmlns:a16="http://schemas.microsoft.com/office/drawing/2014/main" val="26744062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Alg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1379" t="-6897" r="-850000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56061" t="-6897" r="-646970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8305" t="-6897" r="-623729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34545" t="-6897" r="-569091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20896" t="-6897" r="-367164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77778" t="-6897" r="-241667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77778" t="-6897" r="-141667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Strength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79235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KEM-512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3329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768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7105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KEM-768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3329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1088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192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87373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KEM-1024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3329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1568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374899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9CE181E-67FB-F05D-D1FF-CBA770463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568068"/>
              </p:ext>
            </p:extLst>
          </p:nvPr>
        </p:nvGraphicFramePr>
        <p:xfrm>
          <a:off x="302443" y="4231640"/>
          <a:ext cx="8001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66">
                  <a:extLst>
                    <a:ext uri="{9D8B030D-6E8A-4147-A177-3AD203B41FA5}">
                      <a16:colId xmlns:a16="http://schemas.microsoft.com/office/drawing/2014/main" val="3729535361"/>
                    </a:ext>
                  </a:extLst>
                </a:gridCol>
                <a:gridCol w="1754891">
                  <a:extLst>
                    <a:ext uri="{9D8B030D-6E8A-4147-A177-3AD203B41FA5}">
                      <a16:colId xmlns:a16="http://schemas.microsoft.com/office/drawing/2014/main" val="73537073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70908524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891601835"/>
                    </a:ext>
                  </a:extLst>
                </a:gridCol>
                <a:gridCol w="1216843">
                  <a:extLst>
                    <a:ext uri="{9D8B030D-6E8A-4147-A177-3AD203B41FA5}">
                      <a16:colId xmlns:a16="http://schemas.microsoft.com/office/drawing/2014/main" val="29746467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Encap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Decap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Ciphertext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803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KEM-512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966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KEM-768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324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KEM-1024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1568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15</a:t>
                      </a:r>
                      <a:r>
                        <a:rPr lang="en-US" b="0" dirty="0"/>
                        <a:t>68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040034"/>
                  </a:ext>
                </a:extLst>
              </a:tr>
            </a:tbl>
          </a:graphicData>
        </a:graphic>
      </p:graphicFrame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7A655EA-0C19-07AC-E1FD-45B19ABDDF68}"/>
              </a:ext>
            </a:extLst>
          </p:cNvPr>
          <p:cNvSpPr txBox="1">
            <a:spLocks/>
          </p:cNvSpPr>
          <p:nvPr/>
        </p:nvSpPr>
        <p:spPr bwMode="ltGray">
          <a:xfrm>
            <a:off x="2743200" y="5791199"/>
            <a:ext cx="3810000" cy="45720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90000"/>
              <a:buFont typeface="Camphor Std" panose="020B0504030404020204" pitchFamily="34" charset="0"/>
              <a:buChar char="–"/>
              <a:tabLst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58888" indent="-11112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3795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55098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722438" indent="-1206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System Font Regular"/>
              <a:buChar char="-"/>
              <a:tabLst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300"/>
              </a:spcBef>
              <a:buClr>
                <a:srgbClr val="000000">
                  <a:lumMod val="60000"/>
                  <a:lumOff val="40000"/>
                </a:srgbClr>
              </a:buClr>
              <a:buNone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 in bytes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5907096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1100187" y="381000"/>
            <a:ext cx="64055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Full </a:t>
            </a:r>
            <a:r>
              <a:rPr lang="en-US" sz="4000" b="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Kyber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685800" y="1447800"/>
                <a:ext cx="7649040" cy="48006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𝐾𝑒𝑦𝐺𝑒𝑛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</m:oMath>
                </a14:m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ℤ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p>
                    </m:sSup>
                  </m:oMath>
                </a14:m>
                <a:r>
                  <a:rPr 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, </a:t>
                </a:r>
                <a:r>
                  <a:rPr lang="en-US" sz="180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random</a:t>
                </a:r>
              </a:p>
              <a:p>
                <a:pPr marL="6858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𝜌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𝜎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𝐺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i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=0</m:t>
                    </m:r>
                  </m:oMath>
                </a14:m>
                <a:endParaRPr lang="en-US" sz="18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𝑓𝑜𝑟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=0;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&lt;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;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++</m:t>
                        </m:r>
                      </m:e>
                    </m:d>
                  </m:oMath>
                </a14:m>
                <a:endParaRPr lang="en-US" sz="1800" b="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973138" lvl="2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𝑓𝑜𝑟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=0;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&lt;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;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++</m:t>
                        </m:r>
                      </m:e>
                    </m:d>
                  </m:oMath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198563" lvl="3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𝑗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𝑆𝑎𝑚𝑝𝑙𝑒𝑁𝑇𝑇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𝑋𝑂𝐹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𝑖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𝑗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𝑓𝑜𝑟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=0;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&lt;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;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++</m:t>
                        </m:r>
                      </m:e>
                    </m:d>
                  </m:oMath>
                </a14:m>
                <a:endParaRPr lang="en-US" sz="18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1198563" lvl="3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𝑆𝑎𝑚𝑝𝑙𝑒𝑃𝑜𝑙𝑦𝐶𝐵𝐷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𝑃𝑅𝐹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𝜎</m:t>
                            </m:r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,</m:t>
                            </m:r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𝑁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;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++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𝑓𝑜𝑟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=0;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&lt;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;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++</m:t>
                        </m:r>
                      </m:e>
                    </m:d>
                  </m:oMath>
                </a14:m>
                <a:endParaRPr lang="en-US" sz="18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1198563" lvl="3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𝑒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𝑖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𝑆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𝑎𝑚𝑝𝑙𝑒𝑃𝑜𝑙𝑦𝐶𝐷𝐵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𝑃𝑅𝐹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𝜎</m:t>
                            </m:r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,</m:t>
                            </m:r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𝑁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;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++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</m:acc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𝑠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</m:t>
                        </m:r>
                      </m:e>
                    </m:acc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𝑒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𝑡</m:t>
                        </m:r>
                      </m:e>
                    </m:acc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</m:e>
                    </m:acc>
                    <m:acc>
                      <m:accPr>
                        <m:chr m:val="̂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</m:acc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acc>
                      <m:accPr>
                        <m:chr m:val="̂"/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</m:t>
                        </m:r>
                      </m:e>
                    </m:acc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𝑒𝑘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𝐵𝑦𝑡𝑒𝐸𝑛𝑐𝑜𝑑𝑒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12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𝑡</m:t>
                            </m:r>
                          </m:e>
                        </m:acc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𝐵𝑦𝑡𝑒𝐸𝑛𝑐𝑜𝑑𝑒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12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</m:acc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a:rPr lang="en-US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lvl="1" indent="0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685800" y="1447800"/>
                <a:ext cx="7649040" cy="4800600"/>
              </a:xfrm>
              <a:prstGeom prst="rect">
                <a:avLst/>
              </a:prstGeom>
              <a:blipFill>
                <a:blip r:embed="rId2"/>
                <a:stretch>
                  <a:fillRect l="-1824" t="-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0D1C10-16A5-1FDB-6C68-F0521EEC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86479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152400" y="1295400"/>
                <a:ext cx="8839200" cy="4871793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𝐸𝑛𝑐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𝑒𝑘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    //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is randomness,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𝜈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𝑇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𝒆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𝒕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𝒆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                                          </a:t>
                </a:r>
                <a:r>
                  <a:rPr lang="en-US" i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//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𝜇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added to term 2,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𝑒𝑘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384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+32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bytes,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are 32 bytes. </a:t>
                </a:r>
              </a:p>
              <a:p>
                <a:pPr lvl="1" indent="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=0; 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𝑡</m:t>
                        </m:r>
                      </m:e>
                    </m:acc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𝐵𝑦𝑡𝑒𝐷𝑒𝑐𝑜𝑑𝑒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12</m:t>
                        </m:r>
                      </m:sub>
                    </m:sSub>
                    <m:d>
                      <m:dPr>
                        <m:ctrlP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𝑒𝑘</m:t>
                            </m:r>
                          </m:e>
                          <m:sub>
                            <m: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𝑃𝐾𝐸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0:384</m:t>
                            </m:r>
                            <m:r>
                              <a:rPr lang="en-US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b="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;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𝑒𝑘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[384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+384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+32]</m:t>
                    </m:r>
                  </m:oMath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30238" lvl="2" indent="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𝑓𝑜𝑟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=0;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&lt;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𝑘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;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++</m:t>
                          </m:r>
                        </m:e>
                      </m:d>
                    </m:oMath>
                  </m:oMathPara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855663" lvl="3" indent="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𝑓𝑜𝑟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 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𝑗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=0;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𝑗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&lt;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𝑘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;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𝑗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++</m:t>
                          </m:r>
                        </m:e>
                      </m:d>
                    </m:oMath>
                  </m:oMathPara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1028700" lvl="4" indent="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acc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𝐴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,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𝑗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𝑆𝑎𝑚𝑝𝑙𝑒𝑁𝑇𝑇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𝑋𝑂𝐹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𝜌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,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𝑖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,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𝑗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lang="en-US" sz="180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30238" lvl="2" indent="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𝑓𝑜𝑟</m:t>
                      </m:r>
                      <m:d>
                        <m:d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=0;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&lt;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𝑘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;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++</m:t>
                          </m:r>
                        </m:e>
                      </m:d>
                    </m:oMath>
                  </m:oMathPara>
                </a14:m>
                <a:endParaRPr lang="en-US" sz="18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3" indent="-1143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</m:e>
                      </m:d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𝑆𝑎𝑚𝑝𝑙𝑒𝑃𝑜𝑙𝑦𝐶𝐵𝐷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𝑃𝑅𝐹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𝑟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𝑁</m:t>
                              </m:r>
                            </m:e>
                          </m:d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;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𝑁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++</m:t>
                      </m:r>
                    </m:oMath>
                  </m:oMathPara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30238" lvl="2" indent="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𝑓𝑜𝑟</m:t>
                      </m:r>
                      <m:d>
                        <m:d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=0;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&lt;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𝑘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;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++</m:t>
                          </m:r>
                        </m:e>
                      </m:d>
                    </m:oMath>
                  </m:oMathPara>
                </a14:m>
                <a:endParaRPr lang="en-US" sz="1800" i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lvl="2" indent="-1143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𝑒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𝑖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𝑆𝑎𝑚𝑝𝑙𝑒𝑃𝑜𝑙𝑦𝐶𝐵𝐷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𝑃𝑅𝐹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𝑟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,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𝑁</m:t>
                              </m:r>
                            </m:e>
                          </m:d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;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𝑁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++</m:t>
                      </m:r>
                    </m:oMath>
                  </m:oMathPara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-11430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𝑒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𝑆𝑎𝑚𝑝𝑙𝑒𝑃𝑜𝑙𝑦𝐶𝐵𝐷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𝑃𝑅𝐹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𝑟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,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𝑁</m:t>
                              </m:r>
                            </m:e>
                          </m:d>
                        </m:e>
                      </m:d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 </m:t>
                      </m:r>
                    </m:oMath>
                  </m:oMathPara>
                </a14:m>
                <a:endParaRPr lang="en-US" sz="18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acc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𝑟</m:t>
                          </m:r>
                        </m:e>
                      </m:acc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𝑁𝑇𝑇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𝒖</m:t>
                      </m:r>
                      <m:d>
                        <m:d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𝑥</m:t>
                          </m:r>
                        </m:e>
                      </m:d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𝑁𝑇𝑇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  <a:sym typeface="Arial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  <a:sym typeface="Arial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  <a:sym typeface="Arial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𝑒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lvl="1" indent="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𝜇</m:t>
                    </m:r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𝑑𝑒𝑐𝑜𝑚𝑝𝑟𝑒𝑠𝑠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𝑑𝑒𝑐𝑜𝑑𝑒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𝜐</m:t>
                    </m:r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𝑁𝑇𝑇</m:t>
                        </m:r>
                      </m:e>
                      <m:sup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p>
                    </m:sSup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p>
                      <m:sSup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𝑡</m:t>
                            </m:r>
                          </m:e>
                        </m:acc>
                      </m:e>
                      <m:sup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𝑇</m:t>
                        </m:r>
                      </m:sup>
                    </m:sSup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acc>
                      <m:accPr>
                        <m:chr m:val="̂"/>
                        <m:ctrlPr>
                          <a:rPr lang="en-US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</m:acc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𝜇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lvl="1" indent="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  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𝑒𝑛𝑐𝑜𝑑𝑒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𝑢</m:t>
                            </m:r>
                          </m:sub>
                        </m:sSub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𝑐𝑜𝑚𝑝𝑟𝑒𝑠𝑠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𝑢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𝑢</m:t>
                        </m:r>
                      </m:e>
                    </m:d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𝑒𝑛𝑐𝑜𝑑𝑒</m:t>
                        </m:r>
                      </m:e>
                      <m:sub>
                        <m:sSub>
                          <m:sSubPr>
                            <m:ctrlP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𝑣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𝑐𝑜𝑚𝑝𝑟𝑒𝑠𝑠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𝑣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</m:d>
                      </m:e>
                    </m:d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lvl="1" indent="0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152400" y="1295400"/>
                <a:ext cx="8839200" cy="4871793"/>
              </a:xfrm>
              <a:prstGeom prst="rect">
                <a:avLst/>
              </a:prstGeom>
              <a:blipFill>
                <a:blip r:embed="rId2"/>
                <a:stretch>
                  <a:fillRect l="-1437" t="-1563"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1E58594-4A72-7441-87D5-BB387BA7464D}"/>
              </a:ext>
            </a:extLst>
          </p:cNvPr>
          <p:cNvSpPr txBox="1">
            <a:spLocks/>
          </p:cNvSpPr>
          <p:nvPr/>
        </p:nvSpPr>
        <p:spPr>
          <a:xfrm>
            <a:off x="1126145" y="395287"/>
            <a:ext cx="64055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Full </a:t>
            </a:r>
            <a:r>
              <a:rPr lang="en-US" sz="4000" b="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Kyber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3ECC93-E6B6-BD39-6A12-980BF7FE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A4CD8-D53A-92A2-830C-31EF1AAF890E}"/>
              </a:ext>
            </a:extLst>
          </p:cNvPr>
          <p:cNvSpPr txBox="1"/>
          <p:nvPr/>
        </p:nvSpPr>
        <p:spPr>
          <a:xfrm>
            <a:off x="4114800" y="2974312"/>
            <a:ext cx="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EFB13C-FCD5-298F-8008-C6137A1E6F64}"/>
              </a:ext>
            </a:extLst>
          </p:cNvPr>
          <p:cNvSpPr txBox="1"/>
          <p:nvPr/>
        </p:nvSpPr>
        <p:spPr>
          <a:xfrm>
            <a:off x="8530814" y="989704"/>
            <a:ext cx="1847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58968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609600" y="1905001"/>
                <a:ext cx="7848600" cy="38862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𝐷𝑒𝑐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𝑑𝑘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,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 //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𝑑𝑘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384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bytes,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𝒄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𝟏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384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𝑢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bytes.</a:t>
                </a:r>
              </a:p>
              <a:p>
                <a:pPr marL="600075" lvl="1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[0:32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𝑢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]</m:t>
                    </m:r>
                  </m:oMath>
                </a14:m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[32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(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𝑢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]</m:t>
                    </m:r>
                  </m:oMath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𝒖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𝑑𝑒𝑐𝑜𝑚𝑝𝑟𝑒𝑠𝑠</m:t>
                        </m:r>
                      </m:e>
                      <m:sub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𝑢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𝐵𝑦𝑡𝑒𝐷𝑒𝑐𝑜𝑑𝑒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𝑢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𝜐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𝑑𝑒𝑐𝑜𝑚𝑝𝑟𝑒𝑠𝑠</m:t>
                        </m:r>
                      </m:e>
                      <m:sub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𝑣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𝐵𝑦𝑡𝑒𝐷𝑒𝑐𝑜𝑑𝑒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𝑣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𝐵𝑦𝑡𝑒𝐷𝑒𝑐𝑜𝑑𝑒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12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𝜐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𝑁𝑇𝑇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−1</m:t>
                        </m:r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p>
                      <m:sSup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𝑠</m:t>
                            </m:r>
                          </m:e>
                        </m:acc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𝑇</m:t>
                        </m:r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∙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𝑁𝑇𝑇</m:t>
                    </m:r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𝒖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𝐵𝑦𝑡𝑒𝐸𝑛𝑐𝑜𝑑𝑒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𝑐𝑜𝑚𝑝𝑟𝑒𝑠𝑠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𝑤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00075" lvl="1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  //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32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bytes</a:t>
                </a: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609600" y="1905001"/>
                <a:ext cx="7848600" cy="3886200"/>
              </a:xfrm>
              <a:prstGeom prst="rect">
                <a:avLst/>
              </a:prstGeom>
              <a:blipFill>
                <a:blip r:embed="rId2"/>
                <a:stretch>
                  <a:fillRect l="-1777" t="-1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1E58594-4A72-7441-87D5-BB387BA7464D}"/>
              </a:ext>
            </a:extLst>
          </p:cNvPr>
          <p:cNvSpPr txBox="1">
            <a:spLocks/>
          </p:cNvSpPr>
          <p:nvPr/>
        </p:nvSpPr>
        <p:spPr>
          <a:xfrm>
            <a:off x="1126145" y="395287"/>
            <a:ext cx="64055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Full </a:t>
            </a:r>
            <a:r>
              <a:rPr lang="en-US" sz="4000" b="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Kyber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3ECC93-E6B6-BD39-6A12-980BF7FE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A4CD8-D53A-92A2-830C-31EF1AAF890E}"/>
              </a:ext>
            </a:extLst>
          </p:cNvPr>
          <p:cNvSpPr txBox="1"/>
          <p:nvPr/>
        </p:nvSpPr>
        <p:spPr>
          <a:xfrm>
            <a:off x="4114800" y="2974312"/>
            <a:ext cx="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133393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475488" y="1981200"/>
                <a:ext cx="8193024" cy="38862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2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𝐾𝑒𝑦𝑔𝑒𝑛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𝐾𝐸𝑀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()</a:t>
                </a: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 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ℤ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256</m:t>
                        </m:r>
                      </m:sup>
                    </m:sSup>
                    <m:r>
                      <m:rPr>
                        <m:nor/>
                      </m:rPr>
                      <a:rPr lang="en-US" sz="200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 (</m:t>
                    </m:r>
                    <m:r>
                      <m:rPr>
                        <m:nor/>
                      </m:rPr>
                      <a:rPr lang="en-US" sz="200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random</m:t>
                    </m:r>
                    <m:r>
                      <m:rPr>
                        <m:nor/>
                      </m:rPr>
                      <a:rPr lang="en-US" sz="200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𝑒𝑘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𝑃𝐾𝐸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𝑑𝑘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𝑃𝐾𝐸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𝐾𝑒𝑦𝐺𝑒𝑛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m:rPr>
                        <m:nor/>
                      </m:rPr>
                      <a:rPr lang="en-US" sz="200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()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𝑒𝑘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𝐾𝐸𝑀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𝑒𝑘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m:rPr>
                        <m:nor/>
                      </m:rPr>
                      <a:rPr lang="en-US" sz="200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;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𝑑𝑘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𝐾𝐸𝑀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𝑑𝑘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𝑒𝑘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𝑃𝐾𝐸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|</m:t>
                        </m:r>
                      </m:e>
                    </m:d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𝑒𝑘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𝑃𝐾𝐸</m:t>
                            </m:r>
                          </m:sub>
                        </m:sSub>
                      </m:e>
                    </m:d>
                    <m: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z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return</m:t>
                    </m:r>
                    <m:r>
                      <m:rPr>
                        <m:nor/>
                      </m:rPr>
                      <a:rPr lang="en-US" sz="200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𝑒𝑘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𝐾𝐸𝑀</m:t>
                        </m:r>
                      </m:sub>
                    </m:sSub>
                    <m: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𝑑𝑘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𝐾𝐸𝑀</m:t>
                        </m:r>
                      </m:sub>
                    </m:sSub>
                    <m:r>
                      <m:rPr>
                        <m:nor/>
                      </m:rPr>
                      <a:rPr lang="en-US" sz="200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𝑡</m:t>
                        </m:r>
                      </m:e>
                    </m:acc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</m:e>
                    </m:acc>
                    <m:acc>
                      <m:accPr>
                        <m:chr m:val="̂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𝑠</m:t>
                        </m:r>
                      </m:e>
                    </m:acc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acc>
                      <m:accPr>
                        <m:chr m:val="̂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generated from seed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𝜌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714375" lvl="1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return</a:t>
                </a:r>
                <a:r>
                  <a:rPr lang="en-US" sz="2000" dirty="0">
                    <a:solidFill>
                      <a:schemeClr val="tx1"/>
                    </a:solidFill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𝑒𝑘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𝑃𝐾𝐸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𝑑𝑘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𝑃𝐾𝐸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 //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𝑒𝑘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384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+32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bytes,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𝑑𝑘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384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+96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bytes.</a:t>
                </a: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475488" y="1981200"/>
                <a:ext cx="8193024" cy="3886200"/>
              </a:xfrm>
              <a:prstGeom prst="rect">
                <a:avLst/>
              </a:prstGeom>
              <a:blipFill>
                <a:blip r:embed="rId2"/>
                <a:stretch>
                  <a:fillRect l="-1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1E58594-4A72-7441-87D5-BB387BA7464D}"/>
              </a:ext>
            </a:extLst>
          </p:cNvPr>
          <p:cNvSpPr txBox="1">
            <a:spLocks/>
          </p:cNvSpPr>
          <p:nvPr/>
        </p:nvSpPr>
        <p:spPr>
          <a:xfrm>
            <a:off x="1126145" y="319087"/>
            <a:ext cx="64055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Full </a:t>
            </a:r>
            <a:r>
              <a:rPr lang="en-US" sz="4000" b="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Kyber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3ECC93-E6B6-BD39-6A12-980BF7FE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A4CD8-D53A-92A2-830C-31EF1AAF890E}"/>
              </a:ext>
            </a:extLst>
          </p:cNvPr>
          <p:cNvSpPr txBox="1"/>
          <p:nvPr/>
        </p:nvSpPr>
        <p:spPr>
          <a:xfrm>
            <a:off x="4114800" y="2974312"/>
            <a:ext cx="6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698775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914400" y="319087"/>
            <a:ext cx="64055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Full </a:t>
            </a:r>
            <a:r>
              <a:rPr lang="en-US" sz="4000" b="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Kyber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381000" y="2133601"/>
                <a:ext cx="8191500" cy="3047999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57175" indent="-257175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𝐾𝐸𝑀𝑒𝑛𝑐𝑎𝑝𝑠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𝐾𝐸𝑀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  //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𝐾𝐸𝑀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384</m:t>
                    </m:r>
                    <m:r>
                      <a:rPr lang="en-US" sz="200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200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+32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bytes</a:t>
                </a: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←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𝑅𝑎𝑛𝑑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(32)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  // 32-byte</a:t>
                </a: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𝐺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𝑒𝑘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  //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𝐾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shared key,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random input to </a:t>
                </a:r>
                <a:r>
                  <a:rPr lang="en-US" sz="2000" dirty="0" err="1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Encaps</a:t>
                </a:r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𝐸𝑛𝑐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𝑒𝑘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𝑟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return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   //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𝐾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32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bytes</a:t>
                </a: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endParaRPr lang="en-US" sz="135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381000" y="2133601"/>
                <a:ext cx="8191500" cy="3047999"/>
              </a:xfrm>
              <a:prstGeom prst="rect">
                <a:avLst/>
              </a:prstGeom>
              <a:blipFill>
                <a:blip r:embed="rId2"/>
                <a:stretch>
                  <a:fillRect l="-1705" t="-2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AA2322-E930-33DE-D830-CFC446FFE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64989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F4C4D1-4308-9451-D317-961D3FDC8BC0}"/>
              </a:ext>
            </a:extLst>
          </p:cNvPr>
          <p:cNvSpPr txBox="1">
            <a:spLocks/>
          </p:cNvSpPr>
          <p:nvPr/>
        </p:nvSpPr>
        <p:spPr>
          <a:xfrm>
            <a:off x="914400" y="319087"/>
            <a:ext cx="64055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Full </a:t>
            </a:r>
            <a:r>
              <a:rPr lang="en-US" sz="4000" b="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Kyber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457200" y="1935930"/>
                <a:ext cx="8153400" cy="3810001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𝐾𝐸𝑀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𝑑𝑒</m:t>
                    </m:r>
                    <m:r>
                      <a:rPr lang="en-US" sz="200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𝑐𝑎𝑝𝑠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c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𝑑𝑘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 //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32(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𝑢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bytes,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𝑑𝑘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768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+96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bytes.</a:t>
                </a: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𝑑𝑘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0:384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</m:e>
                    </m:d>
                  </m:oMath>
                </a14:m>
                <a:endParaRPr 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𝑒𝑘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𝑑𝑘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384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:768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+32</m:t>
                        </m:r>
                      </m:e>
                    </m:d>
                  </m:oMath>
                </a14:m>
                <a:endParaRPr 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𝑑𝑘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[768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+32</m:t>
                    </m:r>
                  </m:oMath>
                </a14:m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:</a:t>
                </a:r>
                <a:r>
                  <a:rPr lang="en-US" sz="2000" dirty="0">
                    <a:solidFill>
                      <a:schemeClr val="tx1"/>
                    </a:solidFill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768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+64]</m:t>
                    </m:r>
                  </m:oMath>
                </a14:m>
                <a:endParaRPr lang="en-US" sz="2000" b="0" dirty="0">
                  <a:solidFill>
                    <a:schemeClr val="tx1"/>
                  </a:solidFill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𝑑𝑘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768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64</m:t>
                        </m:r>
                        <m:r>
                          <m:rPr>
                            <m:nor/>
                          </m:rPr>
                          <a:rPr lang="en-US" sz="20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:</m:t>
                        </m:r>
                        <m:r>
                          <m:rPr>
                            <m:nor/>
                          </m:rPr>
                          <a:rPr lang="en-US" sz="200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  <a:sym typeface="Arial"/>
                          </a:rPr>
                          <m:t> 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768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+96</m:t>
                        </m:r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𝐷𝑒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𝑑𝑘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𝐾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′</m:t>
                            </m:r>
                          </m:sup>
                        </m:s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𝐺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𝐾</m:t>
                        </m:r>
                      </m:e>
                    </m:acc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𝐽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𝑧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||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 32)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𝐸𝑛𝑐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𝑃𝐾𝐸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,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𝑟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If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==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𝑐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′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) return K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′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else return error</a:t>
                </a:r>
              </a:p>
              <a:p>
                <a:pPr marL="685800" lvl="1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+mj-lt"/>
                  <a:buAutoNum type="arabicPeriod"/>
                </a:pPr>
                <a:endParaRPr lang="en-US" sz="135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2459E6B4-A029-2CE5-1073-DA0A87489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457200" y="1935930"/>
                <a:ext cx="8153400" cy="3810001"/>
              </a:xfrm>
              <a:prstGeom prst="rect">
                <a:avLst/>
              </a:prstGeom>
              <a:blipFill>
                <a:blip r:embed="rId2"/>
                <a:stretch>
                  <a:fillRect l="-1711" t="-1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AA2322-E930-33DE-D830-CFC446FFE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07885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C2D14-8735-D658-4FAE-4528F148E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4808D75-9F31-E3B7-EC9A-E6C09A63A8B2}"/>
              </a:ext>
            </a:extLst>
          </p:cNvPr>
          <p:cNvSpPr txBox="1">
            <a:spLocks/>
          </p:cNvSpPr>
          <p:nvPr/>
        </p:nvSpPr>
        <p:spPr>
          <a:xfrm>
            <a:off x="914400" y="319087"/>
            <a:ext cx="64055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Kyber Notes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D1A0A2C0-645A-1DDB-B3D2-BCED5B26B16B}"/>
                  </a:ext>
                </a:extLst>
              </p:cNvPr>
              <p:cNvSpPr txBox="1">
                <a:spLocks/>
              </p:cNvSpPr>
              <p:nvPr/>
            </p:nvSpPr>
            <p:spPr bwMode="ltGray">
              <a:xfrm>
                <a:off x="228600" y="1828800"/>
                <a:ext cx="8686800" cy="4419600"/>
              </a:xfrm>
              <a:prstGeom prst="rect">
                <a:avLst/>
              </a:prstGeom>
              <a:noFill/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tx1">
                      <a:lumMod val="60000"/>
                      <a:lumOff val="40000"/>
                    </a:schemeClr>
                  </a:buClr>
                  <a:buSzPct val="90000"/>
                  <a:buFont typeface="Arial" panose="020B0604020202020204" pitchFamily="34" charset="0"/>
                  <a:buChar char="​"/>
                  <a:defRPr lang="en-US" sz="18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41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6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744538" indent="-16986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defRPr lang="en-US" sz="14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969963" indent="-166688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Arial" panose="020B0604020202020204" pitchFamily="34" charset="0"/>
                  <a:buChar char="•"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138113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SzPct val="90000"/>
                  <a:buFont typeface="Camphor Std" panose="020B0504030404020204" pitchFamily="34" charset="0"/>
                  <a:buChar char="–"/>
                  <a:tabLst/>
                  <a:defRPr lang="en-US" sz="1200" kern="1200" dirty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1258888" indent="-111125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13795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4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155098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8pPr>
                <a:lvl9pPr marL="1722438" indent="-1206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Tx/>
                  <a:buSzPct val="90000"/>
                  <a:buFont typeface="System Font Regular"/>
                  <a:buChar char="-"/>
                  <a:tabLst/>
                  <a:defRPr sz="18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Define</a:t>
                </a:r>
                <a:r>
                  <a:rPr lang="en-US" sz="2000" dirty="0">
                    <a:solidFill>
                      <a:srgbClr val="535353"/>
                    </a:solidFill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sz="20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𝑨𝒅𝒗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</m:t>
                        </m:r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𝑚𝑙𝑤𝑒</m:t>
                        </m:r>
                      </m:sup>
                    </m:sSubSup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=|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Pr</m:t>
                        </m:r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⁡[</m:t>
                        </m:r>
                      </m:fName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=1, </m:t>
                        </m:r>
                        <m:r>
                          <a:rPr lang="en-US" sz="20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𝑨</m:t>
                        </m:r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←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𝑞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𝑚</m:t>
                            </m:r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×</m:t>
                            </m:r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𝑘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;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𝒔</m:t>
                            </m:r>
                            <m:r>
                              <a:rPr lang="en-US" sz="20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,</m:t>
                            </m:r>
                            <m:r>
                              <a:rPr lang="en-US" sz="2000" b="1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𝒆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←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𝜂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𝑘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×</m:t>
                        </m:r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𝜂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𝑚</m:t>
                            </m:r>
                          </m:sup>
                        </m:sSubSup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;</m:t>
                        </m:r>
                        <m:r>
                          <a:rPr lang="en-US" sz="20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𝒃</m:t>
                        </m:r>
                        <m:r>
                          <a:rPr lang="en-US" sz="20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</m:t>
                        </m:r>
                        <m:r>
                          <a:rPr lang="en-US" sz="20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𝑨𝒔</m:t>
                        </m:r>
                        <m:r>
                          <a:rPr lang="en-US" sz="20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</m:t>
                        </m:r>
                        <m:r>
                          <a:rPr lang="en-US" sz="2000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𝒆</m:t>
                        </m:r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;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′</m:t>
                            </m:r>
                          </m:sup>
                        </m:sSup>
                        <m:r>
                          <a:rPr lang="en-US" sz="20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=</m:t>
                        </m:r>
                        <m:r>
                          <a:rPr lang="en-US" sz="20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𝑨</m:t>
                            </m:r>
                            <m:r>
                              <a:rPr lang="en-US" sz="2000" b="1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,</m:t>
                            </m:r>
                            <m:r>
                              <a:rPr lang="en-US" sz="2000" b="1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𝒃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]−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Pr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[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0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0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=1, </m:t>
                            </m:r>
                            <m:r>
                              <a:rPr lang="en-US" sz="2000" b="1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𝑨</m:t>
                            </m:r>
                            <m:r>
                              <a:rPr lang="en-US" sz="20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←</m:t>
                            </m:r>
                            <m:sSubSup>
                              <m:sSubSupPr>
                                <m:ctrlPr>
                                  <a:rPr lang="en-US" sz="20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𝑞</m:t>
                                </m:r>
                              </m:sub>
                              <m:sup>
                                <m:r>
                                  <a:rPr lang="en-US" sz="20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×</m:t>
                                </m:r>
                                <m:r>
                                  <a:rPr lang="en-US" sz="2000" i="1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US" sz="2000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;</m:t>
                            </m:r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𝑏</m:t>
                            </m:r>
                            <m:r>
                              <a:rPr lang="en-US" sz="2000" b="0" i="1" smtClean="0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←</m:t>
                            </m:r>
                            <m:sSubSup>
                              <m:sSubSupPr>
                                <m:ctrlPr>
                                  <a:rPr lang="en-US" sz="2000" b="0" i="1" smtClean="0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</m:ctrlPr>
                              </m:sSubSupPr>
                              <m:e>
                                <m:r>
                                  <a:rPr lang="en-US" sz="2000" b="0" i="1" smtClean="0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𝑞</m:t>
                                </m:r>
                              </m:sub>
                              <m:sup>
                                <m:r>
                                  <a:rPr lang="en-US" sz="2000" b="0" i="1" smtClean="0">
                                    <a:solidFill>
                                      <a:srgbClr val="53535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  <a:sym typeface="Arial"/>
                                  </a:rPr>
                                  <m:t>𝑚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en-US" sz="2000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;</m:t>
                    </m:r>
                  </m:oMath>
                </a14:m>
                <a:r>
                  <a:rPr lang="en-US" sz="2000" dirty="0">
                    <a:solidFill>
                      <a:srgbClr val="535353"/>
                    </a:solidFill>
                    <a:ea typeface="Cambria Math" panose="02040503050406030204" pitchFamily="18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𝑏</m:t>
                        </m:r>
                      </m:e>
                      <m:sup>
                        <m:r>
                          <a:rPr lang="en-US" sz="20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</m:t>
                    </m:r>
                    <m:r>
                      <a:rPr lang="en-US" sz="2000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𝐴</m:t>
                    </m:r>
                    <m:d>
                      <m:dPr>
                        <m:ctrlPr>
                          <a:rPr lang="en-US" sz="2000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𝑨</m:t>
                        </m:r>
                        <m:r>
                          <a:rPr lang="en-US" sz="20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sz="2000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𝒃</m:t>
                        </m:r>
                      </m:e>
                    </m:d>
                    <m:r>
                      <a:rPr lang="en-US" sz="2000" b="0" i="0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]|</m:t>
                    </m:r>
                  </m:oMath>
                </a14:m>
                <a:r>
                  <a:rPr lang="en-US" sz="2000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Theorem</a:t>
                </a:r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: Suppose XOF and G are random oracles.  For all adversaries, A, there are adversaries, B, C: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 </m:t>
                        </m:r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𝑨𝒅𝒗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𝑘𝑦𝑏𝑒𝑟</m:t>
                        </m:r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𝐶𝑃𝐴𝑃𝐾𝐸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𝑐𝑝𝑎</m:t>
                        </m:r>
                      </m:sup>
                    </m:sSubSup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≤2</m:t>
                    </m:r>
                  </m:oMath>
                </a14:m>
                <a:r>
                  <a:rPr lang="en-US" dirty="0">
                    <a:solidFill>
                      <a:srgbClr val="535353"/>
                    </a:solidFill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𝑨𝒅𝒗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+1,</m:t>
                        </m:r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</m:sub>
                      <m:sup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𝑚𝑙𝑤𝑒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𝑨𝒅𝒗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𝑃𝑅𝐹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𝑝𝑟𝑓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𝐶</m:t>
                        </m:r>
                      </m:e>
                    </m:d>
                  </m:oMath>
                </a14:m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Theorem</a:t>
                </a:r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: Suppose XOF and G are random oracles. For any classical adversary, A, that make at most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𝑅𝑂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to random oracles XOF, H, G there are adversaries B, C of the same running time: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 </m:t>
                        </m:r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𝑨𝒅𝒗</m:t>
                        </m:r>
                      </m:e>
                      <m:sub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𝑘𝑦𝑏𝑒𝑟</m:t>
                        </m:r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𝐶𝐶𝐴𝐾𝐸𝑀</m:t>
                        </m:r>
                      </m:sub>
                      <m:sup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</m:t>
                        </m:r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𝑎</m:t>
                        </m:r>
                      </m:sup>
                    </m:sSubSup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d>
                      <m:d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≤2</m:t>
                    </m:r>
                  </m:oMath>
                </a14:m>
                <a:r>
                  <a:rPr lang="en-US" dirty="0">
                    <a:solidFill>
                      <a:srgbClr val="535353"/>
                    </a:solidFill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𝑨𝒅𝒗</m:t>
                        </m:r>
                      </m:e>
                      <m:sub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+1,</m:t>
                        </m:r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</m:t>
                        </m:r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𝜂</m:t>
                        </m:r>
                      </m:sub>
                      <m:sup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𝑚𝑙𝑤𝑒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𝐵</m:t>
                        </m:r>
                      </m:e>
                    </m:d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𝑨𝒅𝒗</m:t>
                        </m:r>
                      </m:e>
                      <m:sub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𝑃𝑅𝐹</m:t>
                        </m:r>
                      </m:sub>
                      <m:sup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𝑝𝑟𝑓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+4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𝑅𝑂</m:t>
                        </m:r>
                      </m:sub>
                    </m:sSub>
                  </m:oMath>
                </a14:m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Theorem</a:t>
                </a:r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: Suppose XOF and G are random oracles. For any quantum adversary, A, that make at most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𝑅𝑂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535353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to random oracles XOF, H, G there are adversaries B, C of the same running time: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 </m:t>
                        </m:r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𝑨𝒅𝒗</m:t>
                        </m:r>
                      </m:e>
                      <m:sub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𝑘𝑦𝑏𝑒𝑟</m:t>
                        </m:r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𝐶𝐶𝐴𝐾𝐸𝑀</m:t>
                        </m:r>
                      </m:sub>
                      <m:sup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𝑐𝑐𝑎</m:t>
                        </m:r>
                      </m:sup>
                    </m:sSubSup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d>
                      <m:d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≤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4</m:t>
                    </m:r>
                    <m:sSub>
                      <m:sSub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𝑅𝑂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𝑨𝒅𝒗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𝑘</m:t>
                            </m:r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+1,</m:t>
                            </m:r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𝑘</m:t>
                            </m:r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𝜂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𝑚𝑙𝑤𝑒</m:t>
                            </m:r>
                          </m:sup>
                        </m:sSubSup>
                        <m:d>
                          <m:dPr>
                            <m:ctrlP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𝐵</m:t>
                            </m:r>
                          </m:e>
                        </m:d>
                      </m:e>
                    </m:rad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𝑨𝒅𝒗</m:t>
                        </m:r>
                      </m:e>
                      <m:sub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𝑃𝑅𝐹</m:t>
                        </m:r>
                      </m:sub>
                      <m:sup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𝑝𝑟</m:t>
                        </m:r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𝑓</m:t>
                        </m:r>
                      </m:sup>
                    </m:sSubSup>
                    <m:d>
                      <m:dPr>
                        <m:ctrlP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𝐶</m:t>
                        </m:r>
                      </m:e>
                    </m:d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+</m:t>
                    </m:r>
                    <m:r>
                      <a:rPr lang="en-US" b="0" i="1" smtClean="0">
                        <a:solidFill>
                          <a:srgbClr val="535353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8</m:t>
                    </m:r>
                    <m:r>
                      <a:rPr lang="en-US" i="1">
                        <a:solidFill>
                          <a:srgbClr val="53535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𝛿</m:t>
                    </m:r>
                    <m:sSup>
                      <m:sSupPr>
                        <m:ctrlPr>
                          <a:rPr lang="en-US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535353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𝑅𝑂</m:t>
                            </m:r>
                          </m:sub>
                        </m:sSub>
                      </m:e>
                      <m:sup>
                        <m:r>
                          <a:rPr lang="en-US" b="0" i="1" smtClean="0">
                            <a:solidFill>
                              <a:srgbClr val="53535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342900" indent="-342900">
                  <a:spcBef>
                    <a:spcPts val="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257175" indent="-257175">
                  <a:spcBef>
                    <a:spcPts val="300"/>
                  </a:spcBef>
                  <a:buClr>
                    <a:srgbClr val="000000">
                      <a:lumMod val="60000"/>
                      <a:lumOff val="40000"/>
                    </a:srgbClr>
                  </a:buClr>
                  <a:buFont typeface="Arial" panose="020B0604020202020204" pitchFamily="34" charset="0"/>
                  <a:buChar char="•"/>
                </a:pPr>
                <a:endParaRPr lang="en-US" sz="1500" dirty="0">
                  <a:solidFill>
                    <a:srgbClr val="535353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7" name="Content Placeholder 7">
                <a:extLst>
                  <a:ext uri="{FF2B5EF4-FFF2-40B4-BE49-F238E27FC236}">
                    <a16:creationId xmlns:a16="http://schemas.microsoft.com/office/drawing/2014/main" id="{D1A0A2C0-645A-1DDB-B3D2-BCED5B26B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ltGray">
              <a:xfrm>
                <a:off x="228600" y="1828800"/>
                <a:ext cx="8686800" cy="4419600"/>
              </a:xfrm>
              <a:prstGeom prst="rect">
                <a:avLst/>
              </a:prstGeom>
              <a:blipFill>
                <a:blip r:embed="rId2"/>
                <a:stretch>
                  <a:fillRect l="-1606" t="-1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A41B4F-B0CD-E51A-908A-400315E9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057155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150EF-1DE7-ACCA-41AC-191A44097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058DC79-E01C-CA66-EAC6-AF66EF0D9238}"/>
              </a:ext>
            </a:extLst>
          </p:cNvPr>
          <p:cNvSpPr txBox="1">
            <a:spLocks/>
          </p:cNvSpPr>
          <p:nvPr/>
        </p:nvSpPr>
        <p:spPr>
          <a:xfrm>
            <a:off x="914400" y="471487"/>
            <a:ext cx="6405513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defTabSz="685800" eaLnBrk="1" fontAlgn="auto" hangingPunct="1">
              <a:defRPr/>
            </a:pPr>
            <a:r>
              <a:rPr lang="en-US" sz="4000" b="0" kern="0" dirty="0">
                <a:latin typeface="Calibri" panose="020F0502020204030204" pitchFamily="34" charset="0"/>
                <a:cs typeface="Calibri" panose="020F0502020204030204" pitchFamily="34" charset="0"/>
              </a:rPr>
              <a:t>Kyber Parameters</a:t>
            </a:r>
            <a:endParaRPr lang="en-US" sz="2800" b="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9452BF-63C1-7086-C88F-281F0CC1F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09DF16-9352-46A7-97F1-1D13A8547ADD}" type="slidenum">
              <a:rPr lang="en-US" smtClean="0"/>
              <a:pPr>
                <a:defRPr/>
              </a:pPr>
              <a:t>81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A07CB71-9AE7-BB51-604C-1B0D9E087F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9813530"/>
                  </p:ext>
                </p:extLst>
              </p:nvPr>
            </p:nvGraphicFramePr>
            <p:xfrm>
              <a:off x="342900" y="2933580"/>
              <a:ext cx="8458200" cy="1285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9700">
                      <a:extLst>
                        <a:ext uri="{9D8B030D-6E8A-4147-A177-3AD203B41FA5}">
                          <a16:colId xmlns:a16="http://schemas.microsoft.com/office/drawing/2014/main" val="691567196"/>
                        </a:ext>
                      </a:extLst>
                    </a:gridCol>
                    <a:gridCol w="1409700">
                      <a:extLst>
                        <a:ext uri="{9D8B030D-6E8A-4147-A177-3AD203B41FA5}">
                          <a16:colId xmlns:a16="http://schemas.microsoft.com/office/drawing/2014/main" val="1385526963"/>
                        </a:ext>
                      </a:extLst>
                    </a:gridCol>
                    <a:gridCol w="1409700">
                      <a:extLst>
                        <a:ext uri="{9D8B030D-6E8A-4147-A177-3AD203B41FA5}">
                          <a16:colId xmlns:a16="http://schemas.microsoft.com/office/drawing/2014/main" val="4144137719"/>
                        </a:ext>
                      </a:extLst>
                    </a:gridCol>
                    <a:gridCol w="1409700">
                      <a:extLst>
                        <a:ext uri="{9D8B030D-6E8A-4147-A177-3AD203B41FA5}">
                          <a16:colId xmlns:a16="http://schemas.microsoft.com/office/drawing/2014/main" val="1972876016"/>
                        </a:ext>
                      </a:extLst>
                    </a:gridCol>
                    <a:gridCol w="1409700">
                      <a:extLst>
                        <a:ext uri="{9D8B030D-6E8A-4147-A177-3AD203B41FA5}">
                          <a16:colId xmlns:a16="http://schemas.microsoft.com/office/drawing/2014/main" val="1306556941"/>
                        </a:ext>
                      </a:extLst>
                    </a:gridCol>
                    <a:gridCol w="1409700">
                      <a:extLst>
                        <a:ext uri="{9D8B030D-6E8A-4147-A177-3AD203B41FA5}">
                          <a16:colId xmlns:a16="http://schemas.microsoft.com/office/drawing/2014/main" val="20880072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Alg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Failure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Alg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Failure rate</a:t>
                          </a:r>
                        </a:p>
                        <a:p>
                          <a:pPr algn="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Alg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Failure rate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949305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KEM-512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−139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KEM-768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−164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KEM-1024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−174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2744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A07CB71-9AE7-BB51-604C-1B0D9E087F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9813530"/>
                  </p:ext>
                </p:extLst>
              </p:nvPr>
            </p:nvGraphicFramePr>
            <p:xfrm>
              <a:off x="342900" y="2933580"/>
              <a:ext cx="8458200" cy="1285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9700">
                      <a:extLst>
                        <a:ext uri="{9D8B030D-6E8A-4147-A177-3AD203B41FA5}">
                          <a16:colId xmlns:a16="http://schemas.microsoft.com/office/drawing/2014/main" val="691567196"/>
                        </a:ext>
                      </a:extLst>
                    </a:gridCol>
                    <a:gridCol w="1409700">
                      <a:extLst>
                        <a:ext uri="{9D8B030D-6E8A-4147-A177-3AD203B41FA5}">
                          <a16:colId xmlns:a16="http://schemas.microsoft.com/office/drawing/2014/main" val="1385526963"/>
                        </a:ext>
                      </a:extLst>
                    </a:gridCol>
                    <a:gridCol w="1409700">
                      <a:extLst>
                        <a:ext uri="{9D8B030D-6E8A-4147-A177-3AD203B41FA5}">
                          <a16:colId xmlns:a16="http://schemas.microsoft.com/office/drawing/2014/main" val="4144137719"/>
                        </a:ext>
                      </a:extLst>
                    </a:gridCol>
                    <a:gridCol w="1409700">
                      <a:extLst>
                        <a:ext uri="{9D8B030D-6E8A-4147-A177-3AD203B41FA5}">
                          <a16:colId xmlns:a16="http://schemas.microsoft.com/office/drawing/2014/main" val="1972876016"/>
                        </a:ext>
                      </a:extLst>
                    </a:gridCol>
                    <a:gridCol w="1409700">
                      <a:extLst>
                        <a:ext uri="{9D8B030D-6E8A-4147-A177-3AD203B41FA5}">
                          <a16:colId xmlns:a16="http://schemas.microsoft.com/office/drawing/2014/main" val="1306556941"/>
                        </a:ext>
                      </a:extLst>
                    </a:gridCol>
                    <a:gridCol w="1409700">
                      <a:extLst>
                        <a:ext uri="{9D8B030D-6E8A-4147-A177-3AD203B41FA5}">
                          <a16:colId xmlns:a16="http://schemas.microsoft.com/office/drawing/2014/main" val="2088007246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Alg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Failure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Alg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Failure rate</a:t>
                          </a:r>
                        </a:p>
                        <a:p>
                          <a:pPr algn="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err="1">
                              <a:solidFill>
                                <a:schemeClr val="tx1"/>
                              </a:solidFill>
                            </a:rPr>
                            <a:t>Alg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Failure rate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949305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KEM-512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901" t="-250000" r="-402703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KEM-768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01" t="-250000" r="-202703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KEM-1024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901" t="-250000" r="-2703" b="-2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7446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6893681-F510-8CCB-8486-BD8AD3C2F2C8}"/>
              </a:ext>
            </a:extLst>
          </p:cNvPr>
          <p:cNvSpPr txBox="1"/>
          <p:nvPr/>
        </p:nvSpPr>
        <p:spPr>
          <a:xfrm>
            <a:off x="2590800" y="4324290"/>
            <a:ext cx="381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Failure rates</a:t>
            </a:r>
          </a:p>
        </p:txBody>
      </p:sp>
    </p:spTree>
    <p:extLst>
      <p:ext uri="{BB962C8B-B14F-4D97-AF65-F5344CB8AC3E}">
        <p14:creationId xmlns:p14="http://schemas.microsoft.com/office/powerpoint/2010/main" val="2040609934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AFD1F-EA1D-2F77-CF78-A663C7F21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>
            <a:extLst>
              <a:ext uri="{FF2B5EF4-FFF2-40B4-BE49-F238E27FC236}">
                <a16:creationId xmlns:a16="http://schemas.microsoft.com/office/drawing/2014/main" id="{8CE32A1E-E5BD-8CF4-511A-F0A6DE1B7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155652" name="Rectangle 2">
            <a:extLst>
              <a:ext uri="{FF2B5EF4-FFF2-40B4-BE49-F238E27FC236}">
                <a16:creationId xmlns:a16="http://schemas.microsoft.com/office/drawing/2014/main" id="{86138B35-A1D2-D8DD-5567-87D193E9F0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Attacks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F95185-C081-E9EA-A0FB-1F23ACAA2104}"/>
              </a:ext>
            </a:extLst>
          </p:cNvPr>
          <p:cNvSpPr txBox="1"/>
          <p:nvPr/>
        </p:nvSpPr>
        <p:spPr>
          <a:xfrm>
            <a:off x="304800" y="1401887"/>
            <a:ext cx="85344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 Blum-Kalai-Wasserman (BKW) algorithm is a combinatorial algorithm used to solve the Learning With Errors (LWE). 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attack typically involves two main phases: 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Reduction Phase: This phase progressively reduces the dimension of the LWE/LWR problem, essentially trying to simplify the equations involved. This is achieved by combining samples (vectors with associated 'noise' or errors) in a way that eliminates certain positions in the vectors, albeit at the cost of increasing the noise in the remaining positions.</a:t>
            </a:r>
          </a:p>
          <a:p>
            <a:pPr lvl="1"/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Solving Phase: Once the problem is reduced to a manageable size, the remaining entries of the secret are recovered. This often involves techniques like hypothesis testing to distinguish the correct guess of the secret sub-vector from incorrect ones. 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314908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127626-FC9E-46A5-A69A-9DC834047FB9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155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939687800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BB9BB4E-E0D3-4A67-97DE-AF17196862FB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8397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/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LLL Theorem</a:t>
            </a:r>
          </a:p>
        </p:txBody>
      </p:sp>
      <p:sp>
        <p:nvSpPr>
          <p:cNvPr id="839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5886" y="1447800"/>
            <a:ext cx="7607968" cy="4419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Let L be the n-dimensional lattice generated by &lt;v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…,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2000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&gt; and l the length of the shortest vector in L.  The LLL algorithm produces a reduced basis &lt;b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…,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000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&gt; of L.</a:t>
            </a:r>
          </a:p>
          <a:p>
            <a:pPr lvl="1">
              <a:lnSpc>
                <a:spcPct val="90000"/>
              </a:lnSpc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57300" lvl="2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||b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|| ≦ 2</a:t>
            </a:r>
            <a:r>
              <a:rPr lang="en-US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(n-1)/4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1/n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257300" lvl="2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||b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|| ≦ 2</a:t>
            </a:r>
            <a:r>
              <a:rPr lang="en-US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(n-1)/2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l.</a:t>
            </a:r>
          </a:p>
          <a:p>
            <a:pPr marL="1257300" lvl="2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||b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|| ||b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|| … ||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000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|| ≦ 2</a:t>
            </a:r>
            <a:r>
              <a:rPr lang="en-US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n(n-1)/4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D.</a:t>
            </a:r>
          </a:p>
          <a:p>
            <a:pPr marL="1257300" lvl="2" indent="-457200">
              <a:lnSpc>
                <a:spcPct val="90000"/>
              </a:lnSpc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If  ||b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||</a:t>
            </a:r>
            <a:r>
              <a:rPr lang="en-US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≤C algorithm takes O(n</a:t>
            </a:r>
            <a:r>
              <a:rPr lang="en-US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4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lg(C)) .</a:t>
            </a:r>
          </a:p>
          <a:p>
            <a:pPr marL="1257300" lvl="2" indent="-457200">
              <a:lnSpc>
                <a:spcPct val="90000"/>
              </a:lnSpc>
              <a:buNone/>
            </a:pPr>
            <a:endParaRPr lang="en-US" dirty="0"/>
          </a:p>
          <a:p>
            <a:pPr marL="857250" lvl="1" indent="-457200">
              <a:lnSpc>
                <a:spcPct val="90000"/>
              </a:lnSpc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2064766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BB9BB4E-E0D3-4A67-97DE-AF17196862FB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8397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Gauss again</a:t>
            </a:r>
          </a:p>
        </p:txBody>
      </p:sp>
      <p:sp>
        <p:nvSpPr>
          <p:cNvPr id="839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7924800" cy="3962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2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Let &lt;v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v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&gt; be a basis for a two-dimensional lattice L in R</a:t>
            </a:r>
            <a:r>
              <a:rPr lang="en-US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  The following algorithm produces a reduced basis.</a:t>
            </a:r>
          </a:p>
          <a:p>
            <a:pPr marL="0" indent="0">
              <a:lnSpc>
                <a:spcPct val="90000"/>
              </a:lnSpc>
              <a:spcBef>
                <a:spcPts val="200"/>
              </a:spcBef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for(;;) {</a:t>
            </a:r>
          </a:p>
          <a:p>
            <a:pPr lvl="2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if(||v</a:t>
            </a:r>
            <a:r>
              <a:rPr lang="en-US" sz="18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||&gt;||v</a:t>
            </a:r>
            <a:r>
              <a:rPr lang="en-US" sz="18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||)</a:t>
            </a:r>
          </a:p>
          <a:p>
            <a:pPr lvl="3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swap v</a:t>
            </a:r>
            <a:r>
              <a:rPr lang="en-US" sz="18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and v</a:t>
            </a:r>
            <a:r>
              <a:rPr lang="en-US" sz="18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t= [(v</a:t>
            </a:r>
            <a:r>
              <a:rPr lang="en-US" sz="18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v</a:t>
            </a:r>
            <a:r>
              <a:rPr lang="en-US" sz="18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)/(v</a:t>
            </a:r>
            <a:r>
              <a:rPr lang="en-US" sz="18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v</a:t>
            </a:r>
            <a:r>
              <a:rPr lang="en-US" sz="18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)]; // [] is the “closest integer” function</a:t>
            </a:r>
          </a:p>
          <a:p>
            <a:pPr lvl="2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if(t==0)</a:t>
            </a:r>
          </a:p>
          <a:p>
            <a:pPr lvl="3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return;</a:t>
            </a:r>
          </a:p>
          <a:p>
            <a:pPr lvl="2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US" sz="18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v</a:t>
            </a:r>
            <a:r>
              <a:rPr lang="en-US" sz="18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-tv</a:t>
            </a:r>
            <a:r>
              <a:rPr lang="en-US" sz="18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>
              <a:lnSpc>
                <a:spcPct val="90000"/>
              </a:lnSpc>
              <a:spcBef>
                <a:spcPts val="20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2">
              <a:lnSpc>
                <a:spcPct val="90000"/>
              </a:lnSpc>
              <a:spcBef>
                <a:spcPts val="200"/>
              </a:spcBef>
              <a:buNone/>
            </a:pP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2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&lt;v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v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&gt; is now a reduced basis and v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is a shortest vector in the lattice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5417865"/>
      </p:ext>
    </p:extLst>
  </p:cSld>
  <p:clrMapOvr>
    <a:masterClrMapping/>
  </p:clrMapOvr>
</p:sld>
</file>

<file path=ppt/theme/theme1.xml><?xml version="1.0" encoding="utf-8"?>
<a:theme xmlns:a="http://schemas.openxmlformats.org/drawingml/2006/main" name="Contemporary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0C0C0"/>
      </a:accent1>
      <a:accent2>
        <a:srgbClr val="FF0000"/>
      </a:accent2>
      <a:accent3>
        <a:srgbClr val="FFFFFF"/>
      </a:accent3>
      <a:accent4>
        <a:srgbClr val="000000"/>
      </a:accent4>
      <a:accent5>
        <a:srgbClr val="DCDCDC"/>
      </a:accent5>
      <a:accent6>
        <a:srgbClr val="E70000"/>
      </a:accent6>
      <a:hlink>
        <a:srgbClr val="330099"/>
      </a:hlink>
      <a:folHlink>
        <a:srgbClr val="CBCBCB"/>
      </a:folHlink>
    </a:clrScheme>
    <a:fontScheme name="Contempora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</a:defRPr>
        </a:defPPr>
      </a:lstStyle>
    </a:lnDef>
  </a:objectDefaults>
  <a:extraClrSchemeLst>
    <a:extraClrScheme>
      <a:clrScheme name="Contemporary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Designs\Contemporary.pot</Template>
  <TotalTime>76167</TotalTime>
  <Words>9614</Words>
  <Application>Microsoft Macintosh PowerPoint</Application>
  <PresentationFormat>Letter Paper (8.5x11 in)</PresentationFormat>
  <Paragraphs>1212</Paragraphs>
  <Slides>85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2" baseType="lpstr">
      <vt:lpstr>Aptos</vt:lpstr>
      <vt:lpstr>Arial</vt:lpstr>
      <vt:lpstr>Calibri</vt:lpstr>
      <vt:lpstr>Cambria Math</vt:lpstr>
      <vt:lpstr>Courier New</vt:lpstr>
      <vt:lpstr>Times New Roman</vt:lpstr>
      <vt:lpstr>Contemporary</vt:lpstr>
      <vt:lpstr>PowerPoint Presentation</vt:lpstr>
      <vt:lpstr>Lattices</vt:lpstr>
      <vt:lpstr>Definitions</vt:lpstr>
      <vt:lpstr>Minkowski’s Theorem</vt:lpstr>
      <vt:lpstr>q-ary lattices and other definitions</vt:lpstr>
      <vt:lpstr>Some simple results</vt:lpstr>
      <vt:lpstr>Reduced Basis</vt:lpstr>
      <vt:lpstr>Good basis and Gram-Schmidt Orthogonalization</vt:lpstr>
      <vt:lpstr>Size Reduction</vt:lpstr>
      <vt:lpstr>Size reduction and basis reordering</vt:lpstr>
      <vt:lpstr>Example (LLL including GSO)</vt:lpstr>
      <vt:lpstr>Example (LLL including GSO) - continued</vt:lpstr>
      <vt:lpstr>LLL Properties</vt:lpstr>
      <vt:lpstr>Attack on RSA using LLL</vt:lpstr>
      <vt:lpstr>Attack on RSA using LLL</vt:lpstr>
      <vt:lpstr>Attack on RSA using LLL</vt:lpstr>
      <vt:lpstr>Example attack on RSA using LLL</vt:lpstr>
      <vt:lpstr>Example attack on RSA using LLL</vt:lpstr>
      <vt:lpstr>GGH Public Key System</vt:lpstr>
      <vt:lpstr>GGH Example</vt:lpstr>
      <vt:lpstr>Learning with Errors (LWE)</vt:lpstr>
      <vt:lpstr>LWE cryptosystem</vt:lpstr>
      <vt:lpstr>LWE example</vt:lpstr>
      <vt:lpstr>LWE example</vt:lpstr>
      <vt:lpstr>LWE example</vt:lpstr>
      <vt:lpstr>LWE/Ring-LWE parameters</vt:lpstr>
      <vt:lpstr>Ring-LWE</vt:lpstr>
      <vt:lpstr>NTRU Public Key System</vt:lpstr>
      <vt:lpstr>NTRU Public Key System</vt:lpstr>
      <vt:lpstr>NTRU Example</vt:lpstr>
      <vt:lpstr>Some NIST Round 3 entries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Attacks</vt:lpstr>
      <vt:lpstr>End</vt:lpstr>
      <vt:lpstr>LLL Theorem</vt:lpstr>
      <vt:lpstr>Gauss again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Lattices and Elliptic Curve based crypto-systems</dc:title>
  <dc:subject>Cryptanalysis</dc:subject>
  <dc:creator>John L. Manferdelli</dc:creator>
  <cp:lastModifiedBy>John Manferdelli</cp:lastModifiedBy>
  <cp:revision>4838</cp:revision>
  <cp:lastPrinted>2025-08-06T19:43:24Z</cp:lastPrinted>
  <dcterms:created xsi:type="dcterms:W3CDTF">2013-04-22T16:10:14Z</dcterms:created>
  <dcterms:modified xsi:type="dcterms:W3CDTF">2026-08-06T16:21:02Z</dcterms:modified>
</cp:coreProperties>
</file>